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  <p:sldMasterId id="2147483836" r:id="rId5"/>
  </p:sldMasterIdLst>
  <p:notesMasterIdLst>
    <p:notesMasterId r:id="rId20"/>
  </p:notesMasterIdLst>
  <p:handoutMasterIdLst>
    <p:handoutMasterId r:id="rId21"/>
  </p:handoutMasterIdLst>
  <p:sldIdLst>
    <p:sldId id="2147308008" r:id="rId6"/>
    <p:sldId id="324" r:id="rId7"/>
    <p:sldId id="2147468954" r:id="rId8"/>
    <p:sldId id="2134804486" r:id="rId9"/>
    <p:sldId id="2147469191" r:id="rId10"/>
    <p:sldId id="2147468956" r:id="rId11"/>
    <p:sldId id="2147468893" r:id="rId12"/>
    <p:sldId id="2147468955" r:id="rId13"/>
    <p:sldId id="2147308112" r:id="rId14"/>
    <p:sldId id="2147469178" r:id="rId15"/>
    <p:sldId id="2147308309" r:id="rId16"/>
    <p:sldId id="2147468343" r:id="rId17"/>
    <p:sldId id="2147469177" r:id="rId18"/>
    <p:sldId id="2147308084" r:id="rId19"/>
  </p:sldIdLst>
  <p:sldSz cx="14630400" cy="8229600"/>
  <p:notesSz cx="7772400" cy="14173200"/>
  <p:defaultTextStyle>
    <a:defPPr>
      <a:defRPr lang="en-US"/>
    </a:defPPr>
    <a:lvl1pPr marL="0" algn="l" defTabSz="146304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1pPr>
    <a:lvl2pPr marL="731520" algn="l" defTabSz="146304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2pPr>
    <a:lvl3pPr marL="1463040" algn="l" defTabSz="146304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3pPr>
    <a:lvl4pPr marL="2194560" algn="l" defTabSz="146304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4pPr>
    <a:lvl5pPr marL="2926080" algn="l" defTabSz="146304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5pPr>
    <a:lvl6pPr marL="3657600" algn="l" defTabSz="146304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6pPr>
    <a:lvl7pPr marL="4389120" algn="l" defTabSz="146304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7pPr>
    <a:lvl8pPr marL="5120640" algn="l" defTabSz="146304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8pPr>
    <a:lvl9pPr marL="5852160" algn="l" defTabSz="146304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8" userDrawn="1">
          <p15:clr>
            <a:srgbClr val="A4A3A4"/>
          </p15:clr>
        </p15:guide>
        <p15:guide id="2" orient="horz" pos="2592" userDrawn="1">
          <p15:clr>
            <a:srgbClr val="A4A3A4"/>
          </p15:clr>
        </p15:guide>
        <p15:guide id="3" orient="horz" pos="4512" userDrawn="1">
          <p15:clr>
            <a:srgbClr val="A4A3A4"/>
          </p15:clr>
        </p15:guide>
        <p15:guide id="4" orient="horz" pos="4896" userDrawn="1">
          <p15:clr>
            <a:srgbClr val="A4A3A4"/>
          </p15:clr>
        </p15:guide>
        <p15:guide id="5" pos="7488" userDrawn="1">
          <p15:clr>
            <a:srgbClr val="A4A3A4"/>
          </p15:clr>
        </p15:guide>
        <p15:guide id="6" pos="432" userDrawn="1">
          <p15:clr>
            <a:srgbClr val="A4A3A4"/>
          </p15:clr>
        </p15:guide>
        <p15:guide id="7" pos="3024" userDrawn="1">
          <p15:clr>
            <a:srgbClr val="A4A3A4"/>
          </p15:clr>
        </p15:guide>
        <p15:guide id="8" pos="3312" userDrawn="1">
          <p15:clr>
            <a:srgbClr val="A4A3A4"/>
          </p15:clr>
        </p15:guide>
        <p15:guide id="9" pos="4464" userDrawn="1">
          <p15:clr>
            <a:srgbClr val="A4A3A4"/>
          </p15:clr>
        </p15:guide>
        <p15:guide id="10" pos="4608" userDrawn="1">
          <p15:clr>
            <a:srgbClr val="A4A3A4"/>
          </p15:clr>
        </p15:guide>
        <p15:guide id="11" pos="4752" userDrawn="1">
          <p15:clr>
            <a:srgbClr val="A4A3A4"/>
          </p15:clr>
        </p15:guide>
        <p15:guide id="12" pos="5904" userDrawn="1">
          <p15:clr>
            <a:srgbClr val="A4A3A4"/>
          </p15:clr>
        </p15:guide>
        <p15:guide id="13" pos="6192" userDrawn="1">
          <p15:clr>
            <a:srgbClr val="A4A3A4"/>
          </p15:clr>
        </p15:guide>
        <p15:guide id="14" pos="87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4464" userDrawn="1">
          <p15:clr>
            <a:srgbClr val="A4A3A4"/>
          </p15:clr>
        </p15:guide>
        <p15:guide id="2" pos="244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  <p:cmAuthor id="3" name="Zaino Emmett, Jennifer" initials="ZEJ" lastIdx="27" clrIdx="2">
    <p:extLst>
      <p:ext uri="{19B8F6BF-5375-455C-9EA6-DF929625EA0E}">
        <p15:presenceInfo xmlns:p15="http://schemas.microsoft.com/office/powerpoint/2012/main" userId="S::jennifer.zainoemmett@dxc.com::2f8d70b3-93e3-4958-9559-eb1c95d91e7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F048"/>
    <a:srgbClr val="C6EFFF"/>
    <a:srgbClr val="969696"/>
    <a:srgbClr val="63666A"/>
    <a:srgbClr val="FFCD00"/>
    <a:srgbClr val="D9DF23"/>
    <a:srgbClr val="666666"/>
    <a:srgbClr val="330072"/>
    <a:srgbClr val="60249E"/>
    <a:srgbClr val="1870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5BD5076-5073-49C7-9E08-65982F3C9860}">
  <a:tblStyle styleId="{45BD5076-5073-49C7-9E08-65982F3C9860}" styleName="DXC Table">
    <a:wholeTbl>
      <a:tcTxStyle>
        <a:fontRef idx="minor"/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rgbClr val="000000"/>
              </a:solidFill>
            </a:ln>
          </a:top>
          <a:bottom>
            <a:ln w="6350">
              <a:solidFill>
                <a:srgbClr val="000000"/>
              </a:solidFill>
            </a:ln>
          </a:bottom>
          <a:insideH>
            <a:ln w="6350">
              <a:solidFill>
                <a:srgbClr val="000000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lastCol>
      <a:tcTxStyle b="on">
        <a:fontRef idx="major"/>
        <a:srgbClr val="000000"/>
      </a:tcTxStyle>
      <a:tcStyle>
        <a:tcBdr/>
      </a:tcStyle>
    </a:lastCol>
    <a:firstCol>
      <a:tcTxStyle b="on">
        <a:fontRef idx="major"/>
        <a:srgbClr val="000000"/>
      </a:tcTxStyle>
      <a:tcStyle>
        <a:tcBdr/>
      </a:tcStyle>
    </a:firstCol>
    <a:lastRow>
      <a:tcTxStyle b="on">
        <a:fontRef idx="major"/>
        <a:srgbClr val="000000"/>
      </a:tcTxStyle>
      <a:tcStyle>
        <a:tcBdr>
          <a:top>
            <a:ln w="19050">
              <a:solidFill>
                <a:srgbClr val="000000"/>
              </a:solidFill>
            </a:ln>
          </a:top>
          <a:bottom>
            <a:ln>
              <a:noFill/>
            </a:ln>
          </a:bottom>
        </a:tcBdr>
        <a:fill>
          <a:noFill/>
        </a:fill>
      </a:tcStyle>
    </a:lastRow>
    <a:firstRow>
      <a:tcTxStyle b="on">
        <a:fontRef idx="major"/>
        <a:srgbClr val="000000"/>
      </a:tcTxStyle>
      <a:tcStyle>
        <a:tcBdr>
          <a:top>
            <a:ln>
              <a:noFill/>
            </a:ln>
          </a:top>
          <a:bottom>
            <a:ln w="19050">
              <a:solidFill>
                <a:srgbClr val="000000"/>
              </a:solidFill>
            </a:ln>
          </a:bottom>
        </a:tcBdr>
        <a:fill>
          <a:noFill/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62" y="254"/>
      </p:cViewPr>
      <p:guideLst>
        <p:guide orient="horz" pos="408"/>
        <p:guide orient="horz" pos="2592"/>
        <p:guide orient="horz" pos="4512"/>
        <p:guide orient="horz" pos="4896"/>
        <p:guide pos="7488"/>
        <p:guide pos="432"/>
        <p:guide pos="3024"/>
        <p:guide pos="3312"/>
        <p:guide pos="4464"/>
        <p:guide pos="4608"/>
        <p:guide pos="4752"/>
        <p:guide pos="5904"/>
        <p:guide pos="6192"/>
        <p:guide pos="878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4464"/>
        <p:guide pos="244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040" cy="708660"/>
          </a:xfrm>
          <a:prstGeom prst="rect">
            <a:avLst/>
          </a:prstGeom>
        </p:spPr>
        <p:txBody>
          <a:bodyPr vert="horz" lIns="125401" tIns="62700" rIns="125401" bIns="62700" rtlCol="0"/>
          <a:lstStyle>
            <a:lvl1pPr algn="l">
              <a:defRPr sz="1600"/>
            </a:lvl1pPr>
          </a:lstStyle>
          <a:p>
            <a:endParaRPr lang="en-US">
              <a:latin typeface="Arial"/>
              <a:cs typeface="Arial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13462080"/>
            <a:ext cx="3368040" cy="708660"/>
          </a:xfrm>
          <a:prstGeom prst="rect">
            <a:avLst/>
          </a:prstGeom>
        </p:spPr>
        <p:txBody>
          <a:bodyPr vert="horz" lIns="125401" tIns="62700" rIns="125401" bIns="62700" rtlCol="0" anchor="b"/>
          <a:lstStyle>
            <a:lvl1pPr algn="l">
              <a:defRPr sz="1600"/>
            </a:lvl1pPr>
          </a:lstStyle>
          <a:p>
            <a:endParaRPr lang="en-US">
              <a:latin typeface="Arial"/>
              <a:cs typeface="Arial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402561" y="13462080"/>
            <a:ext cx="3368040" cy="708660"/>
          </a:xfrm>
          <a:prstGeom prst="rect">
            <a:avLst/>
          </a:prstGeom>
        </p:spPr>
        <p:txBody>
          <a:bodyPr vert="horz" lIns="125401" tIns="62700" rIns="125401" bIns="62700" rtlCol="0" anchor="b"/>
          <a:lstStyle>
            <a:lvl1pPr algn="r">
              <a:defRPr sz="1600"/>
            </a:lvl1pPr>
          </a:lstStyle>
          <a:p>
            <a:fld id="{70AC7428-30A9-FD43-A0D8-DB91B17088EC}" type="slidenum">
              <a:rPr lang="en-US" smtClean="0">
                <a:latin typeface="Arial"/>
                <a:cs typeface="Arial"/>
              </a:rPr>
              <a:t>‹#›</a:t>
            </a:fld>
            <a:endParaRPr lang="en-US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476491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040" cy="708660"/>
          </a:xfrm>
          <a:prstGeom prst="rect">
            <a:avLst/>
          </a:prstGeom>
        </p:spPr>
        <p:txBody>
          <a:bodyPr vert="horz" lIns="125401" tIns="62700" rIns="125401" bIns="62700" rtlCol="0"/>
          <a:lstStyle>
            <a:lvl1pPr algn="l">
              <a:defRPr sz="1600"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402561" y="0"/>
            <a:ext cx="3368040" cy="708660"/>
          </a:xfrm>
          <a:prstGeom prst="rect">
            <a:avLst/>
          </a:prstGeom>
        </p:spPr>
        <p:txBody>
          <a:bodyPr vert="horz" lIns="125401" tIns="62700" rIns="125401" bIns="62700" rtlCol="0"/>
          <a:lstStyle>
            <a:lvl1pPr algn="r">
              <a:defRPr sz="1600">
                <a:latin typeface="Arial"/>
                <a:cs typeface="Arial"/>
              </a:defRPr>
            </a:lvl1pPr>
          </a:lstStyle>
          <a:p>
            <a:fld id="{73B26A0F-F4D6-9B4F-A87B-D8948CDE3BB4}" type="datetimeFigureOut">
              <a:rPr lang="en-US" smtClean="0"/>
              <a:pPr/>
              <a:t>4/27/2023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838200" y="1063625"/>
            <a:ext cx="9448800" cy="53149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25401" tIns="62700" rIns="125401" bIns="6270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31800" y="6732270"/>
            <a:ext cx="6908800" cy="637794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462080"/>
            <a:ext cx="3368040" cy="708660"/>
          </a:xfrm>
          <a:prstGeom prst="rect">
            <a:avLst/>
          </a:prstGeom>
        </p:spPr>
        <p:txBody>
          <a:bodyPr vert="horz" lIns="125401" tIns="62700" rIns="125401" bIns="62700" rtlCol="0" anchor="b"/>
          <a:lstStyle>
            <a:lvl1pPr algn="l">
              <a:defRPr sz="1600"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402561" y="13462080"/>
            <a:ext cx="3368040" cy="708660"/>
          </a:xfrm>
          <a:prstGeom prst="rect">
            <a:avLst/>
          </a:prstGeom>
        </p:spPr>
        <p:txBody>
          <a:bodyPr vert="horz" lIns="125401" tIns="62700" rIns="125401" bIns="62700" rtlCol="0" anchor="b"/>
          <a:lstStyle>
            <a:lvl1pPr algn="r">
              <a:defRPr sz="1600">
                <a:latin typeface="Arial"/>
                <a:cs typeface="Arial"/>
              </a:defRPr>
            </a:lvl1pPr>
          </a:lstStyle>
          <a:p>
            <a:fld id="{7DE2E8FF-3D0C-9D4D-B4D1-3089215958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1349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731520" rtl="0" eaLnBrk="1" latinLnBrk="0" hangingPunct="1">
      <a:defRPr sz="1920" kern="1200">
        <a:solidFill>
          <a:schemeClr val="tx1"/>
        </a:solidFill>
        <a:latin typeface="Arial"/>
        <a:ea typeface="+mn-ea"/>
        <a:cs typeface="Arial"/>
      </a:defRPr>
    </a:lvl1pPr>
    <a:lvl2pPr marL="731520" algn="l" defTabSz="731520" rtl="0" eaLnBrk="1" latinLnBrk="0" hangingPunct="1">
      <a:defRPr sz="1920" kern="1200">
        <a:solidFill>
          <a:schemeClr val="tx1"/>
        </a:solidFill>
        <a:latin typeface="Arial"/>
        <a:ea typeface="+mn-ea"/>
        <a:cs typeface="+mn-cs"/>
      </a:defRPr>
    </a:lvl2pPr>
    <a:lvl3pPr marL="1463040" algn="l" defTabSz="731520" rtl="0" eaLnBrk="1" latinLnBrk="0" hangingPunct="1">
      <a:defRPr sz="1920" kern="1200">
        <a:solidFill>
          <a:schemeClr val="tx1"/>
        </a:solidFill>
        <a:latin typeface="Arial"/>
        <a:ea typeface="+mn-ea"/>
        <a:cs typeface="+mn-cs"/>
      </a:defRPr>
    </a:lvl3pPr>
    <a:lvl4pPr marL="2194560" algn="l" defTabSz="731520" rtl="0" eaLnBrk="1" latinLnBrk="0" hangingPunct="1">
      <a:defRPr sz="1920" kern="1200">
        <a:solidFill>
          <a:schemeClr val="tx1"/>
        </a:solidFill>
        <a:latin typeface="Arial"/>
        <a:ea typeface="+mn-ea"/>
        <a:cs typeface="+mn-cs"/>
      </a:defRPr>
    </a:lvl4pPr>
    <a:lvl5pPr marL="2926080" algn="l" defTabSz="731520" rtl="0" eaLnBrk="1" latinLnBrk="0" hangingPunct="1">
      <a:defRPr sz="1920" kern="1200">
        <a:solidFill>
          <a:schemeClr val="tx1"/>
        </a:solidFill>
        <a:latin typeface="Arial"/>
        <a:ea typeface="+mn-ea"/>
        <a:cs typeface="+mn-cs"/>
      </a:defRPr>
    </a:lvl5pPr>
    <a:lvl6pPr marL="3657600" algn="l" defTabSz="731520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6pPr>
    <a:lvl7pPr marL="4389120" algn="l" defTabSz="731520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7pPr>
    <a:lvl8pPr marL="5120640" algn="l" defTabSz="731520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8pPr>
    <a:lvl9pPr marL="5852160" algn="l" defTabSz="731520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hatwesell.dxc.com/dxc/support/client-engagement-centers/digital-transformation-center/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crn.com/news/running-your-business/turning-technology-into-business-value-the-2019-solution-provider-500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1155509">
              <a:defRPr/>
            </a:pPr>
            <a:fld id="{7DE2E8FF-3D0C-9D4D-B4D1-3089215958A5}" type="slidenum">
              <a:rPr lang="en-US" sz="900">
                <a:solidFill>
                  <a:prstClr val="black"/>
                </a:solidFill>
              </a:rPr>
              <a:pPr defTabSz="1155509">
                <a:defRPr/>
              </a:pPr>
              <a:t>4</a:t>
            </a:fld>
            <a:endParaRPr lang="en-US" sz="9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46482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95250" y="433388"/>
            <a:ext cx="5189538" cy="29194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4630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E2E8FF-3D0C-9D4D-B4D1-3089215958A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14630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523184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address the entire applications integration lifecycle, either as part of an end-to-end enterprise transformation or a specific business initiative or technology project</a:t>
            </a:r>
          </a:p>
          <a:p>
            <a:endParaRPr lang="en-US"/>
          </a:p>
          <a:p>
            <a:r>
              <a:rPr lang="en-US"/>
              <a:t>Application Integration Services sits within the Application Services layer of the DXC stack</a:t>
            </a:r>
          </a:p>
          <a:p>
            <a:r>
              <a:rPr lang="en-US"/>
              <a:t>It provides the end-to-end capabilities needed to integrate application and data across an increasingly complex of ecosystem of endpoints</a:t>
            </a:r>
          </a:p>
          <a:p>
            <a:r>
              <a:rPr lang="en-US"/>
              <a:t>We provide three major categories of services grouped by Advise, Build and Manage, and can engage at any entry point from augmentation of staff to fully managed integration environment</a:t>
            </a:r>
          </a:p>
          <a:p>
            <a:endParaRPr lang="en-US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Advise: Business and technical consulting services to help customers evaluate and understand the potential opportunities and impacts of the digital economy upon their enterprise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Build: Deliver the API and integration solutions needed to support client business operations and strategies through design, POCs, solution development and implementation, technology advice and ecosystem support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Manage: Apply service management disciplines to manage client API and integration services, providing comprehensive integration services to the enterprise</a:t>
            </a:r>
          </a:p>
          <a:p>
            <a:endParaRPr lang="en-IN"/>
          </a:p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E2E8FF-3D0C-9D4D-B4D1-3089215958A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2955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5C5019-09E2-41D2-8B9F-DC0AC0A44F7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1566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Experience</a:t>
            </a:r>
            <a:r>
              <a:rPr lang="en-US" baseline="0"/>
              <a:t> matters. We’re extremely proud of our scale across critical skill sets globally. Here’s some of o</a:t>
            </a:r>
            <a:r>
              <a:rPr lang="en-US"/>
              <a:t>ur key credentials</a:t>
            </a:r>
            <a:r>
              <a:rPr lang="en-US" baseline="0"/>
              <a:t> at a glance. </a:t>
            </a:r>
          </a:p>
          <a:p>
            <a:endParaRPr lang="en-US" baseline="0"/>
          </a:p>
          <a:p>
            <a:r>
              <a:rPr lang="en-US" baseline="0"/>
              <a:t>Source for some stats:  data collected for the Gartner DCO Hybrid Services MQ:</a:t>
            </a:r>
          </a:p>
          <a:p>
            <a:r>
              <a:rPr lang="en-US" baseline="0"/>
              <a:t>Virtual Server / Machines =  644,280 </a:t>
            </a:r>
          </a:p>
          <a:p>
            <a:r>
              <a:rPr lang="en-US" sz="1920" b="0" i="0" u="none" strike="noStrike" kern="1200">
                <a:solidFill>
                  <a:schemeClr val="tx1"/>
                </a:solidFill>
                <a:effectLst/>
                <a:latin typeface="Arial"/>
                <a:ea typeface="+mn-ea"/>
                <a:cs typeface="Arial"/>
              </a:rPr>
              <a:t>Number of Application migrated to Managed Private/Public cloud</a:t>
            </a:r>
            <a:r>
              <a:rPr lang="en-US" sz="1920" b="0" i="0" u="none" strike="noStrike" kern="1200" baseline="0">
                <a:solidFill>
                  <a:schemeClr val="tx1"/>
                </a:solidFill>
                <a:effectLst/>
                <a:latin typeface="Arial"/>
                <a:ea typeface="+mn-ea"/>
                <a:cs typeface="Arial"/>
              </a:rPr>
              <a:t> = 1</a:t>
            </a:r>
            <a:r>
              <a:rPr lang="en-US" sz="1920" b="0" i="0" u="none" strike="noStrike" kern="1200">
                <a:solidFill>
                  <a:schemeClr val="tx1"/>
                </a:solidFill>
                <a:effectLst/>
                <a:latin typeface="Arial"/>
                <a:ea typeface="+mn-ea"/>
                <a:cs typeface="Arial"/>
              </a:rPr>
              <a:t>4,053 </a:t>
            </a:r>
          </a:p>
          <a:p>
            <a:endParaRPr lang="en-US" sz="1920" b="0" i="0" u="none" strike="noStrike" kern="1200" baseline="0">
              <a:solidFill>
                <a:schemeClr val="tx1"/>
              </a:solidFill>
              <a:effectLst/>
              <a:latin typeface="Arial"/>
              <a:ea typeface="+mn-ea"/>
              <a:cs typeface="Arial"/>
            </a:endParaRPr>
          </a:p>
          <a:p>
            <a:r>
              <a:rPr lang="en-US" sz="1920" b="0" i="0" u="none" strike="noStrike" kern="1200" baseline="0">
                <a:solidFill>
                  <a:schemeClr val="tx1"/>
                </a:solidFill>
                <a:effectLst/>
                <a:latin typeface="Arial"/>
                <a:ea typeface="+mn-ea"/>
                <a:cs typeface="Arial"/>
              </a:rPr>
              <a:t>Digital Transformation Centers - </a:t>
            </a:r>
            <a:r>
              <a:rPr lang="en-US">
                <a:hlinkClick r:id="rId3"/>
              </a:rPr>
              <a:t>https://whatwesell.dxc.com/dxc/support/client-engagement-centers/digital-transformation-center/</a:t>
            </a:r>
            <a:endParaRPr lang="en-US"/>
          </a:p>
          <a:p>
            <a:endParaRPr lang="en-US" baseline="0"/>
          </a:p>
          <a:p>
            <a:r>
              <a:rPr lang="en-US" baseline="0"/>
              <a:t>2.1M+ ERP users supported – ECA metric</a:t>
            </a:r>
          </a:p>
          <a:p>
            <a:r>
              <a:rPr lang="en-US" baseline="0"/>
              <a:t>Source from Gartner DCO Hybrid </a:t>
            </a:r>
            <a:r>
              <a:rPr lang="en-US" baseline="0" err="1"/>
              <a:t>Svcs</a:t>
            </a:r>
            <a:r>
              <a:rPr lang="en-US" baseline="0"/>
              <a:t> MQ:</a:t>
            </a:r>
          </a:p>
          <a:p>
            <a:r>
              <a:rPr lang="en-US" sz="1920" b="0" i="0" u="none" strike="noStrike" kern="1200">
                <a:solidFill>
                  <a:schemeClr val="tx1"/>
                </a:solidFill>
                <a:effectLst/>
                <a:latin typeface="Arial"/>
                <a:ea typeface="+mn-ea"/>
                <a:cs typeface="Arial"/>
              </a:rPr>
              <a:t>Total ERP users supported</a:t>
            </a:r>
            <a:r>
              <a:rPr lang="en-US"/>
              <a:t> </a:t>
            </a:r>
            <a:r>
              <a:rPr lang="en-US" sz="1920" b="0" i="0" u="none" strike="noStrike" kern="1200">
                <a:solidFill>
                  <a:schemeClr val="tx1"/>
                </a:solidFill>
                <a:effectLst/>
                <a:latin typeface="Arial"/>
                <a:ea typeface="+mn-ea"/>
                <a:cs typeface="Arial"/>
              </a:rPr>
              <a:t>           2,120,592 </a:t>
            </a:r>
            <a:endParaRPr lang="en-US" baseline="0"/>
          </a:p>
          <a:p>
            <a:endParaRPr lang="en-US" baseline="0"/>
          </a:p>
          <a:p>
            <a:endParaRPr lang="en-US" baseline="0"/>
          </a:p>
          <a:p>
            <a:r>
              <a:rPr lang="en-US">
                <a:hlinkClick r:id="rId4"/>
              </a:rPr>
              <a:t>https://www.crn.com/news/running-your-business/turning-technology-into-business-value-the-2019-solution-provider-500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4630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E2E8FF-3D0C-9D4D-B4D1-3089215958A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14630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529646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: Single Corner Rounded 43">
            <a:extLst>
              <a:ext uri="{FF2B5EF4-FFF2-40B4-BE49-F238E27FC236}">
                <a16:creationId xmlns:a16="http://schemas.microsoft.com/office/drawing/2014/main" id="{2C9C6690-9226-4F0C-A542-C330AFCC2AF3}"/>
              </a:ext>
            </a:extLst>
          </p:cNvPr>
          <p:cNvSpPr/>
          <p:nvPr userDrawn="1"/>
        </p:nvSpPr>
        <p:spPr>
          <a:xfrm>
            <a:off x="685802" y="2539999"/>
            <a:ext cx="8869678" cy="4996181"/>
          </a:xfrm>
          <a:prstGeom prst="round1Rect">
            <a:avLst>
              <a:gd name="adj" fmla="val 23471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10" name="Straight Connector 9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itle 1">
            <a:extLst>
              <a:ext uri="{FF2B5EF4-FFF2-40B4-BE49-F238E27FC236}">
                <a16:creationId xmlns:a16="http://schemas.microsoft.com/office/drawing/2014/main" id="{32FF021F-9D63-4AEC-B29B-F9D3753BE2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8400" y="3105150"/>
            <a:ext cx="6514123" cy="2256367"/>
          </a:xfrm>
        </p:spPr>
        <p:txBody>
          <a:bodyPr anchor="ctr" anchorCtr="0">
            <a:no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5" name="Subtitle 2">
            <a:extLst>
              <a:ext uri="{FF2B5EF4-FFF2-40B4-BE49-F238E27FC236}">
                <a16:creationId xmlns:a16="http://schemas.microsoft.com/office/drawing/2014/main" id="{D9BF61BC-E8BB-4C55-B47E-8C398FC207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8401" y="5741670"/>
            <a:ext cx="6514123" cy="9144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bg1"/>
                </a:solidFill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6" name="Graphic 45">
            <a:extLst>
              <a:ext uri="{FF2B5EF4-FFF2-40B4-BE49-F238E27FC236}">
                <a16:creationId xmlns:a16="http://schemas.microsoft.com/office/drawing/2014/main" id="{D07C659E-3F10-46E2-9676-61137FD938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8975" y="685801"/>
            <a:ext cx="1430092" cy="781050"/>
          </a:xfrm>
          <a:prstGeom prst="rect">
            <a:avLst/>
          </a:prstGeom>
        </p:spPr>
      </p:pic>
      <p:sp>
        <p:nvSpPr>
          <p:cNvPr id="47" name="Footer Placeholder 4">
            <a:extLst>
              <a:ext uri="{FF2B5EF4-FFF2-40B4-BE49-F238E27FC236}">
                <a16:creationId xmlns:a16="http://schemas.microsoft.com/office/drawing/2014/main" id="{DBDF535B-3840-4291-8B0B-E0FCD28F794B}"/>
              </a:ext>
            </a:extLst>
          </p:cNvPr>
          <p:cNvSpPr txBox="1">
            <a:spLocks/>
          </p:cNvSpPr>
          <p:nvPr userDrawn="1"/>
        </p:nvSpPr>
        <p:spPr>
          <a:xfrm>
            <a:off x="685779" y="7688991"/>
            <a:ext cx="502920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/>
              <a:t>© 2022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300097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: Single Corner Rounded 43">
            <a:extLst>
              <a:ext uri="{FF2B5EF4-FFF2-40B4-BE49-F238E27FC236}">
                <a16:creationId xmlns:a16="http://schemas.microsoft.com/office/drawing/2014/main" id="{2C9C6690-9226-4F0C-A542-C330AFCC2AF3}"/>
              </a:ext>
            </a:extLst>
          </p:cNvPr>
          <p:cNvSpPr/>
          <p:nvPr userDrawn="1"/>
        </p:nvSpPr>
        <p:spPr>
          <a:xfrm>
            <a:off x="685800" y="2057400"/>
            <a:ext cx="11201400" cy="3200400"/>
          </a:xfrm>
          <a:prstGeom prst="round1Rect">
            <a:avLst>
              <a:gd name="adj" fmla="val 28348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10" name="Straight Connector 9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itle 1">
            <a:extLst>
              <a:ext uri="{FF2B5EF4-FFF2-40B4-BE49-F238E27FC236}">
                <a16:creationId xmlns:a16="http://schemas.microsoft.com/office/drawing/2014/main" id="{32FF021F-9D63-4AEC-B29B-F9D3753BE2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8399" y="2057401"/>
            <a:ext cx="9931400" cy="3181087"/>
          </a:xfrm>
        </p:spPr>
        <p:txBody>
          <a:bodyPr anchor="ctr" anchorCtr="0">
            <a:no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5" name="Subtitle 2">
            <a:extLst>
              <a:ext uri="{FF2B5EF4-FFF2-40B4-BE49-F238E27FC236}">
                <a16:creationId xmlns:a16="http://schemas.microsoft.com/office/drawing/2014/main" id="{D9BF61BC-E8BB-4C55-B47E-8C398FC207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8399" y="5678701"/>
            <a:ext cx="9931399" cy="9144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rgbClr val="63666F"/>
                </a:solidFill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6" name="Graphic 45">
            <a:extLst>
              <a:ext uri="{FF2B5EF4-FFF2-40B4-BE49-F238E27FC236}">
                <a16:creationId xmlns:a16="http://schemas.microsoft.com/office/drawing/2014/main" id="{D07C659E-3F10-46E2-9676-61137FD938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8975" y="685801"/>
            <a:ext cx="1430092" cy="781050"/>
          </a:xfrm>
          <a:prstGeom prst="rect">
            <a:avLst/>
          </a:prstGeom>
        </p:spPr>
      </p:pic>
      <p:sp>
        <p:nvSpPr>
          <p:cNvPr id="47" name="Footer Placeholder 4">
            <a:extLst>
              <a:ext uri="{FF2B5EF4-FFF2-40B4-BE49-F238E27FC236}">
                <a16:creationId xmlns:a16="http://schemas.microsoft.com/office/drawing/2014/main" id="{8FA06BFD-1B3E-4443-BC83-270655A0F2CF}"/>
              </a:ext>
            </a:extLst>
          </p:cNvPr>
          <p:cNvSpPr txBox="1">
            <a:spLocks/>
          </p:cNvSpPr>
          <p:nvPr userDrawn="1"/>
        </p:nvSpPr>
        <p:spPr>
          <a:xfrm>
            <a:off x="685779" y="7688991"/>
            <a:ext cx="502920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/>
              <a:t>© 2022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685467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057399"/>
            <a:ext cx="13258800" cy="5121276"/>
          </a:xfrm>
        </p:spPr>
        <p:txBody>
          <a:bodyPr numCol="2" spcCol="457200">
            <a:normAutofit/>
          </a:bodyPr>
          <a:lstStyle>
            <a:lvl1pPr marL="457200" indent="-457200">
              <a:spcBef>
                <a:spcPts val="900"/>
              </a:spcBef>
              <a:buFont typeface="+mj-lt"/>
              <a:buAutoNum type="arabicPeriod"/>
              <a:tabLst>
                <a:tab pos="6337300" algn="r"/>
              </a:tabLst>
              <a:defRPr sz="2000"/>
            </a:lvl1pPr>
            <a:lvl2pPr marL="685800" indent="-228600">
              <a:spcBef>
                <a:spcPts val="600"/>
              </a:spcBef>
              <a:buFont typeface="Arial" pitchFamily="34" charset="0"/>
              <a:buChar char="–"/>
              <a:tabLst>
                <a:tab pos="6337300" algn="r"/>
              </a:tabLst>
              <a:defRPr sz="2000"/>
            </a:lvl2pPr>
            <a:lvl3pPr marL="914400" indent="-228600">
              <a:spcBef>
                <a:spcPts val="600"/>
              </a:spcBef>
              <a:buFont typeface="Arial" pitchFamily="34" charset="0"/>
              <a:buChar char="–"/>
              <a:tabLst>
                <a:tab pos="6337300" algn="r"/>
              </a:tabLst>
              <a:defRPr sz="2000"/>
            </a:lvl3pPr>
            <a:lvl4pPr marL="1143000" indent="-228600">
              <a:spcBef>
                <a:spcPts val="600"/>
              </a:spcBef>
              <a:buFont typeface="Arial" pitchFamily="34" charset="0"/>
              <a:buChar char="–"/>
              <a:tabLst>
                <a:tab pos="6337300" algn="r"/>
              </a:tabLst>
              <a:defRPr sz="2000"/>
            </a:lvl4pPr>
            <a:lvl5pPr marL="1371600" indent="-228600">
              <a:spcBef>
                <a:spcPts val="600"/>
              </a:spcBef>
              <a:buFont typeface="Arial" pitchFamily="34" charset="0"/>
              <a:buChar char="–"/>
              <a:tabLst>
                <a:tab pos="6337300" algn="r"/>
              </a:tabLst>
              <a:defRPr sz="2000"/>
            </a:lvl5pPr>
            <a:lvl6pPr marL="1600200" indent="-228600">
              <a:spcBef>
                <a:spcPts val="600"/>
              </a:spcBef>
              <a:buFont typeface="Arial" pitchFamily="34" charset="0"/>
              <a:buChar char="–"/>
              <a:tabLst>
                <a:tab pos="6337300" algn="r"/>
              </a:tabLst>
              <a:defRPr sz="2000" baseline="0"/>
            </a:lvl6pPr>
            <a:lvl7pPr marL="1828800" indent="-228600">
              <a:spcBef>
                <a:spcPts val="600"/>
              </a:spcBef>
              <a:buFont typeface="Arial" pitchFamily="34" charset="0"/>
              <a:buChar char="–"/>
              <a:tabLst>
                <a:tab pos="6337300" algn="r"/>
              </a:tabLst>
              <a:defRPr sz="2000" baseline="0"/>
            </a:lvl7pPr>
            <a:lvl8pPr marL="2057400" indent="-228600">
              <a:spcBef>
                <a:spcPts val="600"/>
              </a:spcBef>
              <a:buFont typeface="Arial" pitchFamily="34" charset="0"/>
              <a:buChar char="–"/>
              <a:tabLst>
                <a:tab pos="6337300" algn="r"/>
              </a:tabLst>
              <a:defRPr sz="2000" baseline="0"/>
            </a:lvl8pPr>
            <a:lvl9pPr marL="2286000" indent="-228600">
              <a:spcBef>
                <a:spcPts val="600"/>
              </a:spcBef>
              <a:buFont typeface="Arial" pitchFamily="34" charset="0"/>
              <a:buChar char="–"/>
              <a:tabLst>
                <a:tab pos="6337300" algn="r"/>
              </a:tabLst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82854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4pPr marL="457200" indent="-228600">
              <a:buFont typeface="Arial" pitchFamily="34" charset="0"/>
              <a:buChar char="–"/>
              <a:defRPr/>
            </a:lvl4pPr>
            <a:lvl5pPr marL="685800" indent="-228600">
              <a:buFont typeface="Arial" pitchFamily="34" charset="0"/>
              <a:buChar char="–"/>
              <a:defRPr/>
            </a:lvl5pPr>
            <a:lvl6pPr marL="914400" indent="-228600">
              <a:buFont typeface="Arial" pitchFamily="34" charset="0"/>
              <a:buChar char="–"/>
              <a:defRPr baseline="0"/>
            </a:lvl6pPr>
            <a:lvl7pPr marL="1143000" indent="-228600">
              <a:buFont typeface="Arial" pitchFamily="34" charset="0"/>
              <a:buChar char="–"/>
              <a:defRPr baseline="0"/>
            </a:lvl7pPr>
            <a:lvl8pPr marL="1371600" indent="-228600">
              <a:buFont typeface="Arial" pitchFamily="34" charset="0"/>
              <a:buChar char="–"/>
              <a:defRPr baseline="0"/>
            </a:lvl8pPr>
            <a:lvl9pPr marL="1600200" indent="-228600">
              <a:buFont typeface="Arial" pitchFamily="34" charset="0"/>
              <a:buChar char="–"/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9626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XC Log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8" name="Straight Connector 7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Footer Placeholder 4"/>
          <p:cNvSpPr txBox="1">
            <a:spLocks/>
          </p:cNvSpPr>
          <p:nvPr userDrawn="1"/>
        </p:nvSpPr>
        <p:spPr>
          <a:xfrm>
            <a:off x="7543800" y="7580439"/>
            <a:ext cx="640080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100">
                <a:solidFill>
                  <a:schemeClr val="tx1"/>
                </a:solidFill>
              </a:rPr>
              <a:t>© 2022 DXC Technology Company. All rights reserved.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204136C3-C0B2-4695-8464-42B084FBEA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09034" y="2856891"/>
            <a:ext cx="4612331" cy="2515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805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 descr="The inside of a building&#10;&#10;Description automatically generated">
            <a:extLst>
              <a:ext uri="{FF2B5EF4-FFF2-40B4-BE49-F238E27FC236}">
                <a16:creationId xmlns:a16="http://schemas.microsoft.com/office/drawing/2014/main" id="{C8A04F00-DCA4-4085-9E16-C1DC7A8D0B9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18341" y="0"/>
            <a:ext cx="11712059" cy="82296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932CB1F-BA47-4C04-8E71-8BF810F38A5C}"/>
              </a:ext>
            </a:extLst>
          </p:cNvPr>
          <p:cNvSpPr/>
          <p:nvPr userDrawn="1"/>
        </p:nvSpPr>
        <p:spPr>
          <a:xfrm>
            <a:off x="1708423" y="0"/>
            <a:ext cx="8938140" cy="8229598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42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456"/>
          </a:p>
        </p:txBody>
      </p:sp>
      <p:sp>
        <p:nvSpPr>
          <p:cNvPr id="44" name="Rectangle: Single Corner Rounded 43">
            <a:extLst>
              <a:ext uri="{FF2B5EF4-FFF2-40B4-BE49-F238E27FC236}">
                <a16:creationId xmlns:a16="http://schemas.microsoft.com/office/drawing/2014/main" id="{2C9C6690-9226-4F0C-A542-C330AFCC2AF3}"/>
              </a:ext>
            </a:extLst>
          </p:cNvPr>
          <p:cNvSpPr/>
          <p:nvPr userDrawn="1"/>
        </p:nvSpPr>
        <p:spPr>
          <a:xfrm>
            <a:off x="685802" y="2539999"/>
            <a:ext cx="8869678" cy="4996181"/>
          </a:xfrm>
          <a:prstGeom prst="round1Rect">
            <a:avLst>
              <a:gd name="adj" fmla="val 23471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9" name="Group 8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10" name="Straight Connector 9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itle 1">
            <a:extLst>
              <a:ext uri="{FF2B5EF4-FFF2-40B4-BE49-F238E27FC236}">
                <a16:creationId xmlns:a16="http://schemas.microsoft.com/office/drawing/2014/main" id="{32FF021F-9D63-4AEC-B29B-F9D3753BE2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8401" y="3105150"/>
            <a:ext cx="6514123" cy="2256367"/>
          </a:xfrm>
        </p:spPr>
        <p:txBody>
          <a:bodyPr anchor="ctr" anchorCtr="0">
            <a:no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5" name="Subtitle 2">
            <a:extLst>
              <a:ext uri="{FF2B5EF4-FFF2-40B4-BE49-F238E27FC236}">
                <a16:creationId xmlns:a16="http://schemas.microsoft.com/office/drawing/2014/main" id="{D9BF61BC-E8BB-4C55-B47E-8C398FC207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8402" y="5741670"/>
            <a:ext cx="6514123" cy="9144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bg1"/>
                </a:solidFill>
              </a:defRPr>
            </a:lvl1pPr>
            <a:lvl2pPr marL="7314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29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4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59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89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19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6" name="Graphic 45">
            <a:extLst>
              <a:ext uri="{FF2B5EF4-FFF2-40B4-BE49-F238E27FC236}">
                <a16:creationId xmlns:a16="http://schemas.microsoft.com/office/drawing/2014/main" id="{D07C659E-3F10-46E2-9676-61137FD9384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8976" y="685802"/>
            <a:ext cx="1430092" cy="781050"/>
          </a:xfrm>
          <a:prstGeom prst="rect">
            <a:avLst/>
          </a:prstGeom>
        </p:spPr>
      </p:pic>
      <p:sp>
        <p:nvSpPr>
          <p:cNvPr id="47" name="Footer Placeholder 4">
            <a:extLst>
              <a:ext uri="{FF2B5EF4-FFF2-40B4-BE49-F238E27FC236}">
                <a16:creationId xmlns:a16="http://schemas.microsoft.com/office/drawing/2014/main" id="{DBDF535B-3840-4291-8B0B-E0FCD28F794B}"/>
              </a:ext>
            </a:extLst>
          </p:cNvPr>
          <p:cNvSpPr txBox="1">
            <a:spLocks/>
          </p:cNvSpPr>
          <p:nvPr userDrawn="1"/>
        </p:nvSpPr>
        <p:spPr>
          <a:xfrm>
            <a:off x="685780" y="7688992"/>
            <a:ext cx="502920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/>
              <a:t>© 2022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829576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: Single Corner Rounded 43">
            <a:extLst>
              <a:ext uri="{FF2B5EF4-FFF2-40B4-BE49-F238E27FC236}">
                <a16:creationId xmlns:a16="http://schemas.microsoft.com/office/drawing/2014/main" id="{2C9C6690-9226-4F0C-A542-C330AFCC2AF3}"/>
              </a:ext>
            </a:extLst>
          </p:cNvPr>
          <p:cNvSpPr/>
          <p:nvPr userDrawn="1"/>
        </p:nvSpPr>
        <p:spPr>
          <a:xfrm>
            <a:off x="685800" y="2057400"/>
            <a:ext cx="11201400" cy="3200400"/>
          </a:xfrm>
          <a:prstGeom prst="round1Rect">
            <a:avLst>
              <a:gd name="adj" fmla="val 28348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9" name="Group 8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10" name="Straight Connector 9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itle 1">
            <a:extLst>
              <a:ext uri="{FF2B5EF4-FFF2-40B4-BE49-F238E27FC236}">
                <a16:creationId xmlns:a16="http://schemas.microsoft.com/office/drawing/2014/main" id="{32FF021F-9D63-4AEC-B29B-F9D3753BE2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8400" y="2057401"/>
            <a:ext cx="9931400" cy="3181087"/>
          </a:xfrm>
        </p:spPr>
        <p:txBody>
          <a:bodyPr anchor="ctr" anchorCtr="0">
            <a:no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5" name="Subtitle 2">
            <a:extLst>
              <a:ext uri="{FF2B5EF4-FFF2-40B4-BE49-F238E27FC236}">
                <a16:creationId xmlns:a16="http://schemas.microsoft.com/office/drawing/2014/main" id="{D9BF61BC-E8BB-4C55-B47E-8C398FC207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8399" y="5678701"/>
            <a:ext cx="9931399" cy="9144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rgbClr val="63666F"/>
                </a:solidFill>
              </a:defRPr>
            </a:lvl1pPr>
            <a:lvl2pPr marL="7314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29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4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59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89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19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6" name="Graphic 45">
            <a:extLst>
              <a:ext uri="{FF2B5EF4-FFF2-40B4-BE49-F238E27FC236}">
                <a16:creationId xmlns:a16="http://schemas.microsoft.com/office/drawing/2014/main" id="{D07C659E-3F10-46E2-9676-61137FD938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8976" y="685802"/>
            <a:ext cx="1430092" cy="781050"/>
          </a:xfrm>
          <a:prstGeom prst="rect">
            <a:avLst/>
          </a:prstGeom>
        </p:spPr>
      </p:pic>
      <p:sp>
        <p:nvSpPr>
          <p:cNvPr id="47" name="Footer Placeholder 4">
            <a:extLst>
              <a:ext uri="{FF2B5EF4-FFF2-40B4-BE49-F238E27FC236}">
                <a16:creationId xmlns:a16="http://schemas.microsoft.com/office/drawing/2014/main" id="{8FA06BFD-1B3E-4443-BC83-270655A0F2CF}"/>
              </a:ext>
            </a:extLst>
          </p:cNvPr>
          <p:cNvSpPr txBox="1">
            <a:spLocks/>
          </p:cNvSpPr>
          <p:nvPr userDrawn="1"/>
        </p:nvSpPr>
        <p:spPr>
          <a:xfrm>
            <a:off x="685780" y="7688992"/>
            <a:ext cx="502920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/>
              <a:t>© 2022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371878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057399"/>
            <a:ext cx="13258800" cy="5121276"/>
          </a:xfrm>
        </p:spPr>
        <p:txBody>
          <a:bodyPr numCol="2" spcCol="457200">
            <a:normAutofit/>
          </a:bodyPr>
          <a:lstStyle>
            <a:lvl1pPr marL="457182" indent="-457182">
              <a:spcBef>
                <a:spcPts val="900"/>
              </a:spcBef>
              <a:buFont typeface="+mj-lt"/>
              <a:buAutoNum type="arabicPeriod"/>
              <a:tabLst>
                <a:tab pos="6337046" algn="r"/>
              </a:tabLst>
              <a:defRPr sz="2000"/>
            </a:lvl1pPr>
            <a:lvl2pPr marL="685772" indent="-228590">
              <a:spcBef>
                <a:spcPts val="600"/>
              </a:spcBef>
              <a:buFont typeface="Arial" pitchFamily="34" charset="0"/>
              <a:buChar char="–"/>
              <a:tabLst>
                <a:tab pos="6337046" algn="r"/>
              </a:tabLst>
              <a:defRPr sz="2000"/>
            </a:lvl2pPr>
            <a:lvl3pPr marL="914364" indent="-228590">
              <a:spcBef>
                <a:spcPts val="600"/>
              </a:spcBef>
              <a:buFont typeface="Arial" pitchFamily="34" charset="0"/>
              <a:buChar char="–"/>
              <a:tabLst>
                <a:tab pos="6337046" algn="r"/>
              </a:tabLst>
              <a:defRPr sz="2000"/>
            </a:lvl3pPr>
            <a:lvl4pPr marL="1142954" indent="-228590">
              <a:spcBef>
                <a:spcPts val="600"/>
              </a:spcBef>
              <a:buFont typeface="Arial" pitchFamily="34" charset="0"/>
              <a:buChar char="–"/>
              <a:tabLst>
                <a:tab pos="6337046" algn="r"/>
              </a:tabLst>
              <a:defRPr sz="2000"/>
            </a:lvl4pPr>
            <a:lvl5pPr marL="1371545" indent="-228590">
              <a:spcBef>
                <a:spcPts val="600"/>
              </a:spcBef>
              <a:buFont typeface="Arial" pitchFamily="34" charset="0"/>
              <a:buChar char="–"/>
              <a:tabLst>
                <a:tab pos="6337046" algn="r"/>
              </a:tabLst>
              <a:defRPr sz="2000"/>
            </a:lvl5pPr>
            <a:lvl6pPr marL="1600136" indent="-228590">
              <a:spcBef>
                <a:spcPts val="600"/>
              </a:spcBef>
              <a:buFont typeface="Arial" pitchFamily="34" charset="0"/>
              <a:buChar char="–"/>
              <a:tabLst>
                <a:tab pos="6337046" algn="r"/>
              </a:tabLst>
              <a:defRPr sz="2000" baseline="0"/>
            </a:lvl6pPr>
            <a:lvl7pPr marL="1828727" indent="-228590">
              <a:spcBef>
                <a:spcPts val="600"/>
              </a:spcBef>
              <a:buFont typeface="Arial" pitchFamily="34" charset="0"/>
              <a:buChar char="–"/>
              <a:tabLst>
                <a:tab pos="6337046" algn="r"/>
              </a:tabLst>
              <a:defRPr sz="2000" baseline="0"/>
            </a:lvl7pPr>
            <a:lvl8pPr marL="2057317" indent="-228590">
              <a:spcBef>
                <a:spcPts val="600"/>
              </a:spcBef>
              <a:buFont typeface="Arial" pitchFamily="34" charset="0"/>
              <a:buChar char="–"/>
              <a:tabLst>
                <a:tab pos="6337046" algn="r"/>
              </a:tabLst>
              <a:defRPr sz="2000" baseline="0"/>
            </a:lvl8pPr>
            <a:lvl9pPr marL="2285909" indent="-228590">
              <a:spcBef>
                <a:spcPts val="600"/>
              </a:spcBef>
              <a:buFont typeface="Arial" pitchFamily="34" charset="0"/>
              <a:buChar char="–"/>
              <a:tabLst>
                <a:tab pos="6337046" algn="r"/>
              </a:tabLst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DFE3F9C-0404-4A2C-8A46-3BA297149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6273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34318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4pPr marL="457182" indent="-228590">
              <a:buFont typeface="Arial" pitchFamily="34" charset="0"/>
              <a:buChar char="–"/>
              <a:defRPr/>
            </a:lvl4pPr>
            <a:lvl5pPr marL="685772" indent="-228590">
              <a:buFont typeface="Arial" pitchFamily="34" charset="0"/>
              <a:buChar char="–"/>
              <a:defRPr/>
            </a:lvl5pPr>
            <a:lvl6pPr marL="914364" indent="-228590">
              <a:buFont typeface="Arial" pitchFamily="34" charset="0"/>
              <a:buChar char="–"/>
              <a:defRPr baseline="0"/>
            </a:lvl6pPr>
            <a:lvl7pPr marL="1142954" indent="-228590">
              <a:buFont typeface="Arial" pitchFamily="34" charset="0"/>
              <a:buChar char="–"/>
              <a:defRPr baseline="0"/>
            </a:lvl7pPr>
            <a:lvl8pPr marL="1371545" indent="-228590">
              <a:buFont typeface="Arial" pitchFamily="34" charset="0"/>
              <a:buChar char="–"/>
              <a:defRPr baseline="0"/>
            </a:lvl8pPr>
            <a:lvl9pPr marL="1600136" indent="-228590">
              <a:buFont typeface="Arial" pitchFamily="34" charset="0"/>
              <a:buChar char="–"/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36227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w/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39764"/>
            <a:ext cx="10660075" cy="141763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4pPr marL="457182" indent="-228590">
              <a:buFont typeface="Arial" pitchFamily="34" charset="0"/>
              <a:buChar char="–"/>
              <a:defRPr/>
            </a:lvl4pPr>
            <a:lvl5pPr marL="685772" indent="-228590">
              <a:buFont typeface="Arial" pitchFamily="34" charset="0"/>
              <a:buChar char="–"/>
              <a:defRPr/>
            </a:lvl5pPr>
            <a:lvl6pPr marL="914364" indent="-228590">
              <a:buFont typeface="Arial" pitchFamily="34" charset="0"/>
              <a:buChar char="–"/>
              <a:defRPr baseline="0"/>
            </a:lvl6pPr>
            <a:lvl7pPr marL="1142954" indent="-228590">
              <a:buFont typeface="Arial" pitchFamily="34" charset="0"/>
              <a:buChar char="–"/>
              <a:defRPr baseline="0"/>
            </a:lvl7pPr>
            <a:lvl8pPr marL="1371545" indent="-228590">
              <a:buFont typeface="Arial" pitchFamily="34" charset="0"/>
              <a:buChar char="–"/>
              <a:defRPr baseline="0"/>
            </a:lvl8pPr>
            <a:lvl9pPr marL="1600136" indent="-228590">
              <a:buFont typeface="Arial" pitchFamily="34" charset="0"/>
              <a:buChar char="–"/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: Single Corner Rounded 3">
            <a:extLst>
              <a:ext uri="{FF2B5EF4-FFF2-40B4-BE49-F238E27FC236}">
                <a16:creationId xmlns:a16="http://schemas.microsoft.com/office/drawing/2014/main" id="{91994B2C-2165-46A4-99A0-7921C65A1197}"/>
              </a:ext>
            </a:extLst>
          </p:cNvPr>
          <p:cNvSpPr/>
          <p:nvPr userDrawn="1"/>
        </p:nvSpPr>
        <p:spPr>
          <a:xfrm rot="10800000">
            <a:off x="11477625" y="-3"/>
            <a:ext cx="3152768" cy="776048"/>
          </a:xfrm>
          <a:prstGeom prst="round1Rect">
            <a:avLst>
              <a:gd name="adj" fmla="val 39716"/>
            </a:avLst>
          </a:prstGeom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72A6A47-BB63-437D-9497-6B68158905D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11715750" y="2"/>
            <a:ext cx="2601384" cy="776046"/>
          </a:xfrm>
        </p:spPr>
        <p:txBody>
          <a:bodyPr anchor="ctr" anchorCtr="0">
            <a:norm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 marL="457182" indent="-228590">
              <a:buFont typeface="Arial" pitchFamily="34" charset="0"/>
              <a:buChar char="–"/>
              <a:defRPr sz="1400"/>
            </a:lvl4pPr>
            <a:lvl5pPr marL="685772" indent="-228590">
              <a:buFont typeface="Arial" pitchFamily="34" charset="0"/>
              <a:buChar char="–"/>
              <a:defRPr sz="1400"/>
            </a:lvl5pPr>
            <a:lvl6pPr marL="914364" indent="-228590">
              <a:buFont typeface="Arial" pitchFamily="34" charset="0"/>
              <a:buChar char="–"/>
              <a:defRPr baseline="0"/>
            </a:lvl6pPr>
            <a:lvl7pPr marL="1142954" indent="-228590">
              <a:buFont typeface="Arial" pitchFamily="34" charset="0"/>
              <a:buChar char="–"/>
              <a:defRPr baseline="0"/>
            </a:lvl7pPr>
            <a:lvl8pPr marL="1371545" indent="-228590">
              <a:buFont typeface="Arial" pitchFamily="34" charset="0"/>
              <a:buChar char="–"/>
              <a:defRPr baseline="0"/>
            </a:lvl8pPr>
            <a:lvl9pPr marL="1600136" indent="-228590">
              <a:buFont typeface="Arial" pitchFamily="34" charset="0"/>
              <a:buChar char="–"/>
              <a:defRPr baseline="0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</p:spTree>
    <p:extLst>
      <p:ext uri="{BB962C8B-B14F-4D97-AF65-F5344CB8AC3E}">
        <p14:creationId xmlns:p14="http://schemas.microsoft.com/office/powerpoint/2010/main" val="2372364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590" indent="-228590">
              <a:buFont typeface="Arial" pitchFamily="34" charset="0"/>
              <a:buChar char="•"/>
              <a:defRPr b="0"/>
            </a:lvl1pPr>
            <a:lvl2pPr marL="457182" indent="-228590">
              <a:spcBef>
                <a:spcPts val="600"/>
              </a:spcBef>
              <a:buFont typeface="Arial" pitchFamily="34" charset="0"/>
              <a:buChar char="–"/>
              <a:defRPr b="0"/>
            </a:lvl2pPr>
            <a:lvl3pPr marL="685772" indent="-228590">
              <a:spcBef>
                <a:spcPts val="600"/>
              </a:spcBef>
              <a:buFont typeface="Arial" pitchFamily="34" charset="0"/>
              <a:buChar char="–"/>
              <a:defRPr b="0"/>
            </a:lvl3pPr>
            <a:lvl4pPr marL="914364" indent="-228590">
              <a:spcBef>
                <a:spcPts val="600"/>
              </a:spcBef>
              <a:buFont typeface="Arial" pitchFamily="34" charset="0"/>
              <a:buChar char="–"/>
              <a:defRPr b="0"/>
            </a:lvl4pPr>
            <a:lvl5pPr marL="1142954" indent="-228590">
              <a:spcBef>
                <a:spcPts val="600"/>
              </a:spcBef>
              <a:buFont typeface="Arial" pitchFamily="34" charset="0"/>
              <a:buChar char="–"/>
              <a:defRPr b="0"/>
            </a:lvl5pPr>
            <a:lvl6pPr marL="1371545" indent="-228590">
              <a:spcBef>
                <a:spcPts val="600"/>
              </a:spcBef>
              <a:buFont typeface="Arial" pitchFamily="34" charset="0"/>
              <a:buChar char="–"/>
              <a:defRPr baseline="0"/>
            </a:lvl6pPr>
            <a:lvl7pPr marL="1600136" indent="-228590">
              <a:spcBef>
                <a:spcPts val="600"/>
              </a:spcBef>
              <a:buFont typeface="Arial" pitchFamily="34" charset="0"/>
              <a:buChar char="–"/>
              <a:defRPr baseline="0"/>
            </a:lvl7pPr>
            <a:lvl8pPr marL="1828727" indent="-228590">
              <a:spcBef>
                <a:spcPts val="600"/>
              </a:spcBef>
              <a:buFont typeface="Arial" pitchFamily="34" charset="0"/>
              <a:buChar char="–"/>
              <a:defRPr baseline="0"/>
            </a:lvl8pPr>
            <a:lvl9pPr marL="2057317" indent="-228590">
              <a:spcBef>
                <a:spcPts val="600"/>
              </a:spcBef>
              <a:buFont typeface="Arial" pitchFamily="34" charset="0"/>
              <a:buChar char="–"/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11051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057399"/>
            <a:ext cx="6400800" cy="5121276"/>
          </a:xfrm>
          <a:noFill/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 marL="457182" indent="-228590">
              <a:buFont typeface="Arial" pitchFamily="34" charset="0"/>
              <a:buChar char="–"/>
              <a:defRPr sz="2000"/>
            </a:lvl4pPr>
            <a:lvl5pPr marL="685772" indent="-228590">
              <a:buFont typeface="Arial" pitchFamily="34" charset="0"/>
              <a:buChar char="–"/>
              <a:defRPr sz="2000"/>
            </a:lvl5pPr>
            <a:lvl6pPr marL="914364" indent="-228590">
              <a:buFont typeface="Arial" pitchFamily="34" charset="0"/>
              <a:buChar char="–"/>
              <a:defRPr sz="2000" baseline="0"/>
            </a:lvl6pPr>
            <a:lvl7pPr marL="1142954" indent="-228590">
              <a:buFont typeface="Arial" pitchFamily="34" charset="0"/>
              <a:buChar char="–"/>
              <a:defRPr sz="2000" baseline="0"/>
            </a:lvl7pPr>
            <a:lvl8pPr marL="1371545" indent="-228590">
              <a:buFont typeface="Arial" pitchFamily="34" charset="0"/>
              <a:buChar char="–"/>
              <a:defRPr sz="2000" baseline="0"/>
            </a:lvl8pPr>
            <a:lvl9pPr marL="1600136" indent="-228590">
              <a:buFont typeface="Arial" pitchFamily="34" charset="0"/>
              <a:buChar char="–"/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800" y="2057399"/>
            <a:ext cx="6400800" cy="512127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90182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057399"/>
            <a:ext cx="4114800" cy="51212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57800" y="2057399"/>
            <a:ext cx="4114800" cy="51212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13"/>
          </p:nvPr>
        </p:nvSpPr>
        <p:spPr>
          <a:xfrm>
            <a:off x="9829800" y="2057399"/>
            <a:ext cx="4114800" cy="51212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59861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14" name="Straight Connector 13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7315200" y="0"/>
            <a:ext cx="7315200" cy="8229600"/>
          </a:xfrm>
          <a:solidFill>
            <a:schemeClr val="bg1">
              <a:lumMod val="85000"/>
            </a:schemeClr>
          </a:solidFill>
        </p:spPr>
        <p:txBody>
          <a:bodyPr anchor="ctr" anchorCtr="0">
            <a:normAutofit/>
          </a:bodyPr>
          <a:lstStyle>
            <a:lvl1pPr algn="ctr">
              <a:defRPr sz="1600" b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5800" y="639764"/>
            <a:ext cx="6400800" cy="141763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Text Box 115"/>
          <p:cNvSpPr txBox="1">
            <a:spLocks noChangeArrowheads="1"/>
          </p:cNvSpPr>
          <p:nvPr userDrawn="1"/>
        </p:nvSpPr>
        <p:spPr bwMode="auto">
          <a:xfrm>
            <a:off x="11893550" y="7580437"/>
            <a:ext cx="163957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noAutofit/>
          </a:bodyPr>
          <a:lstStyle/>
          <a:p>
            <a:pPr algn="r" defTabSz="820705">
              <a:spcBef>
                <a:spcPct val="50000"/>
              </a:spcBef>
            </a:pPr>
            <a:fld id="{03C7D0F0-10D5-4191-B6F4-99306F468FEF}" type="datetime4">
              <a:rPr lang="en-US" sz="1100" b="0" smtClean="0">
                <a:solidFill>
                  <a:schemeClr val="tx1"/>
                </a:solidFill>
              </a:rPr>
              <a:pPr algn="r" defTabSz="820705">
                <a:spcBef>
                  <a:spcPct val="50000"/>
                </a:spcBef>
              </a:pPr>
              <a:t>April 27, 2023</a:t>
            </a:fld>
            <a:endParaRPr lang="en-US" sz="1100" b="0">
              <a:solidFill>
                <a:schemeClr val="tx1"/>
              </a:solidFill>
            </a:endParaRPr>
          </a:p>
        </p:txBody>
      </p:sp>
      <p:sp>
        <p:nvSpPr>
          <p:cNvPr id="11" name="Text Box 115"/>
          <p:cNvSpPr txBox="1">
            <a:spLocks noChangeArrowheads="1"/>
          </p:cNvSpPr>
          <p:nvPr userDrawn="1"/>
        </p:nvSpPr>
        <p:spPr bwMode="auto">
          <a:xfrm>
            <a:off x="13533120" y="7580440"/>
            <a:ext cx="41148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820705">
              <a:spcBef>
                <a:spcPct val="50000"/>
              </a:spcBef>
            </a:pPr>
            <a:fld id="{18E29826-F105-4F77-B977-03F4A4723A21}" type="slidenum">
              <a:rPr lang="en-US" sz="1100" b="1" smtClean="0">
                <a:solidFill>
                  <a:schemeClr val="tx1"/>
                </a:solidFill>
              </a:rPr>
              <a:pPr algn="r" defTabSz="820705">
                <a:spcBef>
                  <a:spcPct val="50000"/>
                </a:spcBef>
              </a:pPr>
              <a:t>‹#›</a:t>
            </a:fld>
            <a:endParaRPr lang="en-US" sz="1100" b="1">
              <a:solidFill>
                <a:schemeClr val="tx1"/>
              </a:solidFill>
            </a:endParaRPr>
          </a:p>
        </p:txBody>
      </p:sp>
      <p:sp>
        <p:nvSpPr>
          <p:cNvPr id="12" name="Footer Placeholder 4"/>
          <p:cNvSpPr txBox="1">
            <a:spLocks/>
          </p:cNvSpPr>
          <p:nvPr userDrawn="1"/>
        </p:nvSpPr>
        <p:spPr>
          <a:xfrm>
            <a:off x="2971800" y="7580440"/>
            <a:ext cx="411480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100"/>
              <a:t>© 2022 DXC Technology Company. All rights reserved.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685800" y="2057399"/>
            <a:ext cx="6400800" cy="5121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4" name="Graphic 43">
            <a:extLst>
              <a:ext uri="{FF2B5EF4-FFF2-40B4-BE49-F238E27FC236}">
                <a16:creationId xmlns:a16="http://schemas.microsoft.com/office/drawing/2014/main" id="{C091593C-4446-42A7-AA75-762280E3CD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800" y="7580437"/>
            <a:ext cx="2286000" cy="259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780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685800" y="2057401"/>
            <a:ext cx="11201400" cy="5121275"/>
          </a:xfrm>
        </p:spPr>
        <p:txBody>
          <a:bodyPr/>
          <a:lstStyle>
            <a:lvl1pPr>
              <a:lnSpc>
                <a:spcPct val="85000"/>
              </a:lnSpc>
              <a:spcBef>
                <a:spcPts val="0"/>
              </a:spcBef>
              <a:defRPr sz="5400">
                <a:solidFill>
                  <a:schemeClr val="accent1"/>
                </a:solidFill>
              </a:defRPr>
            </a:lvl1pPr>
            <a:lvl2pPr marL="0" indent="0">
              <a:spcBef>
                <a:spcPts val="900"/>
              </a:spcBef>
              <a:buFontTx/>
              <a:buNone/>
              <a:defRPr/>
            </a:lvl2pPr>
            <a:lvl3pPr marL="0" indent="0">
              <a:spcBef>
                <a:spcPts val="900"/>
              </a:spcBef>
              <a:buFontTx/>
              <a:buNone/>
              <a:defRPr/>
            </a:lvl3pPr>
            <a:lvl4pPr marL="0" indent="0">
              <a:spcBef>
                <a:spcPts val="900"/>
              </a:spcBef>
              <a:buFontTx/>
              <a:buNone/>
              <a:defRPr/>
            </a:lvl4pPr>
            <a:lvl5pPr marL="0" indent="0">
              <a:spcBef>
                <a:spcPts val="900"/>
              </a:spcBef>
              <a:buFontTx/>
              <a:buNone/>
              <a:defRPr/>
            </a:lvl5pPr>
            <a:lvl6pPr marL="0" indent="0">
              <a:spcBef>
                <a:spcPts val="900"/>
              </a:spcBef>
              <a:buFontTx/>
              <a:buNone/>
              <a:defRPr baseline="0"/>
            </a:lvl6pPr>
            <a:lvl7pPr marL="0" indent="0">
              <a:spcBef>
                <a:spcPts val="900"/>
              </a:spcBef>
              <a:buFontTx/>
              <a:buNone/>
              <a:defRPr baseline="0"/>
            </a:lvl7pPr>
            <a:lvl8pPr marL="0" indent="0">
              <a:spcBef>
                <a:spcPts val="900"/>
              </a:spcBef>
              <a:buFontTx/>
              <a:buNone/>
              <a:defRPr baseline="0"/>
            </a:lvl8pPr>
            <a:lvl9pPr marL="0" indent="0">
              <a:spcBef>
                <a:spcPts val="900"/>
              </a:spcBef>
              <a:buFontTx/>
              <a:buNone/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78809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13" name="Straight Connector 12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Box 115"/>
          <p:cNvSpPr txBox="1">
            <a:spLocks noChangeArrowheads="1"/>
          </p:cNvSpPr>
          <p:nvPr userDrawn="1"/>
        </p:nvSpPr>
        <p:spPr bwMode="auto">
          <a:xfrm>
            <a:off x="11893550" y="7580437"/>
            <a:ext cx="163957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noAutofit/>
          </a:bodyPr>
          <a:lstStyle/>
          <a:p>
            <a:pPr algn="r" defTabSz="820705">
              <a:spcBef>
                <a:spcPct val="50000"/>
              </a:spcBef>
            </a:pPr>
            <a:fld id="{03C7D0F0-10D5-4191-B6F4-99306F468FEF}" type="datetime4">
              <a:rPr lang="en-US" sz="1100" b="0" smtClean="0">
                <a:solidFill>
                  <a:schemeClr val="bg1"/>
                </a:solidFill>
              </a:rPr>
              <a:pPr algn="r" defTabSz="820705">
                <a:spcBef>
                  <a:spcPct val="50000"/>
                </a:spcBef>
              </a:pPr>
              <a:t>April 27, 2023</a:t>
            </a:fld>
            <a:endParaRPr lang="en-US" sz="1100" b="0">
              <a:solidFill>
                <a:schemeClr val="bg1"/>
              </a:solidFill>
            </a:endParaRPr>
          </a:p>
        </p:txBody>
      </p:sp>
      <p:sp>
        <p:nvSpPr>
          <p:cNvPr id="16" name="Text Box 115"/>
          <p:cNvSpPr txBox="1">
            <a:spLocks noChangeArrowheads="1"/>
          </p:cNvSpPr>
          <p:nvPr userDrawn="1"/>
        </p:nvSpPr>
        <p:spPr bwMode="auto">
          <a:xfrm>
            <a:off x="13533120" y="7580440"/>
            <a:ext cx="41148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820705">
              <a:spcBef>
                <a:spcPct val="50000"/>
              </a:spcBef>
            </a:pPr>
            <a:fld id="{18E29826-F105-4F77-B977-03F4A4723A21}" type="slidenum">
              <a:rPr lang="en-US" sz="1100" b="1" smtClean="0">
                <a:solidFill>
                  <a:schemeClr val="bg1"/>
                </a:solidFill>
              </a:rPr>
              <a:pPr algn="r" defTabSz="820705">
                <a:spcBef>
                  <a:spcPct val="50000"/>
                </a:spcBef>
              </a:pPr>
              <a:t>‹#›</a:t>
            </a:fld>
            <a:endParaRPr lang="en-US" sz="1100" b="1">
              <a:solidFill>
                <a:schemeClr val="bg1"/>
              </a:solidFill>
            </a:endParaRPr>
          </a:p>
        </p:txBody>
      </p:sp>
      <p:sp>
        <p:nvSpPr>
          <p:cNvPr id="17" name="Footer Placeholder 4"/>
          <p:cNvSpPr txBox="1">
            <a:spLocks/>
          </p:cNvSpPr>
          <p:nvPr userDrawn="1"/>
        </p:nvSpPr>
        <p:spPr>
          <a:xfrm>
            <a:off x="4800600" y="7580440"/>
            <a:ext cx="502920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>
                <a:solidFill>
                  <a:schemeClr val="bg1"/>
                </a:solidFill>
              </a:rPr>
              <a:t>© 2021 DXC Technology Company. All rights reserved.</a:t>
            </a:r>
          </a:p>
        </p:txBody>
      </p:sp>
      <p:pic>
        <p:nvPicPr>
          <p:cNvPr id="45" name="Graphic 44">
            <a:extLst>
              <a:ext uri="{FF2B5EF4-FFF2-40B4-BE49-F238E27FC236}">
                <a16:creationId xmlns:a16="http://schemas.microsoft.com/office/drawing/2014/main" id="{DE47D048-F78A-4D25-83CC-A1FB3F93EB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800" y="7561481"/>
            <a:ext cx="2468880" cy="279976"/>
          </a:xfrm>
          <a:prstGeom prst="rect">
            <a:avLst/>
          </a:prstGeom>
        </p:spPr>
      </p:pic>
      <p:sp>
        <p:nvSpPr>
          <p:cNvPr id="46" name="Text Box 115">
            <a:extLst>
              <a:ext uri="{FF2B5EF4-FFF2-40B4-BE49-F238E27FC236}">
                <a16:creationId xmlns:a16="http://schemas.microsoft.com/office/drawing/2014/main" id="{BAAC8F77-03DC-4B54-ABD4-487A7142E16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893550" y="7580437"/>
            <a:ext cx="163957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noAutofit/>
          </a:bodyPr>
          <a:lstStyle/>
          <a:p>
            <a:pPr algn="r" defTabSz="820705">
              <a:spcBef>
                <a:spcPts val="0"/>
              </a:spcBef>
            </a:pPr>
            <a:fld id="{03C7D0F0-10D5-4191-B6F4-99306F468FEF}" type="datetime4">
              <a:rPr lang="en-US" sz="1100" b="0" smtClean="0">
                <a:solidFill>
                  <a:schemeClr val="tx1"/>
                </a:solidFill>
              </a:rPr>
              <a:pPr algn="r" defTabSz="820705">
                <a:spcBef>
                  <a:spcPts val="0"/>
                </a:spcBef>
              </a:pPr>
              <a:t>April 27, 2023</a:t>
            </a:fld>
            <a:endParaRPr lang="en-US" sz="1100" b="0">
              <a:solidFill>
                <a:schemeClr val="tx1"/>
              </a:solidFill>
            </a:endParaRPr>
          </a:p>
        </p:txBody>
      </p:sp>
      <p:sp>
        <p:nvSpPr>
          <p:cNvPr id="47" name="Text Box 115">
            <a:extLst>
              <a:ext uri="{FF2B5EF4-FFF2-40B4-BE49-F238E27FC236}">
                <a16:creationId xmlns:a16="http://schemas.microsoft.com/office/drawing/2014/main" id="{B207E4D1-23C4-49FF-8260-AC6970B95FC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3533120" y="7580440"/>
            <a:ext cx="41148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820705">
              <a:spcBef>
                <a:spcPts val="0"/>
              </a:spcBef>
            </a:pPr>
            <a:fld id="{18E29826-F105-4F77-B977-03F4A4723A21}" type="slidenum">
              <a:rPr lang="en-US" sz="1100" b="1" smtClean="0">
                <a:solidFill>
                  <a:schemeClr val="tx1"/>
                </a:solidFill>
              </a:rPr>
              <a:pPr algn="r" defTabSz="820705">
                <a:spcBef>
                  <a:spcPts val="0"/>
                </a:spcBef>
              </a:pPr>
              <a:t>‹#›</a:t>
            </a:fld>
            <a:endParaRPr lang="en-US" sz="1100" b="1">
              <a:solidFill>
                <a:schemeClr val="tx1"/>
              </a:solidFill>
            </a:endParaRPr>
          </a:p>
        </p:txBody>
      </p:sp>
      <p:sp>
        <p:nvSpPr>
          <p:cNvPr id="50" name="Footer Placeholder 4">
            <a:extLst>
              <a:ext uri="{FF2B5EF4-FFF2-40B4-BE49-F238E27FC236}">
                <a16:creationId xmlns:a16="http://schemas.microsoft.com/office/drawing/2014/main" id="{0C203C4F-2B7A-44AE-9CC5-974D0684C5F6}"/>
              </a:ext>
            </a:extLst>
          </p:cNvPr>
          <p:cNvSpPr txBox="1">
            <a:spLocks/>
          </p:cNvSpPr>
          <p:nvPr userDrawn="1"/>
        </p:nvSpPr>
        <p:spPr>
          <a:xfrm>
            <a:off x="4800600" y="7580440"/>
            <a:ext cx="502920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/>
              <a:t>© 2022 DXC Technology Company. All rights reserved.</a:t>
            </a:r>
          </a:p>
        </p:txBody>
      </p:sp>
      <p:pic>
        <p:nvPicPr>
          <p:cNvPr id="52" name="Graphic 51">
            <a:extLst>
              <a:ext uri="{FF2B5EF4-FFF2-40B4-BE49-F238E27FC236}">
                <a16:creationId xmlns:a16="http://schemas.microsoft.com/office/drawing/2014/main" id="{925DB904-DAE2-4F1E-A174-E29E8F75117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5800" y="7580437"/>
            <a:ext cx="2286000" cy="259238"/>
          </a:xfrm>
          <a:prstGeom prst="rect">
            <a:avLst/>
          </a:prstGeom>
        </p:spPr>
      </p:pic>
      <p:sp>
        <p:nvSpPr>
          <p:cNvPr id="56" name="Rectangle: Single Corner Rounded 55">
            <a:extLst>
              <a:ext uri="{FF2B5EF4-FFF2-40B4-BE49-F238E27FC236}">
                <a16:creationId xmlns:a16="http://schemas.microsoft.com/office/drawing/2014/main" id="{106C60A4-E521-4756-B4C4-7D4CE00E4F0A}"/>
              </a:ext>
            </a:extLst>
          </p:cNvPr>
          <p:cNvSpPr/>
          <p:nvPr userDrawn="1"/>
        </p:nvSpPr>
        <p:spPr>
          <a:xfrm>
            <a:off x="695326" y="2057398"/>
            <a:ext cx="11201400" cy="3200400"/>
          </a:xfrm>
          <a:prstGeom prst="round1Rect">
            <a:avLst>
              <a:gd name="adj" fmla="val 24915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7" name="Title 1">
            <a:extLst>
              <a:ext uri="{FF2B5EF4-FFF2-40B4-BE49-F238E27FC236}">
                <a16:creationId xmlns:a16="http://schemas.microsoft.com/office/drawing/2014/main" id="{083C3818-4368-434E-9D55-569CC18CE4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8401" y="2057400"/>
            <a:ext cx="9931400" cy="3200400"/>
          </a:xfrm>
        </p:spPr>
        <p:txBody>
          <a:bodyPr anchor="ctr" anchorCtr="0">
            <a:no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8" name="Subtitle 2">
            <a:extLst>
              <a:ext uri="{FF2B5EF4-FFF2-40B4-BE49-F238E27FC236}">
                <a16:creationId xmlns:a16="http://schemas.microsoft.com/office/drawing/2014/main" id="{A99EC16D-6BC6-4571-A314-8BE9BEF6FD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8401" y="5686106"/>
            <a:ext cx="9931399" cy="9144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rgbClr val="63666F"/>
                </a:solidFill>
              </a:defRPr>
            </a:lvl1pPr>
            <a:lvl2pPr marL="7314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29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4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59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89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19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532925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13" name="Straight Connector 12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Rectangle: Single Corner Rounded 51">
            <a:extLst>
              <a:ext uri="{FF2B5EF4-FFF2-40B4-BE49-F238E27FC236}">
                <a16:creationId xmlns:a16="http://schemas.microsoft.com/office/drawing/2014/main" id="{16D803CF-5C46-4998-BEA0-760D4BDFAA5E}"/>
              </a:ext>
            </a:extLst>
          </p:cNvPr>
          <p:cNvSpPr/>
          <p:nvPr userDrawn="1"/>
        </p:nvSpPr>
        <p:spPr>
          <a:xfrm>
            <a:off x="685802" y="639765"/>
            <a:ext cx="8314499" cy="6538910"/>
          </a:xfrm>
          <a:prstGeom prst="round1Rect">
            <a:avLst>
              <a:gd name="adj" fmla="val 17070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8" name="Title 1">
            <a:extLst>
              <a:ext uri="{FF2B5EF4-FFF2-40B4-BE49-F238E27FC236}">
                <a16:creationId xmlns:a16="http://schemas.microsoft.com/office/drawing/2014/main" id="{B8034992-7FB5-4D10-85B6-A1E0AA858F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4985" y="2117489"/>
            <a:ext cx="7217230" cy="2545080"/>
          </a:xfrm>
        </p:spPr>
        <p:txBody>
          <a:bodyPr anchor="ctr" anchorCtr="0">
            <a:no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9" name="Subtitle 2">
            <a:extLst>
              <a:ext uri="{FF2B5EF4-FFF2-40B4-BE49-F238E27FC236}">
                <a16:creationId xmlns:a16="http://schemas.microsoft.com/office/drawing/2014/main" id="{95862D04-C327-4882-82FB-72E8CCD130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4985" y="4830209"/>
            <a:ext cx="7217230" cy="9144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bg1"/>
                </a:solidFill>
              </a:defRPr>
            </a:lvl1pPr>
            <a:lvl2pPr marL="7314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29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4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59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89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19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6" name="Text Box 115">
            <a:extLst>
              <a:ext uri="{FF2B5EF4-FFF2-40B4-BE49-F238E27FC236}">
                <a16:creationId xmlns:a16="http://schemas.microsoft.com/office/drawing/2014/main" id="{B7410DDF-33B2-4E49-9D88-0AEC09F35B0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893550" y="7580437"/>
            <a:ext cx="163957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noAutofit/>
          </a:bodyPr>
          <a:lstStyle/>
          <a:p>
            <a:pPr algn="r" defTabSz="820705">
              <a:spcBef>
                <a:spcPct val="50000"/>
              </a:spcBef>
            </a:pPr>
            <a:fld id="{03C7D0F0-10D5-4191-B6F4-99306F468FEF}" type="datetime4">
              <a:rPr lang="en-US" sz="1100" b="0" smtClean="0">
                <a:solidFill>
                  <a:schemeClr val="bg1"/>
                </a:solidFill>
              </a:rPr>
              <a:pPr algn="r" defTabSz="820705">
                <a:spcBef>
                  <a:spcPct val="50000"/>
                </a:spcBef>
              </a:pPr>
              <a:t>April 27, 2023</a:t>
            </a:fld>
            <a:endParaRPr lang="en-US" sz="1100" b="0">
              <a:solidFill>
                <a:schemeClr val="bg1"/>
              </a:solidFill>
            </a:endParaRPr>
          </a:p>
        </p:txBody>
      </p:sp>
      <p:sp>
        <p:nvSpPr>
          <p:cNvPr id="50" name="Text Box 115">
            <a:extLst>
              <a:ext uri="{FF2B5EF4-FFF2-40B4-BE49-F238E27FC236}">
                <a16:creationId xmlns:a16="http://schemas.microsoft.com/office/drawing/2014/main" id="{56CCFE87-E52F-4030-93DB-4F8A10CB8AF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3533120" y="7580440"/>
            <a:ext cx="41148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820705">
              <a:spcBef>
                <a:spcPct val="50000"/>
              </a:spcBef>
            </a:pPr>
            <a:fld id="{18E29826-F105-4F77-B977-03F4A4723A21}" type="slidenum">
              <a:rPr lang="en-US" sz="1100" b="1" smtClean="0">
                <a:solidFill>
                  <a:schemeClr val="bg1"/>
                </a:solidFill>
              </a:rPr>
              <a:pPr algn="r" defTabSz="820705">
                <a:spcBef>
                  <a:spcPct val="50000"/>
                </a:spcBef>
              </a:pPr>
              <a:t>‹#›</a:t>
            </a:fld>
            <a:endParaRPr lang="en-US" sz="1100" b="1">
              <a:solidFill>
                <a:schemeClr val="bg1"/>
              </a:solidFill>
            </a:endParaRPr>
          </a:p>
        </p:txBody>
      </p:sp>
      <p:sp>
        <p:nvSpPr>
          <p:cNvPr id="51" name="Footer Placeholder 4">
            <a:extLst>
              <a:ext uri="{FF2B5EF4-FFF2-40B4-BE49-F238E27FC236}">
                <a16:creationId xmlns:a16="http://schemas.microsoft.com/office/drawing/2014/main" id="{4A9D77DB-7015-4991-83C8-36A24B782AF8}"/>
              </a:ext>
            </a:extLst>
          </p:cNvPr>
          <p:cNvSpPr txBox="1">
            <a:spLocks/>
          </p:cNvSpPr>
          <p:nvPr userDrawn="1"/>
        </p:nvSpPr>
        <p:spPr>
          <a:xfrm>
            <a:off x="4800600" y="7580440"/>
            <a:ext cx="502920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>
                <a:solidFill>
                  <a:schemeClr val="bg1"/>
                </a:solidFill>
              </a:rPr>
              <a:t>© 2021 DXC Technology Company. All rights reserved.</a:t>
            </a:r>
          </a:p>
        </p:txBody>
      </p:sp>
      <p:pic>
        <p:nvPicPr>
          <p:cNvPr id="53" name="Graphic 52">
            <a:extLst>
              <a:ext uri="{FF2B5EF4-FFF2-40B4-BE49-F238E27FC236}">
                <a16:creationId xmlns:a16="http://schemas.microsoft.com/office/drawing/2014/main" id="{082CA323-F067-4A36-86B4-C9C89385A4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800" y="7561481"/>
            <a:ext cx="2468880" cy="279976"/>
          </a:xfrm>
          <a:prstGeom prst="rect">
            <a:avLst/>
          </a:prstGeom>
        </p:spPr>
      </p:pic>
      <p:sp>
        <p:nvSpPr>
          <p:cNvPr id="54" name="Text Box 115">
            <a:extLst>
              <a:ext uri="{FF2B5EF4-FFF2-40B4-BE49-F238E27FC236}">
                <a16:creationId xmlns:a16="http://schemas.microsoft.com/office/drawing/2014/main" id="{7AE31F7D-644F-46E4-8808-DC117CACC5F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893550" y="7580437"/>
            <a:ext cx="163957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noAutofit/>
          </a:bodyPr>
          <a:lstStyle/>
          <a:p>
            <a:pPr algn="r" defTabSz="820705">
              <a:spcBef>
                <a:spcPts val="0"/>
              </a:spcBef>
            </a:pPr>
            <a:fld id="{03C7D0F0-10D5-4191-B6F4-99306F468FEF}" type="datetime4">
              <a:rPr lang="en-US" sz="1100" b="0" smtClean="0">
                <a:solidFill>
                  <a:schemeClr val="tx1"/>
                </a:solidFill>
              </a:rPr>
              <a:pPr algn="r" defTabSz="820705">
                <a:spcBef>
                  <a:spcPts val="0"/>
                </a:spcBef>
              </a:pPr>
              <a:t>April 27, 2023</a:t>
            </a:fld>
            <a:endParaRPr lang="en-US" sz="1100" b="0">
              <a:solidFill>
                <a:schemeClr val="tx1"/>
              </a:solidFill>
            </a:endParaRPr>
          </a:p>
        </p:txBody>
      </p:sp>
      <p:sp>
        <p:nvSpPr>
          <p:cNvPr id="55" name="Text Box 115">
            <a:extLst>
              <a:ext uri="{FF2B5EF4-FFF2-40B4-BE49-F238E27FC236}">
                <a16:creationId xmlns:a16="http://schemas.microsoft.com/office/drawing/2014/main" id="{95D42EA8-C373-4F2E-A7AA-89495E86AEA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3533120" y="7580440"/>
            <a:ext cx="41148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820705">
              <a:spcBef>
                <a:spcPts val="0"/>
              </a:spcBef>
            </a:pPr>
            <a:fld id="{18E29826-F105-4F77-B977-03F4A4723A21}" type="slidenum">
              <a:rPr lang="en-US" sz="1100" b="1" smtClean="0">
                <a:solidFill>
                  <a:schemeClr val="tx1"/>
                </a:solidFill>
              </a:rPr>
              <a:pPr algn="r" defTabSz="820705">
                <a:spcBef>
                  <a:spcPts val="0"/>
                </a:spcBef>
              </a:pPr>
              <a:t>‹#›</a:t>
            </a:fld>
            <a:endParaRPr lang="en-US" sz="1100" b="1">
              <a:solidFill>
                <a:schemeClr val="tx1"/>
              </a:solidFill>
            </a:endParaRPr>
          </a:p>
        </p:txBody>
      </p:sp>
      <p:sp>
        <p:nvSpPr>
          <p:cNvPr id="56" name="Footer Placeholder 4">
            <a:extLst>
              <a:ext uri="{FF2B5EF4-FFF2-40B4-BE49-F238E27FC236}">
                <a16:creationId xmlns:a16="http://schemas.microsoft.com/office/drawing/2014/main" id="{3C5384D2-BCF3-4CDD-90BA-C6DDDAC0C3E0}"/>
              </a:ext>
            </a:extLst>
          </p:cNvPr>
          <p:cNvSpPr txBox="1">
            <a:spLocks/>
          </p:cNvSpPr>
          <p:nvPr userDrawn="1"/>
        </p:nvSpPr>
        <p:spPr>
          <a:xfrm>
            <a:off x="4800600" y="7580440"/>
            <a:ext cx="502920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/>
              <a:t>© 2022 DXC Technology Company. All rights reserved.</a:t>
            </a:r>
          </a:p>
        </p:txBody>
      </p:sp>
      <p:pic>
        <p:nvPicPr>
          <p:cNvPr id="57" name="Graphic 56">
            <a:extLst>
              <a:ext uri="{FF2B5EF4-FFF2-40B4-BE49-F238E27FC236}">
                <a16:creationId xmlns:a16="http://schemas.microsoft.com/office/drawing/2014/main" id="{329D370C-B3C9-49CC-A16E-95762D2349B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5800" y="7580437"/>
            <a:ext cx="2286000" cy="259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655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5C3022F4-EDBC-447F-B1B1-AB6CCCF7DFB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69" y="0"/>
            <a:ext cx="14625662" cy="8229600"/>
          </a:xfrm>
          <a:prstGeom prst="rect">
            <a:avLst/>
          </a:prstGeom>
        </p:spPr>
      </p:pic>
      <p:grpSp>
        <p:nvGrpSpPr>
          <p:cNvPr id="12" name="Group 11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13" name="Straight Connector 12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Box 115"/>
          <p:cNvSpPr txBox="1">
            <a:spLocks noChangeArrowheads="1"/>
          </p:cNvSpPr>
          <p:nvPr userDrawn="1"/>
        </p:nvSpPr>
        <p:spPr bwMode="auto">
          <a:xfrm>
            <a:off x="11893550" y="7580437"/>
            <a:ext cx="163957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noAutofit/>
          </a:bodyPr>
          <a:lstStyle/>
          <a:p>
            <a:pPr algn="r" defTabSz="820705">
              <a:spcBef>
                <a:spcPct val="50000"/>
              </a:spcBef>
            </a:pPr>
            <a:fld id="{03C7D0F0-10D5-4191-B6F4-99306F468FEF}" type="datetime4">
              <a:rPr lang="en-US" sz="1100" b="0" smtClean="0">
                <a:solidFill>
                  <a:schemeClr val="bg1"/>
                </a:solidFill>
              </a:rPr>
              <a:pPr algn="r" defTabSz="820705">
                <a:spcBef>
                  <a:spcPct val="50000"/>
                </a:spcBef>
              </a:pPr>
              <a:t>April 27, 2023</a:t>
            </a:fld>
            <a:endParaRPr lang="en-US" sz="1100" b="0">
              <a:solidFill>
                <a:schemeClr val="bg1"/>
              </a:solidFill>
            </a:endParaRPr>
          </a:p>
        </p:txBody>
      </p:sp>
      <p:sp>
        <p:nvSpPr>
          <p:cNvPr id="16" name="Text Box 115"/>
          <p:cNvSpPr txBox="1">
            <a:spLocks noChangeArrowheads="1"/>
          </p:cNvSpPr>
          <p:nvPr userDrawn="1"/>
        </p:nvSpPr>
        <p:spPr bwMode="auto">
          <a:xfrm>
            <a:off x="13533120" y="7580440"/>
            <a:ext cx="41148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820705">
              <a:spcBef>
                <a:spcPct val="50000"/>
              </a:spcBef>
            </a:pPr>
            <a:fld id="{18E29826-F105-4F77-B977-03F4A4723A21}" type="slidenum">
              <a:rPr lang="en-US" sz="1100" b="1" smtClean="0">
                <a:solidFill>
                  <a:schemeClr val="bg1"/>
                </a:solidFill>
              </a:rPr>
              <a:pPr algn="r" defTabSz="820705">
                <a:spcBef>
                  <a:spcPct val="50000"/>
                </a:spcBef>
              </a:pPr>
              <a:t>‹#›</a:t>
            </a:fld>
            <a:endParaRPr lang="en-US" sz="1100" b="1">
              <a:solidFill>
                <a:schemeClr val="bg1"/>
              </a:solidFill>
            </a:endParaRPr>
          </a:p>
        </p:txBody>
      </p:sp>
      <p:sp>
        <p:nvSpPr>
          <p:cNvPr id="17" name="Footer Placeholder 4"/>
          <p:cNvSpPr txBox="1">
            <a:spLocks/>
          </p:cNvSpPr>
          <p:nvPr userDrawn="1"/>
        </p:nvSpPr>
        <p:spPr>
          <a:xfrm>
            <a:off x="4800600" y="7580440"/>
            <a:ext cx="502920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>
                <a:solidFill>
                  <a:schemeClr val="bg1"/>
                </a:solidFill>
              </a:rPr>
              <a:t>© 2021 DXC Technology Company. All rights reserved.</a:t>
            </a:r>
          </a:p>
        </p:txBody>
      </p:sp>
      <p:sp>
        <p:nvSpPr>
          <p:cNvPr id="46" name="Text Box 115">
            <a:extLst>
              <a:ext uri="{FF2B5EF4-FFF2-40B4-BE49-F238E27FC236}">
                <a16:creationId xmlns:a16="http://schemas.microsoft.com/office/drawing/2014/main" id="{BAAC8F77-03DC-4B54-ABD4-487A7142E16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893550" y="7580437"/>
            <a:ext cx="163957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noAutofit/>
          </a:bodyPr>
          <a:lstStyle/>
          <a:p>
            <a:pPr algn="r" defTabSz="820705">
              <a:spcBef>
                <a:spcPts val="0"/>
              </a:spcBef>
            </a:pPr>
            <a:fld id="{03C7D0F0-10D5-4191-B6F4-99306F468FEF}" type="datetime4">
              <a:rPr lang="en-US" sz="1100" b="0" smtClean="0">
                <a:solidFill>
                  <a:schemeClr val="tx1"/>
                </a:solidFill>
              </a:rPr>
              <a:pPr algn="r" defTabSz="820705">
                <a:spcBef>
                  <a:spcPts val="0"/>
                </a:spcBef>
              </a:pPr>
              <a:t>April 27, 2023</a:t>
            </a:fld>
            <a:endParaRPr lang="en-US" sz="1100" b="0">
              <a:solidFill>
                <a:schemeClr val="tx1"/>
              </a:solidFill>
            </a:endParaRPr>
          </a:p>
        </p:txBody>
      </p:sp>
      <p:sp>
        <p:nvSpPr>
          <p:cNvPr id="47" name="Text Box 115">
            <a:extLst>
              <a:ext uri="{FF2B5EF4-FFF2-40B4-BE49-F238E27FC236}">
                <a16:creationId xmlns:a16="http://schemas.microsoft.com/office/drawing/2014/main" id="{B207E4D1-23C4-49FF-8260-AC6970B95FC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3533120" y="7580440"/>
            <a:ext cx="41148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820705">
              <a:spcBef>
                <a:spcPts val="0"/>
              </a:spcBef>
            </a:pPr>
            <a:fld id="{18E29826-F105-4F77-B977-03F4A4723A21}" type="slidenum">
              <a:rPr lang="en-US" sz="1100" b="1" smtClean="0">
                <a:solidFill>
                  <a:schemeClr val="tx1"/>
                </a:solidFill>
              </a:rPr>
              <a:pPr algn="r" defTabSz="820705">
                <a:spcBef>
                  <a:spcPts val="0"/>
                </a:spcBef>
              </a:pPr>
              <a:t>‹#›</a:t>
            </a:fld>
            <a:endParaRPr lang="en-US" sz="1100" b="1">
              <a:solidFill>
                <a:schemeClr val="tx1"/>
              </a:solidFill>
            </a:endParaRPr>
          </a:p>
        </p:txBody>
      </p:sp>
      <p:sp>
        <p:nvSpPr>
          <p:cNvPr id="50" name="Footer Placeholder 4">
            <a:extLst>
              <a:ext uri="{FF2B5EF4-FFF2-40B4-BE49-F238E27FC236}">
                <a16:creationId xmlns:a16="http://schemas.microsoft.com/office/drawing/2014/main" id="{0C203C4F-2B7A-44AE-9CC5-974D0684C5F6}"/>
              </a:ext>
            </a:extLst>
          </p:cNvPr>
          <p:cNvSpPr txBox="1">
            <a:spLocks/>
          </p:cNvSpPr>
          <p:nvPr userDrawn="1"/>
        </p:nvSpPr>
        <p:spPr>
          <a:xfrm>
            <a:off x="4800600" y="7580440"/>
            <a:ext cx="502920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/>
              <a:t>© 2022 DXC Technology Company. All rights reserved.</a:t>
            </a:r>
          </a:p>
        </p:txBody>
      </p:sp>
      <p:pic>
        <p:nvPicPr>
          <p:cNvPr id="52" name="Graphic 51">
            <a:extLst>
              <a:ext uri="{FF2B5EF4-FFF2-40B4-BE49-F238E27FC236}">
                <a16:creationId xmlns:a16="http://schemas.microsoft.com/office/drawing/2014/main" id="{925DB904-DAE2-4F1E-A174-E29E8F75117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800" y="7580437"/>
            <a:ext cx="2286000" cy="259238"/>
          </a:xfrm>
          <a:prstGeom prst="rect">
            <a:avLst/>
          </a:prstGeom>
        </p:spPr>
      </p:pic>
      <p:sp>
        <p:nvSpPr>
          <p:cNvPr id="57" name="Title 1">
            <a:extLst>
              <a:ext uri="{FF2B5EF4-FFF2-40B4-BE49-F238E27FC236}">
                <a16:creationId xmlns:a16="http://schemas.microsoft.com/office/drawing/2014/main" id="{083C3818-4368-434E-9D55-569CC18CE4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426146"/>
            <a:ext cx="10414000" cy="1631255"/>
          </a:xfrm>
        </p:spPr>
        <p:txBody>
          <a:bodyPr anchor="b" anchorCtr="0">
            <a:noAutofit/>
          </a:bodyPr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8" name="Subtitle 2">
            <a:extLst>
              <a:ext uri="{FF2B5EF4-FFF2-40B4-BE49-F238E27FC236}">
                <a16:creationId xmlns:a16="http://schemas.microsoft.com/office/drawing/2014/main" id="{A99EC16D-6BC6-4571-A314-8BE9BEF6FD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2410169"/>
            <a:ext cx="10414000" cy="9144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rgbClr val="63666F"/>
                </a:solidFill>
              </a:defRPr>
            </a:lvl1pPr>
            <a:lvl2pPr marL="7314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29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4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59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89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19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60805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Pictur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11" name="Straight Connector 10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4630400" cy="8229600"/>
          </a:xfrm>
          <a:solidFill>
            <a:schemeClr val="bg1">
              <a:lumMod val="85000"/>
            </a:schemeClr>
          </a:solidFill>
        </p:spPr>
        <p:txBody>
          <a:bodyPr anchor="ctr" anchorCtr="0">
            <a:normAutofit/>
          </a:bodyPr>
          <a:lstStyle>
            <a:lvl1pPr algn="ctr">
              <a:defRPr sz="1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Box 115"/>
          <p:cNvSpPr txBox="1">
            <a:spLocks noChangeArrowheads="1"/>
          </p:cNvSpPr>
          <p:nvPr userDrawn="1"/>
        </p:nvSpPr>
        <p:spPr bwMode="auto">
          <a:xfrm>
            <a:off x="11893550" y="7580437"/>
            <a:ext cx="163957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noAutofit/>
          </a:bodyPr>
          <a:lstStyle/>
          <a:p>
            <a:pPr algn="r" defTabSz="820705">
              <a:spcBef>
                <a:spcPct val="50000"/>
              </a:spcBef>
            </a:pPr>
            <a:fld id="{03C7D0F0-10D5-4191-B6F4-99306F468FEF}" type="datetime4">
              <a:rPr lang="en-US" sz="1100" b="0" smtClean="0">
                <a:solidFill>
                  <a:schemeClr val="bg1"/>
                </a:solidFill>
              </a:rPr>
              <a:pPr algn="r" defTabSz="820705">
                <a:spcBef>
                  <a:spcPct val="50000"/>
                </a:spcBef>
              </a:pPr>
              <a:t>April 27, 2023</a:t>
            </a:fld>
            <a:endParaRPr lang="en-US" sz="1100" b="0">
              <a:solidFill>
                <a:schemeClr val="bg1"/>
              </a:solidFill>
            </a:endParaRPr>
          </a:p>
        </p:txBody>
      </p:sp>
      <p:sp>
        <p:nvSpPr>
          <p:cNvPr id="15" name="Text Box 115"/>
          <p:cNvSpPr txBox="1">
            <a:spLocks noChangeArrowheads="1"/>
          </p:cNvSpPr>
          <p:nvPr userDrawn="1"/>
        </p:nvSpPr>
        <p:spPr bwMode="auto">
          <a:xfrm>
            <a:off x="13533120" y="7580440"/>
            <a:ext cx="41148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820705">
              <a:spcBef>
                <a:spcPct val="50000"/>
              </a:spcBef>
            </a:pPr>
            <a:fld id="{18E29826-F105-4F77-B977-03F4A4723A21}" type="slidenum">
              <a:rPr lang="en-US" sz="1100" b="1" smtClean="0">
                <a:solidFill>
                  <a:schemeClr val="bg1"/>
                </a:solidFill>
              </a:rPr>
              <a:pPr algn="r" defTabSz="820705">
                <a:spcBef>
                  <a:spcPct val="50000"/>
                </a:spcBef>
              </a:pPr>
              <a:t>‹#›</a:t>
            </a:fld>
            <a:endParaRPr lang="en-US" sz="1100" b="1">
              <a:solidFill>
                <a:schemeClr val="bg1"/>
              </a:solidFill>
            </a:endParaRPr>
          </a:p>
        </p:txBody>
      </p:sp>
      <p:sp>
        <p:nvSpPr>
          <p:cNvPr id="16" name="Footer Placeholder 4"/>
          <p:cNvSpPr txBox="1">
            <a:spLocks/>
          </p:cNvSpPr>
          <p:nvPr userDrawn="1"/>
        </p:nvSpPr>
        <p:spPr>
          <a:xfrm>
            <a:off x="4800600" y="7580440"/>
            <a:ext cx="502920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>
                <a:solidFill>
                  <a:schemeClr val="bg1"/>
                </a:solidFill>
              </a:rPr>
              <a:t>© 2022 DXC Technology Company. All rights reserved.</a:t>
            </a:r>
          </a:p>
        </p:txBody>
      </p:sp>
      <p:pic>
        <p:nvPicPr>
          <p:cNvPr id="44" name="Graphic 43">
            <a:extLst>
              <a:ext uri="{FF2B5EF4-FFF2-40B4-BE49-F238E27FC236}">
                <a16:creationId xmlns:a16="http://schemas.microsoft.com/office/drawing/2014/main" id="{A2BEF977-E587-4D30-B5BF-3E5AC49DEA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800" y="7579054"/>
            <a:ext cx="2286000" cy="259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550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XC Log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8" name="Straight Connector 7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Footer Placeholder 4"/>
          <p:cNvSpPr txBox="1">
            <a:spLocks/>
          </p:cNvSpPr>
          <p:nvPr userDrawn="1"/>
        </p:nvSpPr>
        <p:spPr>
          <a:xfrm>
            <a:off x="7543800" y="7580440"/>
            <a:ext cx="640080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100">
                <a:solidFill>
                  <a:schemeClr val="tx1"/>
                </a:solidFill>
              </a:rPr>
              <a:t>© 2022 DXC Technology Company. All rights reserved.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204136C3-C0B2-4695-8464-42B084FBEA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09036" y="2856892"/>
            <a:ext cx="4612331" cy="2515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855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9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8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6" Type="http://schemas.openxmlformats.org/officeDocument/2006/relationships/slideLayout" Target="../slideLayouts/slideLayout22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16.xml"/><Relationship Id="rId19" Type="http://schemas.openxmlformats.org/officeDocument/2006/relationships/image" Target="../media/image2.svg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12" name="Straight Connector 11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685800" y="639763"/>
            <a:ext cx="13258800" cy="141763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685799" y="2057399"/>
            <a:ext cx="13258799" cy="51212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0" name="Text Box 115"/>
          <p:cNvSpPr txBox="1">
            <a:spLocks noChangeArrowheads="1"/>
          </p:cNvSpPr>
          <p:nvPr userDrawn="1"/>
        </p:nvSpPr>
        <p:spPr bwMode="auto">
          <a:xfrm>
            <a:off x="11893550" y="7580437"/>
            <a:ext cx="163957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noAutofit/>
          </a:bodyPr>
          <a:lstStyle/>
          <a:p>
            <a:pPr algn="r" defTabSz="820738">
              <a:spcBef>
                <a:spcPts val="0"/>
              </a:spcBef>
            </a:pPr>
            <a:fld id="{03C7D0F0-10D5-4191-B6F4-99306F468FEF}" type="datetime4">
              <a:rPr lang="en-US" sz="1100" b="0" smtClean="0">
                <a:solidFill>
                  <a:schemeClr val="tx1"/>
                </a:solidFill>
              </a:rPr>
              <a:pPr algn="r" defTabSz="820738">
                <a:spcBef>
                  <a:spcPts val="0"/>
                </a:spcBef>
              </a:pPr>
              <a:t>April 27, 2023</a:t>
            </a:fld>
            <a:endParaRPr lang="en-US" sz="1100" b="0">
              <a:solidFill>
                <a:schemeClr val="tx1"/>
              </a:solidFill>
            </a:endParaRPr>
          </a:p>
        </p:txBody>
      </p:sp>
      <p:sp>
        <p:nvSpPr>
          <p:cNvPr id="61" name="Text Box 115"/>
          <p:cNvSpPr txBox="1">
            <a:spLocks noChangeArrowheads="1"/>
          </p:cNvSpPr>
          <p:nvPr userDrawn="1"/>
        </p:nvSpPr>
        <p:spPr bwMode="auto">
          <a:xfrm>
            <a:off x="13533120" y="7580439"/>
            <a:ext cx="41148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820738">
              <a:spcBef>
                <a:spcPts val="0"/>
              </a:spcBef>
            </a:pPr>
            <a:fld id="{18E29826-F105-4F77-B977-03F4A4723A21}" type="slidenum">
              <a:rPr lang="en-US" sz="1100" b="1" smtClean="0">
                <a:solidFill>
                  <a:schemeClr val="tx1"/>
                </a:solidFill>
              </a:rPr>
              <a:pPr algn="r" defTabSz="820738">
                <a:spcBef>
                  <a:spcPts val="0"/>
                </a:spcBef>
              </a:pPr>
              <a:t>‹#›</a:t>
            </a:fld>
            <a:endParaRPr lang="en-US" sz="1100" b="1">
              <a:solidFill>
                <a:schemeClr val="tx1"/>
              </a:solidFill>
            </a:endParaRPr>
          </a:p>
        </p:txBody>
      </p:sp>
      <p:sp>
        <p:nvSpPr>
          <p:cNvPr id="62" name="Footer Placeholder 4"/>
          <p:cNvSpPr txBox="1">
            <a:spLocks/>
          </p:cNvSpPr>
          <p:nvPr userDrawn="1"/>
        </p:nvSpPr>
        <p:spPr>
          <a:xfrm>
            <a:off x="4800600" y="7580439"/>
            <a:ext cx="502920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/>
              <a:t>© 2022 DXC Technology Company. All rights reserved.</a:t>
            </a:r>
          </a:p>
        </p:txBody>
      </p:sp>
      <p:pic>
        <p:nvPicPr>
          <p:cNvPr id="46" name="Graphic 45">
            <a:extLst>
              <a:ext uri="{FF2B5EF4-FFF2-40B4-BE49-F238E27FC236}">
                <a16:creationId xmlns:a16="http://schemas.microsoft.com/office/drawing/2014/main" id="{B6FF065E-2B34-4360-B045-0F02C20A28BE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5800" y="7580437"/>
            <a:ext cx="2286000" cy="259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99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3" r:id="rId1"/>
    <p:sldLayoutId id="2147483834" r:id="rId2"/>
    <p:sldLayoutId id="2147483659" r:id="rId3"/>
    <p:sldLayoutId id="2147483667" r:id="rId4"/>
    <p:sldLayoutId id="2147483650" r:id="rId5"/>
    <p:sldLayoutId id="2147483692" r:id="rId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1463040" rtl="0" eaLnBrk="1" latinLnBrk="0" hangingPunct="1">
        <a:lnSpc>
          <a:spcPct val="85000"/>
        </a:lnSpc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1463040" rtl="0" eaLnBrk="1" latinLnBrk="0" hangingPunct="1">
        <a:spcBef>
          <a:spcPts val="1200"/>
        </a:spcBef>
        <a:buFontTx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1463040" rtl="0" eaLnBrk="1" latinLnBrk="0" hangingPunct="1">
        <a:spcBef>
          <a:spcPts val="1200"/>
        </a:spcBef>
        <a:buFontTx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" indent="-228600" algn="l" defTabSz="1463040" rtl="0" eaLnBrk="1" latinLnBrk="0" hangingPunct="1">
        <a:spcBef>
          <a:spcPts val="1200"/>
        </a:spcBef>
        <a:buFont typeface="Arial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457200" indent="-228600" algn="l" defTabSz="1463040" rtl="0" eaLnBrk="1" latinLnBrk="0" hangingPunct="1">
        <a:spcBef>
          <a:spcPts val="600"/>
        </a:spcBef>
        <a:buFont typeface="Arial" pitchFamily="34" charset="0"/>
        <a:buChar char="–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-228600" algn="l" defTabSz="1463040" rtl="0" eaLnBrk="1" latinLnBrk="0" hangingPunct="1">
        <a:spcBef>
          <a:spcPts val="600"/>
        </a:spcBef>
        <a:buFont typeface="Arial" pitchFamily="34" charset="0"/>
        <a:buChar char="–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228600" algn="l" defTabSz="1463040" rtl="0" eaLnBrk="1" latinLnBrk="0" hangingPunct="1">
        <a:spcBef>
          <a:spcPts val="6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143000" indent="-228600" algn="l" defTabSz="1463040" rtl="0" eaLnBrk="1" latinLnBrk="0" hangingPunct="1">
        <a:spcBef>
          <a:spcPts val="600"/>
        </a:spcBef>
        <a:buFont typeface="Arial" pitchFamily="34" charset="0"/>
        <a:buChar char="–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228600" algn="l" defTabSz="1463040" rtl="0" eaLnBrk="1" latinLnBrk="0" hangingPunct="1">
        <a:spcBef>
          <a:spcPts val="600"/>
        </a:spcBef>
        <a:buFont typeface="Arial" pitchFamily="34" charset="0"/>
        <a:buChar char="–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600200" indent="-228600" algn="l" defTabSz="1463040" rtl="0" eaLnBrk="1" latinLnBrk="0" hangingPunct="1">
        <a:spcBef>
          <a:spcPts val="600"/>
        </a:spcBef>
        <a:buFont typeface="Arial" pitchFamily="34" charset="0"/>
        <a:buChar char="–"/>
        <a:tabLst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630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algn="l" defTabSz="14630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463040" algn="l" defTabSz="14630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2194560" algn="l" defTabSz="14630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926080" algn="l" defTabSz="14630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3657600" algn="l" defTabSz="14630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4389120" algn="l" defTabSz="14630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5120640" algn="l" defTabSz="14630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5852160" algn="l" defTabSz="14630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" userDrawn="1">
          <p15:clr>
            <a:srgbClr val="F26B43"/>
          </p15:clr>
        </p15:guide>
        <p15:guide id="2" pos="4608" userDrawn="1">
          <p15:clr>
            <a:srgbClr val="F26B43"/>
          </p15:clr>
        </p15:guide>
        <p15:guide id="3" pos="432" userDrawn="1">
          <p15:clr>
            <a:srgbClr val="F26B43"/>
          </p15:clr>
        </p15:guide>
        <p15:guide id="4" pos="3024" userDrawn="1">
          <p15:clr>
            <a:srgbClr val="F26B43"/>
          </p15:clr>
        </p15:guide>
        <p15:guide id="5" pos="3312" userDrawn="1">
          <p15:clr>
            <a:srgbClr val="F26B43"/>
          </p15:clr>
        </p15:guide>
        <p15:guide id="6" pos="4464" userDrawn="1">
          <p15:clr>
            <a:srgbClr val="F26B43"/>
          </p15:clr>
        </p15:guide>
        <p15:guide id="7" pos="4752" userDrawn="1">
          <p15:clr>
            <a:srgbClr val="F26B43"/>
          </p15:clr>
        </p15:guide>
        <p15:guide id="8" pos="5904" userDrawn="1">
          <p15:clr>
            <a:srgbClr val="F26B43"/>
          </p15:clr>
        </p15:guide>
        <p15:guide id="9" pos="6192" userDrawn="1">
          <p15:clr>
            <a:srgbClr val="F26B43"/>
          </p15:clr>
        </p15:guide>
        <p15:guide id="10" pos="7488" userDrawn="1">
          <p15:clr>
            <a:srgbClr val="F26B43"/>
          </p15:clr>
        </p15:guide>
        <p15:guide id="11" pos="8784" userDrawn="1">
          <p15:clr>
            <a:srgbClr val="F26B43"/>
          </p15:clr>
        </p15:guide>
        <p15:guide id="12" orient="horz" pos="1296" userDrawn="1">
          <p15:clr>
            <a:srgbClr val="F26B43"/>
          </p15:clr>
        </p15:guide>
        <p15:guide id="13" orient="horz" pos="4522" userDrawn="1">
          <p15:clr>
            <a:srgbClr val="F26B43"/>
          </p15:clr>
        </p15:guide>
        <p15:guide id="14" orient="horz" pos="489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12" name="Straight Connector 11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685800" y="639764"/>
            <a:ext cx="13258800" cy="141763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685801" y="2057401"/>
            <a:ext cx="13258799" cy="51212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0" name="Text Box 115"/>
          <p:cNvSpPr txBox="1">
            <a:spLocks noChangeArrowheads="1"/>
          </p:cNvSpPr>
          <p:nvPr userDrawn="1"/>
        </p:nvSpPr>
        <p:spPr bwMode="auto">
          <a:xfrm>
            <a:off x="11893550" y="7580437"/>
            <a:ext cx="163957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noAutofit/>
          </a:bodyPr>
          <a:lstStyle/>
          <a:p>
            <a:pPr algn="r" defTabSz="820705">
              <a:spcBef>
                <a:spcPts val="0"/>
              </a:spcBef>
            </a:pPr>
            <a:fld id="{03C7D0F0-10D5-4191-B6F4-99306F468FEF}" type="datetime4">
              <a:rPr lang="en-US" sz="1100" b="0" smtClean="0">
                <a:solidFill>
                  <a:schemeClr val="tx1"/>
                </a:solidFill>
              </a:rPr>
              <a:pPr algn="r" defTabSz="820705">
                <a:spcBef>
                  <a:spcPts val="0"/>
                </a:spcBef>
              </a:pPr>
              <a:t>April 27, 2023</a:t>
            </a:fld>
            <a:endParaRPr lang="en-US" sz="1100" b="0">
              <a:solidFill>
                <a:schemeClr val="tx1"/>
              </a:solidFill>
            </a:endParaRPr>
          </a:p>
        </p:txBody>
      </p:sp>
      <p:sp>
        <p:nvSpPr>
          <p:cNvPr id="61" name="Text Box 115"/>
          <p:cNvSpPr txBox="1">
            <a:spLocks noChangeArrowheads="1"/>
          </p:cNvSpPr>
          <p:nvPr userDrawn="1"/>
        </p:nvSpPr>
        <p:spPr bwMode="auto">
          <a:xfrm>
            <a:off x="13533120" y="7580440"/>
            <a:ext cx="41148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820705">
              <a:spcBef>
                <a:spcPts val="0"/>
              </a:spcBef>
            </a:pPr>
            <a:fld id="{18E29826-F105-4F77-B977-03F4A4723A21}" type="slidenum">
              <a:rPr lang="en-US" sz="1100" b="1" smtClean="0">
                <a:solidFill>
                  <a:schemeClr val="tx1"/>
                </a:solidFill>
              </a:rPr>
              <a:pPr algn="r" defTabSz="820705">
                <a:spcBef>
                  <a:spcPts val="0"/>
                </a:spcBef>
              </a:pPr>
              <a:t>‹#›</a:t>
            </a:fld>
            <a:endParaRPr lang="en-US" sz="1100" b="1">
              <a:solidFill>
                <a:schemeClr val="tx1"/>
              </a:solidFill>
            </a:endParaRPr>
          </a:p>
        </p:txBody>
      </p:sp>
      <p:sp>
        <p:nvSpPr>
          <p:cNvPr id="62" name="Footer Placeholder 4"/>
          <p:cNvSpPr txBox="1">
            <a:spLocks/>
          </p:cNvSpPr>
          <p:nvPr userDrawn="1"/>
        </p:nvSpPr>
        <p:spPr>
          <a:xfrm>
            <a:off x="4800600" y="7580440"/>
            <a:ext cx="502920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/>
              <a:t>© 2022 DXC Technology Company. All rights reserved.</a:t>
            </a:r>
          </a:p>
        </p:txBody>
      </p:sp>
      <p:pic>
        <p:nvPicPr>
          <p:cNvPr id="46" name="Graphic 45">
            <a:extLst>
              <a:ext uri="{FF2B5EF4-FFF2-40B4-BE49-F238E27FC236}">
                <a16:creationId xmlns:a16="http://schemas.microsoft.com/office/drawing/2014/main" id="{B6FF065E-2B34-4360-B045-0F02C20A28BE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85800" y="7580437"/>
            <a:ext cx="2286000" cy="259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54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7" r:id="rId1"/>
    <p:sldLayoutId id="2147483838" r:id="rId2"/>
    <p:sldLayoutId id="2147483839" r:id="rId3"/>
    <p:sldLayoutId id="2147483840" r:id="rId4"/>
    <p:sldLayoutId id="2147483841" r:id="rId5"/>
    <p:sldLayoutId id="2147483842" r:id="rId6"/>
    <p:sldLayoutId id="2147483843" r:id="rId7"/>
    <p:sldLayoutId id="2147483844" r:id="rId8"/>
    <p:sldLayoutId id="2147483845" r:id="rId9"/>
    <p:sldLayoutId id="2147483846" r:id="rId10"/>
    <p:sldLayoutId id="2147483847" r:id="rId11"/>
    <p:sldLayoutId id="2147483848" r:id="rId12"/>
    <p:sldLayoutId id="2147483849" r:id="rId13"/>
    <p:sldLayoutId id="2147483850" r:id="rId14"/>
    <p:sldLayoutId id="2147483851" r:id="rId15"/>
    <p:sldLayoutId id="2147483852" r:id="rId1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1462981" rtl="0" eaLnBrk="1" latinLnBrk="0" hangingPunct="1">
        <a:lnSpc>
          <a:spcPct val="85000"/>
        </a:lnSpc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1462981" rtl="0" eaLnBrk="1" latinLnBrk="0" hangingPunct="1">
        <a:spcBef>
          <a:spcPts val="1200"/>
        </a:spcBef>
        <a:buFontTx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1462981" rtl="0" eaLnBrk="1" latinLnBrk="0" hangingPunct="1">
        <a:spcBef>
          <a:spcPts val="1200"/>
        </a:spcBef>
        <a:buFontTx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90" indent="-228590" algn="l" defTabSz="1462981" rtl="0" eaLnBrk="1" latinLnBrk="0" hangingPunct="1">
        <a:spcBef>
          <a:spcPts val="1200"/>
        </a:spcBef>
        <a:buFont typeface="Arial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457182" indent="-228590" algn="l" defTabSz="1462981" rtl="0" eaLnBrk="1" latinLnBrk="0" hangingPunct="1">
        <a:spcBef>
          <a:spcPts val="600"/>
        </a:spcBef>
        <a:buFont typeface="Arial" pitchFamily="34" charset="0"/>
        <a:buChar char="–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685772" indent="-228590" algn="l" defTabSz="1462981" rtl="0" eaLnBrk="1" latinLnBrk="0" hangingPunct="1">
        <a:spcBef>
          <a:spcPts val="600"/>
        </a:spcBef>
        <a:buFont typeface="Arial" pitchFamily="34" charset="0"/>
        <a:buChar char="–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914364" indent="-228590" algn="l" defTabSz="1462981" rtl="0" eaLnBrk="1" latinLnBrk="0" hangingPunct="1">
        <a:spcBef>
          <a:spcPts val="6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142954" indent="-228590" algn="l" defTabSz="1462981" rtl="0" eaLnBrk="1" latinLnBrk="0" hangingPunct="1">
        <a:spcBef>
          <a:spcPts val="600"/>
        </a:spcBef>
        <a:buFont typeface="Arial" pitchFamily="34" charset="0"/>
        <a:buChar char="–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371545" indent="-228590" algn="l" defTabSz="1462981" rtl="0" eaLnBrk="1" latinLnBrk="0" hangingPunct="1">
        <a:spcBef>
          <a:spcPts val="600"/>
        </a:spcBef>
        <a:buFont typeface="Arial" pitchFamily="34" charset="0"/>
        <a:buChar char="–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600136" indent="-228590" algn="l" defTabSz="1462981" rtl="0" eaLnBrk="1" latinLnBrk="0" hangingPunct="1">
        <a:spcBef>
          <a:spcPts val="600"/>
        </a:spcBef>
        <a:buFont typeface="Arial" pitchFamily="34" charset="0"/>
        <a:buChar char="–"/>
        <a:tabLst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6298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31491" algn="l" defTabSz="146298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462981" algn="l" defTabSz="146298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2194472" algn="l" defTabSz="146298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925962" algn="l" defTabSz="146298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3657454" algn="l" defTabSz="146298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4388945" algn="l" defTabSz="146298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5120435" algn="l" defTabSz="146298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5851926" algn="l" defTabSz="146298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">
          <p15:clr>
            <a:srgbClr val="F26B43"/>
          </p15:clr>
        </p15:guide>
        <p15:guide id="2" pos="4608">
          <p15:clr>
            <a:srgbClr val="F26B43"/>
          </p15:clr>
        </p15:guide>
        <p15:guide id="3" pos="432">
          <p15:clr>
            <a:srgbClr val="F26B43"/>
          </p15:clr>
        </p15:guide>
        <p15:guide id="4" pos="3024">
          <p15:clr>
            <a:srgbClr val="F26B43"/>
          </p15:clr>
        </p15:guide>
        <p15:guide id="5" pos="3312">
          <p15:clr>
            <a:srgbClr val="F26B43"/>
          </p15:clr>
        </p15:guide>
        <p15:guide id="6" pos="4464">
          <p15:clr>
            <a:srgbClr val="F26B43"/>
          </p15:clr>
        </p15:guide>
        <p15:guide id="7" pos="4752">
          <p15:clr>
            <a:srgbClr val="F26B43"/>
          </p15:clr>
        </p15:guide>
        <p15:guide id="8" pos="5904">
          <p15:clr>
            <a:srgbClr val="F26B43"/>
          </p15:clr>
        </p15:guide>
        <p15:guide id="9" pos="6192">
          <p15:clr>
            <a:srgbClr val="F26B43"/>
          </p15:clr>
        </p15:guide>
        <p15:guide id="10" pos="7488">
          <p15:clr>
            <a:srgbClr val="F26B43"/>
          </p15:clr>
        </p15:guide>
        <p15:guide id="11" pos="8784">
          <p15:clr>
            <a:srgbClr val="F26B43"/>
          </p15:clr>
        </p15:guide>
        <p15:guide id="12" orient="horz" pos="1296">
          <p15:clr>
            <a:srgbClr val="F26B43"/>
          </p15:clr>
        </p15:guide>
        <p15:guide id="13" orient="horz" pos="4522">
          <p15:clr>
            <a:srgbClr val="F26B43"/>
          </p15:clr>
        </p15:guide>
        <p15:guide id="14" orient="horz" pos="489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svg"/><Relationship Id="rId18" Type="http://schemas.openxmlformats.org/officeDocument/2006/relationships/image" Target="../media/image32.png"/><Relationship Id="rId26" Type="http://schemas.openxmlformats.org/officeDocument/2006/relationships/image" Target="../media/image1.png"/><Relationship Id="rId3" Type="http://schemas.openxmlformats.org/officeDocument/2006/relationships/image" Target="../media/image17.png"/><Relationship Id="rId21" Type="http://schemas.openxmlformats.org/officeDocument/2006/relationships/image" Target="../media/image35.svg"/><Relationship Id="rId7" Type="http://schemas.openxmlformats.org/officeDocument/2006/relationships/image" Target="../media/image21.svg"/><Relationship Id="rId12" Type="http://schemas.openxmlformats.org/officeDocument/2006/relationships/image" Target="../media/image26.png"/><Relationship Id="rId17" Type="http://schemas.openxmlformats.org/officeDocument/2006/relationships/image" Target="../media/image31.svg"/><Relationship Id="rId25" Type="http://schemas.openxmlformats.org/officeDocument/2006/relationships/image" Target="../media/image39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30.pn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0.svg"/><Relationship Id="rId11" Type="http://schemas.openxmlformats.org/officeDocument/2006/relationships/image" Target="../media/image25.svg"/><Relationship Id="rId24" Type="http://schemas.openxmlformats.org/officeDocument/2006/relationships/image" Target="../media/image38.png"/><Relationship Id="rId5" Type="http://schemas.openxmlformats.org/officeDocument/2006/relationships/image" Target="../media/image19.png"/><Relationship Id="rId15" Type="http://schemas.openxmlformats.org/officeDocument/2006/relationships/image" Target="../media/image29.svg"/><Relationship Id="rId23" Type="http://schemas.openxmlformats.org/officeDocument/2006/relationships/image" Target="../media/image37.svg"/><Relationship Id="rId28" Type="http://schemas.openxmlformats.org/officeDocument/2006/relationships/image" Target="../media/image40.png"/><Relationship Id="rId10" Type="http://schemas.openxmlformats.org/officeDocument/2006/relationships/image" Target="../media/image24.png"/><Relationship Id="rId19" Type="http://schemas.openxmlformats.org/officeDocument/2006/relationships/image" Target="../media/image33.svg"/><Relationship Id="rId4" Type="http://schemas.openxmlformats.org/officeDocument/2006/relationships/image" Target="../media/image18.png"/><Relationship Id="rId9" Type="http://schemas.openxmlformats.org/officeDocument/2006/relationships/image" Target="../media/image23.svg"/><Relationship Id="rId14" Type="http://schemas.openxmlformats.org/officeDocument/2006/relationships/image" Target="../media/image28.png"/><Relationship Id="rId22" Type="http://schemas.openxmlformats.org/officeDocument/2006/relationships/image" Target="../media/image36.png"/><Relationship Id="rId27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26" Type="http://schemas.openxmlformats.org/officeDocument/2006/relationships/tags" Target="../tags/tag27.xml"/><Relationship Id="rId39" Type="http://schemas.openxmlformats.org/officeDocument/2006/relationships/image" Target="../media/image46.svg"/><Relationship Id="rId3" Type="http://schemas.openxmlformats.org/officeDocument/2006/relationships/tags" Target="../tags/tag4.xml"/><Relationship Id="rId21" Type="http://schemas.openxmlformats.org/officeDocument/2006/relationships/tags" Target="../tags/tag22.xml"/><Relationship Id="rId34" Type="http://schemas.openxmlformats.org/officeDocument/2006/relationships/image" Target="../media/image11.png"/><Relationship Id="rId42" Type="http://schemas.openxmlformats.org/officeDocument/2006/relationships/image" Target="../media/image47.png"/><Relationship Id="rId47" Type="http://schemas.openxmlformats.org/officeDocument/2006/relationships/image" Target="../media/image50.png"/><Relationship Id="rId50" Type="http://schemas.openxmlformats.org/officeDocument/2006/relationships/image" Target="../media/image53.svg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5" Type="http://schemas.openxmlformats.org/officeDocument/2006/relationships/tags" Target="../tags/tag26.xml"/><Relationship Id="rId33" Type="http://schemas.openxmlformats.org/officeDocument/2006/relationships/image" Target="../media/image42.svg"/><Relationship Id="rId38" Type="http://schemas.openxmlformats.org/officeDocument/2006/relationships/image" Target="../media/image45.png"/><Relationship Id="rId46" Type="http://schemas.openxmlformats.org/officeDocument/2006/relationships/image" Target="../media/image49.png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0" Type="http://schemas.openxmlformats.org/officeDocument/2006/relationships/tags" Target="../tags/tag21.xml"/><Relationship Id="rId29" Type="http://schemas.openxmlformats.org/officeDocument/2006/relationships/tags" Target="../tags/tag30.xml"/><Relationship Id="rId41" Type="http://schemas.openxmlformats.org/officeDocument/2006/relationships/image" Target="../media/image14.svg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24" Type="http://schemas.openxmlformats.org/officeDocument/2006/relationships/tags" Target="../tags/tag25.xml"/><Relationship Id="rId32" Type="http://schemas.openxmlformats.org/officeDocument/2006/relationships/image" Target="../media/image41.png"/><Relationship Id="rId37" Type="http://schemas.openxmlformats.org/officeDocument/2006/relationships/image" Target="../media/image44.svg"/><Relationship Id="rId40" Type="http://schemas.openxmlformats.org/officeDocument/2006/relationships/image" Target="../media/image13.png"/><Relationship Id="rId45" Type="http://schemas.openxmlformats.org/officeDocument/2006/relationships/image" Target="../media/image16.svg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23" Type="http://schemas.openxmlformats.org/officeDocument/2006/relationships/tags" Target="../tags/tag24.xml"/><Relationship Id="rId28" Type="http://schemas.openxmlformats.org/officeDocument/2006/relationships/tags" Target="../tags/tag29.xml"/><Relationship Id="rId36" Type="http://schemas.openxmlformats.org/officeDocument/2006/relationships/image" Target="../media/image43.png"/><Relationship Id="rId49" Type="http://schemas.openxmlformats.org/officeDocument/2006/relationships/image" Target="../media/image52.png"/><Relationship Id="rId10" Type="http://schemas.openxmlformats.org/officeDocument/2006/relationships/tags" Target="../tags/tag11.xml"/><Relationship Id="rId19" Type="http://schemas.openxmlformats.org/officeDocument/2006/relationships/tags" Target="../tags/tag20.xml"/><Relationship Id="rId31" Type="http://schemas.openxmlformats.org/officeDocument/2006/relationships/notesSlide" Target="../notesSlides/notesSlide2.xml"/><Relationship Id="rId44" Type="http://schemas.openxmlformats.org/officeDocument/2006/relationships/image" Target="../media/image15.png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Relationship Id="rId22" Type="http://schemas.openxmlformats.org/officeDocument/2006/relationships/tags" Target="../tags/tag23.xml"/><Relationship Id="rId27" Type="http://schemas.openxmlformats.org/officeDocument/2006/relationships/tags" Target="../tags/tag28.xml"/><Relationship Id="rId30" Type="http://schemas.openxmlformats.org/officeDocument/2006/relationships/slideLayout" Target="../slideLayouts/slideLayout10.xml"/><Relationship Id="rId35" Type="http://schemas.openxmlformats.org/officeDocument/2006/relationships/image" Target="../media/image12.svg"/><Relationship Id="rId43" Type="http://schemas.openxmlformats.org/officeDocument/2006/relationships/image" Target="../media/image48.svg"/><Relationship Id="rId48" Type="http://schemas.openxmlformats.org/officeDocument/2006/relationships/image" Target="../media/image51.png"/><Relationship Id="rId8" Type="http://schemas.openxmlformats.org/officeDocument/2006/relationships/tags" Target="../tags/tag9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svg"/><Relationship Id="rId13" Type="http://schemas.openxmlformats.org/officeDocument/2006/relationships/image" Target="../media/image64.png"/><Relationship Id="rId18" Type="http://schemas.openxmlformats.org/officeDocument/2006/relationships/image" Target="../media/image69.sv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12" Type="http://schemas.openxmlformats.org/officeDocument/2006/relationships/image" Target="../media/image63.svg"/><Relationship Id="rId17" Type="http://schemas.openxmlformats.org/officeDocument/2006/relationships/image" Target="../media/image68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67.svg"/><Relationship Id="rId20" Type="http://schemas.openxmlformats.org/officeDocument/2006/relationships/image" Target="../media/image71.sv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7.svg"/><Relationship Id="rId11" Type="http://schemas.openxmlformats.org/officeDocument/2006/relationships/image" Target="../media/image62.png"/><Relationship Id="rId5" Type="http://schemas.openxmlformats.org/officeDocument/2006/relationships/image" Target="../media/image56.png"/><Relationship Id="rId15" Type="http://schemas.openxmlformats.org/officeDocument/2006/relationships/image" Target="../media/image66.png"/><Relationship Id="rId10" Type="http://schemas.openxmlformats.org/officeDocument/2006/relationships/image" Target="../media/image61.svg"/><Relationship Id="rId19" Type="http://schemas.openxmlformats.org/officeDocument/2006/relationships/image" Target="../media/image70.png"/><Relationship Id="rId4" Type="http://schemas.openxmlformats.org/officeDocument/2006/relationships/image" Target="../media/image55.svg"/><Relationship Id="rId9" Type="http://schemas.openxmlformats.org/officeDocument/2006/relationships/image" Target="../media/image60.png"/><Relationship Id="rId14" Type="http://schemas.openxmlformats.org/officeDocument/2006/relationships/image" Target="../media/image6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13" Type="http://schemas.openxmlformats.org/officeDocument/2006/relationships/image" Target="../media/image82.png"/><Relationship Id="rId18" Type="http://schemas.openxmlformats.org/officeDocument/2006/relationships/image" Target="../media/image87.svg"/><Relationship Id="rId26" Type="http://schemas.openxmlformats.org/officeDocument/2006/relationships/image" Target="../media/image95.svg"/><Relationship Id="rId3" Type="http://schemas.openxmlformats.org/officeDocument/2006/relationships/image" Target="../media/image75.jpeg"/><Relationship Id="rId21" Type="http://schemas.openxmlformats.org/officeDocument/2006/relationships/image" Target="../media/image90.png"/><Relationship Id="rId7" Type="http://schemas.openxmlformats.org/officeDocument/2006/relationships/image" Target="../media/image78.jpeg"/><Relationship Id="rId12" Type="http://schemas.openxmlformats.org/officeDocument/2006/relationships/image" Target="../media/image12.svg"/><Relationship Id="rId17" Type="http://schemas.openxmlformats.org/officeDocument/2006/relationships/image" Target="../media/image86.png"/><Relationship Id="rId25" Type="http://schemas.openxmlformats.org/officeDocument/2006/relationships/image" Target="../media/image94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85.svg"/><Relationship Id="rId20" Type="http://schemas.openxmlformats.org/officeDocument/2006/relationships/image" Target="../media/image89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7.png"/><Relationship Id="rId11" Type="http://schemas.openxmlformats.org/officeDocument/2006/relationships/image" Target="../media/image11.png"/><Relationship Id="rId24" Type="http://schemas.openxmlformats.org/officeDocument/2006/relationships/image" Target="../media/image93.svg"/><Relationship Id="rId5" Type="http://schemas.microsoft.com/office/2007/relationships/hdphoto" Target="../media/hdphoto1.wdp"/><Relationship Id="rId15" Type="http://schemas.openxmlformats.org/officeDocument/2006/relationships/image" Target="../media/image84.png"/><Relationship Id="rId23" Type="http://schemas.openxmlformats.org/officeDocument/2006/relationships/image" Target="../media/image92.png"/><Relationship Id="rId10" Type="http://schemas.openxmlformats.org/officeDocument/2006/relationships/image" Target="../media/image81.svg"/><Relationship Id="rId19" Type="http://schemas.openxmlformats.org/officeDocument/2006/relationships/image" Target="../media/image88.png"/><Relationship Id="rId4" Type="http://schemas.openxmlformats.org/officeDocument/2006/relationships/image" Target="../media/image76.png"/><Relationship Id="rId9" Type="http://schemas.openxmlformats.org/officeDocument/2006/relationships/image" Target="../media/image80.png"/><Relationship Id="rId14" Type="http://schemas.openxmlformats.org/officeDocument/2006/relationships/image" Target="../media/image83.svg"/><Relationship Id="rId22" Type="http://schemas.openxmlformats.org/officeDocument/2006/relationships/image" Target="../media/image91.sv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49C63F0-0E53-404C-99C4-66BDE914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8401" y="3853843"/>
            <a:ext cx="7028148" cy="2256367"/>
          </a:xfrm>
        </p:spPr>
        <p:txBody>
          <a:bodyPr/>
          <a:lstStyle/>
          <a:p>
            <a:r>
              <a:rPr lang="en-US"/>
              <a:t>BES </a:t>
            </a:r>
            <a:br>
              <a:rPr lang="en-US"/>
            </a:br>
            <a:r>
              <a:rPr lang="en-US"/>
              <a:t>SEEBURGER COE</a:t>
            </a:r>
            <a:br>
              <a:rPr lang="en-US"/>
            </a:br>
            <a:br>
              <a:rPr lang="en-US"/>
            </a:br>
            <a:r>
              <a:rPr lang="en-US" sz="4400"/>
              <a:t>Experience, Capabilities, Offerings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468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39763"/>
            <a:ext cx="13258800" cy="808037"/>
          </a:xfrm>
        </p:spPr>
        <p:txBody>
          <a:bodyPr/>
          <a:lstStyle/>
          <a:p>
            <a:r>
              <a:rPr lang="de-DE"/>
              <a:t>B</a:t>
            </a:r>
            <a:r>
              <a:rPr lang="en-US"/>
              <a:t>ES SEEBURGER COE – At a Glance</a:t>
            </a:r>
          </a:p>
        </p:txBody>
      </p:sp>
      <p:sp>
        <p:nvSpPr>
          <p:cNvPr id="4" name="Content Placeholder 10"/>
          <p:cNvSpPr txBox="1">
            <a:spLocks/>
          </p:cNvSpPr>
          <p:nvPr/>
        </p:nvSpPr>
        <p:spPr>
          <a:xfrm>
            <a:off x="685800" y="3429000"/>
            <a:ext cx="13528964" cy="51212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1463040" rtl="0" eaLnBrk="1" latinLnBrk="0" hangingPunct="1">
              <a:spcBef>
                <a:spcPts val="1200"/>
              </a:spcBef>
              <a:buFontTx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1463040" rtl="0" eaLnBrk="1" latinLnBrk="0" hangingPunct="1">
              <a:spcBef>
                <a:spcPts val="12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1463040" rtl="0" eaLnBrk="1" latinLnBrk="0" hangingPunct="1">
              <a:spcBef>
                <a:spcPts val="1200"/>
              </a:spcBef>
              <a:buFont typeface="Arial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228600" algn="l" defTabSz="1463040" rtl="0" eaLnBrk="1" latinLnBrk="0" hangingPunct="1">
              <a:spcBef>
                <a:spcPts val="600"/>
              </a:spcBef>
              <a:buFont typeface="Arial" pitchFamily="34" charset="0"/>
              <a:buChar char="–"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85800" indent="-228600" algn="l" defTabSz="1463040" rtl="0" eaLnBrk="1" latinLnBrk="0" hangingPunct="1">
              <a:spcBef>
                <a:spcPts val="600"/>
              </a:spcBef>
              <a:buFont typeface="Arial" pitchFamily="34" charset="0"/>
              <a:buChar char="–"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228600" algn="l" defTabSz="1463040" rtl="0" eaLnBrk="1" latinLnBrk="0" hangingPunct="1">
              <a:spcBef>
                <a:spcPts val="600"/>
              </a:spcBef>
              <a:buFont typeface="Arial" pitchFamily="34" charset="0"/>
              <a:buChar char="–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43000" indent="-228600" algn="l" defTabSz="1463040" rtl="0" eaLnBrk="1" latinLnBrk="0" hangingPunct="1">
              <a:spcBef>
                <a:spcPts val="600"/>
              </a:spcBef>
              <a:buFont typeface="Arial" pitchFamily="34" charset="0"/>
              <a:buChar char="–"/>
              <a:tabLst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71600" indent="-228600" algn="l" defTabSz="1463040" rtl="0" eaLnBrk="1" latinLnBrk="0" hangingPunct="1">
              <a:spcBef>
                <a:spcPts val="600"/>
              </a:spcBef>
              <a:buFont typeface="Arial" pitchFamily="34" charset="0"/>
              <a:buChar char="–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228600" algn="l" defTabSz="1463040" rtl="0" eaLnBrk="1" latinLnBrk="0" hangingPunct="1">
              <a:spcBef>
                <a:spcPts val="600"/>
              </a:spcBef>
              <a:buFont typeface="Arial" pitchFamily="34" charset="0"/>
              <a:buChar char="–"/>
              <a:tabLst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endParaRPr lang="nl-BE" sz="2200" b="0"/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nl-BE" sz="2200">
              <a:solidFill>
                <a:srgbClr val="0070C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900" b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900"/>
          </a:p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C9D664-F04B-4637-AE65-27857F81424B}"/>
              </a:ext>
            </a:extLst>
          </p:cNvPr>
          <p:cNvSpPr/>
          <p:nvPr/>
        </p:nvSpPr>
        <p:spPr>
          <a:xfrm>
            <a:off x="6340542" y="1363887"/>
            <a:ext cx="5158573" cy="437914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462864">
              <a:defRPr/>
            </a:pPr>
            <a:r>
              <a:rPr lang="en-US" sz="1600" b="1">
                <a:solidFill>
                  <a:srgbClr val="000000"/>
                </a:solidFill>
                <a:latin typeface="Arial"/>
              </a:rPr>
              <a:t>What we do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FF9D555E-2955-4DAF-96F0-3634A169C76D}"/>
              </a:ext>
            </a:extLst>
          </p:cNvPr>
          <p:cNvSpPr txBox="1">
            <a:spLocks/>
          </p:cNvSpPr>
          <p:nvPr/>
        </p:nvSpPr>
        <p:spPr>
          <a:xfrm>
            <a:off x="6471347" y="2063608"/>
            <a:ext cx="5017040" cy="3493264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45720" rIns="0" bIns="45720" rtlCol="0" anchor="t" anchorCtr="0">
            <a:spAutoFit/>
          </a:bodyPr>
          <a:lstStyle>
            <a:lvl1pPr algn="l" defTabSz="146304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32715" indent="-132715" defTabSz="1462864">
              <a:lnSpc>
                <a:spcPct val="100000"/>
              </a:lnSpc>
              <a:spcBef>
                <a:spcPts val="480"/>
              </a:spcBef>
              <a:buFont typeface="Arial" panose="020B0604020202020204" pitchFamily="34" charset="0"/>
              <a:buChar char="•"/>
              <a:defRPr/>
            </a:pPr>
            <a:r>
              <a:rPr lang="en-US" sz="1400" b="0">
                <a:solidFill>
                  <a:srgbClr val="000000"/>
                </a:solidFill>
                <a:latin typeface="Arial"/>
              </a:rPr>
              <a:t>We have a strong IT Background – we ran our own Integration environments for HP, HPE and Compaq</a:t>
            </a:r>
            <a:endParaRPr lang="en-US" sz="1400" b="0">
              <a:latin typeface="Arial"/>
            </a:endParaRPr>
          </a:p>
          <a:p>
            <a:pPr marL="132715" indent="-132715" defTabSz="1462864">
              <a:lnSpc>
                <a:spcPct val="100000"/>
              </a:lnSpc>
              <a:spcBef>
                <a:spcPts val="480"/>
              </a:spcBef>
              <a:buFont typeface="Arial" panose="020B0604020202020204" pitchFamily="34" charset="0"/>
              <a:buChar char="•"/>
              <a:defRPr/>
            </a:pPr>
            <a:r>
              <a:rPr lang="en-US" sz="1400" b="0">
                <a:solidFill>
                  <a:srgbClr val="000000"/>
                </a:solidFill>
                <a:latin typeface="Arial"/>
              </a:rPr>
              <a:t>Serving large and small corporate clients worldwide – with operations, consulting and project implementations</a:t>
            </a:r>
            <a:endParaRPr lang="en-US" sz="1400" b="0">
              <a:solidFill>
                <a:srgbClr val="000000"/>
              </a:solidFill>
              <a:latin typeface="Arial"/>
              <a:cs typeface="Arial"/>
            </a:endParaRPr>
          </a:p>
          <a:p>
            <a:pPr marL="132715" indent="-132715" defTabSz="1462864">
              <a:lnSpc>
                <a:spcPct val="100000"/>
              </a:lnSpc>
              <a:spcBef>
                <a:spcPts val="480"/>
              </a:spcBef>
              <a:buFont typeface="Arial" panose="020B0604020202020204" pitchFamily="34" charset="0"/>
              <a:buChar char="•"/>
              <a:defRPr/>
            </a:pPr>
            <a:r>
              <a:rPr lang="en-US" sz="1400" b="0">
                <a:solidFill>
                  <a:srgbClr val="000000"/>
                </a:solidFill>
                <a:latin typeface="Arial"/>
              </a:rPr>
              <a:t>Run the full solutioning stack – from Platform setup and Application build to B2B process design and implementation</a:t>
            </a:r>
            <a:endParaRPr lang="en-US" sz="1400" b="0">
              <a:solidFill>
                <a:srgbClr val="000000"/>
              </a:solidFill>
              <a:latin typeface="Arial"/>
              <a:cs typeface="Arial"/>
            </a:endParaRPr>
          </a:p>
          <a:p>
            <a:pPr marL="132715" indent="-132715" defTabSz="1462864">
              <a:lnSpc>
                <a:spcPct val="100000"/>
              </a:lnSpc>
              <a:spcBef>
                <a:spcPts val="480"/>
              </a:spcBef>
              <a:buFont typeface="Arial" panose="020B0604020202020204" pitchFamily="34" charset="0"/>
              <a:buChar char="•"/>
              <a:defRPr/>
            </a:pPr>
            <a:r>
              <a:rPr lang="en-US" sz="1400" b="0">
                <a:solidFill>
                  <a:srgbClr val="000000"/>
                </a:solidFill>
                <a:latin typeface="Arial"/>
              </a:rPr>
              <a:t>Have built, modernized and migrated EDI and B2B Environments for more than 20 years</a:t>
            </a:r>
            <a:endParaRPr lang="en-US" sz="1400" b="0">
              <a:solidFill>
                <a:srgbClr val="000000"/>
              </a:solidFill>
              <a:latin typeface="Arial"/>
              <a:cs typeface="Arial"/>
            </a:endParaRPr>
          </a:p>
          <a:p>
            <a:pPr marL="132715" indent="-132715" defTabSz="1462864">
              <a:lnSpc>
                <a:spcPct val="100000"/>
              </a:lnSpc>
              <a:spcBef>
                <a:spcPts val="480"/>
              </a:spcBef>
              <a:buFont typeface="Arial" panose="020B0604020202020204" pitchFamily="34" charset="0"/>
              <a:buChar char="•"/>
              <a:defRPr/>
            </a:pPr>
            <a:r>
              <a:rPr lang="en-US" sz="1400" b="0">
                <a:solidFill>
                  <a:srgbClr val="000000"/>
                </a:solidFill>
                <a:latin typeface="Arial"/>
              </a:rPr>
              <a:t>Implement Best Practices and are well versed in topics around Audit and SOX compliance as well as Data Security</a:t>
            </a:r>
            <a:endParaRPr lang="en-US" sz="1400" b="0">
              <a:solidFill>
                <a:srgbClr val="000000"/>
              </a:solidFill>
              <a:latin typeface="Arial"/>
              <a:cs typeface="Arial"/>
            </a:endParaRPr>
          </a:p>
          <a:p>
            <a:pPr marL="132715" indent="-132715" defTabSz="1462864">
              <a:lnSpc>
                <a:spcPct val="100000"/>
              </a:lnSpc>
              <a:spcBef>
                <a:spcPts val="480"/>
              </a:spcBef>
              <a:buFont typeface="Arial" panose="020B0604020202020204" pitchFamily="34" charset="0"/>
              <a:buChar char="•"/>
              <a:defRPr/>
            </a:pPr>
            <a:r>
              <a:rPr lang="en-US" sz="1400" b="0">
                <a:solidFill>
                  <a:srgbClr val="000000"/>
                </a:solidFill>
                <a:latin typeface="Arial"/>
              </a:rPr>
              <a:t>Manage and run operations of all sizes and complexities – including delivery from cost-competitive locations</a:t>
            </a:r>
          </a:p>
          <a:p>
            <a:pPr marL="132715" indent="-132715" defTabSz="1462864">
              <a:lnSpc>
                <a:spcPct val="100000"/>
              </a:lnSpc>
              <a:spcBef>
                <a:spcPts val="480"/>
              </a:spcBef>
              <a:buFont typeface="Arial" panose="020B0604020202020204" pitchFamily="34" charset="0"/>
              <a:buChar char="•"/>
              <a:defRPr/>
            </a:pPr>
            <a:r>
              <a:rPr lang="en-US" sz="1400" b="0">
                <a:solidFill>
                  <a:srgbClr val="000000"/>
                </a:solidFill>
                <a:latin typeface="Arial"/>
              </a:rPr>
              <a:t>We are running DXC’s own EDI and B2B Solutions with the offerings, processes and knowledge we bring to our clients</a:t>
            </a:r>
            <a:endParaRPr lang="en-US" sz="1400" b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72715A-8E56-4D06-A987-4EFCDCB651A4}"/>
              </a:ext>
            </a:extLst>
          </p:cNvPr>
          <p:cNvSpPr/>
          <p:nvPr/>
        </p:nvSpPr>
        <p:spPr>
          <a:xfrm>
            <a:off x="5167044" y="3415581"/>
            <a:ext cx="5163700" cy="3615379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462864">
              <a:defRPr/>
            </a:pPr>
            <a:endParaRPr lang="en-US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Rounded Rectangle 307">
            <a:extLst>
              <a:ext uri="{FF2B5EF4-FFF2-40B4-BE49-F238E27FC236}">
                <a16:creationId xmlns:a16="http://schemas.microsoft.com/office/drawing/2014/main" id="{CBB50773-69E5-42D0-BC9F-1386C20BAD7C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5774878" y="5550004"/>
            <a:ext cx="2202275" cy="1139044"/>
          </a:xfrm>
          <a:prstGeom prst="roundRect">
            <a:avLst>
              <a:gd name="adj" fmla="val 7484"/>
            </a:avLst>
          </a:prstGeom>
          <a:noFill/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462864">
              <a:lnSpc>
                <a:spcPct val="85000"/>
              </a:lnSpc>
              <a:defRPr/>
            </a:pPr>
            <a:endParaRPr lang="en-US" sz="18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Rectangle 408">
            <a:extLst>
              <a:ext uri="{FF2B5EF4-FFF2-40B4-BE49-F238E27FC236}">
                <a16:creationId xmlns:a16="http://schemas.microsoft.com/office/drawing/2014/main" id="{C7D715A9-00E7-4978-B69D-EC9CA1642175}"/>
              </a:ext>
            </a:extLst>
          </p:cNvPr>
          <p:cNvSpPr/>
          <p:nvPr/>
        </p:nvSpPr>
        <p:spPr>
          <a:xfrm>
            <a:off x="685803" y="1363887"/>
            <a:ext cx="4114798" cy="436798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462864">
              <a:defRPr/>
            </a:pPr>
            <a:r>
              <a:rPr lang="en-US" sz="1600" b="1">
                <a:solidFill>
                  <a:srgbClr val="000000"/>
                </a:solidFill>
                <a:latin typeface="Arial"/>
              </a:rPr>
              <a:t>Who we are</a:t>
            </a:r>
          </a:p>
        </p:txBody>
      </p:sp>
      <p:sp>
        <p:nvSpPr>
          <p:cNvPr id="410" name="Rectangle 409">
            <a:extLst>
              <a:ext uri="{FF2B5EF4-FFF2-40B4-BE49-F238E27FC236}">
                <a16:creationId xmlns:a16="http://schemas.microsoft.com/office/drawing/2014/main" id="{6BF1FA33-0183-4D07-A97A-F3EB2926D522}"/>
              </a:ext>
            </a:extLst>
          </p:cNvPr>
          <p:cNvSpPr/>
          <p:nvPr/>
        </p:nvSpPr>
        <p:spPr>
          <a:xfrm>
            <a:off x="1373814" y="2056128"/>
            <a:ext cx="3204143" cy="954107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t">
            <a:spAutoFit/>
          </a:bodyPr>
          <a:lstStyle/>
          <a:p>
            <a:pPr defTabSz="1462864">
              <a:tabLst>
                <a:tab pos="171418" algn="l"/>
              </a:tabLst>
              <a:defRPr/>
            </a:pPr>
            <a:r>
              <a:rPr lang="en-US" sz="1400">
                <a:solidFill>
                  <a:srgbClr val="000000"/>
                </a:solidFill>
                <a:latin typeface="Arial"/>
              </a:rPr>
              <a:t>Experienced global team:</a:t>
            </a:r>
            <a:br>
              <a:rPr lang="en-US" sz="1400">
                <a:solidFill>
                  <a:srgbClr val="000000"/>
                </a:solidFill>
                <a:latin typeface="Arial"/>
              </a:rPr>
            </a:br>
            <a:r>
              <a:rPr lang="en-US" sz="1400">
                <a:solidFill>
                  <a:srgbClr val="000000"/>
                </a:solidFill>
                <a:latin typeface="Arial"/>
              </a:rPr>
              <a:t>More than 20 years of B2B&amp;EDI experience  and more than 15 years of SEEBURGER experience on average</a:t>
            </a:r>
          </a:p>
        </p:txBody>
      </p:sp>
      <p:sp>
        <p:nvSpPr>
          <p:cNvPr id="413" name="Rectangle 412">
            <a:extLst>
              <a:ext uri="{FF2B5EF4-FFF2-40B4-BE49-F238E27FC236}">
                <a16:creationId xmlns:a16="http://schemas.microsoft.com/office/drawing/2014/main" id="{2D300AEC-1734-4F47-BD4F-E893503A73BA}"/>
              </a:ext>
            </a:extLst>
          </p:cNvPr>
          <p:cNvSpPr/>
          <p:nvPr/>
        </p:nvSpPr>
        <p:spPr>
          <a:xfrm>
            <a:off x="1373814" y="3405742"/>
            <a:ext cx="3289601" cy="738664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t">
            <a:spAutoFit/>
          </a:bodyPr>
          <a:lstStyle/>
          <a:p>
            <a:pPr defTabSz="1462864">
              <a:tabLst>
                <a:tab pos="171418" algn="l"/>
              </a:tabLst>
              <a:defRPr/>
            </a:pPr>
            <a:r>
              <a:rPr lang="en-US" sz="1400">
                <a:solidFill>
                  <a:srgbClr val="000000"/>
                </a:solidFill>
                <a:latin typeface="Arial"/>
              </a:rPr>
              <a:t>Deep expertise – from Platform and Infrastructure to Mapping, Business Analysis and Operations</a:t>
            </a:r>
          </a:p>
        </p:txBody>
      </p:sp>
      <p:sp>
        <p:nvSpPr>
          <p:cNvPr id="414" name="Rectangle 413">
            <a:extLst>
              <a:ext uri="{FF2B5EF4-FFF2-40B4-BE49-F238E27FC236}">
                <a16:creationId xmlns:a16="http://schemas.microsoft.com/office/drawing/2014/main" id="{00A97024-A027-4C57-A384-58EA61DFA25A}"/>
              </a:ext>
            </a:extLst>
          </p:cNvPr>
          <p:cNvSpPr/>
          <p:nvPr/>
        </p:nvSpPr>
        <p:spPr>
          <a:xfrm>
            <a:off x="1375679" y="4851091"/>
            <a:ext cx="3202278" cy="52322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t">
            <a:spAutoFit/>
          </a:bodyPr>
          <a:lstStyle/>
          <a:p>
            <a:pPr defTabSz="1462864">
              <a:defRPr/>
            </a:pPr>
            <a:r>
              <a:rPr lang="en-US" sz="1400">
                <a:solidFill>
                  <a:srgbClr val="000000"/>
                </a:solidFill>
                <a:latin typeface="Arial"/>
              </a:rPr>
              <a:t>Integrated into DXC BES – access to &gt;200 Global B2B Professionals</a:t>
            </a:r>
          </a:p>
        </p:txBody>
      </p:sp>
      <p:sp>
        <p:nvSpPr>
          <p:cNvPr id="416" name="Freeform: Shape 415">
            <a:extLst>
              <a:ext uri="{FF2B5EF4-FFF2-40B4-BE49-F238E27FC236}">
                <a16:creationId xmlns:a16="http://schemas.microsoft.com/office/drawing/2014/main" id="{CB0C9D62-03BE-4C32-BDDA-2560CF1DA154}"/>
              </a:ext>
            </a:extLst>
          </p:cNvPr>
          <p:cNvSpPr/>
          <p:nvPr/>
        </p:nvSpPr>
        <p:spPr>
          <a:xfrm>
            <a:off x="755646" y="3290709"/>
            <a:ext cx="4044461" cy="0"/>
          </a:xfrm>
          <a:custGeom>
            <a:avLst/>
            <a:gdLst>
              <a:gd name="connsiteX0" fmla="*/ 0 w 4044461"/>
              <a:gd name="connsiteY0" fmla="*/ 0 h 0"/>
              <a:gd name="connsiteX1" fmla="*/ 4044461 w 404446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044461">
                <a:moveTo>
                  <a:pt x="0" y="0"/>
                </a:moveTo>
                <a:lnTo>
                  <a:pt x="4044461" y="0"/>
                </a:lnTo>
              </a:path>
            </a:pathLst>
          </a:custGeom>
          <a:noFill/>
          <a:ln>
            <a:solidFill>
              <a:schemeClr val="accent3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462864">
              <a:defRPr/>
            </a:pPr>
            <a:endParaRPr lang="en-US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7" name="Freeform: Shape 416">
            <a:extLst>
              <a:ext uri="{FF2B5EF4-FFF2-40B4-BE49-F238E27FC236}">
                <a16:creationId xmlns:a16="http://schemas.microsoft.com/office/drawing/2014/main" id="{9B751ECB-0AAB-4465-80E4-7D2FB045A8D7}"/>
              </a:ext>
            </a:extLst>
          </p:cNvPr>
          <p:cNvSpPr/>
          <p:nvPr/>
        </p:nvSpPr>
        <p:spPr>
          <a:xfrm>
            <a:off x="719861" y="4587404"/>
            <a:ext cx="4044461" cy="0"/>
          </a:xfrm>
          <a:custGeom>
            <a:avLst/>
            <a:gdLst>
              <a:gd name="connsiteX0" fmla="*/ 0 w 4044461"/>
              <a:gd name="connsiteY0" fmla="*/ 0 h 0"/>
              <a:gd name="connsiteX1" fmla="*/ 4044461 w 404446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044461">
                <a:moveTo>
                  <a:pt x="0" y="0"/>
                </a:moveTo>
                <a:lnTo>
                  <a:pt x="4044461" y="0"/>
                </a:lnTo>
              </a:path>
            </a:pathLst>
          </a:custGeom>
          <a:noFill/>
          <a:ln>
            <a:solidFill>
              <a:schemeClr val="accent3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462864">
              <a:defRPr/>
            </a:pPr>
            <a:endParaRPr lang="en-US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418" name="Straight Connector 417">
            <a:extLst>
              <a:ext uri="{FF2B5EF4-FFF2-40B4-BE49-F238E27FC236}">
                <a16:creationId xmlns:a16="http://schemas.microsoft.com/office/drawing/2014/main" id="{A76673CD-5965-4462-B8A9-285C1A04C67F}"/>
              </a:ext>
            </a:extLst>
          </p:cNvPr>
          <p:cNvCxnSpPr/>
          <p:nvPr/>
        </p:nvCxnSpPr>
        <p:spPr>
          <a:xfrm>
            <a:off x="6400278" y="1798415"/>
            <a:ext cx="4957304" cy="0"/>
          </a:xfrm>
          <a:prstGeom prst="line">
            <a:avLst/>
          </a:prstGeom>
          <a:ln w="76200" cap="sq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20" name="Straight Connector 419">
            <a:extLst>
              <a:ext uri="{FF2B5EF4-FFF2-40B4-BE49-F238E27FC236}">
                <a16:creationId xmlns:a16="http://schemas.microsoft.com/office/drawing/2014/main" id="{A968DEDB-9195-4003-B485-9C4882B832CA}"/>
              </a:ext>
            </a:extLst>
          </p:cNvPr>
          <p:cNvCxnSpPr/>
          <p:nvPr/>
        </p:nvCxnSpPr>
        <p:spPr>
          <a:xfrm>
            <a:off x="699293" y="1798415"/>
            <a:ext cx="4114800" cy="0"/>
          </a:xfrm>
          <a:prstGeom prst="line">
            <a:avLst/>
          </a:prstGeom>
          <a:ln w="76200" cap="sq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421" name="Graphic 420">
            <a:extLst>
              <a:ext uri="{FF2B5EF4-FFF2-40B4-BE49-F238E27FC236}">
                <a16:creationId xmlns:a16="http://schemas.microsoft.com/office/drawing/2014/main" id="{E4381CD1-6759-4375-9781-9230561DAC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0591" y="2056128"/>
            <a:ext cx="457200" cy="342900"/>
          </a:xfrm>
          <a:prstGeom prst="rect">
            <a:avLst/>
          </a:prstGeom>
        </p:spPr>
      </p:pic>
      <p:pic>
        <p:nvPicPr>
          <p:cNvPr id="424" name="Graphic 423">
            <a:extLst>
              <a:ext uri="{FF2B5EF4-FFF2-40B4-BE49-F238E27FC236}">
                <a16:creationId xmlns:a16="http://schemas.microsoft.com/office/drawing/2014/main" id="{73B5E4F1-2A3A-40A8-8EBD-DD1C5F628F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2752" y="4851091"/>
            <a:ext cx="444500" cy="444500"/>
          </a:xfrm>
          <a:prstGeom prst="rect">
            <a:avLst/>
          </a:prstGeom>
        </p:spPr>
      </p:pic>
      <p:pic>
        <p:nvPicPr>
          <p:cNvPr id="426" name="Graphic 425">
            <a:extLst>
              <a:ext uri="{FF2B5EF4-FFF2-40B4-BE49-F238E27FC236}">
                <a16:creationId xmlns:a16="http://schemas.microsoft.com/office/drawing/2014/main" id="{0385E328-5454-4E08-BDFD-76D99B1545C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5816" y="3405742"/>
            <a:ext cx="428625" cy="44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803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9CB4D-3A4D-4A43-A6AF-6336D5F21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23564"/>
            <a:ext cx="13258800" cy="1417636"/>
          </a:xfrm>
        </p:spPr>
        <p:txBody>
          <a:bodyPr/>
          <a:lstStyle/>
          <a:p>
            <a:r>
              <a:rPr lang="en-US"/>
              <a:t>Hosting Approaches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D58327-BB91-4B16-BECF-36B7A7E17D26}"/>
              </a:ext>
            </a:extLst>
          </p:cNvPr>
          <p:cNvSpPr txBox="1"/>
          <p:nvPr/>
        </p:nvSpPr>
        <p:spPr>
          <a:xfrm>
            <a:off x="676150" y="1941072"/>
            <a:ext cx="3108960" cy="161329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182880" tIns="274320" rIns="91440" bIns="91440" rtlCol="0">
            <a:normAutofit/>
          </a:bodyPr>
          <a:lstStyle/>
          <a:p>
            <a:r>
              <a:rPr lang="en-US" sz="1800"/>
              <a:t>Building SEEBURGER solutions on-site on existing infrastructure - for maximum control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93B947-4657-4C43-9616-BCCAB3E6CB57}"/>
              </a:ext>
            </a:extLst>
          </p:cNvPr>
          <p:cNvSpPr txBox="1"/>
          <p:nvPr/>
        </p:nvSpPr>
        <p:spPr>
          <a:xfrm>
            <a:off x="4063882" y="1941072"/>
            <a:ext cx="3108960" cy="161329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182880" tIns="274320" rIns="91440" bIns="91440" rtlCol="0">
            <a:normAutofit/>
          </a:bodyPr>
          <a:lstStyle/>
          <a:p>
            <a:r>
              <a:rPr lang="en-US" sz="1800"/>
              <a:t>Hosting SEEBURGER Solutions in the DXC Virtual Private Cloud – Let us take care of the Infrastructure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7BAF55-41E6-48AB-909C-E447DCCB3CCB}"/>
              </a:ext>
            </a:extLst>
          </p:cNvPr>
          <p:cNvSpPr txBox="1"/>
          <p:nvPr/>
        </p:nvSpPr>
        <p:spPr>
          <a:xfrm>
            <a:off x="7465228" y="1941072"/>
            <a:ext cx="3108960" cy="161329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182880" tIns="274320" rIns="91440" bIns="91440" rtlCol="0">
            <a:normAutofit/>
          </a:bodyPr>
          <a:lstStyle/>
          <a:p>
            <a:r>
              <a:rPr lang="en-US" sz="1800"/>
              <a:t>Leveraging existing partnerships with AWS, Azure etc. - for maximum flexibility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238599-4672-4CE4-B75B-8DAC47D70055}"/>
              </a:ext>
            </a:extLst>
          </p:cNvPr>
          <p:cNvSpPr txBox="1"/>
          <p:nvPr/>
        </p:nvSpPr>
        <p:spPr>
          <a:xfrm>
            <a:off x="10860368" y="1941073"/>
            <a:ext cx="3108960" cy="161329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182880" tIns="274320" rIns="91440" bIns="91440" rtlCol="0">
            <a:normAutofit/>
          </a:bodyPr>
          <a:lstStyle/>
          <a:p>
            <a:r>
              <a:rPr lang="en-US" sz="1800"/>
              <a:t>We can operate as much of your environment as required – from fully managed to client operated</a:t>
            </a:r>
          </a:p>
          <a:p>
            <a:endParaRPr lang="en-US" sz="1800"/>
          </a:p>
        </p:txBody>
      </p:sp>
      <p:sp>
        <p:nvSpPr>
          <p:cNvPr id="8" name="Rectangle: Single Corner Rounded 7">
            <a:extLst>
              <a:ext uri="{FF2B5EF4-FFF2-40B4-BE49-F238E27FC236}">
                <a16:creationId xmlns:a16="http://schemas.microsoft.com/office/drawing/2014/main" id="{025E72BA-55E6-4DCB-B4ED-DA51366538F5}"/>
              </a:ext>
            </a:extLst>
          </p:cNvPr>
          <p:cNvSpPr/>
          <p:nvPr/>
        </p:nvSpPr>
        <p:spPr>
          <a:xfrm>
            <a:off x="680374" y="755579"/>
            <a:ext cx="3108960" cy="1200329"/>
          </a:xfrm>
          <a:prstGeom prst="round1Rect">
            <a:avLst>
              <a:gd name="adj" fmla="val 38251"/>
            </a:avLst>
          </a:prstGeom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r>
              <a:rPr lang="de-DE" sz="1800" b="1">
                <a:solidFill>
                  <a:schemeClr val="bg1"/>
                </a:solidFill>
              </a:rPr>
              <a:t>O</a:t>
            </a:r>
            <a:r>
              <a:rPr lang="en-US" sz="1800" b="1">
                <a:solidFill>
                  <a:schemeClr val="bg1"/>
                </a:solidFill>
              </a:rPr>
              <a:t>n-Premise</a:t>
            </a:r>
          </a:p>
        </p:txBody>
      </p:sp>
      <p:sp>
        <p:nvSpPr>
          <p:cNvPr id="9" name="Rectangle: Single Corner Rounded 8">
            <a:extLst>
              <a:ext uri="{FF2B5EF4-FFF2-40B4-BE49-F238E27FC236}">
                <a16:creationId xmlns:a16="http://schemas.microsoft.com/office/drawing/2014/main" id="{047C9527-BBD2-4BC9-9206-DE47CCC8020E}"/>
              </a:ext>
            </a:extLst>
          </p:cNvPr>
          <p:cNvSpPr/>
          <p:nvPr/>
        </p:nvSpPr>
        <p:spPr>
          <a:xfrm>
            <a:off x="10849512" y="755579"/>
            <a:ext cx="3108960" cy="1200329"/>
          </a:xfrm>
          <a:prstGeom prst="round1Rect">
            <a:avLst>
              <a:gd name="adj" fmla="val 38251"/>
            </a:avLst>
          </a:prstGeom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r>
              <a:rPr lang="en-US" sz="1800" b="1">
                <a:solidFill>
                  <a:schemeClr val="bg1"/>
                </a:solidFill>
              </a:rPr>
              <a:t>Flexibly Managed</a:t>
            </a:r>
          </a:p>
          <a:p>
            <a:endParaRPr lang="en-US" sz="1800" b="1">
              <a:solidFill>
                <a:schemeClr val="bg1"/>
              </a:solidFill>
            </a:endParaRPr>
          </a:p>
        </p:txBody>
      </p:sp>
      <p:sp>
        <p:nvSpPr>
          <p:cNvPr id="10" name="Rectangle: Single Corner Rounded 9">
            <a:extLst>
              <a:ext uri="{FF2B5EF4-FFF2-40B4-BE49-F238E27FC236}">
                <a16:creationId xmlns:a16="http://schemas.microsoft.com/office/drawing/2014/main" id="{0D42D5D5-AB31-40DF-87B1-D22D5D7CAD85}"/>
              </a:ext>
            </a:extLst>
          </p:cNvPr>
          <p:cNvSpPr/>
          <p:nvPr/>
        </p:nvSpPr>
        <p:spPr>
          <a:xfrm>
            <a:off x="4070086" y="766871"/>
            <a:ext cx="3108960" cy="1200329"/>
          </a:xfrm>
          <a:prstGeom prst="round1Rect">
            <a:avLst>
              <a:gd name="adj" fmla="val 38251"/>
            </a:avLst>
          </a:prstGeom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r>
              <a:rPr lang="en-US" sz="1800" b="1">
                <a:solidFill>
                  <a:schemeClr val="bg1"/>
                </a:solidFill>
              </a:rPr>
              <a:t>DXC VPC</a:t>
            </a:r>
          </a:p>
        </p:txBody>
      </p:sp>
      <p:sp>
        <p:nvSpPr>
          <p:cNvPr id="11" name="Rectangle: Single Corner Rounded 10">
            <a:extLst>
              <a:ext uri="{FF2B5EF4-FFF2-40B4-BE49-F238E27FC236}">
                <a16:creationId xmlns:a16="http://schemas.microsoft.com/office/drawing/2014/main" id="{00C39153-6C5E-4D6D-BB14-29CA238044F9}"/>
              </a:ext>
            </a:extLst>
          </p:cNvPr>
          <p:cNvSpPr/>
          <p:nvPr/>
        </p:nvSpPr>
        <p:spPr>
          <a:xfrm>
            <a:off x="7459799" y="755579"/>
            <a:ext cx="3108960" cy="1200329"/>
          </a:xfrm>
          <a:prstGeom prst="round1Rect">
            <a:avLst>
              <a:gd name="adj" fmla="val 38251"/>
            </a:avLst>
          </a:prstGeom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r>
              <a:rPr lang="en-US" sz="1800" b="1">
                <a:solidFill>
                  <a:schemeClr val="bg1"/>
                </a:solidFill>
              </a:rPr>
              <a:t>Public Cloud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1872E0A6-3DE1-43ED-AF83-3131F70F5D10}"/>
              </a:ext>
            </a:extLst>
          </p:cNvPr>
          <p:cNvSpPr txBox="1">
            <a:spLocks/>
          </p:cNvSpPr>
          <p:nvPr/>
        </p:nvSpPr>
        <p:spPr>
          <a:xfrm>
            <a:off x="690715" y="3815573"/>
            <a:ext cx="13258800" cy="141763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1462981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6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Solutioning Approaches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279749E-2266-45B7-881E-E1C72A2290FF}"/>
              </a:ext>
            </a:extLst>
          </p:cNvPr>
          <p:cNvSpPr txBox="1"/>
          <p:nvPr/>
        </p:nvSpPr>
        <p:spPr>
          <a:xfrm>
            <a:off x="681065" y="5633081"/>
            <a:ext cx="3108960" cy="161329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182880" tIns="274320" rIns="91440" bIns="91440" rtlCol="0">
            <a:normAutofit/>
          </a:bodyPr>
          <a:lstStyle/>
          <a:p>
            <a:r>
              <a:rPr lang="en-US" sz="1800"/>
              <a:t>We have built and run some of the largest EDI Gateways worldwide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B434D7-5CD4-41AA-BD9E-078427B9B191}"/>
              </a:ext>
            </a:extLst>
          </p:cNvPr>
          <p:cNvSpPr txBox="1"/>
          <p:nvPr/>
        </p:nvSpPr>
        <p:spPr>
          <a:xfrm>
            <a:off x="4068797" y="5633081"/>
            <a:ext cx="3108960" cy="161329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182880" tIns="274320" rIns="91440" bIns="91440" rtlCol="0" anchor="t">
            <a:normAutofit/>
          </a:bodyPr>
          <a:lstStyle/>
          <a:p>
            <a:r>
              <a:rPr lang="en-US" sz="1800"/>
              <a:t>We can tailor industry or use-case-specific Solutions 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FB544FD-79EA-4EF4-8A66-4DAC1CEEDDD3}"/>
              </a:ext>
            </a:extLst>
          </p:cNvPr>
          <p:cNvSpPr txBox="1"/>
          <p:nvPr/>
        </p:nvSpPr>
        <p:spPr>
          <a:xfrm>
            <a:off x="7470143" y="5633081"/>
            <a:ext cx="3108960" cy="161329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182880" tIns="274320" rIns="91440" bIns="91440" rtlCol="0">
            <a:normAutofit/>
          </a:bodyPr>
          <a:lstStyle/>
          <a:p>
            <a:r>
              <a:rPr lang="en-US" sz="1800"/>
              <a:t>Managed File Transfer Solutions for your use-case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99B37F-02F7-4B28-891E-0CDBB565C923}"/>
              </a:ext>
            </a:extLst>
          </p:cNvPr>
          <p:cNvSpPr txBox="1"/>
          <p:nvPr/>
        </p:nvSpPr>
        <p:spPr>
          <a:xfrm>
            <a:off x="10865283" y="5633082"/>
            <a:ext cx="3108960" cy="161329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182880" tIns="274320" rIns="91440" bIns="91440" rtlCol="0">
            <a:normAutofit/>
          </a:bodyPr>
          <a:lstStyle/>
          <a:p>
            <a:r>
              <a:rPr lang="en-US" sz="1800"/>
              <a:t>Need a small but solid EDI or B2B solution? We have options</a:t>
            </a:r>
          </a:p>
          <a:p>
            <a:endParaRPr lang="en-US" sz="1800"/>
          </a:p>
        </p:txBody>
      </p:sp>
      <p:sp>
        <p:nvSpPr>
          <p:cNvPr id="25" name="Rectangle: Single Corner Rounded 24">
            <a:extLst>
              <a:ext uri="{FF2B5EF4-FFF2-40B4-BE49-F238E27FC236}">
                <a16:creationId xmlns:a16="http://schemas.microsoft.com/office/drawing/2014/main" id="{C7440378-863D-4A95-A69C-2EA83D5A97F8}"/>
              </a:ext>
            </a:extLst>
          </p:cNvPr>
          <p:cNvSpPr/>
          <p:nvPr/>
        </p:nvSpPr>
        <p:spPr>
          <a:xfrm>
            <a:off x="685289" y="4447588"/>
            <a:ext cx="3108960" cy="1200329"/>
          </a:xfrm>
          <a:prstGeom prst="round1Rect">
            <a:avLst>
              <a:gd name="adj" fmla="val 38251"/>
            </a:avLst>
          </a:prstGeom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r>
              <a:rPr lang="de-DE" sz="1800" b="1">
                <a:solidFill>
                  <a:schemeClr val="bg1"/>
                </a:solidFill>
              </a:rPr>
              <a:t>Enterprise Gateway</a:t>
            </a:r>
            <a:endParaRPr lang="en-US" sz="1800" b="1">
              <a:solidFill>
                <a:schemeClr val="bg1"/>
              </a:solidFill>
            </a:endParaRPr>
          </a:p>
        </p:txBody>
      </p:sp>
      <p:sp>
        <p:nvSpPr>
          <p:cNvPr id="26" name="Rectangle: Single Corner Rounded 25">
            <a:extLst>
              <a:ext uri="{FF2B5EF4-FFF2-40B4-BE49-F238E27FC236}">
                <a16:creationId xmlns:a16="http://schemas.microsoft.com/office/drawing/2014/main" id="{7FB49A23-36B9-4464-983B-895536ACAD5C}"/>
              </a:ext>
            </a:extLst>
          </p:cNvPr>
          <p:cNvSpPr/>
          <p:nvPr/>
        </p:nvSpPr>
        <p:spPr>
          <a:xfrm>
            <a:off x="10854427" y="4447588"/>
            <a:ext cx="3108960" cy="1200329"/>
          </a:xfrm>
          <a:prstGeom prst="round1Rect">
            <a:avLst>
              <a:gd name="adj" fmla="val 38251"/>
            </a:avLst>
          </a:prstGeom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r>
              <a:rPr lang="en-US" sz="1800" b="1">
                <a:solidFill>
                  <a:schemeClr val="bg1"/>
                </a:solidFill>
              </a:rPr>
              <a:t>SME</a:t>
            </a:r>
          </a:p>
        </p:txBody>
      </p:sp>
      <p:sp>
        <p:nvSpPr>
          <p:cNvPr id="27" name="Rectangle: Single Corner Rounded 26">
            <a:extLst>
              <a:ext uri="{FF2B5EF4-FFF2-40B4-BE49-F238E27FC236}">
                <a16:creationId xmlns:a16="http://schemas.microsoft.com/office/drawing/2014/main" id="{F857683B-DC48-47FE-9E92-09485011AAB3}"/>
              </a:ext>
            </a:extLst>
          </p:cNvPr>
          <p:cNvSpPr/>
          <p:nvPr/>
        </p:nvSpPr>
        <p:spPr>
          <a:xfrm>
            <a:off x="4075001" y="4458880"/>
            <a:ext cx="3108960" cy="1200329"/>
          </a:xfrm>
          <a:prstGeom prst="round1Rect">
            <a:avLst>
              <a:gd name="adj" fmla="val 38251"/>
            </a:avLst>
          </a:prstGeom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r>
              <a:rPr lang="en-US" sz="1800" b="1">
                <a:solidFill>
                  <a:schemeClr val="bg1"/>
                </a:solidFill>
              </a:rPr>
              <a:t>Specialized Solutions</a:t>
            </a:r>
          </a:p>
        </p:txBody>
      </p:sp>
      <p:sp>
        <p:nvSpPr>
          <p:cNvPr id="28" name="Rectangle: Single Corner Rounded 27">
            <a:extLst>
              <a:ext uri="{FF2B5EF4-FFF2-40B4-BE49-F238E27FC236}">
                <a16:creationId xmlns:a16="http://schemas.microsoft.com/office/drawing/2014/main" id="{71AB2046-5A85-4A1E-B58B-14677DA45517}"/>
              </a:ext>
            </a:extLst>
          </p:cNvPr>
          <p:cNvSpPr/>
          <p:nvPr/>
        </p:nvSpPr>
        <p:spPr>
          <a:xfrm>
            <a:off x="7464714" y="4447588"/>
            <a:ext cx="3108960" cy="1200329"/>
          </a:xfrm>
          <a:prstGeom prst="round1Rect">
            <a:avLst>
              <a:gd name="adj" fmla="val 38251"/>
            </a:avLst>
          </a:prstGeom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r>
              <a:rPr lang="en-US" sz="1800" b="1">
                <a:solidFill>
                  <a:schemeClr val="bg1"/>
                </a:solidFill>
              </a:rPr>
              <a:t>MFT</a:t>
            </a:r>
          </a:p>
        </p:txBody>
      </p:sp>
    </p:spTree>
    <p:extLst>
      <p:ext uri="{BB962C8B-B14F-4D97-AF65-F5344CB8AC3E}">
        <p14:creationId xmlns:p14="http://schemas.microsoft.com/office/powerpoint/2010/main" val="3971287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15352-0B19-4324-B8C2-BCF478640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39763"/>
            <a:ext cx="13211096" cy="703128"/>
          </a:xfrm>
        </p:spPr>
        <p:txBody>
          <a:bodyPr>
            <a:normAutofit/>
          </a:bodyPr>
          <a:lstStyle/>
          <a:p>
            <a:r>
              <a:rPr lang="de-DE" sz="3600"/>
              <a:t>DXC + SEEBURGER -  </a:t>
            </a:r>
            <a:r>
              <a:rPr lang="de-DE"/>
              <a:t>P</a:t>
            </a:r>
            <a:r>
              <a:rPr lang="de-DE" sz="3600"/>
              <a:t>artnership for more than 15 years</a:t>
            </a:r>
          </a:p>
        </p:txBody>
      </p:sp>
      <p:sp>
        <p:nvSpPr>
          <p:cNvPr id="131" name="Rectangle 81">
            <a:extLst>
              <a:ext uri="{FF2B5EF4-FFF2-40B4-BE49-F238E27FC236}">
                <a16:creationId xmlns:a16="http://schemas.microsoft.com/office/drawing/2014/main" id="{C297B1C3-8F1C-4755-818D-CC1B34BFA422}"/>
              </a:ext>
            </a:extLst>
          </p:cNvPr>
          <p:cNvSpPr/>
          <p:nvPr/>
        </p:nvSpPr>
        <p:spPr>
          <a:xfrm>
            <a:off x="675409" y="2343810"/>
            <a:ext cx="4170228" cy="502155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0">
            <a:solidFill>
              <a:srgbClr val="000000"/>
            </a:solidFill>
          </a:ln>
          <a:effectLst/>
        </p:spPr>
        <p:txBody>
          <a:bodyPr rot="0" spcFirstLastPara="0" vertOverflow="overflow" horzOverflow="overflow" vert="horz" wrap="square" lIns="144000" tIns="612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73050" marR="0" lvl="0" indent="-214313" defTabSz="146298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0" cap="none" spc="0" normalizeH="0" baseline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3" name="Rectangle 78">
            <a:extLst>
              <a:ext uri="{FF2B5EF4-FFF2-40B4-BE49-F238E27FC236}">
                <a16:creationId xmlns:a16="http://schemas.microsoft.com/office/drawing/2014/main" id="{22A9B9A5-31F1-469D-BD95-241878EDCEB5}"/>
              </a:ext>
            </a:extLst>
          </p:cNvPr>
          <p:cNvSpPr/>
          <p:nvPr/>
        </p:nvSpPr>
        <p:spPr>
          <a:xfrm>
            <a:off x="5194583" y="2343811"/>
            <a:ext cx="4194417" cy="5021557"/>
          </a:xfrm>
          <a:prstGeom prst="rect">
            <a:avLst/>
          </a:prstGeom>
          <a:noFill/>
          <a:ln w="31750">
            <a:solidFill>
              <a:srgbClr val="000000"/>
            </a:solidFill>
          </a:ln>
          <a:effectLst/>
        </p:spPr>
        <p:txBody>
          <a:bodyPr rot="0" spcFirstLastPara="0" vertOverflow="overflow" horzOverflow="overflow" vert="horz" wrap="square" lIns="144000" tIns="612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715963" marR="0" lvl="0" indent="-115888" defTabSz="6164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endParaRPr kumimoji="0" lang="de-DE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4" name="Rectangle 79">
            <a:extLst>
              <a:ext uri="{FF2B5EF4-FFF2-40B4-BE49-F238E27FC236}">
                <a16:creationId xmlns:a16="http://schemas.microsoft.com/office/drawing/2014/main" id="{07DBC16F-6BC5-45BC-ADC9-BF5CF47D4E1E}"/>
              </a:ext>
            </a:extLst>
          </p:cNvPr>
          <p:cNvSpPr/>
          <p:nvPr/>
        </p:nvSpPr>
        <p:spPr>
          <a:xfrm>
            <a:off x="5176994" y="1589712"/>
            <a:ext cx="4206240" cy="764148"/>
          </a:xfrm>
          <a:prstGeom prst="rect">
            <a:avLst/>
          </a:prstGeom>
          <a:noFill/>
          <a:ln w="57150">
            <a:noFill/>
          </a:ln>
          <a:effectLst/>
        </p:spPr>
        <p:txBody>
          <a:bodyPr lIns="0" tIns="0" rIns="0" bIns="0" rtlCol="0" anchor="t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Business Exchange Services (BES)</a:t>
            </a:r>
          </a:p>
        </p:txBody>
      </p:sp>
      <p:sp>
        <p:nvSpPr>
          <p:cNvPr id="135" name="Rectangle 72">
            <a:extLst>
              <a:ext uri="{FF2B5EF4-FFF2-40B4-BE49-F238E27FC236}">
                <a16:creationId xmlns:a16="http://schemas.microsoft.com/office/drawing/2014/main" id="{CAA754EE-D40C-402F-A25D-4EC02C0359CA}"/>
              </a:ext>
            </a:extLst>
          </p:cNvPr>
          <p:cNvSpPr/>
          <p:nvPr/>
        </p:nvSpPr>
        <p:spPr>
          <a:xfrm>
            <a:off x="9737946" y="2343810"/>
            <a:ext cx="4170228" cy="5021551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144000" tIns="612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6164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0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defTabSz="6164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0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7" name="Freeform 26">
            <a:extLst>
              <a:ext uri="{FF2B5EF4-FFF2-40B4-BE49-F238E27FC236}">
                <a16:creationId xmlns:a16="http://schemas.microsoft.com/office/drawing/2014/main" id="{683FE4B9-63E8-45EC-A41F-6BDEA21B15B7}"/>
              </a:ext>
            </a:extLst>
          </p:cNvPr>
          <p:cNvSpPr>
            <a:spLocks noEditPoints="1"/>
          </p:cNvSpPr>
          <p:nvPr/>
        </p:nvSpPr>
        <p:spPr bwMode="auto">
          <a:xfrm>
            <a:off x="5421807" y="6668745"/>
            <a:ext cx="464267" cy="464266"/>
          </a:xfrm>
          <a:custGeom>
            <a:avLst/>
            <a:gdLst>
              <a:gd name="T0" fmla="*/ 372 w 418"/>
              <a:gd name="T1" fmla="*/ 78 h 418"/>
              <a:gd name="T2" fmla="*/ 46 w 418"/>
              <a:gd name="T3" fmla="*/ 78 h 418"/>
              <a:gd name="T4" fmla="*/ 0 w 418"/>
              <a:gd name="T5" fmla="*/ 209 h 418"/>
              <a:gd name="T6" fmla="*/ 46 w 418"/>
              <a:gd name="T7" fmla="*/ 340 h 418"/>
              <a:gd name="T8" fmla="*/ 372 w 418"/>
              <a:gd name="T9" fmla="*/ 340 h 418"/>
              <a:gd name="T10" fmla="*/ 418 w 418"/>
              <a:gd name="T11" fmla="*/ 209 h 418"/>
              <a:gd name="T12" fmla="*/ 58 w 418"/>
              <a:gd name="T13" fmla="*/ 284 h 418"/>
              <a:gd name="T14" fmla="*/ 58 w 418"/>
              <a:gd name="T15" fmla="*/ 134 h 418"/>
              <a:gd name="T16" fmla="*/ 83 w 418"/>
              <a:gd name="T17" fmla="*/ 209 h 418"/>
              <a:gd name="T18" fmla="*/ 58 w 418"/>
              <a:gd name="T19" fmla="*/ 284 h 418"/>
              <a:gd name="T20" fmla="*/ 98 w 418"/>
              <a:gd name="T21" fmla="*/ 309 h 418"/>
              <a:gd name="T22" fmla="*/ 80 w 418"/>
              <a:gd name="T23" fmla="*/ 318 h 418"/>
              <a:gd name="T24" fmla="*/ 80 w 418"/>
              <a:gd name="T25" fmla="*/ 101 h 418"/>
              <a:gd name="T26" fmla="*/ 98 w 418"/>
              <a:gd name="T27" fmla="*/ 109 h 418"/>
              <a:gd name="T28" fmla="*/ 137 w 418"/>
              <a:gd name="T29" fmla="*/ 296 h 418"/>
              <a:gd name="T30" fmla="*/ 189 w 418"/>
              <a:gd name="T31" fmla="*/ 372 h 418"/>
              <a:gd name="T32" fmla="*/ 127 w 418"/>
              <a:gd name="T33" fmla="*/ 257 h 418"/>
              <a:gd name="T34" fmla="*/ 127 w 418"/>
              <a:gd name="T35" fmla="*/ 162 h 418"/>
              <a:gd name="T36" fmla="*/ 189 w 418"/>
              <a:gd name="T37" fmla="*/ 247 h 418"/>
              <a:gd name="T38" fmla="*/ 137 w 418"/>
              <a:gd name="T39" fmla="*/ 122 h 418"/>
              <a:gd name="T40" fmla="*/ 189 w 418"/>
              <a:gd name="T41" fmla="*/ 130 h 418"/>
              <a:gd name="T42" fmla="*/ 320 w 418"/>
              <a:gd name="T43" fmla="*/ 109 h 418"/>
              <a:gd name="T44" fmla="*/ 338 w 418"/>
              <a:gd name="T45" fmla="*/ 101 h 418"/>
              <a:gd name="T46" fmla="*/ 281 w 418"/>
              <a:gd name="T47" fmla="*/ 122 h 418"/>
              <a:gd name="T48" fmla="*/ 229 w 418"/>
              <a:gd name="T49" fmla="*/ 46 h 418"/>
              <a:gd name="T50" fmla="*/ 229 w 418"/>
              <a:gd name="T51" fmla="*/ 288 h 418"/>
              <a:gd name="T52" fmla="*/ 229 w 418"/>
              <a:gd name="T53" fmla="*/ 372 h 418"/>
              <a:gd name="T54" fmla="*/ 229 w 418"/>
              <a:gd name="T55" fmla="*/ 247 h 418"/>
              <a:gd name="T56" fmla="*/ 290 w 418"/>
              <a:gd name="T57" fmla="*/ 162 h 418"/>
              <a:gd name="T58" fmla="*/ 290 w 418"/>
              <a:gd name="T59" fmla="*/ 257 h 418"/>
              <a:gd name="T60" fmla="*/ 320 w 418"/>
              <a:gd name="T61" fmla="*/ 309 h 418"/>
              <a:gd name="T62" fmla="*/ 303 w 418"/>
              <a:gd name="T63" fmla="*/ 349 h 418"/>
              <a:gd name="T64" fmla="*/ 330 w 418"/>
              <a:gd name="T65" fmla="*/ 270 h 418"/>
              <a:gd name="T66" fmla="*/ 330 w 418"/>
              <a:gd name="T67" fmla="*/ 149 h 418"/>
              <a:gd name="T68" fmla="*/ 378 w 418"/>
              <a:gd name="T69" fmla="*/ 209 h 4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418" h="418">
                <a:moveTo>
                  <a:pt x="394" y="112"/>
                </a:moveTo>
                <a:cubicBezTo>
                  <a:pt x="388" y="100"/>
                  <a:pt x="381" y="89"/>
                  <a:pt x="372" y="78"/>
                </a:cubicBezTo>
                <a:cubicBezTo>
                  <a:pt x="334" y="31"/>
                  <a:pt x="275" y="0"/>
                  <a:pt x="209" y="0"/>
                </a:cubicBezTo>
                <a:cubicBezTo>
                  <a:pt x="143" y="0"/>
                  <a:pt x="84" y="31"/>
                  <a:pt x="46" y="78"/>
                </a:cubicBezTo>
                <a:cubicBezTo>
                  <a:pt x="37" y="89"/>
                  <a:pt x="30" y="100"/>
                  <a:pt x="24" y="112"/>
                </a:cubicBezTo>
                <a:cubicBezTo>
                  <a:pt x="8" y="141"/>
                  <a:pt x="0" y="174"/>
                  <a:pt x="0" y="209"/>
                </a:cubicBezTo>
                <a:cubicBezTo>
                  <a:pt x="0" y="244"/>
                  <a:pt x="8" y="277"/>
                  <a:pt x="24" y="306"/>
                </a:cubicBezTo>
                <a:cubicBezTo>
                  <a:pt x="30" y="318"/>
                  <a:pt x="37" y="329"/>
                  <a:pt x="46" y="340"/>
                </a:cubicBezTo>
                <a:cubicBezTo>
                  <a:pt x="84" y="388"/>
                  <a:pt x="143" y="418"/>
                  <a:pt x="209" y="418"/>
                </a:cubicBezTo>
                <a:cubicBezTo>
                  <a:pt x="275" y="418"/>
                  <a:pt x="334" y="388"/>
                  <a:pt x="372" y="340"/>
                </a:cubicBezTo>
                <a:cubicBezTo>
                  <a:pt x="381" y="329"/>
                  <a:pt x="388" y="318"/>
                  <a:pt x="394" y="306"/>
                </a:cubicBezTo>
                <a:cubicBezTo>
                  <a:pt x="410" y="277"/>
                  <a:pt x="418" y="244"/>
                  <a:pt x="418" y="209"/>
                </a:cubicBezTo>
                <a:cubicBezTo>
                  <a:pt x="418" y="174"/>
                  <a:pt x="410" y="141"/>
                  <a:pt x="394" y="112"/>
                </a:cubicBezTo>
                <a:close/>
                <a:moveTo>
                  <a:pt x="58" y="284"/>
                </a:moveTo>
                <a:cubicBezTo>
                  <a:pt x="47" y="261"/>
                  <a:pt x="40" y="236"/>
                  <a:pt x="40" y="209"/>
                </a:cubicBezTo>
                <a:cubicBezTo>
                  <a:pt x="40" y="182"/>
                  <a:pt x="47" y="157"/>
                  <a:pt x="58" y="134"/>
                </a:cubicBezTo>
                <a:cubicBezTo>
                  <a:pt x="68" y="140"/>
                  <a:pt x="78" y="144"/>
                  <a:pt x="88" y="149"/>
                </a:cubicBezTo>
                <a:cubicBezTo>
                  <a:pt x="85" y="168"/>
                  <a:pt x="83" y="188"/>
                  <a:pt x="83" y="209"/>
                </a:cubicBezTo>
                <a:cubicBezTo>
                  <a:pt x="83" y="230"/>
                  <a:pt x="85" y="251"/>
                  <a:pt x="88" y="270"/>
                </a:cubicBezTo>
                <a:cubicBezTo>
                  <a:pt x="78" y="274"/>
                  <a:pt x="68" y="279"/>
                  <a:pt x="58" y="284"/>
                </a:cubicBezTo>
                <a:close/>
                <a:moveTo>
                  <a:pt x="80" y="318"/>
                </a:moveTo>
                <a:cubicBezTo>
                  <a:pt x="86" y="315"/>
                  <a:pt x="92" y="312"/>
                  <a:pt x="98" y="309"/>
                </a:cubicBezTo>
                <a:cubicBezTo>
                  <a:pt x="103" y="324"/>
                  <a:pt x="108" y="337"/>
                  <a:pt x="115" y="349"/>
                </a:cubicBezTo>
                <a:cubicBezTo>
                  <a:pt x="102" y="340"/>
                  <a:pt x="90" y="330"/>
                  <a:pt x="80" y="318"/>
                </a:cubicBezTo>
                <a:close/>
                <a:moveTo>
                  <a:pt x="98" y="109"/>
                </a:moveTo>
                <a:cubicBezTo>
                  <a:pt x="92" y="106"/>
                  <a:pt x="86" y="104"/>
                  <a:pt x="80" y="101"/>
                </a:cubicBezTo>
                <a:cubicBezTo>
                  <a:pt x="90" y="88"/>
                  <a:pt x="102" y="78"/>
                  <a:pt x="115" y="69"/>
                </a:cubicBezTo>
                <a:cubicBezTo>
                  <a:pt x="108" y="81"/>
                  <a:pt x="103" y="95"/>
                  <a:pt x="98" y="109"/>
                </a:cubicBezTo>
                <a:close/>
                <a:moveTo>
                  <a:pt x="189" y="372"/>
                </a:moveTo>
                <a:cubicBezTo>
                  <a:pt x="168" y="361"/>
                  <a:pt x="149" y="334"/>
                  <a:pt x="137" y="296"/>
                </a:cubicBezTo>
                <a:cubicBezTo>
                  <a:pt x="153" y="292"/>
                  <a:pt x="171" y="289"/>
                  <a:pt x="189" y="288"/>
                </a:cubicBezTo>
                <a:lnTo>
                  <a:pt x="189" y="372"/>
                </a:lnTo>
                <a:close/>
                <a:moveTo>
                  <a:pt x="189" y="247"/>
                </a:moveTo>
                <a:cubicBezTo>
                  <a:pt x="167" y="249"/>
                  <a:pt x="147" y="252"/>
                  <a:pt x="127" y="257"/>
                </a:cubicBezTo>
                <a:cubicBezTo>
                  <a:pt x="125" y="242"/>
                  <a:pt x="124" y="226"/>
                  <a:pt x="124" y="209"/>
                </a:cubicBezTo>
                <a:cubicBezTo>
                  <a:pt x="124" y="192"/>
                  <a:pt x="125" y="176"/>
                  <a:pt x="127" y="162"/>
                </a:cubicBezTo>
                <a:cubicBezTo>
                  <a:pt x="147" y="167"/>
                  <a:pt x="167" y="170"/>
                  <a:pt x="189" y="171"/>
                </a:cubicBezTo>
                <a:lnTo>
                  <a:pt x="189" y="247"/>
                </a:lnTo>
                <a:close/>
                <a:moveTo>
                  <a:pt x="189" y="130"/>
                </a:moveTo>
                <a:cubicBezTo>
                  <a:pt x="171" y="129"/>
                  <a:pt x="153" y="126"/>
                  <a:pt x="137" y="122"/>
                </a:cubicBezTo>
                <a:cubicBezTo>
                  <a:pt x="149" y="84"/>
                  <a:pt x="168" y="57"/>
                  <a:pt x="189" y="46"/>
                </a:cubicBezTo>
                <a:lnTo>
                  <a:pt x="189" y="130"/>
                </a:lnTo>
                <a:close/>
                <a:moveTo>
                  <a:pt x="338" y="101"/>
                </a:moveTo>
                <a:cubicBezTo>
                  <a:pt x="332" y="104"/>
                  <a:pt x="326" y="106"/>
                  <a:pt x="320" y="109"/>
                </a:cubicBezTo>
                <a:cubicBezTo>
                  <a:pt x="315" y="95"/>
                  <a:pt x="309" y="81"/>
                  <a:pt x="303" y="69"/>
                </a:cubicBezTo>
                <a:cubicBezTo>
                  <a:pt x="316" y="78"/>
                  <a:pt x="328" y="88"/>
                  <a:pt x="338" y="101"/>
                </a:cubicBezTo>
                <a:close/>
                <a:moveTo>
                  <a:pt x="229" y="46"/>
                </a:moveTo>
                <a:cubicBezTo>
                  <a:pt x="250" y="57"/>
                  <a:pt x="269" y="84"/>
                  <a:pt x="281" y="122"/>
                </a:cubicBezTo>
                <a:cubicBezTo>
                  <a:pt x="265" y="126"/>
                  <a:pt x="247" y="129"/>
                  <a:pt x="229" y="130"/>
                </a:cubicBezTo>
                <a:lnTo>
                  <a:pt x="229" y="46"/>
                </a:lnTo>
                <a:close/>
                <a:moveTo>
                  <a:pt x="229" y="372"/>
                </a:moveTo>
                <a:cubicBezTo>
                  <a:pt x="229" y="288"/>
                  <a:pt x="229" y="288"/>
                  <a:pt x="229" y="288"/>
                </a:cubicBezTo>
                <a:cubicBezTo>
                  <a:pt x="247" y="289"/>
                  <a:pt x="265" y="292"/>
                  <a:pt x="281" y="296"/>
                </a:cubicBezTo>
                <a:cubicBezTo>
                  <a:pt x="269" y="334"/>
                  <a:pt x="250" y="361"/>
                  <a:pt x="229" y="372"/>
                </a:cubicBezTo>
                <a:close/>
                <a:moveTo>
                  <a:pt x="290" y="257"/>
                </a:moveTo>
                <a:cubicBezTo>
                  <a:pt x="271" y="252"/>
                  <a:pt x="250" y="249"/>
                  <a:pt x="229" y="247"/>
                </a:cubicBezTo>
                <a:cubicBezTo>
                  <a:pt x="229" y="171"/>
                  <a:pt x="229" y="171"/>
                  <a:pt x="229" y="171"/>
                </a:cubicBezTo>
                <a:cubicBezTo>
                  <a:pt x="250" y="170"/>
                  <a:pt x="271" y="167"/>
                  <a:pt x="290" y="162"/>
                </a:cubicBezTo>
                <a:cubicBezTo>
                  <a:pt x="293" y="176"/>
                  <a:pt x="294" y="192"/>
                  <a:pt x="294" y="209"/>
                </a:cubicBezTo>
                <a:cubicBezTo>
                  <a:pt x="294" y="226"/>
                  <a:pt x="293" y="242"/>
                  <a:pt x="290" y="257"/>
                </a:cubicBezTo>
                <a:close/>
                <a:moveTo>
                  <a:pt x="303" y="349"/>
                </a:moveTo>
                <a:cubicBezTo>
                  <a:pt x="309" y="337"/>
                  <a:pt x="315" y="324"/>
                  <a:pt x="320" y="309"/>
                </a:cubicBezTo>
                <a:cubicBezTo>
                  <a:pt x="326" y="312"/>
                  <a:pt x="332" y="315"/>
                  <a:pt x="338" y="318"/>
                </a:cubicBezTo>
                <a:cubicBezTo>
                  <a:pt x="328" y="330"/>
                  <a:pt x="316" y="340"/>
                  <a:pt x="303" y="349"/>
                </a:cubicBezTo>
                <a:close/>
                <a:moveTo>
                  <a:pt x="360" y="284"/>
                </a:moveTo>
                <a:cubicBezTo>
                  <a:pt x="350" y="279"/>
                  <a:pt x="340" y="274"/>
                  <a:pt x="330" y="270"/>
                </a:cubicBezTo>
                <a:cubicBezTo>
                  <a:pt x="333" y="251"/>
                  <a:pt x="335" y="230"/>
                  <a:pt x="335" y="209"/>
                </a:cubicBezTo>
                <a:cubicBezTo>
                  <a:pt x="335" y="188"/>
                  <a:pt x="333" y="168"/>
                  <a:pt x="330" y="149"/>
                </a:cubicBezTo>
                <a:cubicBezTo>
                  <a:pt x="340" y="144"/>
                  <a:pt x="350" y="140"/>
                  <a:pt x="360" y="134"/>
                </a:cubicBezTo>
                <a:cubicBezTo>
                  <a:pt x="371" y="157"/>
                  <a:pt x="378" y="182"/>
                  <a:pt x="378" y="209"/>
                </a:cubicBezTo>
                <a:cubicBezTo>
                  <a:pt x="378" y="236"/>
                  <a:pt x="371" y="261"/>
                  <a:pt x="360" y="284"/>
                </a:cubicBezTo>
                <a:close/>
              </a:path>
            </a:pathLst>
          </a:custGeom>
          <a:solidFill>
            <a:srgbClr val="01010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pic>
        <p:nvPicPr>
          <p:cNvPr id="139" name="Picture 17" descr="A picture containing drawing&#10;&#10;Description generated with very high confidence">
            <a:extLst>
              <a:ext uri="{FF2B5EF4-FFF2-40B4-BE49-F238E27FC236}">
                <a16:creationId xmlns:a16="http://schemas.microsoft.com/office/drawing/2014/main" id="{24A6C6C8-C706-4881-BA9F-D7A0DCB74F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3733" y="5698349"/>
            <a:ext cx="840414" cy="666750"/>
          </a:xfrm>
          <a:prstGeom prst="rect">
            <a:avLst/>
          </a:prstGeom>
        </p:spPr>
      </p:pic>
      <p:pic>
        <p:nvPicPr>
          <p:cNvPr id="140" name="Picture 16" descr="A picture containing drawing&#10;&#10;Description generated with very high confidence">
            <a:extLst>
              <a:ext uri="{FF2B5EF4-FFF2-40B4-BE49-F238E27FC236}">
                <a16:creationId xmlns:a16="http://schemas.microsoft.com/office/drawing/2014/main" id="{8C177715-A630-420A-9833-F59FF485A6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6194" y="4943895"/>
            <a:ext cx="675493" cy="450807"/>
          </a:xfrm>
          <a:prstGeom prst="rect">
            <a:avLst/>
          </a:prstGeom>
        </p:spPr>
      </p:pic>
      <p:sp>
        <p:nvSpPr>
          <p:cNvPr id="141" name="Rectangle 197">
            <a:extLst>
              <a:ext uri="{FF2B5EF4-FFF2-40B4-BE49-F238E27FC236}">
                <a16:creationId xmlns:a16="http://schemas.microsoft.com/office/drawing/2014/main" id="{57FB52B9-0BBF-41D6-8FC0-1BCD36794802}"/>
              </a:ext>
            </a:extLst>
          </p:cNvPr>
          <p:cNvSpPr>
            <a:spLocks/>
          </p:cNvSpPr>
          <p:nvPr/>
        </p:nvSpPr>
        <p:spPr bwMode="auto">
          <a:xfrm>
            <a:off x="1680100" y="5149331"/>
            <a:ext cx="2163714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>
              <a:defRPr kumimoji="1" sz="58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>
              <a:defRPr kumimoji="1" sz="58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>
              <a:defRPr kumimoji="1" sz="58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>
              <a:defRPr kumimoji="1" sz="58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>
              <a:defRPr kumimoji="1" sz="58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58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58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58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58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defTabSz="1097092">
              <a:defRPr/>
            </a:pPr>
            <a:r>
              <a:rPr kumimoji="0" lang="en-US" altLang="pl-PL" sz="2000" b="1">
                <a:solidFill>
                  <a:schemeClr val="tx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  <a:sym typeface="Open Sans Bold" charset="0"/>
              </a:rPr>
              <a:t>60 Years</a:t>
            </a:r>
          </a:p>
          <a:p>
            <a:pPr defTabSz="1097092">
              <a:defRPr/>
            </a:pPr>
            <a:r>
              <a:rPr kumimoji="0" lang="en-US" altLang="pl-PL" sz="1200">
                <a:solidFill>
                  <a:schemeClr val="tx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  <a:sym typeface="Open Sans Bold" charset="0"/>
              </a:rPr>
              <a:t>Innovation Experience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A8046A73-2EDC-43EF-9B5B-2FEF62FB4EAE}"/>
              </a:ext>
            </a:extLst>
          </p:cNvPr>
          <p:cNvSpPr>
            <a:spLocks/>
          </p:cNvSpPr>
          <p:nvPr/>
        </p:nvSpPr>
        <p:spPr bwMode="auto">
          <a:xfrm>
            <a:off x="1680100" y="3634115"/>
            <a:ext cx="284235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>
              <a:defRPr kumimoji="1" sz="58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>
              <a:defRPr kumimoji="1" sz="58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>
              <a:defRPr kumimoji="1" sz="58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>
              <a:defRPr kumimoji="1" sz="58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>
              <a:defRPr kumimoji="1" sz="58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58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58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58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58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defTabSz="1097092">
              <a:defRPr/>
            </a:pPr>
            <a:r>
              <a:rPr kumimoji="0" lang="en-US" altLang="pl-PL" sz="2000" b="1">
                <a:solidFill>
                  <a:schemeClr val="tx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  <a:sym typeface="Open Sans Bold" charset="0"/>
              </a:rPr>
              <a:t>~6,000</a:t>
            </a:r>
            <a:br>
              <a:rPr kumimoji="0" lang="en-US" altLang="pl-PL" sz="1200">
                <a:solidFill>
                  <a:schemeClr val="tx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  <a:sym typeface="Open Sans" pitchFamily="34" charset="0"/>
              </a:rPr>
            </a:br>
            <a:r>
              <a:rPr kumimoji="0" lang="en-US" altLang="pl-PL" sz="1200">
                <a:solidFill>
                  <a:schemeClr val="tx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  <a:sym typeface="Open Sans" pitchFamily="34" charset="0"/>
              </a:rPr>
              <a:t>Clients </a:t>
            </a:r>
          </a:p>
          <a:p>
            <a:pPr defTabSz="1097092">
              <a:defRPr/>
            </a:pPr>
            <a:r>
              <a:rPr kumimoji="0" lang="en-US" altLang="pl-PL" sz="1200">
                <a:solidFill>
                  <a:schemeClr val="tx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  <a:sym typeface="Open Sans" pitchFamily="34" charset="0"/>
              </a:rPr>
              <a:t>200+ Fortune 500 companies</a:t>
            </a:r>
          </a:p>
          <a:p>
            <a:pPr defTabSz="1097092">
              <a:defRPr/>
            </a:pPr>
            <a:endParaRPr kumimoji="0" lang="en-US" altLang="pl-PL" sz="1200">
              <a:solidFill>
                <a:schemeClr val="tx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  <a:sym typeface="Open Sans" pitchFamily="34" charset="0"/>
            </a:endParaRPr>
          </a:p>
        </p:txBody>
      </p:sp>
      <p:sp>
        <p:nvSpPr>
          <p:cNvPr id="143" name="TextBox 275">
            <a:extLst>
              <a:ext uri="{FF2B5EF4-FFF2-40B4-BE49-F238E27FC236}">
                <a16:creationId xmlns:a16="http://schemas.microsoft.com/office/drawing/2014/main" id="{8437750F-9B2A-49C3-812A-29900EE946AD}"/>
              </a:ext>
            </a:extLst>
          </p:cNvPr>
          <p:cNvSpPr txBox="1"/>
          <p:nvPr/>
        </p:nvSpPr>
        <p:spPr>
          <a:xfrm>
            <a:off x="1680100" y="2688269"/>
            <a:ext cx="2862169" cy="553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>
              <a:defRPr kumimoji="0" sz="1600" b="1">
                <a:solidFill>
                  <a:schemeClr val="tx2"/>
                </a:solidFill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defRPr kumimoji="1" sz="5800">
                <a:solidFill>
                  <a:srgbClr val="000000"/>
                </a:solidFill>
                <a:latin typeface="Gill Sans" charset="0"/>
                <a:ea typeface="ヒラギノ角ゴ ProN W3" charset="-128"/>
              </a:defRPr>
            </a:lvl2pPr>
            <a:lvl3pPr marL="1143000" indent="-228600">
              <a:defRPr kumimoji="1" sz="5800">
                <a:solidFill>
                  <a:srgbClr val="000000"/>
                </a:solidFill>
                <a:latin typeface="Gill Sans" charset="0"/>
                <a:ea typeface="ヒラギノ角ゴ ProN W3" charset="-128"/>
              </a:defRPr>
            </a:lvl3pPr>
            <a:lvl4pPr marL="1600200" indent="-228600">
              <a:defRPr kumimoji="1" sz="5800">
                <a:solidFill>
                  <a:srgbClr val="000000"/>
                </a:solidFill>
                <a:latin typeface="Gill Sans" charset="0"/>
                <a:ea typeface="ヒラギノ角ゴ ProN W3" charset="-128"/>
              </a:defRPr>
            </a:lvl4pPr>
            <a:lvl5pPr marL="2057400" indent="-228600">
              <a:defRPr kumimoji="1" sz="5800">
                <a:solidFill>
                  <a:srgbClr val="000000"/>
                </a:solidFill>
                <a:latin typeface="Gill Sans" charset="0"/>
                <a:ea typeface="ヒラギノ角ゴ ProN W3" charset="-128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5800">
                <a:solidFill>
                  <a:srgbClr val="000000"/>
                </a:solidFill>
                <a:latin typeface="Gill Sans" charset="0"/>
                <a:ea typeface="ヒラギノ角ゴ ProN W3" charset="-128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5800">
                <a:solidFill>
                  <a:srgbClr val="000000"/>
                </a:solidFill>
                <a:latin typeface="Gill Sans" charset="0"/>
                <a:ea typeface="ヒラギノ角ゴ ProN W3" charset="-128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5800">
                <a:solidFill>
                  <a:srgbClr val="000000"/>
                </a:solidFill>
                <a:latin typeface="Gill Sans" charset="0"/>
                <a:ea typeface="ヒラギノ角ゴ ProN W3" charset="-128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5800">
                <a:solidFill>
                  <a:srgbClr val="000000"/>
                </a:solidFill>
                <a:latin typeface="Gill Sans" charset="0"/>
                <a:ea typeface="ヒラギノ角ゴ ProN W3" charset="-128"/>
              </a:defRPr>
            </a:lvl9pPr>
          </a:lstStyle>
          <a:p>
            <a:pPr defTabSz="1097092">
              <a:defRPr/>
            </a:pPr>
            <a:r>
              <a:rPr lang="en-US" sz="2000">
                <a:solidFill>
                  <a:schemeClr val="tx1"/>
                </a:solidFill>
                <a:ea typeface="Open Sans" panose="020B0606030504020204" pitchFamily="34" charset="0"/>
                <a:cs typeface="Arial" panose="020B0604020202020204" pitchFamily="34" charset="0"/>
              </a:rPr>
              <a:t>130.000+</a:t>
            </a:r>
            <a:br>
              <a:rPr lang="en-US" sz="1200" b="0">
                <a:solidFill>
                  <a:schemeClr val="tx1"/>
                </a:solidFill>
                <a:ea typeface="Open Sans" panose="020B0606030504020204" pitchFamily="34" charset="0"/>
                <a:cs typeface="Arial" panose="020B0604020202020204" pitchFamily="34" charset="0"/>
              </a:rPr>
            </a:br>
            <a:r>
              <a:rPr lang="en-US" sz="1200" b="0" spc="-40">
                <a:solidFill>
                  <a:schemeClr val="tx1"/>
                </a:solidFill>
                <a:ea typeface="ヒラギノ角ゴ ProN W3" charset="0"/>
                <a:cs typeface="ヒラギノ角ゴ ProN W3" charset="0"/>
              </a:rPr>
              <a:t>Talent pool across Applications, Cloud/ITO and Security </a:t>
            </a:r>
          </a:p>
          <a:p>
            <a:pPr defTabSz="1097092">
              <a:defRPr/>
            </a:pPr>
            <a:endParaRPr lang="en-US" sz="1200" b="0">
              <a:solidFill>
                <a:schemeClr val="tx1"/>
              </a:solidFill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144" name="Rectangle 5">
            <a:extLst>
              <a:ext uri="{FF2B5EF4-FFF2-40B4-BE49-F238E27FC236}">
                <a16:creationId xmlns:a16="http://schemas.microsoft.com/office/drawing/2014/main" id="{278E732C-B76F-47E0-84F8-B927DC4C8945}"/>
              </a:ext>
            </a:extLst>
          </p:cNvPr>
          <p:cNvSpPr>
            <a:spLocks/>
          </p:cNvSpPr>
          <p:nvPr/>
        </p:nvSpPr>
        <p:spPr bwMode="auto">
          <a:xfrm>
            <a:off x="1680100" y="5906939"/>
            <a:ext cx="2397404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>
              <a:defRPr kumimoji="1" sz="58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>
              <a:defRPr kumimoji="1" sz="58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>
              <a:defRPr kumimoji="1" sz="58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>
              <a:defRPr kumimoji="1" sz="58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>
              <a:defRPr kumimoji="1" sz="58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58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58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58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58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defTabSz="1462826">
              <a:defRPr/>
            </a:pPr>
            <a:r>
              <a:rPr kumimoji="0" lang="en-US" altLang="pl-PL"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Open Sans Bold" charset="0"/>
              </a:rPr>
              <a:t>B16 $ / Year</a:t>
            </a:r>
          </a:p>
          <a:p>
            <a:pPr defTabSz="1462826">
              <a:defRPr/>
            </a:pPr>
            <a:r>
              <a:rPr kumimoji="0" lang="en-US" altLang="pl-PL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Open Sans Bold" charset="0"/>
              </a:rPr>
              <a:t>Revenue</a:t>
            </a:r>
          </a:p>
        </p:txBody>
      </p:sp>
      <p:sp>
        <p:nvSpPr>
          <p:cNvPr id="150" name="Freeform 69">
            <a:extLst>
              <a:ext uri="{FF2B5EF4-FFF2-40B4-BE49-F238E27FC236}">
                <a16:creationId xmlns:a16="http://schemas.microsoft.com/office/drawing/2014/main" id="{24F668B2-1379-418B-9A1E-712D40298C66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922797" y="5835022"/>
            <a:ext cx="530888" cy="531822"/>
          </a:xfrm>
          <a:custGeom>
            <a:avLst/>
            <a:gdLst>
              <a:gd name="T0" fmla="*/ 102 w 569"/>
              <a:gd name="T1" fmla="*/ 467 h 570"/>
              <a:gd name="T2" fmla="*/ 0 w 569"/>
              <a:gd name="T3" fmla="*/ 467 h 570"/>
              <a:gd name="T4" fmla="*/ 0 w 569"/>
              <a:gd name="T5" fmla="*/ 362 h 570"/>
              <a:gd name="T6" fmla="*/ 102 w 569"/>
              <a:gd name="T7" fmla="*/ 362 h 570"/>
              <a:gd name="T8" fmla="*/ 102 w 569"/>
              <a:gd name="T9" fmla="*/ 467 h 570"/>
              <a:gd name="T10" fmla="*/ 258 w 569"/>
              <a:gd name="T11" fmla="*/ 312 h 570"/>
              <a:gd name="T12" fmla="*/ 155 w 569"/>
              <a:gd name="T13" fmla="*/ 312 h 570"/>
              <a:gd name="T14" fmla="*/ 155 w 569"/>
              <a:gd name="T15" fmla="*/ 467 h 570"/>
              <a:gd name="T16" fmla="*/ 258 w 569"/>
              <a:gd name="T17" fmla="*/ 467 h 570"/>
              <a:gd name="T18" fmla="*/ 258 w 569"/>
              <a:gd name="T19" fmla="*/ 312 h 570"/>
              <a:gd name="T20" fmla="*/ 413 w 569"/>
              <a:gd name="T21" fmla="*/ 156 h 570"/>
              <a:gd name="T22" fmla="*/ 311 w 569"/>
              <a:gd name="T23" fmla="*/ 156 h 570"/>
              <a:gd name="T24" fmla="*/ 311 w 569"/>
              <a:gd name="T25" fmla="*/ 467 h 570"/>
              <a:gd name="T26" fmla="*/ 413 w 569"/>
              <a:gd name="T27" fmla="*/ 467 h 570"/>
              <a:gd name="T28" fmla="*/ 413 w 569"/>
              <a:gd name="T29" fmla="*/ 156 h 570"/>
              <a:gd name="T30" fmla="*/ 569 w 569"/>
              <a:gd name="T31" fmla="*/ 0 h 570"/>
              <a:gd name="T32" fmla="*/ 464 w 569"/>
              <a:gd name="T33" fmla="*/ 0 h 570"/>
              <a:gd name="T34" fmla="*/ 464 w 569"/>
              <a:gd name="T35" fmla="*/ 467 h 570"/>
              <a:gd name="T36" fmla="*/ 569 w 569"/>
              <a:gd name="T37" fmla="*/ 467 h 570"/>
              <a:gd name="T38" fmla="*/ 569 w 569"/>
              <a:gd name="T39" fmla="*/ 0 h 570"/>
              <a:gd name="T40" fmla="*/ 569 w 569"/>
              <a:gd name="T41" fmla="*/ 517 h 570"/>
              <a:gd name="T42" fmla="*/ 0 w 569"/>
              <a:gd name="T43" fmla="*/ 517 h 570"/>
              <a:gd name="T44" fmla="*/ 0 w 569"/>
              <a:gd name="T45" fmla="*/ 570 h 570"/>
              <a:gd name="T46" fmla="*/ 569 w 569"/>
              <a:gd name="T47" fmla="*/ 570 h 570"/>
              <a:gd name="T48" fmla="*/ 569 w 569"/>
              <a:gd name="T49" fmla="*/ 517 h 5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569" h="570">
                <a:moveTo>
                  <a:pt x="102" y="467"/>
                </a:moveTo>
                <a:lnTo>
                  <a:pt x="0" y="467"/>
                </a:lnTo>
                <a:lnTo>
                  <a:pt x="0" y="362"/>
                </a:lnTo>
                <a:lnTo>
                  <a:pt x="102" y="362"/>
                </a:lnTo>
                <a:lnTo>
                  <a:pt x="102" y="467"/>
                </a:lnTo>
                <a:close/>
                <a:moveTo>
                  <a:pt x="258" y="312"/>
                </a:moveTo>
                <a:lnTo>
                  <a:pt x="155" y="312"/>
                </a:lnTo>
                <a:lnTo>
                  <a:pt x="155" y="467"/>
                </a:lnTo>
                <a:lnTo>
                  <a:pt x="258" y="467"/>
                </a:lnTo>
                <a:lnTo>
                  <a:pt x="258" y="312"/>
                </a:lnTo>
                <a:close/>
                <a:moveTo>
                  <a:pt x="413" y="156"/>
                </a:moveTo>
                <a:lnTo>
                  <a:pt x="311" y="156"/>
                </a:lnTo>
                <a:lnTo>
                  <a:pt x="311" y="467"/>
                </a:lnTo>
                <a:lnTo>
                  <a:pt x="413" y="467"/>
                </a:lnTo>
                <a:lnTo>
                  <a:pt x="413" y="156"/>
                </a:lnTo>
                <a:close/>
                <a:moveTo>
                  <a:pt x="569" y="0"/>
                </a:moveTo>
                <a:lnTo>
                  <a:pt x="464" y="0"/>
                </a:lnTo>
                <a:lnTo>
                  <a:pt x="464" y="467"/>
                </a:lnTo>
                <a:lnTo>
                  <a:pt x="569" y="467"/>
                </a:lnTo>
                <a:lnTo>
                  <a:pt x="569" y="0"/>
                </a:lnTo>
                <a:close/>
                <a:moveTo>
                  <a:pt x="569" y="517"/>
                </a:moveTo>
                <a:lnTo>
                  <a:pt x="0" y="517"/>
                </a:lnTo>
                <a:lnTo>
                  <a:pt x="0" y="570"/>
                </a:lnTo>
                <a:lnTo>
                  <a:pt x="569" y="570"/>
                </a:lnTo>
                <a:lnTo>
                  <a:pt x="569" y="517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46298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i="0" u="none" strike="noStrike" kern="0" cap="none" spc="0" normalizeH="0" baseline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157" name="Graphic 156">
            <a:extLst>
              <a:ext uri="{FF2B5EF4-FFF2-40B4-BE49-F238E27FC236}">
                <a16:creationId xmlns:a16="http://schemas.microsoft.com/office/drawing/2014/main" id="{E87E270D-8C60-4C53-BF73-4817A3160004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86617" y="3455646"/>
            <a:ext cx="534646" cy="402841"/>
          </a:xfrm>
          <a:prstGeom prst="rect">
            <a:avLst/>
          </a:prstGeom>
        </p:spPr>
      </p:pic>
      <p:sp>
        <p:nvSpPr>
          <p:cNvPr id="158" name="Rectangle 197">
            <a:extLst>
              <a:ext uri="{FF2B5EF4-FFF2-40B4-BE49-F238E27FC236}">
                <a16:creationId xmlns:a16="http://schemas.microsoft.com/office/drawing/2014/main" id="{C8251599-9AE9-4475-B1A2-14D9755437AA}"/>
              </a:ext>
            </a:extLst>
          </p:cNvPr>
          <p:cNvSpPr>
            <a:spLocks/>
          </p:cNvSpPr>
          <p:nvPr/>
        </p:nvSpPr>
        <p:spPr bwMode="auto">
          <a:xfrm>
            <a:off x="1680100" y="6664547"/>
            <a:ext cx="2715931" cy="73866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>
              <a:defRPr kumimoji="1" sz="58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>
              <a:defRPr kumimoji="1" sz="58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>
              <a:defRPr kumimoji="1" sz="58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>
              <a:defRPr kumimoji="1" sz="58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>
              <a:defRPr kumimoji="1" sz="58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58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58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58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58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defTabSz="1097092">
              <a:defRPr/>
            </a:pPr>
            <a:r>
              <a:rPr kumimoji="0" lang="en-US" altLang="pl-PL" sz="2000" b="1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 Bold" charset="0"/>
              </a:rPr>
              <a:t>200+ Tech-Partner</a:t>
            </a:r>
          </a:p>
          <a:p>
            <a:pPr defTabSz="1097092">
              <a:defRPr/>
            </a:pPr>
            <a:r>
              <a:rPr kumimoji="0" lang="en-US" altLang="pl-PL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Open Sans Bold" charset="0"/>
              </a:rPr>
              <a:t>Network of Best-of-Breed-Partners</a:t>
            </a:r>
          </a:p>
        </p:txBody>
      </p:sp>
      <p:sp>
        <p:nvSpPr>
          <p:cNvPr id="160" name="Rectangle 45">
            <a:extLst>
              <a:ext uri="{FF2B5EF4-FFF2-40B4-BE49-F238E27FC236}">
                <a16:creationId xmlns:a16="http://schemas.microsoft.com/office/drawing/2014/main" id="{B284ED19-F01B-4057-A48E-0024D7B9F470}"/>
              </a:ext>
            </a:extLst>
          </p:cNvPr>
          <p:cNvSpPr/>
          <p:nvPr/>
        </p:nvSpPr>
        <p:spPr>
          <a:xfrm>
            <a:off x="10960330" y="2501821"/>
            <a:ext cx="2936566" cy="38215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defTabSz="6164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</a:rPr>
              <a:t>35+ Years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EDI </a:t>
            </a:r>
            <a:r>
              <a:rPr lang="en-US" sz="1200" kern="0">
                <a:cs typeface="Arial" panose="020B0604020202020204" pitchFamily="34" charset="0"/>
              </a:rPr>
              <a:t>C</a:t>
            </a:r>
            <a:r>
              <a:rPr kumimoji="0" lang="en-US" sz="1200" b="0" i="0" u="none" strike="noStrike" kern="0" cap="none" spc="0" normalizeH="0" baseline="0" noProof="0" err="1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ompetency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 </a:t>
            </a:r>
            <a:r>
              <a:rPr lang="en-US" sz="1200" kern="0">
                <a:cs typeface="Arial" panose="020B0604020202020204" pitchFamily="34" charset="0"/>
              </a:rPr>
              <a:t>since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 1986</a:t>
            </a:r>
          </a:p>
        </p:txBody>
      </p:sp>
      <p:sp>
        <p:nvSpPr>
          <p:cNvPr id="161" name="Rectangle 45">
            <a:extLst>
              <a:ext uri="{FF2B5EF4-FFF2-40B4-BE49-F238E27FC236}">
                <a16:creationId xmlns:a16="http://schemas.microsoft.com/office/drawing/2014/main" id="{3A2C5E6A-55E7-4C3E-A18A-8A86B82284B3}"/>
              </a:ext>
            </a:extLst>
          </p:cNvPr>
          <p:cNvSpPr/>
          <p:nvPr/>
        </p:nvSpPr>
        <p:spPr>
          <a:xfrm>
            <a:off x="10960330" y="4060949"/>
            <a:ext cx="2743200" cy="38215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defTabSz="6164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</a:rPr>
              <a:t>500+ Customers</a:t>
            </a:r>
          </a:p>
          <a:p>
            <a:pPr marL="0" marR="0" lvl="0" indent="0" defTabSz="6164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1200" kern="0">
                <a:cs typeface="Arial" panose="020B0604020202020204" pitchFamily="34" charset="0"/>
              </a:rPr>
              <a:t>Customs 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Competency</a:t>
            </a:r>
          </a:p>
        </p:txBody>
      </p:sp>
      <p:sp>
        <p:nvSpPr>
          <p:cNvPr id="162" name="Rectangle 45">
            <a:extLst>
              <a:ext uri="{FF2B5EF4-FFF2-40B4-BE49-F238E27FC236}">
                <a16:creationId xmlns:a16="http://schemas.microsoft.com/office/drawing/2014/main" id="{5DA620BE-0EE5-4547-A8E1-D4B1E4B51DE4}"/>
              </a:ext>
            </a:extLst>
          </p:cNvPr>
          <p:cNvSpPr/>
          <p:nvPr/>
        </p:nvSpPr>
        <p:spPr>
          <a:xfrm>
            <a:off x="10960330" y="3281385"/>
            <a:ext cx="2743200" cy="382156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marL="0" marR="0" lvl="0" indent="0" defTabSz="6164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</a:rPr>
              <a:t>10.000+ Customer</a:t>
            </a:r>
          </a:p>
          <a:p>
            <a:pPr marL="0" marR="0" lvl="0" indent="0" defTabSz="6164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cs typeface="Arial"/>
              </a:rPr>
              <a:t>In more </a:t>
            </a:r>
            <a:r>
              <a:rPr lang="en-US" sz="1200" kern="0">
                <a:cs typeface="Arial"/>
              </a:rPr>
              <a:t>than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cs typeface="Arial"/>
              </a:rPr>
              <a:t> 50 Countries</a:t>
            </a:r>
            <a:endParaRPr lang="en-US" sz="12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cs typeface="Arial"/>
            </a:endParaRPr>
          </a:p>
        </p:txBody>
      </p:sp>
      <p:sp>
        <p:nvSpPr>
          <p:cNvPr id="163" name="Rectangle 45">
            <a:extLst>
              <a:ext uri="{FF2B5EF4-FFF2-40B4-BE49-F238E27FC236}">
                <a16:creationId xmlns:a16="http://schemas.microsoft.com/office/drawing/2014/main" id="{ABE34B2E-3CB4-4769-8846-4F5E5A5FCC2A}"/>
              </a:ext>
            </a:extLst>
          </p:cNvPr>
          <p:cNvSpPr/>
          <p:nvPr/>
        </p:nvSpPr>
        <p:spPr>
          <a:xfrm>
            <a:off x="10960330" y="5663126"/>
            <a:ext cx="2828406" cy="57964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defTabSz="6164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</a:rPr>
              <a:t>Factory</a:t>
            </a:r>
            <a:endParaRPr kumimoji="0" lang="en-US" sz="1200" b="1" i="0" u="none" strike="noStrike" kern="0" cap="none" spc="0" normalizeH="0" baseline="0" noProof="0">
              <a:ln>
                <a:noFill/>
              </a:ln>
              <a:effectLst/>
              <a:uLnTx/>
              <a:uFillTx/>
            </a:endParaRPr>
          </a:p>
          <a:p>
            <a:pPr marL="0" marR="0" lvl="0" indent="0" defTabSz="6164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1200" kern="0">
                <a:cs typeface="Arial" panose="020B0604020202020204" pitchFamily="34" charset="0"/>
              </a:rPr>
              <a:t>As 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a Project / on Demand</a:t>
            </a:r>
          </a:p>
        </p:txBody>
      </p:sp>
      <p:sp>
        <p:nvSpPr>
          <p:cNvPr id="164" name="Rectangle 45">
            <a:extLst>
              <a:ext uri="{FF2B5EF4-FFF2-40B4-BE49-F238E27FC236}">
                <a16:creationId xmlns:a16="http://schemas.microsoft.com/office/drawing/2014/main" id="{5F33B0B4-26ED-4FE1-B604-8D9B54850450}"/>
              </a:ext>
            </a:extLst>
          </p:cNvPr>
          <p:cNvSpPr/>
          <p:nvPr/>
        </p:nvSpPr>
        <p:spPr>
          <a:xfrm>
            <a:off x="10960330" y="6534341"/>
            <a:ext cx="2936566" cy="806324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defTabSz="6164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</a:rPr>
              <a:t>Migration</a:t>
            </a:r>
            <a:endParaRPr kumimoji="0" lang="en-US" sz="1200" b="1" i="0" u="none" strike="noStrike" kern="0" cap="none" spc="0" normalizeH="0" baseline="0" noProof="0">
              <a:ln>
                <a:noFill/>
              </a:ln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All projects: Migrations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Significant Investments into migration tools</a:t>
            </a:r>
          </a:p>
        </p:txBody>
      </p:sp>
      <p:sp>
        <p:nvSpPr>
          <p:cNvPr id="165" name="Rectangle 45">
            <a:extLst>
              <a:ext uri="{FF2B5EF4-FFF2-40B4-BE49-F238E27FC236}">
                <a16:creationId xmlns:a16="http://schemas.microsoft.com/office/drawing/2014/main" id="{14EC6C3E-DA3D-48DA-AE5A-ACE0B9C79C3D}"/>
              </a:ext>
            </a:extLst>
          </p:cNvPr>
          <p:cNvSpPr/>
          <p:nvPr/>
        </p:nvSpPr>
        <p:spPr>
          <a:xfrm>
            <a:off x="10960330" y="4840513"/>
            <a:ext cx="2743200" cy="382156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marL="0" marR="0" lvl="0" indent="0" defTabSz="6164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cs typeface="Arial"/>
              </a:rPr>
              <a:t>15+ </a:t>
            </a:r>
            <a:r>
              <a:rPr lang="en-US" sz="2000" b="1" kern="0">
                <a:cs typeface="Arial"/>
              </a:rPr>
              <a:t>Y</a:t>
            </a: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</a:rPr>
              <a:t>ears</a:t>
            </a:r>
            <a:endParaRPr kumimoji="0" lang="en-US" sz="20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cs typeface="Arial"/>
            </a:endParaRPr>
          </a:p>
          <a:p>
            <a:pPr marL="0" marR="0" lvl="0" indent="0" defTabSz="6164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Successful collaboration with DXC/HP</a:t>
            </a: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cs typeface="Arial"/>
              </a:rPr>
              <a:t> </a:t>
            </a:r>
          </a:p>
        </p:txBody>
      </p:sp>
      <p:pic>
        <p:nvPicPr>
          <p:cNvPr id="166" name="Graphic 165">
            <a:extLst>
              <a:ext uri="{FF2B5EF4-FFF2-40B4-BE49-F238E27FC236}">
                <a16:creationId xmlns:a16="http://schemas.microsoft.com/office/drawing/2014/main" id="{55BE288C-C3DB-4347-A0DB-B1942F620FF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43913" y="3242267"/>
            <a:ext cx="534646" cy="402841"/>
          </a:xfrm>
          <a:prstGeom prst="rect">
            <a:avLst/>
          </a:prstGeom>
        </p:spPr>
      </p:pic>
      <p:pic>
        <p:nvPicPr>
          <p:cNvPr id="167" name="Graphic 166" descr="Police">
            <a:extLst>
              <a:ext uri="{FF2B5EF4-FFF2-40B4-BE49-F238E27FC236}">
                <a16:creationId xmlns:a16="http://schemas.microsoft.com/office/drawing/2014/main" id="{5CF6A18F-1BF6-44F9-AB8D-2D0C16DEF2D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962748" y="3886306"/>
            <a:ext cx="696977" cy="696977"/>
          </a:xfrm>
          <a:prstGeom prst="rect">
            <a:avLst/>
          </a:prstGeom>
        </p:spPr>
      </p:pic>
      <p:pic>
        <p:nvPicPr>
          <p:cNvPr id="168" name="Graphic 167" descr="Programmer">
            <a:extLst>
              <a:ext uri="{FF2B5EF4-FFF2-40B4-BE49-F238E27FC236}">
                <a16:creationId xmlns:a16="http://schemas.microsoft.com/office/drawing/2014/main" id="{4AEE23D0-151A-4E09-808B-5F77A178DA6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297573" y="2439265"/>
            <a:ext cx="712734" cy="712734"/>
          </a:xfrm>
          <a:prstGeom prst="rect">
            <a:avLst/>
          </a:prstGeom>
        </p:spPr>
      </p:pic>
      <p:pic>
        <p:nvPicPr>
          <p:cNvPr id="170" name="Graphic 169" descr="Right pointing backhand index">
            <a:extLst>
              <a:ext uri="{FF2B5EF4-FFF2-40B4-BE49-F238E27FC236}">
                <a16:creationId xmlns:a16="http://schemas.microsoft.com/office/drawing/2014/main" id="{7196B2BD-412C-4458-A404-B2060FDF34E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983118" y="6413919"/>
            <a:ext cx="656236" cy="656236"/>
          </a:xfrm>
          <a:prstGeom prst="rect">
            <a:avLst/>
          </a:prstGeom>
        </p:spPr>
      </p:pic>
      <p:sp>
        <p:nvSpPr>
          <p:cNvPr id="171" name="Rectangle 45">
            <a:extLst>
              <a:ext uri="{FF2B5EF4-FFF2-40B4-BE49-F238E27FC236}">
                <a16:creationId xmlns:a16="http://schemas.microsoft.com/office/drawing/2014/main" id="{F0D84B22-20F4-4742-8A2E-CAE11034B359}"/>
              </a:ext>
            </a:extLst>
          </p:cNvPr>
          <p:cNvSpPr/>
          <p:nvPr/>
        </p:nvSpPr>
        <p:spPr>
          <a:xfrm>
            <a:off x="6235020" y="3314003"/>
            <a:ext cx="3298282" cy="49750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defTabSz="616476">
              <a:spcAft>
                <a:spcPts val="100"/>
              </a:spcAft>
              <a:defRPr/>
            </a:pPr>
            <a:r>
              <a:rPr lang="de-DE" sz="2000" b="1">
                <a:cs typeface="Arial"/>
              </a:rPr>
              <a:t>1,750 / </a:t>
            </a:r>
            <a:r>
              <a:rPr kumimoji="0" lang="de-DE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3B </a:t>
            </a:r>
            <a:r>
              <a:rPr lang="de-DE" sz="1800" b="1" kern="0">
                <a:solidFill>
                  <a:srgbClr val="000000"/>
                </a:solidFill>
              </a:rPr>
              <a:t>T</a:t>
            </a:r>
            <a:r>
              <a:rPr kumimoji="0" lang="de-DE" sz="1800" b="1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ransactions</a:t>
            </a:r>
            <a:r>
              <a:rPr kumimoji="0" lang="de-DE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800" b="1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p.a</a:t>
            </a:r>
            <a:endParaRPr lang="de-DE" sz="1800" b="1">
              <a:cs typeface="Arial" panose="020B0604020202020204" pitchFamily="34" charset="0"/>
            </a:endParaRPr>
          </a:p>
          <a:p>
            <a:pPr defTabSz="616476">
              <a:spcAft>
                <a:spcPts val="100"/>
              </a:spcAft>
              <a:defRPr/>
            </a:pPr>
            <a:r>
              <a:rPr lang="de-DE" sz="1200">
                <a:solidFill>
                  <a:prstClr val="black"/>
                </a:solidFill>
                <a:cs typeface="Arial" panose="020B0604020202020204" pitchFamily="34" charset="0"/>
              </a:rPr>
              <a:t>BES Clients</a:t>
            </a:r>
          </a:p>
        </p:txBody>
      </p:sp>
      <p:sp>
        <p:nvSpPr>
          <p:cNvPr id="172" name="Rectangle 54">
            <a:extLst>
              <a:ext uri="{FF2B5EF4-FFF2-40B4-BE49-F238E27FC236}">
                <a16:creationId xmlns:a16="http://schemas.microsoft.com/office/drawing/2014/main" id="{32D8DABD-D5D8-4081-A450-703A6D45F580}"/>
              </a:ext>
            </a:extLst>
          </p:cNvPr>
          <p:cNvSpPr/>
          <p:nvPr/>
        </p:nvSpPr>
        <p:spPr>
          <a:xfrm>
            <a:off x="6235020" y="6664547"/>
            <a:ext cx="2743200" cy="464266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marL="0" marR="0" lvl="0" indent="0" defTabSz="6164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150+ Countries</a:t>
            </a:r>
          </a:p>
          <a:p>
            <a:pPr marL="0" marR="0" lvl="0" indent="0" defTabSz="6164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panose="020B0604020202020204" pitchFamily="34" charset="0"/>
              </a:rPr>
              <a:t>Global Presence</a:t>
            </a:r>
          </a:p>
        </p:txBody>
      </p:sp>
      <p:sp>
        <p:nvSpPr>
          <p:cNvPr id="173" name="Rectangle 45">
            <a:extLst>
              <a:ext uri="{FF2B5EF4-FFF2-40B4-BE49-F238E27FC236}">
                <a16:creationId xmlns:a16="http://schemas.microsoft.com/office/drawing/2014/main" id="{A1760917-07B3-4241-A5B9-D65DFC41A001}"/>
              </a:ext>
            </a:extLst>
          </p:cNvPr>
          <p:cNvSpPr/>
          <p:nvPr/>
        </p:nvSpPr>
        <p:spPr>
          <a:xfrm>
            <a:off x="6235020" y="4117279"/>
            <a:ext cx="2743200" cy="694966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marL="0" marR="0" lvl="0" indent="0" defTabSz="6164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+25 </a:t>
            </a:r>
            <a:r>
              <a:rPr kumimoji="0" lang="de-DE" sz="2000" b="1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Years</a:t>
            </a:r>
            <a:endParaRPr kumimoji="0" lang="de-DE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defTabSz="616476">
              <a:spcAft>
                <a:spcPts val="100"/>
              </a:spcAft>
              <a:defRPr/>
            </a:pPr>
            <a:r>
              <a:rPr lang="de-DE" sz="1200" kern="0">
                <a:cs typeface="Arial"/>
              </a:rPr>
              <a:t>Multiple</a:t>
            </a:r>
            <a:r>
              <a:rPr kumimoji="0" lang="de-DE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cs typeface="Arial"/>
              </a:rPr>
              <a:t> Industries</a:t>
            </a:r>
            <a:r>
              <a:rPr lang="de-DE" sz="1200" kern="0">
                <a:cs typeface="Arial"/>
              </a:rPr>
              <a:t> – </a:t>
            </a:r>
            <a:r>
              <a:rPr lang="de-DE" sz="1200" kern="0" err="1">
                <a:cs typeface="Arial"/>
              </a:rPr>
              <a:t>Covering</a:t>
            </a:r>
            <a:r>
              <a:rPr lang="de-DE" sz="1200" kern="0">
                <a:cs typeface="Arial"/>
              </a:rPr>
              <a:t> global </a:t>
            </a:r>
            <a:endParaRPr lang="de-DE" sz="12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cs typeface="Arial"/>
            </a:endParaRPr>
          </a:p>
          <a:p>
            <a:pPr defTabSz="616476">
              <a:spcAft>
                <a:spcPts val="100"/>
              </a:spcAft>
              <a:defRPr/>
            </a:pPr>
            <a:r>
              <a:rPr kumimoji="0" lang="de-DE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cs typeface="Arial"/>
              </a:rPr>
              <a:t>Supplier &amp; Trading </a:t>
            </a:r>
            <a:r>
              <a:rPr lang="de-DE" sz="1200" kern="0">
                <a:cs typeface="Arial"/>
              </a:rPr>
              <a:t>Partner </a:t>
            </a:r>
            <a:r>
              <a:rPr lang="de-DE" sz="1200" kern="0" err="1">
                <a:cs typeface="Arial"/>
              </a:rPr>
              <a:t>base</a:t>
            </a:r>
            <a:endParaRPr lang="de-DE" sz="12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cs typeface="Arial"/>
            </a:endParaRPr>
          </a:p>
        </p:txBody>
      </p:sp>
      <p:sp>
        <p:nvSpPr>
          <p:cNvPr id="174" name="Rectangle 45">
            <a:extLst>
              <a:ext uri="{FF2B5EF4-FFF2-40B4-BE49-F238E27FC236}">
                <a16:creationId xmlns:a16="http://schemas.microsoft.com/office/drawing/2014/main" id="{BFE1B16C-2CFE-406B-95D2-17001FFB62B5}"/>
              </a:ext>
            </a:extLst>
          </p:cNvPr>
          <p:cNvSpPr/>
          <p:nvPr/>
        </p:nvSpPr>
        <p:spPr>
          <a:xfrm>
            <a:off x="6235020" y="5794160"/>
            <a:ext cx="2743200" cy="466647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marL="0" marR="0" lvl="0" indent="0" defTabSz="6164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DXC VAN</a:t>
            </a:r>
          </a:p>
          <a:p>
            <a:pPr marL="0" marR="0" lvl="0" indent="0" defTabSz="6164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panose="020B0604020202020204" pitchFamily="34" charset="0"/>
              </a:rPr>
              <a:t>Multiple Connectivity-Options</a:t>
            </a:r>
            <a:endParaRPr kumimoji="0" lang="de-DE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75" name="Rectangle 45">
            <a:extLst>
              <a:ext uri="{FF2B5EF4-FFF2-40B4-BE49-F238E27FC236}">
                <a16:creationId xmlns:a16="http://schemas.microsoft.com/office/drawing/2014/main" id="{37FB070E-5DBD-4E47-B407-78D9B788FD05}"/>
              </a:ext>
            </a:extLst>
          </p:cNvPr>
          <p:cNvSpPr/>
          <p:nvPr/>
        </p:nvSpPr>
        <p:spPr>
          <a:xfrm>
            <a:off x="6235020" y="4976498"/>
            <a:ext cx="2743200" cy="46835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marL="0" marR="0" lvl="0" indent="0" defTabSz="6164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/>
              </a:rPr>
              <a:t>15+ </a:t>
            </a:r>
            <a:r>
              <a:rPr lang="de-DE" sz="2000" b="1" kern="0" err="1">
                <a:solidFill>
                  <a:srgbClr val="000000"/>
                </a:solidFill>
                <a:cs typeface="Arial"/>
              </a:rPr>
              <a:t>Years</a:t>
            </a:r>
            <a:endParaRPr lang="de-DE" sz="2000" b="1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Arial"/>
            </a:endParaRPr>
          </a:p>
          <a:p>
            <a:pPr marL="0" marR="0" lvl="0" indent="0" defTabSz="6164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panose="020B0604020202020204" pitchFamily="34" charset="0"/>
              </a:rPr>
              <a:t>SEEBURGER-Partnership</a:t>
            </a:r>
            <a:r>
              <a:rPr kumimoji="0" lang="de-DE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/>
              </a:rPr>
              <a:t> </a:t>
            </a:r>
          </a:p>
        </p:txBody>
      </p:sp>
      <p:sp>
        <p:nvSpPr>
          <p:cNvPr id="176" name="Rectangle 45">
            <a:extLst>
              <a:ext uri="{FF2B5EF4-FFF2-40B4-BE49-F238E27FC236}">
                <a16:creationId xmlns:a16="http://schemas.microsoft.com/office/drawing/2014/main" id="{D532535E-481A-45FC-AEBD-DD2732359635}"/>
              </a:ext>
            </a:extLst>
          </p:cNvPr>
          <p:cNvSpPr/>
          <p:nvPr/>
        </p:nvSpPr>
        <p:spPr>
          <a:xfrm>
            <a:off x="6225876" y="2565533"/>
            <a:ext cx="2248505" cy="497507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marL="0" marR="0" lvl="0" indent="0" defTabSz="6164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de-DE" sz="1800" b="1" kern="0">
                <a:solidFill>
                  <a:srgbClr val="000000"/>
                </a:solidFill>
              </a:rPr>
              <a:t>160,000</a:t>
            </a:r>
            <a:r>
              <a:rPr kumimoji="0" lang="de-DE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+ </a:t>
            </a:r>
          </a:p>
          <a:p>
            <a:pPr marL="0" marR="0" lvl="0" indent="0" defTabSz="6164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 err="1">
                <a:ln>
                  <a:noFill/>
                </a:ln>
                <a:effectLst/>
                <a:uLnTx/>
                <a:uFillTx/>
                <a:cs typeface="Arial"/>
              </a:rPr>
              <a:t>Managed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cs typeface="Arial"/>
              </a:rPr>
              <a:t> EDI Partners</a:t>
            </a:r>
            <a:endParaRPr lang="de-DE" sz="11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cs typeface="Arial"/>
            </a:endParaRPr>
          </a:p>
        </p:txBody>
      </p:sp>
      <p:sp>
        <p:nvSpPr>
          <p:cNvPr id="178" name="Freeform 6">
            <a:extLst>
              <a:ext uri="{FF2B5EF4-FFF2-40B4-BE49-F238E27FC236}">
                <a16:creationId xmlns:a16="http://schemas.microsoft.com/office/drawing/2014/main" id="{14C37C36-5F02-416F-A92A-D3F16A366FE9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9989377" y="4921956"/>
            <a:ext cx="566733" cy="378514"/>
          </a:xfrm>
          <a:custGeom>
            <a:avLst/>
            <a:gdLst>
              <a:gd name="T0" fmla="*/ 1056 w 1152"/>
              <a:gd name="T1" fmla="*/ 144 h 768"/>
              <a:gd name="T2" fmla="*/ 912 w 1152"/>
              <a:gd name="T3" fmla="*/ 288 h 768"/>
              <a:gd name="T4" fmla="*/ 768 w 1152"/>
              <a:gd name="T5" fmla="*/ 144 h 768"/>
              <a:gd name="T6" fmla="*/ 912 w 1152"/>
              <a:gd name="T7" fmla="*/ 0 h 768"/>
              <a:gd name="T8" fmla="*/ 1056 w 1152"/>
              <a:gd name="T9" fmla="*/ 144 h 768"/>
              <a:gd name="T10" fmla="*/ 240 w 1152"/>
              <a:gd name="T11" fmla="*/ 0 h 768"/>
              <a:gd name="T12" fmla="*/ 96 w 1152"/>
              <a:gd name="T13" fmla="*/ 144 h 768"/>
              <a:gd name="T14" fmla="*/ 240 w 1152"/>
              <a:gd name="T15" fmla="*/ 288 h 768"/>
              <a:gd name="T16" fmla="*/ 384 w 1152"/>
              <a:gd name="T17" fmla="*/ 144 h 768"/>
              <a:gd name="T18" fmla="*/ 240 w 1152"/>
              <a:gd name="T19" fmla="*/ 0 h 768"/>
              <a:gd name="T20" fmla="*/ 912 w 1152"/>
              <a:gd name="T21" fmla="*/ 288 h 768"/>
              <a:gd name="T22" fmla="*/ 240 w 1152"/>
              <a:gd name="T23" fmla="*/ 288 h 768"/>
              <a:gd name="T24" fmla="*/ 0 w 1152"/>
              <a:gd name="T25" fmla="*/ 528 h 768"/>
              <a:gd name="T26" fmla="*/ 0 w 1152"/>
              <a:gd name="T27" fmla="*/ 768 h 768"/>
              <a:gd name="T28" fmla="*/ 480 w 1152"/>
              <a:gd name="T29" fmla="*/ 768 h 768"/>
              <a:gd name="T30" fmla="*/ 480 w 1152"/>
              <a:gd name="T31" fmla="*/ 528 h 768"/>
              <a:gd name="T32" fmla="*/ 460 w 1152"/>
              <a:gd name="T33" fmla="*/ 432 h 768"/>
              <a:gd name="T34" fmla="*/ 692 w 1152"/>
              <a:gd name="T35" fmla="*/ 432 h 768"/>
              <a:gd name="T36" fmla="*/ 672 w 1152"/>
              <a:gd name="T37" fmla="*/ 528 h 768"/>
              <a:gd name="T38" fmla="*/ 672 w 1152"/>
              <a:gd name="T39" fmla="*/ 768 h 768"/>
              <a:gd name="T40" fmla="*/ 1152 w 1152"/>
              <a:gd name="T41" fmla="*/ 768 h 768"/>
              <a:gd name="T42" fmla="*/ 1152 w 1152"/>
              <a:gd name="T43" fmla="*/ 528 h 768"/>
              <a:gd name="T44" fmla="*/ 912 w 1152"/>
              <a:gd name="T45" fmla="*/ 288 h 7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152" h="768">
                <a:moveTo>
                  <a:pt x="1056" y="144"/>
                </a:moveTo>
                <a:cubicBezTo>
                  <a:pt x="1056" y="224"/>
                  <a:pt x="992" y="288"/>
                  <a:pt x="912" y="288"/>
                </a:cubicBezTo>
                <a:cubicBezTo>
                  <a:pt x="832" y="288"/>
                  <a:pt x="768" y="224"/>
                  <a:pt x="768" y="144"/>
                </a:cubicBezTo>
                <a:cubicBezTo>
                  <a:pt x="768" y="64"/>
                  <a:pt x="832" y="0"/>
                  <a:pt x="912" y="0"/>
                </a:cubicBezTo>
                <a:cubicBezTo>
                  <a:pt x="992" y="0"/>
                  <a:pt x="1056" y="64"/>
                  <a:pt x="1056" y="144"/>
                </a:cubicBezTo>
                <a:close/>
                <a:moveTo>
                  <a:pt x="240" y="0"/>
                </a:moveTo>
                <a:cubicBezTo>
                  <a:pt x="160" y="0"/>
                  <a:pt x="96" y="64"/>
                  <a:pt x="96" y="144"/>
                </a:cubicBezTo>
                <a:cubicBezTo>
                  <a:pt x="96" y="224"/>
                  <a:pt x="160" y="288"/>
                  <a:pt x="240" y="288"/>
                </a:cubicBezTo>
                <a:cubicBezTo>
                  <a:pt x="320" y="288"/>
                  <a:pt x="384" y="224"/>
                  <a:pt x="384" y="144"/>
                </a:cubicBezTo>
                <a:cubicBezTo>
                  <a:pt x="384" y="64"/>
                  <a:pt x="320" y="0"/>
                  <a:pt x="240" y="0"/>
                </a:cubicBezTo>
                <a:close/>
                <a:moveTo>
                  <a:pt x="912" y="288"/>
                </a:moveTo>
                <a:cubicBezTo>
                  <a:pt x="240" y="288"/>
                  <a:pt x="240" y="288"/>
                  <a:pt x="240" y="288"/>
                </a:cubicBezTo>
                <a:cubicBezTo>
                  <a:pt x="107" y="288"/>
                  <a:pt x="0" y="395"/>
                  <a:pt x="0" y="528"/>
                </a:cubicBezTo>
                <a:cubicBezTo>
                  <a:pt x="0" y="768"/>
                  <a:pt x="0" y="768"/>
                  <a:pt x="0" y="768"/>
                </a:cubicBezTo>
                <a:cubicBezTo>
                  <a:pt x="480" y="768"/>
                  <a:pt x="480" y="768"/>
                  <a:pt x="480" y="768"/>
                </a:cubicBezTo>
                <a:cubicBezTo>
                  <a:pt x="480" y="528"/>
                  <a:pt x="480" y="528"/>
                  <a:pt x="480" y="528"/>
                </a:cubicBezTo>
                <a:cubicBezTo>
                  <a:pt x="480" y="494"/>
                  <a:pt x="473" y="461"/>
                  <a:pt x="460" y="432"/>
                </a:cubicBezTo>
                <a:cubicBezTo>
                  <a:pt x="692" y="432"/>
                  <a:pt x="692" y="432"/>
                  <a:pt x="692" y="432"/>
                </a:cubicBezTo>
                <a:cubicBezTo>
                  <a:pt x="679" y="461"/>
                  <a:pt x="672" y="494"/>
                  <a:pt x="672" y="528"/>
                </a:cubicBezTo>
                <a:cubicBezTo>
                  <a:pt x="672" y="768"/>
                  <a:pt x="672" y="768"/>
                  <a:pt x="672" y="768"/>
                </a:cubicBezTo>
                <a:cubicBezTo>
                  <a:pt x="1152" y="768"/>
                  <a:pt x="1152" y="768"/>
                  <a:pt x="1152" y="768"/>
                </a:cubicBezTo>
                <a:cubicBezTo>
                  <a:pt x="1152" y="528"/>
                  <a:pt x="1152" y="528"/>
                  <a:pt x="1152" y="528"/>
                </a:cubicBezTo>
                <a:cubicBezTo>
                  <a:pt x="1152" y="395"/>
                  <a:pt x="1045" y="288"/>
                  <a:pt x="912" y="28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pic>
        <p:nvPicPr>
          <p:cNvPr id="52" name="Graphic 51" descr="Lightbulb and gear with solid fill">
            <a:extLst>
              <a:ext uri="{FF2B5EF4-FFF2-40B4-BE49-F238E27FC236}">
                <a16:creationId xmlns:a16="http://schemas.microsoft.com/office/drawing/2014/main" id="{2A259505-8F1A-4280-AFCF-0FBDD77F39D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47452" y="4961902"/>
            <a:ext cx="681578" cy="681578"/>
          </a:xfrm>
          <a:prstGeom prst="rect">
            <a:avLst/>
          </a:prstGeom>
        </p:spPr>
      </p:pic>
      <p:pic>
        <p:nvPicPr>
          <p:cNvPr id="53" name="Graphic 52">
            <a:extLst>
              <a:ext uri="{FF2B5EF4-FFF2-40B4-BE49-F238E27FC236}">
                <a16:creationId xmlns:a16="http://schemas.microsoft.com/office/drawing/2014/main" id="{031EED21-1465-4EC5-8519-6442D32B9B4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39666" y="3466449"/>
            <a:ext cx="497150" cy="508449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0E0766B3-1E7C-41D2-989A-DE3A685CFD3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46441" y="4226600"/>
            <a:ext cx="483600" cy="483600"/>
          </a:xfrm>
          <a:prstGeom prst="rect">
            <a:avLst/>
          </a:prstGeom>
        </p:spPr>
      </p:pic>
      <p:sp>
        <p:nvSpPr>
          <p:cNvPr id="55" name="Rectangle 197">
            <a:extLst>
              <a:ext uri="{FF2B5EF4-FFF2-40B4-BE49-F238E27FC236}">
                <a16:creationId xmlns:a16="http://schemas.microsoft.com/office/drawing/2014/main" id="{DDD11F2A-2198-4044-A675-3662AC858891}"/>
              </a:ext>
            </a:extLst>
          </p:cNvPr>
          <p:cNvSpPr>
            <a:spLocks/>
          </p:cNvSpPr>
          <p:nvPr/>
        </p:nvSpPr>
        <p:spPr bwMode="auto">
          <a:xfrm>
            <a:off x="1680100" y="4355627"/>
            <a:ext cx="2163714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>
              <a:defRPr kumimoji="1" sz="58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>
              <a:defRPr kumimoji="1" sz="58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>
              <a:defRPr kumimoji="1" sz="58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>
              <a:defRPr kumimoji="1" sz="58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>
              <a:defRPr kumimoji="1" sz="58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58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58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58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58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defTabSz="1097092">
              <a:defRPr/>
            </a:pPr>
            <a:r>
              <a:rPr kumimoji="0" lang="en-US" altLang="pl-PL" sz="2000" b="1">
                <a:solidFill>
                  <a:schemeClr val="tx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  <a:sym typeface="Open Sans Bold" charset="0"/>
              </a:rPr>
              <a:t>97% </a:t>
            </a:r>
          </a:p>
          <a:p>
            <a:pPr defTabSz="1097092">
              <a:defRPr/>
            </a:pPr>
            <a:r>
              <a:rPr kumimoji="0" lang="en-US" altLang="pl-PL" sz="1200">
                <a:solidFill>
                  <a:schemeClr val="tx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  <a:sym typeface="Open Sans Bold" charset="0"/>
              </a:rPr>
              <a:t>Client Retention</a:t>
            </a:r>
          </a:p>
        </p:txBody>
      </p:sp>
      <p:pic>
        <p:nvPicPr>
          <p:cNvPr id="56" name="Graphic 55">
            <a:extLst>
              <a:ext uri="{FF2B5EF4-FFF2-40B4-BE49-F238E27FC236}">
                <a16:creationId xmlns:a16="http://schemas.microsoft.com/office/drawing/2014/main" id="{CF39C78D-21CE-4638-ADE9-9184329AB77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20197" y="6630580"/>
            <a:ext cx="536089" cy="547496"/>
          </a:xfrm>
          <a:prstGeom prst="rect">
            <a:avLst/>
          </a:prstGeom>
        </p:spPr>
      </p:pic>
      <p:pic>
        <p:nvPicPr>
          <p:cNvPr id="59" name="Graphic 58">
            <a:extLst>
              <a:ext uri="{FF2B5EF4-FFF2-40B4-BE49-F238E27FC236}">
                <a16:creationId xmlns:a16="http://schemas.microsoft.com/office/drawing/2014/main" id="{D82CD2D5-4471-437B-8770-AD2A0E1FA88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65777" y="2622763"/>
            <a:ext cx="644928" cy="483696"/>
          </a:xfrm>
          <a:prstGeom prst="rect">
            <a:avLst/>
          </a:prstGeom>
        </p:spPr>
      </p:pic>
      <p:pic>
        <p:nvPicPr>
          <p:cNvPr id="4" name="Graphic 3" descr="Factory with solid fill">
            <a:extLst>
              <a:ext uri="{FF2B5EF4-FFF2-40B4-BE49-F238E27FC236}">
                <a16:creationId xmlns:a16="http://schemas.microsoft.com/office/drawing/2014/main" id="{ABF6B704-4B21-424B-8B93-70A5F86646FB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9962747" y="5532166"/>
            <a:ext cx="696978" cy="696978"/>
          </a:xfrm>
          <a:prstGeom prst="rect">
            <a:avLst/>
          </a:prstGeom>
        </p:spPr>
      </p:pic>
      <p:pic>
        <p:nvPicPr>
          <p:cNvPr id="62" name="Graphic 61">
            <a:extLst>
              <a:ext uri="{FF2B5EF4-FFF2-40B4-BE49-F238E27FC236}">
                <a16:creationId xmlns:a16="http://schemas.microsoft.com/office/drawing/2014/main" id="{97D24247-C85B-4309-86CE-980261388877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321973" y="1797484"/>
            <a:ext cx="3074058" cy="348605"/>
          </a:xfrm>
          <a:prstGeom prst="rect">
            <a:avLst/>
          </a:prstGeom>
        </p:spPr>
      </p:pic>
      <p:pic>
        <p:nvPicPr>
          <p:cNvPr id="63" name="Picture 2" descr="A close up of a sign&#10;&#10;Description generated with very high confidence">
            <a:extLst>
              <a:ext uri="{FF2B5EF4-FFF2-40B4-BE49-F238E27FC236}">
                <a16:creationId xmlns:a16="http://schemas.microsoft.com/office/drawing/2014/main" id="{D9878E85-8E62-4311-B862-FE2B7ED51650}"/>
              </a:ext>
            </a:extLst>
          </p:cNvPr>
          <p:cNvPicPr>
            <a:picLocks noChangeAspect="1"/>
          </p:cNvPicPr>
          <p:nvPr/>
        </p:nvPicPr>
        <p:blipFill>
          <a:blip r:embed="rId2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34285" y="1640026"/>
            <a:ext cx="1856065" cy="663521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2DBBC8B8-AE31-4F6D-8D74-C70B3DF960F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043913" y="2521408"/>
            <a:ext cx="497150" cy="508449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84CBB189-3462-4EEE-B065-EDB7CE11EFA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435308" y="4174431"/>
            <a:ext cx="497150" cy="508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126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CE1E78F-C8ED-4496-BE7F-F6A60C6E91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8401" y="3105150"/>
            <a:ext cx="7215435" cy="2256367"/>
          </a:xfrm>
        </p:spPr>
        <p:txBody>
          <a:bodyPr/>
          <a:lstStyle/>
          <a:p>
            <a:r>
              <a:rPr lang="en-US"/>
              <a:t>DXC Business Exchange Services (BES)</a:t>
            </a:r>
          </a:p>
        </p:txBody>
      </p:sp>
    </p:spTree>
    <p:extLst>
      <p:ext uri="{BB962C8B-B14F-4D97-AF65-F5344CB8AC3E}">
        <p14:creationId xmlns:p14="http://schemas.microsoft.com/office/powerpoint/2010/main" val="1451023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Title 3">
            <a:extLst>
              <a:ext uri="{FF2B5EF4-FFF2-40B4-BE49-F238E27FC236}">
                <a16:creationId xmlns:a16="http://schemas.microsoft.com/office/drawing/2014/main" id="{E335696D-424B-4D23-9728-F628DE57AE60}"/>
              </a:ext>
            </a:extLst>
          </p:cNvPr>
          <p:cNvSpPr txBox="1">
            <a:spLocks/>
          </p:cNvSpPr>
          <p:nvPr/>
        </p:nvSpPr>
        <p:spPr>
          <a:xfrm>
            <a:off x="3131190" y="1195624"/>
            <a:ext cx="10715480" cy="725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vert="horz" wrap="square" lIns="822960" tIns="45720" rIns="731520" bIns="45720" rtlCol="0" anchor="ctr" anchorCtr="0">
            <a:noAutofit/>
          </a:bodyPr>
          <a:lstStyle>
            <a:lvl1pPr algn="l" defTabSz="146304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600" b="0"/>
              <a:t>DXC Business Exchange Services provides scalable B2B/EDI solutions and services that allow clients to better communicate, connect and exchange data with their trading partners. </a:t>
            </a:r>
          </a:p>
        </p:txBody>
      </p:sp>
      <p:sp>
        <p:nvSpPr>
          <p:cNvPr id="496" name="Rectangle 495">
            <a:extLst>
              <a:ext uri="{FF2B5EF4-FFF2-40B4-BE49-F238E27FC236}">
                <a16:creationId xmlns:a16="http://schemas.microsoft.com/office/drawing/2014/main" id="{CF01C87F-F317-406A-AB47-AA34062BCBFB}"/>
              </a:ext>
            </a:extLst>
          </p:cNvPr>
          <p:cNvSpPr/>
          <p:nvPr/>
        </p:nvSpPr>
        <p:spPr>
          <a:xfrm rot="5400000">
            <a:off x="1493147" y="261412"/>
            <a:ext cx="722376" cy="2590801"/>
          </a:xfrm>
          <a:prstGeom prst="rect">
            <a:avLst/>
          </a:prstGeom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462864">
              <a:defRPr/>
            </a:pPr>
            <a:endParaRPr lang="en-US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7" name="Pentagon 2">
            <a:extLst>
              <a:ext uri="{FF2B5EF4-FFF2-40B4-BE49-F238E27FC236}">
                <a16:creationId xmlns:a16="http://schemas.microsoft.com/office/drawing/2014/main" id="{8E997156-A08E-45DF-A6B0-8E8EAE349AD5}"/>
              </a:ext>
            </a:extLst>
          </p:cNvPr>
          <p:cNvSpPr/>
          <p:nvPr/>
        </p:nvSpPr>
        <p:spPr>
          <a:xfrm>
            <a:off x="1027250" y="1195624"/>
            <a:ext cx="1905000" cy="701557"/>
          </a:xfrm>
          <a:prstGeom prst="homePlate">
            <a:avLst>
              <a:gd name="adj" fmla="val 25476"/>
            </a:avLst>
          </a:prstGeom>
          <a:noFill/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defTabSz="1462864">
              <a:defRPr/>
            </a:pPr>
            <a:r>
              <a:rPr lang="en-US" sz="1600" b="1">
                <a:solidFill>
                  <a:srgbClr val="FFFFFF"/>
                </a:solidFill>
                <a:latin typeface="Arial"/>
              </a:rPr>
              <a:t>Snapshot</a:t>
            </a:r>
          </a:p>
        </p:txBody>
      </p:sp>
      <p:sp>
        <p:nvSpPr>
          <p:cNvPr id="498" name="Rectangle 497">
            <a:extLst>
              <a:ext uri="{FF2B5EF4-FFF2-40B4-BE49-F238E27FC236}">
                <a16:creationId xmlns:a16="http://schemas.microsoft.com/office/drawing/2014/main" id="{444C9055-8617-4844-B028-3C19F3340C9E}"/>
              </a:ext>
            </a:extLst>
          </p:cNvPr>
          <p:cNvSpPr/>
          <p:nvPr/>
        </p:nvSpPr>
        <p:spPr>
          <a:xfrm>
            <a:off x="5086929" y="2130807"/>
            <a:ext cx="5158573" cy="437914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462864">
              <a:defRPr/>
            </a:pPr>
            <a:r>
              <a:rPr lang="en-US" sz="1600" b="1">
                <a:solidFill>
                  <a:srgbClr val="000000"/>
                </a:solidFill>
                <a:latin typeface="Arial"/>
              </a:rPr>
              <a:t>Investing in our capabilities </a:t>
            </a:r>
          </a:p>
        </p:txBody>
      </p:sp>
      <p:sp>
        <p:nvSpPr>
          <p:cNvPr id="499" name="Title 3">
            <a:extLst>
              <a:ext uri="{FF2B5EF4-FFF2-40B4-BE49-F238E27FC236}">
                <a16:creationId xmlns:a16="http://schemas.microsoft.com/office/drawing/2014/main" id="{5736C2A2-0B96-4FDA-8DF7-6D2FE3B3F487}"/>
              </a:ext>
            </a:extLst>
          </p:cNvPr>
          <p:cNvSpPr txBox="1">
            <a:spLocks/>
          </p:cNvSpPr>
          <p:nvPr/>
        </p:nvSpPr>
        <p:spPr>
          <a:xfrm>
            <a:off x="5284409" y="2840053"/>
            <a:ext cx="5017040" cy="1513235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45720" rIns="0" bIns="45720" rtlCol="0" anchor="t" anchorCtr="0">
            <a:spAutoFit/>
          </a:bodyPr>
          <a:lstStyle>
            <a:lvl1pPr algn="l" defTabSz="146304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33345" indent="-133345" defTabSz="1462864">
              <a:lnSpc>
                <a:spcPct val="100000"/>
              </a:lnSpc>
              <a:spcBef>
                <a:spcPts val="480"/>
              </a:spcBef>
              <a:buFont typeface="Arial" panose="020B0604020202020204" pitchFamily="34" charset="0"/>
              <a:buChar char="•"/>
              <a:defRPr/>
            </a:pPr>
            <a:r>
              <a:rPr lang="en-US" sz="1400" b="0">
                <a:solidFill>
                  <a:srgbClr val="000000"/>
                </a:solidFill>
                <a:latin typeface="Arial"/>
              </a:rPr>
              <a:t>DXC is continuously adding capacity through training and reskilling against key platforms </a:t>
            </a:r>
          </a:p>
          <a:p>
            <a:pPr marL="133345" indent="-133345" defTabSz="1462864">
              <a:lnSpc>
                <a:spcPct val="100000"/>
              </a:lnSpc>
              <a:spcBef>
                <a:spcPts val="480"/>
              </a:spcBef>
              <a:buFont typeface="Arial" panose="020B0604020202020204" pitchFamily="34" charset="0"/>
              <a:buChar char="•"/>
              <a:defRPr/>
            </a:pPr>
            <a:r>
              <a:rPr lang="en-US" sz="1400" b="0">
                <a:solidFill>
                  <a:srgbClr val="000000"/>
                </a:solidFill>
                <a:latin typeface="Arial"/>
              </a:rPr>
              <a:t>Supporting multiple industries, with focus on Manufacturing, Automotive, Retail, CPG, Energy &amp; Healthcare </a:t>
            </a:r>
          </a:p>
          <a:p>
            <a:pPr marL="133345" indent="-133345" defTabSz="1462864">
              <a:lnSpc>
                <a:spcPct val="100000"/>
              </a:lnSpc>
              <a:spcBef>
                <a:spcPts val="480"/>
              </a:spcBef>
              <a:buFont typeface="Arial" panose="020B0604020202020204" pitchFamily="34" charset="0"/>
              <a:buChar char="•"/>
              <a:defRPr/>
            </a:pPr>
            <a:r>
              <a:rPr lang="en-US" sz="1400" b="0">
                <a:solidFill>
                  <a:srgbClr val="000000"/>
                </a:solidFill>
                <a:latin typeface="Arial"/>
              </a:rPr>
              <a:t>Seamless integration between internal &amp; external integration capabilities</a:t>
            </a:r>
          </a:p>
        </p:txBody>
      </p:sp>
      <p:sp>
        <p:nvSpPr>
          <p:cNvPr id="500" name="Rectangle 499">
            <a:extLst>
              <a:ext uri="{FF2B5EF4-FFF2-40B4-BE49-F238E27FC236}">
                <a16:creationId xmlns:a16="http://schemas.microsoft.com/office/drawing/2014/main" id="{30039A05-AEEC-4E42-9516-30D299B68FD9}"/>
              </a:ext>
            </a:extLst>
          </p:cNvPr>
          <p:cNvSpPr/>
          <p:nvPr/>
        </p:nvSpPr>
        <p:spPr>
          <a:xfrm>
            <a:off x="5167044" y="4182501"/>
            <a:ext cx="5163700" cy="3615379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462864">
              <a:defRPr/>
            </a:pPr>
            <a:endParaRPr lang="en-US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1" name="Text Box 48">
            <a:extLst>
              <a:ext uri="{FF2B5EF4-FFF2-40B4-BE49-F238E27FC236}">
                <a16:creationId xmlns:a16="http://schemas.microsoft.com/office/drawing/2014/main" id="{444FB2F8-2AAB-4B74-A7C9-C407FF7FF4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6926" y="4464354"/>
            <a:ext cx="5163700" cy="437914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>
              <a:defRPr sz="16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1462864">
              <a:defRPr/>
            </a:pPr>
            <a:r>
              <a:rPr lang="en-US">
                <a:solidFill>
                  <a:srgbClr val="000000"/>
                </a:solidFill>
                <a:latin typeface="Arial"/>
              </a:rPr>
              <a:t>Global Delivery Footprint</a:t>
            </a:r>
          </a:p>
        </p:txBody>
      </p:sp>
      <p:sp>
        <p:nvSpPr>
          <p:cNvPr id="502" name="Rounded Rectangle 307">
            <a:extLst>
              <a:ext uri="{FF2B5EF4-FFF2-40B4-BE49-F238E27FC236}">
                <a16:creationId xmlns:a16="http://schemas.microsoft.com/office/drawing/2014/main" id="{EAD48A8A-AC6F-4938-81A3-2DAC1141E455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5774878" y="6316924"/>
            <a:ext cx="2202275" cy="1139044"/>
          </a:xfrm>
          <a:prstGeom prst="roundRect">
            <a:avLst>
              <a:gd name="adj" fmla="val 7484"/>
            </a:avLst>
          </a:prstGeom>
          <a:noFill/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462864">
              <a:lnSpc>
                <a:spcPct val="85000"/>
              </a:lnSpc>
              <a:defRPr/>
            </a:pPr>
            <a:endParaRPr lang="en-US" sz="1800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03" name="Group 502">
            <a:extLst>
              <a:ext uri="{FF2B5EF4-FFF2-40B4-BE49-F238E27FC236}">
                <a16:creationId xmlns:a16="http://schemas.microsoft.com/office/drawing/2014/main" id="{8C42CCB3-58B6-400C-95DC-A71CAE0669BD}"/>
              </a:ext>
            </a:extLst>
          </p:cNvPr>
          <p:cNvGrpSpPr/>
          <p:nvPr/>
        </p:nvGrpSpPr>
        <p:grpSpPr>
          <a:xfrm>
            <a:off x="5094111" y="4847200"/>
            <a:ext cx="5133438" cy="2392244"/>
            <a:chOff x="7247583" y="4510226"/>
            <a:chExt cx="6251927" cy="2913474"/>
          </a:xfrm>
        </p:grpSpPr>
        <p:grpSp>
          <p:nvGrpSpPr>
            <p:cNvPr id="504" name="Group 503">
              <a:extLst>
                <a:ext uri="{FF2B5EF4-FFF2-40B4-BE49-F238E27FC236}">
                  <a16:creationId xmlns:a16="http://schemas.microsoft.com/office/drawing/2014/main" id="{32F605B5-A88A-4074-B82C-A738D5AEDF05}"/>
                </a:ext>
              </a:extLst>
            </p:cNvPr>
            <p:cNvGrpSpPr/>
            <p:nvPr>
              <p:custDataLst>
                <p:tags r:id="rId8"/>
              </p:custDataLst>
            </p:nvPr>
          </p:nvGrpSpPr>
          <p:grpSpPr>
            <a:xfrm>
              <a:off x="7247583" y="4510226"/>
              <a:ext cx="6251927" cy="2913474"/>
              <a:chOff x="1738169" y="1650602"/>
              <a:chExt cx="9207435" cy="3314130"/>
            </a:xfrm>
            <a:solidFill>
              <a:schemeClr val="bg1">
                <a:lumMod val="85000"/>
              </a:schemeClr>
            </a:solidFill>
          </p:grpSpPr>
          <p:sp>
            <p:nvSpPr>
              <p:cNvPr id="541" name="Freeform 5">
                <a:extLst>
                  <a:ext uri="{FF2B5EF4-FFF2-40B4-BE49-F238E27FC236}">
                    <a16:creationId xmlns:a16="http://schemas.microsoft.com/office/drawing/2014/main" id="{4E5E38E0-BDA7-4C20-9E07-555EE119FCF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876999" y="2865495"/>
                <a:ext cx="1472578" cy="527836"/>
              </a:xfrm>
              <a:custGeom>
                <a:avLst/>
                <a:gdLst>
                  <a:gd name="T0" fmla="*/ 298 w 578"/>
                  <a:gd name="T1" fmla="*/ 0 h 305"/>
                  <a:gd name="T2" fmla="*/ 335 w 578"/>
                  <a:gd name="T3" fmla="*/ 24 h 305"/>
                  <a:gd name="T4" fmla="*/ 335 w 578"/>
                  <a:gd name="T5" fmla="*/ 37 h 305"/>
                  <a:gd name="T6" fmla="*/ 360 w 578"/>
                  <a:gd name="T7" fmla="*/ 43 h 305"/>
                  <a:gd name="T8" fmla="*/ 397 w 578"/>
                  <a:gd name="T9" fmla="*/ 43 h 305"/>
                  <a:gd name="T10" fmla="*/ 403 w 578"/>
                  <a:gd name="T11" fmla="*/ 56 h 305"/>
                  <a:gd name="T12" fmla="*/ 372 w 578"/>
                  <a:gd name="T13" fmla="*/ 68 h 305"/>
                  <a:gd name="T14" fmla="*/ 372 w 578"/>
                  <a:gd name="T15" fmla="*/ 112 h 305"/>
                  <a:gd name="T16" fmla="*/ 385 w 578"/>
                  <a:gd name="T17" fmla="*/ 68 h 305"/>
                  <a:gd name="T18" fmla="*/ 410 w 578"/>
                  <a:gd name="T19" fmla="*/ 62 h 305"/>
                  <a:gd name="T20" fmla="*/ 416 w 578"/>
                  <a:gd name="T21" fmla="*/ 80 h 305"/>
                  <a:gd name="T22" fmla="*/ 416 w 578"/>
                  <a:gd name="T23" fmla="*/ 112 h 305"/>
                  <a:gd name="T24" fmla="*/ 453 w 578"/>
                  <a:gd name="T25" fmla="*/ 87 h 305"/>
                  <a:gd name="T26" fmla="*/ 497 w 578"/>
                  <a:gd name="T27" fmla="*/ 68 h 305"/>
                  <a:gd name="T28" fmla="*/ 553 w 578"/>
                  <a:gd name="T29" fmla="*/ 31 h 305"/>
                  <a:gd name="T30" fmla="*/ 571 w 578"/>
                  <a:gd name="T31" fmla="*/ 37 h 305"/>
                  <a:gd name="T32" fmla="*/ 577 w 578"/>
                  <a:gd name="T33" fmla="*/ 68 h 305"/>
                  <a:gd name="T34" fmla="*/ 553 w 578"/>
                  <a:gd name="T35" fmla="*/ 80 h 305"/>
                  <a:gd name="T36" fmla="*/ 540 w 578"/>
                  <a:gd name="T37" fmla="*/ 112 h 305"/>
                  <a:gd name="T38" fmla="*/ 546 w 578"/>
                  <a:gd name="T39" fmla="*/ 112 h 305"/>
                  <a:gd name="T40" fmla="*/ 509 w 578"/>
                  <a:gd name="T41" fmla="*/ 124 h 305"/>
                  <a:gd name="T42" fmla="*/ 490 w 578"/>
                  <a:gd name="T43" fmla="*/ 136 h 305"/>
                  <a:gd name="T44" fmla="*/ 484 w 578"/>
                  <a:gd name="T45" fmla="*/ 168 h 305"/>
                  <a:gd name="T46" fmla="*/ 484 w 578"/>
                  <a:gd name="T47" fmla="*/ 136 h 305"/>
                  <a:gd name="T48" fmla="*/ 484 w 578"/>
                  <a:gd name="T49" fmla="*/ 161 h 305"/>
                  <a:gd name="T50" fmla="*/ 478 w 578"/>
                  <a:gd name="T51" fmla="*/ 199 h 305"/>
                  <a:gd name="T52" fmla="*/ 435 w 578"/>
                  <a:gd name="T53" fmla="*/ 242 h 305"/>
                  <a:gd name="T54" fmla="*/ 435 w 578"/>
                  <a:gd name="T55" fmla="*/ 304 h 305"/>
                  <a:gd name="T56" fmla="*/ 416 w 578"/>
                  <a:gd name="T57" fmla="*/ 261 h 305"/>
                  <a:gd name="T58" fmla="*/ 385 w 578"/>
                  <a:gd name="T59" fmla="*/ 248 h 305"/>
                  <a:gd name="T60" fmla="*/ 348 w 578"/>
                  <a:gd name="T61" fmla="*/ 248 h 305"/>
                  <a:gd name="T62" fmla="*/ 348 w 578"/>
                  <a:gd name="T63" fmla="*/ 255 h 305"/>
                  <a:gd name="T64" fmla="*/ 335 w 578"/>
                  <a:gd name="T65" fmla="*/ 261 h 305"/>
                  <a:gd name="T66" fmla="*/ 316 w 578"/>
                  <a:gd name="T67" fmla="*/ 255 h 305"/>
                  <a:gd name="T68" fmla="*/ 298 w 578"/>
                  <a:gd name="T69" fmla="*/ 261 h 305"/>
                  <a:gd name="T70" fmla="*/ 254 w 578"/>
                  <a:gd name="T71" fmla="*/ 292 h 305"/>
                  <a:gd name="T72" fmla="*/ 217 w 578"/>
                  <a:gd name="T73" fmla="*/ 261 h 305"/>
                  <a:gd name="T74" fmla="*/ 198 w 578"/>
                  <a:gd name="T75" fmla="*/ 248 h 305"/>
                  <a:gd name="T76" fmla="*/ 99 w 578"/>
                  <a:gd name="T77" fmla="*/ 224 h 305"/>
                  <a:gd name="T78" fmla="*/ 62 w 578"/>
                  <a:gd name="T79" fmla="*/ 211 h 305"/>
                  <a:gd name="T80" fmla="*/ 37 w 578"/>
                  <a:gd name="T81" fmla="*/ 192 h 305"/>
                  <a:gd name="T82" fmla="*/ 18 w 578"/>
                  <a:gd name="T83" fmla="*/ 168 h 305"/>
                  <a:gd name="T84" fmla="*/ 24 w 578"/>
                  <a:gd name="T85" fmla="*/ 155 h 305"/>
                  <a:gd name="T86" fmla="*/ 6 w 578"/>
                  <a:gd name="T87" fmla="*/ 149 h 305"/>
                  <a:gd name="T88" fmla="*/ 6 w 578"/>
                  <a:gd name="T89" fmla="*/ 112 h 305"/>
                  <a:gd name="T90" fmla="*/ 12 w 578"/>
                  <a:gd name="T91" fmla="*/ 49 h 305"/>
                  <a:gd name="T92" fmla="*/ 12 w 578"/>
                  <a:gd name="T93" fmla="*/ 18 h 305"/>
                  <a:gd name="T94" fmla="*/ 18 w 578"/>
                  <a:gd name="T95" fmla="*/ 12 h 305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578"/>
                  <a:gd name="T145" fmla="*/ 0 h 305"/>
                  <a:gd name="T146" fmla="*/ 578 w 578"/>
                  <a:gd name="T147" fmla="*/ 305 h 305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578" h="305">
                    <a:moveTo>
                      <a:pt x="18" y="12"/>
                    </a:moveTo>
                    <a:lnTo>
                      <a:pt x="292" y="12"/>
                    </a:lnTo>
                    <a:lnTo>
                      <a:pt x="298" y="0"/>
                    </a:lnTo>
                    <a:lnTo>
                      <a:pt x="304" y="12"/>
                    </a:lnTo>
                    <a:lnTo>
                      <a:pt x="316" y="12"/>
                    </a:lnTo>
                    <a:lnTo>
                      <a:pt x="335" y="24"/>
                    </a:lnTo>
                    <a:lnTo>
                      <a:pt x="348" y="24"/>
                    </a:lnTo>
                    <a:lnTo>
                      <a:pt x="323" y="43"/>
                    </a:lnTo>
                    <a:lnTo>
                      <a:pt x="335" y="37"/>
                    </a:lnTo>
                    <a:lnTo>
                      <a:pt x="341" y="43"/>
                    </a:lnTo>
                    <a:lnTo>
                      <a:pt x="360" y="37"/>
                    </a:lnTo>
                    <a:lnTo>
                      <a:pt x="360" y="43"/>
                    </a:lnTo>
                    <a:lnTo>
                      <a:pt x="366" y="43"/>
                    </a:lnTo>
                    <a:lnTo>
                      <a:pt x="372" y="49"/>
                    </a:lnTo>
                    <a:lnTo>
                      <a:pt x="397" y="43"/>
                    </a:lnTo>
                    <a:lnTo>
                      <a:pt x="403" y="43"/>
                    </a:lnTo>
                    <a:lnTo>
                      <a:pt x="403" y="49"/>
                    </a:lnTo>
                    <a:lnTo>
                      <a:pt x="403" y="56"/>
                    </a:lnTo>
                    <a:lnTo>
                      <a:pt x="379" y="56"/>
                    </a:lnTo>
                    <a:lnTo>
                      <a:pt x="366" y="74"/>
                    </a:lnTo>
                    <a:lnTo>
                      <a:pt x="372" y="68"/>
                    </a:lnTo>
                    <a:lnTo>
                      <a:pt x="366" y="93"/>
                    </a:lnTo>
                    <a:lnTo>
                      <a:pt x="366" y="105"/>
                    </a:lnTo>
                    <a:lnTo>
                      <a:pt x="372" y="112"/>
                    </a:lnTo>
                    <a:lnTo>
                      <a:pt x="385" y="105"/>
                    </a:lnTo>
                    <a:lnTo>
                      <a:pt x="379" y="80"/>
                    </a:lnTo>
                    <a:lnTo>
                      <a:pt x="385" y="68"/>
                    </a:lnTo>
                    <a:lnTo>
                      <a:pt x="391" y="62"/>
                    </a:lnTo>
                    <a:lnTo>
                      <a:pt x="397" y="56"/>
                    </a:lnTo>
                    <a:lnTo>
                      <a:pt x="410" y="62"/>
                    </a:lnTo>
                    <a:lnTo>
                      <a:pt x="416" y="74"/>
                    </a:lnTo>
                    <a:lnTo>
                      <a:pt x="410" y="87"/>
                    </a:lnTo>
                    <a:lnTo>
                      <a:pt x="416" y="80"/>
                    </a:lnTo>
                    <a:lnTo>
                      <a:pt x="422" y="93"/>
                    </a:lnTo>
                    <a:lnTo>
                      <a:pt x="410" y="112"/>
                    </a:lnTo>
                    <a:lnTo>
                      <a:pt x="416" y="112"/>
                    </a:lnTo>
                    <a:lnTo>
                      <a:pt x="428" y="112"/>
                    </a:lnTo>
                    <a:lnTo>
                      <a:pt x="459" y="93"/>
                    </a:lnTo>
                    <a:lnTo>
                      <a:pt x="453" y="87"/>
                    </a:lnTo>
                    <a:lnTo>
                      <a:pt x="484" y="87"/>
                    </a:lnTo>
                    <a:lnTo>
                      <a:pt x="484" y="74"/>
                    </a:lnTo>
                    <a:lnTo>
                      <a:pt x="497" y="68"/>
                    </a:lnTo>
                    <a:lnTo>
                      <a:pt x="528" y="68"/>
                    </a:lnTo>
                    <a:lnTo>
                      <a:pt x="540" y="62"/>
                    </a:lnTo>
                    <a:lnTo>
                      <a:pt x="553" y="31"/>
                    </a:lnTo>
                    <a:lnTo>
                      <a:pt x="559" y="37"/>
                    </a:lnTo>
                    <a:lnTo>
                      <a:pt x="565" y="31"/>
                    </a:lnTo>
                    <a:lnTo>
                      <a:pt x="571" y="37"/>
                    </a:lnTo>
                    <a:lnTo>
                      <a:pt x="571" y="56"/>
                    </a:lnTo>
                    <a:lnTo>
                      <a:pt x="577" y="62"/>
                    </a:lnTo>
                    <a:lnTo>
                      <a:pt x="577" y="68"/>
                    </a:lnTo>
                    <a:lnTo>
                      <a:pt x="571" y="74"/>
                    </a:lnTo>
                    <a:lnTo>
                      <a:pt x="559" y="74"/>
                    </a:lnTo>
                    <a:lnTo>
                      <a:pt x="553" y="80"/>
                    </a:lnTo>
                    <a:lnTo>
                      <a:pt x="546" y="87"/>
                    </a:lnTo>
                    <a:lnTo>
                      <a:pt x="534" y="105"/>
                    </a:lnTo>
                    <a:lnTo>
                      <a:pt x="540" y="112"/>
                    </a:lnTo>
                    <a:lnTo>
                      <a:pt x="546" y="112"/>
                    </a:lnTo>
                    <a:lnTo>
                      <a:pt x="546" y="105"/>
                    </a:lnTo>
                    <a:lnTo>
                      <a:pt x="546" y="112"/>
                    </a:lnTo>
                    <a:lnTo>
                      <a:pt x="534" y="112"/>
                    </a:lnTo>
                    <a:lnTo>
                      <a:pt x="515" y="118"/>
                    </a:lnTo>
                    <a:lnTo>
                      <a:pt x="509" y="124"/>
                    </a:lnTo>
                    <a:lnTo>
                      <a:pt x="503" y="143"/>
                    </a:lnTo>
                    <a:lnTo>
                      <a:pt x="497" y="143"/>
                    </a:lnTo>
                    <a:lnTo>
                      <a:pt x="490" y="136"/>
                    </a:lnTo>
                    <a:lnTo>
                      <a:pt x="497" y="155"/>
                    </a:lnTo>
                    <a:lnTo>
                      <a:pt x="490" y="168"/>
                    </a:lnTo>
                    <a:lnTo>
                      <a:pt x="484" y="168"/>
                    </a:lnTo>
                    <a:lnTo>
                      <a:pt x="490" y="161"/>
                    </a:lnTo>
                    <a:lnTo>
                      <a:pt x="484" y="155"/>
                    </a:lnTo>
                    <a:lnTo>
                      <a:pt x="484" y="136"/>
                    </a:lnTo>
                    <a:lnTo>
                      <a:pt x="484" y="143"/>
                    </a:lnTo>
                    <a:lnTo>
                      <a:pt x="478" y="155"/>
                    </a:lnTo>
                    <a:lnTo>
                      <a:pt x="484" y="161"/>
                    </a:lnTo>
                    <a:lnTo>
                      <a:pt x="484" y="168"/>
                    </a:lnTo>
                    <a:lnTo>
                      <a:pt x="490" y="186"/>
                    </a:lnTo>
                    <a:lnTo>
                      <a:pt x="478" y="199"/>
                    </a:lnTo>
                    <a:lnTo>
                      <a:pt x="459" y="211"/>
                    </a:lnTo>
                    <a:lnTo>
                      <a:pt x="435" y="230"/>
                    </a:lnTo>
                    <a:lnTo>
                      <a:pt x="435" y="242"/>
                    </a:lnTo>
                    <a:lnTo>
                      <a:pt x="447" y="286"/>
                    </a:lnTo>
                    <a:lnTo>
                      <a:pt x="441" y="304"/>
                    </a:lnTo>
                    <a:lnTo>
                      <a:pt x="435" y="304"/>
                    </a:lnTo>
                    <a:lnTo>
                      <a:pt x="428" y="298"/>
                    </a:lnTo>
                    <a:lnTo>
                      <a:pt x="422" y="286"/>
                    </a:lnTo>
                    <a:lnTo>
                      <a:pt x="416" y="261"/>
                    </a:lnTo>
                    <a:lnTo>
                      <a:pt x="410" y="255"/>
                    </a:lnTo>
                    <a:lnTo>
                      <a:pt x="391" y="255"/>
                    </a:lnTo>
                    <a:lnTo>
                      <a:pt x="385" y="248"/>
                    </a:lnTo>
                    <a:lnTo>
                      <a:pt x="366" y="248"/>
                    </a:lnTo>
                    <a:lnTo>
                      <a:pt x="366" y="242"/>
                    </a:lnTo>
                    <a:lnTo>
                      <a:pt x="348" y="248"/>
                    </a:lnTo>
                    <a:lnTo>
                      <a:pt x="341" y="255"/>
                    </a:lnTo>
                    <a:lnTo>
                      <a:pt x="354" y="255"/>
                    </a:lnTo>
                    <a:lnTo>
                      <a:pt x="348" y="255"/>
                    </a:lnTo>
                    <a:lnTo>
                      <a:pt x="354" y="261"/>
                    </a:lnTo>
                    <a:lnTo>
                      <a:pt x="348" y="261"/>
                    </a:lnTo>
                    <a:lnTo>
                      <a:pt x="335" y="261"/>
                    </a:lnTo>
                    <a:lnTo>
                      <a:pt x="329" y="255"/>
                    </a:lnTo>
                    <a:lnTo>
                      <a:pt x="323" y="255"/>
                    </a:lnTo>
                    <a:lnTo>
                      <a:pt x="316" y="255"/>
                    </a:lnTo>
                    <a:lnTo>
                      <a:pt x="298" y="261"/>
                    </a:lnTo>
                    <a:lnTo>
                      <a:pt x="298" y="255"/>
                    </a:lnTo>
                    <a:lnTo>
                      <a:pt x="298" y="261"/>
                    </a:lnTo>
                    <a:lnTo>
                      <a:pt x="273" y="280"/>
                    </a:lnTo>
                    <a:lnTo>
                      <a:pt x="273" y="298"/>
                    </a:lnTo>
                    <a:lnTo>
                      <a:pt x="254" y="292"/>
                    </a:lnTo>
                    <a:lnTo>
                      <a:pt x="229" y="255"/>
                    </a:lnTo>
                    <a:lnTo>
                      <a:pt x="217" y="255"/>
                    </a:lnTo>
                    <a:lnTo>
                      <a:pt x="217" y="261"/>
                    </a:lnTo>
                    <a:lnTo>
                      <a:pt x="211" y="261"/>
                    </a:lnTo>
                    <a:lnTo>
                      <a:pt x="198" y="255"/>
                    </a:lnTo>
                    <a:lnTo>
                      <a:pt x="198" y="248"/>
                    </a:lnTo>
                    <a:lnTo>
                      <a:pt x="180" y="236"/>
                    </a:lnTo>
                    <a:lnTo>
                      <a:pt x="136" y="236"/>
                    </a:lnTo>
                    <a:lnTo>
                      <a:pt x="99" y="224"/>
                    </a:lnTo>
                    <a:lnTo>
                      <a:pt x="74" y="224"/>
                    </a:lnTo>
                    <a:lnTo>
                      <a:pt x="68" y="211"/>
                    </a:lnTo>
                    <a:lnTo>
                      <a:pt x="62" y="211"/>
                    </a:lnTo>
                    <a:lnTo>
                      <a:pt x="62" y="205"/>
                    </a:lnTo>
                    <a:lnTo>
                      <a:pt x="37" y="199"/>
                    </a:lnTo>
                    <a:lnTo>
                      <a:pt x="37" y="192"/>
                    </a:lnTo>
                    <a:lnTo>
                      <a:pt x="24" y="180"/>
                    </a:lnTo>
                    <a:lnTo>
                      <a:pt x="24" y="168"/>
                    </a:lnTo>
                    <a:lnTo>
                      <a:pt x="18" y="168"/>
                    </a:lnTo>
                    <a:lnTo>
                      <a:pt x="18" y="161"/>
                    </a:lnTo>
                    <a:lnTo>
                      <a:pt x="24" y="168"/>
                    </a:lnTo>
                    <a:lnTo>
                      <a:pt x="24" y="155"/>
                    </a:lnTo>
                    <a:lnTo>
                      <a:pt x="18" y="161"/>
                    </a:lnTo>
                    <a:lnTo>
                      <a:pt x="18" y="155"/>
                    </a:lnTo>
                    <a:lnTo>
                      <a:pt x="6" y="149"/>
                    </a:lnTo>
                    <a:lnTo>
                      <a:pt x="6" y="136"/>
                    </a:lnTo>
                    <a:lnTo>
                      <a:pt x="0" y="130"/>
                    </a:lnTo>
                    <a:lnTo>
                      <a:pt x="6" y="112"/>
                    </a:lnTo>
                    <a:lnTo>
                      <a:pt x="0" y="93"/>
                    </a:lnTo>
                    <a:lnTo>
                      <a:pt x="6" y="49"/>
                    </a:lnTo>
                    <a:lnTo>
                      <a:pt x="12" y="49"/>
                    </a:lnTo>
                    <a:lnTo>
                      <a:pt x="6" y="49"/>
                    </a:lnTo>
                    <a:lnTo>
                      <a:pt x="0" y="18"/>
                    </a:lnTo>
                    <a:lnTo>
                      <a:pt x="12" y="18"/>
                    </a:lnTo>
                    <a:lnTo>
                      <a:pt x="18" y="24"/>
                    </a:lnTo>
                    <a:lnTo>
                      <a:pt x="18" y="31"/>
                    </a:lnTo>
                    <a:lnTo>
                      <a:pt x="18" y="12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42" name="Freeform 6">
                <a:extLst>
                  <a:ext uri="{FF2B5EF4-FFF2-40B4-BE49-F238E27FC236}">
                    <a16:creationId xmlns:a16="http://schemas.microsoft.com/office/drawing/2014/main" id="{7EF71C11-E7CC-4966-8BEF-F88B7742052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334198" y="3339685"/>
                <a:ext cx="78978" cy="32882"/>
              </a:xfrm>
              <a:custGeom>
                <a:avLst/>
                <a:gdLst>
                  <a:gd name="T0" fmla="*/ 30 w 31"/>
                  <a:gd name="T1" fmla="*/ 9 h 19"/>
                  <a:gd name="T2" fmla="*/ 12 w 31"/>
                  <a:gd name="T3" fmla="*/ 0 h 19"/>
                  <a:gd name="T4" fmla="*/ 0 w 31"/>
                  <a:gd name="T5" fmla="*/ 9 h 19"/>
                  <a:gd name="T6" fmla="*/ 0 w 31"/>
                  <a:gd name="T7" fmla="*/ 18 h 19"/>
                  <a:gd name="T8" fmla="*/ 24 w 31"/>
                  <a:gd name="T9" fmla="*/ 18 h 19"/>
                  <a:gd name="T10" fmla="*/ 30 w 31"/>
                  <a:gd name="T11" fmla="*/ 18 h 19"/>
                  <a:gd name="T12" fmla="*/ 30 w 31"/>
                  <a:gd name="T13" fmla="*/ 9 h 1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1"/>
                  <a:gd name="T22" fmla="*/ 0 h 19"/>
                  <a:gd name="T23" fmla="*/ 31 w 31"/>
                  <a:gd name="T24" fmla="*/ 19 h 1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1" h="19">
                    <a:moveTo>
                      <a:pt x="30" y="9"/>
                    </a:moveTo>
                    <a:lnTo>
                      <a:pt x="12" y="0"/>
                    </a:lnTo>
                    <a:lnTo>
                      <a:pt x="0" y="9"/>
                    </a:lnTo>
                    <a:lnTo>
                      <a:pt x="0" y="18"/>
                    </a:lnTo>
                    <a:lnTo>
                      <a:pt x="24" y="18"/>
                    </a:lnTo>
                    <a:lnTo>
                      <a:pt x="30" y="18"/>
                    </a:lnTo>
                    <a:lnTo>
                      <a:pt x="30" y="9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43" name="Freeform 7">
                <a:extLst>
                  <a:ext uri="{FF2B5EF4-FFF2-40B4-BE49-F238E27FC236}">
                    <a16:creationId xmlns:a16="http://schemas.microsoft.com/office/drawing/2014/main" id="{A45100DF-29D1-46F7-9D3D-60FE66D83F5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7941849" y="2759928"/>
                <a:ext cx="1566842" cy="719936"/>
              </a:xfrm>
              <a:custGeom>
                <a:avLst/>
                <a:gdLst>
                  <a:gd name="T0" fmla="*/ 155 w 615"/>
                  <a:gd name="T1" fmla="*/ 86 h 416"/>
                  <a:gd name="T2" fmla="*/ 173 w 615"/>
                  <a:gd name="T3" fmla="*/ 124 h 416"/>
                  <a:gd name="T4" fmla="*/ 273 w 615"/>
                  <a:gd name="T5" fmla="*/ 155 h 416"/>
                  <a:gd name="T6" fmla="*/ 341 w 615"/>
                  <a:gd name="T7" fmla="*/ 161 h 416"/>
                  <a:gd name="T8" fmla="*/ 378 w 615"/>
                  <a:gd name="T9" fmla="*/ 136 h 416"/>
                  <a:gd name="T10" fmla="*/ 422 w 615"/>
                  <a:gd name="T11" fmla="*/ 117 h 416"/>
                  <a:gd name="T12" fmla="*/ 459 w 615"/>
                  <a:gd name="T13" fmla="*/ 93 h 416"/>
                  <a:gd name="T14" fmla="*/ 422 w 615"/>
                  <a:gd name="T15" fmla="*/ 93 h 416"/>
                  <a:gd name="T16" fmla="*/ 447 w 615"/>
                  <a:gd name="T17" fmla="*/ 62 h 416"/>
                  <a:gd name="T18" fmla="*/ 472 w 615"/>
                  <a:gd name="T19" fmla="*/ 31 h 416"/>
                  <a:gd name="T20" fmla="*/ 478 w 615"/>
                  <a:gd name="T21" fmla="*/ 6 h 416"/>
                  <a:gd name="T22" fmla="*/ 528 w 615"/>
                  <a:gd name="T23" fmla="*/ 18 h 416"/>
                  <a:gd name="T24" fmla="*/ 571 w 615"/>
                  <a:gd name="T25" fmla="*/ 74 h 416"/>
                  <a:gd name="T26" fmla="*/ 614 w 615"/>
                  <a:gd name="T27" fmla="*/ 80 h 416"/>
                  <a:gd name="T28" fmla="*/ 583 w 615"/>
                  <a:gd name="T29" fmla="*/ 124 h 416"/>
                  <a:gd name="T30" fmla="*/ 577 w 615"/>
                  <a:gd name="T31" fmla="*/ 161 h 416"/>
                  <a:gd name="T32" fmla="*/ 552 w 615"/>
                  <a:gd name="T33" fmla="*/ 167 h 416"/>
                  <a:gd name="T34" fmla="*/ 509 w 615"/>
                  <a:gd name="T35" fmla="*/ 198 h 416"/>
                  <a:gd name="T36" fmla="*/ 484 w 615"/>
                  <a:gd name="T37" fmla="*/ 204 h 416"/>
                  <a:gd name="T38" fmla="*/ 484 w 615"/>
                  <a:gd name="T39" fmla="*/ 186 h 416"/>
                  <a:gd name="T40" fmla="*/ 459 w 615"/>
                  <a:gd name="T41" fmla="*/ 204 h 416"/>
                  <a:gd name="T42" fmla="*/ 459 w 615"/>
                  <a:gd name="T43" fmla="*/ 229 h 416"/>
                  <a:gd name="T44" fmla="*/ 490 w 615"/>
                  <a:gd name="T45" fmla="*/ 235 h 416"/>
                  <a:gd name="T46" fmla="*/ 459 w 615"/>
                  <a:gd name="T47" fmla="*/ 260 h 416"/>
                  <a:gd name="T48" fmla="*/ 484 w 615"/>
                  <a:gd name="T49" fmla="*/ 298 h 416"/>
                  <a:gd name="T50" fmla="*/ 472 w 615"/>
                  <a:gd name="T51" fmla="*/ 310 h 416"/>
                  <a:gd name="T52" fmla="*/ 465 w 615"/>
                  <a:gd name="T53" fmla="*/ 353 h 416"/>
                  <a:gd name="T54" fmla="*/ 453 w 615"/>
                  <a:gd name="T55" fmla="*/ 372 h 416"/>
                  <a:gd name="T56" fmla="*/ 428 w 615"/>
                  <a:gd name="T57" fmla="*/ 391 h 416"/>
                  <a:gd name="T58" fmla="*/ 397 w 615"/>
                  <a:gd name="T59" fmla="*/ 397 h 416"/>
                  <a:gd name="T60" fmla="*/ 366 w 615"/>
                  <a:gd name="T61" fmla="*/ 415 h 416"/>
                  <a:gd name="T62" fmla="*/ 347 w 615"/>
                  <a:gd name="T63" fmla="*/ 409 h 416"/>
                  <a:gd name="T64" fmla="*/ 323 w 615"/>
                  <a:gd name="T65" fmla="*/ 391 h 416"/>
                  <a:gd name="T66" fmla="*/ 291 w 615"/>
                  <a:gd name="T67" fmla="*/ 397 h 416"/>
                  <a:gd name="T68" fmla="*/ 279 w 615"/>
                  <a:gd name="T69" fmla="*/ 403 h 416"/>
                  <a:gd name="T70" fmla="*/ 260 w 615"/>
                  <a:gd name="T71" fmla="*/ 391 h 416"/>
                  <a:gd name="T72" fmla="*/ 242 w 615"/>
                  <a:gd name="T73" fmla="*/ 384 h 416"/>
                  <a:gd name="T74" fmla="*/ 242 w 615"/>
                  <a:gd name="T75" fmla="*/ 335 h 416"/>
                  <a:gd name="T76" fmla="*/ 186 w 615"/>
                  <a:gd name="T77" fmla="*/ 341 h 416"/>
                  <a:gd name="T78" fmla="*/ 149 w 615"/>
                  <a:gd name="T79" fmla="*/ 335 h 416"/>
                  <a:gd name="T80" fmla="*/ 111 w 615"/>
                  <a:gd name="T81" fmla="*/ 329 h 416"/>
                  <a:gd name="T82" fmla="*/ 86 w 615"/>
                  <a:gd name="T83" fmla="*/ 316 h 416"/>
                  <a:gd name="T84" fmla="*/ 49 w 615"/>
                  <a:gd name="T85" fmla="*/ 291 h 416"/>
                  <a:gd name="T86" fmla="*/ 55 w 615"/>
                  <a:gd name="T87" fmla="*/ 273 h 416"/>
                  <a:gd name="T88" fmla="*/ 68 w 615"/>
                  <a:gd name="T89" fmla="*/ 254 h 416"/>
                  <a:gd name="T90" fmla="*/ 24 w 615"/>
                  <a:gd name="T91" fmla="*/ 248 h 416"/>
                  <a:gd name="T92" fmla="*/ 12 w 615"/>
                  <a:gd name="T93" fmla="*/ 217 h 416"/>
                  <a:gd name="T94" fmla="*/ 6 w 615"/>
                  <a:gd name="T95" fmla="*/ 192 h 416"/>
                  <a:gd name="T96" fmla="*/ 43 w 615"/>
                  <a:gd name="T97" fmla="*/ 180 h 416"/>
                  <a:gd name="T98" fmla="*/ 68 w 615"/>
                  <a:gd name="T99" fmla="*/ 130 h 416"/>
                  <a:gd name="T100" fmla="*/ 111 w 615"/>
                  <a:gd name="T101" fmla="*/ 105 h 416"/>
                  <a:gd name="T102" fmla="*/ 130 w 615"/>
                  <a:gd name="T103" fmla="*/ 74 h 41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615"/>
                  <a:gd name="T157" fmla="*/ 0 h 416"/>
                  <a:gd name="T158" fmla="*/ 615 w 615"/>
                  <a:gd name="T159" fmla="*/ 416 h 416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615" h="416">
                    <a:moveTo>
                      <a:pt x="130" y="74"/>
                    </a:moveTo>
                    <a:lnTo>
                      <a:pt x="142" y="74"/>
                    </a:lnTo>
                    <a:lnTo>
                      <a:pt x="155" y="86"/>
                    </a:lnTo>
                    <a:lnTo>
                      <a:pt x="167" y="86"/>
                    </a:lnTo>
                    <a:lnTo>
                      <a:pt x="173" y="105"/>
                    </a:lnTo>
                    <a:lnTo>
                      <a:pt x="173" y="124"/>
                    </a:lnTo>
                    <a:lnTo>
                      <a:pt x="217" y="136"/>
                    </a:lnTo>
                    <a:lnTo>
                      <a:pt x="236" y="161"/>
                    </a:lnTo>
                    <a:lnTo>
                      <a:pt x="273" y="155"/>
                    </a:lnTo>
                    <a:lnTo>
                      <a:pt x="291" y="167"/>
                    </a:lnTo>
                    <a:lnTo>
                      <a:pt x="316" y="173"/>
                    </a:lnTo>
                    <a:lnTo>
                      <a:pt x="341" y="161"/>
                    </a:lnTo>
                    <a:lnTo>
                      <a:pt x="366" y="161"/>
                    </a:lnTo>
                    <a:lnTo>
                      <a:pt x="385" y="149"/>
                    </a:lnTo>
                    <a:lnTo>
                      <a:pt x="378" y="136"/>
                    </a:lnTo>
                    <a:lnTo>
                      <a:pt x="391" y="130"/>
                    </a:lnTo>
                    <a:lnTo>
                      <a:pt x="403" y="130"/>
                    </a:lnTo>
                    <a:lnTo>
                      <a:pt x="422" y="117"/>
                    </a:lnTo>
                    <a:lnTo>
                      <a:pt x="434" y="105"/>
                    </a:lnTo>
                    <a:lnTo>
                      <a:pt x="459" y="105"/>
                    </a:lnTo>
                    <a:lnTo>
                      <a:pt x="459" y="93"/>
                    </a:lnTo>
                    <a:lnTo>
                      <a:pt x="453" y="86"/>
                    </a:lnTo>
                    <a:lnTo>
                      <a:pt x="434" y="93"/>
                    </a:lnTo>
                    <a:lnTo>
                      <a:pt x="422" y="93"/>
                    </a:lnTo>
                    <a:lnTo>
                      <a:pt x="422" y="68"/>
                    </a:lnTo>
                    <a:lnTo>
                      <a:pt x="428" y="55"/>
                    </a:lnTo>
                    <a:lnTo>
                      <a:pt x="447" y="62"/>
                    </a:lnTo>
                    <a:lnTo>
                      <a:pt x="459" y="55"/>
                    </a:lnTo>
                    <a:lnTo>
                      <a:pt x="465" y="31"/>
                    </a:lnTo>
                    <a:lnTo>
                      <a:pt x="472" y="31"/>
                    </a:lnTo>
                    <a:lnTo>
                      <a:pt x="472" y="18"/>
                    </a:lnTo>
                    <a:lnTo>
                      <a:pt x="465" y="18"/>
                    </a:lnTo>
                    <a:lnTo>
                      <a:pt x="478" y="6"/>
                    </a:lnTo>
                    <a:lnTo>
                      <a:pt x="503" y="0"/>
                    </a:lnTo>
                    <a:lnTo>
                      <a:pt x="521" y="6"/>
                    </a:lnTo>
                    <a:lnTo>
                      <a:pt x="528" y="18"/>
                    </a:lnTo>
                    <a:lnTo>
                      <a:pt x="540" y="62"/>
                    </a:lnTo>
                    <a:lnTo>
                      <a:pt x="559" y="62"/>
                    </a:lnTo>
                    <a:lnTo>
                      <a:pt x="571" y="74"/>
                    </a:lnTo>
                    <a:lnTo>
                      <a:pt x="577" y="93"/>
                    </a:lnTo>
                    <a:lnTo>
                      <a:pt x="590" y="93"/>
                    </a:lnTo>
                    <a:lnTo>
                      <a:pt x="614" y="80"/>
                    </a:lnTo>
                    <a:lnTo>
                      <a:pt x="614" y="93"/>
                    </a:lnTo>
                    <a:lnTo>
                      <a:pt x="596" y="130"/>
                    </a:lnTo>
                    <a:lnTo>
                      <a:pt x="583" y="124"/>
                    </a:lnTo>
                    <a:lnTo>
                      <a:pt x="577" y="136"/>
                    </a:lnTo>
                    <a:lnTo>
                      <a:pt x="583" y="155"/>
                    </a:lnTo>
                    <a:lnTo>
                      <a:pt x="577" y="161"/>
                    </a:lnTo>
                    <a:lnTo>
                      <a:pt x="565" y="161"/>
                    </a:lnTo>
                    <a:lnTo>
                      <a:pt x="559" y="167"/>
                    </a:lnTo>
                    <a:lnTo>
                      <a:pt x="552" y="167"/>
                    </a:lnTo>
                    <a:lnTo>
                      <a:pt x="546" y="180"/>
                    </a:lnTo>
                    <a:lnTo>
                      <a:pt x="534" y="173"/>
                    </a:lnTo>
                    <a:lnTo>
                      <a:pt x="509" y="198"/>
                    </a:lnTo>
                    <a:lnTo>
                      <a:pt x="503" y="198"/>
                    </a:lnTo>
                    <a:lnTo>
                      <a:pt x="478" y="211"/>
                    </a:lnTo>
                    <a:lnTo>
                      <a:pt x="484" y="204"/>
                    </a:lnTo>
                    <a:lnTo>
                      <a:pt x="478" y="198"/>
                    </a:lnTo>
                    <a:lnTo>
                      <a:pt x="490" y="192"/>
                    </a:lnTo>
                    <a:lnTo>
                      <a:pt x="484" y="186"/>
                    </a:lnTo>
                    <a:lnTo>
                      <a:pt x="478" y="186"/>
                    </a:lnTo>
                    <a:lnTo>
                      <a:pt x="459" y="198"/>
                    </a:lnTo>
                    <a:lnTo>
                      <a:pt x="459" y="204"/>
                    </a:lnTo>
                    <a:lnTo>
                      <a:pt x="447" y="204"/>
                    </a:lnTo>
                    <a:lnTo>
                      <a:pt x="441" y="211"/>
                    </a:lnTo>
                    <a:lnTo>
                      <a:pt x="459" y="229"/>
                    </a:lnTo>
                    <a:lnTo>
                      <a:pt x="478" y="223"/>
                    </a:lnTo>
                    <a:lnTo>
                      <a:pt x="490" y="229"/>
                    </a:lnTo>
                    <a:lnTo>
                      <a:pt x="490" y="235"/>
                    </a:lnTo>
                    <a:lnTo>
                      <a:pt x="484" y="229"/>
                    </a:lnTo>
                    <a:lnTo>
                      <a:pt x="478" y="235"/>
                    </a:lnTo>
                    <a:lnTo>
                      <a:pt x="459" y="260"/>
                    </a:lnTo>
                    <a:lnTo>
                      <a:pt x="472" y="266"/>
                    </a:lnTo>
                    <a:lnTo>
                      <a:pt x="478" y="285"/>
                    </a:lnTo>
                    <a:lnTo>
                      <a:pt x="484" y="298"/>
                    </a:lnTo>
                    <a:lnTo>
                      <a:pt x="478" y="298"/>
                    </a:lnTo>
                    <a:lnTo>
                      <a:pt x="484" y="304"/>
                    </a:lnTo>
                    <a:lnTo>
                      <a:pt x="472" y="310"/>
                    </a:lnTo>
                    <a:lnTo>
                      <a:pt x="490" y="316"/>
                    </a:lnTo>
                    <a:lnTo>
                      <a:pt x="478" y="335"/>
                    </a:lnTo>
                    <a:lnTo>
                      <a:pt x="465" y="353"/>
                    </a:lnTo>
                    <a:lnTo>
                      <a:pt x="465" y="347"/>
                    </a:lnTo>
                    <a:lnTo>
                      <a:pt x="465" y="360"/>
                    </a:lnTo>
                    <a:lnTo>
                      <a:pt x="453" y="372"/>
                    </a:lnTo>
                    <a:lnTo>
                      <a:pt x="447" y="372"/>
                    </a:lnTo>
                    <a:lnTo>
                      <a:pt x="447" y="378"/>
                    </a:lnTo>
                    <a:lnTo>
                      <a:pt x="428" y="391"/>
                    </a:lnTo>
                    <a:lnTo>
                      <a:pt x="409" y="397"/>
                    </a:lnTo>
                    <a:lnTo>
                      <a:pt x="403" y="397"/>
                    </a:lnTo>
                    <a:lnTo>
                      <a:pt x="397" y="397"/>
                    </a:lnTo>
                    <a:lnTo>
                      <a:pt x="397" y="403"/>
                    </a:lnTo>
                    <a:lnTo>
                      <a:pt x="372" y="409"/>
                    </a:lnTo>
                    <a:lnTo>
                      <a:pt x="366" y="415"/>
                    </a:lnTo>
                    <a:lnTo>
                      <a:pt x="366" y="409"/>
                    </a:lnTo>
                    <a:lnTo>
                      <a:pt x="354" y="403"/>
                    </a:lnTo>
                    <a:lnTo>
                      <a:pt x="347" y="409"/>
                    </a:lnTo>
                    <a:lnTo>
                      <a:pt x="335" y="403"/>
                    </a:lnTo>
                    <a:lnTo>
                      <a:pt x="329" y="391"/>
                    </a:lnTo>
                    <a:lnTo>
                      <a:pt x="323" y="391"/>
                    </a:lnTo>
                    <a:lnTo>
                      <a:pt x="298" y="397"/>
                    </a:lnTo>
                    <a:lnTo>
                      <a:pt x="291" y="391"/>
                    </a:lnTo>
                    <a:lnTo>
                      <a:pt x="291" y="397"/>
                    </a:lnTo>
                    <a:lnTo>
                      <a:pt x="285" y="397"/>
                    </a:lnTo>
                    <a:lnTo>
                      <a:pt x="279" y="409"/>
                    </a:lnTo>
                    <a:lnTo>
                      <a:pt x="279" y="403"/>
                    </a:lnTo>
                    <a:lnTo>
                      <a:pt x="267" y="403"/>
                    </a:lnTo>
                    <a:lnTo>
                      <a:pt x="260" y="397"/>
                    </a:lnTo>
                    <a:lnTo>
                      <a:pt x="260" y="391"/>
                    </a:lnTo>
                    <a:lnTo>
                      <a:pt x="254" y="384"/>
                    </a:lnTo>
                    <a:lnTo>
                      <a:pt x="254" y="378"/>
                    </a:lnTo>
                    <a:lnTo>
                      <a:pt x="242" y="384"/>
                    </a:lnTo>
                    <a:lnTo>
                      <a:pt x="254" y="353"/>
                    </a:lnTo>
                    <a:lnTo>
                      <a:pt x="248" y="335"/>
                    </a:lnTo>
                    <a:lnTo>
                      <a:pt x="242" y="335"/>
                    </a:lnTo>
                    <a:lnTo>
                      <a:pt x="223" y="322"/>
                    </a:lnTo>
                    <a:lnTo>
                      <a:pt x="211" y="322"/>
                    </a:lnTo>
                    <a:lnTo>
                      <a:pt x="186" y="341"/>
                    </a:lnTo>
                    <a:lnTo>
                      <a:pt x="167" y="335"/>
                    </a:lnTo>
                    <a:lnTo>
                      <a:pt x="155" y="341"/>
                    </a:lnTo>
                    <a:lnTo>
                      <a:pt x="149" y="335"/>
                    </a:lnTo>
                    <a:lnTo>
                      <a:pt x="149" y="341"/>
                    </a:lnTo>
                    <a:lnTo>
                      <a:pt x="124" y="335"/>
                    </a:lnTo>
                    <a:lnTo>
                      <a:pt x="111" y="329"/>
                    </a:lnTo>
                    <a:lnTo>
                      <a:pt x="105" y="322"/>
                    </a:lnTo>
                    <a:lnTo>
                      <a:pt x="99" y="322"/>
                    </a:lnTo>
                    <a:lnTo>
                      <a:pt x="86" y="316"/>
                    </a:lnTo>
                    <a:lnTo>
                      <a:pt x="74" y="310"/>
                    </a:lnTo>
                    <a:lnTo>
                      <a:pt x="55" y="304"/>
                    </a:lnTo>
                    <a:lnTo>
                      <a:pt x="49" y="291"/>
                    </a:lnTo>
                    <a:lnTo>
                      <a:pt x="49" y="285"/>
                    </a:lnTo>
                    <a:lnTo>
                      <a:pt x="62" y="285"/>
                    </a:lnTo>
                    <a:lnTo>
                      <a:pt x="55" y="273"/>
                    </a:lnTo>
                    <a:lnTo>
                      <a:pt x="68" y="260"/>
                    </a:lnTo>
                    <a:lnTo>
                      <a:pt x="68" y="248"/>
                    </a:lnTo>
                    <a:lnTo>
                      <a:pt x="68" y="254"/>
                    </a:lnTo>
                    <a:lnTo>
                      <a:pt x="55" y="242"/>
                    </a:lnTo>
                    <a:lnTo>
                      <a:pt x="43" y="248"/>
                    </a:lnTo>
                    <a:lnTo>
                      <a:pt x="24" y="248"/>
                    </a:lnTo>
                    <a:lnTo>
                      <a:pt x="24" y="235"/>
                    </a:lnTo>
                    <a:lnTo>
                      <a:pt x="12" y="229"/>
                    </a:lnTo>
                    <a:lnTo>
                      <a:pt x="12" y="217"/>
                    </a:lnTo>
                    <a:lnTo>
                      <a:pt x="6" y="217"/>
                    </a:lnTo>
                    <a:lnTo>
                      <a:pt x="0" y="211"/>
                    </a:lnTo>
                    <a:lnTo>
                      <a:pt x="6" y="192"/>
                    </a:lnTo>
                    <a:lnTo>
                      <a:pt x="12" y="186"/>
                    </a:lnTo>
                    <a:lnTo>
                      <a:pt x="31" y="186"/>
                    </a:lnTo>
                    <a:lnTo>
                      <a:pt x="43" y="180"/>
                    </a:lnTo>
                    <a:lnTo>
                      <a:pt x="62" y="167"/>
                    </a:lnTo>
                    <a:lnTo>
                      <a:pt x="74" y="155"/>
                    </a:lnTo>
                    <a:lnTo>
                      <a:pt x="68" y="130"/>
                    </a:lnTo>
                    <a:lnTo>
                      <a:pt x="86" y="124"/>
                    </a:lnTo>
                    <a:lnTo>
                      <a:pt x="93" y="99"/>
                    </a:lnTo>
                    <a:lnTo>
                      <a:pt x="111" y="105"/>
                    </a:lnTo>
                    <a:lnTo>
                      <a:pt x="118" y="99"/>
                    </a:lnTo>
                    <a:lnTo>
                      <a:pt x="124" y="80"/>
                    </a:lnTo>
                    <a:lnTo>
                      <a:pt x="130" y="74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44" name="Freeform 8">
                <a:extLst>
                  <a:ext uri="{FF2B5EF4-FFF2-40B4-BE49-F238E27FC236}">
                    <a16:creationId xmlns:a16="http://schemas.microsoft.com/office/drawing/2014/main" id="{CCBE0A92-B850-4A0C-87DC-D1AB71F0FB8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7796631" y="3178736"/>
                <a:ext cx="761765" cy="515724"/>
              </a:xfrm>
              <a:custGeom>
                <a:avLst/>
                <a:gdLst>
                  <a:gd name="T0" fmla="*/ 280 w 299"/>
                  <a:gd name="T1" fmla="*/ 80 h 298"/>
                  <a:gd name="T2" fmla="*/ 292 w 299"/>
                  <a:gd name="T3" fmla="*/ 105 h 298"/>
                  <a:gd name="T4" fmla="*/ 274 w 299"/>
                  <a:gd name="T5" fmla="*/ 111 h 298"/>
                  <a:gd name="T6" fmla="*/ 255 w 299"/>
                  <a:gd name="T7" fmla="*/ 142 h 298"/>
                  <a:gd name="T8" fmla="*/ 249 w 299"/>
                  <a:gd name="T9" fmla="*/ 161 h 298"/>
                  <a:gd name="T10" fmla="*/ 236 w 299"/>
                  <a:gd name="T11" fmla="*/ 148 h 298"/>
                  <a:gd name="T12" fmla="*/ 230 w 299"/>
                  <a:gd name="T13" fmla="*/ 136 h 298"/>
                  <a:gd name="T14" fmla="*/ 224 w 299"/>
                  <a:gd name="T15" fmla="*/ 124 h 298"/>
                  <a:gd name="T16" fmla="*/ 211 w 299"/>
                  <a:gd name="T17" fmla="*/ 111 h 298"/>
                  <a:gd name="T18" fmla="*/ 205 w 299"/>
                  <a:gd name="T19" fmla="*/ 111 h 298"/>
                  <a:gd name="T20" fmla="*/ 205 w 299"/>
                  <a:gd name="T21" fmla="*/ 124 h 298"/>
                  <a:gd name="T22" fmla="*/ 205 w 299"/>
                  <a:gd name="T23" fmla="*/ 136 h 298"/>
                  <a:gd name="T24" fmla="*/ 205 w 299"/>
                  <a:gd name="T25" fmla="*/ 167 h 298"/>
                  <a:gd name="T26" fmla="*/ 193 w 299"/>
                  <a:gd name="T27" fmla="*/ 167 h 298"/>
                  <a:gd name="T28" fmla="*/ 174 w 299"/>
                  <a:gd name="T29" fmla="*/ 186 h 298"/>
                  <a:gd name="T30" fmla="*/ 143 w 299"/>
                  <a:gd name="T31" fmla="*/ 217 h 298"/>
                  <a:gd name="T32" fmla="*/ 130 w 299"/>
                  <a:gd name="T33" fmla="*/ 223 h 298"/>
                  <a:gd name="T34" fmla="*/ 124 w 299"/>
                  <a:gd name="T35" fmla="*/ 229 h 298"/>
                  <a:gd name="T36" fmla="*/ 118 w 299"/>
                  <a:gd name="T37" fmla="*/ 260 h 298"/>
                  <a:gd name="T38" fmla="*/ 112 w 299"/>
                  <a:gd name="T39" fmla="*/ 279 h 298"/>
                  <a:gd name="T40" fmla="*/ 105 w 299"/>
                  <a:gd name="T41" fmla="*/ 291 h 298"/>
                  <a:gd name="T42" fmla="*/ 87 w 299"/>
                  <a:gd name="T43" fmla="*/ 291 h 298"/>
                  <a:gd name="T44" fmla="*/ 56 w 299"/>
                  <a:gd name="T45" fmla="*/ 217 h 298"/>
                  <a:gd name="T46" fmla="*/ 49 w 299"/>
                  <a:gd name="T47" fmla="*/ 155 h 298"/>
                  <a:gd name="T48" fmla="*/ 37 w 299"/>
                  <a:gd name="T49" fmla="*/ 167 h 298"/>
                  <a:gd name="T50" fmla="*/ 12 w 299"/>
                  <a:gd name="T51" fmla="*/ 155 h 298"/>
                  <a:gd name="T52" fmla="*/ 24 w 299"/>
                  <a:gd name="T53" fmla="*/ 148 h 298"/>
                  <a:gd name="T54" fmla="*/ 0 w 299"/>
                  <a:gd name="T55" fmla="*/ 142 h 298"/>
                  <a:gd name="T56" fmla="*/ 31 w 299"/>
                  <a:gd name="T57" fmla="*/ 136 h 298"/>
                  <a:gd name="T58" fmla="*/ 24 w 299"/>
                  <a:gd name="T59" fmla="*/ 117 h 298"/>
                  <a:gd name="T60" fmla="*/ 18 w 299"/>
                  <a:gd name="T61" fmla="*/ 111 h 298"/>
                  <a:gd name="T62" fmla="*/ 24 w 299"/>
                  <a:gd name="T63" fmla="*/ 93 h 298"/>
                  <a:gd name="T64" fmla="*/ 37 w 299"/>
                  <a:gd name="T65" fmla="*/ 93 h 298"/>
                  <a:gd name="T66" fmla="*/ 68 w 299"/>
                  <a:gd name="T67" fmla="*/ 49 h 298"/>
                  <a:gd name="T68" fmla="*/ 74 w 299"/>
                  <a:gd name="T69" fmla="*/ 43 h 298"/>
                  <a:gd name="T70" fmla="*/ 62 w 299"/>
                  <a:gd name="T71" fmla="*/ 24 h 298"/>
                  <a:gd name="T72" fmla="*/ 80 w 299"/>
                  <a:gd name="T73" fmla="*/ 18 h 298"/>
                  <a:gd name="T74" fmla="*/ 99 w 299"/>
                  <a:gd name="T75" fmla="*/ 6 h 298"/>
                  <a:gd name="T76" fmla="*/ 124 w 299"/>
                  <a:gd name="T77" fmla="*/ 6 h 298"/>
                  <a:gd name="T78" fmla="*/ 112 w 299"/>
                  <a:gd name="T79" fmla="*/ 31 h 298"/>
                  <a:gd name="T80" fmla="*/ 105 w 299"/>
                  <a:gd name="T81" fmla="*/ 43 h 298"/>
                  <a:gd name="T82" fmla="*/ 130 w 299"/>
                  <a:gd name="T83" fmla="*/ 68 h 298"/>
                  <a:gd name="T84" fmla="*/ 137 w 299"/>
                  <a:gd name="T85" fmla="*/ 93 h 298"/>
                  <a:gd name="T86" fmla="*/ 199 w 299"/>
                  <a:gd name="T87" fmla="*/ 111 h 298"/>
                  <a:gd name="T88" fmla="*/ 205 w 299"/>
                  <a:gd name="T89" fmla="*/ 93 h 298"/>
                  <a:gd name="T90" fmla="*/ 211 w 299"/>
                  <a:gd name="T91" fmla="*/ 105 h 298"/>
                  <a:gd name="T92" fmla="*/ 242 w 299"/>
                  <a:gd name="T93" fmla="*/ 105 h 298"/>
                  <a:gd name="T94" fmla="*/ 267 w 299"/>
                  <a:gd name="T95" fmla="*/ 80 h 298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99"/>
                  <a:gd name="T145" fmla="*/ 0 h 298"/>
                  <a:gd name="T146" fmla="*/ 299 w 299"/>
                  <a:gd name="T147" fmla="*/ 298 h 298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99" h="298">
                    <a:moveTo>
                      <a:pt x="267" y="80"/>
                    </a:moveTo>
                    <a:lnTo>
                      <a:pt x="280" y="80"/>
                    </a:lnTo>
                    <a:lnTo>
                      <a:pt x="298" y="93"/>
                    </a:lnTo>
                    <a:lnTo>
                      <a:pt x="292" y="105"/>
                    </a:lnTo>
                    <a:lnTo>
                      <a:pt x="286" y="105"/>
                    </a:lnTo>
                    <a:lnTo>
                      <a:pt x="274" y="111"/>
                    </a:lnTo>
                    <a:lnTo>
                      <a:pt x="261" y="136"/>
                    </a:lnTo>
                    <a:lnTo>
                      <a:pt x="255" y="142"/>
                    </a:lnTo>
                    <a:lnTo>
                      <a:pt x="255" y="155"/>
                    </a:lnTo>
                    <a:lnTo>
                      <a:pt x="249" y="161"/>
                    </a:lnTo>
                    <a:lnTo>
                      <a:pt x="242" y="142"/>
                    </a:lnTo>
                    <a:lnTo>
                      <a:pt x="236" y="148"/>
                    </a:lnTo>
                    <a:lnTo>
                      <a:pt x="230" y="142"/>
                    </a:lnTo>
                    <a:lnTo>
                      <a:pt x="230" y="136"/>
                    </a:lnTo>
                    <a:lnTo>
                      <a:pt x="242" y="124"/>
                    </a:lnTo>
                    <a:lnTo>
                      <a:pt x="224" y="124"/>
                    </a:lnTo>
                    <a:lnTo>
                      <a:pt x="217" y="111"/>
                    </a:lnTo>
                    <a:lnTo>
                      <a:pt x="211" y="111"/>
                    </a:lnTo>
                    <a:lnTo>
                      <a:pt x="211" y="117"/>
                    </a:lnTo>
                    <a:lnTo>
                      <a:pt x="205" y="111"/>
                    </a:lnTo>
                    <a:lnTo>
                      <a:pt x="205" y="117"/>
                    </a:lnTo>
                    <a:lnTo>
                      <a:pt x="205" y="124"/>
                    </a:lnTo>
                    <a:lnTo>
                      <a:pt x="199" y="130"/>
                    </a:lnTo>
                    <a:lnTo>
                      <a:pt x="205" y="136"/>
                    </a:lnTo>
                    <a:lnTo>
                      <a:pt x="211" y="161"/>
                    </a:lnTo>
                    <a:lnTo>
                      <a:pt x="205" y="167"/>
                    </a:lnTo>
                    <a:lnTo>
                      <a:pt x="205" y="161"/>
                    </a:lnTo>
                    <a:lnTo>
                      <a:pt x="193" y="167"/>
                    </a:lnTo>
                    <a:lnTo>
                      <a:pt x="186" y="180"/>
                    </a:lnTo>
                    <a:lnTo>
                      <a:pt x="174" y="186"/>
                    </a:lnTo>
                    <a:lnTo>
                      <a:pt x="143" y="211"/>
                    </a:lnTo>
                    <a:lnTo>
                      <a:pt x="143" y="217"/>
                    </a:lnTo>
                    <a:lnTo>
                      <a:pt x="130" y="217"/>
                    </a:lnTo>
                    <a:lnTo>
                      <a:pt x="130" y="223"/>
                    </a:lnTo>
                    <a:lnTo>
                      <a:pt x="124" y="223"/>
                    </a:lnTo>
                    <a:lnTo>
                      <a:pt x="124" y="229"/>
                    </a:lnTo>
                    <a:lnTo>
                      <a:pt x="124" y="248"/>
                    </a:lnTo>
                    <a:lnTo>
                      <a:pt x="118" y="260"/>
                    </a:lnTo>
                    <a:lnTo>
                      <a:pt x="118" y="279"/>
                    </a:lnTo>
                    <a:lnTo>
                      <a:pt x="112" y="279"/>
                    </a:lnTo>
                    <a:lnTo>
                      <a:pt x="112" y="285"/>
                    </a:lnTo>
                    <a:lnTo>
                      <a:pt x="105" y="291"/>
                    </a:lnTo>
                    <a:lnTo>
                      <a:pt x="99" y="297"/>
                    </a:lnTo>
                    <a:lnTo>
                      <a:pt x="87" y="291"/>
                    </a:lnTo>
                    <a:lnTo>
                      <a:pt x="68" y="235"/>
                    </a:lnTo>
                    <a:lnTo>
                      <a:pt x="56" y="217"/>
                    </a:lnTo>
                    <a:lnTo>
                      <a:pt x="49" y="180"/>
                    </a:lnTo>
                    <a:lnTo>
                      <a:pt x="49" y="155"/>
                    </a:lnTo>
                    <a:lnTo>
                      <a:pt x="43" y="155"/>
                    </a:lnTo>
                    <a:lnTo>
                      <a:pt x="37" y="167"/>
                    </a:lnTo>
                    <a:lnTo>
                      <a:pt x="24" y="173"/>
                    </a:lnTo>
                    <a:lnTo>
                      <a:pt x="12" y="155"/>
                    </a:lnTo>
                    <a:lnTo>
                      <a:pt x="24" y="155"/>
                    </a:lnTo>
                    <a:lnTo>
                      <a:pt x="24" y="148"/>
                    </a:lnTo>
                    <a:lnTo>
                      <a:pt x="12" y="148"/>
                    </a:lnTo>
                    <a:lnTo>
                      <a:pt x="0" y="142"/>
                    </a:lnTo>
                    <a:lnTo>
                      <a:pt x="12" y="136"/>
                    </a:lnTo>
                    <a:lnTo>
                      <a:pt x="31" y="136"/>
                    </a:lnTo>
                    <a:lnTo>
                      <a:pt x="31" y="130"/>
                    </a:lnTo>
                    <a:lnTo>
                      <a:pt x="24" y="117"/>
                    </a:lnTo>
                    <a:lnTo>
                      <a:pt x="24" y="111"/>
                    </a:lnTo>
                    <a:lnTo>
                      <a:pt x="18" y="111"/>
                    </a:lnTo>
                    <a:lnTo>
                      <a:pt x="18" y="105"/>
                    </a:lnTo>
                    <a:lnTo>
                      <a:pt x="24" y="93"/>
                    </a:lnTo>
                    <a:lnTo>
                      <a:pt x="31" y="99"/>
                    </a:lnTo>
                    <a:lnTo>
                      <a:pt x="37" y="93"/>
                    </a:lnTo>
                    <a:lnTo>
                      <a:pt x="68" y="62"/>
                    </a:lnTo>
                    <a:lnTo>
                      <a:pt x="68" y="49"/>
                    </a:lnTo>
                    <a:lnTo>
                      <a:pt x="74" y="49"/>
                    </a:lnTo>
                    <a:lnTo>
                      <a:pt x="74" y="43"/>
                    </a:lnTo>
                    <a:lnTo>
                      <a:pt x="62" y="37"/>
                    </a:lnTo>
                    <a:lnTo>
                      <a:pt x="62" y="24"/>
                    </a:lnTo>
                    <a:lnTo>
                      <a:pt x="62" y="18"/>
                    </a:lnTo>
                    <a:lnTo>
                      <a:pt x="80" y="18"/>
                    </a:lnTo>
                    <a:lnTo>
                      <a:pt x="93" y="18"/>
                    </a:lnTo>
                    <a:lnTo>
                      <a:pt x="99" y="6"/>
                    </a:lnTo>
                    <a:lnTo>
                      <a:pt x="112" y="0"/>
                    </a:lnTo>
                    <a:lnTo>
                      <a:pt x="124" y="6"/>
                    </a:lnTo>
                    <a:lnTo>
                      <a:pt x="124" y="18"/>
                    </a:lnTo>
                    <a:lnTo>
                      <a:pt x="112" y="31"/>
                    </a:lnTo>
                    <a:lnTo>
                      <a:pt x="118" y="43"/>
                    </a:lnTo>
                    <a:lnTo>
                      <a:pt x="105" y="43"/>
                    </a:lnTo>
                    <a:lnTo>
                      <a:pt x="112" y="62"/>
                    </a:lnTo>
                    <a:lnTo>
                      <a:pt x="130" y="68"/>
                    </a:lnTo>
                    <a:lnTo>
                      <a:pt x="124" y="86"/>
                    </a:lnTo>
                    <a:lnTo>
                      <a:pt x="137" y="93"/>
                    </a:lnTo>
                    <a:lnTo>
                      <a:pt x="193" y="111"/>
                    </a:lnTo>
                    <a:lnTo>
                      <a:pt x="199" y="111"/>
                    </a:lnTo>
                    <a:lnTo>
                      <a:pt x="199" y="105"/>
                    </a:lnTo>
                    <a:lnTo>
                      <a:pt x="205" y="93"/>
                    </a:lnTo>
                    <a:lnTo>
                      <a:pt x="211" y="99"/>
                    </a:lnTo>
                    <a:lnTo>
                      <a:pt x="211" y="105"/>
                    </a:lnTo>
                    <a:lnTo>
                      <a:pt x="236" y="105"/>
                    </a:lnTo>
                    <a:lnTo>
                      <a:pt x="242" y="105"/>
                    </a:lnTo>
                    <a:lnTo>
                      <a:pt x="242" y="99"/>
                    </a:lnTo>
                    <a:lnTo>
                      <a:pt x="267" y="80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45" name="Freeform 9">
                <a:extLst>
                  <a:ext uri="{FF2B5EF4-FFF2-40B4-BE49-F238E27FC236}">
                    <a16:creationId xmlns:a16="http://schemas.microsoft.com/office/drawing/2014/main" id="{BC5268FE-9972-4072-88B2-F86A505D73C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127926" y="4135767"/>
                <a:ext cx="221651" cy="785700"/>
              </a:xfrm>
              <a:custGeom>
                <a:avLst/>
                <a:gdLst>
                  <a:gd name="T0" fmla="*/ 62 w 87"/>
                  <a:gd name="T1" fmla="*/ 0 h 454"/>
                  <a:gd name="T2" fmla="*/ 68 w 87"/>
                  <a:gd name="T3" fmla="*/ 24 h 454"/>
                  <a:gd name="T4" fmla="*/ 86 w 87"/>
                  <a:gd name="T5" fmla="*/ 55 h 454"/>
                  <a:gd name="T6" fmla="*/ 74 w 87"/>
                  <a:gd name="T7" fmla="*/ 74 h 454"/>
                  <a:gd name="T8" fmla="*/ 62 w 87"/>
                  <a:gd name="T9" fmla="*/ 111 h 454"/>
                  <a:gd name="T10" fmla="*/ 55 w 87"/>
                  <a:gd name="T11" fmla="*/ 179 h 454"/>
                  <a:gd name="T12" fmla="*/ 49 w 87"/>
                  <a:gd name="T13" fmla="*/ 204 h 454"/>
                  <a:gd name="T14" fmla="*/ 43 w 87"/>
                  <a:gd name="T15" fmla="*/ 235 h 454"/>
                  <a:gd name="T16" fmla="*/ 37 w 87"/>
                  <a:gd name="T17" fmla="*/ 279 h 454"/>
                  <a:gd name="T18" fmla="*/ 37 w 87"/>
                  <a:gd name="T19" fmla="*/ 310 h 454"/>
                  <a:gd name="T20" fmla="*/ 43 w 87"/>
                  <a:gd name="T21" fmla="*/ 316 h 454"/>
                  <a:gd name="T22" fmla="*/ 43 w 87"/>
                  <a:gd name="T23" fmla="*/ 322 h 454"/>
                  <a:gd name="T24" fmla="*/ 31 w 87"/>
                  <a:gd name="T25" fmla="*/ 359 h 454"/>
                  <a:gd name="T26" fmla="*/ 24 w 87"/>
                  <a:gd name="T27" fmla="*/ 390 h 454"/>
                  <a:gd name="T28" fmla="*/ 24 w 87"/>
                  <a:gd name="T29" fmla="*/ 403 h 454"/>
                  <a:gd name="T30" fmla="*/ 31 w 87"/>
                  <a:gd name="T31" fmla="*/ 415 h 454"/>
                  <a:gd name="T32" fmla="*/ 62 w 87"/>
                  <a:gd name="T33" fmla="*/ 422 h 454"/>
                  <a:gd name="T34" fmla="*/ 62 w 87"/>
                  <a:gd name="T35" fmla="*/ 429 h 454"/>
                  <a:gd name="T36" fmla="*/ 49 w 87"/>
                  <a:gd name="T37" fmla="*/ 453 h 454"/>
                  <a:gd name="T38" fmla="*/ 37 w 87"/>
                  <a:gd name="T39" fmla="*/ 447 h 454"/>
                  <a:gd name="T40" fmla="*/ 43 w 87"/>
                  <a:gd name="T41" fmla="*/ 435 h 454"/>
                  <a:gd name="T42" fmla="*/ 24 w 87"/>
                  <a:gd name="T43" fmla="*/ 435 h 454"/>
                  <a:gd name="T44" fmla="*/ 12 w 87"/>
                  <a:gd name="T45" fmla="*/ 422 h 454"/>
                  <a:gd name="T46" fmla="*/ 6 w 87"/>
                  <a:gd name="T47" fmla="*/ 429 h 454"/>
                  <a:gd name="T48" fmla="*/ 12 w 87"/>
                  <a:gd name="T49" fmla="*/ 422 h 454"/>
                  <a:gd name="T50" fmla="*/ 12 w 87"/>
                  <a:gd name="T51" fmla="*/ 409 h 454"/>
                  <a:gd name="T52" fmla="*/ 6 w 87"/>
                  <a:gd name="T53" fmla="*/ 403 h 454"/>
                  <a:gd name="T54" fmla="*/ 12 w 87"/>
                  <a:gd name="T55" fmla="*/ 390 h 454"/>
                  <a:gd name="T56" fmla="*/ 6 w 87"/>
                  <a:gd name="T57" fmla="*/ 390 h 454"/>
                  <a:gd name="T58" fmla="*/ 0 w 87"/>
                  <a:gd name="T59" fmla="*/ 378 h 454"/>
                  <a:gd name="T60" fmla="*/ 12 w 87"/>
                  <a:gd name="T61" fmla="*/ 366 h 454"/>
                  <a:gd name="T62" fmla="*/ 6 w 87"/>
                  <a:gd name="T63" fmla="*/ 341 h 454"/>
                  <a:gd name="T64" fmla="*/ 0 w 87"/>
                  <a:gd name="T65" fmla="*/ 341 h 454"/>
                  <a:gd name="T66" fmla="*/ 6 w 87"/>
                  <a:gd name="T67" fmla="*/ 328 h 454"/>
                  <a:gd name="T68" fmla="*/ 12 w 87"/>
                  <a:gd name="T69" fmla="*/ 310 h 454"/>
                  <a:gd name="T70" fmla="*/ 24 w 87"/>
                  <a:gd name="T71" fmla="*/ 310 h 454"/>
                  <a:gd name="T72" fmla="*/ 18 w 87"/>
                  <a:gd name="T73" fmla="*/ 328 h 454"/>
                  <a:gd name="T74" fmla="*/ 31 w 87"/>
                  <a:gd name="T75" fmla="*/ 273 h 454"/>
                  <a:gd name="T76" fmla="*/ 18 w 87"/>
                  <a:gd name="T77" fmla="*/ 273 h 454"/>
                  <a:gd name="T78" fmla="*/ 24 w 87"/>
                  <a:gd name="T79" fmla="*/ 248 h 454"/>
                  <a:gd name="T80" fmla="*/ 24 w 87"/>
                  <a:gd name="T81" fmla="*/ 217 h 454"/>
                  <a:gd name="T82" fmla="*/ 37 w 87"/>
                  <a:gd name="T83" fmla="*/ 142 h 454"/>
                  <a:gd name="T84" fmla="*/ 43 w 87"/>
                  <a:gd name="T85" fmla="*/ 124 h 454"/>
                  <a:gd name="T86" fmla="*/ 49 w 87"/>
                  <a:gd name="T87" fmla="*/ 55 h 454"/>
                  <a:gd name="T88" fmla="*/ 49 w 87"/>
                  <a:gd name="T89" fmla="*/ 6 h 454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87"/>
                  <a:gd name="T136" fmla="*/ 0 h 454"/>
                  <a:gd name="T137" fmla="*/ 87 w 87"/>
                  <a:gd name="T138" fmla="*/ 454 h 454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87" h="454">
                    <a:moveTo>
                      <a:pt x="49" y="6"/>
                    </a:moveTo>
                    <a:lnTo>
                      <a:pt x="62" y="0"/>
                    </a:lnTo>
                    <a:lnTo>
                      <a:pt x="68" y="18"/>
                    </a:lnTo>
                    <a:lnTo>
                      <a:pt x="68" y="24"/>
                    </a:lnTo>
                    <a:lnTo>
                      <a:pt x="74" y="55"/>
                    </a:lnTo>
                    <a:lnTo>
                      <a:pt x="86" y="55"/>
                    </a:lnTo>
                    <a:lnTo>
                      <a:pt x="80" y="68"/>
                    </a:lnTo>
                    <a:lnTo>
                      <a:pt x="74" y="74"/>
                    </a:lnTo>
                    <a:lnTo>
                      <a:pt x="74" y="93"/>
                    </a:lnTo>
                    <a:lnTo>
                      <a:pt x="62" y="111"/>
                    </a:lnTo>
                    <a:lnTo>
                      <a:pt x="49" y="148"/>
                    </a:lnTo>
                    <a:lnTo>
                      <a:pt x="55" y="179"/>
                    </a:lnTo>
                    <a:lnTo>
                      <a:pt x="49" y="192"/>
                    </a:lnTo>
                    <a:lnTo>
                      <a:pt x="49" y="204"/>
                    </a:lnTo>
                    <a:lnTo>
                      <a:pt x="43" y="210"/>
                    </a:lnTo>
                    <a:lnTo>
                      <a:pt x="43" y="235"/>
                    </a:lnTo>
                    <a:lnTo>
                      <a:pt x="37" y="248"/>
                    </a:lnTo>
                    <a:lnTo>
                      <a:pt x="37" y="279"/>
                    </a:lnTo>
                    <a:lnTo>
                      <a:pt x="37" y="285"/>
                    </a:lnTo>
                    <a:lnTo>
                      <a:pt x="37" y="310"/>
                    </a:lnTo>
                    <a:lnTo>
                      <a:pt x="43" y="310"/>
                    </a:lnTo>
                    <a:lnTo>
                      <a:pt x="43" y="316"/>
                    </a:lnTo>
                    <a:lnTo>
                      <a:pt x="37" y="316"/>
                    </a:lnTo>
                    <a:lnTo>
                      <a:pt x="43" y="322"/>
                    </a:lnTo>
                    <a:lnTo>
                      <a:pt x="37" y="341"/>
                    </a:lnTo>
                    <a:lnTo>
                      <a:pt x="31" y="359"/>
                    </a:lnTo>
                    <a:lnTo>
                      <a:pt x="31" y="366"/>
                    </a:lnTo>
                    <a:lnTo>
                      <a:pt x="24" y="390"/>
                    </a:lnTo>
                    <a:lnTo>
                      <a:pt x="24" y="397"/>
                    </a:lnTo>
                    <a:lnTo>
                      <a:pt x="24" y="403"/>
                    </a:lnTo>
                    <a:lnTo>
                      <a:pt x="31" y="403"/>
                    </a:lnTo>
                    <a:lnTo>
                      <a:pt x="31" y="415"/>
                    </a:lnTo>
                    <a:lnTo>
                      <a:pt x="37" y="422"/>
                    </a:lnTo>
                    <a:lnTo>
                      <a:pt x="62" y="422"/>
                    </a:lnTo>
                    <a:lnTo>
                      <a:pt x="74" y="429"/>
                    </a:lnTo>
                    <a:lnTo>
                      <a:pt x="62" y="429"/>
                    </a:lnTo>
                    <a:lnTo>
                      <a:pt x="49" y="435"/>
                    </a:lnTo>
                    <a:lnTo>
                      <a:pt x="49" y="453"/>
                    </a:lnTo>
                    <a:lnTo>
                      <a:pt x="43" y="453"/>
                    </a:lnTo>
                    <a:lnTo>
                      <a:pt x="37" y="447"/>
                    </a:lnTo>
                    <a:lnTo>
                      <a:pt x="43" y="441"/>
                    </a:lnTo>
                    <a:lnTo>
                      <a:pt x="43" y="435"/>
                    </a:lnTo>
                    <a:lnTo>
                      <a:pt x="31" y="447"/>
                    </a:lnTo>
                    <a:lnTo>
                      <a:pt x="24" y="435"/>
                    </a:lnTo>
                    <a:lnTo>
                      <a:pt x="18" y="435"/>
                    </a:lnTo>
                    <a:lnTo>
                      <a:pt x="12" y="422"/>
                    </a:lnTo>
                    <a:lnTo>
                      <a:pt x="12" y="429"/>
                    </a:lnTo>
                    <a:lnTo>
                      <a:pt x="6" y="429"/>
                    </a:lnTo>
                    <a:lnTo>
                      <a:pt x="6" y="415"/>
                    </a:lnTo>
                    <a:lnTo>
                      <a:pt x="12" y="422"/>
                    </a:lnTo>
                    <a:lnTo>
                      <a:pt x="12" y="415"/>
                    </a:lnTo>
                    <a:lnTo>
                      <a:pt x="12" y="409"/>
                    </a:lnTo>
                    <a:lnTo>
                      <a:pt x="6" y="415"/>
                    </a:lnTo>
                    <a:lnTo>
                      <a:pt x="6" y="403"/>
                    </a:lnTo>
                    <a:lnTo>
                      <a:pt x="12" y="403"/>
                    </a:lnTo>
                    <a:lnTo>
                      <a:pt x="12" y="390"/>
                    </a:lnTo>
                    <a:lnTo>
                      <a:pt x="6" y="403"/>
                    </a:lnTo>
                    <a:lnTo>
                      <a:pt x="6" y="390"/>
                    </a:lnTo>
                    <a:lnTo>
                      <a:pt x="0" y="390"/>
                    </a:lnTo>
                    <a:lnTo>
                      <a:pt x="0" y="378"/>
                    </a:lnTo>
                    <a:lnTo>
                      <a:pt x="6" y="359"/>
                    </a:lnTo>
                    <a:lnTo>
                      <a:pt x="12" y="366"/>
                    </a:lnTo>
                    <a:lnTo>
                      <a:pt x="18" y="347"/>
                    </a:lnTo>
                    <a:lnTo>
                      <a:pt x="6" y="341"/>
                    </a:lnTo>
                    <a:lnTo>
                      <a:pt x="0" y="347"/>
                    </a:lnTo>
                    <a:lnTo>
                      <a:pt x="0" y="341"/>
                    </a:lnTo>
                    <a:lnTo>
                      <a:pt x="6" y="335"/>
                    </a:lnTo>
                    <a:lnTo>
                      <a:pt x="6" y="328"/>
                    </a:lnTo>
                    <a:lnTo>
                      <a:pt x="12" y="328"/>
                    </a:lnTo>
                    <a:lnTo>
                      <a:pt x="12" y="310"/>
                    </a:lnTo>
                    <a:lnTo>
                      <a:pt x="18" y="304"/>
                    </a:lnTo>
                    <a:lnTo>
                      <a:pt x="24" y="310"/>
                    </a:lnTo>
                    <a:lnTo>
                      <a:pt x="18" y="316"/>
                    </a:lnTo>
                    <a:lnTo>
                      <a:pt x="18" y="328"/>
                    </a:lnTo>
                    <a:lnTo>
                      <a:pt x="31" y="279"/>
                    </a:lnTo>
                    <a:lnTo>
                      <a:pt x="31" y="273"/>
                    </a:lnTo>
                    <a:lnTo>
                      <a:pt x="24" y="273"/>
                    </a:lnTo>
                    <a:lnTo>
                      <a:pt x="18" y="273"/>
                    </a:lnTo>
                    <a:lnTo>
                      <a:pt x="18" y="254"/>
                    </a:lnTo>
                    <a:lnTo>
                      <a:pt x="24" y="248"/>
                    </a:lnTo>
                    <a:lnTo>
                      <a:pt x="18" y="223"/>
                    </a:lnTo>
                    <a:lnTo>
                      <a:pt x="24" y="217"/>
                    </a:lnTo>
                    <a:lnTo>
                      <a:pt x="43" y="161"/>
                    </a:lnTo>
                    <a:lnTo>
                      <a:pt x="37" y="142"/>
                    </a:lnTo>
                    <a:lnTo>
                      <a:pt x="43" y="130"/>
                    </a:lnTo>
                    <a:lnTo>
                      <a:pt x="43" y="124"/>
                    </a:lnTo>
                    <a:lnTo>
                      <a:pt x="49" y="93"/>
                    </a:lnTo>
                    <a:lnTo>
                      <a:pt x="49" y="55"/>
                    </a:lnTo>
                    <a:lnTo>
                      <a:pt x="55" y="43"/>
                    </a:lnTo>
                    <a:lnTo>
                      <a:pt x="49" y="6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46" name="Freeform 10">
                <a:extLst>
                  <a:ext uri="{FF2B5EF4-FFF2-40B4-BE49-F238E27FC236}">
                    <a16:creationId xmlns:a16="http://schemas.microsoft.com/office/drawing/2014/main" id="{A8FD5FEA-BE56-4681-B010-7F003DF362E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303625" y="2803193"/>
                <a:ext cx="807628" cy="256131"/>
              </a:xfrm>
              <a:custGeom>
                <a:avLst/>
                <a:gdLst>
                  <a:gd name="T0" fmla="*/ 211 w 317"/>
                  <a:gd name="T1" fmla="*/ 36 h 148"/>
                  <a:gd name="T2" fmla="*/ 174 w 317"/>
                  <a:gd name="T3" fmla="*/ 18 h 148"/>
                  <a:gd name="T4" fmla="*/ 161 w 317"/>
                  <a:gd name="T5" fmla="*/ 24 h 148"/>
                  <a:gd name="T6" fmla="*/ 155 w 317"/>
                  <a:gd name="T7" fmla="*/ 24 h 148"/>
                  <a:gd name="T8" fmla="*/ 142 w 317"/>
                  <a:gd name="T9" fmla="*/ 6 h 148"/>
                  <a:gd name="T10" fmla="*/ 118 w 317"/>
                  <a:gd name="T11" fmla="*/ 0 h 148"/>
                  <a:gd name="T12" fmla="*/ 105 w 317"/>
                  <a:gd name="T13" fmla="*/ 6 h 148"/>
                  <a:gd name="T14" fmla="*/ 105 w 317"/>
                  <a:gd name="T15" fmla="*/ 18 h 148"/>
                  <a:gd name="T16" fmla="*/ 99 w 317"/>
                  <a:gd name="T17" fmla="*/ 30 h 148"/>
                  <a:gd name="T18" fmla="*/ 74 w 317"/>
                  <a:gd name="T19" fmla="*/ 30 h 148"/>
                  <a:gd name="T20" fmla="*/ 68 w 317"/>
                  <a:gd name="T21" fmla="*/ 24 h 148"/>
                  <a:gd name="T22" fmla="*/ 43 w 317"/>
                  <a:gd name="T23" fmla="*/ 24 h 148"/>
                  <a:gd name="T24" fmla="*/ 6 w 317"/>
                  <a:gd name="T25" fmla="*/ 36 h 148"/>
                  <a:gd name="T26" fmla="*/ 0 w 317"/>
                  <a:gd name="T27" fmla="*/ 43 h 148"/>
                  <a:gd name="T28" fmla="*/ 12 w 317"/>
                  <a:gd name="T29" fmla="*/ 61 h 148"/>
                  <a:gd name="T30" fmla="*/ 24 w 317"/>
                  <a:gd name="T31" fmla="*/ 61 h 148"/>
                  <a:gd name="T32" fmla="*/ 31 w 317"/>
                  <a:gd name="T33" fmla="*/ 80 h 148"/>
                  <a:gd name="T34" fmla="*/ 31 w 317"/>
                  <a:gd name="T35" fmla="*/ 98 h 148"/>
                  <a:gd name="T36" fmla="*/ 74 w 317"/>
                  <a:gd name="T37" fmla="*/ 110 h 148"/>
                  <a:gd name="T38" fmla="*/ 93 w 317"/>
                  <a:gd name="T39" fmla="*/ 129 h 148"/>
                  <a:gd name="T40" fmla="*/ 130 w 317"/>
                  <a:gd name="T41" fmla="*/ 129 h 148"/>
                  <a:gd name="T42" fmla="*/ 149 w 317"/>
                  <a:gd name="T43" fmla="*/ 141 h 148"/>
                  <a:gd name="T44" fmla="*/ 174 w 317"/>
                  <a:gd name="T45" fmla="*/ 147 h 148"/>
                  <a:gd name="T46" fmla="*/ 198 w 317"/>
                  <a:gd name="T47" fmla="*/ 135 h 148"/>
                  <a:gd name="T48" fmla="*/ 223 w 317"/>
                  <a:gd name="T49" fmla="*/ 135 h 148"/>
                  <a:gd name="T50" fmla="*/ 242 w 317"/>
                  <a:gd name="T51" fmla="*/ 117 h 148"/>
                  <a:gd name="T52" fmla="*/ 242 w 317"/>
                  <a:gd name="T53" fmla="*/ 110 h 148"/>
                  <a:gd name="T54" fmla="*/ 248 w 317"/>
                  <a:gd name="T55" fmla="*/ 104 h 148"/>
                  <a:gd name="T56" fmla="*/ 261 w 317"/>
                  <a:gd name="T57" fmla="*/ 104 h 148"/>
                  <a:gd name="T58" fmla="*/ 279 w 317"/>
                  <a:gd name="T59" fmla="*/ 92 h 148"/>
                  <a:gd name="T60" fmla="*/ 292 w 317"/>
                  <a:gd name="T61" fmla="*/ 80 h 148"/>
                  <a:gd name="T62" fmla="*/ 316 w 317"/>
                  <a:gd name="T63" fmla="*/ 80 h 148"/>
                  <a:gd name="T64" fmla="*/ 316 w 317"/>
                  <a:gd name="T65" fmla="*/ 67 h 148"/>
                  <a:gd name="T66" fmla="*/ 310 w 317"/>
                  <a:gd name="T67" fmla="*/ 61 h 148"/>
                  <a:gd name="T68" fmla="*/ 292 w 317"/>
                  <a:gd name="T69" fmla="*/ 67 h 148"/>
                  <a:gd name="T70" fmla="*/ 279 w 317"/>
                  <a:gd name="T71" fmla="*/ 67 h 148"/>
                  <a:gd name="T72" fmla="*/ 279 w 317"/>
                  <a:gd name="T73" fmla="*/ 43 h 148"/>
                  <a:gd name="T74" fmla="*/ 285 w 317"/>
                  <a:gd name="T75" fmla="*/ 30 h 148"/>
                  <a:gd name="T76" fmla="*/ 267 w 317"/>
                  <a:gd name="T77" fmla="*/ 30 h 148"/>
                  <a:gd name="T78" fmla="*/ 254 w 317"/>
                  <a:gd name="T79" fmla="*/ 36 h 148"/>
                  <a:gd name="T80" fmla="*/ 229 w 317"/>
                  <a:gd name="T81" fmla="*/ 43 h 148"/>
                  <a:gd name="T82" fmla="*/ 211 w 317"/>
                  <a:gd name="T83" fmla="*/ 36 h 148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317"/>
                  <a:gd name="T127" fmla="*/ 0 h 148"/>
                  <a:gd name="T128" fmla="*/ 317 w 317"/>
                  <a:gd name="T129" fmla="*/ 148 h 148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317" h="148">
                    <a:moveTo>
                      <a:pt x="211" y="36"/>
                    </a:moveTo>
                    <a:lnTo>
                      <a:pt x="174" y="18"/>
                    </a:lnTo>
                    <a:lnTo>
                      <a:pt x="161" y="24"/>
                    </a:lnTo>
                    <a:lnTo>
                      <a:pt x="155" y="24"/>
                    </a:lnTo>
                    <a:lnTo>
                      <a:pt x="142" y="6"/>
                    </a:lnTo>
                    <a:lnTo>
                      <a:pt x="118" y="0"/>
                    </a:lnTo>
                    <a:lnTo>
                      <a:pt x="105" y="6"/>
                    </a:lnTo>
                    <a:lnTo>
                      <a:pt x="105" y="18"/>
                    </a:lnTo>
                    <a:lnTo>
                      <a:pt x="99" y="30"/>
                    </a:lnTo>
                    <a:lnTo>
                      <a:pt x="74" y="30"/>
                    </a:lnTo>
                    <a:lnTo>
                      <a:pt x="68" y="24"/>
                    </a:lnTo>
                    <a:lnTo>
                      <a:pt x="43" y="24"/>
                    </a:lnTo>
                    <a:lnTo>
                      <a:pt x="6" y="36"/>
                    </a:lnTo>
                    <a:lnTo>
                      <a:pt x="0" y="43"/>
                    </a:lnTo>
                    <a:lnTo>
                      <a:pt x="12" y="61"/>
                    </a:lnTo>
                    <a:lnTo>
                      <a:pt x="24" y="61"/>
                    </a:lnTo>
                    <a:lnTo>
                      <a:pt x="31" y="80"/>
                    </a:lnTo>
                    <a:lnTo>
                      <a:pt x="31" y="98"/>
                    </a:lnTo>
                    <a:lnTo>
                      <a:pt x="74" y="110"/>
                    </a:lnTo>
                    <a:lnTo>
                      <a:pt x="93" y="129"/>
                    </a:lnTo>
                    <a:lnTo>
                      <a:pt x="130" y="129"/>
                    </a:lnTo>
                    <a:lnTo>
                      <a:pt x="149" y="141"/>
                    </a:lnTo>
                    <a:lnTo>
                      <a:pt x="174" y="147"/>
                    </a:lnTo>
                    <a:lnTo>
                      <a:pt x="198" y="135"/>
                    </a:lnTo>
                    <a:lnTo>
                      <a:pt x="223" y="135"/>
                    </a:lnTo>
                    <a:lnTo>
                      <a:pt x="242" y="117"/>
                    </a:lnTo>
                    <a:lnTo>
                      <a:pt x="242" y="110"/>
                    </a:lnTo>
                    <a:lnTo>
                      <a:pt x="248" y="104"/>
                    </a:lnTo>
                    <a:lnTo>
                      <a:pt x="261" y="104"/>
                    </a:lnTo>
                    <a:lnTo>
                      <a:pt x="279" y="92"/>
                    </a:lnTo>
                    <a:lnTo>
                      <a:pt x="292" y="80"/>
                    </a:lnTo>
                    <a:lnTo>
                      <a:pt x="316" y="80"/>
                    </a:lnTo>
                    <a:lnTo>
                      <a:pt x="316" y="67"/>
                    </a:lnTo>
                    <a:lnTo>
                      <a:pt x="310" y="61"/>
                    </a:lnTo>
                    <a:lnTo>
                      <a:pt x="292" y="67"/>
                    </a:lnTo>
                    <a:lnTo>
                      <a:pt x="279" y="67"/>
                    </a:lnTo>
                    <a:lnTo>
                      <a:pt x="279" y="43"/>
                    </a:lnTo>
                    <a:lnTo>
                      <a:pt x="285" y="30"/>
                    </a:lnTo>
                    <a:lnTo>
                      <a:pt x="267" y="30"/>
                    </a:lnTo>
                    <a:lnTo>
                      <a:pt x="254" y="36"/>
                    </a:lnTo>
                    <a:lnTo>
                      <a:pt x="229" y="43"/>
                    </a:lnTo>
                    <a:lnTo>
                      <a:pt x="211" y="36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47" name="Freeform 11">
                <a:extLst>
                  <a:ext uri="{FF2B5EF4-FFF2-40B4-BE49-F238E27FC236}">
                    <a16:creationId xmlns:a16="http://schemas.microsoft.com/office/drawing/2014/main" id="{FDD0392D-109F-4940-80DC-F9D7CBF5EF8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581371" y="2143829"/>
                <a:ext cx="285344" cy="410155"/>
              </a:xfrm>
              <a:custGeom>
                <a:avLst/>
                <a:gdLst>
                  <a:gd name="T0" fmla="*/ 87 w 112"/>
                  <a:gd name="T1" fmla="*/ 31 h 237"/>
                  <a:gd name="T2" fmla="*/ 87 w 112"/>
                  <a:gd name="T3" fmla="*/ 49 h 237"/>
                  <a:gd name="T4" fmla="*/ 99 w 112"/>
                  <a:gd name="T5" fmla="*/ 68 h 237"/>
                  <a:gd name="T6" fmla="*/ 93 w 112"/>
                  <a:gd name="T7" fmla="*/ 81 h 237"/>
                  <a:gd name="T8" fmla="*/ 99 w 112"/>
                  <a:gd name="T9" fmla="*/ 112 h 237"/>
                  <a:gd name="T10" fmla="*/ 93 w 112"/>
                  <a:gd name="T11" fmla="*/ 130 h 237"/>
                  <a:gd name="T12" fmla="*/ 105 w 112"/>
                  <a:gd name="T13" fmla="*/ 149 h 237"/>
                  <a:gd name="T14" fmla="*/ 99 w 112"/>
                  <a:gd name="T15" fmla="*/ 162 h 237"/>
                  <a:gd name="T16" fmla="*/ 111 w 112"/>
                  <a:gd name="T17" fmla="*/ 174 h 237"/>
                  <a:gd name="T18" fmla="*/ 111 w 112"/>
                  <a:gd name="T19" fmla="*/ 180 h 237"/>
                  <a:gd name="T20" fmla="*/ 93 w 112"/>
                  <a:gd name="T21" fmla="*/ 212 h 237"/>
                  <a:gd name="T22" fmla="*/ 74 w 112"/>
                  <a:gd name="T23" fmla="*/ 230 h 237"/>
                  <a:gd name="T24" fmla="*/ 68 w 112"/>
                  <a:gd name="T25" fmla="*/ 230 h 237"/>
                  <a:gd name="T26" fmla="*/ 31 w 112"/>
                  <a:gd name="T27" fmla="*/ 236 h 237"/>
                  <a:gd name="T28" fmla="*/ 12 w 112"/>
                  <a:gd name="T29" fmla="*/ 224 h 237"/>
                  <a:gd name="T30" fmla="*/ 12 w 112"/>
                  <a:gd name="T31" fmla="*/ 212 h 237"/>
                  <a:gd name="T32" fmla="*/ 6 w 112"/>
                  <a:gd name="T33" fmla="*/ 187 h 237"/>
                  <a:gd name="T34" fmla="*/ 12 w 112"/>
                  <a:gd name="T35" fmla="*/ 180 h 237"/>
                  <a:gd name="T36" fmla="*/ 43 w 112"/>
                  <a:gd name="T37" fmla="*/ 137 h 237"/>
                  <a:gd name="T38" fmla="*/ 49 w 112"/>
                  <a:gd name="T39" fmla="*/ 130 h 237"/>
                  <a:gd name="T40" fmla="*/ 49 w 112"/>
                  <a:gd name="T41" fmla="*/ 118 h 237"/>
                  <a:gd name="T42" fmla="*/ 43 w 112"/>
                  <a:gd name="T43" fmla="*/ 112 h 237"/>
                  <a:gd name="T44" fmla="*/ 37 w 112"/>
                  <a:gd name="T45" fmla="*/ 112 h 237"/>
                  <a:gd name="T46" fmla="*/ 31 w 112"/>
                  <a:gd name="T47" fmla="*/ 56 h 237"/>
                  <a:gd name="T48" fmla="*/ 0 w 112"/>
                  <a:gd name="T49" fmla="*/ 31 h 237"/>
                  <a:gd name="T50" fmla="*/ 12 w 112"/>
                  <a:gd name="T51" fmla="*/ 24 h 237"/>
                  <a:gd name="T52" fmla="*/ 24 w 112"/>
                  <a:gd name="T53" fmla="*/ 37 h 237"/>
                  <a:gd name="T54" fmla="*/ 31 w 112"/>
                  <a:gd name="T55" fmla="*/ 43 h 237"/>
                  <a:gd name="T56" fmla="*/ 37 w 112"/>
                  <a:gd name="T57" fmla="*/ 37 h 237"/>
                  <a:gd name="T58" fmla="*/ 43 w 112"/>
                  <a:gd name="T59" fmla="*/ 37 h 237"/>
                  <a:gd name="T60" fmla="*/ 55 w 112"/>
                  <a:gd name="T61" fmla="*/ 31 h 237"/>
                  <a:gd name="T62" fmla="*/ 62 w 112"/>
                  <a:gd name="T63" fmla="*/ 6 h 237"/>
                  <a:gd name="T64" fmla="*/ 74 w 112"/>
                  <a:gd name="T65" fmla="*/ 0 h 237"/>
                  <a:gd name="T66" fmla="*/ 87 w 112"/>
                  <a:gd name="T67" fmla="*/ 12 h 237"/>
                  <a:gd name="T68" fmla="*/ 87 w 112"/>
                  <a:gd name="T69" fmla="*/ 31 h 237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112"/>
                  <a:gd name="T106" fmla="*/ 0 h 237"/>
                  <a:gd name="T107" fmla="*/ 112 w 112"/>
                  <a:gd name="T108" fmla="*/ 237 h 237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112" h="237">
                    <a:moveTo>
                      <a:pt x="87" y="31"/>
                    </a:moveTo>
                    <a:lnTo>
                      <a:pt x="87" y="49"/>
                    </a:lnTo>
                    <a:lnTo>
                      <a:pt x="99" y="68"/>
                    </a:lnTo>
                    <a:lnTo>
                      <a:pt x="93" y="81"/>
                    </a:lnTo>
                    <a:lnTo>
                      <a:pt x="99" y="112"/>
                    </a:lnTo>
                    <a:lnTo>
                      <a:pt x="93" y="130"/>
                    </a:lnTo>
                    <a:lnTo>
                      <a:pt x="105" y="149"/>
                    </a:lnTo>
                    <a:lnTo>
                      <a:pt x="99" y="162"/>
                    </a:lnTo>
                    <a:lnTo>
                      <a:pt x="111" y="174"/>
                    </a:lnTo>
                    <a:lnTo>
                      <a:pt x="111" y="180"/>
                    </a:lnTo>
                    <a:lnTo>
                      <a:pt x="93" y="212"/>
                    </a:lnTo>
                    <a:lnTo>
                      <a:pt x="74" y="230"/>
                    </a:lnTo>
                    <a:lnTo>
                      <a:pt x="68" y="230"/>
                    </a:lnTo>
                    <a:lnTo>
                      <a:pt x="31" y="236"/>
                    </a:lnTo>
                    <a:lnTo>
                      <a:pt x="12" y="224"/>
                    </a:lnTo>
                    <a:lnTo>
                      <a:pt x="12" y="212"/>
                    </a:lnTo>
                    <a:lnTo>
                      <a:pt x="6" y="187"/>
                    </a:lnTo>
                    <a:lnTo>
                      <a:pt x="12" y="180"/>
                    </a:lnTo>
                    <a:lnTo>
                      <a:pt x="43" y="137"/>
                    </a:lnTo>
                    <a:lnTo>
                      <a:pt x="49" y="130"/>
                    </a:lnTo>
                    <a:lnTo>
                      <a:pt x="49" y="118"/>
                    </a:lnTo>
                    <a:lnTo>
                      <a:pt x="43" y="112"/>
                    </a:lnTo>
                    <a:lnTo>
                      <a:pt x="37" y="112"/>
                    </a:lnTo>
                    <a:lnTo>
                      <a:pt x="31" y="56"/>
                    </a:lnTo>
                    <a:lnTo>
                      <a:pt x="0" y="31"/>
                    </a:lnTo>
                    <a:lnTo>
                      <a:pt x="12" y="24"/>
                    </a:lnTo>
                    <a:lnTo>
                      <a:pt x="24" y="37"/>
                    </a:lnTo>
                    <a:lnTo>
                      <a:pt x="31" y="43"/>
                    </a:lnTo>
                    <a:lnTo>
                      <a:pt x="37" y="37"/>
                    </a:lnTo>
                    <a:lnTo>
                      <a:pt x="43" y="37"/>
                    </a:lnTo>
                    <a:lnTo>
                      <a:pt x="55" y="31"/>
                    </a:lnTo>
                    <a:lnTo>
                      <a:pt x="62" y="6"/>
                    </a:lnTo>
                    <a:lnTo>
                      <a:pt x="74" y="0"/>
                    </a:lnTo>
                    <a:lnTo>
                      <a:pt x="87" y="12"/>
                    </a:lnTo>
                    <a:lnTo>
                      <a:pt x="87" y="31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48" name="Freeform 12">
                <a:extLst>
                  <a:ext uri="{FF2B5EF4-FFF2-40B4-BE49-F238E27FC236}">
                    <a16:creationId xmlns:a16="http://schemas.microsoft.com/office/drawing/2014/main" id="{BD03330D-7ABB-4213-A965-B20E7B1C29A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768744" y="2081527"/>
                <a:ext cx="968131" cy="655903"/>
              </a:xfrm>
              <a:custGeom>
                <a:avLst/>
                <a:gdLst>
                  <a:gd name="T0" fmla="*/ 379 w 380"/>
                  <a:gd name="T1" fmla="*/ 347 h 379"/>
                  <a:gd name="T2" fmla="*/ 342 w 380"/>
                  <a:gd name="T3" fmla="*/ 303 h 379"/>
                  <a:gd name="T4" fmla="*/ 323 w 380"/>
                  <a:gd name="T5" fmla="*/ 278 h 379"/>
                  <a:gd name="T6" fmla="*/ 305 w 380"/>
                  <a:gd name="T7" fmla="*/ 297 h 379"/>
                  <a:gd name="T8" fmla="*/ 286 w 380"/>
                  <a:gd name="T9" fmla="*/ 266 h 379"/>
                  <a:gd name="T10" fmla="*/ 267 w 380"/>
                  <a:gd name="T11" fmla="*/ 266 h 379"/>
                  <a:gd name="T12" fmla="*/ 249 w 380"/>
                  <a:gd name="T13" fmla="*/ 37 h 379"/>
                  <a:gd name="T14" fmla="*/ 218 w 380"/>
                  <a:gd name="T15" fmla="*/ 37 h 379"/>
                  <a:gd name="T16" fmla="*/ 193 w 380"/>
                  <a:gd name="T17" fmla="*/ 24 h 379"/>
                  <a:gd name="T18" fmla="*/ 155 w 380"/>
                  <a:gd name="T19" fmla="*/ 12 h 379"/>
                  <a:gd name="T20" fmla="*/ 130 w 380"/>
                  <a:gd name="T21" fmla="*/ 6 h 379"/>
                  <a:gd name="T22" fmla="*/ 105 w 380"/>
                  <a:gd name="T23" fmla="*/ 12 h 379"/>
                  <a:gd name="T24" fmla="*/ 74 w 380"/>
                  <a:gd name="T25" fmla="*/ 30 h 379"/>
                  <a:gd name="T26" fmla="*/ 49 w 380"/>
                  <a:gd name="T27" fmla="*/ 43 h 379"/>
                  <a:gd name="T28" fmla="*/ 18 w 380"/>
                  <a:gd name="T29" fmla="*/ 74 h 379"/>
                  <a:gd name="T30" fmla="*/ 37 w 380"/>
                  <a:gd name="T31" fmla="*/ 105 h 379"/>
                  <a:gd name="T32" fmla="*/ 62 w 380"/>
                  <a:gd name="T33" fmla="*/ 136 h 379"/>
                  <a:gd name="T34" fmla="*/ 43 w 380"/>
                  <a:gd name="T35" fmla="*/ 142 h 379"/>
                  <a:gd name="T36" fmla="*/ 31 w 380"/>
                  <a:gd name="T37" fmla="*/ 136 h 379"/>
                  <a:gd name="T38" fmla="*/ 0 w 380"/>
                  <a:gd name="T39" fmla="*/ 154 h 379"/>
                  <a:gd name="T40" fmla="*/ 12 w 380"/>
                  <a:gd name="T41" fmla="*/ 167 h 379"/>
                  <a:gd name="T42" fmla="*/ 31 w 380"/>
                  <a:gd name="T43" fmla="*/ 179 h 379"/>
                  <a:gd name="T44" fmla="*/ 49 w 380"/>
                  <a:gd name="T45" fmla="*/ 179 h 379"/>
                  <a:gd name="T46" fmla="*/ 68 w 380"/>
                  <a:gd name="T47" fmla="*/ 179 h 379"/>
                  <a:gd name="T48" fmla="*/ 68 w 380"/>
                  <a:gd name="T49" fmla="*/ 204 h 379"/>
                  <a:gd name="T50" fmla="*/ 49 w 380"/>
                  <a:gd name="T51" fmla="*/ 216 h 379"/>
                  <a:gd name="T52" fmla="*/ 31 w 380"/>
                  <a:gd name="T53" fmla="*/ 216 h 379"/>
                  <a:gd name="T54" fmla="*/ 43 w 380"/>
                  <a:gd name="T55" fmla="*/ 278 h 379"/>
                  <a:gd name="T56" fmla="*/ 56 w 380"/>
                  <a:gd name="T57" fmla="*/ 272 h 379"/>
                  <a:gd name="T58" fmla="*/ 62 w 380"/>
                  <a:gd name="T59" fmla="*/ 291 h 379"/>
                  <a:gd name="T60" fmla="*/ 80 w 380"/>
                  <a:gd name="T61" fmla="*/ 297 h 379"/>
                  <a:gd name="T62" fmla="*/ 93 w 380"/>
                  <a:gd name="T63" fmla="*/ 297 h 379"/>
                  <a:gd name="T64" fmla="*/ 105 w 380"/>
                  <a:gd name="T65" fmla="*/ 309 h 379"/>
                  <a:gd name="T66" fmla="*/ 74 w 380"/>
                  <a:gd name="T67" fmla="*/ 347 h 379"/>
                  <a:gd name="T68" fmla="*/ 49 w 380"/>
                  <a:gd name="T69" fmla="*/ 360 h 379"/>
                  <a:gd name="T70" fmla="*/ 31 w 380"/>
                  <a:gd name="T71" fmla="*/ 378 h 379"/>
                  <a:gd name="T72" fmla="*/ 93 w 380"/>
                  <a:gd name="T73" fmla="*/ 347 h 379"/>
                  <a:gd name="T74" fmla="*/ 112 w 380"/>
                  <a:gd name="T75" fmla="*/ 335 h 379"/>
                  <a:gd name="T76" fmla="*/ 143 w 380"/>
                  <a:gd name="T77" fmla="*/ 297 h 379"/>
                  <a:gd name="T78" fmla="*/ 143 w 380"/>
                  <a:gd name="T79" fmla="*/ 285 h 379"/>
                  <a:gd name="T80" fmla="*/ 155 w 380"/>
                  <a:gd name="T81" fmla="*/ 266 h 379"/>
                  <a:gd name="T82" fmla="*/ 180 w 380"/>
                  <a:gd name="T83" fmla="*/ 247 h 379"/>
                  <a:gd name="T84" fmla="*/ 168 w 380"/>
                  <a:gd name="T85" fmla="*/ 260 h 379"/>
                  <a:gd name="T86" fmla="*/ 168 w 380"/>
                  <a:gd name="T87" fmla="*/ 285 h 379"/>
                  <a:gd name="T88" fmla="*/ 168 w 380"/>
                  <a:gd name="T89" fmla="*/ 291 h 379"/>
                  <a:gd name="T90" fmla="*/ 193 w 380"/>
                  <a:gd name="T91" fmla="*/ 278 h 379"/>
                  <a:gd name="T92" fmla="*/ 199 w 380"/>
                  <a:gd name="T93" fmla="*/ 254 h 379"/>
                  <a:gd name="T94" fmla="*/ 242 w 380"/>
                  <a:gd name="T95" fmla="*/ 272 h 379"/>
                  <a:gd name="T96" fmla="*/ 280 w 380"/>
                  <a:gd name="T97" fmla="*/ 278 h 379"/>
                  <a:gd name="T98" fmla="*/ 286 w 380"/>
                  <a:gd name="T99" fmla="*/ 285 h 379"/>
                  <a:gd name="T100" fmla="*/ 330 w 380"/>
                  <a:gd name="T101" fmla="*/ 347 h 379"/>
                  <a:gd name="T102" fmla="*/ 323 w 380"/>
                  <a:gd name="T103" fmla="*/ 309 h 379"/>
                  <a:gd name="T104" fmla="*/ 330 w 380"/>
                  <a:gd name="T105" fmla="*/ 303 h 379"/>
                  <a:gd name="T106" fmla="*/ 342 w 380"/>
                  <a:gd name="T107" fmla="*/ 322 h 379"/>
                  <a:gd name="T108" fmla="*/ 342 w 380"/>
                  <a:gd name="T109" fmla="*/ 329 h 379"/>
                  <a:gd name="T110" fmla="*/ 336 w 380"/>
                  <a:gd name="T111" fmla="*/ 347 h 379"/>
                  <a:gd name="T112" fmla="*/ 348 w 380"/>
                  <a:gd name="T113" fmla="*/ 354 h 379"/>
                  <a:gd name="T114" fmla="*/ 361 w 380"/>
                  <a:gd name="T115" fmla="*/ 360 h 379"/>
                  <a:gd name="T116" fmla="*/ 361 w 380"/>
                  <a:gd name="T117" fmla="*/ 347 h 379"/>
                  <a:gd name="T118" fmla="*/ 367 w 380"/>
                  <a:gd name="T119" fmla="*/ 366 h 379"/>
                  <a:gd name="T120" fmla="*/ 379 w 380"/>
                  <a:gd name="T121" fmla="*/ 366 h 379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380"/>
                  <a:gd name="T184" fmla="*/ 0 h 379"/>
                  <a:gd name="T185" fmla="*/ 380 w 380"/>
                  <a:gd name="T186" fmla="*/ 379 h 379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380" h="379">
                    <a:moveTo>
                      <a:pt x="379" y="366"/>
                    </a:moveTo>
                    <a:lnTo>
                      <a:pt x="379" y="347"/>
                    </a:lnTo>
                    <a:lnTo>
                      <a:pt x="361" y="341"/>
                    </a:lnTo>
                    <a:lnTo>
                      <a:pt x="342" y="303"/>
                    </a:lnTo>
                    <a:lnTo>
                      <a:pt x="336" y="297"/>
                    </a:lnTo>
                    <a:lnTo>
                      <a:pt x="323" y="278"/>
                    </a:lnTo>
                    <a:lnTo>
                      <a:pt x="317" y="285"/>
                    </a:lnTo>
                    <a:lnTo>
                      <a:pt x="305" y="297"/>
                    </a:lnTo>
                    <a:lnTo>
                      <a:pt x="286" y="272"/>
                    </a:lnTo>
                    <a:lnTo>
                      <a:pt x="286" y="266"/>
                    </a:lnTo>
                    <a:lnTo>
                      <a:pt x="274" y="272"/>
                    </a:lnTo>
                    <a:lnTo>
                      <a:pt x="267" y="266"/>
                    </a:lnTo>
                    <a:lnTo>
                      <a:pt x="267" y="49"/>
                    </a:lnTo>
                    <a:lnTo>
                      <a:pt x="249" y="37"/>
                    </a:lnTo>
                    <a:lnTo>
                      <a:pt x="230" y="43"/>
                    </a:lnTo>
                    <a:lnTo>
                      <a:pt x="218" y="37"/>
                    </a:lnTo>
                    <a:lnTo>
                      <a:pt x="205" y="37"/>
                    </a:lnTo>
                    <a:lnTo>
                      <a:pt x="193" y="24"/>
                    </a:lnTo>
                    <a:lnTo>
                      <a:pt x="161" y="24"/>
                    </a:lnTo>
                    <a:lnTo>
                      <a:pt x="155" y="12"/>
                    </a:lnTo>
                    <a:lnTo>
                      <a:pt x="137" y="12"/>
                    </a:lnTo>
                    <a:lnTo>
                      <a:pt x="130" y="6"/>
                    </a:lnTo>
                    <a:lnTo>
                      <a:pt x="118" y="0"/>
                    </a:lnTo>
                    <a:lnTo>
                      <a:pt x="105" y="12"/>
                    </a:lnTo>
                    <a:lnTo>
                      <a:pt x="87" y="18"/>
                    </a:lnTo>
                    <a:lnTo>
                      <a:pt x="74" y="30"/>
                    </a:lnTo>
                    <a:lnTo>
                      <a:pt x="62" y="30"/>
                    </a:lnTo>
                    <a:lnTo>
                      <a:pt x="49" y="43"/>
                    </a:lnTo>
                    <a:lnTo>
                      <a:pt x="43" y="68"/>
                    </a:lnTo>
                    <a:lnTo>
                      <a:pt x="18" y="74"/>
                    </a:lnTo>
                    <a:lnTo>
                      <a:pt x="18" y="86"/>
                    </a:lnTo>
                    <a:lnTo>
                      <a:pt x="37" y="105"/>
                    </a:lnTo>
                    <a:lnTo>
                      <a:pt x="43" y="117"/>
                    </a:lnTo>
                    <a:lnTo>
                      <a:pt x="62" y="136"/>
                    </a:lnTo>
                    <a:lnTo>
                      <a:pt x="56" y="142"/>
                    </a:lnTo>
                    <a:lnTo>
                      <a:pt x="43" y="142"/>
                    </a:lnTo>
                    <a:lnTo>
                      <a:pt x="43" y="136"/>
                    </a:lnTo>
                    <a:lnTo>
                      <a:pt x="31" y="136"/>
                    </a:lnTo>
                    <a:lnTo>
                      <a:pt x="12" y="148"/>
                    </a:lnTo>
                    <a:lnTo>
                      <a:pt x="0" y="154"/>
                    </a:lnTo>
                    <a:lnTo>
                      <a:pt x="12" y="161"/>
                    </a:lnTo>
                    <a:lnTo>
                      <a:pt x="12" y="167"/>
                    </a:lnTo>
                    <a:lnTo>
                      <a:pt x="12" y="179"/>
                    </a:lnTo>
                    <a:lnTo>
                      <a:pt x="31" y="179"/>
                    </a:lnTo>
                    <a:lnTo>
                      <a:pt x="43" y="179"/>
                    </a:lnTo>
                    <a:lnTo>
                      <a:pt x="49" y="179"/>
                    </a:lnTo>
                    <a:lnTo>
                      <a:pt x="68" y="173"/>
                    </a:lnTo>
                    <a:lnTo>
                      <a:pt x="68" y="179"/>
                    </a:lnTo>
                    <a:lnTo>
                      <a:pt x="68" y="192"/>
                    </a:lnTo>
                    <a:lnTo>
                      <a:pt x="68" y="204"/>
                    </a:lnTo>
                    <a:lnTo>
                      <a:pt x="56" y="204"/>
                    </a:lnTo>
                    <a:lnTo>
                      <a:pt x="49" y="216"/>
                    </a:lnTo>
                    <a:lnTo>
                      <a:pt x="37" y="210"/>
                    </a:lnTo>
                    <a:lnTo>
                      <a:pt x="31" y="216"/>
                    </a:lnTo>
                    <a:lnTo>
                      <a:pt x="18" y="247"/>
                    </a:lnTo>
                    <a:lnTo>
                      <a:pt x="43" y="278"/>
                    </a:lnTo>
                    <a:lnTo>
                      <a:pt x="49" y="278"/>
                    </a:lnTo>
                    <a:lnTo>
                      <a:pt x="56" y="272"/>
                    </a:lnTo>
                    <a:lnTo>
                      <a:pt x="62" y="285"/>
                    </a:lnTo>
                    <a:lnTo>
                      <a:pt x="62" y="291"/>
                    </a:lnTo>
                    <a:lnTo>
                      <a:pt x="62" y="297"/>
                    </a:lnTo>
                    <a:lnTo>
                      <a:pt x="80" y="297"/>
                    </a:lnTo>
                    <a:lnTo>
                      <a:pt x="87" y="303"/>
                    </a:lnTo>
                    <a:lnTo>
                      <a:pt x="93" y="297"/>
                    </a:lnTo>
                    <a:lnTo>
                      <a:pt x="105" y="297"/>
                    </a:lnTo>
                    <a:lnTo>
                      <a:pt x="105" y="309"/>
                    </a:lnTo>
                    <a:lnTo>
                      <a:pt x="99" y="322"/>
                    </a:lnTo>
                    <a:lnTo>
                      <a:pt x="74" y="347"/>
                    </a:lnTo>
                    <a:lnTo>
                      <a:pt x="56" y="354"/>
                    </a:lnTo>
                    <a:lnTo>
                      <a:pt x="49" y="360"/>
                    </a:lnTo>
                    <a:lnTo>
                      <a:pt x="31" y="372"/>
                    </a:lnTo>
                    <a:lnTo>
                      <a:pt x="31" y="378"/>
                    </a:lnTo>
                    <a:lnTo>
                      <a:pt x="62" y="360"/>
                    </a:lnTo>
                    <a:lnTo>
                      <a:pt x="93" y="347"/>
                    </a:lnTo>
                    <a:lnTo>
                      <a:pt x="93" y="341"/>
                    </a:lnTo>
                    <a:lnTo>
                      <a:pt x="112" y="335"/>
                    </a:lnTo>
                    <a:lnTo>
                      <a:pt x="143" y="303"/>
                    </a:lnTo>
                    <a:lnTo>
                      <a:pt x="143" y="297"/>
                    </a:lnTo>
                    <a:lnTo>
                      <a:pt x="137" y="291"/>
                    </a:lnTo>
                    <a:lnTo>
                      <a:pt x="143" y="285"/>
                    </a:lnTo>
                    <a:lnTo>
                      <a:pt x="155" y="272"/>
                    </a:lnTo>
                    <a:lnTo>
                      <a:pt x="155" y="266"/>
                    </a:lnTo>
                    <a:lnTo>
                      <a:pt x="174" y="247"/>
                    </a:lnTo>
                    <a:lnTo>
                      <a:pt x="180" y="247"/>
                    </a:lnTo>
                    <a:lnTo>
                      <a:pt x="174" y="260"/>
                    </a:lnTo>
                    <a:lnTo>
                      <a:pt x="168" y="260"/>
                    </a:lnTo>
                    <a:lnTo>
                      <a:pt x="161" y="278"/>
                    </a:lnTo>
                    <a:lnTo>
                      <a:pt x="168" y="285"/>
                    </a:lnTo>
                    <a:lnTo>
                      <a:pt x="161" y="291"/>
                    </a:lnTo>
                    <a:lnTo>
                      <a:pt x="168" y="291"/>
                    </a:lnTo>
                    <a:lnTo>
                      <a:pt x="186" y="278"/>
                    </a:lnTo>
                    <a:lnTo>
                      <a:pt x="193" y="278"/>
                    </a:lnTo>
                    <a:lnTo>
                      <a:pt x="199" y="266"/>
                    </a:lnTo>
                    <a:lnTo>
                      <a:pt x="199" y="254"/>
                    </a:lnTo>
                    <a:lnTo>
                      <a:pt x="211" y="260"/>
                    </a:lnTo>
                    <a:lnTo>
                      <a:pt x="242" y="272"/>
                    </a:lnTo>
                    <a:lnTo>
                      <a:pt x="261" y="272"/>
                    </a:lnTo>
                    <a:lnTo>
                      <a:pt x="280" y="278"/>
                    </a:lnTo>
                    <a:lnTo>
                      <a:pt x="286" y="278"/>
                    </a:lnTo>
                    <a:lnTo>
                      <a:pt x="286" y="285"/>
                    </a:lnTo>
                    <a:lnTo>
                      <a:pt x="317" y="309"/>
                    </a:lnTo>
                    <a:lnTo>
                      <a:pt x="330" y="347"/>
                    </a:lnTo>
                    <a:lnTo>
                      <a:pt x="330" y="315"/>
                    </a:lnTo>
                    <a:lnTo>
                      <a:pt x="323" y="309"/>
                    </a:lnTo>
                    <a:lnTo>
                      <a:pt x="330" y="309"/>
                    </a:lnTo>
                    <a:lnTo>
                      <a:pt x="330" y="303"/>
                    </a:lnTo>
                    <a:lnTo>
                      <a:pt x="336" y="335"/>
                    </a:lnTo>
                    <a:lnTo>
                      <a:pt x="342" y="322"/>
                    </a:lnTo>
                    <a:lnTo>
                      <a:pt x="348" y="335"/>
                    </a:lnTo>
                    <a:lnTo>
                      <a:pt x="342" y="329"/>
                    </a:lnTo>
                    <a:lnTo>
                      <a:pt x="336" y="335"/>
                    </a:lnTo>
                    <a:lnTo>
                      <a:pt x="336" y="347"/>
                    </a:lnTo>
                    <a:lnTo>
                      <a:pt x="342" y="341"/>
                    </a:lnTo>
                    <a:lnTo>
                      <a:pt x="348" y="354"/>
                    </a:lnTo>
                    <a:lnTo>
                      <a:pt x="361" y="372"/>
                    </a:lnTo>
                    <a:lnTo>
                      <a:pt x="361" y="360"/>
                    </a:lnTo>
                    <a:lnTo>
                      <a:pt x="348" y="347"/>
                    </a:lnTo>
                    <a:lnTo>
                      <a:pt x="361" y="347"/>
                    </a:lnTo>
                    <a:lnTo>
                      <a:pt x="361" y="354"/>
                    </a:lnTo>
                    <a:lnTo>
                      <a:pt x="367" y="366"/>
                    </a:lnTo>
                    <a:lnTo>
                      <a:pt x="373" y="372"/>
                    </a:lnTo>
                    <a:lnTo>
                      <a:pt x="379" y="366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49" name="Freeform 13">
                <a:extLst>
                  <a:ext uri="{FF2B5EF4-FFF2-40B4-BE49-F238E27FC236}">
                    <a16:creationId xmlns:a16="http://schemas.microsoft.com/office/drawing/2014/main" id="{ACEBE875-A30E-4B8C-8D25-026F26807A1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451530" y="1918849"/>
                <a:ext cx="2183388" cy="1140475"/>
              </a:xfrm>
              <a:custGeom>
                <a:avLst/>
                <a:gdLst>
                  <a:gd name="T0" fmla="*/ 596 w 857"/>
                  <a:gd name="T1" fmla="*/ 652 h 659"/>
                  <a:gd name="T2" fmla="*/ 614 w 857"/>
                  <a:gd name="T3" fmla="*/ 621 h 659"/>
                  <a:gd name="T4" fmla="*/ 565 w 857"/>
                  <a:gd name="T5" fmla="*/ 572 h 659"/>
                  <a:gd name="T6" fmla="*/ 503 w 857"/>
                  <a:gd name="T7" fmla="*/ 572 h 659"/>
                  <a:gd name="T8" fmla="*/ 186 w 857"/>
                  <a:gd name="T9" fmla="*/ 559 h 659"/>
                  <a:gd name="T10" fmla="*/ 136 w 857"/>
                  <a:gd name="T11" fmla="*/ 522 h 659"/>
                  <a:gd name="T12" fmla="*/ 111 w 857"/>
                  <a:gd name="T13" fmla="*/ 460 h 659"/>
                  <a:gd name="T14" fmla="*/ 62 w 857"/>
                  <a:gd name="T15" fmla="*/ 372 h 659"/>
                  <a:gd name="T16" fmla="*/ 0 w 857"/>
                  <a:gd name="T17" fmla="*/ 360 h 659"/>
                  <a:gd name="T18" fmla="*/ 62 w 857"/>
                  <a:gd name="T19" fmla="*/ 148 h 659"/>
                  <a:gd name="T20" fmla="*/ 130 w 857"/>
                  <a:gd name="T21" fmla="*/ 136 h 659"/>
                  <a:gd name="T22" fmla="*/ 167 w 857"/>
                  <a:gd name="T23" fmla="*/ 136 h 659"/>
                  <a:gd name="T24" fmla="*/ 211 w 857"/>
                  <a:gd name="T25" fmla="*/ 148 h 659"/>
                  <a:gd name="T26" fmla="*/ 273 w 857"/>
                  <a:gd name="T27" fmla="*/ 180 h 659"/>
                  <a:gd name="T28" fmla="*/ 335 w 857"/>
                  <a:gd name="T29" fmla="*/ 198 h 659"/>
                  <a:gd name="T30" fmla="*/ 366 w 857"/>
                  <a:gd name="T31" fmla="*/ 180 h 659"/>
                  <a:gd name="T32" fmla="*/ 434 w 857"/>
                  <a:gd name="T33" fmla="*/ 173 h 659"/>
                  <a:gd name="T34" fmla="*/ 459 w 857"/>
                  <a:gd name="T35" fmla="*/ 167 h 659"/>
                  <a:gd name="T36" fmla="*/ 471 w 857"/>
                  <a:gd name="T37" fmla="*/ 173 h 659"/>
                  <a:gd name="T38" fmla="*/ 453 w 857"/>
                  <a:gd name="T39" fmla="*/ 86 h 659"/>
                  <a:gd name="T40" fmla="*/ 484 w 857"/>
                  <a:gd name="T41" fmla="*/ 0 h 659"/>
                  <a:gd name="T42" fmla="*/ 471 w 857"/>
                  <a:gd name="T43" fmla="*/ 55 h 659"/>
                  <a:gd name="T44" fmla="*/ 503 w 857"/>
                  <a:gd name="T45" fmla="*/ 148 h 659"/>
                  <a:gd name="T46" fmla="*/ 540 w 857"/>
                  <a:gd name="T47" fmla="*/ 211 h 659"/>
                  <a:gd name="T48" fmla="*/ 571 w 857"/>
                  <a:gd name="T49" fmla="*/ 136 h 659"/>
                  <a:gd name="T50" fmla="*/ 589 w 857"/>
                  <a:gd name="T51" fmla="*/ 180 h 659"/>
                  <a:gd name="T52" fmla="*/ 565 w 857"/>
                  <a:gd name="T53" fmla="*/ 229 h 659"/>
                  <a:gd name="T54" fmla="*/ 546 w 857"/>
                  <a:gd name="T55" fmla="*/ 260 h 659"/>
                  <a:gd name="T56" fmla="*/ 490 w 857"/>
                  <a:gd name="T57" fmla="*/ 316 h 659"/>
                  <a:gd name="T58" fmla="*/ 465 w 857"/>
                  <a:gd name="T59" fmla="*/ 384 h 659"/>
                  <a:gd name="T60" fmla="*/ 521 w 857"/>
                  <a:gd name="T61" fmla="*/ 429 h 659"/>
                  <a:gd name="T62" fmla="*/ 589 w 857"/>
                  <a:gd name="T63" fmla="*/ 497 h 659"/>
                  <a:gd name="T64" fmla="*/ 633 w 857"/>
                  <a:gd name="T65" fmla="*/ 460 h 659"/>
                  <a:gd name="T66" fmla="*/ 633 w 857"/>
                  <a:gd name="T67" fmla="*/ 384 h 659"/>
                  <a:gd name="T68" fmla="*/ 633 w 857"/>
                  <a:gd name="T69" fmla="*/ 328 h 659"/>
                  <a:gd name="T70" fmla="*/ 701 w 857"/>
                  <a:gd name="T71" fmla="*/ 335 h 659"/>
                  <a:gd name="T72" fmla="*/ 738 w 857"/>
                  <a:gd name="T73" fmla="*/ 403 h 659"/>
                  <a:gd name="T74" fmla="*/ 770 w 857"/>
                  <a:gd name="T75" fmla="*/ 360 h 659"/>
                  <a:gd name="T76" fmla="*/ 813 w 857"/>
                  <a:gd name="T77" fmla="*/ 460 h 659"/>
                  <a:gd name="T78" fmla="*/ 844 w 857"/>
                  <a:gd name="T79" fmla="*/ 478 h 659"/>
                  <a:gd name="T80" fmla="*/ 856 w 857"/>
                  <a:gd name="T81" fmla="*/ 510 h 659"/>
                  <a:gd name="T82" fmla="*/ 776 w 857"/>
                  <a:gd name="T83" fmla="*/ 534 h 659"/>
                  <a:gd name="T84" fmla="*/ 701 w 857"/>
                  <a:gd name="T85" fmla="*/ 590 h 659"/>
                  <a:gd name="T86" fmla="*/ 770 w 857"/>
                  <a:gd name="T87" fmla="*/ 553 h 659"/>
                  <a:gd name="T88" fmla="*/ 763 w 857"/>
                  <a:gd name="T89" fmla="*/ 578 h 659"/>
                  <a:gd name="T90" fmla="*/ 801 w 857"/>
                  <a:gd name="T91" fmla="*/ 596 h 659"/>
                  <a:gd name="T92" fmla="*/ 801 w 857"/>
                  <a:gd name="T93" fmla="*/ 609 h 659"/>
                  <a:gd name="T94" fmla="*/ 776 w 857"/>
                  <a:gd name="T95" fmla="*/ 609 h 659"/>
                  <a:gd name="T96" fmla="*/ 745 w 857"/>
                  <a:gd name="T97" fmla="*/ 615 h 659"/>
                  <a:gd name="T98" fmla="*/ 720 w 857"/>
                  <a:gd name="T99" fmla="*/ 578 h 659"/>
                  <a:gd name="T100" fmla="*/ 645 w 857"/>
                  <a:gd name="T101" fmla="*/ 627 h 659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w 857"/>
                  <a:gd name="T154" fmla="*/ 0 h 659"/>
                  <a:gd name="T155" fmla="*/ 857 w 857"/>
                  <a:gd name="T156" fmla="*/ 659 h 659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T153" t="T154" r="T155" b="T156"/>
                <a:pathLst>
                  <a:path w="857" h="659">
                    <a:moveTo>
                      <a:pt x="614" y="640"/>
                    </a:moveTo>
                    <a:lnTo>
                      <a:pt x="620" y="640"/>
                    </a:lnTo>
                    <a:lnTo>
                      <a:pt x="627" y="646"/>
                    </a:lnTo>
                    <a:lnTo>
                      <a:pt x="602" y="646"/>
                    </a:lnTo>
                    <a:lnTo>
                      <a:pt x="596" y="652"/>
                    </a:lnTo>
                    <a:lnTo>
                      <a:pt x="577" y="658"/>
                    </a:lnTo>
                    <a:lnTo>
                      <a:pt x="589" y="640"/>
                    </a:lnTo>
                    <a:lnTo>
                      <a:pt x="596" y="634"/>
                    </a:lnTo>
                    <a:lnTo>
                      <a:pt x="602" y="609"/>
                    </a:lnTo>
                    <a:lnTo>
                      <a:pt x="614" y="621"/>
                    </a:lnTo>
                    <a:lnTo>
                      <a:pt x="614" y="615"/>
                    </a:lnTo>
                    <a:lnTo>
                      <a:pt x="608" y="603"/>
                    </a:lnTo>
                    <a:lnTo>
                      <a:pt x="571" y="596"/>
                    </a:lnTo>
                    <a:lnTo>
                      <a:pt x="571" y="590"/>
                    </a:lnTo>
                    <a:lnTo>
                      <a:pt x="565" y="572"/>
                    </a:lnTo>
                    <a:lnTo>
                      <a:pt x="558" y="572"/>
                    </a:lnTo>
                    <a:lnTo>
                      <a:pt x="552" y="559"/>
                    </a:lnTo>
                    <a:lnTo>
                      <a:pt x="534" y="559"/>
                    </a:lnTo>
                    <a:lnTo>
                      <a:pt x="515" y="572"/>
                    </a:lnTo>
                    <a:lnTo>
                      <a:pt x="503" y="572"/>
                    </a:lnTo>
                    <a:lnTo>
                      <a:pt x="484" y="559"/>
                    </a:lnTo>
                    <a:lnTo>
                      <a:pt x="471" y="559"/>
                    </a:lnTo>
                    <a:lnTo>
                      <a:pt x="465" y="553"/>
                    </a:lnTo>
                    <a:lnTo>
                      <a:pt x="459" y="559"/>
                    </a:lnTo>
                    <a:lnTo>
                      <a:pt x="186" y="559"/>
                    </a:lnTo>
                    <a:lnTo>
                      <a:pt x="180" y="553"/>
                    </a:lnTo>
                    <a:lnTo>
                      <a:pt x="180" y="547"/>
                    </a:lnTo>
                    <a:lnTo>
                      <a:pt x="173" y="547"/>
                    </a:lnTo>
                    <a:lnTo>
                      <a:pt x="155" y="534"/>
                    </a:lnTo>
                    <a:lnTo>
                      <a:pt x="136" y="522"/>
                    </a:lnTo>
                    <a:lnTo>
                      <a:pt x="130" y="503"/>
                    </a:lnTo>
                    <a:lnTo>
                      <a:pt x="124" y="503"/>
                    </a:lnTo>
                    <a:lnTo>
                      <a:pt x="105" y="478"/>
                    </a:lnTo>
                    <a:lnTo>
                      <a:pt x="111" y="472"/>
                    </a:lnTo>
                    <a:lnTo>
                      <a:pt x="111" y="460"/>
                    </a:lnTo>
                    <a:lnTo>
                      <a:pt x="111" y="441"/>
                    </a:lnTo>
                    <a:lnTo>
                      <a:pt x="93" y="435"/>
                    </a:lnTo>
                    <a:lnTo>
                      <a:pt x="74" y="397"/>
                    </a:lnTo>
                    <a:lnTo>
                      <a:pt x="68" y="391"/>
                    </a:lnTo>
                    <a:lnTo>
                      <a:pt x="62" y="372"/>
                    </a:lnTo>
                    <a:lnTo>
                      <a:pt x="49" y="378"/>
                    </a:lnTo>
                    <a:lnTo>
                      <a:pt x="37" y="391"/>
                    </a:lnTo>
                    <a:lnTo>
                      <a:pt x="18" y="366"/>
                    </a:lnTo>
                    <a:lnTo>
                      <a:pt x="6" y="366"/>
                    </a:lnTo>
                    <a:lnTo>
                      <a:pt x="0" y="360"/>
                    </a:lnTo>
                    <a:lnTo>
                      <a:pt x="0" y="142"/>
                    </a:lnTo>
                    <a:lnTo>
                      <a:pt x="18" y="148"/>
                    </a:lnTo>
                    <a:lnTo>
                      <a:pt x="55" y="167"/>
                    </a:lnTo>
                    <a:lnTo>
                      <a:pt x="55" y="155"/>
                    </a:lnTo>
                    <a:lnTo>
                      <a:pt x="62" y="148"/>
                    </a:lnTo>
                    <a:lnTo>
                      <a:pt x="74" y="148"/>
                    </a:lnTo>
                    <a:lnTo>
                      <a:pt x="80" y="148"/>
                    </a:lnTo>
                    <a:lnTo>
                      <a:pt x="111" y="124"/>
                    </a:lnTo>
                    <a:lnTo>
                      <a:pt x="117" y="136"/>
                    </a:lnTo>
                    <a:lnTo>
                      <a:pt x="130" y="136"/>
                    </a:lnTo>
                    <a:lnTo>
                      <a:pt x="130" y="117"/>
                    </a:lnTo>
                    <a:lnTo>
                      <a:pt x="149" y="130"/>
                    </a:lnTo>
                    <a:lnTo>
                      <a:pt x="149" y="148"/>
                    </a:lnTo>
                    <a:lnTo>
                      <a:pt x="161" y="148"/>
                    </a:lnTo>
                    <a:lnTo>
                      <a:pt x="167" y="136"/>
                    </a:lnTo>
                    <a:lnTo>
                      <a:pt x="167" y="148"/>
                    </a:lnTo>
                    <a:lnTo>
                      <a:pt x="180" y="155"/>
                    </a:lnTo>
                    <a:lnTo>
                      <a:pt x="186" y="136"/>
                    </a:lnTo>
                    <a:lnTo>
                      <a:pt x="198" y="136"/>
                    </a:lnTo>
                    <a:lnTo>
                      <a:pt x="211" y="148"/>
                    </a:lnTo>
                    <a:lnTo>
                      <a:pt x="223" y="155"/>
                    </a:lnTo>
                    <a:lnTo>
                      <a:pt x="235" y="161"/>
                    </a:lnTo>
                    <a:lnTo>
                      <a:pt x="254" y="161"/>
                    </a:lnTo>
                    <a:lnTo>
                      <a:pt x="267" y="167"/>
                    </a:lnTo>
                    <a:lnTo>
                      <a:pt x="273" y="180"/>
                    </a:lnTo>
                    <a:lnTo>
                      <a:pt x="260" y="186"/>
                    </a:lnTo>
                    <a:lnTo>
                      <a:pt x="260" y="192"/>
                    </a:lnTo>
                    <a:lnTo>
                      <a:pt x="285" y="198"/>
                    </a:lnTo>
                    <a:lnTo>
                      <a:pt x="310" y="186"/>
                    </a:lnTo>
                    <a:lnTo>
                      <a:pt x="335" y="198"/>
                    </a:lnTo>
                    <a:lnTo>
                      <a:pt x="335" y="186"/>
                    </a:lnTo>
                    <a:lnTo>
                      <a:pt x="322" y="180"/>
                    </a:lnTo>
                    <a:lnTo>
                      <a:pt x="329" y="173"/>
                    </a:lnTo>
                    <a:lnTo>
                      <a:pt x="360" y="167"/>
                    </a:lnTo>
                    <a:lnTo>
                      <a:pt x="366" y="180"/>
                    </a:lnTo>
                    <a:lnTo>
                      <a:pt x="397" y="192"/>
                    </a:lnTo>
                    <a:lnTo>
                      <a:pt x="416" y="198"/>
                    </a:lnTo>
                    <a:lnTo>
                      <a:pt x="428" y="198"/>
                    </a:lnTo>
                    <a:lnTo>
                      <a:pt x="428" y="180"/>
                    </a:lnTo>
                    <a:lnTo>
                      <a:pt x="434" y="173"/>
                    </a:lnTo>
                    <a:lnTo>
                      <a:pt x="416" y="161"/>
                    </a:lnTo>
                    <a:lnTo>
                      <a:pt x="428" y="155"/>
                    </a:lnTo>
                    <a:lnTo>
                      <a:pt x="434" y="136"/>
                    </a:lnTo>
                    <a:lnTo>
                      <a:pt x="447" y="155"/>
                    </a:lnTo>
                    <a:lnTo>
                      <a:pt x="459" y="167"/>
                    </a:lnTo>
                    <a:lnTo>
                      <a:pt x="447" y="180"/>
                    </a:lnTo>
                    <a:lnTo>
                      <a:pt x="447" y="192"/>
                    </a:lnTo>
                    <a:lnTo>
                      <a:pt x="453" y="204"/>
                    </a:lnTo>
                    <a:lnTo>
                      <a:pt x="459" y="192"/>
                    </a:lnTo>
                    <a:lnTo>
                      <a:pt x="471" y="173"/>
                    </a:lnTo>
                    <a:lnTo>
                      <a:pt x="465" y="161"/>
                    </a:lnTo>
                    <a:lnTo>
                      <a:pt x="471" y="148"/>
                    </a:lnTo>
                    <a:lnTo>
                      <a:pt x="459" y="136"/>
                    </a:lnTo>
                    <a:lnTo>
                      <a:pt x="447" y="124"/>
                    </a:lnTo>
                    <a:lnTo>
                      <a:pt x="453" y="86"/>
                    </a:lnTo>
                    <a:lnTo>
                      <a:pt x="465" y="80"/>
                    </a:lnTo>
                    <a:lnTo>
                      <a:pt x="465" y="49"/>
                    </a:lnTo>
                    <a:lnTo>
                      <a:pt x="459" y="24"/>
                    </a:lnTo>
                    <a:lnTo>
                      <a:pt x="465" y="6"/>
                    </a:lnTo>
                    <a:lnTo>
                      <a:pt x="484" y="0"/>
                    </a:lnTo>
                    <a:lnTo>
                      <a:pt x="503" y="6"/>
                    </a:lnTo>
                    <a:lnTo>
                      <a:pt x="515" y="12"/>
                    </a:lnTo>
                    <a:lnTo>
                      <a:pt x="496" y="49"/>
                    </a:lnTo>
                    <a:lnTo>
                      <a:pt x="484" y="49"/>
                    </a:lnTo>
                    <a:lnTo>
                      <a:pt x="471" y="55"/>
                    </a:lnTo>
                    <a:lnTo>
                      <a:pt x="478" y="68"/>
                    </a:lnTo>
                    <a:lnTo>
                      <a:pt x="471" y="74"/>
                    </a:lnTo>
                    <a:lnTo>
                      <a:pt x="503" y="130"/>
                    </a:lnTo>
                    <a:lnTo>
                      <a:pt x="490" y="142"/>
                    </a:lnTo>
                    <a:lnTo>
                      <a:pt x="503" y="148"/>
                    </a:lnTo>
                    <a:lnTo>
                      <a:pt x="515" y="173"/>
                    </a:lnTo>
                    <a:lnTo>
                      <a:pt x="527" y="155"/>
                    </a:lnTo>
                    <a:lnTo>
                      <a:pt x="534" y="167"/>
                    </a:lnTo>
                    <a:lnTo>
                      <a:pt x="534" y="192"/>
                    </a:lnTo>
                    <a:lnTo>
                      <a:pt x="540" y="211"/>
                    </a:lnTo>
                    <a:lnTo>
                      <a:pt x="552" y="204"/>
                    </a:lnTo>
                    <a:lnTo>
                      <a:pt x="552" y="192"/>
                    </a:lnTo>
                    <a:lnTo>
                      <a:pt x="558" y="186"/>
                    </a:lnTo>
                    <a:lnTo>
                      <a:pt x="558" y="136"/>
                    </a:lnTo>
                    <a:lnTo>
                      <a:pt x="571" y="136"/>
                    </a:lnTo>
                    <a:lnTo>
                      <a:pt x="583" y="142"/>
                    </a:lnTo>
                    <a:lnTo>
                      <a:pt x="589" y="155"/>
                    </a:lnTo>
                    <a:lnTo>
                      <a:pt x="602" y="155"/>
                    </a:lnTo>
                    <a:lnTo>
                      <a:pt x="602" y="173"/>
                    </a:lnTo>
                    <a:lnTo>
                      <a:pt x="589" y="180"/>
                    </a:lnTo>
                    <a:lnTo>
                      <a:pt x="589" y="192"/>
                    </a:lnTo>
                    <a:lnTo>
                      <a:pt x="602" y="198"/>
                    </a:lnTo>
                    <a:lnTo>
                      <a:pt x="602" y="217"/>
                    </a:lnTo>
                    <a:lnTo>
                      <a:pt x="577" y="235"/>
                    </a:lnTo>
                    <a:lnTo>
                      <a:pt x="565" y="229"/>
                    </a:lnTo>
                    <a:lnTo>
                      <a:pt x="558" y="223"/>
                    </a:lnTo>
                    <a:lnTo>
                      <a:pt x="546" y="229"/>
                    </a:lnTo>
                    <a:lnTo>
                      <a:pt x="552" y="235"/>
                    </a:lnTo>
                    <a:lnTo>
                      <a:pt x="546" y="248"/>
                    </a:lnTo>
                    <a:lnTo>
                      <a:pt x="546" y="260"/>
                    </a:lnTo>
                    <a:lnTo>
                      <a:pt x="527" y="285"/>
                    </a:lnTo>
                    <a:lnTo>
                      <a:pt x="515" y="285"/>
                    </a:lnTo>
                    <a:lnTo>
                      <a:pt x="509" y="297"/>
                    </a:lnTo>
                    <a:lnTo>
                      <a:pt x="509" y="310"/>
                    </a:lnTo>
                    <a:lnTo>
                      <a:pt x="490" y="316"/>
                    </a:lnTo>
                    <a:lnTo>
                      <a:pt x="490" y="328"/>
                    </a:lnTo>
                    <a:lnTo>
                      <a:pt x="484" y="328"/>
                    </a:lnTo>
                    <a:lnTo>
                      <a:pt x="478" y="341"/>
                    </a:lnTo>
                    <a:lnTo>
                      <a:pt x="465" y="366"/>
                    </a:lnTo>
                    <a:lnTo>
                      <a:pt x="465" y="384"/>
                    </a:lnTo>
                    <a:lnTo>
                      <a:pt x="471" y="397"/>
                    </a:lnTo>
                    <a:lnTo>
                      <a:pt x="484" y="397"/>
                    </a:lnTo>
                    <a:lnTo>
                      <a:pt x="490" y="429"/>
                    </a:lnTo>
                    <a:lnTo>
                      <a:pt x="503" y="423"/>
                    </a:lnTo>
                    <a:lnTo>
                      <a:pt x="521" y="429"/>
                    </a:lnTo>
                    <a:lnTo>
                      <a:pt x="540" y="441"/>
                    </a:lnTo>
                    <a:lnTo>
                      <a:pt x="565" y="460"/>
                    </a:lnTo>
                    <a:lnTo>
                      <a:pt x="583" y="460"/>
                    </a:lnTo>
                    <a:lnTo>
                      <a:pt x="596" y="460"/>
                    </a:lnTo>
                    <a:lnTo>
                      <a:pt x="589" y="497"/>
                    </a:lnTo>
                    <a:lnTo>
                      <a:pt x="614" y="528"/>
                    </a:lnTo>
                    <a:lnTo>
                      <a:pt x="614" y="522"/>
                    </a:lnTo>
                    <a:lnTo>
                      <a:pt x="633" y="510"/>
                    </a:lnTo>
                    <a:lnTo>
                      <a:pt x="620" y="466"/>
                    </a:lnTo>
                    <a:lnTo>
                      <a:pt x="633" y="460"/>
                    </a:lnTo>
                    <a:lnTo>
                      <a:pt x="645" y="441"/>
                    </a:lnTo>
                    <a:lnTo>
                      <a:pt x="639" y="403"/>
                    </a:lnTo>
                    <a:lnTo>
                      <a:pt x="627" y="391"/>
                    </a:lnTo>
                    <a:lnTo>
                      <a:pt x="627" y="384"/>
                    </a:lnTo>
                    <a:lnTo>
                      <a:pt x="633" y="384"/>
                    </a:lnTo>
                    <a:lnTo>
                      <a:pt x="639" y="378"/>
                    </a:lnTo>
                    <a:lnTo>
                      <a:pt x="639" y="360"/>
                    </a:lnTo>
                    <a:lnTo>
                      <a:pt x="633" y="353"/>
                    </a:lnTo>
                    <a:lnTo>
                      <a:pt x="639" y="335"/>
                    </a:lnTo>
                    <a:lnTo>
                      <a:pt x="633" y="328"/>
                    </a:lnTo>
                    <a:lnTo>
                      <a:pt x="633" y="322"/>
                    </a:lnTo>
                    <a:lnTo>
                      <a:pt x="639" y="316"/>
                    </a:lnTo>
                    <a:lnTo>
                      <a:pt x="658" y="322"/>
                    </a:lnTo>
                    <a:lnTo>
                      <a:pt x="676" y="322"/>
                    </a:lnTo>
                    <a:lnTo>
                      <a:pt x="701" y="335"/>
                    </a:lnTo>
                    <a:lnTo>
                      <a:pt x="695" y="341"/>
                    </a:lnTo>
                    <a:lnTo>
                      <a:pt x="707" y="347"/>
                    </a:lnTo>
                    <a:lnTo>
                      <a:pt x="720" y="353"/>
                    </a:lnTo>
                    <a:lnTo>
                      <a:pt x="720" y="384"/>
                    </a:lnTo>
                    <a:lnTo>
                      <a:pt x="738" y="403"/>
                    </a:lnTo>
                    <a:lnTo>
                      <a:pt x="745" y="397"/>
                    </a:lnTo>
                    <a:lnTo>
                      <a:pt x="757" y="391"/>
                    </a:lnTo>
                    <a:lnTo>
                      <a:pt x="763" y="378"/>
                    </a:lnTo>
                    <a:lnTo>
                      <a:pt x="757" y="372"/>
                    </a:lnTo>
                    <a:lnTo>
                      <a:pt x="770" y="360"/>
                    </a:lnTo>
                    <a:lnTo>
                      <a:pt x="801" y="423"/>
                    </a:lnTo>
                    <a:lnTo>
                      <a:pt x="801" y="429"/>
                    </a:lnTo>
                    <a:lnTo>
                      <a:pt x="801" y="441"/>
                    </a:lnTo>
                    <a:lnTo>
                      <a:pt x="813" y="447"/>
                    </a:lnTo>
                    <a:lnTo>
                      <a:pt x="813" y="460"/>
                    </a:lnTo>
                    <a:lnTo>
                      <a:pt x="825" y="460"/>
                    </a:lnTo>
                    <a:lnTo>
                      <a:pt x="825" y="466"/>
                    </a:lnTo>
                    <a:lnTo>
                      <a:pt x="838" y="472"/>
                    </a:lnTo>
                    <a:lnTo>
                      <a:pt x="832" y="472"/>
                    </a:lnTo>
                    <a:lnTo>
                      <a:pt x="844" y="478"/>
                    </a:lnTo>
                    <a:lnTo>
                      <a:pt x="844" y="485"/>
                    </a:lnTo>
                    <a:lnTo>
                      <a:pt x="850" y="485"/>
                    </a:lnTo>
                    <a:lnTo>
                      <a:pt x="856" y="491"/>
                    </a:lnTo>
                    <a:lnTo>
                      <a:pt x="856" y="497"/>
                    </a:lnTo>
                    <a:lnTo>
                      <a:pt x="856" y="510"/>
                    </a:lnTo>
                    <a:lnTo>
                      <a:pt x="844" y="516"/>
                    </a:lnTo>
                    <a:lnTo>
                      <a:pt x="832" y="522"/>
                    </a:lnTo>
                    <a:lnTo>
                      <a:pt x="813" y="541"/>
                    </a:lnTo>
                    <a:lnTo>
                      <a:pt x="801" y="541"/>
                    </a:lnTo>
                    <a:lnTo>
                      <a:pt x="776" y="534"/>
                    </a:lnTo>
                    <a:lnTo>
                      <a:pt x="745" y="541"/>
                    </a:lnTo>
                    <a:lnTo>
                      <a:pt x="738" y="553"/>
                    </a:lnTo>
                    <a:lnTo>
                      <a:pt x="732" y="553"/>
                    </a:lnTo>
                    <a:lnTo>
                      <a:pt x="720" y="565"/>
                    </a:lnTo>
                    <a:lnTo>
                      <a:pt x="701" y="590"/>
                    </a:lnTo>
                    <a:lnTo>
                      <a:pt x="707" y="584"/>
                    </a:lnTo>
                    <a:lnTo>
                      <a:pt x="726" y="565"/>
                    </a:lnTo>
                    <a:lnTo>
                      <a:pt x="745" y="553"/>
                    </a:lnTo>
                    <a:lnTo>
                      <a:pt x="763" y="553"/>
                    </a:lnTo>
                    <a:lnTo>
                      <a:pt x="770" y="553"/>
                    </a:lnTo>
                    <a:lnTo>
                      <a:pt x="776" y="565"/>
                    </a:lnTo>
                    <a:lnTo>
                      <a:pt x="763" y="572"/>
                    </a:lnTo>
                    <a:lnTo>
                      <a:pt x="751" y="572"/>
                    </a:lnTo>
                    <a:lnTo>
                      <a:pt x="757" y="578"/>
                    </a:lnTo>
                    <a:lnTo>
                      <a:pt x="763" y="578"/>
                    </a:lnTo>
                    <a:lnTo>
                      <a:pt x="763" y="590"/>
                    </a:lnTo>
                    <a:lnTo>
                      <a:pt x="770" y="596"/>
                    </a:lnTo>
                    <a:lnTo>
                      <a:pt x="782" y="603"/>
                    </a:lnTo>
                    <a:lnTo>
                      <a:pt x="801" y="603"/>
                    </a:lnTo>
                    <a:lnTo>
                      <a:pt x="801" y="596"/>
                    </a:lnTo>
                    <a:lnTo>
                      <a:pt x="807" y="584"/>
                    </a:lnTo>
                    <a:lnTo>
                      <a:pt x="813" y="596"/>
                    </a:lnTo>
                    <a:lnTo>
                      <a:pt x="819" y="603"/>
                    </a:lnTo>
                    <a:lnTo>
                      <a:pt x="807" y="609"/>
                    </a:lnTo>
                    <a:lnTo>
                      <a:pt x="801" y="609"/>
                    </a:lnTo>
                    <a:lnTo>
                      <a:pt x="776" y="621"/>
                    </a:lnTo>
                    <a:lnTo>
                      <a:pt x="757" y="634"/>
                    </a:lnTo>
                    <a:lnTo>
                      <a:pt x="751" y="627"/>
                    </a:lnTo>
                    <a:lnTo>
                      <a:pt x="757" y="621"/>
                    </a:lnTo>
                    <a:lnTo>
                      <a:pt x="776" y="609"/>
                    </a:lnTo>
                    <a:lnTo>
                      <a:pt x="763" y="609"/>
                    </a:lnTo>
                    <a:lnTo>
                      <a:pt x="763" y="603"/>
                    </a:lnTo>
                    <a:lnTo>
                      <a:pt x="751" y="609"/>
                    </a:lnTo>
                    <a:lnTo>
                      <a:pt x="745" y="609"/>
                    </a:lnTo>
                    <a:lnTo>
                      <a:pt x="745" y="615"/>
                    </a:lnTo>
                    <a:lnTo>
                      <a:pt x="738" y="603"/>
                    </a:lnTo>
                    <a:lnTo>
                      <a:pt x="738" y="584"/>
                    </a:lnTo>
                    <a:lnTo>
                      <a:pt x="732" y="578"/>
                    </a:lnTo>
                    <a:lnTo>
                      <a:pt x="726" y="584"/>
                    </a:lnTo>
                    <a:lnTo>
                      <a:pt x="720" y="578"/>
                    </a:lnTo>
                    <a:lnTo>
                      <a:pt x="707" y="609"/>
                    </a:lnTo>
                    <a:lnTo>
                      <a:pt x="695" y="615"/>
                    </a:lnTo>
                    <a:lnTo>
                      <a:pt x="664" y="615"/>
                    </a:lnTo>
                    <a:lnTo>
                      <a:pt x="652" y="621"/>
                    </a:lnTo>
                    <a:lnTo>
                      <a:pt x="645" y="627"/>
                    </a:lnTo>
                    <a:lnTo>
                      <a:pt x="620" y="634"/>
                    </a:lnTo>
                    <a:lnTo>
                      <a:pt x="614" y="640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50" name="Freeform 14">
                <a:extLst>
                  <a:ext uri="{FF2B5EF4-FFF2-40B4-BE49-F238E27FC236}">
                    <a16:creationId xmlns:a16="http://schemas.microsoft.com/office/drawing/2014/main" id="{533CD3B4-B24C-44A8-BEF4-874FD8EE00A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068079" y="3254885"/>
                <a:ext cx="774504" cy="332277"/>
              </a:xfrm>
              <a:custGeom>
                <a:avLst/>
                <a:gdLst>
                  <a:gd name="T0" fmla="*/ 192 w 304"/>
                  <a:gd name="T1" fmla="*/ 92 h 192"/>
                  <a:gd name="T2" fmla="*/ 198 w 304"/>
                  <a:gd name="T3" fmla="*/ 117 h 192"/>
                  <a:gd name="T4" fmla="*/ 210 w 304"/>
                  <a:gd name="T5" fmla="*/ 148 h 192"/>
                  <a:gd name="T6" fmla="*/ 248 w 304"/>
                  <a:gd name="T7" fmla="*/ 148 h 192"/>
                  <a:gd name="T8" fmla="*/ 266 w 304"/>
                  <a:gd name="T9" fmla="*/ 142 h 192"/>
                  <a:gd name="T10" fmla="*/ 272 w 304"/>
                  <a:gd name="T11" fmla="*/ 123 h 192"/>
                  <a:gd name="T12" fmla="*/ 303 w 304"/>
                  <a:gd name="T13" fmla="*/ 123 h 192"/>
                  <a:gd name="T14" fmla="*/ 291 w 304"/>
                  <a:gd name="T15" fmla="*/ 154 h 192"/>
                  <a:gd name="T16" fmla="*/ 279 w 304"/>
                  <a:gd name="T17" fmla="*/ 161 h 192"/>
                  <a:gd name="T18" fmla="*/ 260 w 304"/>
                  <a:gd name="T19" fmla="*/ 161 h 192"/>
                  <a:gd name="T20" fmla="*/ 254 w 304"/>
                  <a:gd name="T21" fmla="*/ 173 h 192"/>
                  <a:gd name="T22" fmla="*/ 229 w 304"/>
                  <a:gd name="T23" fmla="*/ 173 h 192"/>
                  <a:gd name="T24" fmla="*/ 210 w 304"/>
                  <a:gd name="T25" fmla="*/ 179 h 192"/>
                  <a:gd name="T26" fmla="*/ 161 w 304"/>
                  <a:gd name="T27" fmla="*/ 167 h 192"/>
                  <a:gd name="T28" fmla="*/ 136 w 304"/>
                  <a:gd name="T29" fmla="*/ 154 h 192"/>
                  <a:gd name="T30" fmla="*/ 111 w 304"/>
                  <a:gd name="T31" fmla="*/ 130 h 192"/>
                  <a:gd name="T32" fmla="*/ 111 w 304"/>
                  <a:gd name="T33" fmla="*/ 111 h 192"/>
                  <a:gd name="T34" fmla="*/ 74 w 304"/>
                  <a:gd name="T35" fmla="*/ 74 h 192"/>
                  <a:gd name="T36" fmla="*/ 68 w 304"/>
                  <a:gd name="T37" fmla="*/ 55 h 192"/>
                  <a:gd name="T38" fmla="*/ 62 w 304"/>
                  <a:gd name="T39" fmla="*/ 49 h 192"/>
                  <a:gd name="T40" fmla="*/ 37 w 304"/>
                  <a:gd name="T41" fmla="*/ 18 h 192"/>
                  <a:gd name="T42" fmla="*/ 24 w 304"/>
                  <a:gd name="T43" fmla="*/ 6 h 192"/>
                  <a:gd name="T44" fmla="*/ 55 w 304"/>
                  <a:gd name="T45" fmla="*/ 68 h 192"/>
                  <a:gd name="T46" fmla="*/ 74 w 304"/>
                  <a:gd name="T47" fmla="*/ 99 h 192"/>
                  <a:gd name="T48" fmla="*/ 68 w 304"/>
                  <a:gd name="T49" fmla="*/ 99 h 192"/>
                  <a:gd name="T50" fmla="*/ 49 w 304"/>
                  <a:gd name="T51" fmla="*/ 80 h 192"/>
                  <a:gd name="T52" fmla="*/ 24 w 304"/>
                  <a:gd name="T53" fmla="*/ 61 h 192"/>
                  <a:gd name="T54" fmla="*/ 24 w 304"/>
                  <a:gd name="T55" fmla="*/ 55 h 192"/>
                  <a:gd name="T56" fmla="*/ 12 w 304"/>
                  <a:gd name="T57" fmla="*/ 30 h 192"/>
                  <a:gd name="T58" fmla="*/ 18 w 304"/>
                  <a:gd name="T59" fmla="*/ 0 h 192"/>
                  <a:gd name="T60" fmla="*/ 105 w 304"/>
                  <a:gd name="T61" fmla="*/ 12 h 192"/>
                  <a:gd name="T62" fmla="*/ 124 w 304"/>
                  <a:gd name="T63" fmla="*/ 30 h 192"/>
                  <a:gd name="T64" fmla="*/ 142 w 304"/>
                  <a:gd name="T65" fmla="*/ 37 h 192"/>
                  <a:gd name="T66" fmla="*/ 155 w 304"/>
                  <a:gd name="T67" fmla="*/ 30 h 192"/>
                  <a:gd name="T68" fmla="*/ 198 w 304"/>
                  <a:gd name="T69" fmla="*/ 74 h 192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304"/>
                  <a:gd name="T106" fmla="*/ 0 h 192"/>
                  <a:gd name="T107" fmla="*/ 304 w 304"/>
                  <a:gd name="T108" fmla="*/ 192 h 192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304" h="192">
                    <a:moveTo>
                      <a:pt x="198" y="74"/>
                    </a:moveTo>
                    <a:lnTo>
                      <a:pt x="192" y="92"/>
                    </a:lnTo>
                    <a:lnTo>
                      <a:pt x="192" y="111"/>
                    </a:lnTo>
                    <a:lnTo>
                      <a:pt x="198" y="117"/>
                    </a:lnTo>
                    <a:lnTo>
                      <a:pt x="198" y="130"/>
                    </a:lnTo>
                    <a:lnTo>
                      <a:pt x="210" y="148"/>
                    </a:lnTo>
                    <a:lnTo>
                      <a:pt x="229" y="154"/>
                    </a:lnTo>
                    <a:lnTo>
                      <a:pt x="248" y="148"/>
                    </a:lnTo>
                    <a:lnTo>
                      <a:pt x="260" y="148"/>
                    </a:lnTo>
                    <a:lnTo>
                      <a:pt x="266" y="142"/>
                    </a:lnTo>
                    <a:lnTo>
                      <a:pt x="266" y="123"/>
                    </a:lnTo>
                    <a:lnTo>
                      <a:pt x="272" y="123"/>
                    </a:lnTo>
                    <a:lnTo>
                      <a:pt x="291" y="117"/>
                    </a:lnTo>
                    <a:lnTo>
                      <a:pt x="303" y="123"/>
                    </a:lnTo>
                    <a:lnTo>
                      <a:pt x="297" y="154"/>
                    </a:lnTo>
                    <a:lnTo>
                      <a:pt x="291" y="154"/>
                    </a:lnTo>
                    <a:lnTo>
                      <a:pt x="285" y="154"/>
                    </a:lnTo>
                    <a:lnTo>
                      <a:pt x="279" y="161"/>
                    </a:lnTo>
                    <a:lnTo>
                      <a:pt x="266" y="161"/>
                    </a:lnTo>
                    <a:lnTo>
                      <a:pt x="260" y="161"/>
                    </a:lnTo>
                    <a:lnTo>
                      <a:pt x="266" y="173"/>
                    </a:lnTo>
                    <a:lnTo>
                      <a:pt x="254" y="173"/>
                    </a:lnTo>
                    <a:lnTo>
                      <a:pt x="248" y="191"/>
                    </a:lnTo>
                    <a:lnTo>
                      <a:pt x="229" y="173"/>
                    </a:lnTo>
                    <a:lnTo>
                      <a:pt x="217" y="173"/>
                    </a:lnTo>
                    <a:lnTo>
                      <a:pt x="210" y="179"/>
                    </a:lnTo>
                    <a:lnTo>
                      <a:pt x="192" y="173"/>
                    </a:lnTo>
                    <a:lnTo>
                      <a:pt x="161" y="167"/>
                    </a:lnTo>
                    <a:lnTo>
                      <a:pt x="148" y="154"/>
                    </a:lnTo>
                    <a:lnTo>
                      <a:pt x="136" y="154"/>
                    </a:lnTo>
                    <a:lnTo>
                      <a:pt x="124" y="142"/>
                    </a:lnTo>
                    <a:lnTo>
                      <a:pt x="111" y="130"/>
                    </a:lnTo>
                    <a:lnTo>
                      <a:pt x="117" y="123"/>
                    </a:lnTo>
                    <a:lnTo>
                      <a:pt x="111" y="111"/>
                    </a:lnTo>
                    <a:lnTo>
                      <a:pt x="86" y="80"/>
                    </a:lnTo>
                    <a:lnTo>
                      <a:pt x="74" y="74"/>
                    </a:lnTo>
                    <a:lnTo>
                      <a:pt x="80" y="68"/>
                    </a:lnTo>
                    <a:lnTo>
                      <a:pt x="68" y="55"/>
                    </a:lnTo>
                    <a:lnTo>
                      <a:pt x="68" y="49"/>
                    </a:lnTo>
                    <a:lnTo>
                      <a:pt x="62" y="49"/>
                    </a:lnTo>
                    <a:lnTo>
                      <a:pt x="49" y="37"/>
                    </a:lnTo>
                    <a:lnTo>
                      <a:pt x="37" y="18"/>
                    </a:lnTo>
                    <a:lnTo>
                      <a:pt x="31" y="12"/>
                    </a:lnTo>
                    <a:lnTo>
                      <a:pt x="24" y="6"/>
                    </a:lnTo>
                    <a:lnTo>
                      <a:pt x="24" y="24"/>
                    </a:lnTo>
                    <a:lnTo>
                      <a:pt x="55" y="68"/>
                    </a:lnTo>
                    <a:lnTo>
                      <a:pt x="68" y="92"/>
                    </a:lnTo>
                    <a:lnTo>
                      <a:pt x="74" y="99"/>
                    </a:lnTo>
                    <a:lnTo>
                      <a:pt x="68" y="105"/>
                    </a:lnTo>
                    <a:lnTo>
                      <a:pt x="68" y="99"/>
                    </a:lnTo>
                    <a:lnTo>
                      <a:pt x="49" y="86"/>
                    </a:lnTo>
                    <a:lnTo>
                      <a:pt x="49" y="80"/>
                    </a:lnTo>
                    <a:lnTo>
                      <a:pt x="49" y="74"/>
                    </a:lnTo>
                    <a:lnTo>
                      <a:pt x="24" y="61"/>
                    </a:lnTo>
                    <a:lnTo>
                      <a:pt x="18" y="55"/>
                    </a:lnTo>
                    <a:lnTo>
                      <a:pt x="24" y="55"/>
                    </a:lnTo>
                    <a:lnTo>
                      <a:pt x="31" y="49"/>
                    </a:lnTo>
                    <a:lnTo>
                      <a:pt x="12" y="30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62" y="12"/>
                    </a:lnTo>
                    <a:lnTo>
                      <a:pt x="105" y="12"/>
                    </a:lnTo>
                    <a:lnTo>
                      <a:pt x="124" y="24"/>
                    </a:lnTo>
                    <a:lnTo>
                      <a:pt x="124" y="30"/>
                    </a:lnTo>
                    <a:lnTo>
                      <a:pt x="136" y="37"/>
                    </a:lnTo>
                    <a:lnTo>
                      <a:pt x="142" y="37"/>
                    </a:lnTo>
                    <a:lnTo>
                      <a:pt x="142" y="30"/>
                    </a:lnTo>
                    <a:lnTo>
                      <a:pt x="155" y="30"/>
                    </a:lnTo>
                    <a:lnTo>
                      <a:pt x="179" y="68"/>
                    </a:lnTo>
                    <a:lnTo>
                      <a:pt x="198" y="74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51" name="Freeform 15">
                <a:extLst>
                  <a:ext uri="{FF2B5EF4-FFF2-40B4-BE49-F238E27FC236}">
                    <a16:creationId xmlns:a16="http://schemas.microsoft.com/office/drawing/2014/main" id="{24F896A9-D8B0-4FE3-B478-5A1E5E6BB75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778889" y="3523129"/>
                <a:ext cx="48404" cy="43264"/>
              </a:xfrm>
              <a:custGeom>
                <a:avLst/>
                <a:gdLst>
                  <a:gd name="T0" fmla="*/ 0 w 19"/>
                  <a:gd name="T1" fmla="*/ 24 h 25"/>
                  <a:gd name="T2" fmla="*/ 18 w 19"/>
                  <a:gd name="T3" fmla="*/ 18 h 25"/>
                  <a:gd name="T4" fmla="*/ 18 w 19"/>
                  <a:gd name="T5" fmla="*/ 0 h 25"/>
                  <a:gd name="T6" fmla="*/ 0 w 19"/>
                  <a:gd name="T7" fmla="*/ 6 h 25"/>
                  <a:gd name="T8" fmla="*/ 0 w 19"/>
                  <a:gd name="T9" fmla="*/ 18 h 25"/>
                  <a:gd name="T10" fmla="*/ 18 w 19"/>
                  <a:gd name="T11" fmla="*/ 24 h 25"/>
                  <a:gd name="T12" fmla="*/ 0 w 19"/>
                  <a:gd name="T13" fmla="*/ 24 h 2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"/>
                  <a:gd name="T22" fmla="*/ 0 h 25"/>
                  <a:gd name="T23" fmla="*/ 19 w 19"/>
                  <a:gd name="T24" fmla="*/ 25 h 2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" h="25">
                    <a:moveTo>
                      <a:pt x="0" y="24"/>
                    </a:moveTo>
                    <a:lnTo>
                      <a:pt x="18" y="18"/>
                    </a:lnTo>
                    <a:lnTo>
                      <a:pt x="18" y="0"/>
                    </a:lnTo>
                    <a:lnTo>
                      <a:pt x="0" y="6"/>
                    </a:lnTo>
                    <a:lnTo>
                      <a:pt x="0" y="18"/>
                    </a:lnTo>
                    <a:lnTo>
                      <a:pt x="18" y="24"/>
                    </a:lnTo>
                    <a:lnTo>
                      <a:pt x="0" y="24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52" name="Freeform 16">
                <a:extLst>
                  <a:ext uri="{FF2B5EF4-FFF2-40B4-BE49-F238E27FC236}">
                    <a16:creationId xmlns:a16="http://schemas.microsoft.com/office/drawing/2014/main" id="{955C004A-A8DA-49C9-90C0-F6C547713A5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702457" y="3523129"/>
                <a:ext cx="94265" cy="74415"/>
              </a:xfrm>
              <a:custGeom>
                <a:avLst/>
                <a:gdLst>
                  <a:gd name="T0" fmla="*/ 30 w 37"/>
                  <a:gd name="T1" fmla="*/ 24 h 43"/>
                  <a:gd name="T2" fmla="*/ 36 w 37"/>
                  <a:gd name="T3" fmla="*/ 24 h 43"/>
                  <a:gd name="T4" fmla="*/ 30 w 37"/>
                  <a:gd name="T5" fmla="*/ 36 h 43"/>
                  <a:gd name="T6" fmla="*/ 24 w 37"/>
                  <a:gd name="T7" fmla="*/ 42 h 43"/>
                  <a:gd name="T8" fmla="*/ 0 w 37"/>
                  <a:gd name="T9" fmla="*/ 36 h 43"/>
                  <a:gd name="T10" fmla="*/ 6 w 37"/>
                  <a:gd name="T11" fmla="*/ 18 h 43"/>
                  <a:gd name="T12" fmla="*/ 18 w 37"/>
                  <a:gd name="T13" fmla="*/ 18 h 43"/>
                  <a:gd name="T14" fmla="*/ 12 w 37"/>
                  <a:gd name="T15" fmla="*/ 6 h 43"/>
                  <a:gd name="T16" fmla="*/ 18 w 37"/>
                  <a:gd name="T17" fmla="*/ 0 h 43"/>
                  <a:gd name="T18" fmla="*/ 30 w 37"/>
                  <a:gd name="T19" fmla="*/ 0 h 43"/>
                  <a:gd name="T20" fmla="*/ 30 w 37"/>
                  <a:gd name="T21" fmla="*/ 18 h 43"/>
                  <a:gd name="T22" fmla="*/ 36 w 37"/>
                  <a:gd name="T23" fmla="*/ 24 h 43"/>
                  <a:gd name="T24" fmla="*/ 30 w 37"/>
                  <a:gd name="T25" fmla="*/ 24 h 43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37"/>
                  <a:gd name="T40" fmla="*/ 0 h 43"/>
                  <a:gd name="T41" fmla="*/ 37 w 37"/>
                  <a:gd name="T42" fmla="*/ 43 h 43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37" h="43">
                    <a:moveTo>
                      <a:pt x="30" y="24"/>
                    </a:moveTo>
                    <a:lnTo>
                      <a:pt x="36" y="24"/>
                    </a:lnTo>
                    <a:lnTo>
                      <a:pt x="30" y="36"/>
                    </a:lnTo>
                    <a:lnTo>
                      <a:pt x="24" y="42"/>
                    </a:lnTo>
                    <a:lnTo>
                      <a:pt x="0" y="36"/>
                    </a:lnTo>
                    <a:lnTo>
                      <a:pt x="6" y="18"/>
                    </a:lnTo>
                    <a:lnTo>
                      <a:pt x="18" y="18"/>
                    </a:lnTo>
                    <a:lnTo>
                      <a:pt x="12" y="6"/>
                    </a:lnTo>
                    <a:lnTo>
                      <a:pt x="18" y="0"/>
                    </a:lnTo>
                    <a:lnTo>
                      <a:pt x="30" y="0"/>
                    </a:lnTo>
                    <a:lnTo>
                      <a:pt x="30" y="18"/>
                    </a:lnTo>
                    <a:lnTo>
                      <a:pt x="36" y="24"/>
                    </a:lnTo>
                    <a:lnTo>
                      <a:pt x="30" y="24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53" name="Freeform 17">
                <a:extLst>
                  <a:ext uri="{FF2B5EF4-FFF2-40B4-BE49-F238E27FC236}">
                    <a16:creationId xmlns:a16="http://schemas.microsoft.com/office/drawing/2014/main" id="{EF2E3178-9312-4353-9980-B331BECD140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778889" y="3564664"/>
                <a:ext cx="157957" cy="43264"/>
              </a:xfrm>
              <a:custGeom>
                <a:avLst/>
                <a:gdLst>
                  <a:gd name="T0" fmla="*/ 6 w 62"/>
                  <a:gd name="T1" fmla="*/ 0 h 25"/>
                  <a:gd name="T2" fmla="*/ 12 w 62"/>
                  <a:gd name="T3" fmla="*/ 0 h 25"/>
                  <a:gd name="T4" fmla="*/ 43 w 62"/>
                  <a:gd name="T5" fmla="*/ 0 h 25"/>
                  <a:gd name="T6" fmla="*/ 61 w 62"/>
                  <a:gd name="T7" fmla="*/ 6 h 25"/>
                  <a:gd name="T8" fmla="*/ 43 w 62"/>
                  <a:gd name="T9" fmla="*/ 12 h 25"/>
                  <a:gd name="T10" fmla="*/ 18 w 62"/>
                  <a:gd name="T11" fmla="*/ 24 h 25"/>
                  <a:gd name="T12" fmla="*/ 12 w 62"/>
                  <a:gd name="T13" fmla="*/ 18 h 25"/>
                  <a:gd name="T14" fmla="*/ 0 w 62"/>
                  <a:gd name="T15" fmla="*/ 12 h 25"/>
                  <a:gd name="T16" fmla="*/ 6 w 62"/>
                  <a:gd name="T17" fmla="*/ 0 h 2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62"/>
                  <a:gd name="T28" fmla="*/ 0 h 25"/>
                  <a:gd name="T29" fmla="*/ 62 w 62"/>
                  <a:gd name="T30" fmla="*/ 25 h 25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62" h="25">
                    <a:moveTo>
                      <a:pt x="6" y="0"/>
                    </a:moveTo>
                    <a:lnTo>
                      <a:pt x="12" y="0"/>
                    </a:lnTo>
                    <a:lnTo>
                      <a:pt x="43" y="0"/>
                    </a:lnTo>
                    <a:lnTo>
                      <a:pt x="61" y="6"/>
                    </a:lnTo>
                    <a:lnTo>
                      <a:pt x="43" y="12"/>
                    </a:lnTo>
                    <a:lnTo>
                      <a:pt x="18" y="24"/>
                    </a:lnTo>
                    <a:lnTo>
                      <a:pt x="12" y="18"/>
                    </a:lnTo>
                    <a:lnTo>
                      <a:pt x="0" y="12"/>
                    </a:lnTo>
                    <a:lnTo>
                      <a:pt x="6" y="0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54" name="Freeform 18">
                <a:extLst>
                  <a:ext uri="{FF2B5EF4-FFF2-40B4-BE49-F238E27FC236}">
                    <a16:creationId xmlns:a16="http://schemas.microsoft.com/office/drawing/2014/main" id="{AB97C0D5-E12B-493B-BABA-5556838C014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763603" y="3585432"/>
                <a:ext cx="48404" cy="32882"/>
              </a:xfrm>
              <a:custGeom>
                <a:avLst/>
                <a:gdLst>
                  <a:gd name="T0" fmla="*/ 6 w 19"/>
                  <a:gd name="T1" fmla="*/ 0 h 19"/>
                  <a:gd name="T2" fmla="*/ 0 w 19"/>
                  <a:gd name="T3" fmla="*/ 9 h 19"/>
                  <a:gd name="T4" fmla="*/ 0 w 19"/>
                  <a:gd name="T5" fmla="*/ 18 h 19"/>
                  <a:gd name="T6" fmla="*/ 18 w 19"/>
                  <a:gd name="T7" fmla="*/ 18 h 19"/>
                  <a:gd name="T8" fmla="*/ 18 w 19"/>
                  <a:gd name="T9" fmla="*/ 9 h 19"/>
                  <a:gd name="T10" fmla="*/ 6 w 19"/>
                  <a:gd name="T11" fmla="*/ 0 h 1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9"/>
                  <a:gd name="T19" fmla="*/ 0 h 19"/>
                  <a:gd name="T20" fmla="*/ 19 w 19"/>
                  <a:gd name="T21" fmla="*/ 19 h 1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9" h="19">
                    <a:moveTo>
                      <a:pt x="6" y="0"/>
                    </a:moveTo>
                    <a:lnTo>
                      <a:pt x="0" y="9"/>
                    </a:lnTo>
                    <a:lnTo>
                      <a:pt x="0" y="18"/>
                    </a:lnTo>
                    <a:lnTo>
                      <a:pt x="18" y="18"/>
                    </a:lnTo>
                    <a:lnTo>
                      <a:pt x="18" y="9"/>
                    </a:lnTo>
                    <a:lnTo>
                      <a:pt x="6" y="0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55" name="Freeform 19">
                <a:extLst>
                  <a:ext uri="{FF2B5EF4-FFF2-40B4-BE49-F238E27FC236}">
                    <a16:creationId xmlns:a16="http://schemas.microsoft.com/office/drawing/2014/main" id="{C69D0298-7D22-4867-AAD1-30E10D669D7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827296" y="3575050"/>
                <a:ext cx="109552" cy="77878"/>
              </a:xfrm>
              <a:custGeom>
                <a:avLst/>
                <a:gdLst>
                  <a:gd name="T0" fmla="*/ 42 w 43"/>
                  <a:gd name="T1" fmla="*/ 0 h 45"/>
                  <a:gd name="T2" fmla="*/ 42 w 43"/>
                  <a:gd name="T3" fmla="*/ 6 h 45"/>
                  <a:gd name="T4" fmla="*/ 36 w 43"/>
                  <a:gd name="T5" fmla="*/ 38 h 45"/>
                  <a:gd name="T6" fmla="*/ 36 w 43"/>
                  <a:gd name="T7" fmla="*/ 44 h 45"/>
                  <a:gd name="T8" fmla="*/ 18 w 43"/>
                  <a:gd name="T9" fmla="*/ 44 h 45"/>
                  <a:gd name="T10" fmla="*/ 0 w 43"/>
                  <a:gd name="T11" fmla="*/ 25 h 45"/>
                  <a:gd name="T12" fmla="*/ 0 w 43"/>
                  <a:gd name="T13" fmla="*/ 19 h 45"/>
                  <a:gd name="T14" fmla="*/ 24 w 43"/>
                  <a:gd name="T15" fmla="*/ 6 h 45"/>
                  <a:gd name="T16" fmla="*/ 42 w 43"/>
                  <a:gd name="T17" fmla="*/ 0 h 4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43"/>
                  <a:gd name="T28" fmla="*/ 0 h 45"/>
                  <a:gd name="T29" fmla="*/ 43 w 43"/>
                  <a:gd name="T30" fmla="*/ 45 h 45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43" h="45">
                    <a:moveTo>
                      <a:pt x="42" y="0"/>
                    </a:moveTo>
                    <a:lnTo>
                      <a:pt x="42" y="6"/>
                    </a:lnTo>
                    <a:lnTo>
                      <a:pt x="36" y="38"/>
                    </a:lnTo>
                    <a:lnTo>
                      <a:pt x="36" y="44"/>
                    </a:lnTo>
                    <a:lnTo>
                      <a:pt x="18" y="44"/>
                    </a:lnTo>
                    <a:lnTo>
                      <a:pt x="0" y="25"/>
                    </a:lnTo>
                    <a:lnTo>
                      <a:pt x="0" y="19"/>
                    </a:lnTo>
                    <a:lnTo>
                      <a:pt x="24" y="6"/>
                    </a:lnTo>
                    <a:lnTo>
                      <a:pt x="42" y="0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56" name="Freeform 20">
                <a:extLst>
                  <a:ext uri="{FF2B5EF4-FFF2-40B4-BE49-F238E27FC236}">
                    <a16:creationId xmlns:a16="http://schemas.microsoft.com/office/drawing/2014/main" id="{E8FA81D1-AD87-46AE-B638-DDB421DF7FC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873154" y="3640811"/>
                <a:ext cx="78978" cy="53650"/>
              </a:xfrm>
              <a:custGeom>
                <a:avLst/>
                <a:gdLst>
                  <a:gd name="T0" fmla="*/ 24 w 31"/>
                  <a:gd name="T1" fmla="*/ 30 h 31"/>
                  <a:gd name="T2" fmla="*/ 30 w 31"/>
                  <a:gd name="T3" fmla="*/ 18 h 31"/>
                  <a:gd name="T4" fmla="*/ 24 w 31"/>
                  <a:gd name="T5" fmla="*/ 12 h 31"/>
                  <a:gd name="T6" fmla="*/ 18 w 31"/>
                  <a:gd name="T7" fmla="*/ 6 h 31"/>
                  <a:gd name="T8" fmla="*/ 0 w 31"/>
                  <a:gd name="T9" fmla="*/ 0 h 31"/>
                  <a:gd name="T10" fmla="*/ 0 w 31"/>
                  <a:gd name="T11" fmla="*/ 6 h 31"/>
                  <a:gd name="T12" fmla="*/ 0 w 31"/>
                  <a:gd name="T13" fmla="*/ 12 h 31"/>
                  <a:gd name="T14" fmla="*/ 6 w 31"/>
                  <a:gd name="T15" fmla="*/ 18 h 31"/>
                  <a:gd name="T16" fmla="*/ 6 w 31"/>
                  <a:gd name="T17" fmla="*/ 12 h 31"/>
                  <a:gd name="T18" fmla="*/ 18 w 31"/>
                  <a:gd name="T19" fmla="*/ 24 h 31"/>
                  <a:gd name="T20" fmla="*/ 18 w 31"/>
                  <a:gd name="T21" fmla="*/ 30 h 31"/>
                  <a:gd name="T22" fmla="*/ 24 w 31"/>
                  <a:gd name="T23" fmla="*/ 30 h 31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31"/>
                  <a:gd name="T37" fmla="*/ 0 h 31"/>
                  <a:gd name="T38" fmla="*/ 31 w 31"/>
                  <a:gd name="T39" fmla="*/ 31 h 31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31" h="31">
                    <a:moveTo>
                      <a:pt x="24" y="30"/>
                    </a:moveTo>
                    <a:lnTo>
                      <a:pt x="30" y="18"/>
                    </a:lnTo>
                    <a:lnTo>
                      <a:pt x="24" y="12"/>
                    </a:lnTo>
                    <a:lnTo>
                      <a:pt x="18" y="6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2"/>
                    </a:lnTo>
                    <a:lnTo>
                      <a:pt x="6" y="18"/>
                    </a:lnTo>
                    <a:lnTo>
                      <a:pt x="6" y="12"/>
                    </a:lnTo>
                    <a:lnTo>
                      <a:pt x="18" y="24"/>
                    </a:lnTo>
                    <a:lnTo>
                      <a:pt x="18" y="30"/>
                    </a:lnTo>
                    <a:lnTo>
                      <a:pt x="24" y="30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57" name="Freeform 21">
                <a:extLst>
                  <a:ext uri="{FF2B5EF4-FFF2-40B4-BE49-F238E27FC236}">
                    <a16:creationId xmlns:a16="http://schemas.microsoft.com/office/drawing/2014/main" id="{F174C378-FD27-4FBB-9018-A7EE610F620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936847" y="3673691"/>
                <a:ext cx="81528" cy="43264"/>
              </a:xfrm>
              <a:custGeom>
                <a:avLst/>
                <a:gdLst>
                  <a:gd name="T0" fmla="*/ 0 w 32"/>
                  <a:gd name="T1" fmla="*/ 12 h 25"/>
                  <a:gd name="T2" fmla="*/ 19 w 32"/>
                  <a:gd name="T3" fmla="*/ 18 h 25"/>
                  <a:gd name="T4" fmla="*/ 19 w 32"/>
                  <a:gd name="T5" fmla="*/ 24 h 25"/>
                  <a:gd name="T6" fmla="*/ 31 w 32"/>
                  <a:gd name="T7" fmla="*/ 18 h 25"/>
                  <a:gd name="T8" fmla="*/ 25 w 32"/>
                  <a:gd name="T9" fmla="*/ 12 h 25"/>
                  <a:gd name="T10" fmla="*/ 31 w 32"/>
                  <a:gd name="T11" fmla="*/ 6 h 25"/>
                  <a:gd name="T12" fmla="*/ 31 w 32"/>
                  <a:gd name="T13" fmla="*/ 0 h 25"/>
                  <a:gd name="T14" fmla="*/ 31 w 32"/>
                  <a:gd name="T15" fmla="*/ 6 h 25"/>
                  <a:gd name="T16" fmla="*/ 19 w 32"/>
                  <a:gd name="T17" fmla="*/ 6 h 25"/>
                  <a:gd name="T18" fmla="*/ 6 w 32"/>
                  <a:gd name="T19" fmla="*/ 6 h 25"/>
                  <a:gd name="T20" fmla="*/ 6 w 32"/>
                  <a:gd name="T21" fmla="*/ 0 h 25"/>
                  <a:gd name="T22" fmla="*/ 0 w 32"/>
                  <a:gd name="T23" fmla="*/ 12 h 25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32"/>
                  <a:gd name="T37" fmla="*/ 0 h 25"/>
                  <a:gd name="T38" fmla="*/ 32 w 32"/>
                  <a:gd name="T39" fmla="*/ 25 h 25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32" h="25">
                    <a:moveTo>
                      <a:pt x="0" y="12"/>
                    </a:moveTo>
                    <a:lnTo>
                      <a:pt x="19" y="18"/>
                    </a:lnTo>
                    <a:lnTo>
                      <a:pt x="19" y="24"/>
                    </a:lnTo>
                    <a:lnTo>
                      <a:pt x="31" y="18"/>
                    </a:lnTo>
                    <a:lnTo>
                      <a:pt x="25" y="12"/>
                    </a:lnTo>
                    <a:lnTo>
                      <a:pt x="31" y="6"/>
                    </a:lnTo>
                    <a:lnTo>
                      <a:pt x="31" y="0"/>
                    </a:lnTo>
                    <a:lnTo>
                      <a:pt x="31" y="6"/>
                    </a:lnTo>
                    <a:lnTo>
                      <a:pt x="19" y="6"/>
                    </a:lnTo>
                    <a:lnTo>
                      <a:pt x="6" y="6"/>
                    </a:lnTo>
                    <a:lnTo>
                      <a:pt x="6" y="0"/>
                    </a:lnTo>
                    <a:lnTo>
                      <a:pt x="0" y="12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58" name="Freeform 22">
                <a:extLst>
                  <a:ext uri="{FF2B5EF4-FFF2-40B4-BE49-F238E27FC236}">
                    <a16:creationId xmlns:a16="http://schemas.microsoft.com/office/drawing/2014/main" id="{9EF96CDF-790F-4B1F-AB3D-0C17917BA3A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018373" y="3673691"/>
                <a:ext cx="63693" cy="43264"/>
              </a:xfrm>
              <a:custGeom>
                <a:avLst/>
                <a:gdLst>
                  <a:gd name="T0" fmla="*/ 24 w 25"/>
                  <a:gd name="T1" fmla="*/ 6 h 25"/>
                  <a:gd name="T2" fmla="*/ 24 w 25"/>
                  <a:gd name="T3" fmla="*/ 12 h 25"/>
                  <a:gd name="T4" fmla="*/ 18 w 25"/>
                  <a:gd name="T5" fmla="*/ 18 h 25"/>
                  <a:gd name="T6" fmla="*/ 18 w 25"/>
                  <a:gd name="T7" fmla="*/ 24 h 25"/>
                  <a:gd name="T8" fmla="*/ 18 w 25"/>
                  <a:gd name="T9" fmla="*/ 12 h 25"/>
                  <a:gd name="T10" fmla="*/ 6 w 25"/>
                  <a:gd name="T11" fmla="*/ 6 h 25"/>
                  <a:gd name="T12" fmla="*/ 0 w 25"/>
                  <a:gd name="T13" fmla="*/ 0 h 25"/>
                  <a:gd name="T14" fmla="*/ 12 w 25"/>
                  <a:gd name="T15" fmla="*/ 0 h 25"/>
                  <a:gd name="T16" fmla="*/ 18 w 25"/>
                  <a:gd name="T17" fmla="*/ 0 h 25"/>
                  <a:gd name="T18" fmla="*/ 24 w 25"/>
                  <a:gd name="T19" fmla="*/ 6 h 2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5"/>
                  <a:gd name="T31" fmla="*/ 0 h 25"/>
                  <a:gd name="T32" fmla="*/ 25 w 25"/>
                  <a:gd name="T33" fmla="*/ 25 h 2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5" h="25">
                    <a:moveTo>
                      <a:pt x="24" y="6"/>
                    </a:moveTo>
                    <a:lnTo>
                      <a:pt x="24" y="12"/>
                    </a:lnTo>
                    <a:lnTo>
                      <a:pt x="18" y="18"/>
                    </a:lnTo>
                    <a:lnTo>
                      <a:pt x="18" y="24"/>
                    </a:lnTo>
                    <a:lnTo>
                      <a:pt x="18" y="12"/>
                    </a:lnTo>
                    <a:lnTo>
                      <a:pt x="6" y="6"/>
                    </a:lnTo>
                    <a:lnTo>
                      <a:pt x="0" y="0"/>
                    </a:lnTo>
                    <a:lnTo>
                      <a:pt x="12" y="0"/>
                    </a:lnTo>
                    <a:lnTo>
                      <a:pt x="18" y="0"/>
                    </a:lnTo>
                    <a:lnTo>
                      <a:pt x="24" y="6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59" name="Freeform 23">
                <a:extLst>
                  <a:ext uri="{FF2B5EF4-FFF2-40B4-BE49-F238E27FC236}">
                    <a16:creationId xmlns:a16="http://schemas.microsoft.com/office/drawing/2014/main" id="{ED7B6AA1-F497-4CCD-9669-872A858FA8B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018373" y="3673691"/>
                <a:ext cx="45858" cy="31151"/>
              </a:xfrm>
              <a:custGeom>
                <a:avLst/>
                <a:gdLst>
                  <a:gd name="T0" fmla="*/ 17 w 18"/>
                  <a:gd name="T1" fmla="*/ 17 h 18"/>
                  <a:gd name="T2" fmla="*/ 0 w 18"/>
                  <a:gd name="T3" fmla="*/ 0 h 18"/>
                  <a:gd name="T4" fmla="*/ 0 w 18"/>
                  <a:gd name="T5" fmla="*/ 17 h 18"/>
                  <a:gd name="T6" fmla="*/ 0 w 18"/>
                  <a:gd name="T7" fmla="*/ 0 h 18"/>
                  <a:gd name="T8" fmla="*/ 17 w 18"/>
                  <a:gd name="T9" fmla="*/ 17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"/>
                  <a:gd name="T16" fmla="*/ 0 h 18"/>
                  <a:gd name="T17" fmla="*/ 18 w 18"/>
                  <a:gd name="T18" fmla="*/ 18 h 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" h="18">
                    <a:moveTo>
                      <a:pt x="17" y="17"/>
                    </a:moveTo>
                    <a:lnTo>
                      <a:pt x="0" y="0"/>
                    </a:lnTo>
                    <a:lnTo>
                      <a:pt x="0" y="17"/>
                    </a:lnTo>
                    <a:lnTo>
                      <a:pt x="0" y="0"/>
                    </a:lnTo>
                    <a:lnTo>
                      <a:pt x="17" y="17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60" name="Freeform 24">
                <a:extLst>
                  <a:ext uri="{FF2B5EF4-FFF2-40B4-BE49-F238E27FC236}">
                    <a16:creationId xmlns:a16="http://schemas.microsoft.com/office/drawing/2014/main" id="{64E0E3A5-E829-466D-AEC5-00D6400FF1C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224738" y="3490248"/>
                <a:ext cx="94265" cy="43264"/>
              </a:xfrm>
              <a:custGeom>
                <a:avLst/>
                <a:gdLst>
                  <a:gd name="T0" fmla="*/ 0 w 37"/>
                  <a:gd name="T1" fmla="*/ 18 h 25"/>
                  <a:gd name="T2" fmla="*/ 0 w 37"/>
                  <a:gd name="T3" fmla="*/ 0 h 25"/>
                  <a:gd name="T4" fmla="*/ 18 w 37"/>
                  <a:gd name="T5" fmla="*/ 6 h 25"/>
                  <a:gd name="T6" fmla="*/ 24 w 37"/>
                  <a:gd name="T7" fmla="*/ 6 h 25"/>
                  <a:gd name="T8" fmla="*/ 30 w 37"/>
                  <a:gd name="T9" fmla="*/ 6 h 25"/>
                  <a:gd name="T10" fmla="*/ 24 w 37"/>
                  <a:gd name="T11" fmla="*/ 12 h 25"/>
                  <a:gd name="T12" fmla="*/ 36 w 37"/>
                  <a:gd name="T13" fmla="*/ 12 h 25"/>
                  <a:gd name="T14" fmla="*/ 30 w 37"/>
                  <a:gd name="T15" fmla="*/ 18 h 25"/>
                  <a:gd name="T16" fmla="*/ 12 w 37"/>
                  <a:gd name="T17" fmla="*/ 18 h 25"/>
                  <a:gd name="T18" fmla="*/ 6 w 37"/>
                  <a:gd name="T19" fmla="*/ 18 h 25"/>
                  <a:gd name="T20" fmla="*/ 6 w 37"/>
                  <a:gd name="T21" fmla="*/ 24 h 25"/>
                  <a:gd name="T22" fmla="*/ 0 w 37"/>
                  <a:gd name="T23" fmla="*/ 18 h 25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37"/>
                  <a:gd name="T37" fmla="*/ 0 h 25"/>
                  <a:gd name="T38" fmla="*/ 37 w 37"/>
                  <a:gd name="T39" fmla="*/ 25 h 25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37" h="25">
                    <a:moveTo>
                      <a:pt x="0" y="18"/>
                    </a:moveTo>
                    <a:lnTo>
                      <a:pt x="0" y="0"/>
                    </a:lnTo>
                    <a:lnTo>
                      <a:pt x="18" y="6"/>
                    </a:lnTo>
                    <a:lnTo>
                      <a:pt x="24" y="6"/>
                    </a:lnTo>
                    <a:lnTo>
                      <a:pt x="30" y="6"/>
                    </a:lnTo>
                    <a:lnTo>
                      <a:pt x="24" y="12"/>
                    </a:lnTo>
                    <a:lnTo>
                      <a:pt x="36" y="12"/>
                    </a:lnTo>
                    <a:lnTo>
                      <a:pt x="30" y="18"/>
                    </a:lnTo>
                    <a:lnTo>
                      <a:pt x="12" y="18"/>
                    </a:lnTo>
                    <a:lnTo>
                      <a:pt x="6" y="18"/>
                    </a:lnTo>
                    <a:lnTo>
                      <a:pt x="6" y="24"/>
                    </a:lnTo>
                    <a:lnTo>
                      <a:pt x="0" y="18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61" name="Freeform 25">
                <a:extLst>
                  <a:ext uri="{FF2B5EF4-FFF2-40B4-BE49-F238E27FC236}">
                    <a16:creationId xmlns:a16="http://schemas.microsoft.com/office/drawing/2014/main" id="{571ED489-8797-4BBA-97F8-9DCEB7670AD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158498" y="3490248"/>
                <a:ext cx="63693" cy="32882"/>
              </a:xfrm>
              <a:custGeom>
                <a:avLst/>
                <a:gdLst>
                  <a:gd name="T0" fmla="*/ 24 w 25"/>
                  <a:gd name="T1" fmla="*/ 18 h 19"/>
                  <a:gd name="T2" fmla="*/ 24 w 25"/>
                  <a:gd name="T3" fmla="*/ 0 h 19"/>
                  <a:gd name="T4" fmla="*/ 12 w 25"/>
                  <a:gd name="T5" fmla="*/ 0 h 19"/>
                  <a:gd name="T6" fmla="*/ 12 w 25"/>
                  <a:gd name="T7" fmla="*/ 6 h 19"/>
                  <a:gd name="T8" fmla="*/ 18 w 25"/>
                  <a:gd name="T9" fmla="*/ 12 h 19"/>
                  <a:gd name="T10" fmla="*/ 0 w 25"/>
                  <a:gd name="T11" fmla="*/ 18 h 19"/>
                  <a:gd name="T12" fmla="*/ 6 w 25"/>
                  <a:gd name="T13" fmla="*/ 18 h 19"/>
                  <a:gd name="T14" fmla="*/ 24 w 25"/>
                  <a:gd name="T15" fmla="*/ 18 h 1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25"/>
                  <a:gd name="T25" fmla="*/ 0 h 19"/>
                  <a:gd name="T26" fmla="*/ 25 w 25"/>
                  <a:gd name="T27" fmla="*/ 19 h 19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5" h="19">
                    <a:moveTo>
                      <a:pt x="24" y="18"/>
                    </a:moveTo>
                    <a:lnTo>
                      <a:pt x="24" y="0"/>
                    </a:lnTo>
                    <a:lnTo>
                      <a:pt x="12" y="0"/>
                    </a:lnTo>
                    <a:lnTo>
                      <a:pt x="12" y="6"/>
                    </a:lnTo>
                    <a:lnTo>
                      <a:pt x="18" y="12"/>
                    </a:lnTo>
                    <a:lnTo>
                      <a:pt x="0" y="18"/>
                    </a:lnTo>
                    <a:lnTo>
                      <a:pt x="6" y="18"/>
                    </a:lnTo>
                    <a:lnTo>
                      <a:pt x="24" y="18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62" name="Freeform 26">
                <a:extLst>
                  <a:ext uri="{FF2B5EF4-FFF2-40B4-BE49-F238E27FC236}">
                    <a16:creationId xmlns:a16="http://schemas.microsoft.com/office/drawing/2014/main" id="{F66B73E2-8623-4A81-967B-5EB5D25B3D9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033657" y="3620043"/>
                <a:ext cx="300631" cy="278628"/>
              </a:xfrm>
              <a:custGeom>
                <a:avLst/>
                <a:gdLst>
                  <a:gd name="T0" fmla="*/ 93 w 118"/>
                  <a:gd name="T1" fmla="*/ 160 h 161"/>
                  <a:gd name="T2" fmla="*/ 99 w 118"/>
                  <a:gd name="T3" fmla="*/ 136 h 161"/>
                  <a:gd name="T4" fmla="*/ 93 w 118"/>
                  <a:gd name="T5" fmla="*/ 123 h 161"/>
                  <a:gd name="T6" fmla="*/ 99 w 118"/>
                  <a:gd name="T7" fmla="*/ 117 h 161"/>
                  <a:gd name="T8" fmla="*/ 93 w 118"/>
                  <a:gd name="T9" fmla="*/ 111 h 161"/>
                  <a:gd name="T10" fmla="*/ 93 w 118"/>
                  <a:gd name="T11" fmla="*/ 105 h 161"/>
                  <a:gd name="T12" fmla="*/ 117 w 118"/>
                  <a:gd name="T13" fmla="*/ 105 h 161"/>
                  <a:gd name="T14" fmla="*/ 117 w 118"/>
                  <a:gd name="T15" fmla="*/ 92 h 161"/>
                  <a:gd name="T16" fmla="*/ 111 w 118"/>
                  <a:gd name="T17" fmla="*/ 80 h 161"/>
                  <a:gd name="T18" fmla="*/ 117 w 118"/>
                  <a:gd name="T19" fmla="*/ 61 h 161"/>
                  <a:gd name="T20" fmla="*/ 99 w 118"/>
                  <a:gd name="T21" fmla="*/ 68 h 161"/>
                  <a:gd name="T22" fmla="*/ 93 w 118"/>
                  <a:gd name="T23" fmla="*/ 55 h 161"/>
                  <a:gd name="T24" fmla="*/ 74 w 118"/>
                  <a:gd name="T25" fmla="*/ 55 h 161"/>
                  <a:gd name="T26" fmla="*/ 68 w 118"/>
                  <a:gd name="T27" fmla="*/ 49 h 161"/>
                  <a:gd name="T28" fmla="*/ 68 w 118"/>
                  <a:gd name="T29" fmla="*/ 43 h 161"/>
                  <a:gd name="T30" fmla="*/ 62 w 118"/>
                  <a:gd name="T31" fmla="*/ 30 h 161"/>
                  <a:gd name="T32" fmla="*/ 68 w 118"/>
                  <a:gd name="T33" fmla="*/ 18 h 161"/>
                  <a:gd name="T34" fmla="*/ 74 w 118"/>
                  <a:gd name="T35" fmla="*/ 12 h 161"/>
                  <a:gd name="T36" fmla="*/ 80 w 118"/>
                  <a:gd name="T37" fmla="*/ 6 h 161"/>
                  <a:gd name="T38" fmla="*/ 74 w 118"/>
                  <a:gd name="T39" fmla="*/ 0 h 161"/>
                  <a:gd name="T40" fmla="*/ 55 w 118"/>
                  <a:gd name="T41" fmla="*/ 12 h 161"/>
                  <a:gd name="T42" fmla="*/ 43 w 118"/>
                  <a:gd name="T43" fmla="*/ 18 h 161"/>
                  <a:gd name="T44" fmla="*/ 37 w 118"/>
                  <a:gd name="T45" fmla="*/ 30 h 161"/>
                  <a:gd name="T46" fmla="*/ 24 w 118"/>
                  <a:gd name="T47" fmla="*/ 43 h 161"/>
                  <a:gd name="T48" fmla="*/ 24 w 118"/>
                  <a:gd name="T49" fmla="*/ 49 h 161"/>
                  <a:gd name="T50" fmla="*/ 18 w 118"/>
                  <a:gd name="T51" fmla="*/ 37 h 161"/>
                  <a:gd name="T52" fmla="*/ 18 w 118"/>
                  <a:gd name="T53" fmla="*/ 43 h 161"/>
                  <a:gd name="T54" fmla="*/ 12 w 118"/>
                  <a:gd name="T55" fmla="*/ 55 h 161"/>
                  <a:gd name="T56" fmla="*/ 18 w 118"/>
                  <a:gd name="T57" fmla="*/ 61 h 161"/>
                  <a:gd name="T58" fmla="*/ 18 w 118"/>
                  <a:gd name="T59" fmla="*/ 86 h 161"/>
                  <a:gd name="T60" fmla="*/ 18 w 118"/>
                  <a:gd name="T61" fmla="*/ 99 h 161"/>
                  <a:gd name="T62" fmla="*/ 12 w 118"/>
                  <a:gd name="T63" fmla="*/ 99 h 161"/>
                  <a:gd name="T64" fmla="*/ 6 w 118"/>
                  <a:gd name="T65" fmla="*/ 105 h 161"/>
                  <a:gd name="T66" fmla="*/ 0 w 118"/>
                  <a:gd name="T67" fmla="*/ 105 h 161"/>
                  <a:gd name="T68" fmla="*/ 6 w 118"/>
                  <a:gd name="T69" fmla="*/ 111 h 161"/>
                  <a:gd name="T70" fmla="*/ 24 w 118"/>
                  <a:gd name="T71" fmla="*/ 123 h 161"/>
                  <a:gd name="T72" fmla="*/ 37 w 118"/>
                  <a:gd name="T73" fmla="*/ 123 h 161"/>
                  <a:gd name="T74" fmla="*/ 43 w 118"/>
                  <a:gd name="T75" fmla="*/ 123 h 161"/>
                  <a:gd name="T76" fmla="*/ 55 w 118"/>
                  <a:gd name="T77" fmla="*/ 136 h 161"/>
                  <a:gd name="T78" fmla="*/ 62 w 118"/>
                  <a:gd name="T79" fmla="*/ 148 h 161"/>
                  <a:gd name="T80" fmla="*/ 86 w 118"/>
                  <a:gd name="T81" fmla="*/ 148 h 161"/>
                  <a:gd name="T82" fmla="*/ 93 w 118"/>
                  <a:gd name="T83" fmla="*/ 148 h 161"/>
                  <a:gd name="T84" fmla="*/ 93 w 118"/>
                  <a:gd name="T85" fmla="*/ 154 h 161"/>
                  <a:gd name="T86" fmla="*/ 86 w 118"/>
                  <a:gd name="T87" fmla="*/ 160 h 161"/>
                  <a:gd name="T88" fmla="*/ 93 w 118"/>
                  <a:gd name="T89" fmla="*/ 160 h 161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118"/>
                  <a:gd name="T136" fmla="*/ 0 h 161"/>
                  <a:gd name="T137" fmla="*/ 118 w 118"/>
                  <a:gd name="T138" fmla="*/ 161 h 161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118" h="161">
                    <a:moveTo>
                      <a:pt x="93" y="160"/>
                    </a:moveTo>
                    <a:lnTo>
                      <a:pt x="99" y="136"/>
                    </a:lnTo>
                    <a:lnTo>
                      <a:pt x="93" y="123"/>
                    </a:lnTo>
                    <a:lnTo>
                      <a:pt x="99" y="117"/>
                    </a:lnTo>
                    <a:lnTo>
                      <a:pt x="93" y="111"/>
                    </a:lnTo>
                    <a:lnTo>
                      <a:pt x="93" y="105"/>
                    </a:lnTo>
                    <a:lnTo>
                      <a:pt x="117" y="105"/>
                    </a:lnTo>
                    <a:lnTo>
                      <a:pt x="117" y="92"/>
                    </a:lnTo>
                    <a:lnTo>
                      <a:pt x="111" y="80"/>
                    </a:lnTo>
                    <a:lnTo>
                      <a:pt x="117" y="61"/>
                    </a:lnTo>
                    <a:lnTo>
                      <a:pt x="99" y="68"/>
                    </a:lnTo>
                    <a:lnTo>
                      <a:pt x="93" y="55"/>
                    </a:lnTo>
                    <a:lnTo>
                      <a:pt x="74" y="55"/>
                    </a:lnTo>
                    <a:lnTo>
                      <a:pt x="68" y="49"/>
                    </a:lnTo>
                    <a:lnTo>
                      <a:pt x="68" y="43"/>
                    </a:lnTo>
                    <a:lnTo>
                      <a:pt x="62" y="30"/>
                    </a:lnTo>
                    <a:lnTo>
                      <a:pt x="68" y="18"/>
                    </a:lnTo>
                    <a:lnTo>
                      <a:pt x="74" y="12"/>
                    </a:lnTo>
                    <a:lnTo>
                      <a:pt x="80" y="6"/>
                    </a:lnTo>
                    <a:lnTo>
                      <a:pt x="74" y="0"/>
                    </a:lnTo>
                    <a:lnTo>
                      <a:pt x="55" y="12"/>
                    </a:lnTo>
                    <a:lnTo>
                      <a:pt x="43" y="18"/>
                    </a:lnTo>
                    <a:lnTo>
                      <a:pt x="37" y="30"/>
                    </a:lnTo>
                    <a:lnTo>
                      <a:pt x="24" y="43"/>
                    </a:lnTo>
                    <a:lnTo>
                      <a:pt x="24" y="49"/>
                    </a:lnTo>
                    <a:lnTo>
                      <a:pt x="18" y="37"/>
                    </a:lnTo>
                    <a:lnTo>
                      <a:pt x="18" y="43"/>
                    </a:lnTo>
                    <a:lnTo>
                      <a:pt x="12" y="55"/>
                    </a:lnTo>
                    <a:lnTo>
                      <a:pt x="18" y="61"/>
                    </a:lnTo>
                    <a:lnTo>
                      <a:pt x="18" y="86"/>
                    </a:lnTo>
                    <a:lnTo>
                      <a:pt x="18" y="99"/>
                    </a:lnTo>
                    <a:lnTo>
                      <a:pt x="12" y="99"/>
                    </a:lnTo>
                    <a:lnTo>
                      <a:pt x="6" y="105"/>
                    </a:lnTo>
                    <a:lnTo>
                      <a:pt x="0" y="105"/>
                    </a:lnTo>
                    <a:lnTo>
                      <a:pt x="6" y="111"/>
                    </a:lnTo>
                    <a:lnTo>
                      <a:pt x="24" y="123"/>
                    </a:lnTo>
                    <a:lnTo>
                      <a:pt x="37" y="123"/>
                    </a:lnTo>
                    <a:lnTo>
                      <a:pt x="43" y="123"/>
                    </a:lnTo>
                    <a:lnTo>
                      <a:pt x="55" y="136"/>
                    </a:lnTo>
                    <a:lnTo>
                      <a:pt x="62" y="148"/>
                    </a:lnTo>
                    <a:lnTo>
                      <a:pt x="86" y="148"/>
                    </a:lnTo>
                    <a:lnTo>
                      <a:pt x="93" y="148"/>
                    </a:lnTo>
                    <a:lnTo>
                      <a:pt x="93" y="154"/>
                    </a:lnTo>
                    <a:lnTo>
                      <a:pt x="86" y="160"/>
                    </a:lnTo>
                    <a:lnTo>
                      <a:pt x="93" y="160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63" name="Freeform 27">
                <a:extLst>
                  <a:ext uri="{FF2B5EF4-FFF2-40B4-BE49-F238E27FC236}">
                    <a16:creationId xmlns:a16="http://schemas.microsoft.com/office/drawing/2014/main" id="{A5311FB3-2587-44A8-8F0D-42AD9E3CCC2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985253" y="3813873"/>
                <a:ext cx="157957" cy="105566"/>
              </a:xfrm>
              <a:custGeom>
                <a:avLst/>
                <a:gdLst>
                  <a:gd name="T0" fmla="*/ 61 w 62"/>
                  <a:gd name="T1" fmla="*/ 12 h 61"/>
                  <a:gd name="T2" fmla="*/ 55 w 62"/>
                  <a:gd name="T3" fmla="*/ 12 h 61"/>
                  <a:gd name="T4" fmla="*/ 43 w 62"/>
                  <a:gd name="T5" fmla="*/ 12 h 61"/>
                  <a:gd name="T6" fmla="*/ 24 w 62"/>
                  <a:gd name="T7" fmla="*/ 0 h 61"/>
                  <a:gd name="T8" fmla="*/ 12 w 62"/>
                  <a:gd name="T9" fmla="*/ 6 h 61"/>
                  <a:gd name="T10" fmla="*/ 12 w 62"/>
                  <a:gd name="T11" fmla="*/ 12 h 61"/>
                  <a:gd name="T12" fmla="*/ 0 w 62"/>
                  <a:gd name="T13" fmla="*/ 24 h 61"/>
                  <a:gd name="T14" fmla="*/ 0 w 62"/>
                  <a:gd name="T15" fmla="*/ 36 h 61"/>
                  <a:gd name="T16" fmla="*/ 12 w 62"/>
                  <a:gd name="T17" fmla="*/ 42 h 61"/>
                  <a:gd name="T18" fmla="*/ 12 w 62"/>
                  <a:gd name="T19" fmla="*/ 36 h 61"/>
                  <a:gd name="T20" fmla="*/ 18 w 62"/>
                  <a:gd name="T21" fmla="*/ 36 h 61"/>
                  <a:gd name="T22" fmla="*/ 12 w 62"/>
                  <a:gd name="T23" fmla="*/ 42 h 61"/>
                  <a:gd name="T24" fmla="*/ 6 w 62"/>
                  <a:gd name="T25" fmla="*/ 48 h 61"/>
                  <a:gd name="T26" fmla="*/ 6 w 62"/>
                  <a:gd name="T27" fmla="*/ 54 h 61"/>
                  <a:gd name="T28" fmla="*/ 18 w 62"/>
                  <a:gd name="T29" fmla="*/ 60 h 61"/>
                  <a:gd name="T30" fmla="*/ 30 w 62"/>
                  <a:gd name="T31" fmla="*/ 42 h 61"/>
                  <a:gd name="T32" fmla="*/ 49 w 62"/>
                  <a:gd name="T33" fmla="*/ 36 h 61"/>
                  <a:gd name="T34" fmla="*/ 55 w 62"/>
                  <a:gd name="T35" fmla="*/ 30 h 61"/>
                  <a:gd name="T36" fmla="*/ 61 w 62"/>
                  <a:gd name="T37" fmla="*/ 18 h 61"/>
                  <a:gd name="T38" fmla="*/ 55 w 62"/>
                  <a:gd name="T39" fmla="*/ 12 h 61"/>
                  <a:gd name="T40" fmla="*/ 61 w 62"/>
                  <a:gd name="T41" fmla="*/ 12 h 61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62"/>
                  <a:gd name="T64" fmla="*/ 0 h 61"/>
                  <a:gd name="T65" fmla="*/ 62 w 62"/>
                  <a:gd name="T66" fmla="*/ 61 h 61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62" h="61">
                    <a:moveTo>
                      <a:pt x="61" y="12"/>
                    </a:moveTo>
                    <a:lnTo>
                      <a:pt x="55" y="12"/>
                    </a:lnTo>
                    <a:lnTo>
                      <a:pt x="43" y="12"/>
                    </a:lnTo>
                    <a:lnTo>
                      <a:pt x="24" y="0"/>
                    </a:lnTo>
                    <a:lnTo>
                      <a:pt x="12" y="6"/>
                    </a:lnTo>
                    <a:lnTo>
                      <a:pt x="12" y="12"/>
                    </a:lnTo>
                    <a:lnTo>
                      <a:pt x="0" y="24"/>
                    </a:lnTo>
                    <a:lnTo>
                      <a:pt x="0" y="36"/>
                    </a:lnTo>
                    <a:lnTo>
                      <a:pt x="12" y="42"/>
                    </a:lnTo>
                    <a:lnTo>
                      <a:pt x="12" y="36"/>
                    </a:lnTo>
                    <a:lnTo>
                      <a:pt x="18" y="36"/>
                    </a:lnTo>
                    <a:lnTo>
                      <a:pt x="12" y="42"/>
                    </a:lnTo>
                    <a:lnTo>
                      <a:pt x="6" y="48"/>
                    </a:lnTo>
                    <a:lnTo>
                      <a:pt x="6" y="54"/>
                    </a:lnTo>
                    <a:lnTo>
                      <a:pt x="18" y="60"/>
                    </a:lnTo>
                    <a:lnTo>
                      <a:pt x="30" y="42"/>
                    </a:lnTo>
                    <a:lnTo>
                      <a:pt x="49" y="36"/>
                    </a:lnTo>
                    <a:lnTo>
                      <a:pt x="55" y="30"/>
                    </a:lnTo>
                    <a:lnTo>
                      <a:pt x="61" y="18"/>
                    </a:lnTo>
                    <a:lnTo>
                      <a:pt x="55" y="12"/>
                    </a:lnTo>
                    <a:lnTo>
                      <a:pt x="61" y="12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64" name="Freeform 28">
                <a:extLst>
                  <a:ext uri="{FF2B5EF4-FFF2-40B4-BE49-F238E27FC236}">
                    <a16:creationId xmlns:a16="http://schemas.microsoft.com/office/drawing/2014/main" id="{6030207F-F0C6-4BEC-9D4F-8767859913D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985253" y="3834641"/>
                <a:ext cx="318463" cy="309781"/>
              </a:xfrm>
              <a:custGeom>
                <a:avLst/>
                <a:gdLst>
                  <a:gd name="T0" fmla="*/ 118 w 125"/>
                  <a:gd name="T1" fmla="*/ 104 h 179"/>
                  <a:gd name="T2" fmla="*/ 106 w 125"/>
                  <a:gd name="T3" fmla="*/ 104 h 179"/>
                  <a:gd name="T4" fmla="*/ 106 w 125"/>
                  <a:gd name="T5" fmla="*/ 92 h 179"/>
                  <a:gd name="T6" fmla="*/ 93 w 125"/>
                  <a:gd name="T7" fmla="*/ 98 h 179"/>
                  <a:gd name="T8" fmla="*/ 81 w 125"/>
                  <a:gd name="T9" fmla="*/ 92 h 179"/>
                  <a:gd name="T10" fmla="*/ 74 w 125"/>
                  <a:gd name="T11" fmla="*/ 74 h 179"/>
                  <a:gd name="T12" fmla="*/ 87 w 125"/>
                  <a:gd name="T13" fmla="*/ 49 h 179"/>
                  <a:gd name="T14" fmla="*/ 112 w 125"/>
                  <a:gd name="T15" fmla="*/ 37 h 179"/>
                  <a:gd name="T16" fmla="*/ 106 w 125"/>
                  <a:gd name="T17" fmla="*/ 37 h 179"/>
                  <a:gd name="T18" fmla="*/ 112 w 125"/>
                  <a:gd name="T19" fmla="*/ 30 h 179"/>
                  <a:gd name="T20" fmla="*/ 112 w 125"/>
                  <a:gd name="T21" fmla="*/ 24 h 179"/>
                  <a:gd name="T22" fmla="*/ 106 w 125"/>
                  <a:gd name="T23" fmla="*/ 24 h 179"/>
                  <a:gd name="T24" fmla="*/ 81 w 125"/>
                  <a:gd name="T25" fmla="*/ 24 h 179"/>
                  <a:gd name="T26" fmla="*/ 74 w 125"/>
                  <a:gd name="T27" fmla="*/ 12 h 179"/>
                  <a:gd name="T28" fmla="*/ 62 w 125"/>
                  <a:gd name="T29" fmla="*/ 0 h 179"/>
                  <a:gd name="T30" fmla="*/ 56 w 125"/>
                  <a:gd name="T31" fmla="*/ 0 h 179"/>
                  <a:gd name="T32" fmla="*/ 62 w 125"/>
                  <a:gd name="T33" fmla="*/ 6 h 179"/>
                  <a:gd name="T34" fmla="*/ 56 w 125"/>
                  <a:gd name="T35" fmla="*/ 18 h 179"/>
                  <a:gd name="T36" fmla="*/ 49 w 125"/>
                  <a:gd name="T37" fmla="*/ 24 h 179"/>
                  <a:gd name="T38" fmla="*/ 31 w 125"/>
                  <a:gd name="T39" fmla="*/ 30 h 179"/>
                  <a:gd name="T40" fmla="*/ 18 w 125"/>
                  <a:gd name="T41" fmla="*/ 49 h 179"/>
                  <a:gd name="T42" fmla="*/ 6 w 125"/>
                  <a:gd name="T43" fmla="*/ 43 h 179"/>
                  <a:gd name="T44" fmla="*/ 6 w 125"/>
                  <a:gd name="T45" fmla="*/ 37 h 179"/>
                  <a:gd name="T46" fmla="*/ 0 w 125"/>
                  <a:gd name="T47" fmla="*/ 43 h 179"/>
                  <a:gd name="T48" fmla="*/ 6 w 125"/>
                  <a:gd name="T49" fmla="*/ 55 h 179"/>
                  <a:gd name="T50" fmla="*/ 0 w 125"/>
                  <a:gd name="T51" fmla="*/ 55 h 179"/>
                  <a:gd name="T52" fmla="*/ 12 w 125"/>
                  <a:gd name="T53" fmla="*/ 67 h 179"/>
                  <a:gd name="T54" fmla="*/ 24 w 125"/>
                  <a:gd name="T55" fmla="*/ 86 h 179"/>
                  <a:gd name="T56" fmla="*/ 56 w 125"/>
                  <a:gd name="T57" fmla="*/ 141 h 179"/>
                  <a:gd name="T58" fmla="*/ 106 w 125"/>
                  <a:gd name="T59" fmla="*/ 178 h 179"/>
                  <a:gd name="T60" fmla="*/ 118 w 125"/>
                  <a:gd name="T61" fmla="*/ 172 h 179"/>
                  <a:gd name="T62" fmla="*/ 124 w 125"/>
                  <a:gd name="T63" fmla="*/ 160 h 179"/>
                  <a:gd name="T64" fmla="*/ 118 w 125"/>
                  <a:gd name="T65" fmla="*/ 154 h 179"/>
                  <a:gd name="T66" fmla="*/ 124 w 125"/>
                  <a:gd name="T67" fmla="*/ 123 h 179"/>
                  <a:gd name="T68" fmla="*/ 118 w 125"/>
                  <a:gd name="T69" fmla="*/ 104 h 179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125"/>
                  <a:gd name="T106" fmla="*/ 0 h 179"/>
                  <a:gd name="T107" fmla="*/ 125 w 125"/>
                  <a:gd name="T108" fmla="*/ 179 h 179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125" h="179">
                    <a:moveTo>
                      <a:pt x="118" y="104"/>
                    </a:moveTo>
                    <a:lnTo>
                      <a:pt x="106" y="104"/>
                    </a:lnTo>
                    <a:lnTo>
                      <a:pt x="106" y="92"/>
                    </a:lnTo>
                    <a:lnTo>
                      <a:pt x="93" y="98"/>
                    </a:lnTo>
                    <a:lnTo>
                      <a:pt x="81" y="92"/>
                    </a:lnTo>
                    <a:lnTo>
                      <a:pt x="74" y="74"/>
                    </a:lnTo>
                    <a:lnTo>
                      <a:pt x="87" y="49"/>
                    </a:lnTo>
                    <a:lnTo>
                      <a:pt x="112" y="37"/>
                    </a:lnTo>
                    <a:lnTo>
                      <a:pt x="106" y="37"/>
                    </a:lnTo>
                    <a:lnTo>
                      <a:pt x="112" y="30"/>
                    </a:lnTo>
                    <a:lnTo>
                      <a:pt x="112" y="24"/>
                    </a:lnTo>
                    <a:lnTo>
                      <a:pt x="106" y="24"/>
                    </a:lnTo>
                    <a:lnTo>
                      <a:pt x="81" y="24"/>
                    </a:lnTo>
                    <a:lnTo>
                      <a:pt x="74" y="12"/>
                    </a:lnTo>
                    <a:lnTo>
                      <a:pt x="62" y="0"/>
                    </a:lnTo>
                    <a:lnTo>
                      <a:pt x="56" y="0"/>
                    </a:lnTo>
                    <a:lnTo>
                      <a:pt x="62" y="6"/>
                    </a:lnTo>
                    <a:lnTo>
                      <a:pt x="56" y="18"/>
                    </a:lnTo>
                    <a:lnTo>
                      <a:pt x="49" y="24"/>
                    </a:lnTo>
                    <a:lnTo>
                      <a:pt x="31" y="30"/>
                    </a:lnTo>
                    <a:lnTo>
                      <a:pt x="18" y="49"/>
                    </a:lnTo>
                    <a:lnTo>
                      <a:pt x="6" y="43"/>
                    </a:lnTo>
                    <a:lnTo>
                      <a:pt x="6" y="37"/>
                    </a:lnTo>
                    <a:lnTo>
                      <a:pt x="0" y="43"/>
                    </a:lnTo>
                    <a:lnTo>
                      <a:pt x="6" y="55"/>
                    </a:lnTo>
                    <a:lnTo>
                      <a:pt x="0" y="55"/>
                    </a:lnTo>
                    <a:lnTo>
                      <a:pt x="12" y="67"/>
                    </a:lnTo>
                    <a:lnTo>
                      <a:pt x="24" y="86"/>
                    </a:lnTo>
                    <a:lnTo>
                      <a:pt x="56" y="141"/>
                    </a:lnTo>
                    <a:lnTo>
                      <a:pt x="106" y="178"/>
                    </a:lnTo>
                    <a:lnTo>
                      <a:pt x="118" y="172"/>
                    </a:lnTo>
                    <a:lnTo>
                      <a:pt x="124" y="160"/>
                    </a:lnTo>
                    <a:lnTo>
                      <a:pt x="118" y="154"/>
                    </a:lnTo>
                    <a:lnTo>
                      <a:pt x="124" y="123"/>
                    </a:lnTo>
                    <a:lnTo>
                      <a:pt x="118" y="104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65" name="Freeform 29">
                <a:extLst>
                  <a:ext uri="{FF2B5EF4-FFF2-40B4-BE49-F238E27FC236}">
                    <a16:creationId xmlns:a16="http://schemas.microsoft.com/office/drawing/2014/main" id="{C6C93528-6D05-4ADD-8AAD-08FF2BE52B4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285883" y="3995587"/>
                <a:ext cx="300631" cy="237094"/>
              </a:xfrm>
              <a:custGeom>
                <a:avLst/>
                <a:gdLst>
                  <a:gd name="T0" fmla="*/ 111 w 118"/>
                  <a:gd name="T1" fmla="*/ 105 h 137"/>
                  <a:gd name="T2" fmla="*/ 117 w 118"/>
                  <a:gd name="T3" fmla="*/ 87 h 137"/>
                  <a:gd name="T4" fmla="*/ 111 w 118"/>
                  <a:gd name="T5" fmla="*/ 74 h 137"/>
                  <a:gd name="T6" fmla="*/ 111 w 118"/>
                  <a:gd name="T7" fmla="*/ 68 h 137"/>
                  <a:gd name="T8" fmla="*/ 93 w 118"/>
                  <a:gd name="T9" fmla="*/ 68 h 137"/>
                  <a:gd name="T10" fmla="*/ 86 w 118"/>
                  <a:gd name="T11" fmla="*/ 56 h 137"/>
                  <a:gd name="T12" fmla="*/ 93 w 118"/>
                  <a:gd name="T13" fmla="*/ 49 h 137"/>
                  <a:gd name="T14" fmla="*/ 86 w 118"/>
                  <a:gd name="T15" fmla="*/ 43 h 137"/>
                  <a:gd name="T16" fmla="*/ 43 w 118"/>
                  <a:gd name="T17" fmla="*/ 24 h 137"/>
                  <a:gd name="T18" fmla="*/ 37 w 118"/>
                  <a:gd name="T19" fmla="*/ 18 h 137"/>
                  <a:gd name="T20" fmla="*/ 37 w 118"/>
                  <a:gd name="T21" fmla="*/ 0 h 137"/>
                  <a:gd name="T22" fmla="*/ 24 w 118"/>
                  <a:gd name="T23" fmla="*/ 0 h 137"/>
                  <a:gd name="T24" fmla="*/ 12 w 118"/>
                  <a:gd name="T25" fmla="*/ 12 h 137"/>
                  <a:gd name="T26" fmla="*/ 0 w 118"/>
                  <a:gd name="T27" fmla="*/ 12 h 137"/>
                  <a:gd name="T28" fmla="*/ 6 w 118"/>
                  <a:gd name="T29" fmla="*/ 31 h 137"/>
                  <a:gd name="T30" fmla="*/ 0 w 118"/>
                  <a:gd name="T31" fmla="*/ 62 h 137"/>
                  <a:gd name="T32" fmla="*/ 6 w 118"/>
                  <a:gd name="T33" fmla="*/ 68 h 137"/>
                  <a:gd name="T34" fmla="*/ 0 w 118"/>
                  <a:gd name="T35" fmla="*/ 80 h 137"/>
                  <a:gd name="T36" fmla="*/ 6 w 118"/>
                  <a:gd name="T37" fmla="*/ 99 h 137"/>
                  <a:gd name="T38" fmla="*/ 6 w 118"/>
                  <a:gd name="T39" fmla="*/ 105 h 137"/>
                  <a:gd name="T40" fmla="*/ 12 w 118"/>
                  <a:gd name="T41" fmla="*/ 136 h 137"/>
                  <a:gd name="T42" fmla="*/ 24 w 118"/>
                  <a:gd name="T43" fmla="*/ 136 h 137"/>
                  <a:gd name="T44" fmla="*/ 31 w 118"/>
                  <a:gd name="T45" fmla="*/ 124 h 137"/>
                  <a:gd name="T46" fmla="*/ 49 w 118"/>
                  <a:gd name="T47" fmla="*/ 130 h 137"/>
                  <a:gd name="T48" fmla="*/ 55 w 118"/>
                  <a:gd name="T49" fmla="*/ 124 h 137"/>
                  <a:gd name="T50" fmla="*/ 68 w 118"/>
                  <a:gd name="T51" fmla="*/ 130 h 137"/>
                  <a:gd name="T52" fmla="*/ 74 w 118"/>
                  <a:gd name="T53" fmla="*/ 105 h 137"/>
                  <a:gd name="T54" fmla="*/ 105 w 118"/>
                  <a:gd name="T55" fmla="*/ 99 h 137"/>
                  <a:gd name="T56" fmla="*/ 111 w 118"/>
                  <a:gd name="T57" fmla="*/ 105 h 137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118"/>
                  <a:gd name="T88" fmla="*/ 0 h 137"/>
                  <a:gd name="T89" fmla="*/ 118 w 118"/>
                  <a:gd name="T90" fmla="*/ 137 h 137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118" h="137">
                    <a:moveTo>
                      <a:pt x="111" y="105"/>
                    </a:moveTo>
                    <a:lnTo>
                      <a:pt x="117" y="87"/>
                    </a:lnTo>
                    <a:lnTo>
                      <a:pt x="111" y="74"/>
                    </a:lnTo>
                    <a:lnTo>
                      <a:pt x="111" y="68"/>
                    </a:lnTo>
                    <a:lnTo>
                      <a:pt x="93" y="68"/>
                    </a:lnTo>
                    <a:lnTo>
                      <a:pt x="86" y="56"/>
                    </a:lnTo>
                    <a:lnTo>
                      <a:pt x="93" y="49"/>
                    </a:lnTo>
                    <a:lnTo>
                      <a:pt x="86" y="43"/>
                    </a:lnTo>
                    <a:lnTo>
                      <a:pt x="43" y="24"/>
                    </a:lnTo>
                    <a:lnTo>
                      <a:pt x="37" y="18"/>
                    </a:lnTo>
                    <a:lnTo>
                      <a:pt x="37" y="0"/>
                    </a:lnTo>
                    <a:lnTo>
                      <a:pt x="24" y="0"/>
                    </a:lnTo>
                    <a:lnTo>
                      <a:pt x="12" y="12"/>
                    </a:lnTo>
                    <a:lnTo>
                      <a:pt x="0" y="12"/>
                    </a:lnTo>
                    <a:lnTo>
                      <a:pt x="6" y="31"/>
                    </a:lnTo>
                    <a:lnTo>
                      <a:pt x="0" y="62"/>
                    </a:lnTo>
                    <a:lnTo>
                      <a:pt x="6" y="68"/>
                    </a:lnTo>
                    <a:lnTo>
                      <a:pt x="0" y="80"/>
                    </a:lnTo>
                    <a:lnTo>
                      <a:pt x="6" y="99"/>
                    </a:lnTo>
                    <a:lnTo>
                      <a:pt x="6" y="105"/>
                    </a:lnTo>
                    <a:lnTo>
                      <a:pt x="12" y="136"/>
                    </a:lnTo>
                    <a:lnTo>
                      <a:pt x="24" y="136"/>
                    </a:lnTo>
                    <a:lnTo>
                      <a:pt x="31" y="124"/>
                    </a:lnTo>
                    <a:lnTo>
                      <a:pt x="49" y="130"/>
                    </a:lnTo>
                    <a:lnTo>
                      <a:pt x="55" y="124"/>
                    </a:lnTo>
                    <a:lnTo>
                      <a:pt x="68" y="130"/>
                    </a:lnTo>
                    <a:lnTo>
                      <a:pt x="74" y="105"/>
                    </a:lnTo>
                    <a:lnTo>
                      <a:pt x="105" y="99"/>
                    </a:lnTo>
                    <a:lnTo>
                      <a:pt x="111" y="105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66" name="Freeform 30">
                <a:extLst>
                  <a:ext uri="{FF2B5EF4-FFF2-40B4-BE49-F238E27FC236}">
                    <a16:creationId xmlns:a16="http://schemas.microsoft.com/office/drawing/2014/main" id="{D90BE19F-6527-4B2B-B328-22B7C749AD2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459128" y="4168648"/>
                <a:ext cx="206366" cy="148833"/>
              </a:xfrm>
              <a:custGeom>
                <a:avLst/>
                <a:gdLst>
                  <a:gd name="T0" fmla="*/ 80 w 81"/>
                  <a:gd name="T1" fmla="*/ 67 h 86"/>
                  <a:gd name="T2" fmla="*/ 80 w 81"/>
                  <a:gd name="T3" fmla="*/ 49 h 86"/>
                  <a:gd name="T4" fmla="*/ 74 w 81"/>
                  <a:gd name="T5" fmla="*/ 42 h 86"/>
                  <a:gd name="T6" fmla="*/ 68 w 81"/>
                  <a:gd name="T7" fmla="*/ 30 h 86"/>
                  <a:gd name="T8" fmla="*/ 49 w 81"/>
                  <a:gd name="T9" fmla="*/ 24 h 86"/>
                  <a:gd name="T10" fmla="*/ 43 w 81"/>
                  <a:gd name="T11" fmla="*/ 6 h 86"/>
                  <a:gd name="T12" fmla="*/ 37 w 81"/>
                  <a:gd name="T13" fmla="*/ 0 h 86"/>
                  <a:gd name="T14" fmla="*/ 6 w 81"/>
                  <a:gd name="T15" fmla="*/ 6 h 86"/>
                  <a:gd name="T16" fmla="*/ 0 w 81"/>
                  <a:gd name="T17" fmla="*/ 30 h 86"/>
                  <a:gd name="T18" fmla="*/ 18 w 81"/>
                  <a:gd name="T19" fmla="*/ 49 h 86"/>
                  <a:gd name="T20" fmla="*/ 31 w 81"/>
                  <a:gd name="T21" fmla="*/ 49 h 86"/>
                  <a:gd name="T22" fmla="*/ 49 w 81"/>
                  <a:gd name="T23" fmla="*/ 61 h 86"/>
                  <a:gd name="T24" fmla="*/ 49 w 81"/>
                  <a:gd name="T25" fmla="*/ 67 h 86"/>
                  <a:gd name="T26" fmla="*/ 43 w 81"/>
                  <a:gd name="T27" fmla="*/ 79 h 86"/>
                  <a:gd name="T28" fmla="*/ 62 w 81"/>
                  <a:gd name="T29" fmla="*/ 85 h 86"/>
                  <a:gd name="T30" fmla="*/ 68 w 81"/>
                  <a:gd name="T31" fmla="*/ 85 h 86"/>
                  <a:gd name="T32" fmla="*/ 80 w 81"/>
                  <a:gd name="T33" fmla="*/ 73 h 86"/>
                  <a:gd name="T34" fmla="*/ 80 w 81"/>
                  <a:gd name="T35" fmla="*/ 67 h 8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81"/>
                  <a:gd name="T55" fmla="*/ 0 h 86"/>
                  <a:gd name="T56" fmla="*/ 81 w 81"/>
                  <a:gd name="T57" fmla="*/ 86 h 8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81" h="86">
                    <a:moveTo>
                      <a:pt x="80" y="67"/>
                    </a:moveTo>
                    <a:lnTo>
                      <a:pt x="80" y="49"/>
                    </a:lnTo>
                    <a:lnTo>
                      <a:pt x="74" y="42"/>
                    </a:lnTo>
                    <a:lnTo>
                      <a:pt x="68" y="30"/>
                    </a:lnTo>
                    <a:lnTo>
                      <a:pt x="49" y="24"/>
                    </a:lnTo>
                    <a:lnTo>
                      <a:pt x="43" y="6"/>
                    </a:lnTo>
                    <a:lnTo>
                      <a:pt x="37" y="0"/>
                    </a:lnTo>
                    <a:lnTo>
                      <a:pt x="6" y="6"/>
                    </a:lnTo>
                    <a:lnTo>
                      <a:pt x="0" y="30"/>
                    </a:lnTo>
                    <a:lnTo>
                      <a:pt x="18" y="49"/>
                    </a:lnTo>
                    <a:lnTo>
                      <a:pt x="31" y="49"/>
                    </a:lnTo>
                    <a:lnTo>
                      <a:pt x="49" y="61"/>
                    </a:lnTo>
                    <a:lnTo>
                      <a:pt x="49" y="67"/>
                    </a:lnTo>
                    <a:lnTo>
                      <a:pt x="43" y="79"/>
                    </a:lnTo>
                    <a:lnTo>
                      <a:pt x="62" y="85"/>
                    </a:lnTo>
                    <a:lnTo>
                      <a:pt x="68" y="85"/>
                    </a:lnTo>
                    <a:lnTo>
                      <a:pt x="80" y="73"/>
                    </a:lnTo>
                    <a:lnTo>
                      <a:pt x="80" y="67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67" name="Freeform 31">
                <a:extLst>
                  <a:ext uri="{FF2B5EF4-FFF2-40B4-BE49-F238E27FC236}">
                    <a16:creationId xmlns:a16="http://schemas.microsoft.com/office/drawing/2014/main" id="{C93EDC6A-7840-4DA0-87CA-60E55909D4C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173784" y="4879932"/>
                <a:ext cx="129934" cy="84800"/>
              </a:xfrm>
              <a:custGeom>
                <a:avLst/>
                <a:gdLst>
                  <a:gd name="T0" fmla="*/ 50 w 51"/>
                  <a:gd name="T1" fmla="*/ 42 h 49"/>
                  <a:gd name="T2" fmla="*/ 50 w 51"/>
                  <a:gd name="T3" fmla="*/ 0 h 49"/>
                  <a:gd name="T4" fmla="*/ 38 w 51"/>
                  <a:gd name="T5" fmla="*/ 6 h 49"/>
                  <a:gd name="T6" fmla="*/ 31 w 51"/>
                  <a:gd name="T7" fmla="*/ 12 h 49"/>
                  <a:gd name="T8" fmla="*/ 38 w 51"/>
                  <a:gd name="T9" fmla="*/ 18 h 49"/>
                  <a:gd name="T10" fmla="*/ 44 w 51"/>
                  <a:gd name="T11" fmla="*/ 12 h 49"/>
                  <a:gd name="T12" fmla="*/ 44 w 51"/>
                  <a:gd name="T13" fmla="*/ 18 h 49"/>
                  <a:gd name="T14" fmla="*/ 38 w 51"/>
                  <a:gd name="T15" fmla="*/ 24 h 49"/>
                  <a:gd name="T16" fmla="*/ 38 w 51"/>
                  <a:gd name="T17" fmla="*/ 30 h 49"/>
                  <a:gd name="T18" fmla="*/ 31 w 51"/>
                  <a:gd name="T19" fmla="*/ 24 h 49"/>
                  <a:gd name="T20" fmla="*/ 25 w 51"/>
                  <a:gd name="T21" fmla="*/ 30 h 49"/>
                  <a:gd name="T22" fmla="*/ 6 w 51"/>
                  <a:gd name="T23" fmla="*/ 12 h 49"/>
                  <a:gd name="T24" fmla="*/ 0 w 51"/>
                  <a:gd name="T25" fmla="*/ 18 h 49"/>
                  <a:gd name="T26" fmla="*/ 6 w 51"/>
                  <a:gd name="T27" fmla="*/ 30 h 49"/>
                  <a:gd name="T28" fmla="*/ 12 w 51"/>
                  <a:gd name="T29" fmla="*/ 30 h 49"/>
                  <a:gd name="T30" fmla="*/ 19 w 51"/>
                  <a:gd name="T31" fmla="*/ 30 h 49"/>
                  <a:gd name="T32" fmla="*/ 19 w 51"/>
                  <a:gd name="T33" fmla="*/ 36 h 49"/>
                  <a:gd name="T34" fmla="*/ 31 w 51"/>
                  <a:gd name="T35" fmla="*/ 42 h 49"/>
                  <a:gd name="T36" fmla="*/ 38 w 51"/>
                  <a:gd name="T37" fmla="*/ 42 h 49"/>
                  <a:gd name="T38" fmla="*/ 44 w 51"/>
                  <a:gd name="T39" fmla="*/ 48 h 49"/>
                  <a:gd name="T40" fmla="*/ 50 w 51"/>
                  <a:gd name="T41" fmla="*/ 42 h 4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51"/>
                  <a:gd name="T64" fmla="*/ 0 h 49"/>
                  <a:gd name="T65" fmla="*/ 51 w 51"/>
                  <a:gd name="T66" fmla="*/ 49 h 49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51" h="49">
                    <a:moveTo>
                      <a:pt x="50" y="42"/>
                    </a:moveTo>
                    <a:lnTo>
                      <a:pt x="50" y="0"/>
                    </a:lnTo>
                    <a:lnTo>
                      <a:pt x="38" y="6"/>
                    </a:lnTo>
                    <a:lnTo>
                      <a:pt x="31" y="12"/>
                    </a:lnTo>
                    <a:lnTo>
                      <a:pt x="38" y="18"/>
                    </a:lnTo>
                    <a:lnTo>
                      <a:pt x="44" y="12"/>
                    </a:lnTo>
                    <a:lnTo>
                      <a:pt x="44" y="18"/>
                    </a:lnTo>
                    <a:lnTo>
                      <a:pt x="38" y="24"/>
                    </a:lnTo>
                    <a:lnTo>
                      <a:pt x="38" y="30"/>
                    </a:lnTo>
                    <a:lnTo>
                      <a:pt x="31" y="24"/>
                    </a:lnTo>
                    <a:lnTo>
                      <a:pt x="25" y="30"/>
                    </a:lnTo>
                    <a:lnTo>
                      <a:pt x="6" y="12"/>
                    </a:lnTo>
                    <a:lnTo>
                      <a:pt x="0" y="18"/>
                    </a:lnTo>
                    <a:lnTo>
                      <a:pt x="6" y="30"/>
                    </a:lnTo>
                    <a:lnTo>
                      <a:pt x="12" y="30"/>
                    </a:lnTo>
                    <a:lnTo>
                      <a:pt x="19" y="30"/>
                    </a:lnTo>
                    <a:lnTo>
                      <a:pt x="19" y="36"/>
                    </a:lnTo>
                    <a:lnTo>
                      <a:pt x="31" y="42"/>
                    </a:lnTo>
                    <a:lnTo>
                      <a:pt x="38" y="42"/>
                    </a:lnTo>
                    <a:lnTo>
                      <a:pt x="44" y="48"/>
                    </a:lnTo>
                    <a:lnTo>
                      <a:pt x="50" y="42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68" name="Freeform 32">
                <a:extLst>
                  <a:ext uri="{FF2B5EF4-FFF2-40B4-BE49-F238E27FC236}">
                    <a16:creationId xmlns:a16="http://schemas.microsoft.com/office/drawing/2014/main" id="{70814861-2D8C-4D16-BCA4-6D117171B31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189069" y="4210184"/>
                <a:ext cx="491708" cy="668018"/>
              </a:xfrm>
              <a:custGeom>
                <a:avLst/>
                <a:gdLst>
                  <a:gd name="T0" fmla="*/ 155 w 193"/>
                  <a:gd name="T1" fmla="*/ 93 h 386"/>
                  <a:gd name="T2" fmla="*/ 192 w 193"/>
                  <a:gd name="T3" fmla="*/ 55 h 386"/>
                  <a:gd name="T4" fmla="*/ 186 w 193"/>
                  <a:gd name="T5" fmla="*/ 43 h 386"/>
                  <a:gd name="T6" fmla="*/ 174 w 193"/>
                  <a:gd name="T7" fmla="*/ 62 h 386"/>
                  <a:gd name="T8" fmla="*/ 149 w 193"/>
                  <a:gd name="T9" fmla="*/ 55 h 386"/>
                  <a:gd name="T10" fmla="*/ 155 w 193"/>
                  <a:gd name="T11" fmla="*/ 37 h 386"/>
                  <a:gd name="T12" fmla="*/ 124 w 193"/>
                  <a:gd name="T13" fmla="*/ 24 h 386"/>
                  <a:gd name="T14" fmla="*/ 93 w 193"/>
                  <a:gd name="T15" fmla="*/ 0 h 386"/>
                  <a:gd name="T16" fmla="*/ 68 w 193"/>
                  <a:gd name="T17" fmla="*/ 0 h 386"/>
                  <a:gd name="T18" fmla="*/ 56 w 193"/>
                  <a:gd name="T19" fmla="*/ 24 h 386"/>
                  <a:gd name="T20" fmla="*/ 49 w 193"/>
                  <a:gd name="T21" fmla="*/ 49 h 386"/>
                  <a:gd name="T22" fmla="*/ 24 w 193"/>
                  <a:gd name="T23" fmla="*/ 105 h 386"/>
                  <a:gd name="T24" fmla="*/ 24 w 193"/>
                  <a:gd name="T25" fmla="*/ 149 h 386"/>
                  <a:gd name="T26" fmla="*/ 18 w 193"/>
                  <a:gd name="T27" fmla="*/ 167 h 386"/>
                  <a:gd name="T28" fmla="*/ 12 w 193"/>
                  <a:gd name="T29" fmla="*/ 204 h 386"/>
                  <a:gd name="T30" fmla="*/ 12 w 193"/>
                  <a:gd name="T31" fmla="*/ 242 h 386"/>
                  <a:gd name="T32" fmla="*/ 18 w 193"/>
                  <a:gd name="T33" fmla="*/ 266 h 386"/>
                  <a:gd name="T34" fmla="*/ 12 w 193"/>
                  <a:gd name="T35" fmla="*/ 273 h 386"/>
                  <a:gd name="T36" fmla="*/ 12 w 193"/>
                  <a:gd name="T37" fmla="*/ 298 h 386"/>
                  <a:gd name="T38" fmla="*/ 6 w 193"/>
                  <a:gd name="T39" fmla="*/ 322 h 386"/>
                  <a:gd name="T40" fmla="*/ 0 w 193"/>
                  <a:gd name="T41" fmla="*/ 353 h 386"/>
                  <a:gd name="T42" fmla="*/ 6 w 193"/>
                  <a:gd name="T43" fmla="*/ 360 h 386"/>
                  <a:gd name="T44" fmla="*/ 12 w 193"/>
                  <a:gd name="T45" fmla="*/ 379 h 386"/>
                  <a:gd name="T46" fmla="*/ 49 w 193"/>
                  <a:gd name="T47" fmla="*/ 385 h 386"/>
                  <a:gd name="T48" fmla="*/ 43 w 193"/>
                  <a:gd name="T49" fmla="*/ 353 h 386"/>
                  <a:gd name="T50" fmla="*/ 56 w 193"/>
                  <a:gd name="T51" fmla="*/ 335 h 386"/>
                  <a:gd name="T52" fmla="*/ 74 w 193"/>
                  <a:gd name="T53" fmla="*/ 304 h 386"/>
                  <a:gd name="T54" fmla="*/ 56 w 193"/>
                  <a:gd name="T55" fmla="*/ 298 h 386"/>
                  <a:gd name="T56" fmla="*/ 62 w 193"/>
                  <a:gd name="T57" fmla="*/ 279 h 386"/>
                  <a:gd name="T58" fmla="*/ 80 w 193"/>
                  <a:gd name="T59" fmla="*/ 266 h 386"/>
                  <a:gd name="T60" fmla="*/ 87 w 193"/>
                  <a:gd name="T61" fmla="*/ 248 h 386"/>
                  <a:gd name="T62" fmla="*/ 87 w 193"/>
                  <a:gd name="T63" fmla="*/ 242 h 386"/>
                  <a:gd name="T64" fmla="*/ 93 w 193"/>
                  <a:gd name="T65" fmla="*/ 235 h 386"/>
                  <a:gd name="T66" fmla="*/ 80 w 193"/>
                  <a:gd name="T67" fmla="*/ 235 h 386"/>
                  <a:gd name="T68" fmla="*/ 80 w 193"/>
                  <a:gd name="T69" fmla="*/ 217 h 386"/>
                  <a:gd name="T70" fmla="*/ 112 w 193"/>
                  <a:gd name="T71" fmla="*/ 223 h 386"/>
                  <a:gd name="T72" fmla="*/ 112 w 193"/>
                  <a:gd name="T73" fmla="*/ 192 h 386"/>
                  <a:gd name="T74" fmla="*/ 130 w 193"/>
                  <a:gd name="T75" fmla="*/ 192 h 386"/>
                  <a:gd name="T76" fmla="*/ 168 w 193"/>
                  <a:gd name="T77" fmla="*/ 167 h 386"/>
                  <a:gd name="T78" fmla="*/ 155 w 193"/>
                  <a:gd name="T79" fmla="*/ 155 h 386"/>
                  <a:gd name="T80" fmla="*/ 149 w 193"/>
                  <a:gd name="T81" fmla="*/ 142 h 38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93"/>
                  <a:gd name="T124" fmla="*/ 0 h 386"/>
                  <a:gd name="T125" fmla="*/ 193 w 193"/>
                  <a:gd name="T126" fmla="*/ 386 h 38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93" h="386">
                    <a:moveTo>
                      <a:pt x="149" y="136"/>
                    </a:moveTo>
                    <a:lnTo>
                      <a:pt x="155" y="93"/>
                    </a:lnTo>
                    <a:lnTo>
                      <a:pt x="186" y="62"/>
                    </a:lnTo>
                    <a:lnTo>
                      <a:pt x="192" y="55"/>
                    </a:lnTo>
                    <a:lnTo>
                      <a:pt x="192" y="43"/>
                    </a:lnTo>
                    <a:lnTo>
                      <a:pt x="186" y="43"/>
                    </a:lnTo>
                    <a:lnTo>
                      <a:pt x="186" y="49"/>
                    </a:lnTo>
                    <a:lnTo>
                      <a:pt x="174" y="62"/>
                    </a:lnTo>
                    <a:lnTo>
                      <a:pt x="168" y="62"/>
                    </a:lnTo>
                    <a:lnTo>
                      <a:pt x="149" y="55"/>
                    </a:lnTo>
                    <a:lnTo>
                      <a:pt x="155" y="43"/>
                    </a:lnTo>
                    <a:lnTo>
                      <a:pt x="155" y="37"/>
                    </a:lnTo>
                    <a:lnTo>
                      <a:pt x="136" y="24"/>
                    </a:lnTo>
                    <a:lnTo>
                      <a:pt x="124" y="24"/>
                    </a:lnTo>
                    <a:lnTo>
                      <a:pt x="105" y="6"/>
                    </a:lnTo>
                    <a:lnTo>
                      <a:pt x="93" y="0"/>
                    </a:lnTo>
                    <a:lnTo>
                      <a:pt x="87" y="6"/>
                    </a:lnTo>
                    <a:lnTo>
                      <a:pt x="68" y="0"/>
                    </a:lnTo>
                    <a:lnTo>
                      <a:pt x="62" y="12"/>
                    </a:lnTo>
                    <a:lnTo>
                      <a:pt x="56" y="24"/>
                    </a:lnTo>
                    <a:lnTo>
                      <a:pt x="49" y="31"/>
                    </a:lnTo>
                    <a:lnTo>
                      <a:pt x="49" y="49"/>
                    </a:lnTo>
                    <a:lnTo>
                      <a:pt x="37" y="68"/>
                    </a:lnTo>
                    <a:lnTo>
                      <a:pt x="24" y="105"/>
                    </a:lnTo>
                    <a:lnTo>
                      <a:pt x="31" y="136"/>
                    </a:lnTo>
                    <a:lnTo>
                      <a:pt x="24" y="149"/>
                    </a:lnTo>
                    <a:lnTo>
                      <a:pt x="24" y="161"/>
                    </a:lnTo>
                    <a:lnTo>
                      <a:pt x="18" y="167"/>
                    </a:lnTo>
                    <a:lnTo>
                      <a:pt x="18" y="192"/>
                    </a:lnTo>
                    <a:lnTo>
                      <a:pt x="12" y="204"/>
                    </a:lnTo>
                    <a:lnTo>
                      <a:pt x="12" y="235"/>
                    </a:lnTo>
                    <a:lnTo>
                      <a:pt x="12" y="242"/>
                    </a:lnTo>
                    <a:lnTo>
                      <a:pt x="12" y="266"/>
                    </a:lnTo>
                    <a:lnTo>
                      <a:pt x="18" y="266"/>
                    </a:lnTo>
                    <a:lnTo>
                      <a:pt x="18" y="273"/>
                    </a:lnTo>
                    <a:lnTo>
                      <a:pt x="12" y="273"/>
                    </a:lnTo>
                    <a:lnTo>
                      <a:pt x="18" y="279"/>
                    </a:lnTo>
                    <a:lnTo>
                      <a:pt x="12" y="298"/>
                    </a:lnTo>
                    <a:lnTo>
                      <a:pt x="6" y="316"/>
                    </a:lnTo>
                    <a:lnTo>
                      <a:pt x="6" y="322"/>
                    </a:lnTo>
                    <a:lnTo>
                      <a:pt x="0" y="347"/>
                    </a:lnTo>
                    <a:lnTo>
                      <a:pt x="0" y="353"/>
                    </a:lnTo>
                    <a:lnTo>
                      <a:pt x="0" y="360"/>
                    </a:lnTo>
                    <a:lnTo>
                      <a:pt x="6" y="360"/>
                    </a:lnTo>
                    <a:lnTo>
                      <a:pt x="6" y="372"/>
                    </a:lnTo>
                    <a:lnTo>
                      <a:pt x="12" y="379"/>
                    </a:lnTo>
                    <a:lnTo>
                      <a:pt x="37" y="379"/>
                    </a:lnTo>
                    <a:lnTo>
                      <a:pt x="49" y="385"/>
                    </a:lnTo>
                    <a:lnTo>
                      <a:pt x="43" y="366"/>
                    </a:lnTo>
                    <a:lnTo>
                      <a:pt x="43" y="353"/>
                    </a:lnTo>
                    <a:lnTo>
                      <a:pt x="56" y="347"/>
                    </a:lnTo>
                    <a:lnTo>
                      <a:pt x="56" y="335"/>
                    </a:lnTo>
                    <a:lnTo>
                      <a:pt x="74" y="316"/>
                    </a:lnTo>
                    <a:lnTo>
                      <a:pt x="74" y="304"/>
                    </a:lnTo>
                    <a:lnTo>
                      <a:pt x="68" y="304"/>
                    </a:lnTo>
                    <a:lnTo>
                      <a:pt x="56" y="298"/>
                    </a:lnTo>
                    <a:lnTo>
                      <a:pt x="56" y="291"/>
                    </a:lnTo>
                    <a:lnTo>
                      <a:pt x="62" y="279"/>
                    </a:lnTo>
                    <a:lnTo>
                      <a:pt x="74" y="273"/>
                    </a:lnTo>
                    <a:lnTo>
                      <a:pt x="80" y="266"/>
                    </a:lnTo>
                    <a:lnTo>
                      <a:pt x="80" y="254"/>
                    </a:lnTo>
                    <a:lnTo>
                      <a:pt x="87" y="248"/>
                    </a:lnTo>
                    <a:lnTo>
                      <a:pt x="80" y="248"/>
                    </a:lnTo>
                    <a:lnTo>
                      <a:pt x="87" y="242"/>
                    </a:lnTo>
                    <a:lnTo>
                      <a:pt x="93" y="248"/>
                    </a:lnTo>
                    <a:lnTo>
                      <a:pt x="93" y="235"/>
                    </a:lnTo>
                    <a:lnTo>
                      <a:pt x="87" y="235"/>
                    </a:lnTo>
                    <a:lnTo>
                      <a:pt x="80" y="235"/>
                    </a:lnTo>
                    <a:lnTo>
                      <a:pt x="80" y="223"/>
                    </a:lnTo>
                    <a:lnTo>
                      <a:pt x="80" y="217"/>
                    </a:lnTo>
                    <a:lnTo>
                      <a:pt x="93" y="223"/>
                    </a:lnTo>
                    <a:lnTo>
                      <a:pt x="112" y="223"/>
                    </a:lnTo>
                    <a:lnTo>
                      <a:pt x="112" y="204"/>
                    </a:lnTo>
                    <a:lnTo>
                      <a:pt x="112" y="192"/>
                    </a:lnTo>
                    <a:lnTo>
                      <a:pt x="112" y="198"/>
                    </a:lnTo>
                    <a:lnTo>
                      <a:pt x="130" y="192"/>
                    </a:lnTo>
                    <a:lnTo>
                      <a:pt x="155" y="186"/>
                    </a:lnTo>
                    <a:lnTo>
                      <a:pt x="168" y="167"/>
                    </a:lnTo>
                    <a:lnTo>
                      <a:pt x="168" y="161"/>
                    </a:lnTo>
                    <a:lnTo>
                      <a:pt x="155" y="155"/>
                    </a:lnTo>
                    <a:lnTo>
                      <a:pt x="161" y="149"/>
                    </a:lnTo>
                    <a:lnTo>
                      <a:pt x="149" y="142"/>
                    </a:lnTo>
                    <a:lnTo>
                      <a:pt x="149" y="136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69" name="Freeform 33">
                <a:extLst>
                  <a:ext uri="{FF2B5EF4-FFF2-40B4-BE49-F238E27FC236}">
                    <a16:creationId xmlns:a16="http://schemas.microsoft.com/office/drawing/2014/main" id="{EB3A16C4-3E63-456D-8331-7680BE86E2D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571228" y="4371132"/>
                <a:ext cx="124836" cy="86531"/>
              </a:xfrm>
              <a:custGeom>
                <a:avLst/>
                <a:gdLst>
                  <a:gd name="T0" fmla="*/ 48 w 49"/>
                  <a:gd name="T1" fmla="*/ 37 h 50"/>
                  <a:gd name="T2" fmla="*/ 48 w 49"/>
                  <a:gd name="T3" fmla="*/ 24 h 50"/>
                  <a:gd name="T4" fmla="*/ 42 w 49"/>
                  <a:gd name="T5" fmla="*/ 18 h 50"/>
                  <a:gd name="T6" fmla="*/ 24 w 49"/>
                  <a:gd name="T7" fmla="*/ 6 h 50"/>
                  <a:gd name="T8" fmla="*/ 18 w 49"/>
                  <a:gd name="T9" fmla="*/ 0 h 50"/>
                  <a:gd name="T10" fmla="*/ 6 w 49"/>
                  <a:gd name="T11" fmla="*/ 0 h 50"/>
                  <a:gd name="T12" fmla="*/ 0 w 49"/>
                  <a:gd name="T13" fmla="*/ 43 h 50"/>
                  <a:gd name="T14" fmla="*/ 6 w 49"/>
                  <a:gd name="T15" fmla="*/ 49 h 50"/>
                  <a:gd name="T16" fmla="*/ 18 w 49"/>
                  <a:gd name="T17" fmla="*/ 49 h 50"/>
                  <a:gd name="T18" fmla="*/ 42 w 49"/>
                  <a:gd name="T19" fmla="*/ 49 h 50"/>
                  <a:gd name="T20" fmla="*/ 48 w 49"/>
                  <a:gd name="T21" fmla="*/ 37 h 5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49"/>
                  <a:gd name="T34" fmla="*/ 0 h 50"/>
                  <a:gd name="T35" fmla="*/ 49 w 49"/>
                  <a:gd name="T36" fmla="*/ 50 h 50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49" h="50">
                    <a:moveTo>
                      <a:pt x="48" y="37"/>
                    </a:moveTo>
                    <a:lnTo>
                      <a:pt x="48" y="24"/>
                    </a:lnTo>
                    <a:lnTo>
                      <a:pt x="42" y="18"/>
                    </a:lnTo>
                    <a:lnTo>
                      <a:pt x="24" y="6"/>
                    </a:lnTo>
                    <a:lnTo>
                      <a:pt x="18" y="0"/>
                    </a:lnTo>
                    <a:lnTo>
                      <a:pt x="6" y="0"/>
                    </a:lnTo>
                    <a:lnTo>
                      <a:pt x="0" y="43"/>
                    </a:lnTo>
                    <a:lnTo>
                      <a:pt x="6" y="49"/>
                    </a:lnTo>
                    <a:lnTo>
                      <a:pt x="18" y="49"/>
                    </a:lnTo>
                    <a:lnTo>
                      <a:pt x="42" y="49"/>
                    </a:lnTo>
                    <a:lnTo>
                      <a:pt x="48" y="37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70" name="Freeform 34">
                <a:extLst>
                  <a:ext uri="{FF2B5EF4-FFF2-40B4-BE49-F238E27FC236}">
                    <a16:creationId xmlns:a16="http://schemas.microsoft.com/office/drawing/2014/main" id="{060BF0D7-0DFE-4A62-9438-1E80ACC8D3B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173784" y="3748109"/>
                <a:ext cx="998703" cy="687055"/>
              </a:xfrm>
              <a:custGeom>
                <a:avLst/>
                <a:gdLst>
                  <a:gd name="T0" fmla="*/ 223 w 392"/>
                  <a:gd name="T1" fmla="*/ 12 h 397"/>
                  <a:gd name="T2" fmla="*/ 199 w 392"/>
                  <a:gd name="T3" fmla="*/ 31 h 397"/>
                  <a:gd name="T4" fmla="*/ 180 w 392"/>
                  <a:gd name="T5" fmla="*/ 24 h 397"/>
                  <a:gd name="T6" fmla="*/ 174 w 392"/>
                  <a:gd name="T7" fmla="*/ 31 h 397"/>
                  <a:gd name="T8" fmla="*/ 143 w 392"/>
                  <a:gd name="T9" fmla="*/ 37 h 397"/>
                  <a:gd name="T10" fmla="*/ 143 w 392"/>
                  <a:gd name="T11" fmla="*/ 6 h 397"/>
                  <a:gd name="T12" fmla="*/ 130 w 392"/>
                  <a:gd name="T13" fmla="*/ 0 h 397"/>
                  <a:gd name="T14" fmla="*/ 105 w 392"/>
                  <a:gd name="T15" fmla="*/ 12 h 397"/>
                  <a:gd name="T16" fmla="*/ 99 w 392"/>
                  <a:gd name="T17" fmla="*/ 12 h 397"/>
                  <a:gd name="T18" fmla="*/ 105 w 392"/>
                  <a:gd name="T19" fmla="*/ 31 h 397"/>
                  <a:gd name="T20" fmla="*/ 74 w 392"/>
                  <a:gd name="T21" fmla="*/ 43 h 397"/>
                  <a:gd name="T22" fmla="*/ 62 w 392"/>
                  <a:gd name="T23" fmla="*/ 31 h 397"/>
                  <a:gd name="T24" fmla="*/ 37 w 392"/>
                  <a:gd name="T25" fmla="*/ 37 h 397"/>
                  <a:gd name="T26" fmla="*/ 37 w 392"/>
                  <a:gd name="T27" fmla="*/ 43 h 397"/>
                  <a:gd name="T28" fmla="*/ 37 w 392"/>
                  <a:gd name="T29" fmla="*/ 86 h 397"/>
                  <a:gd name="T30" fmla="*/ 0 w 392"/>
                  <a:gd name="T31" fmla="*/ 124 h 397"/>
                  <a:gd name="T32" fmla="*/ 18 w 392"/>
                  <a:gd name="T33" fmla="*/ 148 h 397"/>
                  <a:gd name="T34" fmla="*/ 31 w 392"/>
                  <a:gd name="T35" fmla="*/ 155 h 397"/>
                  <a:gd name="T36" fmla="*/ 55 w 392"/>
                  <a:gd name="T37" fmla="*/ 155 h 397"/>
                  <a:gd name="T38" fmla="*/ 87 w 392"/>
                  <a:gd name="T39" fmla="*/ 142 h 397"/>
                  <a:gd name="T40" fmla="*/ 87 w 392"/>
                  <a:gd name="T41" fmla="*/ 167 h 397"/>
                  <a:gd name="T42" fmla="*/ 136 w 392"/>
                  <a:gd name="T43" fmla="*/ 192 h 397"/>
                  <a:gd name="T44" fmla="*/ 136 w 392"/>
                  <a:gd name="T45" fmla="*/ 210 h 397"/>
                  <a:gd name="T46" fmla="*/ 155 w 392"/>
                  <a:gd name="T47" fmla="*/ 217 h 397"/>
                  <a:gd name="T48" fmla="*/ 155 w 392"/>
                  <a:gd name="T49" fmla="*/ 248 h 397"/>
                  <a:gd name="T50" fmla="*/ 180 w 392"/>
                  <a:gd name="T51" fmla="*/ 272 h 397"/>
                  <a:gd name="T52" fmla="*/ 192 w 392"/>
                  <a:gd name="T53" fmla="*/ 291 h 397"/>
                  <a:gd name="T54" fmla="*/ 199 w 392"/>
                  <a:gd name="T55" fmla="*/ 310 h 397"/>
                  <a:gd name="T56" fmla="*/ 192 w 392"/>
                  <a:gd name="T57" fmla="*/ 328 h 397"/>
                  <a:gd name="T58" fmla="*/ 174 w 392"/>
                  <a:gd name="T59" fmla="*/ 359 h 397"/>
                  <a:gd name="T60" fmla="*/ 199 w 392"/>
                  <a:gd name="T61" fmla="*/ 378 h 397"/>
                  <a:gd name="T62" fmla="*/ 205 w 392"/>
                  <a:gd name="T63" fmla="*/ 396 h 397"/>
                  <a:gd name="T64" fmla="*/ 230 w 392"/>
                  <a:gd name="T65" fmla="*/ 372 h 397"/>
                  <a:gd name="T66" fmla="*/ 248 w 392"/>
                  <a:gd name="T67" fmla="*/ 341 h 397"/>
                  <a:gd name="T68" fmla="*/ 261 w 392"/>
                  <a:gd name="T69" fmla="*/ 303 h 397"/>
                  <a:gd name="T70" fmla="*/ 292 w 392"/>
                  <a:gd name="T71" fmla="*/ 285 h 397"/>
                  <a:gd name="T72" fmla="*/ 317 w 392"/>
                  <a:gd name="T73" fmla="*/ 279 h 397"/>
                  <a:gd name="T74" fmla="*/ 329 w 392"/>
                  <a:gd name="T75" fmla="*/ 266 h 397"/>
                  <a:gd name="T76" fmla="*/ 342 w 392"/>
                  <a:gd name="T77" fmla="*/ 241 h 397"/>
                  <a:gd name="T78" fmla="*/ 348 w 392"/>
                  <a:gd name="T79" fmla="*/ 223 h 397"/>
                  <a:gd name="T80" fmla="*/ 385 w 392"/>
                  <a:gd name="T81" fmla="*/ 142 h 397"/>
                  <a:gd name="T82" fmla="*/ 385 w 392"/>
                  <a:gd name="T83" fmla="*/ 99 h 397"/>
                  <a:gd name="T84" fmla="*/ 342 w 392"/>
                  <a:gd name="T85" fmla="*/ 74 h 397"/>
                  <a:gd name="T86" fmla="*/ 304 w 392"/>
                  <a:gd name="T87" fmla="*/ 74 h 397"/>
                  <a:gd name="T88" fmla="*/ 292 w 392"/>
                  <a:gd name="T89" fmla="*/ 62 h 397"/>
                  <a:gd name="T90" fmla="*/ 286 w 392"/>
                  <a:gd name="T91" fmla="*/ 62 h 397"/>
                  <a:gd name="T92" fmla="*/ 255 w 392"/>
                  <a:gd name="T93" fmla="*/ 62 h 397"/>
                  <a:gd name="T94" fmla="*/ 255 w 392"/>
                  <a:gd name="T95" fmla="*/ 49 h 397"/>
                  <a:gd name="T96" fmla="*/ 236 w 392"/>
                  <a:gd name="T97" fmla="*/ 55 h 397"/>
                  <a:gd name="T98" fmla="*/ 230 w 392"/>
                  <a:gd name="T99" fmla="*/ 62 h 397"/>
                  <a:gd name="T100" fmla="*/ 230 w 392"/>
                  <a:gd name="T101" fmla="*/ 49 h 397"/>
                  <a:gd name="T102" fmla="*/ 242 w 392"/>
                  <a:gd name="T103" fmla="*/ 31 h 397"/>
                  <a:gd name="T104" fmla="*/ 230 w 392"/>
                  <a:gd name="T105" fmla="*/ 12 h 397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392"/>
                  <a:gd name="T160" fmla="*/ 0 h 397"/>
                  <a:gd name="T161" fmla="*/ 392 w 392"/>
                  <a:gd name="T162" fmla="*/ 397 h 397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392" h="397">
                    <a:moveTo>
                      <a:pt x="230" y="12"/>
                    </a:moveTo>
                    <a:lnTo>
                      <a:pt x="223" y="12"/>
                    </a:lnTo>
                    <a:lnTo>
                      <a:pt x="211" y="31"/>
                    </a:lnTo>
                    <a:lnTo>
                      <a:pt x="199" y="31"/>
                    </a:lnTo>
                    <a:lnTo>
                      <a:pt x="192" y="24"/>
                    </a:lnTo>
                    <a:lnTo>
                      <a:pt x="180" y="24"/>
                    </a:lnTo>
                    <a:lnTo>
                      <a:pt x="180" y="31"/>
                    </a:lnTo>
                    <a:lnTo>
                      <a:pt x="174" y="31"/>
                    </a:lnTo>
                    <a:lnTo>
                      <a:pt x="149" y="37"/>
                    </a:lnTo>
                    <a:lnTo>
                      <a:pt x="143" y="37"/>
                    </a:lnTo>
                    <a:lnTo>
                      <a:pt x="143" y="24"/>
                    </a:lnTo>
                    <a:lnTo>
                      <a:pt x="143" y="6"/>
                    </a:lnTo>
                    <a:lnTo>
                      <a:pt x="136" y="0"/>
                    </a:lnTo>
                    <a:lnTo>
                      <a:pt x="130" y="0"/>
                    </a:lnTo>
                    <a:lnTo>
                      <a:pt x="130" y="6"/>
                    </a:lnTo>
                    <a:lnTo>
                      <a:pt x="105" y="12"/>
                    </a:lnTo>
                    <a:lnTo>
                      <a:pt x="93" y="12"/>
                    </a:lnTo>
                    <a:lnTo>
                      <a:pt x="99" y="12"/>
                    </a:lnTo>
                    <a:lnTo>
                      <a:pt x="99" y="24"/>
                    </a:lnTo>
                    <a:lnTo>
                      <a:pt x="105" y="31"/>
                    </a:lnTo>
                    <a:lnTo>
                      <a:pt x="80" y="43"/>
                    </a:lnTo>
                    <a:lnTo>
                      <a:pt x="74" y="43"/>
                    </a:lnTo>
                    <a:lnTo>
                      <a:pt x="68" y="37"/>
                    </a:lnTo>
                    <a:lnTo>
                      <a:pt x="62" y="31"/>
                    </a:lnTo>
                    <a:lnTo>
                      <a:pt x="43" y="31"/>
                    </a:lnTo>
                    <a:lnTo>
                      <a:pt x="37" y="37"/>
                    </a:lnTo>
                    <a:lnTo>
                      <a:pt x="49" y="43"/>
                    </a:lnTo>
                    <a:lnTo>
                      <a:pt x="37" y="43"/>
                    </a:lnTo>
                    <a:lnTo>
                      <a:pt x="43" y="62"/>
                    </a:lnTo>
                    <a:lnTo>
                      <a:pt x="37" y="86"/>
                    </a:lnTo>
                    <a:lnTo>
                      <a:pt x="12" y="99"/>
                    </a:lnTo>
                    <a:lnTo>
                      <a:pt x="0" y="124"/>
                    </a:lnTo>
                    <a:lnTo>
                      <a:pt x="6" y="142"/>
                    </a:lnTo>
                    <a:lnTo>
                      <a:pt x="18" y="148"/>
                    </a:lnTo>
                    <a:lnTo>
                      <a:pt x="31" y="142"/>
                    </a:lnTo>
                    <a:lnTo>
                      <a:pt x="31" y="155"/>
                    </a:lnTo>
                    <a:lnTo>
                      <a:pt x="43" y="155"/>
                    </a:lnTo>
                    <a:lnTo>
                      <a:pt x="55" y="155"/>
                    </a:lnTo>
                    <a:lnTo>
                      <a:pt x="74" y="142"/>
                    </a:lnTo>
                    <a:lnTo>
                      <a:pt x="87" y="142"/>
                    </a:lnTo>
                    <a:lnTo>
                      <a:pt x="87" y="161"/>
                    </a:lnTo>
                    <a:lnTo>
                      <a:pt x="87" y="167"/>
                    </a:lnTo>
                    <a:lnTo>
                      <a:pt x="130" y="179"/>
                    </a:lnTo>
                    <a:lnTo>
                      <a:pt x="136" y="192"/>
                    </a:lnTo>
                    <a:lnTo>
                      <a:pt x="130" y="198"/>
                    </a:lnTo>
                    <a:lnTo>
                      <a:pt x="136" y="210"/>
                    </a:lnTo>
                    <a:lnTo>
                      <a:pt x="155" y="210"/>
                    </a:lnTo>
                    <a:lnTo>
                      <a:pt x="155" y="217"/>
                    </a:lnTo>
                    <a:lnTo>
                      <a:pt x="161" y="229"/>
                    </a:lnTo>
                    <a:lnTo>
                      <a:pt x="155" y="248"/>
                    </a:lnTo>
                    <a:lnTo>
                      <a:pt x="161" y="266"/>
                    </a:lnTo>
                    <a:lnTo>
                      <a:pt x="180" y="272"/>
                    </a:lnTo>
                    <a:lnTo>
                      <a:pt x="186" y="285"/>
                    </a:lnTo>
                    <a:lnTo>
                      <a:pt x="192" y="291"/>
                    </a:lnTo>
                    <a:lnTo>
                      <a:pt x="192" y="303"/>
                    </a:lnTo>
                    <a:lnTo>
                      <a:pt x="199" y="310"/>
                    </a:lnTo>
                    <a:lnTo>
                      <a:pt x="199" y="322"/>
                    </a:lnTo>
                    <a:lnTo>
                      <a:pt x="192" y="328"/>
                    </a:lnTo>
                    <a:lnTo>
                      <a:pt x="161" y="359"/>
                    </a:lnTo>
                    <a:lnTo>
                      <a:pt x="174" y="359"/>
                    </a:lnTo>
                    <a:lnTo>
                      <a:pt x="180" y="365"/>
                    </a:lnTo>
                    <a:lnTo>
                      <a:pt x="199" y="378"/>
                    </a:lnTo>
                    <a:lnTo>
                      <a:pt x="205" y="384"/>
                    </a:lnTo>
                    <a:lnTo>
                      <a:pt x="205" y="396"/>
                    </a:lnTo>
                    <a:lnTo>
                      <a:pt x="211" y="384"/>
                    </a:lnTo>
                    <a:lnTo>
                      <a:pt x="230" y="372"/>
                    </a:lnTo>
                    <a:lnTo>
                      <a:pt x="242" y="347"/>
                    </a:lnTo>
                    <a:lnTo>
                      <a:pt x="248" y="341"/>
                    </a:lnTo>
                    <a:lnTo>
                      <a:pt x="255" y="310"/>
                    </a:lnTo>
                    <a:lnTo>
                      <a:pt x="261" y="303"/>
                    </a:lnTo>
                    <a:lnTo>
                      <a:pt x="273" y="291"/>
                    </a:lnTo>
                    <a:lnTo>
                      <a:pt x="292" y="285"/>
                    </a:lnTo>
                    <a:lnTo>
                      <a:pt x="292" y="279"/>
                    </a:lnTo>
                    <a:lnTo>
                      <a:pt x="317" y="279"/>
                    </a:lnTo>
                    <a:lnTo>
                      <a:pt x="317" y="272"/>
                    </a:lnTo>
                    <a:lnTo>
                      <a:pt x="329" y="266"/>
                    </a:lnTo>
                    <a:lnTo>
                      <a:pt x="329" y="260"/>
                    </a:lnTo>
                    <a:lnTo>
                      <a:pt x="342" y="241"/>
                    </a:lnTo>
                    <a:lnTo>
                      <a:pt x="342" y="229"/>
                    </a:lnTo>
                    <a:lnTo>
                      <a:pt x="348" y="223"/>
                    </a:lnTo>
                    <a:lnTo>
                      <a:pt x="348" y="179"/>
                    </a:lnTo>
                    <a:lnTo>
                      <a:pt x="385" y="142"/>
                    </a:lnTo>
                    <a:lnTo>
                      <a:pt x="391" y="124"/>
                    </a:lnTo>
                    <a:lnTo>
                      <a:pt x="385" y="99"/>
                    </a:lnTo>
                    <a:lnTo>
                      <a:pt x="367" y="99"/>
                    </a:lnTo>
                    <a:lnTo>
                      <a:pt x="342" y="74"/>
                    </a:lnTo>
                    <a:lnTo>
                      <a:pt x="323" y="80"/>
                    </a:lnTo>
                    <a:lnTo>
                      <a:pt x="304" y="74"/>
                    </a:lnTo>
                    <a:lnTo>
                      <a:pt x="292" y="74"/>
                    </a:lnTo>
                    <a:lnTo>
                      <a:pt x="292" y="62"/>
                    </a:lnTo>
                    <a:lnTo>
                      <a:pt x="286" y="68"/>
                    </a:lnTo>
                    <a:lnTo>
                      <a:pt x="286" y="62"/>
                    </a:lnTo>
                    <a:lnTo>
                      <a:pt x="261" y="55"/>
                    </a:lnTo>
                    <a:lnTo>
                      <a:pt x="255" y="62"/>
                    </a:lnTo>
                    <a:lnTo>
                      <a:pt x="248" y="62"/>
                    </a:lnTo>
                    <a:lnTo>
                      <a:pt x="255" y="49"/>
                    </a:lnTo>
                    <a:lnTo>
                      <a:pt x="248" y="49"/>
                    </a:lnTo>
                    <a:lnTo>
                      <a:pt x="236" y="55"/>
                    </a:lnTo>
                    <a:lnTo>
                      <a:pt x="230" y="68"/>
                    </a:lnTo>
                    <a:lnTo>
                      <a:pt x="230" y="62"/>
                    </a:lnTo>
                    <a:lnTo>
                      <a:pt x="223" y="62"/>
                    </a:lnTo>
                    <a:lnTo>
                      <a:pt x="230" y="49"/>
                    </a:lnTo>
                    <a:lnTo>
                      <a:pt x="242" y="37"/>
                    </a:lnTo>
                    <a:lnTo>
                      <a:pt x="242" y="31"/>
                    </a:lnTo>
                    <a:lnTo>
                      <a:pt x="236" y="31"/>
                    </a:lnTo>
                    <a:lnTo>
                      <a:pt x="230" y="12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71" name="Freeform 35">
                <a:extLst>
                  <a:ext uri="{FF2B5EF4-FFF2-40B4-BE49-F238E27FC236}">
                    <a16:creationId xmlns:a16="http://schemas.microsoft.com/office/drawing/2014/main" id="{E1EFAD18-56B4-4C77-BE57-68477F2F743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665493" y="3735996"/>
                <a:ext cx="78978" cy="65763"/>
              </a:xfrm>
              <a:custGeom>
                <a:avLst/>
                <a:gdLst>
                  <a:gd name="T0" fmla="*/ 0 w 31"/>
                  <a:gd name="T1" fmla="*/ 31 h 38"/>
                  <a:gd name="T2" fmla="*/ 6 w 31"/>
                  <a:gd name="T3" fmla="*/ 37 h 38"/>
                  <a:gd name="T4" fmla="*/ 18 w 31"/>
                  <a:gd name="T5" fmla="*/ 37 h 38"/>
                  <a:gd name="T6" fmla="*/ 30 w 31"/>
                  <a:gd name="T7" fmla="*/ 18 h 38"/>
                  <a:gd name="T8" fmla="*/ 6 w 31"/>
                  <a:gd name="T9" fmla="*/ 0 h 38"/>
                  <a:gd name="T10" fmla="*/ 0 w 31"/>
                  <a:gd name="T11" fmla="*/ 6 h 38"/>
                  <a:gd name="T12" fmla="*/ 6 w 31"/>
                  <a:gd name="T13" fmla="*/ 18 h 38"/>
                  <a:gd name="T14" fmla="*/ 0 w 31"/>
                  <a:gd name="T15" fmla="*/ 31 h 3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31"/>
                  <a:gd name="T25" fmla="*/ 0 h 38"/>
                  <a:gd name="T26" fmla="*/ 31 w 31"/>
                  <a:gd name="T27" fmla="*/ 38 h 38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31" h="38">
                    <a:moveTo>
                      <a:pt x="0" y="31"/>
                    </a:moveTo>
                    <a:lnTo>
                      <a:pt x="6" y="37"/>
                    </a:lnTo>
                    <a:lnTo>
                      <a:pt x="18" y="37"/>
                    </a:lnTo>
                    <a:lnTo>
                      <a:pt x="30" y="18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6" y="18"/>
                    </a:lnTo>
                    <a:lnTo>
                      <a:pt x="0" y="31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72" name="Freeform 36">
                <a:extLst>
                  <a:ext uri="{FF2B5EF4-FFF2-40B4-BE49-F238E27FC236}">
                    <a16:creationId xmlns:a16="http://schemas.microsoft.com/office/drawing/2014/main" id="{D1C79044-D68C-498B-A4A7-E9F3D790F04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571228" y="3735996"/>
                <a:ext cx="109552" cy="65763"/>
              </a:xfrm>
              <a:custGeom>
                <a:avLst/>
                <a:gdLst>
                  <a:gd name="T0" fmla="*/ 36 w 43"/>
                  <a:gd name="T1" fmla="*/ 31 h 38"/>
                  <a:gd name="T2" fmla="*/ 42 w 43"/>
                  <a:gd name="T3" fmla="*/ 18 h 38"/>
                  <a:gd name="T4" fmla="*/ 36 w 43"/>
                  <a:gd name="T5" fmla="*/ 6 h 38"/>
                  <a:gd name="T6" fmla="*/ 42 w 43"/>
                  <a:gd name="T7" fmla="*/ 0 h 38"/>
                  <a:gd name="T8" fmla="*/ 12 w 43"/>
                  <a:gd name="T9" fmla="*/ 0 h 38"/>
                  <a:gd name="T10" fmla="*/ 0 w 43"/>
                  <a:gd name="T11" fmla="*/ 12 h 38"/>
                  <a:gd name="T12" fmla="*/ 18 w 43"/>
                  <a:gd name="T13" fmla="*/ 37 h 38"/>
                  <a:gd name="T14" fmla="*/ 24 w 43"/>
                  <a:gd name="T15" fmla="*/ 37 h 38"/>
                  <a:gd name="T16" fmla="*/ 24 w 43"/>
                  <a:gd name="T17" fmla="*/ 31 h 38"/>
                  <a:gd name="T18" fmla="*/ 36 w 43"/>
                  <a:gd name="T19" fmla="*/ 31 h 3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43"/>
                  <a:gd name="T31" fmla="*/ 0 h 38"/>
                  <a:gd name="T32" fmla="*/ 43 w 43"/>
                  <a:gd name="T33" fmla="*/ 38 h 3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43" h="38">
                    <a:moveTo>
                      <a:pt x="36" y="31"/>
                    </a:moveTo>
                    <a:lnTo>
                      <a:pt x="42" y="18"/>
                    </a:lnTo>
                    <a:lnTo>
                      <a:pt x="36" y="6"/>
                    </a:lnTo>
                    <a:lnTo>
                      <a:pt x="42" y="0"/>
                    </a:lnTo>
                    <a:lnTo>
                      <a:pt x="12" y="0"/>
                    </a:lnTo>
                    <a:lnTo>
                      <a:pt x="0" y="12"/>
                    </a:lnTo>
                    <a:lnTo>
                      <a:pt x="18" y="37"/>
                    </a:lnTo>
                    <a:lnTo>
                      <a:pt x="24" y="37"/>
                    </a:lnTo>
                    <a:lnTo>
                      <a:pt x="24" y="31"/>
                    </a:lnTo>
                    <a:lnTo>
                      <a:pt x="36" y="31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73" name="Freeform 37">
                <a:extLst>
                  <a:ext uri="{FF2B5EF4-FFF2-40B4-BE49-F238E27FC236}">
                    <a16:creationId xmlns:a16="http://schemas.microsoft.com/office/drawing/2014/main" id="{BF8EFA88-2317-4D45-9797-1C6D74FFB6C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492247" y="3694460"/>
                <a:ext cx="124836" cy="119413"/>
              </a:xfrm>
              <a:custGeom>
                <a:avLst/>
                <a:gdLst>
                  <a:gd name="T0" fmla="*/ 18 w 49"/>
                  <a:gd name="T1" fmla="*/ 0 h 69"/>
                  <a:gd name="T2" fmla="*/ 24 w 49"/>
                  <a:gd name="T3" fmla="*/ 6 h 69"/>
                  <a:gd name="T4" fmla="*/ 30 w 49"/>
                  <a:gd name="T5" fmla="*/ 12 h 69"/>
                  <a:gd name="T6" fmla="*/ 42 w 49"/>
                  <a:gd name="T7" fmla="*/ 25 h 69"/>
                  <a:gd name="T8" fmla="*/ 30 w 49"/>
                  <a:gd name="T9" fmla="*/ 37 h 69"/>
                  <a:gd name="T10" fmla="*/ 48 w 49"/>
                  <a:gd name="T11" fmla="*/ 62 h 69"/>
                  <a:gd name="T12" fmla="*/ 24 w 49"/>
                  <a:gd name="T13" fmla="*/ 68 h 69"/>
                  <a:gd name="T14" fmla="*/ 18 w 49"/>
                  <a:gd name="T15" fmla="*/ 68 h 69"/>
                  <a:gd name="T16" fmla="*/ 18 w 49"/>
                  <a:gd name="T17" fmla="*/ 56 h 69"/>
                  <a:gd name="T18" fmla="*/ 18 w 49"/>
                  <a:gd name="T19" fmla="*/ 37 h 69"/>
                  <a:gd name="T20" fmla="*/ 12 w 49"/>
                  <a:gd name="T21" fmla="*/ 31 h 69"/>
                  <a:gd name="T22" fmla="*/ 6 w 49"/>
                  <a:gd name="T23" fmla="*/ 31 h 69"/>
                  <a:gd name="T24" fmla="*/ 0 w 49"/>
                  <a:gd name="T25" fmla="*/ 25 h 69"/>
                  <a:gd name="T26" fmla="*/ 6 w 49"/>
                  <a:gd name="T27" fmla="*/ 18 h 69"/>
                  <a:gd name="T28" fmla="*/ 6 w 49"/>
                  <a:gd name="T29" fmla="*/ 12 h 69"/>
                  <a:gd name="T30" fmla="*/ 6 w 49"/>
                  <a:gd name="T31" fmla="*/ 6 h 69"/>
                  <a:gd name="T32" fmla="*/ 18 w 49"/>
                  <a:gd name="T33" fmla="*/ 0 h 6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49"/>
                  <a:gd name="T52" fmla="*/ 0 h 69"/>
                  <a:gd name="T53" fmla="*/ 49 w 49"/>
                  <a:gd name="T54" fmla="*/ 69 h 69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49" h="69">
                    <a:moveTo>
                      <a:pt x="18" y="0"/>
                    </a:moveTo>
                    <a:lnTo>
                      <a:pt x="24" y="6"/>
                    </a:lnTo>
                    <a:lnTo>
                      <a:pt x="30" y="12"/>
                    </a:lnTo>
                    <a:lnTo>
                      <a:pt x="42" y="25"/>
                    </a:lnTo>
                    <a:lnTo>
                      <a:pt x="30" y="37"/>
                    </a:lnTo>
                    <a:lnTo>
                      <a:pt x="48" y="62"/>
                    </a:lnTo>
                    <a:lnTo>
                      <a:pt x="24" y="68"/>
                    </a:lnTo>
                    <a:lnTo>
                      <a:pt x="18" y="68"/>
                    </a:lnTo>
                    <a:lnTo>
                      <a:pt x="18" y="56"/>
                    </a:lnTo>
                    <a:lnTo>
                      <a:pt x="18" y="37"/>
                    </a:lnTo>
                    <a:lnTo>
                      <a:pt x="12" y="31"/>
                    </a:lnTo>
                    <a:lnTo>
                      <a:pt x="6" y="31"/>
                    </a:lnTo>
                    <a:lnTo>
                      <a:pt x="0" y="25"/>
                    </a:lnTo>
                    <a:lnTo>
                      <a:pt x="6" y="18"/>
                    </a:lnTo>
                    <a:lnTo>
                      <a:pt x="6" y="12"/>
                    </a:lnTo>
                    <a:lnTo>
                      <a:pt x="6" y="6"/>
                    </a:lnTo>
                    <a:lnTo>
                      <a:pt x="18" y="0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74" name="Freeform 38">
                <a:extLst>
                  <a:ext uri="{FF2B5EF4-FFF2-40B4-BE49-F238E27FC236}">
                    <a16:creationId xmlns:a16="http://schemas.microsoft.com/office/drawing/2014/main" id="{495B092D-4929-4267-9F06-F4E0032EB09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189069" y="3630428"/>
                <a:ext cx="351583" cy="193829"/>
              </a:xfrm>
              <a:custGeom>
                <a:avLst/>
                <a:gdLst>
                  <a:gd name="T0" fmla="*/ 137 w 138"/>
                  <a:gd name="T1" fmla="*/ 37 h 112"/>
                  <a:gd name="T2" fmla="*/ 125 w 138"/>
                  <a:gd name="T3" fmla="*/ 43 h 112"/>
                  <a:gd name="T4" fmla="*/ 125 w 138"/>
                  <a:gd name="T5" fmla="*/ 49 h 112"/>
                  <a:gd name="T6" fmla="*/ 125 w 138"/>
                  <a:gd name="T7" fmla="*/ 55 h 112"/>
                  <a:gd name="T8" fmla="*/ 119 w 138"/>
                  <a:gd name="T9" fmla="*/ 62 h 112"/>
                  <a:gd name="T10" fmla="*/ 125 w 138"/>
                  <a:gd name="T11" fmla="*/ 68 h 112"/>
                  <a:gd name="T12" fmla="*/ 125 w 138"/>
                  <a:gd name="T13" fmla="*/ 74 h 112"/>
                  <a:gd name="T14" fmla="*/ 100 w 138"/>
                  <a:gd name="T15" fmla="*/ 80 h 112"/>
                  <a:gd name="T16" fmla="*/ 87 w 138"/>
                  <a:gd name="T17" fmla="*/ 80 h 112"/>
                  <a:gd name="T18" fmla="*/ 87 w 138"/>
                  <a:gd name="T19" fmla="*/ 93 h 112"/>
                  <a:gd name="T20" fmla="*/ 100 w 138"/>
                  <a:gd name="T21" fmla="*/ 99 h 112"/>
                  <a:gd name="T22" fmla="*/ 75 w 138"/>
                  <a:gd name="T23" fmla="*/ 111 h 112"/>
                  <a:gd name="T24" fmla="*/ 68 w 138"/>
                  <a:gd name="T25" fmla="*/ 111 h 112"/>
                  <a:gd name="T26" fmla="*/ 62 w 138"/>
                  <a:gd name="T27" fmla="*/ 105 h 112"/>
                  <a:gd name="T28" fmla="*/ 56 w 138"/>
                  <a:gd name="T29" fmla="*/ 99 h 112"/>
                  <a:gd name="T30" fmla="*/ 56 w 138"/>
                  <a:gd name="T31" fmla="*/ 87 h 112"/>
                  <a:gd name="T32" fmla="*/ 56 w 138"/>
                  <a:gd name="T33" fmla="*/ 74 h 112"/>
                  <a:gd name="T34" fmla="*/ 56 w 138"/>
                  <a:gd name="T35" fmla="*/ 55 h 112"/>
                  <a:gd name="T36" fmla="*/ 37 w 138"/>
                  <a:gd name="T37" fmla="*/ 62 h 112"/>
                  <a:gd name="T38" fmla="*/ 31 w 138"/>
                  <a:gd name="T39" fmla="*/ 49 h 112"/>
                  <a:gd name="T40" fmla="*/ 12 w 138"/>
                  <a:gd name="T41" fmla="*/ 49 h 112"/>
                  <a:gd name="T42" fmla="*/ 6 w 138"/>
                  <a:gd name="T43" fmla="*/ 43 h 112"/>
                  <a:gd name="T44" fmla="*/ 6 w 138"/>
                  <a:gd name="T45" fmla="*/ 37 h 112"/>
                  <a:gd name="T46" fmla="*/ 0 w 138"/>
                  <a:gd name="T47" fmla="*/ 24 h 112"/>
                  <a:gd name="T48" fmla="*/ 6 w 138"/>
                  <a:gd name="T49" fmla="*/ 12 h 112"/>
                  <a:gd name="T50" fmla="*/ 12 w 138"/>
                  <a:gd name="T51" fmla="*/ 6 h 112"/>
                  <a:gd name="T52" fmla="*/ 18 w 138"/>
                  <a:gd name="T53" fmla="*/ 12 h 112"/>
                  <a:gd name="T54" fmla="*/ 12 w 138"/>
                  <a:gd name="T55" fmla="*/ 24 h 112"/>
                  <a:gd name="T56" fmla="*/ 18 w 138"/>
                  <a:gd name="T57" fmla="*/ 31 h 112"/>
                  <a:gd name="T58" fmla="*/ 18 w 138"/>
                  <a:gd name="T59" fmla="*/ 12 h 112"/>
                  <a:gd name="T60" fmla="*/ 31 w 138"/>
                  <a:gd name="T61" fmla="*/ 6 h 112"/>
                  <a:gd name="T62" fmla="*/ 31 w 138"/>
                  <a:gd name="T63" fmla="*/ 0 h 112"/>
                  <a:gd name="T64" fmla="*/ 37 w 138"/>
                  <a:gd name="T65" fmla="*/ 6 h 112"/>
                  <a:gd name="T66" fmla="*/ 50 w 138"/>
                  <a:gd name="T67" fmla="*/ 6 h 112"/>
                  <a:gd name="T68" fmla="*/ 50 w 138"/>
                  <a:gd name="T69" fmla="*/ 18 h 112"/>
                  <a:gd name="T70" fmla="*/ 68 w 138"/>
                  <a:gd name="T71" fmla="*/ 12 h 112"/>
                  <a:gd name="T72" fmla="*/ 81 w 138"/>
                  <a:gd name="T73" fmla="*/ 18 h 112"/>
                  <a:gd name="T74" fmla="*/ 94 w 138"/>
                  <a:gd name="T75" fmla="*/ 12 h 112"/>
                  <a:gd name="T76" fmla="*/ 112 w 138"/>
                  <a:gd name="T77" fmla="*/ 12 h 112"/>
                  <a:gd name="T78" fmla="*/ 100 w 138"/>
                  <a:gd name="T79" fmla="*/ 12 h 112"/>
                  <a:gd name="T80" fmla="*/ 112 w 138"/>
                  <a:gd name="T81" fmla="*/ 24 h 112"/>
                  <a:gd name="T82" fmla="*/ 125 w 138"/>
                  <a:gd name="T83" fmla="*/ 24 h 112"/>
                  <a:gd name="T84" fmla="*/ 125 w 138"/>
                  <a:gd name="T85" fmla="*/ 37 h 112"/>
                  <a:gd name="T86" fmla="*/ 131 w 138"/>
                  <a:gd name="T87" fmla="*/ 37 h 112"/>
                  <a:gd name="T88" fmla="*/ 137 w 138"/>
                  <a:gd name="T89" fmla="*/ 37 h 112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138"/>
                  <a:gd name="T136" fmla="*/ 0 h 112"/>
                  <a:gd name="T137" fmla="*/ 138 w 138"/>
                  <a:gd name="T138" fmla="*/ 112 h 112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138" h="112">
                    <a:moveTo>
                      <a:pt x="137" y="37"/>
                    </a:moveTo>
                    <a:lnTo>
                      <a:pt x="125" y="43"/>
                    </a:lnTo>
                    <a:lnTo>
                      <a:pt x="125" y="49"/>
                    </a:lnTo>
                    <a:lnTo>
                      <a:pt x="125" y="55"/>
                    </a:lnTo>
                    <a:lnTo>
                      <a:pt x="119" y="62"/>
                    </a:lnTo>
                    <a:lnTo>
                      <a:pt x="125" y="68"/>
                    </a:lnTo>
                    <a:lnTo>
                      <a:pt x="125" y="74"/>
                    </a:lnTo>
                    <a:lnTo>
                      <a:pt x="100" y="80"/>
                    </a:lnTo>
                    <a:lnTo>
                      <a:pt x="87" y="80"/>
                    </a:lnTo>
                    <a:lnTo>
                      <a:pt x="87" y="93"/>
                    </a:lnTo>
                    <a:lnTo>
                      <a:pt x="100" y="99"/>
                    </a:lnTo>
                    <a:lnTo>
                      <a:pt x="75" y="111"/>
                    </a:lnTo>
                    <a:lnTo>
                      <a:pt x="68" y="111"/>
                    </a:lnTo>
                    <a:lnTo>
                      <a:pt x="62" y="105"/>
                    </a:lnTo>
                    <a:lnTo>
                      <a:pt x="56" y="99"/>
                    </a:lnTo>
                    <a:lnTo>
                      <a:pt x="56" y="87"/>
                    </a:lnTo>
                    <a:lnTo>
                      <a:pt x="56" y="74"/>
                    </a:lnTo>
                    <a:lnTo>
                      <a:pt x="56" y="55"/>
                    </a:lnTo>
                    <a:lnTo>
                      <a:pt x="37" y="62"/>
                    </a:lnTo>
                    <a:lnTo>
                      <a:pt x="31" y="49"/>
                    </a:lnTo>
                    <a:lnTo>
                      <a:pt x="12" y="49"/>
                    </a:lnTo>
                    <a:lnTo>
                      <a:pt x="6" y="43"/>
                    </a:lnTo>
                    <a:lnTo>
                      <a:pt x="6" y="37"/>
                    </a:lnTo>
                    <a:lnTo>
                      <a:pt x="0" y="24"/>
                    </a:lnTo>
                    <a:lnTo>
                      <a:pt x="6" y="12"/>
                    </a:lnTo>
                    <a:lnTo>
                      <a:pt x="12" y="6"/>
                    </a:lnTo>
                    <a:lnTo>
                      <a:pt x="18" y="12"/>
                    </a:lnTo>
                    <a:lnTo>
                      <a:pt x="12" y="24"/>
                    </a:lnTo>
                    <a:lnTo>
                      <a:pt x="18" y="31"/>
                    </a:lnTo>
                    <a:lnTo>
                      <a:pt x="18" y="12"/>
                    </a:lnTo>
                    <a:lnTo>
                      <a:pt x="31" y="6"/>
                    </a:lnTo>
                    <a:lnTo>
                      <a:pt x="31" y="0"/>
                    </a:lnTo>
                    <a:lnTo>
                      <a:pt x="37" y="6"/>
                    </a:lnTo>
                    <a:lnTo>
                      <a:pt x="50" y="6"/>
                    </a:lnTo>
                    <a:lnTo>
                      <a:pt x="50" y="18"/>
                    </a:lnTo>
                    <a:lnTo>
                      <a:pt x="68" y="12"/>
                    </a:lnTo>
                    <a:lnTo>
                      <a:pt x="81" y="18"/>
                    </a:lnTo>
                    <a:lnTo>
                      <a:pt x="94" y="12"/>
                    </a:lnTo>
                    <a:lnTo>
                      <a:pt x="112" y="12"/>
                    </a:lnTo>
                    <a:lnTo>
                      <a:pt x="100" y="12"/>
                    </a:lnTo>
                    <a:lnTo>
                      <a:pt x="112" y="24"/>
                    </a:lnTo>
                    <a:lnTo>
                      <a:pt x="125" y="24"/>
                    </a:lnTo>
                    <a:lnTo>
                      <a:pt x="125" y="37"/>
                    </a:lnTo>
                    <a:lnTo>
                      <a:pt x="131" y="37"/>
                    </a:lnTo>
                    <a:lnTo>
                      <a:pt x="137" y="37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75" name="Freeform 39">
                <a:extLst>
                  <a:ext uri="{FF2B5EF4-FFF2-40B4-BE49-F238E27FC236}">
                    <a16:creationId xmlns:a16="http://schemas.microsoft.com/office/drawing/2014/main" id="{763378D3-407B-43AF-BA37-BD75F4FD9D0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183928" y="2091912"/>
                <a:ext cx="682787" cy="526108"/>
              </a:xfrm>
              <a:custGeom>
                <a:avLst/>
                <a:gdLst>
                  <a:gd name="T0" fmla="*/ 62 w 268"/>
                  <a:gd name="T1" fmla="*/ 285 h 304"/>
                  <a:gd name="T2" fmla="*/ 56 w 268"/>
                  <a:gd name="T3" fmla="*/ 291 h 304"/>
                  <a:gd name="T4" fmla="*/ 31 w 268"/>
                  <a:gd name="T5" fmla="*/ 303 h 304"/>
                  <a:gd name="T6" fmla="*/ 6 w 268"/>
                  <a:gd name="T7" fmla="*/ 297 h 304"/>
                  <a:gd name="T8" fmla="*/ 6 w 268"/>
                  <a:gd name="T9" fmla="*/ 285 h 304"/>
                  <a:gd name="T10" fmla="*/ 6 w 268"/>
                  <a:gd name="T11" fmla="*/ 272 h 304"/>
                  <a:gd name="T12" fmla="*/ 0 w 268"/>
                  <a:gd name="T13" fmla="*/ 248 h 304"/>
                  <a:gd name="T14" fmla="*/ 0 w 268"/>
                  <a:gd name="T15" fmla="*/ 229 h 304"/>
                  <a:gd name="T16" fmla="*/ 31 w 268"/>
                  <a:gd name="T17" fmla="*/ 204 h 304"/>
                  <a:gd name="T18" fmla="*/ 49 w 268"/>
                  <a:gd name="T19" fmla="*/ 198 h 304"/>
                  <a:gd name="T20" fmla="*/ 74 w 268"/>
                  <a:gd name="T21" fmla="*/ 155 h 304"/>
                  <a:gd name="T22" fmla="*/ 105 w 268"/>
                  <a:gd name="T23" fmla="*/ 93 h 304"/>
                  <a:gd name="T24" fmla="*/ 93 w 268"/>
                  <a:gd name="T25" fmla="*/ 86 h 304"/>
                  <a:gd name="T26" fmla="*/ 87 w 268"/>
                  <a:gd name="T27" fmla="*/ 80 h 304"/>
                  <a:gd name="T28" fmla="*/ 99 w 268"/>
                  <a:gd name="T29" fmla="*/ 74 h 304"/>
                  <a:gd name="T30" fmla="*/ 112 w 268"/>
                  <a:gd name="T31" fmla="*/ 68 h 304"/>
                  <a:gd name="T32" fmla="*/ 118 w 268"/>
                  <a:gd name="T33" fmla="*/ 74 h 304"/>
                  <a:gd name="T34" fmla="*/ 124 w 268"/>
                  <a:gd name="T35" fmla="*/ 62 h 304"/>
                  <a:gd name="T36" fmla="*/ 137 w 268"/>
                  <a:gd name="T37" fmla="*/ 49 h 304"/>
                  <a:gd name="T38" fmla="*/ 155 w 268"/>
                  <a:gd name="T39" fmla="*/ 31 h 304"/>
                  <a:gd name="T40" fmla="*/ 186 w 268"/>
                  <a:gd name="T41" fmla="*/ 6 h 304"/>
                  <a:gd name="T42" fmla="*/ 199 w 268"/>
                  <a:gd name="T43" fmla="*/ 6 h 304"/>
                  <a:gd name="T44" fmla="*/ 211 w 268"/>
                  <a:gd name="T45" fmla="*/ 18 h 304"/>
                  <a:gd name="T46" fmla="*/ 224 w 268"/>
                  <a:gd name="T47" fmla="*/ 18 h 304"/>
                  <a:gd name="T48" fmla="*/ 243 w 268"/>
                  <a:gd name="T49" fmla="*/ 6 h 304"/>
                  <a:gd name="T50" fmla="*/ 255 w 268"/>
                  <a:gd name="T51" fmla="*/ 31 h 304"/>
                  <a:gd name="T52" fmla="*/ 255 w 268"/>
                  <a:gd name="T53" fmla="*/ 37 h 304"/>
                  <a:gd name="T54" fmla="*/ 261 w 268"/>
                  <a:gd name="T55" fmla="*/ 49 h 304"/>
                  <a:gd name="T56" fmla="*/ 243 w 268"/>
                  <a:gd name="T57" fmla="*/ 62 h 304"/>
                  <a:gd name="T58" fmla="*/ 230 w 268"/>
                  <a:gd name="T59" fmla="*/ 31 h 304"/>
                  <a:gd name="T60" fmla="*/ 211 w 268"/>
                  <a:gd name="T61" fmla="*/ 62 h 304"/>
                  <a:gd name="T62" fmla="*/ 193 w 268"/>
                  <a:gd name="T63" fmla="*/ 68 h 304"/>
                  <a:gd name="T64" fmla="*/ 180 w 268"/>
                  <a:gd name="T65" fmla="*/ 68 h 304"/>
                  <a:gd name="T66" fmla="*/ 162 w 268"/>
                  <a:gd name="T67" fmla="*/ 62 h 304"/>
                  <a:gd name="T68" fmla="*/ 155 w 268"/>
                  <a:gd name="T69" fmla="*/ 74 h 304"/>
                  <a:gd name="T70" fmla="*/ 137 w 268"/>
                  <a:gd name="T71" fmla="*/ 80 h 304"/>
                  <a:gd name="T72" fmla="*/ 124 w 268"/>
                  <a:gd name="T73" fmla="*/ 86 h 304"/>
                  <a:gd name="T74" fmla="*/ 112 w 268"/>
                  <a:gd name="T75" fmla="*/ 105 h 304"/>
                  <a:gd name="T76" fmla="*/ 112 w 268"/>
                  <a:gd name="T77" fmla="*/ 117 h 304"/>
                  <a:gd name="T78" fmla="*/ 99 w 268"/>
                  <a:gd name="T79" fmla="*/ 136 h 304"/>
                  <a:gd name="T80" fmla="*/ 87 w 268"/>
                  <a:gd name="T81" fmla="*/ 173 h 304"/>
                  <a:gd name="T82" fmla="*/ 81 w 268"/>
                  <a:gd name="T83" fmla="*/ 186 h 304"/>
                  <a:gd name="T84" fmla="*/ 74 w 268"/>
                  <a:gd name="T85" fmla="*/ 217 h 304"/>
                  <a:gd name="T86" fmla="*/ 74 w 268"/>
                  <a:gd name="T87" fmla="*/ 248 h 304"/>
                  <a:gd name="T88" fmla="*/ 68 w 268"/>
                  <a:gd name="T89" fmla="*/ 272 h 304"/>
                  <a:gd name="T90" fmla="*/ 62 w 268"/>
                  <a:gd name="T91" fmla="*/ 291 h 304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268"/>
                  <a:gd name="T139" fmla="*/ 0 h 304"/>
                  <a:gd name="T140" fmla="*/ 268 w 268"/>
                  <a:gd name="T141" fmla="*/ 304 h 304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268" h="304">
                    <a:moveTo>
                      <a:pt x="62" y="291"/>
                    </a:moveTo>
                    <a:lnTo>
                      <a:pt x="62" y="285"/>
                    </a:lnTo>
                    <a:lnTo>
                      <a:pt x="56" y="285"/>
                    </a:lnTo>
                    <a:lnTo>
                      <a:pt x="56" y="291"/>
                    </a:lnTo>
                    <a:lnTo>
                      <a:pt x="49" y="291"/>
                    </a:lnTo>
                    <a:lnTo>
                      <a:pt x="31" y="303"/>
                    </a:lnTo>
                    <a:lnTo>
                      <a:pt x="18" y="303"/>
                    </a:lnTo>
                    <a:lnTo>
                      <a:pt x="6" y="297"/>
                    </a:lnTo>
                    <a:lnTo>
                      <a:pt x="12" y="285"/>
                    </a:lnTo>
                    <a:lnTo>
                      <a:pt x="6" y="285"/>
                    </a:lnTo>
                    <a:lnTo>
                      <a:pt x="6" y="279"/>
                    </a:lnTo>
                    <a:lnTo>
                      <a:pt x="6" y="272"/>
                    </a:lnTo>
                    <a:lnTo>
                      <a:pt x="6" y="260"/>
                    </a:lnTo>
                    <a:lnTo>
                      <a:pt x="0" y="248"/>
                    </a:lnTo>
                    <a:lnTo>
                      <a:pt x="6" y="241"/>
                    </a:lnTo>
                    <a:lnTo>
                      <a:pt x="0" y="229"/>
                    </a:lnTo>
                    <a:lnTo>
                      <a:pt x="24" y="210"/>
                    </a:lnTo>
                    <a:lnTo>
                      <a:pt x="31" y="204"/>
                    </a:lnTo>
                    <a:lnTo>
                      <a:pt x="43" y="192"/>
                    </a:lnTo>
                    <a:lnTo>
                      <a:pt x="49" y="198"/>
                    </a:lnTo>
                    <a:lnTo>
                      <a:pt x="68" y="167"/>
                    </a:lnTo>
                    <a:lnTo>
                      <a:pt x="74" y="155"/>
                    </a:lnTo>
                    <a:lnTo>
                      <a:pt x="87" y="124"/>
                    </a:lnTo>
                    <a:lnTo>
                      <a:pt x="105" y="93"/>
                    </a:lnTo>
                    <a:lnTo>
                      <a:pt x="112" y="80"/>
                    </a:lnTo>
                    <a:lnTo>
                      <a:pt x="93" y="86"/>
                    </a:lnTo>
                    <a:lnTo>
                      <a:pt x="81" y="93"/>
                    </a:lnTo>
                    <a:lnTo>
                      <a:pt x="87" y="80"/>
                    </a:lnTo>
                    <a:lnTo>
                      <a:pt x="105" y="80"/>
                    </a:lnTo>
                    <a:lnTo>
                      <a:pt x="99" y="74"/>
                    </a:lnTo>
                    <a:lnTo>
                      <a:pt x="112" y="55"/>
                    </a:lnTo>
                    <a:lnTo>
                      <a:pt x="112" y="68"/>
                    </a:lnTo>
                    <a:lnTo>
                      <a:pt x="118" y="62"/>
                    </a:lnTo>
                    <a:lnTo>
                      <a:pt x="118" y="74"/>
                    </a:lnTo>
                    <a:lnTo>
                      <a:pt x="130" y="62"/>
                    </a:lnTo>
                    <a:lnTo>
                      <a:pt x="124" y="62"/>
                    </a:lnTo>
                    <a:lnTo>
                      <a:pt x="124" y="49"/>
                    </a:lnTo>
                    <a:lnTo>
                      <a:pt x="137" y="49"/>
                    </a:lnTo>
                    <a:lnTo>
                      <a:pt x="143" y="31"/>
                    </a:lnTo>
                    <a:lnTo>
                      <a:pt x="155" y="31"/>
                    </a:lnTo>
                    <a:lnTo>
                      <a:pt x="168" y="24"/>
                    </a:lnTo>
                    <a:lnTo>
                      <a:pt x="186" y="6"/>
                    </a:lnTo>
                    <a:lnTo>
                      <a:pt x="193" y="18"/>
                    </a:lnTo>
                    <a:lnTo>
                      <a:pt x="199" y="6"/>
                    </a:lnTo>
                    <a:lnTo>
                      <a:pt x="211" y="0"/>
                    </a:lnTo>
                    <a:lnTo>
                      <a:pt x="211" y="18"/>
                    </a:lnTo>
                    <a:lnTo>
                      <a:pt x="218" y="6"/>
                    </a:lnTo>
                    <a:lnTo>
                      <a:pt x="224" y="18"/>
                    </a:lnTo>
                    <a:lnTo>
                      <a:pt x="230" y="6"/>
                    </a:lnTo>
                    <a:lnTo>
                      <a:pt x="243" y="6"/>
                    </a:lnTo>
                    <a:lnTo>
                      <a:pt x="267" y="24"/>
                    </a:lnTo>
                    <a:lnTo>
                      <a:pt x="255" y="31"/>
                    </a:lnTo>
                    <a:lnTo>
                      <a:pt x="243" y="31"/>
                    </a:lnTo>
                    <a:lnTo>
                      <a:pt x="255" y="37"/>
                    </a:lnTo>
                    <a:lnTo>
                      <a:pt x="261" y="43"/>
                    </a:lnTo>
                    <a:lnTo>
                      <a:pt x="261" y="49"/>
                    </a:lnTo>
                    <a:lnTo>
                      <a:pt x="255" y="49"/>
                    </a:lnTo>
                    <a:lnTo>
                      <a:pt x="243" y="62"/>
                    </a:lnTo>
                    <a:lnTo>
                      <a:pt x="243" y="43"/>
                    </a:lnTo>
                    <a:lnTo>
                      <a:pt x="230" y="31"/>
                    </a:lnTo>
                    <a:lnTo>
                      <a:pt x="218" y="37"/>
                    </a:lnTo>
                    <a:lnTo>
                      <a:pt x="211" y="62"/>
                    </a:lnTo>
                    <a:lnTo>
                      <a:pt x="205" y="68"/>
                    </a:lnTo>
                    <a:lnTo>
                      <a:pt x="193" y="68"/>
                    </a:lnTo>
                    <a:lnTo>
                      <a:pt x="186" y="74"/>
                    </a:lnTo>
                    <a:lnTo>
                      <a:pt x="180" y="68"/>
                    </a:lnTo>
                    <a:lnTo>
                      <a:pt x="168" y="55"/>
                    </a:lnTo>
                    <a:lnTo>
                      <a:pt x="162" y="62"/>
                    </a:lnTo>
                    <a:lnTo>
                      <a:pt x="155" y="62"/>
                    </a:lnTo>
                    <a:lnTo>
                      <a:pt x="155" y="74"/>
                    </a:lnTo>
                    <a:lnTo>
                      <a:pt x="137" y="74"/>
                    </a:lnTo>
                    <a:lnTo>
                      <a:pt x="137" y="80"/>
                    </a:lnTo>
                    <a:lnTo>
                      <a:pt x="130" y="86"/>
                    </a:lnTo>
                    <a:lnTo>
                      <a:pt x="124" y="86"/>
                    </a:lnTo>
                    <a:lnTo>
                      <a:pt x="118" y="93"/>
                    </a:lnTo>
                    <a:lnTo>
                      <a:pt x="112" y="105"/>
                    </a:lnTo>
                    <a:lnTo>
                      <a:pt x="118" y="111"/>
                    </a:lnTo>
                    <a:lnTo>
                      <a:pt x="112" y="117"/>
                    </a:lnTo>
                    <a:lnTo>
                      <a:pt x="105" y="136"/>
                    </a:lnTo>
                    <a:lnTo>
                      <a:pt x="99" y="136"/>
                    </a:lnTo>
                    <a:lnTo>
                      <a:pt x="93" y="161"/>
                    </a:lnTo>
                    <a:lnTo>
                      <a:pt x="87" y="173"/>
                    </a:lnTo>
                    <a:lnTo>
                      <a:pt x="93" y="186"/>
                    </a:lnTo>
                    <a:lnTo>
                      <a:pt x="81" y="186"/>
                    </a:lnTo>
                    <a:lnTo>
                      <a:pt x="74" y="192"/>
                    </a:lnTo>
                    <a:lnTo>
                      <a:pt x="74" y="217"/>
                    </a:lnTo>
                    <a:lnTo>
                      <a:pt x="81" y="248"/>
                    </a:lnTo>
                    <a:lnTo>
                      <a:pt x="74" y="248"/>
                    </a:lnTo>
                    <a:lnTo>
                      <a:pt x="74" y="266"/>
                    </a:lnTo>
                    <a:lnTo>
                      <a:pt x="68" y="272"/>
                    </a:lnTo>
                    <a:lnTo>
                      <a:pt x="68" y="291"/>
                    </a:lnTo>
                    <a:lnTo>
                      <a:pt x="62" y="291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76" name="Freeform 40">
                <a:extLst>
                  <a:ext uri="{FF2B5EF4-FFF2-40B4-BE49-F238E27FC236}">
                    <a16:creationId xmlns:a16="http://schemas.microsoft.com/office/drawing/2014/main" id="{5E2A94A5-BF35-4A51-8DA8-51FC4019324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660351" y="2673398"/>
                <a:ext cx="236937" cy="140180"/>
              </a:xfrm>
              <a:custGeom>
                <a:avLst/>
                <a:gdLst>
                  <a:gd name="T0" fmla="*/ 86 w 93"/>
                  <a:gd name="T1" fmla="*/ 68 h 81"/>
                  <a:gd name="T2" fmla="*/ 80 w 93"/>
                  <a:gd name="T3" fmla="*/ 56 h 81"/>
                  <a:gd name="T4" fmla="*/ 80 w 93"/>
                  <a:gd name="T5" fmla="*/ 49 h 81"/>
                  <a:gd name="T6" fmla="*/ 86 w 93"/>
                  <a:gd name="T7" fmla="*/ 56 h 81"/>
                  <a:gd name="T8" fmla="*/ 92 w 93"/>
                  <a:gd name="T9" fmla="*/ 49 h 81"/>
                  <a:gd name="T10" fmla="*/ 86 w 93"/>
                  <a:gd name="T11" fmla="*/ 43 h 81"/>
                  <a:gd name="T12" fmla="*/ 74 w 93"/>
                  <a:gd name="T13" fmla="*/ 24 h 81"/>
                  <a:gd name="T14" fmla="*/ 74 w 93"/>
                  <a:gd name="T15" fmla="*/ 12 h 81"/>
                  <a:gd name="T16" fmla="*/ 68 w 93"/>
                  <a:gd name="T17" fmla="*/ 6 h 81"/>
                  <a:gd name="T18" fmla="*/ 49 w 93"/>
                  <a:gd name="T19" fmla="*/ 0 h 81"/>
                  <a:gd name="T20" fmla="*/ 37 w 93"/>
                  <a:gd name="T21" fmla="*/ 12 h 81"/>
                  <a:gd name="T22" fmla="*/ 30 w 93"/>
                  <a:gd name="T23" fmla="*/ 18 h 81"/>
                  <a:gd name="T24" fmla="*/ 24 w 93"/>
                  <a:gd name="T25" fmla="*/ 24 h 81"/>
                  <a:gd name="T26" fmla="*/ 24 w 93"/>
                  <a:gd name="T27" fmla="*/ 37 h 81"/>
                  <a:gd name="T28" fmla="*/ 18 w 93"/>
                  <a:gd name="T29" fmla="*/ 37 h 81"/>
                  <a:gd name="T30" fmla="*/ 0 w 93"/>
                  <a:gd name="T31" fmla="*/ 43 h 81"/>
                  <a:gd name="T32" fmla="*/ 6 w 93"/>
                  <a:gd name="T33" fmla="*/ 62 h 81"/>
                  <a:gd name="T34" fmla="*/ 0 w 93"/>
                  <a:gd name="T35" fmla="*/ 74 h 81"/>
                  <a:gd name="T36" fmla="*/ 0 w 93"/>
                  <a:gd name="T37" fmla="*/ 80 h 81"/>
                  <a:gd name="T38" fmla="*/ 12 w 93"/>
                  <a:gd name="T39" fmla="*/ 74 h 81"/>
                  <a:gd name="T40" fmla="*/ 24 w 93"/>
                  <a:gd name="T41" fmla="*/ 74 h 81"/>
                  <a:gd name="T42" fmla="*/ 43 w 93"/>
                  <a:gd name="T43" fmla="*/ 80 h 81"/>
                  <a:gd name="T44" fmla="*/ 49 w 93"/>
                  <a:gd name="T45" fmla="*/ 80 h 81"/>
                  <a:gd name="T46" fmla="*/ 55 w 93"/>
                  <a:gd name="T47" fmla="*/ 80 h 81"/>
                  <a:gd name="T48" fmla="*/ 61 w 93"/>
                  <a:gd name="T49" fmla="*/ 80 h 81"/>
                  <a:gd name="T50" fmla="*/ 74 w 93"/>
                  <a:gd name="T51" fmla="*/ 80 h 81"/>
                  <a:gd name="T52" fmla="*/ 80 w 93"/>
                  <a:gd name="T53" fmla="*/ 68 h 81"/>
                  <a:gd name="T54" fmla="*/ 86 w 93"/>
                  <a:gd name="T55" fmla="*/ 68 h 81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93"/>
                  <a:gd name="T85" fmla="*/ 0 h 81"/>
                  <a:gd name="T86" fmla="*/ 93 w 93"/>
                  <a:gd name="T87" fmla="*/ 81 h 81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93" h="81">
                    <a:moveTo>
                      <a:pt x="86" y="68"/>
                    </a:moveTo>
                    <a:lnTo>
                      <a:pt x="80" y="56"/>
                    </a:lnTo>
                    <a:lnTo>
                      <a:pt x="80" y="49"/>
                    </a:lnTo>
                    <a:lnTo>
                      <a:pt x="86" y="56"/>
                    </a:lnTo>
                    <a:lnTo>
                      <a:pt x="92" y="49"/>
                    </a:lnTo>
                    <a:lnTo>
                      <a:pt x="86" y="43"/>
                    </a:lnTo>
                    <a:lnTo>
                      <a:pt x="74" y="24"/>
                    </a:lnTo>
                    <a:lnTo>
                      <a:pt x="74" y="12"/>
                    </a:lnTo>
                    <a:lnTo>
                      <a:pt x="68" y="6"/>
                    </a:lnTo>
                    <a:lnTo>
                      <a:pt x="49" y="0"/>
                    </a:lnTo>
                    <a:lnTo>
                      <a:pt x="37" y="12"/>
                    </a:lnTo>
                    <a:lnTo>
                      <a:pt x="30" y="18"/>
                    </a:lnTo>
                    <a:lnTo>
                      <a:pt x="24" y="24"/>
                    </a:lnTo>
                    <a:lnTo>
                      <a:pt x="24" y="37"/>
                    </a:lnTo>
                    <a:lnTo>
                      <a:pt x="18" y="37"/>
                    </a:lnTo>
                    <a:lnTo>
                      <a:pt x="0" y="43"/>
                    </a:lnTo>
                    <a:lnTo>
                      <a:pt x="6" y="62"/>
                    </a:lnTo>
                    <a:lnTo>
                      <a:pt x="0" y="74"/>
                    </a:lnTo>
                    <a:lnTo>
                      <a:pt x="0" y="80"/>
                    </a:lnTo>
                    <a:lnTo>
                      <a:pt x="12" y="74"/>
                    </a:lnTo>
                    <a:lnTo>
                      <a:pt x="24" y="74"/>
                    </a:lnTo>
                    <a:lnTo>
                      <a:pt x="43" y="80"/>
                    </a:lnTo>
                    <a:lnTo>
                      <a:pt x="49" y="80"/>
                    </a:lnTo>
                    <a:lnTo>
                      <a:pt x="55" y="80"/>
                    </a:lnTo>
                    <a:lnTo>
                      <a:pt x="61" y="80"/>
                    </a:lnTo>
                    <a:lnTo>
                      <a:pt x="74" y="80"/>
                    </a:lnTo>
                    <a:lnTo>
                      <a:pt x="80" y="68"/>
                    </a:lnTo>
                    <a:lnTo>
                      <a:pt x="86" y="68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77" name="Freeform 41">
                <a:extLst>
                  <a:ext uri="{FF2B5EF4-FFF2-40B4-BE49-F238E27FC236}">
                    <a16:creationId xmlns:a16="http://schemas.microsoft.com/office/drawing/2014/main" id="{1D3A9490-8F78-48F1-A482-29626EFD3D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752068" y="1673101"/>
                <a:ext cx="4162962" cy="1386223"/>
              </a:xfrm>
              <a:custGeom>
                <a:avLst/>
                <a:gdLst>
                  <a:gd name="T0" fmla="*/ 869 w 1634"/>
                  <a:gd name="T1" fmla="*/ 105 h 801"/>
                  <a:gd name="T2" fmla="*/ 776 w 1634"/>
                  <a:gd name="T3" fmla="*/ 24 h 801"/>
                  <a:gd name="T4" fmla="*/ 615 w 1634"/>
                  <a:gd name="T5" fmla="*/ 99 h 801"/>
                  <a:gd name="T6" fmla="*/ 528 w 1634"/>
                  <a:gd name="T7" fmla="*/ 204 h 801"/>
                  <a:gd name="T8" fmla="*/ 465 w 1634"/>
                  <a:gd name="T9" fmla="*/ 235 h 801"/>
                  <a:gd name="T10" fmla="*/ 447 w 1634"/>
                  <a:gd name="T11" fmla="*/ 378 h 801"/>
                  <a:gd name="T12" fmla="*/ 459 w 1634"/>
                  <a:gd name="T13" fmla="*/ 192 h 801"/>
                  <a:gd name="T14" fmla="*/ 422 w 1634"/>
                  <a:gd name="T15" fmla="*/ 310 h 801"/>
                  <a:gd name="T16" fmla="*/ 323 w 1634"/>
                  <a:gd name="T17" fmla="*/ 303 h 801"/>
                  <a:gd name="T18" fmla="*/ 192 w 1634"/>
                  <a:gd name="T19" fmla="*/ 359 h 801"/>
                  <a:gd name="T20" fmla="*/ 173 w 1634"/>
                  <a:gd name="T21" fmla="*/ 365 h 801"/>
                  <a:gd name="T22" fmla="*/ 111 w 1634"/>
                  <a:gd name="T23" fmla="*/ 427 h 801"/>
                  <a:gd name="T24" fmla="*/ 111 w 1634"/>
                  <a:gd name="T25" fmla="*/ 378 h 801"/>
                  <a:gd name="T26" fmla="*/ 37 w 1634"/>
                  <a:gd name="T27" fmla="*/ 285 h 801"/>
                  <a:gd name="T28" fmla="*/ 31 w 1634"/>
                  <a:gd name="T29" fmla="*/ 384 h 801"/>
                  <a:gd name="T30" fmla="*/ 6 w 1634"/>
                  <a:gd name="T31" fmla="*/ 496 h 801"/>
                  <a:gd name="T32" fmla="*/ 6 w 1634"/>
                  <a:gd name="T33" fmla="*/ 551 h 801"/>
                  <a:gd name="T34" fmla="*/ 49 w 1634"/>
                  <a:gd name="T35" fmla="*/ 621 h 801"/>
                  <a:gd name="T36" fmla="*/ 74 w 1634"/>
                  <a:gd name="T37" fmla="*/ 652 h 801"/>
                  <a:gd name="T38" fmla="*/ 130 w 1634"/>
                  <a:gd name="T39" fmla="*/ 689 h 801"/>
                  <a:gd name="T40" fmla="*/ 105 w 1634"/>
                  <a:gd name="T41" fmla="*/ 732 h 801"/>
                  <a:gd name="T42" fmla="*/ 161 w 1634"/>
                  <a:gd name="T43" fmla="*/ 776 h 801"/>
                  <a:gd name="T44" fmla="*/ 205 w 1634"/>
                  <a:gd name="T45" fmla="*/ 782 h 801"/>
                  <a:gd name="T46" fmla="*/ 211 w 1634"/>
                  <a:gd name="T47" fmla="*/ 732 h 801"/>
                  <a:gd name="T48" fmla="*/ 217 w 1634"/>
                  <a:gd name="T49" fmla="*/ 683 h 801"/>
                  <a:gd name="T50" fmla="*/ 298 w 1634"/>
                  <a:gd name="T51" fmla="*/ 664 h 801"/>
                  <a:gd name="T52" fmla="*/ 335 w 1634"/>
                  <a:gd name="T53" fmla="*/ 639 h 801"/>
                  <a:gd name="T54" fmla="*/ 434 w 1634"/>
                  <a:gd name="T55" fmla="*/ 596 h 801"/>
                  <a:gd name="T56" fmla="*/ 484 w 1634"/>
                  <a:gd name="T57" fmla="*/ 614 h 801"/>
                  <a:gd name="T58" fmla="*/ 584 w 1634"/>
                  <a:gd name="T59" fmla="*/ 689 h 801"/>
                  <a:gd name="T60" fmla="*/ 652 w 1634"/>
                  <a:gd name="T61" fmla="*/ 676 h 801"/>
                  <a:gd name="T62" fmla="*/ 751 w 1634"/>
                  <a:gd name="T63" fmla="*/ 658 h 801"/>
                  <a:gd name="T64" fmla="*/ 876 w 1634"/>
                  <a:gd name="T65" fmla="*/ 683 h 801"/>
                  <a:gd name="T66" fmla="*/ 931 w 1634"/>
                  <a:gd name="T67" fmla="*/ 645 h 801"/>
                  <a:gd name="T68" fmla="*/ 1037 w 1634"/>
                  <a:gd name="T69" fmla="*/ 701 h 801"/>
                  <a:gd name="T70" fmla="*/ 1043 w 1634"/>
                  <a:gd name="T71" fmla="*/ 757 h 801"/>
                  <a:gd name="T72" fmla="*/ 1136 w 1634"/>
                  <a:gd name="T73" fmla="*/ 707 h 801"/>
                  <a:gd name="T74" fmla="*/ 1105 w 1634"/>
                  <a:gd name="T75" fmla="*/ 627 h 801"/>
                  <a:gd name="T76" fmla="*/ 1161 w 1634"/>
                  <a:gd name="T77" fmla="*/ 527 h 801"/>
                  <a:gd name="T78" fmla="*/ 1248 w 1634"/>
                  <a:gd name="T79" fmla="*/ 527 h 801"/>
                  <a:gd name="T80" fmla="*/ 1329 w 1634"/>
                  <a:gd name="T81" fmla="*/ 483 h 801"/>
                  <a:gd name="T82" fmla="*/ 1354 w 1634"/>
                  <a:gd name="T83" fmla="*/ 502 h 801"/>
                  <a:gd name="T84" fmla="*/ 1335 w 1634"/>
                  <a:gd name="T85" fmla="*/ 633 h 801"/>
                  <a:gd name="T86" fmla="*/ 1366 w 1634"/>
                  <a:gd name="T87" fmla="*/ 583 h 801"/>
                  <a:gd name="T88" fmla="*/ 1366 w 1634"/>
                  <a:gd name="T89" fmla="*/ 533 h 801"/>
                  <a:gd name="T90" fmla="*/ 1435 w 1634"/>
                  <a:gd name="T91" fmla="*/ 514 h 801"/>
                  <a:gd name="T92" fmla="*/ 1509 w 1634"/>
                  <a:gd name="T93" fmla="*/ 409 h 801"/>
                  <a:gd name="T94" fmla="*/ 1565 w 1634"/>
                  <a:gd name="T95" fmla="*/ 390 h 801"/>
                  <a:gd name="T96" fmla="*/ 1621 w 1634"/>
                  <a:gd name="T97" fmla="*/ 359 h 801"/>
                  <a:gd name="T98" fmla="*/ 1416 w 1634"/>
                  <a:gd name="T99" fmla="*/ 297 h 801"/>
                  <a:gd name="T100" fmla="*/ 1341 w 1634"/>
                  <a:gd name="T101" fmla="*/ 285 h 801"/>
                  <a:gd name="T102" fmla="*/ 1242 w 1634"/>
                  <a:gd name="T103" fmla="*/ 235 h 801"/>
                  <a:gd name="T104" fmla="*/ 1099 w 1634"/>
                  <a:gd name="T105" fmla="*/ 229 h 801"/>
                  <a:gd name="T106" fmla="*/ 1031 w 1634"/>
                  <a:gd name="T107" fmla="*/ 192 h 801"/>
                  <a:gd name="T108" fmla="*/ 919 w 1634"/>
                  <a:gd name="T109" fmla="*/ 161 h 801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w 1634"/>
                  <a:gd name="T166" fmla="*/ 0 h 801"/>
                  <a:gd name="T167" fmla="*/ 1634 w 1634"/>
                  <a:gd name="T168" fmla="*/ 801 h 801"/>
                </a:gdLst>
                <a:ahLst/>
                <a:cxnLst>
                  <a:cxn ang="T110">
                    <a:pos x="T0" y="T1"/>
                  </a:cxn>
                  <a:cxn ang="T111">
                    <a:pos x="T2" y="T3"/>
                  </a:cxn>
                  <a:cxn ang="T112">
                    <a:pos x="T4" y="T5"/>
                  </a:cxn>
                  <a:cxn ang="T113">
                    <a:pos x="T6" y="T7"/>
                  </a:cxn>
                  <a:cxn ang="T114">
                    <a:pos x="T8" y="T9"/>
                  </a:cxn>
                  <a:cxn ang="T115">
                    <a:pos x="T10" y="T11"/>
                  </a:cxn>
                  <a:cxn ang="T116">
                    <a:pos x="T12" y="T13"/>
                  </a:cxn>
                  <a:cxn ang="T117">
                    <a:pos x="T14" y="T15"/>
                  </a:cxn>
                  <a:cxn ang="T118">
                    <a:pos x="T16" y="T17"/>
                  </a:cxn>
                  <a:cxn ang="T119">
                    <a:pos x="T18" y="T19"/>
                  </a:cxn>
                  <a:cxn ang="T120">
                    <a:pos x="T20" y="T21"/>
                  </a:cxn>
                  <a:cxn ang="T121">
                    <a:pos x="T22" y="T23"/>
                  </a:cxn>
                  <a:cxn ang="T122">
                    <a:pos x="T24" y="T25"/>
                  </a:cxn>
                  <a:cxn ang="T123">
                    <a:pos x="T26" y="T27"/>
                  </a:cxn>
                  <a:cxn ang="T124">
                    <a:pos x="T28" y="T29"/>
                  </a:cxn>
                  <a:cxn ang="T125">
                    <a:pos x="T30" y="T31"/>
                  </a:cxn>
                  <a:cxn ang="T126">
                    <a:pos x="T32" y="T33"/>
                  </a:cxn>
                  <a:cxn ang="T127">
                    <a:pos x="T34" y="T35"/>
                  </a:cxn>
                  <a:cxn ang="T128">
                    <a:pos x="T36" y="T37"/>
                  </a:cxn>
                  <a:cxn ang="T129">
                    <a:pos x="T38" y="T39"/>
                  </a:cxn>
                  <a:cxn ang="T130">
                    <a:pos x="T40" y="T41"/>
                  </a:cxn>
                  <a:cxn ang="T131">
                    <a:pos x="T42" y="T43"/>
                  </a:cxn>
                  <a:cxn ang="T132">
                    <a:pos x="T44" y="T45"/>
                  </a:cxn>
                  <a:cxn ang="T133">
                    <a:pos x="T46" y="T47"/>
                  </a:cxn>
                  <a:cxn ang="T134">
                    <a:pos x="T48" y="T49"/>
                  </a:cxn>
                  <a:cxn ang="T135">
                    <a:pos x="T50" y="T51"/>
                  </a:cxn>
                  <a:cxn ang="T136">
                    <a:pos x="T52" y="T53"/>
                  </a:cxn>
                  <a:cxn ang="T137">
                    <a:pos x="T54" y="T55"/>
                  </a:cxn>
                  <a:cxn ang="T138">
                    <a:pos x="T56" y="T57"/>
                  </a:cxn>
                  <a:cxn ang="T139">
                    <a:pos x="T58" y="T59"/>
                  </a:cxn>
                  <a:cxn ang="T140">
                    <a:pos x="T60" y="T61"/>
                  </a:cxn>
                  <a:cxn ang="T141">
                    <a:pos x="T62" y="T63"/>
                  </a:cxn>
                  <a:cxn ang="T142">
                    <a:pos x="T64" y="T65"/>
                  </a:cxn>
                  <a:cxn ang="T143">
                    <a:pos x="T66" y="T67"/>
                  </a:cxn>
                  <a:cxn ang="T144">
                    <a:pos x="T68" y="T69"/>
                  </a:cxn>
                  <a:cxn ang="T145">
                    <a:pos x="T70" y="T71"/>
                  </a:cxn>
                  <a:cxn ang="T146">
                    <a:pos x="T72" y="T73"/>
                  </a:cxn>
                  <a:cxn ang="T147">
                    <a:pos x="T74" y="T75"/>
                  </a:cxn>
                  <a:cxn ang="T148">
                    <a:pos x="T76" y="T77"/>
                  </a:cxn>
                  <a:cxn ang="T149">
                    <a:pos x="T78" y="T79"/>
                  </a:cxn>
                  <a:cxn ang="T150">
                    <a:pos x="T80" y="T81"/>
                  </a:cxn>
                  <a:cxn ang="T151">
                    <a:pos x="T82" y="T83"/>
                  </a:cxn>
                  <a:cxn ang="T152">
                    <a:pos x="T84" y="T85"/>
                  </a:cxn>
                  <a:cxn ang="T153">
                    <a:pos x="T86" y="T87"/>
                  </a:cxn>
                  <a:cxn ang="T154">
                    <a:pos x="T88" y="T89"/>
                  </a:cxn>
                  <a:cxn ang="T155">
                    <a:pos x="T90" y="T91"/>
                  </a:cxn>
                  <a:cxn ang="T156">
                    <a:pos x="T92" y="T93"/>
                  </a:cxn>
                  <a:cxn ang="T157">
                    <a:pos x="T94" y="T95"/>
                  </a:cxn>
                  <a:cxn ang="T158">
                    <a:pos x="T96" y="T97"/>
                  </a:cxn>
                  <a:cxn ang="T159">
                    <a:pos x="T98" y="T99"/>
                  </a:cxn>
                  <a:cxn ang="T160">
                    <a:pos x="T100" y="T101"/>
                  </a:cxn>
                  <a:cxn ang="T161">
                    <a:pos x="T102" y="T103"/>
                  </a:cxn>
                  <a:cxn ang="T162">
                    <a:pos x="T104" y="T105"/>
                  </a:cxn>
                  <a:cxn ang="T163">
                    <a:pos x="T106" y="T107"/>
                  </a:cxn>
                  <a:cxn ang="T164">
                    <a:pos x="T108" y="T109"/>
                  </a:cxn>
                </a:cxnLst>
                <a:rect l="T165" t="T166" r="T167" b="T168"/>
                <a:pathLst>
                  <a:path w="1634" h="801">
                    <a:moveTo>
                      <a:pt x="832" y="148"/>
                    </a:moveTo>
                    <a:lnTo>
                      <a:pt x="826" y="155"/>
                    </a:lnTo>
                    <a:lnTo>
                      <a:pt x="832" y="167"/>
                    </a:lnTo>
                    <a:lnTo>
                      <a:pt x="807" y="179"/>
                    </a:lnTo>
                    <a:lnTo>
                      <a:pt x="795" y="179"/>
                    </a:lnTo>
                    <a:lnTo>
                      <a:pt x="801" y="161"/>
                    </a:lnTo>
                    <a:lnTo>
                      <a:pt x="869" y="105"/>
                    </a:lnTo>
                    <a:lnTo>
                      <a:pt x="869" y="68"/>
                    </a:lnTo>
                    <a:lnTo>
                      <a:pt x="844" y="43"/>
                    </a:lnTo>
                    <a:lnTo>
                      <a:pt x="813" y="43"/>
                    </a:lnTo>
                    <a:lnTo>
                      <a:pt x="813" y="55"/>
                    </a:lnTo>
                    <a:lnTo>
                      <a:pt x="795" y="55"/>
                    </a:lnTo>
                    <a:lnTo>
                      <a:pt x="807" y="31"/>
                    </a:lnTo>
                    <a:lnTo>
                      <a:pt x="776" y="24"/>
                    </a:lnTo>
                    <a:lnTo>
                      <a:pt x="795" y="12"/>
                    </a:lnTo>
                    <a:lnTo>
                      <a:pt x="770" y="0"/>
                    </a:lnTo>
                    <a:lnTo>
                      <a:pt x="739" y="31"/>
                    </a:lnTo>
                    <a:lnTo>
                      <a:pt x="739" y="55"/>
                    </a:lnTo>
                    <a:lnTo>
                      <a:pt x="720" y="55"/>
                    </a:lnTo>
                    <a:lnTo>
                      <a:pt x="664" y="68"/>
                    </a:lnTo>
                    <a:lnTo>
                      <a:pt x="615" y="99"/>
                    </a:lnTo>
                    <a:lnTo>
                      <a:pt x="596" y="124"/>
                    </a:lnTo>
                    <a:lnTo>
                      <a:pt x="602" y="155"/>
                    </a:lnTo>
                    <a:lnTo>
                      <a:pt x="534" y="167"/>
                    </a:lnTo>
                    <a:lnTo>
                      <a:pt x="540" y="204"/>
                    </a:lnTo>
                    <a:lnTo>
                      <a:pt x="559" y="223"/>
                    </a:lnTo>
                    <a:lnTo>
                      <a:pt x="546" y="229"/>
                    </a:lnTo>
                    <a:lnTo>
                      <a:pt x="528" y="204"/>
                    </a:lnTo>
                    <a:lnTo>
                      <a:pt x="509" y="198"/>
                    </a:lnTo>
                    <a:lnTo>
                      <a:pt x="503" y="204"/>
                    </a:lnTo>
                    <a:lnTo>
                      <a:pt x="484" y="192"/>
                    </a:lnTo>
                    <a:lnTo>
                      <a:pt x="478" y="179"/>
                    </a:lnTo>
                    <a:lnTo>
                      <a:pt x="472" y="186"/>
                    </a:lnTo>
                    <a:lnTo>
                      <a:pt x="484" y="204"/>
                    </a:lnTo>
                    <a:lnTo>
                      <a:pt x="465" y="235"/>
                    </a:lnTo>
                    <a:lnTo>
                      <a:pt x="472" y="260"/>
                    </a:lnTo>
                    <a:lnTo>
                      <a:pt x="465" y="285"/>
                    </a:lnTo>
                    <a:lnTo>
                      <a:pt x="472" y="303"/>
                    </a:lnTo>
                    <a:lnTo>
                      <a:pt x="484" y="303"/>
                    </a:lnTo>
                    <a:lnTo>
                      <a:pt x="478" y="310"/>
                    </a:lnTo>
                    <a:lnTo>
                      <a:pt x="478" y="341"/>
                    </a:lnTo>
                    <a:lnTo>
                      <a:pt x="447" y="378"/>
                    </a:lnTo>
                    <a:lnTo>
                      <a:pt x="434" y="365"/>
                    </a:lnTo>
                    <a:lnTo>
                      <a:pt x="465" y="334"/>
                    </a:lnTo>
                    <a:lnTo>
                      <a:pt x="465" y="316"/>
                    </a:lnTo>
                    <a:lnTo>
                      <a:pt x="459" y="303"/>
                    </a:lnTo>
                    <a:lnTo>
                      <a:pt x="459" y="241"/>
                    </a:lnTo>
                    <a:lnTo>
                      <a:pt x="447" y="229"/>
                    </a:lnTo>
                    <a:lnTo>
                      <a:pt x="459" y="192"/>
                    </a:lnTo>
                    <a:lnTo>
                      <a:pt x="447" y="186"/>
                    </a:lnTo>
                    <a:lnTo>
                      <a:pt x="447" y="179"/>
                    </a:lnTo>
                    <a:lnTo>
                      <a:pt x="441" y="167"/>
                    </a:lnTo>
                    <a:lnTo>
                      <a:pt x="428" y="173"/>
                    </a:lnTo>
                    <a:lnTo>
                      <a:pt x="397" y="254"/>
                    </a:lnTo>
                    <a:lnTo>
                      <a:pt x="397" y="285"/>
                    </a:lnTo>
                    <a:lnTo>
                      <a:pt x="422" y="310"/>
                    </a:lnTo>
                    <a:lnTo>
                      <a:pt x="416" y="322"/>
                    </a:lnTo>
                    <a:lnTo>
                      <a:pt x="403" y="310"/>
                    </a:lnTo>
                    <a:lnTo>
                      <a:pt x="323" y="260"/>
                    </a:lnTo>
                    <a:lnTo>
                      <a:pt x="316" y="272"/>
                    </a:lnTo>
                    <a:lnTo>
                      <a:pt x="341" y="303"/>
                    </a:lnTo>
                    <a:lnTo>
                      <a:pt x="329" y="310"/>
                    </a:lnTo>
                    <a:lnTo>
                      <a:pt x="323" y="303"/>
                    </a:lnTo>
                    <a:lnTo>
                      <a:pt x="279" y="316"/>
                    </a:lnTo>
                    <a:lnTo>
                      <a:pt x="279" y="328"/>
                    </a:lnTo>
                    <a:lnTo>
                      <a:pt x="267" y="316"/>
                    </a:lnTo>
                    <a:lnTo>
                      <a:pt x="267" y="303"/>
                    </a:lnTo>
                    <a:lnTo>
                      <a:pt x="211" y="341"/>
                    </a:lnTo>
                    <a:lnTo>
                      <a:pt x="211" y="353"/>
                    </a:lnTo>
                    <a:lnTo>
                      <a:pt x="192" y="359"/>
                    </a:lnTo>
                    <a:lnTo>
                      <a:pt x="180" y="347"/>
                    </a:lnTo>
                    <a:lnTo>
                      <a:pt x="198" y="334"/>
                    </a:lnTo>
                    <a:lnTo>
                      <a:pt x="186" y="316"/>
                    </a:lnTo>
                    <a:lnTo>
                      <a:pt x="161" y="310"/>
                    </a:lnTo>
                    <a:lnTo>
                      <a:pt x="173" y="322"/>
                    </a:lnTo>
                    <a:lnTo>
                      <a:pt x="167" y="353"/>
                    </a:lnTo>
                    <a:lnTo>
                      <a:pt x="173" y="365"/>
                    </a:lnTo>
                    <a:lnTo>
                      <a:pt x="167" y="378"/>
                    </a:lnTo>
                    <a:lnTo>
                      <a:pt x="149" y="372"/>
                    </a:lnTo>
                    <a:lnTo>
                      <a:pt x="124" y="390"/>
                    </a:lnTo>
                    <a:lnTo>
                      <a:pt x="136" y="415"/>
                    </a:lnTo>
                    <a:lnTo>
                      <a:pt x="99" y="403"/>
                    </a:lnTo>
                    <a:lnTo>
                      <a:pt x="93" y="409"/>
                    </a:lnTo>
                    <a:lnTo>
                      <a:pt x="111" y="427"/>
                    </a:lnTo>
                    <a:lnTo>
                      <a:pt x="99" y="427"/>
                    </a:lnTo>
                    <a:lnTo>
                      <a:pt x="74" y="415"/>
                    </a:lnTo>
                    <a:lnTo>
                      <a:pt x="74" y="378"/>
                    </a:lnTo>
                    <a:lnTo>
                      <a:pt x="55" y="365"/>
                    </a:lnTo>
                    <a:lnTo>
                      <a:pt x="49" y="353"/>
                    </a:lnTo>
                    <a:lnTo>
                      <a:pt x="62" y="359"/>
                    </a:lnTo>
                    <a:lnTo>
                      <a:pt x="111" y="378"/>
                    </a:lnTo>
                    <a:lnTo>
                      <a:pt x="142" y="359"/>
                    </a:lnTo>
                    <a:lnTo>
                      <a:pt x="136" y="341"/>
                    </a:lnTo>
                    <a:lnTo>
                      <a:pt x="99" y="303"/>
                    </a:lnTo>
                    <a:lnTo>
                      <a:pt x="62" y="291"/>
                    </a:lnTo>
                    <a:lnTo>
                      <a:pt x="62" y="285"/>
                    </a:lnTo>
                    <a:lnTo>
                      <a:pt x="49" y="279"/>
                    </a:lnTo>
                    <a:lnTo>
                      <a:pt x="37" y="285"/>
                    </a:lnTo>
                    <a:lnTo>
                      <a:pt x="37" y="291"/>
                    </a:lnTo>
                    <a:lnTo>
                      <a:pt x="31" y="291"/>
                    </a:lnTo>
                    <a:lnTo>
                      <a:pt x="18" y="303"/>
                    </a:lnTo>
                    <a:lnTo>
                      <a:pt x="18" y="322"/>
                    </a:lnTo>
                    <a:lnTo>
                      <a:pt x="31" y="334"/>
                    </a:lnTo>
                    <a:lnTo>
                      <a:pt x="24" y="353"/>
                    </a:lnTo>
                    <a:lnTo>
                      <a:pt x="31" y="384"/>
                    </a:lnTo>
                    <a:lnTo>
                      <a:pt x="24" y="403"/>
                    </a:lnTo>
                    <a:lnTo>
                      <a:pt x="37" y="421"/>
                    </a:lnTo>
                    <a:lnTo>
                      <a:pt x="31" y="434"/>
                    </a:lnTo>
                    <a:lnTo>
                      <a:pt x="43" y="446"/>
                    </a:lnTo>
                    <a:lnTo>
                      <a:pt x="43" y="452"/>
                    </a:lnTo>
                    <a:lnTo>
                      <a:pt x="24" y="483"/>
                    </a:lnTo>
                    <a:lnTo>
                      <a:pt x="6" y="496"/>
                    </a:lnTo>
                    <a:lnTo>
                      <a:pt x="12" y="496"/>
                    </a:lnTo>
                    <a:lnTo>
                      <a:pt x="18" y="508"/>
                    </a:lnTo>
                    <a:lnTo>
                      <a:pt x="6" y="520"/>
                    </a:lnTo>
                    <a:lnTo>
                      <a:pt x="6" y="527"/>
                    </a:lnTo>
                    <a:lnTo>
                      <a:pt x="0" y="533"/>
                    </a:lnTo>
                    <a:lnTo>
                      <a:pt x="6" y="545"/>
                    </a:lnTo>
                    <a:lnTo>
                      <a:pt x="6" y="551"/>
                    </a:lnTo>
                    <a:lnTo>
                      <a:pt x="6" y="558"/>
                    </a:lnTo>
                    <a:lnTo>
                      <a:pt x="6" y="565"/>
                    </a:lnTo>
                    <a:lnTo>
                      <a:pt x="12" y="577"/>
                    </a:lnTo>
                    <a:lnTo>
                      <a:pt x="31" y="583"/>
                    </a:lnTo>
                    <a:lnTo>
                      <a:pt x="37" y="590"/>
                    </a:lnTo>
                    <a:lnTo>
                      <a:pt x="37" y="602"/>
                    </a:lnTo>
                    <a:lnTo>
                      <a:pt x="49" y="621"/>
                    </a:lnTo>
                    <a:lnTo>
                      <a:pt x="55" y="627"/>
                    </a:lnTo>
                    <a:lnTo>
                      <a:pt x="49" y="633"/>
                    </a:lnTo>
                    <a:lnTo>
                      <a:pt x="43" y="627"/>
                    </a:lnTo>
                    <a:lnTo>
                      <a:pt x="43" y="633"/>
                    </a:lnTo>
                    <a:lnTo>
                      <a:pt x="49" y="645"/>
                    </a:lnTo>
                    <a:lnTo>
                      <a:pt x="68" y="645"/>
                    </a:lnTo>
                    <a:lnTo>
                      <a:pt x="74" y="652"/>
                    </a:lnTo>
                    <a:lnTo>
                      <a:pt x="68" y="652"/>
                    </a:lnTo>
                    <a:lnTo>
                      <a:pt x="74" y="658"/>
                    </a:lnTo>
                    <a:lnTo>
                      <a:pt x="80" y="664"/>
                    </a:lnTo>
                    <a:lnTo>
                      <a:pt x="86" y="670"/>
                    </a:lnTo>
                    <a:lnTo>
                      <a:pt x="99" y="676"/>
                    </a:lnTo>
                    <a:lnTo>
                      <a:pt x="105" y="670"/>
                    </a:lnTo>
                    <a:lnTo>
                      <a:pt x="130" y="689"/>
                    </a:lnTo>
                    <a:lnTo>
                      <a:pt x="130" y="714"/>
                    </a:lnTo>
                    <a:lnTo>
                      <a:pt x="118" y="714"/>
                    </a:lnTo>
                    <a:lnTo>
                      <a:pt x="111" y="714"/>
                    </a:lnTo>
                    <a:lnTo>
                      <a:pt x="111" y="726"/>
                    </a:lnTo>
                    <a:lnTo>
                      <a:pt x="118" y="726"/>
                    </a:lnTo>
                    <a:lnTo>
                      <a:pt x="124" y="726"/>
                    </a:lnTo>
                    <a:lnTo>
                      <a:pt x="105" y="732"/>
                    </a:lnTo>
                    <a:lnTo>
                      <a:pt x="111" y="738"/>
                    </a:lnTo>
                    <a:lnTo>
                      <a:pt x="105" y="751"/>
                    </a:lnTo>
                    <a:lnTo>
                      <a:pt x="93" y="751"/>
                    </a:lnTo>
                    <a:lnTo>
                      <a:pt x="93" y="757"/>
                    </a:lnTo>
                    <a:lnTo>
                      <a:pt x="99" y="757"/>
                    </a:lnTo>
                    <a:lnTo>
                      <a:pt x="124" y="776"/>
                    </a:lnTo>
                    <a:lnTo>
                      <a:pt x="161" y="776"/>
                    </a:lnTo>
                    <a:lnTo>
                      <a:pt x="167" y="782"/>
                    </a:lnTo>
                    <a:lnTo>
                      <a:pt x="180" y="782"/>
                    </a:lnTo>
                    <a:lnTo>
                      <a:pt x="192" y="794"/>
                    </a:lnTo>
                    <a:lnTo>
                      <a:pt x="205" y="800"/>
                    </a:lnTo>
                    <a:lnTo>
                      <a:pt x="211" y="800"/>
                    </a:lnTo>
                    <a:lnTo>
                      <a:pt x="211" y="794"/>
                    </a:lnTo>
                    <a:lnTo>
                      <a:pt x="205" y="782"/>
                    </a:lnTo>
                    <a:lnTo>
                      <a:pt x="205" y="769"/>
                    </a:lnTo>
                    <a:lnTo>
                      <a:pt x="198" y="757"/>
                    </a:lnTo>
                    <a:lnTo>
                      <a:pt x="205" y="738"/>
                    </a:lnTo>
                    <a:lnTo>
                      <a:pt x="211" y="745"/>
                    </a:lnTo>
                    <a:lnTo>
                      <a:pt x="223" y="738"/>
                    </a:lnTo>
                    <a:lnTo>
                      <a:pt x="217" y="732"/>
                    </a:lnTo>
                    <a:lnTo>
                      <a:pt x="211" y="732"/>
                    </a:lnTo>
                    <a:lnTo>
                      <a:pt x="217" y="726"/>
                    </a:lnTo>
                    <a:lnTo>
                      <a:pt x="211" y="714"/>
                    </a:lnTo>
                    <a:lnTo>
                      <a:pt x="205" y="714"/>
                    </a:lnTo>
                    <a:lnTo>
                      <a:pt x="192" y="701"/>
                    </a:lnTo>
                    <a:lnTo>
                      <a:pt x="205" y="670"/>
                    </a:lnTo>
                    <a:lnTo>
                      <a:pt x="211" y="683"/>
                    </a:lnTo>
                    <a:lnTo>
                      <a:pt x="217" y="683"/>
                    </a:lnTo>
                    <a:lnTo>
                      <a:pt x="217" y="670"/>
                    </a:lnTo>
                    <a:lnTo>
                      <a:pt x="236" y="658"/>
                    </a:lnTo>
                    <a:lnTo>
                      <a:pt x="248" y="658"/>
                    </a:lnTo>
                    <a:lnTo>
                      <a:pt x="254" y="652"/>
                    </a:lnTo>
                    <a:lnTo>
                      <a:pt x="267" y="658"/>
                    </a:lnTo>
                    <a:lnTo>
                      <a:pt x="285" y="670"/>
                    </a:lnTo>
                    <a:lnTo>
                      <a:pt x="298" y="664"/>
                    </a:lnTo>
                    <a:lnTo>
                      <a:pt x="310" y="664"/>
                    </a:lnTo>
                    <a:lnTo>
                      <a:pt x="316" y="670"/>
                    </a:lnTo>
                    <a:lnTo>
                      <a:pt x="341" y="670"/>
                    </a:lnTo>
                    <a:lnTo>
                      <a:pt x="347" y="658"/>
                    </a:lnTo>
                    <a:lnTo>
                      <a:pt x="329" y="652"/>
                    </a:lnTo>
                    <a:lnTo>
                      <a:pt x="341" y="645"/>
                    </a:lnTo>
                    <a:lnTo>
                      <a:pt x="335" y="639"/>
                    </a:lnTo>
                    <a:lnTo>
                      <a:pt x="341" y="633"/>
                    </a:lnTo>
                    <a:lnTo>
                      <a:pt x="341" y="621"/>
                    </a:lnTo>
                    <a:lnTo>
                      <a:pt x="354" y="621"/>
                    </a:lnTo>
                    <a:lnTo>
                      <a:pt x="410" y="602"/>
                    </a:lnTo>
                    <a:lnTo>
                      <a:pt x="416" y="596"/>
                    </a:lnTo>
                    <a:lnTo>
                      <a:pt x="422" y="596"/>
                    </a:lnTo>
                    <a:lnTo>
                      <a:pt x="434" y="596"/>
                    </a:lnTo>
                    <a:lnTo>
                      <a:pt x="441" y="608"/>
                    </a:lnTo>
                    <a:lnTo>
                      <a:pt x="441" y="614"/>
                    </a:lnTo>
                    <a:lnTo>
                      <a:pt x="453" y="614"/>
                    </a:lnTo>
                    <a:lnTo>
                      <a:pt x="465" y="621"/>
                    </a:lnTo>
                    <a:lnTo>
                      <a:pt x="465" y="627"/>
                    </a:lnTo>
                    <a:lnTo>
                      <a:pt x="478" y="627"/>
                    </a:lnTo>
                    <a:lnTo>
                      <a:pt x="484" y="614"/>
                    </a:lnTo>
                    <a:lnTo>
                      <a:pt x="497" y="608"/>
                    </a:lnTo>
                    <a:lnTo>
                      <a:pt x="509" y="627"/>
                    </a:lnTo>
                    <a:lnTo>
                      <a:pt x="534" y="670"/>
                    </a:lnTo>
                    <a:lnTo>
                      <a:pt x="540" y="664"/>
                    </a:lnTo>
                    <a:lnTo>
                      <a:pt x="546" y="670"/>
                    </a:lnTo>
                    <a:lnTo>
                      <a:pt x="565" y="664"/>
                    </a:lnTo>
                    <a:lnTo>
                      <a:pt x="584" y="689"/>
                    </a:lnTo>
                    <a:lnTo>
                      <a:pt x="596" y="689"/>
                    </a:lnTo>
                    <a:lnTo>
                      <a:pt x="596" y="683"/>
                    </a:lnTo>
                    <a:lnTo>
                      <a:pt x="602" y="695"/>
                    </a:lnTo>
                    <a:lnTo>
                      <a:pt x="596" y="701"/>
                    </a:lnTo>
                    <a:lnTo>
                      <a:pt x="608" y="695"/>
                    </a:lnTo>
                    <a:lnTo>
                      <a:pt x="615" y="689"/>
                    </a:lnTo>
                    <a:lnTo>
                      <a:pt x="652" y="676"/>
                    </a:lnTo>
                    <a:lnTo>
                      <a:pt x="670" y="676"/>
                    </a:lnTo>
                    <a:lnTo>
                      <a:pt x="683" y="683"/>
                    </a:lnTo>
                    <a:lnTo>
                      <a:pt x="708" y="683"/>
                    </a:lnTo>
                    <a:lnTo>
                      <a:pt x="714" y="670"/>
                    </a:lnTo>
                    <a:lnTo>
                      <a:pt x="708" y="658"/>
                    </a:lnTo>
                    <a:lnTo>
                      <a:pt x="726" y="652"/>
                    </a:lnTo>
                    <a:lnTo>
                      <a:pt x="751" y="658"/>
                    </a:lnTo>
                    <a:lnTo>
                      <a:pt x="764" y="676"/>
                    </a:lnTo>
                    <a:lnTo>
                      <a:pt x="770" y="676"/>
                    </a:lnTo>
                    <a:lnTo>
                      <a:pt x="782" y="670"/>
                    </a:lnTo>
                    <a:lnTo>
                      <a:pt x="820" y="689"/>
                    </a:lnTo>
                    <a:lnTo>
                      <a:pt x="838" y="695"/>
                    </a:lnTo>
                    <a:lnTo>
                      <a:pt x="863" y="689"/>
                    </a:lnTo>
                    <a:lnTo>
                      <a:pt x="876" y="683"/>
                    </a:lnTo>
                    <a:lnTo>
                      <a:pt x="894" y="683"/>
                    </a:lnTo>
                    <a:lnTo>
                      <a:pt x="913" y="689"/>
                    </a:lnTo>
                    <a:lnTo>
                      <a:pt x="925" y="683"/>
                    </a:lnTo>
                    <a:lnTo>
                      <a:pt x="931" y="658"/>
                    </a:lnTo>
                    <a:lnTo>
                      <a:pt x="938" y="652"/>
                    </a:lnTo>
                    <a:lnTo>
                      <a:pt x="938" y="645"/>
                    </a:lnTo>
                    <a:lnTo>
                      <a:pt x="931" y="645"/>
                    </a:lnTo>
                    <a:lnTo>
                      <a:pt x="944" y="633"/>
                    </a:lnTo>
                    <a:lnTo>
                      <a:pt x="969" y="627"/>
                    </a:lnTo>
                    <a:lnTo>
                      <a:pt x="987" y="633"/>
                    </a:lnTo>
                    <a:lnTo>
                      <a:pt x="994" y="645"/>
                    </a:lnTo>
                    <a:lnTo>
                      <a:pt x="1006" y="689"/>
                    </a:lnTo>
                    <a:lnTo>
                      <a:pt x="1025" y="689"/>
                    </a:lnTo>
                    <a:lnTo>
                      <a:pt x="1037" y="701"/>
                    </a:lnTo>
                    <a:lnTo>
                      <a:pt x="1043" y="720"/>
                    </a:lnTo>
                    <a:lnTo>
                      <a:pt x="1056" y="720"/>
                    </a:lnTo>
                    <a:lnTo>
                      <a:pt x="1081" y="707"/>
                    </a:lnTo>
                    <a:lnTo>
                      <a:pt x="1081" y="720"/>
                    </a:lnTo>
                    <a:lnTo>
                      <a:pt x="1062" y="757"/>
                    </a:lnTo>
                    <a:lnTo>
                      <a:pt x="1049" y="751"/>
                    </a:lnTo>
                    <a:lnTo>
                      <a:pt x="1043" y="757"/>
                    </a:lnTo>
                    <a:lnTo>
                      <a:pt x="1043" y="776"/>
                    </a:lnTo>
                    <a:lnTo>
                      <a:pt x="1037" y="788"/>
                    </a:lnTo>
                    <a:lnTo>
                      <a:pt x="1049" y="782"/>
                    </a:lnTo>
                    <a:lnTo>
                      <a:pt x="1056" y="782"/>
                    </a:lnTo>
                    <a:lnTo>
                      <a:pt x="1062" y="788"/>
                    </a:lnTo>
                    <a:lnTo>
                      <a:pt x="1081" y="776"/>
                    </a:lnTo>
                    <a:lnTo>
                      <a:pt x="1136" y="707"/>
                    </a:lnTo>
                    <a:lnTo>
                      <a:pt x="1136" y="670"/>
                    </a:lnTo>
                    <a:lnTo>
                      <a:pt x="1149" y="652"/>
                    </a:lnTo>
                    <a:lnTo>
                      <a:pt x="1149" y="633"/>
                    </a:lnTo>
                    <a:lnTo>
                      <a:pt x="1130" y="614"/>
                    </a:lnTo>
                    <a:lnTo>
                      <a:pt x="1124" y="614"/>
                    </a:lnTo>
                    <a:lnTo>
                      <a:pt x="1118" y="627"/>
                    </a:lnTo>
                    <a:lnTo>
                      <a:pt x="1105" y="627"/>
                    </a:lnTo>
                    <a:lnTo>
                      <a:pt x="1112" y="614"/>
                    </a:lnTo>
                    <a:lnTo>
                      <a:pt x="1105" y="614"/>
                    </a:lnTo>
                    <a:lnTo>
                      <a:pt x="1099" y="608"/>
                    </a:lnTo>
                    <a:lnTo>
                      <a:pt x="1087" y="608"/>
                    </a:lnTo>
                    <a:lnTo>
                      <a:pt x="1087" y="602"/>
                    </a:lnTo>
                    <a:lnTo>
                      <a:pt x="1105" y="590"/>
                    </a:lnTo>
                    <a:lnTo>
                      <a:pt x="1161" y="527"/>
                    </a:lnTo>
                    <a:lnTo>
                      <a:pt x="1186" y="527"/>
                    </a:lnTo>
                    <a:lnTo>
                      <a:pt x="1192" y="527"/>
                    </a:lnTo>
                    <a:lnTo>
                      <a:pt x="1199" y="520"/>
                    </a:lnTo>
                    <a:lnTo>
                      <a:pt x="1223" y="527"/>
                    </a:lnTo>
                    <a:lnTo>
                      <a:pt x="1230" y="514"/>
                    </a:lnTo>
                    <a:lnTo>
                      <a:pt x="1248" y="520"/>
                    </a:lnTo>
                    <a:lnTo>
                      <a:pt x="1248" y="527"/>
                    </a:lnTo>
                    <a:lnTo>
                      <a:pt x="1242" y="527"/>
                    </a:lnTo>
                    <a:lnTo>
                      <a:pt x="1248" y="533"/>
                    </a:lnTo>
                    <a:lnTo>
                      <a:pt x="1286" y="527"/>
                    </a:lnTo>
                    <a:lnTo>
                      <a:pt x="1273" y="520"/>
                    </a:lnTo>
                    <a:lnTo>
                      <a:pt x="1304" y="477"/>
                    </a:lnTo>
                    <a:lnTo>
                      <a:pt x="1335" y="471"/>
                    </a:lnTo>
                    <a:lnTo>
                      <a:pt x="1329" y="483"/>
                    </a:lnTo>
                    <a:lnTo>
                      <a:pt x="1335" y="496"/>
                    </a:lnTo>
                    <a:lnTo>
                      <a:pt x="1366" y="477"/>
                    </a:lnTo>
                    <a:lnTo>
                      <a:pt x="1366" y="458"/>
                    </a:lnTo>
                    <a:lnTo>
                      <a:pt x="1379" y="458"/>
                    </a:lnTo>
                    <a:lnTo>
                      <a:pt x="1373" y="465"/>
                    </a:lnTo>
                    <a:lnTo>
                      <a:pt x="1366" y="496"/>
                    </a:lnTo>
                    <a:lnTo>
                      <a:pt x="1354" y="502"/>
                    </a:lnTo>
                    <a:lnTo>
                      <a:pt x="1317" y="551"/>
                    </a:lnTo>
                    <a:lnTo>
                      <a:pt x="1304" y="551"/>
                    </a:lnTo>
                    <a:lnTo>
                      <a:pt x="1286" y="596"/>
                    </a:lnTo>
                    <a:lnTo>
                      <a:pt x="1298" y="670"/>
                    </a:lnTo>
                    <a:lnTo>
                      <a:pt x="1310" y="658"/>
                    </a:lnTo>
                    <a:lnTo>
                      <a:pt x="1323" y="633"/>
                    </a:lnTo>
                    <a:lnTo>
                      <a:pt x="1335" y="633"/>
                    </a:lnTo>
                    <a:lnTo>
                      <a:pt x="1335" y="621"/>
                    </a:lnTo>
                    <a:lnTo>
                      <a:pt x="1335" y="614"/>
                    </a:lnTo>
                    <a:lnTo>
                      <a:pt x="1348" y="608"/>
                    </a:lnTo>
                    <a:lnTo>
                      <a:pt x="1354" y="608"/>
                    </a:lnTo>
                    <a:lnTo>
                      <a:pt x="1348" y="590"/>
                    </a:lnTo>
                    <a:lnTo>
                      <a:pt x="1360" y="583"/>
                    </a:lnTo>
                    <a:lnTo>
                      <a:pt x="1366" y="583"/>
                    </a:lnTo>
                    <a:lnTo>
                      <a:pt x="1366" y="571"/>
                    </a:lnTo>
                    <a:lnTo>
                      <a:pt x="1360" y="571"/>
                    </a:lnTo>
                    <a:lnTo>
                      <a:pt x="1366" y="558"/>
                    </a:lnTo>
                    <a:lnTo>
                      <a:pt x="1360" y="551"/>
                    </a:lnTo>
                    <a:lnTo>
                      <a:pt x="1354" y="551"/>
                    </a:lnTo>
                    <a:lnTo>
                      <a:pt x="1354" y="545"/>
                    </a:lnTo>
                    <a:lnTo>
                      <a:pt x="1366" y="533"/>
                    </a:lnTo>
                    <a:lnTo>
                      <a:pt x="1366" y="514"/>
                    </a:lnTo>
                    <a:lnTo>
                      <a:pt x="1379" y="514"/>
                    </a:lnTo>
                    <a:lnTo>
                      <a:pt x="1397" y="502"/>
                    </a:lnTo>
                    <a:lnTo>
                      <a:pt x="1397" y="514"/>
                    </a:lnTo>
                    <a:lnTo>
                      <a:pt x="1404" y="508"/>
                    </a:lnTo>
                    <a:lnTo>
                      <a:pt x="1428" y="502"/>
                    </a:lnTo>
                    <a:lnTo>
                      <a:pt x="1435" y="514"/>
                    </a:lnTo>
                    <a:lnTo>
                      <a:pt x="1441" y="502"/>
                    </a:lnTo>
                    <a:lnTo>
                      <a:pt x="1503" y="458"/>
                    </a:lnTo>
                    <a:lnTo>
                      <a:pt x="1528" y="465"/>
                    </a:lnTo>
                    <a:lnTo>
                      <a:pt x="1534" y="458"/>
                    </a:lnTo>
                    <a:lnTo>
                      <a:pt x="1515" y="421"/>
                    </a:lnTo>
                    <a:lnTo>
                      <a:pt x="1509" y="421"/>
                    </a:lnTo>
                    <a:lnTo>
                      <a:pt x="1509" y="409"/>
                    </a:lnTo>
                    <a:lnTo>
                      <a:pt x="1522" y="409"/>
                    </a:lnTo>
                    <a:lnTo>
                      <a:pt x="1534" y="403"/>
                    </a:lnTo>
                    <a:lnTo>
                      <a:pt x="1540" y="390"/>
                    </a:lnTo>
                    <a:lnTo>
                      <a:pt x="1534" y="378"/>
                    </a:lnTo>
                    <a:lnTo>
                      <a:pt x="1546" y="372"/>
                    </a:lnTo>
                    <a:lnTo>
                      <a:pt x="1546" y="390"/>
                    </a:lnTo>
                    <a:lnTo>
                      <a:pt x="1565" y="390"/>
                    </a:lnTo>
                    <a:lnTo>
                      <a:pt x="1578" y="403"/>
                    </a:lnTo>
                    <a:lnTo>
                      <a:pt x="1602" y="421"/>
                    </a:lnTo>
                    <a:lnTo>
                      <a:pt x="1615" y="403"/>
                    </a:lnTo>
                    <a:lnTo>
                      <a:pt x="1615" y="390"/>
                    </a:lnTo>
                    <a:lnTo>
                      <a:pt x="1621" y="390"/>
                    </a:lnTo>
                    <a:lnTo>
                      <a:pt x="1633" y="378"/>
                    </a:lnTo>
                    <a:lnTo>
                      <a:pt x="1621" y="359"/>
                    </a:lnTo>
                    <a:lnTo>
                      <a:pt x="1590" y="353"/>
                    </a:lnTo>
                    <a:lnTo>
                      <a:pt x="1534" y="303"/>
                    </a:lnTo>
                    <a:lnTo>
                      <a:pt x="1497" y="279"/>
                    </a:lnTo>
                    <a:lnTo>
                      <a:pt x="1441" y="272"/>
                    </a:lnTo>
                    <a:lnTo>
                      <a:pt x="1447" y="303"/>
                    </a:lnTo>
                    <a:lnTo>
                      <a:pt x="1428" y="310"/>
                    </a:lnTo>
                    <a:lnTo>
                      <a:pt x="1416" y="297"/>
                    </a:lnTo>
                    <a:lnTo>
                      <a:pt x="1416" y="285"/>
                    </a:lnTo>
                    <a:lnTo>
                      <a:pt x="1428" y="285"/>
                    </a:lnTo>
                    <a:lnTo>
                      <a:pt x="1428" y="279"/>
                    </a:lnTo>
                    <a:lnTo>
                      <a:pt x="1416" y="279"/>
                    </a:lnTo>
                    <a:lnTo>
                      <a:pt x="1404" y="291"/>
                    </a:lnTo>
                    <a:lnTo>
                      <a:pt x="1373" y="285"/>
                    </a:lnTo>
                    <a:lnTo>
                      <a:pt x="1341" y="285"/>
                    </a:lnTo>
                    <a:lnTo>
                      <a:pt x="1329" y="279"/>
                    </a:lnTo>
                    <a:lnTo>
                      <a:pt x="1335" y="266"/>
                    </a:lnTo>
                    <a:lnTo>
                      <a:pt x="1323" y="248"/>
                    </a:lnTo>
                    <a:lnTo>
                      <a:pt x="1292" y="241"/>
                    </a:lnTo>
                    <a:lnTo>
                      <a:pt x="1261" y="254"/>
                    </a:lnTo>
                    <a:lnTo>
                      <a:pt x="1248" y="235"/>
                    </a:lnTo>
                    <a:lnTo>
                      <a:pt x="1242" y="235"/>
                    </a:lnTo>
                    <a:lnTo>
                      <a:pt x="1236" y="229"/>
                    </a:lnTo>
                    <a:lnTo>
                      <a:pt x="1230" y="210"/>
                    </a:lnTo>
                    <a:lnTo>
                      <a:pt x="1186" y="198"/>
                    </a:lnTo>
                    <a:lnTo>
                      <a:pt x="1143" y="186"/>
                    </a:lnTo>
                    <a:lnTo>
                      <a:pt x="1124" y="210"/>
                    </a:lnTo>
                    <a:lnTo>
                      <a:pt x="1136" y="229"/>
                    </a:lnTo>
                    <a:lnTo>
                      <a:pt x="1099" y="229"/>
                    </a:lnTo>
                    <a:lnTo>
                      <a:pt x="1093" y="229"/>
                    </a:lnTo>
                    <a:lnTo>
                      <a:pt x="1074" y="235"/>
                    </a:lnTo>
                    <a:lnTo>
                      <a:pt x="1056" y="217"/>
                    </a:lnTo>
                    <a:lnTo>
                      <a:pt x="1043" y="254"/>
                    </a:lnTo>
                    <a:lnTo>
                      <a:pt x="1037" y="248"/>
                    </a:lnTo>
                    <a:lnTo>
                      <a:pt x="1018" y="223"/>
                    </a:lnTo>
                    <a:lnTo>
                      <a:pt x="1031" y="192"/>
                    </a:lnTo>
                    <a:lnTo>
                      <a:pt x="1018" y="173"/>
                    </a:lnTo>
                    <a:lnTo>
                      <a:pt x="981" y="161"/>
                    </a:lnTo>
                    <a:lnTo>
                      <a:pt x="962" y="161"/>
                    </a:lnTo>
                    <a:lnTo>
                      <a:pt x="962" y="173"/>
                    </a:lnTo>
                    <a:lnTo>
                      <a:pt x="962" y="186"/>
                    </a:lnTo>
                    <a:lnTo>
                      <a:pt x="919" y="179"/>
                    </a:lnTo>
                    <a:lnTo>
                      <a:pt x="919" y="161"/>
                    </a:lnTo>
                    <a:lnTo>
                      <a:pt x="894" y="155"/>
                    </a:lnTo>
                    <a:lnTo>
                      <a:pt x="869" y="167"/>
                    </a:lnTo>
                    <a:lnTo>
                      <a:pt x="832" y="148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78" name="Freeform 42">
                <a:extLst>
                  <a:ext uri="{FF2B5EF4-FFF2-40B4-BE49-F238E27FC236}">
                    <a16:creationId xmlns:a16="http://schemas.microsoft.com/office/drawing/2014/main" id="{CEEA19BD-2259-4F7E-B093-9E69610AAD1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627232" y="2792810"/>
                <a:ext cx="458589" cy="204213"/>
              </a:xfrm>
              <a:custGeom>
                <a:avLst/>
                <a:gdLst>
                  <a:gd name="T0" fmla="*/ 74 w 180"/>
                  <a:gd name="T1" fmla="*/ 105 h 118"/>
                  <a:gd name="T2" fmla="*/ 62 w 180"/>
                  <a:gd name="T3" fmla="*/ 105 h 118"/>
                  <a:gd name="T4" fmla="*/ 62 w 180"/>
                  <a:gd name="T5" fmla="*/ 99 h 118"/>
                  <a:gd name="T6" fmla="*/ 68 w 180"/>
                  <a:gd name="T7" fmla="*/ 86 h 118"/>
                  <a:gd name="T8" fmla="*/ 80 w 180"/>
                  <a:gd name="T9" fmla="*/ 86 h 118"/>
                  <a:gd name="T10" fmla="*/ 80 w 180"/>
                  <a:gd name="T11" fmla="*/ 80 h 118"/>
                  <a:gd name="T12" fmla="*/ 74 w 180"/>
                  <a:gd name="T13" fmla="*/ 68 h 118"/>
                  <a:gd name="T14" fmla="*/ 68 w 180"/>
                  <a:gd name="T15" fmla="*/ 62 h 118"/>
                  <a:gd name="T16" fmla="*/ 55 w 180"/>
                  <a:gd name="T17" fmla="*/ 55 h 118"/>
                  <a:gd name="T18" fmla="*/ 43 w 180"/>
                  <a:gd name="T19" fmla="*/ 62 h 118"/>
                  <a:gd name="T20" fmla="*/ 31 w 180"/>
                  <a:gd name="T21" fmla="*/ 68 h 118"/>
                  <a:gd name="T22" fmla="*/ 24 w 180"/>
                  <a:gd name="T23" fmla="*/ 68 h 118"/>
                  <a:gd name="T24" fmla="*/ 6 w 180"/>
                  <a:gd name="T25" fmla="*/ 68 h 118"/>
                  <a:gd name="T26" fmla="*/ 0 w 180"/>
                  <a:gd name="T27" fmla="*/ 62 h 118"/>
                  <a:gd name="T28" fmla="*/ 0 w 180"/>
                  <a:gd name="T29" fmla="*/ 49 h 118"/>
                  <a:gd name="T30" fmla="*/ 12 w 180"/>
                  <a:gd name="T31" fmla="*/ 37 h 118"/>
                  <a:gd name="T32" fmla="*/ 18 w 180"/>
                  <a:gd name="T33" fmla="*/ 31 h 118"/>
                  <a:gd name="T34" fmla="*/ 12 w 180"/>
                  <a:gd name="T35" fmla="*/ 12 h 118"/>
                  <a:gd name="T36" fmla="*/ 24 w 180"/>
                  <a:gd name="T37" fmla="*/ 6 h 118"/>
                  <a:gd name="T38" fmla="*/ 37 w 180"/>
                  <a:gd name="T39" fmla="*/ 6 h 118"/>
                  <a:gd name="T40" fmla="*/ 55 w 180"/>
                  <a:gd name="T41" fmla="*/ 12 h 118"/>
                  <a:gd name="T42" fmla="*/ 62 w 180"/>
                  <a:gd name="T43" fmla="*/ 12 h 118"/>
                  <a:gd name="T44" fmla="*/ 68 w 180"/>
                  <a:gd name="T45" fmla="*/ 12 h 118"/>
                  <a:gd name="T46" fmla="*/ 74 w 180"/>
                  <a:gd name="T47" fmla="*/ 12 h 118"/>
                  <a:gd name="T48" fmla="*/ 86 w 180"/>
                  <a:gd name="T49" fmla="*/ 12 h 118"/>
                  <a:gd name="T50" fmla="*/ 93 w 180"/>
                  <a:gd name="T51" fmla="*/ 6 h 118"/>
                  <a:gd name="T52" fmla="*/ 99 w 180"/>
                  <a:gd name="T53" fmla="*/ 0 h 118"/>
                  <a:gd name="T54" fmla="*/ 117 w 180"/>
                  <a:gd name="T55" fmla="*/ 0 h 118"/>
                  <a:gd name="T56" fmla="*/ 124 w 180"/>
                  <a:gd name="T57" fmla="*/ 6 h 118"/>
                  <a:gd name="T58" fmla="*/ 117 w 180"/>
                  <a:gd name="T59" fmla="*/ 6 h 118"/>
                  <a:gd name="T60" fmla="*/ 124 w 180"/>
                  <a:gd name="T61" fmla="*/ 12 h 118"/>
                  <a:gd name="T62" fmla="*/ 130 w 180"/>
                  <a:gd name="T63" fmla="*/ 18 h 118"/>
                  <a:gd name="T64" fmla="*/ 136 w 180"/>
                  <a:gd name="T65" fmla="*/ 31 h 118"/>
                  <a:gd name="T66" fmla="*/ 148 w 180"/>
                  <a:gd name="T67" fmla="*/ 31 h 118"/>
                  <a:gd name="T68" fmla="*/ 155 w 180"/>
                  <a:gd name="T69" fmla="*/ 31 h 118"/>
                  <a:gd name="T70" fmla="*/ 179 w 180"/>
                  <a:gd name="T71" fmla="*/ 43 h 118"/>
                  <a:gd name="T72" fmla="*/ 179 w 180"/>
                  <a:gd name="T73" fmla="*/ 68 h 118"/>
                  <a:gd name="T74" fmla="*/ 167 w 180"/>
                  <a:gd name="T75" fmla="*/ 68 h 118"/>
                  <a:gd name="T76" fmla="*/ 161 w 180"/>
                  <a:gd name="T77" fmla="*/ 68 h 118"/>
                  <a:gd name="T78" fmla="*/ 161 w 180"/>
                  <a:gd name="T79" fmla="*/ 80 h 118"/>
                  <a:gd name="T80" fmla="*/ 155 w 180"/>
                  <a:gd name="T81" fmla="*/ 80 h 118"/>
                  <a:gd name="T82" fmla="*/ 124 w 180"/>
                  <a:gd name="T83" fmla="*/ 99 h 118"/>
                  <a:gd name="T84" fmla="*/ 136 w 180"/>
                  <a:gd name="T85" fmla="*/ 105 h 118"/>
                  <a:gd name="T86" fmla="*/ 142 w 180"/>
                  <a:gd name="T87" fmla="*/ 105 h 118"/>
                  <a:gd name="T88" fmla="*/ 142 w 180"/>
                  <a:gd name="T89" fmla="*/ 111 h 118"/>
                  <a:gd name="T90" fmla="*/ 136 w 180"/>
                  <a:gd name="T91" fmla="*/ 111 h 118"/>
                  <a:gd name="T92" fmla="*/ 117 w 180"/>
                  <a:gd name="T93" fmla="*/ 117 h 118"/>
                  <a:gd name="T94" fmla="*/ 111 w 180"/>
                  <a:gd name="T95" fmla="*/ 117 h 118"/>
                  <a:gd name="T96" fmla="*/ 111 w 180"/>
                  <a:gd name="T97" fmla="*/ 111 h 118"/>
                  <a:gd name="T98" fmla="*/ 105 w 180"/>
                  <a:gd name="T99" fmla="*/ 105 h 118"/>
                  <a:gd name="T100" fmla="*/ 117 w 180"/>
                  <a:gd name="T101" fmla="*/ 99 h 118"/>
                  <a:gd name="T102" fmla="*/ 99 w 180"/>
                  <a:gd name="T103" fmla="*/ 93 h 118"/>
                  <a:gd name="T104" fmla="*/ 99 w 180"/>
                  <a:gd name="T105" fmla="*/ 86 h 118"/>
                  <a:gd name="T106" fmla="*/ 86 w 180"/>
                  <a:gd name="T107" fmla="*/ 86 h 118"/>
                  <a:gd name="T108" fmla="*/ 80 w 180"/>
                  <a:gd name="T109" fmla="*/ 99 h 118"/>
                  <a:gd name="T110" fmla="*/ 74 w 180"/>
                  <a:gd name="T111" fmla="*/ 99 h 118"/>
                  <a:gd name="T112" fmla="*/ 74 w 180"/>
                  <a:gd name="T113" fmla="*/ 105 h 118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180"/>
                  <a:gd name="T172" fmla="*/ 0 h 118"/>
                  <a:gd name="T173" fmla="*/ 180 w 180"/>
                  <a:gd name="T174" fmla="*/ 118 h 118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180" h="118">
                    <a:moveTo>
                      <a:pt x="74" y="105"/>
                    </a:moveTo>
                    <a:lnTo>
                      <a:pt x="62" y="105"/>
                    </a:lnTo>
                    <a:lnTo>
                      <a:pt x="62" y="99"/>
                    </a:lnTo>
                    <a:lnTo>
                      <a:pt x="68" y="86"/>
                    </a:lnTo>
                    <a:lnTo>
                      <a:pt x="80" y="86"/>
                    </a:lnTo>
                    <a:lnTo>
                      <a:pt x="80" y="80"/>
                    </a:lnTo>
                    <a:lnTo>
                      <a:pt x="74" y="68"/>
                    </a:lnTo>
                    <a:lnTo>
                      <a:pt x="68" y="62"/>
                    </a:lnTo>
                    <a:lnTo>
                      <a:pt x="55" y="55"/>
                    </a:lnTo>
                    <a:lnTo>
                      <a:pt x="43" y="62"/>
                    </a:lnTo>
                    <a:lnTo>
                      <a:pt x="31" y="68"/>
                    </a:lnTo>
                    <a:lnTo>
                      <a:pt x="24" y="68"/>
                    </a:lnTo>
                    <a:lnTo>
                      <a:pt x="6" y="68"/>
                    </a:lnTo>
                    <a:lnTo>
                      <a:pt x="0" y="62"/>
                    </a:lnTo>
                    <a:lnTo>
                      <a:pt x="0" y="49"/>
                    </a:lnTo>
                    <a:lnTo>
                      <a:pt x="12" y="37"/>
                    </a:lnTo>
                    <a:lnTo>
                      <a:pt x="18" y="31"/>
                    </a:lnTo>
                    <a:lnTo>
                      <a:pt x="12" y="12"/>
                    </a:lnTo>
                    <a:lnTo>
                      <a:pt x="24" y="6"/>
                    </a:lnTo>
                    <a:lnTo>
                      <a:pt x="37" y="6"/>
                    </a:lnTo>
                    <a:lnTo>
                      <a:pt x="55" y="12"/>
                    </a:lnTo>
                    <a:lnTo>
                      <a:pt x="62" y="12"/>
                    </a:lnTo>
                    <a:lnTo>
                      <a:pt x="68" y="12"/>
                    </a:lnTo>
                    <a:lnTo>
                      <a:pt x="74" y="12"/>
                    </a:lnTo>
                    <a:lnTo>
                      <a:pt x="86" y="12"/>
                    </a:lnTo>
                    <a:lnTo>
                      <a:pt x="93" y="6"/>
                    </a:lnTo>
                    <a:lnTo>
                      <a:pt x="99" y="0"/>
                    </a:lnTo>
                    <a:lnTo>
                      <a:pt x="117" y="0"/>
                    </a:lnTo>
                    <a:lnTo>
                      <a:pt x="124" y="6"/>
                    </a:lnTo>
                    <a:lnTo>
                      <a:pt x="117" y="6"/>
                    </a:lnTo>
                    <a:lnTo>
                      <a:pt x="124" y="12"/>
                    </a:lnTo>
                    <a:lnTo>
                      <a:pt x="130" y="18"/>
                    </a:lnTo>
                    <a:lnTo>
                      <a:pt x="136" y="31"/>
                    </a:lnTo>
                    <a:lnTo>
                      <a:pt x="148" y="31"/>
                    </a:lnTo>
                    <a:lnTo>
                      <a:pt x="155" y="31"/>
                    </a:lnTo>
                    <a:lnTo>
                      <a:pt x="179" y="43"/>
                    </a:lnTo>
                    <a:lnTo>
                      <a:pt x="179" y="68"/>
                    </a:lnTo>
                    <a:lnTo>
                      <a:pt x="167" y="68"/>
                    </a:lnTo>
                    <a:lnTo>
                      <a:pt x="161" y="68"/>
                    </a:lnTo>
                    <a:lnTo>
                      <a:pt x="161" y="80"/>
                    </a:lnTo>
                    <a:lnTo>
                      <a:pt x="155" y="80"/>
                    </a:lnTo>
                    <a:lnTo>
                      <a:pt x="124" y="99"/>
                    </a:lnTo>
                    <a:lnTo>
                      <a:pt x="136" y="105"/>
                    </a:lnTo>
                    <a:lnTo>
                      <a:pt x="142" y="105"/>
                    </a:lnTo>
                    <a:lnTo>
                      <a:pt x="142" y="111"/>
                    </a:lnTo>
                    <a:lnTo>
                      <a:pt x="136" y="111"/>
                    </a:lnTo>
                    <a:lnTo>
                      <a:pt x="117" y="117"/>
                    </a:lnTo>
                    <a:lnTo>
                      <a:pt x="111" y="117"/>
                    </a:lnTo>
                    <a:lnTo>
                      <a:pt x="111" y="111"/>
                    </a:lnTo>
                    <a:lnTo>
                      <a:pt x="105" y="105"/>
                    </a:lnTo>
                    <a:lnTo>
                      <a:pt x="117" y="99"/>
                    </a:lnTo>
                    <a:lnTo>
                      <a:pt x="99" y="93"/>
                    </a:lnTo>
                    <a:lnTo>
                      <a:pt x="99" y="86"/>
                    </a:lnTo>
                    <a:lnTo>
                      <a:pt x="86" y="86"/>
                    </a:lnTo>
                    <a:lnTo>
                      <a:pt x="80" y="99"/>
                    </a:lnTo>
                    <a:lnTo>
                      <a:pt x="74" y="99"/>
                    </a:lnTo>
                    <a:lnTo>
                      <a:pt x="74" y="105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79" name="Freeform 43">
                <a:extLst>
                  <a:ext uri="{FF2B5EF4-FFF2-40B4-BE49-F238E27FC236}">
                    <a16:creationId xmlns:a16="http://schemas.microsoft.com/office/drawing/2014/main" id="{D70B156F-F59F-478D-BF37-6C0DC387DFF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7243778" y="2704549"/>
                <a:ext cx="1044563" cy="365160"/>
              </a:xfrm>
              <a:custGeom>
                <a:avLst/>
                <a:gdLst>
                  <a:gd name="T0" fmla="*/ 397 w 410"/>
                  <a:gd name="T1" fmla="*/ 111 h 211"/>
                  <a:gd name="T2" fmla="*/ 385 w 410"/>
                  <a:gd name="T3" fmla="*/ 136 h 211"/>
                  <a:gd name="T4" fmla="*/ 360 w 410"/>
                  <a:gd name="T5" fmla="*/ 155 h 211"/>
                  <a:gd name="T6" fmla="*/ 347 w 410"/>
                  <a:gd name="T7" fmla="*/ 186 h 211"/>
                  <a:gd name="T8" fmla="*/ 329 w 410"/>
                  <a:gd name="T9" fmla="*/ 186 h 211"/>
                  <a:gd name="T10" fmla="*/ 279 w 410"/>
                  <a:gd name="T11" fmla="*/ 179 h 211"/>
                  <a:gd name="T12" fmla="*/ 273 w 410"/>
                  <a:gd name="T13" fmla="*/ 192 h 211"/>
                  <a:gd name="T14" fmla="*/ 248 w 410"/>
                  <a:gd name="T15" fmla="*/ 192 h 211"/>
                  <a:gd name="T16" fmla="*/ 223 w 410"/>
                  <a:gd name="T17" fmla="*/ 210 h 211"/>
                  <a:gd name="T18" fmla="*/ 204 w 410"/>
                  <a:gd name="T19" fmla="*/ 204 h 211"/>
                  <a:gd name="T20" fmla="*/ 198 w 410"/>
                  <a:gd name="T21" fmla="*/ 198 h 211"/>
                  <a:gd name="T22" fmla="*/ 186 w 410"/>
                  <a:gd name="T23" fmla="*/ 173 h 211"/>
                  <a:gd name="T24" fmla="*/ 136 w 410"/>
                  <a:gd name="T25" fmla="*/ 155 h 211"/>
                  <a:gd name="T26" fmla="*/ 99 w 410"/>
                  <a:gd name="T27" fmla="*/ 155 h 211"/>
                  <a:gd name="T28" fmla="*/ 93 w 410"/>
                  <a:gd name="T29" fmla="*/ 204 h 211"/>
                  <a:gd name="T30" fmla="*/ 62 w 410"/>
                  <a:gd name="T31" fmla="*/ 198 h 211"/>
                  <a:gd name="T32" fmla="*/ 55 w 410"/>
                  <a:gd name="T33" fmla="*/ 192 h 211"/>
                  <a:gd name="T34" fmla="*/ 37 w 410"/>
                  <a:gd name="T35" fmla="*/ 167 h 211"/>
                  <a:gd name="T36" fmla="*/ 49 w 410"/>
                  <a:gd name="T37" fmla="*/ 161 h 211"/>
                  <a:gd name="T38" fmla="*/ 80 w 410"/>
                  <a:gd name="T39" fmla="*/ 155 h 211"/>
                  <a:gd name="T40" fmla="*/ 62 w 410"/>
                  <a:gd name="T41" fmla="*/ 130 h 211"/>
                  <a:gd name="T42" fmla="*/ 24 w 410"/>
                  <a:gd name="T43" fmla="*/ 136 h 211"/>
                  <a:gd name="T44" fmla="*/ 24 w 410"/>
                  <a:gd name="T45" fmla="*/ 130 h 211"/>
                  <a:gd name="T46" fmla="*/ 12 w 410"/>
                  <a:gd name="T47" fmla="*/ 117 h 211"/>
                  <a:gd name="T48" fmla="*/ 12 w 410"/>
                  <a:gd name="T49" fmla="*/ 74 h 211"/>
                  <a:gd name="T50" fmla="*/ 24 w 410"/>
                  <a:gd name="T51" fmla="*/ 86 h 211"/>
                  <a:gd name="T52" fmla="*/ 43 w 410"/>
                  <a:gd name="T53" fmla="*/ 62 h 211"/>
                  <a:gd name="T54" fmla="*/ 62 w 410"/>
                  <a:gd name="T55" fmla="*/ 55 h 211"/>
                  <a:gd name="T56" fmla="*/ 93 w 410"/>
                  <a:gd name="T57" fmla="*/ 74 h 211"/>
                  <a:gd name="T58" fmla="*/ 118 w 410"/>
                  <a:gd name="T59" fmla="*/ 68 h 211"/>
                  <a:gd name="T60" fmla="*/ 149 w 410"/>
                  <a:gd name="T61" fmla="*/ 74 h 211"/>
                  <a:gd name="T62" fmla="*/ 136 w 410"/>
                  <a:gd name="T63" fmla="*/ 55 h 211"/>
                  <a:gd name="T64" fmla="*/ 142 w 410"/>
                  <a:gd name="T65" fmla="*/ 43 h 211"/>
                  <a:gd name="T66" fmla="*/ 149 w 410"/>
                  <a:gd name="T67" fmla="*/ 24 h 211"/>
                  <a:gd name="T68" fmla="*/ 217 w 410"/>
                  <a:gd name="T69" fmla="*/ 6 h 211"/>
                  <a:gd name="T70" fmla="*/ 229 w 410"/>
                  <a:gd name="T71" fmla="*/ 0 h 211"/>
                  <a:gd name="T72" fmla="*/ 248 w 410"/>
                  <a:gd name="T73" fmla="*/ 12 h 211"/>
                  <a:gd name="T74" fmla="*/ 260 w 410"/>
                  <a:gd name="T75" fmla="*/ 18 h 211"/>
                  <a:gd name="T76" fmla="*/ 273 w 410"/>
                  <a:gd name="T77" fmla="*/ 31 h 211"/>
                  <a:gd name="T78" fmla="*/ 291 w 410"/>
                  <a:gd name="T79" fmla="*/ 18 h 211"/>
                  <a:gd name="T80" fmla="*/ 316 w 410"/>
                  <a:gd name="T81" fmla="*/ 31 h 211"/>
                  <a:gd name="T82" fmla="*/ 347 w 410"/>
                  <a:gd name="T83" fmla="*/ 68 h 211"/>
                  <a:gd name="T84" fmla="*/ 372 w 410"/>
                  <a:gd name="T85" fmla="*/ 68 h 211"/>
                  <a:gd name="T86" fmla="*/ 403 w 410"/>
                  <a:gd name="T87" fmla="*/ 93 h 211"/>
                  <a:gd name="T88" fmla="*/ 409 w 410"/>
                  <a:gd name="T89" fmla="*/ 99 h 211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410"/>
                  <a:gd name="T136" fmla="*/ 0 h 211"/>
                  <a:gd name="T137" fmla="*/ 410 w 410"/>
                  <a:gd name="T138" fmla="*/ 211 h 211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410" h="211">
                    <a:moveTo>
                      <a:pt x="403" y="105"/>
                    </a:moveTo>
                    <a:lnTo>
                      <a:pt x="397" y="111"/>
                    </a:lnTo>
                    <a:lnTo>
                      <a:pt x="391" y="130"/>
                    </a:lnTo>
                    <a:lnTo>
                      <a:pt x="385" y="136"/>
                    </a:lnTo>
                    <a:lnTo>
                      <a:pt x="366" y="130"/>
                    </a:lnTo>
                    <a:lnTo>
                      <a:pt x="360" y="155"/>
                    </a:lnTo>
                    <a:lnTo>
                      <a:pt x="341" y="161"/>
                    </a:lnTo>
                    <a:lnTo>
                      <a:pt x="347" y="186"/>
                    </a:lnTo>
                    <a:lnTo>
                      <a:pt x="341" y="192"/>
                    </a:lnTo>
                    <a:lnTo>
                      <a:pt x="329" y="186"/>
                    </a:lnTo>
                    <a:lnTo>
                      <a:pt x="291" y="186"/>
                    </a:lnTo>
                    <a:lnTo>
                      <a:pt x="279" y="179"/>
                    </a:lnTo>
                    <a:lnTo>
                      <a:pt x="273" y="186"/>
                    </a:lnTo>
                    <a:lnTo>
                      <a:pt x="273" y="192"/>
                    </a:lnTo>
                    <a:lnTo>
                      <a:pt x="248" y="186"/>
                    </a:lnTo>
                    <a:lnTo>
                      <a:pt x="248" y="192"/>
                    </a:lnTo>
                    <a:lnTo>
                      <a:pt x="242" y="198"/>
                    </a:lnTo>
                    <a:lnTo>
                      <a:pt x="223" y="210"/>
                    </a:lnTo>
                    <a:lnTo>
                      <a:pt x="217" y="204"/>
                    </a:lnTo>
                    <a:lnTo>
                      <a:pt x="204" y="204"/>
                    </a:lnTo>
                    <a:lnTo>
                      <a:pt x="204" y="198"/>
                    </a:lnTo>
                    <a:lnTo>
                      <a:pt x="198" y="198"/>
                    </a:lnTo>
                    <a:lnTo>
                      <a:pt x="198" y="186"/>
                    </a:lnTo>
                    <a:lnTo>
                      <a:pt x="186" y="173"/>
                    </a:lnTo>
                    <a:lnTo>
                      <a:pt x="155" y="179"/>
                    </a:lnTo>
                    <a:lnTo>
                      <a:pt x="136" y="155"/>
                    </a:lnTo>
                    <a:lnTo>
                      <a:pt x="124" y="148"/>
                    </a:lnTo>
                    <a:lnTo>
                      <a:pt x="99" y="155"/>
                    </a:lnTo>
                    <a:lnTo>
                      <a:pt x="99" y="204"/>
                    </a:lnTo>
                    <a:lnTo>
                      <a:pt x="93" y="204"/>
                    </a:lnTo>
                    <a:lnTo>
                      <a:pt x="80" y="192"/>
                    </a:lnTo>
                    <a:lnTo>
                      <a:pt x="62" y="198"/>
                    </a:lnTo>
                    <a:lnTo>
                      <a:pt x="62" y="192"/>
                    </a:lnTo>
                    <a:lnTo>
                      <a:pt x="55" y="192"/>
                    </a:lnTo>
                    <a:lnTo>
                      <a:pt x="43" y="173"/>
                    </a:lnTo>
                    <a:lnTo>
                      <a:pt x="37" y="167"/>
                    </a:lnTo>
                    <a:lnTo>
                      <a:pt x="49" y="167"/>
                    </a:lnTo>
                    <a:lnTo>
                      <a:pt x="49" y="161"/>
                    </a:lnTo>
                    <a:lnTo>
                      <a:pt x="55" y="155"/>
                    </a:lnTo>
                    <a:lnTo>
                      <a:pt x="80" y="155"/>
                    </a:lnTo>
                    <a:lnTo>
                      <a:pt x="74" y="142"/>
                    </a:lnTo>
                    <a:lnTo>
                      <a:pt x="62" y="130"/>
                    </a:lnTo>
                    <a:lnTo>
                      <a:pt x="49" y="130"/>
                    </a:lnTo>
                    <a:lnTo>
                      <a:pt x="24" y="136"/>
                    </a:lnTo>
                    <a:lnTo>
                      <a:pt x="18" y="136"/>
                    </a:lnTo>
                    <a:lnTo>
                      <a:pt x="24" y="130"/>
                    </a:lnTo>
                    <a:lnTo>
                      <a:pt x="18" y="117"/>
                    </a:lnTo>
                    <a:lnTo>
                      <a:pt x="12" y="117"/>
                    </a:lnTo>
                    <a:lnTo>
                      <a:pt x="0" y="105"/>
                    </a:lnTo>
                    <a:lnTo>
                      <a:pt x="12" y="74"/>
                    </a:lnTo>
                    <a:lnTo>
                      <a:pt x="18" y="86"/>
                    </a:lnTo>
                    <a:lnTo>
                      <a:pt x="24" y="86"/>
                    </a:lnTo>
                    <a:lnTo>
                      <a:pt x="24" y="74"/>
                    </a:lnTo>
                    <a:lnTo>
                      <a:pt x="43" y="62"/>
                    </a:lnTo>
                    <a:lnTo>
                      <a:pt x="55" y="62"/>
                    </a:lnTo>
                    <a:lnTo>
                      <a:pt x="62" y="55"/>
                    </a:lnTo>
                    <a:lnTo>
                      <a:pt x="74" y="62"/>
                    </a:lnTo>
                    <a:lnTo>
                      <a:pt x="93" y="74"/>
                    </a:lnTo>
                    <a:lnTo>
                      <a:pt x="105" y="68"/>
                    </a:lnTo>
                    <a:lnTo>
                      <a:pt x="118" y="68"/>
                    </a:lnTo>
                    <a:lnTo>
                      <a:pt x="124" y="74"/>
                    </a:lnTo>
                    <a:lnTo>
                      <a:pt x="149" y="74"/>
                    </a:lnTo>
                    <a:lnTo>
                      <a:pt x="155" y="62"/>
                    </a:lnTo>
                    <a:lnTo>
                      <a:pt x="136" y="55"/>
                    </a:lnTo>
                    <a:lnTo>
                      <a:pt x="149" y="49"/>
                    </a:lnTo>
                    <a:lnTo>
                      <a:pt x="142" y="43"/>
                    </a:lnTo>
                    <a:lnTo>
                      <a:pt x="149" y="37"/>
                    </a:lnTo>
                    <a:lnTo>
                      <a:pt x="149" y="24"/>
                    </a:lnTo>
                    <a:lnTo>
                      <a:pt x="161" y="24"/>
                    </a:lnTo>
                    <a:lnTo>
                      <a:pt x="217" y="6"/>
                    </a:lnTo>
                    <a:lnTo>
                      <a:pt x="223" y="0"/>
                    </a:lnTo>
                    <a:lnTo>
                      <a:pt x="229" y="0"/>
                    </a:lnTo>
                    <a:lnTo>
                      <a:pt x="242" y="0"/>
                    </a:lnTo>
                    <a:lnTo>
                      <a:pt x="248" y="12"/>
                    </a:lnTo>
                    <a:lnTo>
                      <a:pt x="248" y="18"/>
                    </a:lnTo>
                    <a:lnTo>
                      <a:pt x="260" y="18"/>
                    </a:lnTo>
                    <a:lnTo>
                      <a:pt x="273" y="24"/>
                    </a:lnTo>
                    <a:lnTo>
                      <a:pt x="273" y="31"/>
                    </a:lnTo>
                    <a:lnTo>
                      <a:pt x="285" y="31"/>
                    </a:lnTo>
                    <a:lnTo>
                      <a:pt x="291" y="18"/>
                    </a:lnTo>
                    <a:lnTo>
                      <a:pt x="304" y="12"/>
                    </a:lnTo>
                    <a:lnTo>
                      <a:pt x="316" y="31"/>
                    </a:lnTo>
                    <a:lnTo>
                      <a:pt x="341" y="74"/>
                    </a:lnTo>
                    <a:lnTo>
                      <a:pt x="347" y="68"/>
                    </a:lnTo>
                    <a:lnTo>
                      <a:pt x="354" y="74"/>
                    </a:lnTo>
                    <a:lnTo>
                      <a:pt x="372" y="68"/>
                    </a:lnTo>
                    <a:lnTo>
                      <a:pt x="391" y="93"/>
                    </a:lnTo>
                    <a:lnTo>
                      <a:pt x="403" y="93"/>
                    </a:lnTo>
                    <a:lnTo>
                      <a:pt x="403" y="86"/>
                    </a:lnTo>
                    <a:lnTo>
                      <a:pt x="409" y="99"/>
                    </a:lnTo>
                    <a:lnTo>
                      <a:pt x="403" y="105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80" name="Freeform 44">
                <a:extLst>
                  <a:ext uri="{FF2B5EF4-FFF2-40B4-BE49-F238E27FC236}">
                    <a16:creationId xmlns:a16="http://schemas.microsoft.com/office/drawing/2014/main" id="{AE5DDDFC-B467-4653-9913-C893F09B6D1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596658" y="2618019"/>
                <a:ext cx="188531" cy="76147"/>
              </a:xfrm>
              <a:custGeom>
                <a:avLst/>
                <a:gdLst>
                  <a:gd name="T0" fmla="*/ 30 w 74"/>
                  <a:gd name="T1" fmla="*/ 6 h 44"/>
                  <a:gd name="T2" fmla="*/ 30 w 74"/>
                  <a:gd name="T3" fmla="*/ 19 h 44"/>
                  <a:gd name="T4" fmla="*/ 30 w 74"/>
                  <a:gd name="T5" fmla="*/ 25 h 44"/>
                  <a:gd name="T6" fmla="*/ 24 w 74"/>
                  <a:gd name="T7" fmla="*/ 19 h 44"/>
                  <a:gd name="T8" fmla="*/ 12 w 74"/>
                  <a:gd name="T9" fmla="*/ 12 h 44"/>
                  <a:gd name="T10" fmla="*/ 6 w 74"/>
                  <a:gd name="T11" fmla="*/ 12 h 44"/>
                  <a:gd name="T12" fmla="*/ 0 w 74"/>
                  <a:gd name="T13" fmla="*/ 25 h 44"/>
                  <a:gd name="T14" fmla="*/ 0 w 74"/>
                  <a:gd name="T15" fmla="*/ 37 h 44"/>
                  <a:gd name="T16" fmla="*/ 12 w 74"/>
                  <a:gd name="T17" fmla="*/ 31 h 44"/>
                  <a:gd name="T18" fmla="*/ 30 w 74"/>
                  <a:gd name="T19" fmla="*/ 31 h 44"/>
                  <a:gd name="T20" fmla="*/ 36 w 74"/>
                  <a:gd name="T21" fmla="*/ 31 h 44"/>
                  <a:gd name="T22" fmla="*/ 43 w 74"/>
                  <a:gd name="T23" fmla="*/ 31 h 44"/>
                  <a:gd name="T24" fmla="*/ 55 w 74"/>
                  <a:gd name="T25" fmla="*/ 43 h 44"/>
                  <a:gd name="T26" fmla="*/ 73 w 74"/>
                  <a:gd name="T27" fmla="*/ 31 h 44"/>
                  <a:gd name="T28" fmla="*/ 67 w 74"/>
                  <a:gd name="T29" fmla="*/ 19 h 44"/>
                  <a:gd name="T30" fmla="*/ 67 w 74"/>
                  <a:gd name="T31" fmla="*/ 12 h 44"/>
                  <a:gd name="T32" fmla="*/ 67 w 74"/>
                  <a:gd name="T33" fmla="*/ 6 h 44"/>
                  <a:gd name="T34" fmla="*/ 55 w 74"/>
                  <a:gd name="T35" fmla="*/ 6 h 44"/>
                  <a:gd name="T36" fmla="*/ 43 w 74"/>
                  <a:gd name="T37" fmla="*/ 0 h 44"/>
                  <a:gd name="T38" fmla="*/ 30 w 74"/>
                  <a:gd name="T39" fmla="*/ 6 h 44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74"/>
                  <a:gd name="T61" fmla="*/ 0 h 44"/>
                  <a:gd name="T62" fmla="*/ 74 w 74"/>
                  <a:gd name="T63" fmla="*/ 44 h 44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74" h="44">
                    <a:moveTo>
                      <a:pt x="30" y="6"/>
                    </a:moveTo>
                    <a:lnTo>
                      <a:pt x="30" y="19"/>
                    </a:lnTo>
                    <a:lnTo>
                      <a:pt x="30" y="25"/>
                    </a:lnTo>
                    <a:lnTo>
                      <a:pt x="24" y="19"/>
                    </a:lnTo>
                    <a:lnTo>
                      <a:pt x="12" y="12"/>
                    </a:lnTo>
                    <a:lnTo>
                      <a:pt x="6" y="12"/>
                    </a:lnTo>
                    <a:lnTo>
                      <a:pt x="0" y="25"/>
                    </a:lnTo>
                    <a:lnTo>
                      <a:pt x="0" y="37"/>
                    </a:lnTo>
                    <a:lnTo>
                      <a:pt x="12" y="31"/>
                    </a:lnTo>
                    <a:lnTo>
                      <a:pt x="30" y="31"/>
                    </a:lnTo>
                    <a:lnTo>
                      <a:pt x="36" y="31"/>
                    </a:lnTo>
                    <a:lnTo>
                      <a:pt x="43" y="31"/>
                    </a:lnTo>
                    <a:lnTo>
                      <a:pt x="55" y="43"/>
                    </a:lnTo>
                    <a:lnTo>
                      <a:pt x="73" y="31"/>
                    </a:lnTo>
                    <a:lnTo>
                      <a:pt x="67" y="19"/>
                    </a:lnTo>
                    <a:lnTo>
                      <a:pt x="67" y="12"/>
                    </a:lnTo>
                    <a:lnTo>
                      <a:pt x="67" y="6"/>
                    </a:lnTo>
                    <a:lnTo>
                      <a:pt x="55" y="6"/>
                    </a:lnTo>
                    <a:lnTo>
                      <a:pt x="43" y="0"/>
                    </a:lnTo>
                    <a:lnTo>
                      <a:pt x="30" y="6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81" name="Freeform 45">
                <a:extLst>
                  <a:ext uri="{FF2B5EF4-FFF2-40B4-BE49-F238E27FC236}">
                    <a16:creationId xmlns:a16="http://schemas.microsoft.com/office/drawing/2014/main" id="{09C16752-0138-4176-9084-21DD1619A76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596658" y="2673398"/>
                <a:ext cx="140123" cy="74415"/>
              </a:xfrm>
              <a:custGeom>
                <a:avLst/>
                <a:gdLst>
                  <a:gd name="T0" fmla="*/ 0 w 55"/>
                  <a:gd name="T1" fmla="*/ 18 h 43"/>
                  <a:gd name="T2" fmla="*/ 0 w 55"/>
                  <a:gd name="T3" fmla="*/ 12 h 43"/>
                  <a:gd name="T4" fmla="*/ 0 w 55"/>
                  <a:gd name="T5" fmla="*/ 6 h 43"/>
                  <a:gd name="T6" fmla="*/ 12 w 55"/>
                  <a:gd name="T7" fmla="*/ 0 h 43"/>
                  <a:gd name="T8" fmla="*/ 30 w 55"/>
                  <a:gd name="T9" fmla="*/ 0 h 43"/>
                  <a:gd name="T10" fmla="*/ 36 w 55"/>
                  <a:gd name="T11" fmla="*/ 0 h 43"/>
                  <a:gd name="T12" fmla="*/ 42 w 55"/>
                  <a:gd name="T13" fmla="*/ 0 h 43"/>
                  <a:gd name="T14" fmla="*/ 54 w 55"/>
                  <a:gd name="T15" fmla="*/ 12 h 43"/>
                  <a:gd name="T16" fmla="*/ 54 w 55"/>
                  <a:gd name="T17" fmla="*/ 18 h 43"/>
                  <a:gd name="T18" fmla="*/ 48 w 55"/>
                  <a:gd name="T19" fmla="*/ 24 h 43"/>
                  <a:gd name="T20" fmla="*/ 48 w 55"/>
                  <a:gd name="T21" fmla="*/ 36 h 43"/>
                  <a:gd name="T22" fmla="*/ 42 w 55"/>
                  <a:gd name="T23" fmla="*/ 36 h 43"/>
                  <a:gd name="T24" fmla="*/ 36 w 55"/>
                  <a:gd name="T25" fmla="*/ 36 h 43"/>
                  <a:gd name="T26" fmla="*/ 24 w 55"/>
                  <a:gd name="T27" fmla="*/ 42 h 43"/>
                  <a:gd name="T28" fmla="*/ 18 w 55"/>
                  <a:gd name="T29" fmla="*/ 36 h 43"/>
                  <a:gd name="T30" fmla="*/ 18 w 55"/>
                  <a:gd name="T31" fmla="*/ 24 h 43"/>
                  <a:gd name="T32" fmla="*/ 0 w 55"/>
                  <a:gd name="T33" fmla="*/ 18 h 4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5"/>
                  <a:gd name="T52" fmla="*/ 0 h 43"/>
                  <a:gd name="T53" fmla="*/ 55 w 55"/>
                  <a:gd name="T54" fmla="*/ 43 h 4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5" h="43">
                    <a:moveTo>
                      <a:pt x="0" y="18"/>
                    </a:moveTo>
                    <a:lnTo>
                      <a:pt x="0" y="12"/>
                    </a:lnTo>
                    <a:lnTo>
                      <a:pt x="0" y="6"/>
                    </a:lnTo>
                    <a:lnTo>
                      <a:pt x="12" y="0"/>
                    </a:lnTo>
                    <a:lnTo>
                      <a:pt x="30" y="0"/>
                    </a:lnTo>
                    <a:lnTo>
                      <a:pt x="36" y="0"/>
                    </a:lnTo>
                    <a:lnTo>
                      <a:pt x="42" y="0"/>
                    </a:lnTo>
                    <a:lnTo>
                      <a:pt x="54" y="12"/>
                    </a:lnTo>
                    <a:lnTo>
                      <a:pt x="54" y="18"/>
                    </a:lnTo>
                    <a:lnTo>
                      <a:pt x="48" y="24"/>
                    </a:lnTo>
                    <a:lnTo>
                      <a:pt x="48" y="36"/>
                    </a:lnTo>
                    <a:lnTo>
                      <a:pt x="42" y="36"/>
                    </a:lnTo>
                    <a:lnTo>
                      <a:pt x="36" y="36"/>
                    </a:lnTo>
                    <a:lnTo>
                      <a:pt x="24" y="42"/>
                    </a:lnTo>
                    <a:lnTo>
                      <a:pt x="18" y="36"/>
                    </a:lnTo>
                    <a:lnTo>
                      <a:pt x="18" y="24"/>
                    </a:lnTo>
                    <a:lnTo>
                      <a:pt x="0" y="18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82" name="Freeform 46">
                <a:extLst>
                  <a:ext uri="{FF2B5EF4-FFF2-40B4-BE49-F238E27FC236}">
                    <a16:creationId xmlns:a16="http://schemas.microsoft.com/office/drawing/2014/main" id="{641ADE31-09EF-417F-9CCB-9462E1F5A43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660351" y="2574751"/>
                <a:ext cx="109552" cy="53650"/>
              </a:xfrm>
              <a:custGeom>
                <a:avLst/>
                <a:gdLst>
                  <a:gd name="T0" fmla="*/ 6 w 43"/>
                  <a:gd name="T1" fmla="*/ 30 h 31"/>
                  <a:gd name="T2" fmla="*/ 6 w 43"/>
                  <a:gd name="T3" fmla="*/ 24 h 31"/>
                  <a:gd name="T4" fmla="*/ 0 w 43"/>
                  <a:gd name="T5" fmla="*/ 6 h 31"/>
                  <a:gd name="T6" fmla="*/ 6 w 43"/>
                  <a:gd name="T7" fmla="*/ 0 h 31"/>
                  <a:gd name="T8" fmla="*/ 24 w 43"/>
                  <a:gd name="T9" fmla="*/ 0 h 31"/>
                  <a:gd name="T10" fmla="*/ 42 w 43"/>
                  <a:gd name="T11" fmla="*/ 0 h 31"/>
                  <a:gd name="T12" fmla="*/ 42 w 43"/>
                  <a:gd name="T13" fmla="*/ 6 h 31"/>
                  <a:gd name="T14" fmla="*/ 36 w 43"/>
                  <a:gd name="T15" fmla="*/ 12 h 31"/>
                  <a:gd name="T16" fmla="*/ 42 w 43"/>
                  <a:gd name="T17" fmla="*/ 24 h 31"/>
                  <a:gd name="T18" fmla="*/ 42 w 43"/>
                  <a:gd name="T19" fmla="*/ 30 h 31"/>
                  <a:gd name="T20" fmla="*/ 30 w 43"/>
                  <a:gd name="T21" fmla="*/ 30 h 31"/>
                  <a:gd name="T22" fmla="*/ 18 w 43"/>
                  <a:gd name="T23" fmla="*/ 24 h 31"/>
                  <a:gd name="T24" fmla="*/ 6 w 43"/>
                  <a:gd name="T25" fmla="*/ 30 h 31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43"/>
                  <a:gd name="T40" fmla="*/ 0 h 31"/>
                  <a:gd name="T41" fmla="*/ 43 w 43"/>
                  <a:gd name="T42" fmla="*/ 31 h 31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43" h="31">
                    <a:moveTo>
                      <a:pt x="6" y="30"/>
                    </a:moveTo>
                    <a:lnTo>
                      <a:pt x="6" y="24"/>
                    </a:lnTo>
                    <a:lnTo>
                      <a:pt x="0" y="6"/>
                    </a:lnTo>
                    <a:lnTo>
                      <a:pt x="6" y="0"/>
                    </a:lnTo>
                    <a:lnTo>
                      <a:pt x="24" y="0"/>
                    </a:lnTo>
                    <a:lnTo>
                      <a:pt x="42" y="0"/>
                    </a:lnTo>
                    <a:lnTo>
                      <a:pt x="42" y="6"/>
                    </a:lnTo>
                    <a:lnTo>
                      <a:pt x="36" y="12"/>
                    </a:lnTo>
                    <a:lnTo>
                      <a:pt x="42" y="24"/>
                    </a:lnTo>
                    <a:lnTo>
                      <a:pt x="42" y="30"/>
                    </a:lnTo>
                    <a:lnTo>
                      <a:pt x="30" y="30"/>
                    </a:lnTo>
                    <a:lnTo>
                      <a:pt x="18" y="24"/>
                    </a:lnTo>
                    <a:lnTo>
                      <a:pt x="6" y="30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83" name="Freeform 47">
                <a:extLst>
                  <a:ext uri="{FF2B5EF4-FFF2-40B4-BE49-F238E27FC236}">
                    <a16:creationId xmlns:a16="http://schemas.microsoft.com/office/drawing/2014/main" id="{EC33D169-7D6D-4F26-9C69-409B4899F21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566085" y="2704549"/>
                <a:ext cx="78978" cy="32882"/>
              </a:xfrm>
              <a:custGeom>
                <a:avLst/>
                <a:gdLst>
                  <a:gd name="T0" fmla="*/ 30 w 31"/>
                  <a:gd name="T1" fmla="*/ 6 h 19"/>
                  <a:gd name="T2" fmla="*/ 30 w 31"/>
                  <a:gd name="T3" fmla="*/ 18 h 19"/>
                  <a:gd name="T4" fmla="*/ 12 w 31"/>
                  <a:gd name="T5" fmla="*/ 18 h 19"/>
                  <a:gd name="T6" fmla="*/ 0 w 31"/>
                  <a:gd name="T7" fmla="*/ 18 h 19"/>
                  <a:gd name="T8" fmla="*/ 12 w 31"/>
                  <a:gd name="T9" fmla="*/ 6 h 19"/>
                  <a:gd name="T10" fmla="*/ 12 w 31"/>
                  <a:gd name="T11" fmla="*/ 0 h 19"/>
                  <a:gd name="T12" fmla="*/ 30 w 31"/>
                  <a:gd name="T13" fmla="*/ 6 h 1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1"/>
                  <a:gd name="T22" fmla="*/ 0 h 19"/>
                  <a:gd name="T23" fmla="*/ 31 w 31"/>
                  <a:gd name="T24" fmla="*/ 19 h 1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1" h="19">
                    <a:moveTo>
                      <a:pt x="30" y="6"/>
                    </a:moveTo>
                    <a:lnTo>
                      <a:pt x="30" y="18"/>
                    </a:lnTo>
                    <a:lnTo>
                      <a:pt x="12" y="18"/>
                    </a:lnTo>
                    <a:lnTo>
                      <a:pt x="0" y="18"/>
                    </a:lnTo>
                    <a:lnTo>
                      <a:pt x="12" y="6"/>
                    </a:lnTo>
                    <a:lnTo>
                      <a:pt x="12" y="0"/>
                    </a:lnTo>
                    <a:lnTo>
                      <a:pt x="30" y="6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84" name="Freeform 48">
                <a:extLst>
                  <a:ext uri="{FF2B5EF4-FFF2-40B4-BE49-F238E27FC236}">
                    <a16:creationId xmlns:a16="http://schemas.microsoft.com/office/drawing/2014/main" id="{83E3C14B-3EAA-457E-8692-E1C8B8C338F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7067985" y="3017790"/>
                <a:ext cx="175793" cy="53650"/>
              </a:xfrm>
              <a:custGeom>
                <a:avLst/>
                <a:gdLst>
                  <a:gd name="T0" fmla="*/ 18 w 69"/>
                  <a:gd name="T1" fmla="*/ 24 h 31"/>
                  <a:gd name="T2" fmla="*/ 25 w 69"/>
                  <a:gd name="T3" fmla="*/ 18 h 31"/>
                  <a:gd name="T4" fmla="*/ 18 w 69"/>
                  <a:gd name="T5" fmla="*/ 12 h 31"/>
                  <a:gd name="T6" fmla="*/ 0 w 69"/>
                  <a:gd name="T7" fmla="*/ 0 h 31"/>
                  <a:gd name="T8" fmla="*/ 37 w 69"/>
                  <a:gd name="T9" fmla="*/ 0 h 31"/>
                  <a:gd name="T10" fmla="*/ 43 w 69"/>
                  <a:gd name="T11" fmla="*/ 12 h 31"/>
                  <a:gd name="T12" fmla="*/ 56 w 69"/>
                  <a:gd name="T13" fmla="*/ 6 h 31"/>
                  <a:gd name="T14" fmla="*/ 68 w 69"/>
                  <a:gd name="T15" fmla="*/ 18 h 31"/>
                  <a:gd name="T16" fmla="*/ 68 w 69"/>
                  <a:gd name="T17" fmla="*/ 24 h 31"/>
                  <a:gd name="T18" fmla="*/ 68 w 69"/>
                  <a:gd name="T19" fmla="*/ 30 h 31"/>
                  <a:gd name="T20" fmla="*/ 56 w 69"/>
                  <a:gd name="T21" fmla="*/ 24 h 31"/>
                  <a:gd name="T22" fmla="*/ 37 w 69"/>
                  <a:gd name="T23" fmla="*/ 30 h 31"/>
                  <a:gd name="T24" fmla="*/ 37 w 69"/>
                  <a:gd name="T25" fmla="*/ 24 h 31"/>
                  <a:gd name="T26" fmla="*/ 18 w 69"/>
                  <a:gd name="T27" fmla="*/ 24 h 31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69"/>
                  <a:gd name="T43" fmla="*/ 0 h 31"/>
                  <a:gd name="T44" fmla="*/ 69 w 69"/>
                  <a:gd name="T45" fmla="*/ 31 h 31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69" h="31">
                    <a:moveTo>
                      <a:pt x="18" y="24"/>
                    </a:moveTo>
                    <a:lnTo>
                      <a:pt x="25" y="18"/>
                    </a:lnTo>
                    <a:lnTo>
                      <a:pt x="18" y="12"/>
                    </a:lnTo>
                    <a:lnTo>
                      <a:pt x="0" y="0"/>
                    </a:lnTo>
                    <a:lnTo>
                      <a:pt x="37" y="0"/>
                    </a:lnTo>
                    <a:lnTo>
                      <a:pt x="43" y="12"/>
                    </a:lnTo>
                    <a:lnTo>
                      <a:pt x="56" y="6"/>
                    </a:lnTo>
                    <a:lnTo>
                      <a:pt x="68" y="18"/>
                    </a:lnTo>
                    <a:lnTo>
                      <a:pt x="68" y="24"/>
                    </a:lnTo>
                    <a:lnTo>
                      <a:pt x="68" y="30"/>
                    </a:lnTo>
                    <a:lnTo>
                      <a:pt x="56" y="24"/>
                    </a:lnTo>
                    <a:lnTo>
                      <a:pt x="37" y="30"/>
                    </a:lnTo>
                    <a:lnTo>
                      <a:pt x="37" y="24"/>
                    </a:lnTo>
                    <a:lnTo>
                      <a:pt x="18" y="24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85" name="Freeform 49">
                <a:extLst>
                  <a:ext uri="{FF2B5EF4-FFF2-40B4-BE49-F238E27FC236}">
                    <a16:creationId xmlns:a16="http://schemas.microsoft.com/office/drawing/2014/main" id="{F4B19626-A6BF-47DE-85F0-8F52836A8C5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736783" y="2887994"/>
                <a:ext cx="94265" cy="76147"/>
              </a:xfrm>
              <a:custGeom>
                <a:avLst/>
                <a:gdLst>
                  <a:gd name="T0" fmla="*/ 0 w 37"/>
                  <a:gd name="T1" fmla="*/ 6 h 44"/>
                  <a:gd name="T2" fmla="*/ 6 w 37"/>
                  <a:gd name="T3" fmla="*/ 12 h 44"/>
                  <a:gd name="T4" fmla="*/ 18 w 37"/>
                  <a:gd name="T5" fmla="*/ 31 h 44"/>
                  <a:gd name="T6" fmla="*/ 18 w 37"/>
                  <a:gd name="T7" fmla="*/ 43 h 44"/>
                  <a:gd name="T8" fmla="*/ 24 w 37"/>
                  <a:gd name="T9" fmla="*/ 31 h 44"/>
                  <a:gd name="T10" fmla="*/ 36 w 37"/>
                  <a:gd name="T11" fmla="*/ 31 h 44"/>
                  <a:gd name="T12" fmla="*/ 36 w 37"/>
                  <a:gd name="T13" fmla="*/ 25 h 44"/>
                  <a:gd name="T14" fmla="*/ 24 w 37"/>
                  <a:gd name="T15" fmla="*/ 18 h 44"/>
                  <a:gd name="T16" fmla="*/ 24 w 37"/>
                  <a:gd name="T17" fmla="*/ 6 h 44"/>
                  <a:gd name="T18" fmla="*/ 12 w 37"/>
                  <a:gd name="T19" fmla="*/ 0 h 44"/>
                  <a:gd name="T20" fmla="*/ 0 w 37"/>
                  <a:gd name="T21" fmla="*/ 6 h 4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37"/>
                  <a:gd name="T34" fmla="*/ 0 h 44"/>
                  <a:gd name="T35" fmla="*/ 37 w 37"/>
                  <a:gd name="T36" fmla="*/ 44 h 44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37" h="44">
                    <a:moveTo>
                      <a:pt x="0" y="6"/>
                    </a:moveTo>
                    <a:lnTo>
                      <a:pt x="6" y="12"/>
                    </a:lnTo>
                    <a:lnTo>
                      <a:pt x="18" y="31"/>
                    </a:lnTo>
                    <a:lnTo>
                      <a:pt x="18" y="43"/>
                    </a:lnTo>
                    <a:lnTo>
                      <a:pt x="24" y="31"/>
                    </a:lnTo>
                    <a:lnTo>
                      <a:pt x="36" y="31"/>
                    </a:lnTo>
                    <a:lnTo>
                      <a:pt x="36" y="25"/>
                    </a:lnTo>
                    <a:lnTo>
                      <a:pt x="24" y="18"/>
                    </a:lnTo>
                    <a:lnTo>
                      <a:pt x="24" y="6"/>
                    </a:lnTo>
                    <a:lnTo>
                      <a:pt x="12" y="0"/>
                    </a:lnTo>
                    <a:lnTo>
                      <a:pt x="0" y="6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86" name="Freeform 50">
                <a:extLst>
                  <a:ext uri="{FF2B5EF4-FFF2-40B4-BE49-F238E27FC236}">
                    <a16:creationId xmlns:a16="http://schemas.microsoft.com/office/drawing/2014/main" id="{6D71CED5-BDAA-4AD6-8F66-053D7305E0A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7164797" y="3059325"/>
                <a:ext cx="94265" cy="65763"/>
              </a:xfrm>
              <a:custGeom>
                <a:avLst/>
                <a:gdLst>
                  <a:gd name="T0" fmla="*/ 36 w 37"/>
                  <a:gd name="T1" fmla="*/ 37 h 38"/>
                  <a:gd name="T2" fmla="*/ 30 w 37"/>
                  <a:gd name="T3" fmla="*/ 25 h 38"/>
                  <a:gd name="T4" fmla="*/ 24 w 37"/>
                  <a:gd name="T5" fmla="*/ 18 h 38"/>
                  <a:gd name="T6" fmla="*/ 24 w 37"/>
                  <a:gd name="T7" fmla="*/ 12 h 38"/>
                  <a:gd name="T8" fmla="*/ 18 w 37"/>
                  <a:gd name="T9" fmla="*/ 0 h 38"/>
                  <a:gd name="T10" fmla="*/ 0 w 37"/>
                  <a:gd name="T11" fmla="*/ 6 h 38"/>
                  <a:gd name="T12" fmla="*/ 6 w 37"/>
                  <a:gd name="T13" fmla="*/ 18 h 38"/>
                  <a:gd name="T14" fmla="*/ 12 w 37"/>
                  <a:gd name="T15" fmla="*/ 25 h 38"/>
                  <a:gd name="T16" fmla="*/ 24 w 37"/>
                  <a:gd name="T17" fmla="*/ 25 h 38"/>
                  <a:gd name="T18" fmla="*/ 30 w 37"/>
                  <a:gd name="T19" fmla="*/ 37 h 38"/>
                  <a:gd name="T20" fmla="*/ 36 w 37"/>
                  <a:gd name="T21" fmla="*/ 37 h 3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37"/>
                  <a:gd name="T34" fmla="*/ 0 h 38"/>
                  <a:gd name="T35" fmla="*/ 37 w 37"/>
                  <a:gd name="T36" fmla="*/ 38 h 38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37" h="38">
                    <a:moveTo>
                      <a:pt x="36" y="37"/>
                    </a:moveTo>
                    <a:lnTo>
                      <a:pt x="30" y="25"/>
                    </a:lnTo>
                    <a:lnTo>
                      <a:pt x="24" y="18"/>
                    </a:lnTo>
                    <a:lnTo>
                      <a:pt x="24" y="12"/>
                    </a:lnTo>
                    <a:lnTo>
                      <a:pt x="18" y="0"/>
                    </a:lnTo>
                    <a:lnTo>
                      <a:pt x="0" y="6"/>
                    </a:lnTo>
                    <a:lnTo>
                      <a:pt x="6" y="18"/>
                    </a:lnTo>
                    <a:lnTo>
                      <a:pt x="12" y="25"/>
                    </a:lnTo>
                    <a:lnTo>
                      <a:pt x="24" y="25"/>
                    </a:lnTo>
                    <a:lnTo>
                      <a:pt x="30" y="37"/>
                    </a:lnTo>
                    <a:lnTo>
                      <a:pt x="36" y="37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87" name="Freeform 51">
                <a:extLst>
                  <a:ext uri="{FF2B5EF4-FFF2-40B4-BE49-F238E27FC236}">
                    <a16:creationId xmlns:a16="http://schemas.microsoft.com/office/drawing/2014/main" id="{E35C8D90-F38F-477F-93B1-693D615B0A3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7197920" y="3093936"/>
                <a:ext cx="48404" cy="32882"/>
              </a:xfrm>
              <a:custGeom>
                <a:avLst/>
                <a:gdLst>
                  <a:gd name="T0" fmla="*/ 18 w 19"/>
                  <a:gd name="T1" fmla="*/ 18 h 19"/>
                  <a:gd name="T2" fmla="*/ 12 w 19"/>
                  <a:gd name="T3" fmla="*/ 12 h 19"/>
                  <a:gd name="T4" fmla="*/ 0 w 19"/>
                  <a:gd name="T5" fmla="*/ 0 h 19"/>
                  <a:gd name="T6" fmla="*/ 12 w 19"/>
                  <a:gd name="T7" fmla="*/ 6 h 19"/>
                  <a:gd name="T8" fmla="*/ 18 w 19"/>
                  <a:gd name="T9" fmla="*/ 18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"/>
                  <a:gd name="T16" fmla="*/ 0 h 19"/>
                  <a:gd name="T17" fmla="*/ 19 w 19"/>
                  <a:gd name="T18" fmla="*/ 19 h 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" h="19">
                    <a:moveTo>
                      <a:pt x="18" y="18"/>
                    </a:moveTo>
                    <a:lnTo>
                      <a:pt x="12" y="12"/>
                    </a:lnTo>
                    <a:lnTo>
                      <a:pt x="0" y="0"/>
                    </a:lnTo>
                    <a:lnTo>
                      <a:pt x="12" y="6"/>
                    </a:lnTo>
                    <a:lnTo>
                      <a:pt x="18" y="18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88" name="Freeform 52">
                <a:extLst>
                  <a:ext uri="{FF2B5EF4-FFF2-40B4-BE49-F238E27FC236}">
                    <a16:creationId xmlns:a16="http://schemas.microsoft.com/office/drawing/2014/main" id="{A4FAC908-537A-48DA-987C-DBE04CC27F1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7213204" y="3048941"/>
                <a:ext cx="124836" cy="76147"/>
              </a:xfrm>
              <a:custGeom>
                <a:avLst/>
                <a:gdLst>
                  <a:gd name="T0" fmla="*/ 18 w 49"/>
                  <a:gd name="T1" fmla="*/ 43 h 44"/>
                  <a:gd name="T2" fmla="*/ 30 w 49"/>
                  <a:gd name="T3" fmla="*/ 31 h 44"/>
                  <a:gd name="T4" fmla="*/ 30 w 49"/>
                  <a:gd name="T5" fmla="*/ 37 h 44"/>
                  <a:gd name="T6" fmla="*/ 36 w 49"/>
                  <a:gd name="T7" fmla="*/ 43 h 44"/>
                  <a:gd name="T8" fmla="*/ 36 w 49"/>
                  <a:gd name="T9" fmla="*/ 37 h 44"/>
                  <a:gd name="T10" fmla="*/ 42 w 49"/>
                  <a:gd name="T11" fmla="*/ 37 h 44"/>
                  <a:gd name="T12" fmla="*/ 42 w 49"/>
                  <a:gd name="T13" fmla="*/ 25 h 44"/>
                  <a:gd name="T14" fmla="*/ 48 w 49"/>
                  <a:gd name="T15" fmla="*/ 25 h 44"/>
                  <a:gd name="T16" fmla="*/ 42 w 49"/>
                  <a:gd name="T17" fmla="*/ 12 h 44"/>
                  <a:gd name="T18" fmla="*/ 30 w 49"/>
                  <a:gd name="T19" fmla="*/ 0 h 44"/>
                  <a:gd name="T20" fmla="*/ 24 w 49"/>
                  <a:gd name="T21" fmla="*/ 6 h 44"/>
                  <a:gd name="T22" fmla="*/ 12 w 49"/>
                  <a:gd name="T23" fmla="*/ 0 h 44"/>
                  <a:gd name="T24" fmla="*/ 12 w 49"/>
                  <a:gd name="T25" fmla="*/ 12 h 44"/>
                  <a:gd name="T26" fmla="*/ 0 w 49"/>
                  <a:gd name="T27" fmla="*/ 6 h 44"/>
                  <a:gd name="T28" fmla="*/ 6 w 49"/>
                  <a:gd name="T29" fmla="*/ 18 h 44"/>
                  <a:gd name="T30" fmla="*/ 6 w 49"/>
                  <a:gd name="T31" fmla="*/ 25 h 44"/>
                  <a:gd name="T32" fmla="*/ 12 w 49"/>
                  <a:gd name="T33" fmla="*/ 31 h 44"/>
                  <a:gd name="T34" fmla="*/ 18 w 49"/>
                  <a:gd name="T35" fmla="*/ 43 h 44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49"/>
                  <a:gd name="T55" fmla="*/ 0 h 44"/>
                  <a:gd name="T56" fmla="*/ 49 w 49"/>
                  <a:gd name="T57" fmla="*/ 44 h 44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49" h="44">
                    <a:moveTo>
                      <a:pt x="18" y="43"/>
                    </a:moveTo>
                    <a:lnTo>
                      <a:pt x="30" y="31"/>
                    </a:lnTo>
                    <a:lnTo>
                      <a:pt x="30" y="37"/>
                    </a:lnTo>
                    <a:lnTo>
                      <a:pt x="36" y="43"/>
                    </a:lnTo>
                    <a:lnTo>
                      <a:pt x="36" y="37"/>
                    </a:lnTo>
                    <a:lnTo>
                      <a:pt x="42" y="37"/>
                    </a:lnTo>
                    <a:lnTo>
                      <a:pt x="42" y="25"/>
                    </a:lnTo>
                    <a:lnTo>
                      <a:pt x="48" y="25"/>
                    </a:lnTo>
                    <a:lnTo>
                      <a:pt x="42" y="12"/>
                    </a:lnTo>
                    <a:lnTo>
                      <a:pt x="30" y="0"/>
                    </a:lnTo>
                    <a:lnTo>
                      <a:pt x="24" y="6"/>
                    </a:lnTo>
                    <a:lnTo>
                      <a:pt x="12" y="0"/>
                    </a:lnTo>
                    <a:lnTo>
                      <a:pt x="12" y="12"/>
                    </a:lnTo>
                    <a:lnTo>
                      <a:pt x="0" y="6"/>
                    </a:lnTo>
                    <a:lnTo>
                      <a:pt x="6" y="18"/>
                    </a:lnTo>
                    <a:lnTo>
                      <a:pt x="6" y="25"/>
                    </a:lnTo>
                    <a:lnTo>
                      <a:pt x="12" y="31"/>
                    </a:lnTo>
                    <a:lnTo>
                      <a:pt x="18" y="43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89" name="Freeform 53">
                <a:extLst>
                  <a:ext uri="{FF2B5EF4-FFF2-40B4-BE49-F238E27FC236}">
                    <a16:creationId xmlns:a16="http://schemas.microsoft.com/office/drawing/2014/main" id="{3B4BA76F-9F00-49D2-AF08-5CE45ED221A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7404283" y="3028173"/>
                <a:ext cx="361775" cy="160948"/>
              </a:xfrm>
              <a:custGeom>
                <a:avLst/>
                <a:gdLst>
                  <a:gd name="T0" fmla="*/ 141 w 142"/>
                  <a:gd name="T1" fmla="*/ 74 h 93"/>
                  <a:gd name="T2" fmla="*/ 129 w 142"/>
                  <a:gd name="T3" fmla="*/ 68 h 93"/>
                  <a:gd name="T4" fmla="*/ 129 w 142"/>
                  <a:gd name="T5" fmla="*/ 74 h 93"/>
                  <a:gd name="T6" fmla="*/ 123 w 142"/>
                  <a:gd name="T7" fmla="*/ 74 h 93"/>
                  <a:gd name="T8" fmla="*/ 117 w 142"/>
                  <a:gd name="T9" fmla="*/ 86 h 93"/>
                  <a:gd name="T10" fmla="*/ 111 w 142"/>
                  <a:gd name="T11" fmla="*/ 92 h 93"/>
                  <a:gd name="T12" fmla="*/ 104 w 142"/>
                  <a:gd name="T13" fmla="*/ 92 h 93"/>
                  <a:gd name="T14" fmla="*/ 86 w 142"/>
                  <a:gd name="T15" fmla="*/ 92 h 93"/>
                  <a:gd name="T16" fmla="*/ 86 w 142"/>
                  <a:gd name="T17" fmla="*/ 80 h 93"/>
                  <a:gd name="T18" fmla="*/ 43 w 142"/>
                  <a:gd name="T19" fmla="*/ 61 h 93"/>
                  <a:gd name="T20" fmla="*/ 30 w 142"/>
                  <a:gd name="T21" fmla="*/ 61 h 93"/>
                  <a:gd name="T22" fmla="*/ 12 w 142"/>
                  <a:gd name="T23" fmla="*/ 68 h 93"/>
                  <a:gd name="T24" fmla="*/ 12 w 142"/>
                  <a:gd name="T25" fmla="*/ 49 h 93"/>
                  <a:gd name="T26" fmla="*/ 12 w 142"/>
                  <a:gd name="T27" fmla="*/ 37 h 93"/>
                  <a:gd name="T28" fmla="*/ 0 w 142"/>
                  <a:gd name="T29" fmla="*/ 37 h 93"/>
                  <a:gd name="T30" fmla="*/ 6 w 142"/>
                  <a:gd name="T31" fmla="*/ 30 h 93"/>
                  <a:gd name="T32" fmla="*/ 18 w 142"/>
                  <a:gd name="T33" fmla="*/ 30 h 93"/>
                  <a:gd name="T34" fmla="*/ 24 w 142"/>
                  <a:gd name="T35" fmla="*/ 24 h 93"/>
                  <a:gd name="T36" fmla="*/ 12 w 142"/>
                  <a:gd name="T37" fmla="*/ 12 h 93"/>
                  <a:gd name="T38" fmla="*/ 6 w 142"/>
                  <a:gd name="T39" fmla="*/ 12 h 93"/>
                  <a:gd name="T40" fmla="*/ 0 w 142"/>
                  <a:gd name="T41" fmla="*/ 24 h 93"/>
                  <a:gd name="T42" fmla="*/ 0 w 142"/>
                  <a:gd name="T43" fmla="*/ 12 h 93"/>
                  <a:gd name="T44" fmla="*/ 18 w 142"/>
                  <a:gd name="T45" fmla="*/ 6 h 93"/>
                  <a:gd name="T46" fmla="*/ 30 w 142"/>
                  <a:gd name="T47" fmla="*/ 18 h 93"/>
                  <a:gd name="T48" fmla="*/ 37 w 142"/>
                  <a:gd name="T49" fmla="*/ 18 h 93"/>
                  <a:gd name="T50" fmla="*/ 43 w 142"/>
                  <a:gd name="T51" fmla="*/ 18 h 93"/>
                  <a:gd name="T52" fmla="*/ 43 w 142"/>
                  <a:gd name="T53" fmla="*/ 12 h 93"/>
                  <a:gd name="T54" fmla="*/ 55 w 142"/>
                  <a:gd name="T55" fmla="*/ 6 h 93"/>
                  <a:gd name="T56" fmla="*/ 61 w 142"/>
                  <a:gd name="T57" fmla="*/ 6 h 93"/>
                  <a:gd name="T58" fmla="*/ 55 w 142"/>
                  <a:gd name="T59" fmla="*/ 6 h 93"/>
                  <a:gd name="T60" fmla="*/ 61 w 142"/>
                  <a:gd name="T61" fmla="*/ 0 h 93"/>
                  <a:gd name="T62" fmla="*/ 74 w 142"/>
                  <a:gd name="T63" fmla="*/ 6 h 93"/>
                  <a:gd name="T64" fmla="*/ 74 w 142"/>
                  <a:gd name="T65" fmla="*/ 18 h 93"/>
                  <a:gd name="T66" fmla="*/ 92 w 142"/>
                  <a:gd name="T67" fmla="*/ 24 h 93"/>
                  <a:gd name="T68" fmla="*/ 104 w 142"/>
                  <a:gd name="T69" fmla="*/ 37 h 93"/>
                  <a:gd name="T70" fmla="*/ 129 w 142"/>
                  <a:gd name="T71" fmla="*/ 55 h 93"/>
                  <a:gd name="T72" fmla="*/ 141 w 142"/>
                  <a:gd name="T73" fmla="*/ 61 h 93"/>
                  <a:gd name="T74" fmla="*/ 141 w 142"/>
                  <a:gd name="T75" fmla="*/ 74 h 93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142"/>
                  <a:gd name="T115" fmla="*/ 0 h 93"/>
                  <a:gd name="T116" fmla="*/ 142 w 142"/>
                  <a:gd name="T117" fmla="*/ 93 h 93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142" h="93">
                    <a:moveTo>
                      <a:pt x="141" y="74"/>
                    </a:moveTo>
                    <a:lnTo>
                      <a:pt x="129" y="68"/>
                    </a:lnTo>
                    <a:lnTo>
                      <a:pt x="129" y="74"/>
                    </a:lnTo>
                    <a:lnTo>
                      <a:pt x="123" y="74"/>
                    </a:lnTo>
                    <a:lnTo>
                      <a:pt x="117" y="86"/>
                    </a:lnTo>
                    <a:lnTo>
                      <a:pt x="111" y="92"/>
                    </a:lnTo>
                    <a:lnTo>
                      <a:pt x="104" y="92"/>
                    </a:lnTo>
                    <a:lnTo>
                      <a:pt x="86" y="92"/>
                    </a:lnTo>
                    <a:lnTo>
                      <a:pt x="86" y="80"/>
                    </a:lnTo>
                    <a:lnTo>
                      <a:pt x="43" y="61"/>
                    </a:lnTo>
                    <a:lnTo>
                      <a:pt x="30" y="61"/>
                    </a:lnTo>
                    <a:lnTo>
                      <a:pt x="12" y="68"/>
                    </a:lnTo>
                    <a:lnTo>
                      <a:pt x="12" y="49"/>
                    </a:lnTo>
                    <a:lnTo>
                      <a:pt x="12" y="37"/>
                    </a:lnTo>
                    <a:lnTo>
                      <a:pt x="0" y="37"/>
                    </a:lnTo>
                    <a:lnTo>
                      <a:pt x="6" y="30"/>
                    </a:lnTo>
                    <a:lnTo>
                      <a:pt x="18" y="30"/>
                    </a:lnTo>
                    <a:lnTo>
                      <a:pt x="24" y="24"/>
                    </a:lnTo>
                    <a:lnTo>
                      <a:pt x="12" y="12"/>
                    </a:lnTo>
                    <a:lnTo>
                      <a:pt x="6" y="12"/>
                    </a:lnTo>
                    <a:lnTo>
                      <a:pt x="0" y="24"/>
                    </a:lnTo>
                    <a:lnTo>
                      <a:pt x="0" y="12"/>
                    </a:lnTo>
                    <a:lnTo>
                      <a:pt x="18" y="6"/>
                    </a:lnTo>
                    <a:lnTo>
                      <a:pt x="30" y="18"/>
                    </a:lnTo>
                    <a:lnTo>
                      <a:pt x="37" y="18"/>
                    </a:lnTo>
                    <a:lnTo>
                      <a:pt x="43" y="18"/>
                    </a:lnTo>
                    <a:lnTo>
                      <a:pt x="43" y="12"/>
                    </a:lnTo>
                    <a:lnTo>
                      <a:pt x="55" y="6"/>
                    </a:lnTo>
                    <a:lnTo>
                      <a:pt x="61" y="6"/>
                    </a:lnTo>
                    <a:lnTo>
                      <a:pt x="55" y="6"/>
                    </a:lnTo>
                    <a:lnTo>
                      <a:pt x="61" y="0"/>
                    </a:lnTo>
                    <a:lnTo>
                      <a:pt x="74" y="6"/>
                    </a:lnTo>
                    <a:lnTo>
                      <a:pt x="74" y="18"/>
                    </a:lnTo>
                    <a:lnTo>
                      <a:pt x="92" y="24"/>
                    </a:lnTo>
                    <a:lnTo>
                      <a:pt x="104" y="37"/>
                    </a:lnTo>
                    <a:lnTo>
                      <a:pt x="129" y="55"/>
                    </a:lnTo>
                    <a:lnTo>
                      <a:pt x="141" y="61"/>
                    </a:lnTo>
                    <a:lnTo>
                      <a:pt x="141" y="74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90" name="Freeform 54">
                <a:extLst>
                  <a:ext uri="{FF2B5EF4-FFF2-40B4-BE49-F238E27FC236}">
                    <a16:creationId xmlns:a16="http://schemas.microsoft.com/office/drawing/2014/main" id="{1406B8F8-DEFA-4AAA-B546-681F39AF1D1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7496000" y="2964141"/>
                <a:ext cx="430563" cy="193829"/>
              </a:xfrm>
              <a:custGeom>
                <a:avLst/>
                <a:gdLst>
                  <a:gd name="T0" fmla="*/ 106 w 169"/>
                  <a:gd name="T1" fmla="*/ 111 h 112"/>
                  <a:gd name="T2" fmla="*/ 112 w 169"/>
                  <a:gd name="T3" fmla="*/ 111 h 112"/>
                  <a:gd name="T4" fmla="*/ 125 w 169"/>
                  <a:gd name="T5" fmla="*/ 99 h 112"/>
                  <a:gd name="T6" fmla="*/ 118 w 169"/>
                  <a:gd name="T7" fmla="*/ 87 h 112"/>
                  <a:gd name="T8" fmla="*/ 112 w 169"/>
                  <a:gd name="T9" fmla="*/ 80 h 112"/>
                  <a:gd name="T10" fmla="*/ 125 w 169"/>
                  <a:gd name="T11" fmla="*/ 80 h 112"/>
                  <a:gd name="T12" fmla="*/ 131 w 169"/>
                  <a:gd name="T13" fmla="*/ 68 h 112"/>
                  <a:gd name="T14" fmla="*/ 143 w 169"/>
                  <a:gd name="T15" fmla="*/ 62 h 112"/>
                  <a:gd name="T16" fmla="*/ 150 w 169"/>
                  <a:gd name="T17" fmla="*/ 62 h 112"/>
                  <a:gd name="T18" fmla="*/ 143 w 169"/>
                  <a:gd name="T19" fmla="*/ 68 h 112"/>
                  <a:gd name="T20" fmla="*/ 150 w 169"/>
                  <a:gd name="T21" fmla="*/ 68 h 112"/>
                  <a:gd name="T22" fmla="*/ 156 w 169"/>
                  <a:gd name="T23" fmla="*/ 68 h 112"/>
                  <a:gd name="T24" fmla="*/ 168 w 169"/>
                  <a:gd name="T25" fmla="*/ 62 h 112"/>
                  <a:gd name="T26" fmla="*/ 156 w 169"/>
                  <a:gd name="T27" fmla="*/ 55 h 112"/>
                  <a:gd name="T28" fmla="*/ 150 w 169"/>
                  <a:gd name="T29" fmla="*/ 62 h 112"/>
                  <a:gd name="T30" fmla="*/ 143 w 169"/>
                  <a:gd name="T31" fmla="*/ 55 h 112"/>
                  <a:gd name="T32" fmla="*/ 150 w 169"/>
                  <a:gd name="T33" fmla="*/ 43 h 112"/>
                  <a:gd name="T34" fmla="*/ 143 w 169"/>
                  <a:gd name="T35" fmla="*/ 49 h 112"/>
                  <a:gd name="T36" fmla="*/ 125 w 169"/>
                  <a:gd name="T37" fmla="*/ 62 h 112"/>
                  <a:gd name="T38" fmla="*/ 118 w 169"/>
                  <a:gd name="T39" fmla="*/ 55 h 112"/>
                  <a:gd name="T40" fmla="*/ 106 w 169"/>
                  <a:gd name="T41" fmla="*/ 55 h 112"/>
                  <a:gd name="T42" fmla="*/ 106 w 169"/>
                  <a:gd name="T43" fmla="*/ 49 h 112"/>
                  <a:gd name="T44" fmla="*/ 100 w 169"/>
                  <a:gd name="T45" fmla="*/ 49 h 112"/>
                  <a:gd name="T46" fmla="*/ 100 w 169"/>
                  <a:gd name="T47" fmla="*/ 37 h 112"/>
                  <a:gd name="T48" fmla="*/ 87 w 169"/>
                  <a:gd name="T49" fmla="*/ 24 h 112"/>
                  <a:gd name="T50" fmla="*/ 56 w 169"/>
                  <a:gd name="T51" fmla="*/ 24 h 112"/>
                  <a:gd name="T52" fmla="*/ 37 w 169"/>
                  <a:gd name="T53" fmla="*/ 6 h 112"/>
                  <a:gd name="T54" fmla="*/ 25 w 169"/>
                  <a:gd name="T55" fmla="*/ 0 h 112"/>
                  <a:gd name="T56" fmla="*/ 0 w 169"/>
                  <a:gd name="T57" fmla="*/ 6 h 112"/>
                  <a:gd name="T58" fmla="*/ 0 w 169"/>
                  <a:gd name="T59" fmla="*/ 55 h 112"/>
                  <a:gd name="T60" fmla="*/ 6 w 169"/>
                  <a:gd name="T61" fmla="*/ 55 h 112"/>
                  <a:gd name="T62" fmla="*/ 6 w 169"/>
                  <a:gd name="T63" fmla="*/ 49 h 112"/>
                  <a:gd name="T64" fmla="*/ 18 w 169"/>
                  <a:gd name="T65" fmla="*/ 43 h 112"/>
                  <a:gd name="T66" fmla="*/ 25 w 169"/>
                  <a:gd name="T67" fmla="*/ 43 h 112"/>
                  <a:gd name="T68" fmla="*/ 18 w 169"/>
                  <a:gd name="T69" fmla="*/ 37 h 112"/>
                  <a:gd name="T70" fmla="*/ 25 w 169"/>
                  <a:gd name="T71" fmla="*/ 37 h 112"/>
                  <a:gd name="T72" fmla="*/ 37 w 169"/>
                  <a:gd name="T73" fmla="*/ 43 h 112"/>
                  <a:gd name="T74" fmla="*/ 37 w 169"/>
                  <a:gd name="T75" fmla="*/ 55 h 112"/>
                  <a:gd name="T76" fmla="*/ 56 w 169"/>
                  <a:gd name="T77" fmla="*/ 62 h 112"/>
                  <a:gd name="T78" fmla="*/ 62 w 169"/>
                  <a:gd name="T79" fmla="*/ 74 h 112"/>
                  <a:gd name="T80" fmla="*/ 93 w 169"/>
                  <a:gd name="T81" fmla="*/ 93 h 112"/>
                  <a:gd name="T82" fmla="*/ 106 w 169"/>
                  <a:gd name="T83" fmla="*/ 99 h 112"/>
                  <a:gd name="T84" fmla="*/ 106 w 169"/>
                  <a:gd name="T85" fmla="*/ 111 h 112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169"/>
                  <a:gd name="T130" fmla="*/ 0 h 112"/>
                  <a:gd name="T131" fmla="*/ 169 w 169"/>
                  <a:gd name="T132" fmla="*/ 112 h 112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169" h="112">
                    <a:moveTo>
                      <a:pt x="106" y="111"/>
                    </a:moveTo>
                    <a:lnTo>
                      <a:pt x="112" y="111"/>
                    </a:lnTo>
                    <a:lnTo>
                      <a:pt x="125" y="99"/>
                    </a:lnTo>
                    <a:lnTo>
                      <a:pt x="118" y="87"/>
                    </a:lnTo>
                    <a:lnTo>
                      <a:pt x="112" y="80"/>
                    </a:lnTo>
                    <a:lnTo>
                      <a:pt x="125" y="80"/>
                    </a:lnTo>
                    <a:lnTo>
                      <a:pt x="131" y="68"/>
                    </a:lnTo>
                    <a:lnTo>
                      <a:pt x="143" y="62"/>
                    </a:lnTo>
                    <a:lnTo>
                      <a:pt x="150" y="62"/>
                    </a:lnTo>
                    <a:lnTo>
                      <a:pt x="143" y="68"/>
                    </a:lnTo>
                    <a:lnTo>
                      <a:pt x="150" y="68"/>
                    </a:lnTo>
                    <a:lnTo>
                      <a:pt x="156" y="68"/>
                    </a:lnTo>
                    <a:lnTo>
                      <a:pt x="168" y="62"/>
                    </a:lnTo>
                    <a:lnTo>
                      <a:pt x="156" y="55"/>
                    </a:lnTo>
                    <a:lnTo>
                      <a:pt x="150" y="62"/>
                    </a:lnTo>
                    <a:lnTo>
                      <a:pt x="143" y="55"/>
                    </a:lnTo>
                    <a:lnTo>
                      <a:pt x="150" y="43"/>
                    </a:lnTo>
                    <a:lnTo>
                      <a:pt x="143" y="49"/>
                    </a:lnTo>
                    <a:lnTo>
                      <a:pt x="125" y="62"/>
                    </a:lnTo>
                    <a:lnTo>
                      <a:pt x="118" y="55"/>
                    </a:lnTo>
                    <a:lnTo>
                      <a:pt x="106" y="55"/>
                    </a:lnTo>
                    <a:lnTo>
                      <a:pt x="106" y="49"/>
                    </a:lnTo>
                    <a:lnTo>
                      <a:pt x="100" y="49"/>
                    </a:lnTo>
                    <a:lnTo>
                      <a:pt x="100" y="37"/>
                    </a:lnTo>
                    <a:lnTo>
                      <a:pt x="87" y="24"/>
                    </a:lnTo>
                    <a:lnTo>
                      <a:pt x="56" y="24"/>
                    </a:lnTo>
                    <a:lnTo>
                      <a:pt x="37" y="6"/>
                    </a:lnTo>
                    <a:lnTo>
                      <a:pt x="25" y="0"/>
                    </a:lnTo>
                    <a:lnTo>
                      <a:pt x="0" y="6"/>
                    </a:lnTo>
                    <a:lnTo>
                      <a:pt x="0" y="55"/>
                    </a:lnTo>
                    <a:lnTo>
                      <a:pt x="6" y="55"/>
                    </a:lnTo>
                    <a:lnTo>
                      <a:pt x="6" y="49"/>
                    </a:lnTo>
                    <a:lnTo>
                      <a:pt x="18" y="43"/>
                    </a:lnTo>
                    <a:lnTo>
                      <a:pt x="25" y="43"/>
                    </a:lnTo>
                    <a:lnTo>
                      <a:pt x="18" y="37"/>
                    </a:lnTo>
                    <a:lnTo>
                      <a:pt x="25" y="37"/>
                    </a:lnTo>
                    <a:lnTo>
                      <a:pt x="37" y="43"/>
                    </a:lnTo>
                    <a:lnTo>
                      <a:pt x="37" y="55"/>
                    </a:lnTo>
                    <a:lnTo>
                      <a:pt x="56" y="62"/>
                    </a:lnTo>
                    <a:lnTo>
                      <a:pt x="62" y="74"/>
                    </a:lnTo>
                    <a:lnTo>
                      <a:pt x="93" y="93"/>
                    </a:lnTo>
                    <a:lnTo>
                      <a:pt x="106" y="99"/>
                    </a:lnTo>
                    <a:lnTo>
                      <a:pt x="106" y="111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91" name="Freeform 55">
                <a:extLst>
                  <a:ext uri="{FF2B5EF4-FFF2-40B4-BE49-F238E27FC236}">
                    <a16:creationId xmlns:a16="http://schemas.microsoft.com/office/drawing/2014/main" id="{0C387849-7F0C-412E-A9E9-C36C839B199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7781346" y="3069708"/>
                <a:ext cx="191079" cy="98645"/>
              </a:xfrm>
              <a:custGeom>
                <a:avLst/>
                <a:gdLst>
                  <a:gd name="T0" fmla="*/ 68 w 75"/>
                  <a:gd name="T1" fmla="*/ 18 h 57"/>
                  <a:gd name="T2" fmla="*/ 62 w 75"/>
                  <a:gd name="T3" fmla="*/ 31 h 57"/>
                  <a:gd name="T4" fmla="*/ 68 w 75"/>
                  <a:gd name="T5" fmla="*/ 31 h 57"/>
                  <a:gd name="T6" fmla="*/ 74 w 75"/>
                  <a:gd name="T7" fmla="*/ 31 h 57"/>
                  <a:gd name="T8" fmla="*/ 74 w 75"/>
                  <a:gd name="T9" fmla="*/ 50 h 57"/>
                  <a:gd name="T10" fmla="*/ 62 w 75"/>
                  <a:gd name="T11" fmla="*/ 50 h 57"/>
                  <a:gd name="T12" fmla="*/ 43 w 75"/>
                  <a:gd name="T13" fmla="*/ 56 h 57"/>
                  <a:gd name="T14" fmla="*/ 43 w 75"/>
                  <a:gd name="T15" fmla="*/ 44 h 57"/>
                  <a:gd name="T16" fmla="*/ 37 w 75"/>
                  <a:gd name="T17" fmla="*/ 37 h 57"/>
                  <a:gd name="T18" fmla="*/ 31 w 75"/>
                  <a:gd name="T19" fmla="*/ 44 h 57"/>
                  <a:gd name="T20" fmla="*/ 24 w 75"/>
                  <a:gd name="T21" fmla="*/ 44 h 57"/>
                  <a:gd name="T22" fmla="*/ 18 w 75"/>
                  <a:gd name="T23" fmla="*/ 50 h 57"/>
                  <a:gd name="T24" fmla="*/ 12 w 75"/>
                  <a:gd name="T25" fmla="*/ 50 h 57"/>
                  <a:gd name="T26" fmla="*/ 0 w 75"/>
                  <a:gd name="T27" fmla="*/ 50 h 57"/>
                  <a:gd name="T28" fmla="*/ 12 w 75"/>
                  <a:gd name="T29" fmla="*/ 37 h 57"/>
                  <a:gd name="T30" fmla="*/ 6 w 75"/>
                  <a:gd name="T31" fmla="*/ 25 h 57"/>
                  <a:gd name="T32" fmla="*/ 0 w 75"/>
                  <a:gd name="T33" fmla="*/ 18 h 57"/>
                  <a:gd name="T34" fmla="*/ 12 w 75"/>
                  <a:gd name="T35" fmla="*/ 18 h 57"/>
                  <a:gd name="T36" fmla="*/ 18 w 75"/>
                  <a:gd name="T37" fmla="*/ 6 h 57"/>
                  <a:gd name="T38" fmla="*/ 18 w 75"/>
                  <a:gd name="T39" fmla="*/ 0 h 57"/>
                  <a:gd name="T40" fmla="*/ 31 w 75"/>
                  <a:gd name="T41" fmla="*/ 0 h 57"/>
                  <a:gd name="T42" fmla="*/ 37 w 75"/>
                  <a:gd name="T43" fmla="*/ 0 h 57"/>
                  <a:gd name="T44" fmla="*/ 31 w 75"/>
                  <a:gd name="T45" fmla="*/ 6 h 57"/>
                  <a:gd name="T46" fmla="*/ 37 w 75"/>
                  <a:gd name="T47" fmla="*/ 6 h 57"/>
                  <a:gd name="T48" fmla="*/ 31 w 75"/>
                  <a:gd name="T49" fmla="*/ 12 h 57"/>
                  <a:gd name="T50" fmla="*/ 18 w 75"/>
                  <a:gd name="T51" fmla="*/ 12 h 57"/>
                  <a:gd name="T52" fmla="*/ 18 w 75"/>
                  <a:gd name="T53" fmla="*/ 18 h 57"/>
                  <a:gd name="T54" fmla="*/ 43 w 75"/>
                  <a:gd name="T55" fmla="*/ 18 h 57"/>
                  <a:gd name="T56" fmla="*/ 49 w 75"/>
                  <a:gd name="T57" fmla="*/ 18 h 57"/>
                  <a:gd name="T58" fmla="*/ 68 w 75"/>
                  <a:gd name="T59" fmla="*/ 18 h 57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75"/>
                  <a:gd name="T91" fmla="*/ 0 h 57"/>
                  <a:gd name="T92" fmla="*/ 75 w 75"/>
                  <a:gd name="T93" fmla="*/ 57 h 57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75" h="57">
                    <a:moveTo>
                      <a:pt x="68" y="18"/>
                    </a:moveTo>
                    <a:lnTo>
                      <a:pt x="62" y="31"/>
                    </a:lnTo>
                    <a:lnTo>
                      <a:pt x="68" y="31"/>
                    </a:lnTo>
                    <a:lnTo>
                      <a:pt x="74" y="31"/>
                    </a:lnTo>
                    <a:lnTo>
                      <a:pt x="74" y="50"/>
                    </a:lnTo>
                    <a:lnTo>
                      <a:pt x="62" y="50"/>
                    </a:lnTo>
                    <a:lnTo>
                      <a:pt x="43" y="56"/>
                    </a:lnTo>
                    <a:lnTo>
                      <a:pt x="43" y="44"/>
                    </a:lnTo>
                    <a:lnTo>
                      <a:pt x="37" y="37"/>
                    </a:lnTo>
                    <a:lnTo>
                      <a:pt x="31" y="44"/>
                    </a:lnTo>
                    <a:lnTo>
                      <a:pt x="24" y="44"/>
                    </a:lnTo>
                    <a:lnTo>
                      <a:pt x="18" y="50"/>
                    </a:lnTo>
                    <a:lnTo>
                      <a:pt x="12" y="50"/>
                    </a:lnTo>
                    <a:lnTo>
                      <a:pt x="0" y="50"/>
                    </a:lnTo>
                    <a:lnTo>
                      <a:pt x="12" y="37"/>
                    </a:lnTo>
                    <a:lnTo>
                      <a:pt x="6" y="25"/>
                    </a:lnTo>
                    <a:lnTo>
                      <a:pt x="0" y="18"/>
                    </a:lnTo>
                    <a:lnTo>
                      <a:pt x="12" y="18"/>
                    </a:lnTo>
                    <a:lnTo>
                      <a:pt x="18" y="6"/>
                    </a:lnTo>
                    <a:lnTo>
                      <a:pt x="18" y="0"/>
                    </a:lnTo>
                    <a:lnTo>
                      <a:pt x="31" y="0"/>
                    </a:lnTo>
                    <a:lnTo>
                      <a:pt x="37" y="0"/>
                    </a:lnTo>
                    <a:lnTo>
                      <a:pt x="31" y="6"/>
                    </a:lnTo>
                    <a:lnTo>
                      <a:pt x="37" y="6"/>
                    </a:lnTo>
                    <a:lnTo>
                      <a:pt x="31" y="12"/>
                    </a:lnTo>
                    <a:lnTo>
                      <a:pt x="18" y="12"/>
                    </a:lnTo>
                    <a:lnTo>
                      <a:pt x="18" y="18"/>
                    </a:lnTo>
                    <a:lnTo>
                      <a:pt x="43" y="18"/>
                    </a:lnTo>
                    <a:lnTo>
                      <a:pt x="49" y="18"/>
                    </a:lnTo>
                    <a:lnTo>
                      <a:pt x="68" y="18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92" name="Freeform 56">
                <a:extLst>
                  <a:ext uri="{FF2B5EF4-FFF2-40B4-BE49-F238E27FC236}">
                    <a16:creationId xmlns:a16="http://schemas.microsoft.com/office/drawing/2014/main" id="{ED02461C-B9D7-4A37-A742-0D105179656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7829752" y="3017790"/>
                <a:ext cx="282795" cy="86531"/>
              </a:xfrm>
              <a:custGeom>
                <a:avLst/>
                <a:gdLst>
                  <a:gd name="T0" fmla="*/ 110 w 111"/>
                  <a:gd name="T1" fmla="*/ 12 h 50"/>
                  <a:gd name="T2" fmla="*/ 104 w 111"/>
                  <a:gd name="T3" fmla="*/ 18 h 50"/>
                  <a:gd name="T4" fmla="*/ 86 w 111"/>
                  <a:gd name="T5" fmla="*/ 31 h 50"/>
                  <a:gd name="T6" fmla="*/ 73 w 111"/>
                  <a:gd name="T7" fmla="*/ 37 h 50"/>
                  <a:gd name="T8" fmla="*/ 55 w 111"/>
                  <a:gd name="T9" fmla="*/ 37 h 50"/>
                  <a:gd name="T10" fmla="*/ 49 w 111"/>
                  <a:gd name="T11" fmla="*/ 43 h 50"/>
                  <a:gd name="T12" fmla="*/ 49 w 111"/>
                  <a:gd name="T13" fmla="*/ 49 h 50"/>
                  <a:gd name="T14" fmla="*/ 30 w 111"/>
                  <a:gd name="T15" fmla="*/ 49 h 50"/>
                  <a:gd name="T16" fmla="*/ 24 w 111"/>
                  <a:gd name="T17" fmla="*/ 49 h 50"/>
                  <a:gd name="T18" fmla="*/ 0 w 111"/>
                  <a:gd name="T19" fmla="*/ 49 h 50"/>
                  <a:gd name="T20" fmla="*/ 0 w 111"/>
                  <a:gd name="T21" fmla="*/ 43 h 50"/>
                  <a:gd name="T22" fmla="*/ 12 w 111"/>
                  <a:gd name="T23" fmla="*/ 43 h 50"/>
                  <a:gd name="T24" fmla="*/ 18 w 111"/>
                  <a:gd name="T25" fmla="*/ 37 h 50"/>
                  <a:gd name="T26" fmla="*/ 24 w 111"/>
                  <a:gd name="T27" fmla="*/ 37 h 50"/>
                  <a:gd name="T28" fmla="*/ 36 w 111"/>
                  <a:gd name="T29" fmla="*/ 31 h 50"/>
                  <a:gd name="T30" fmla="*/ 24 w 111"/>
                  <a:gd name="T31" fmla="*/ 24 h 50"/>
                  <a:gd name="T32" fmla="*/ 24 w 111"/>
                  <a:gd name="T33" fmla="*/ 31 h 50"/>
                  <a:gd name="T34" fmla="*/ 12 w 111"/>
                  <a:gd name="T35" fmla="*/ 24 h 50"/>
                  <a:gd name="T36" fmla="*/ 18 w 111"/>
                  <a:gd name="T37" fmla="*/ 12 h 50"/>
                  <a:gd name="T38" fmla="*/ 18 w 111"/>
                  <a:gd name="T39" fmla="*/ 6 h 50"/>
                  <a:gd name="T40" fmla="*/ 43 w 111"/>
                  <a:gd name="T41" fmla="*/ 12 h 50"/>
                  <a:gd name="T42" fmla="*/ 43 w 111"/>
                  <a:gd name="T43" fmla="*/ 6 h 50"/>
                  <a:gd name="T44" fmla="*/ 49 w 111"/>
                  <a:gd name="T45" fmla="*/ 0 h 50"/>
                  <a:gd name="T46" fmla="*/ 61 w 111"/>
                  <a:gd name="T47" fmla="*/ 6 h 50"/>
                  <a:gd name="T48" fmla="*/ 98 w 111"/>
                  <a:gd name="T49" fmla="*/ 6 h 50"/>
                  <a:gd name="T50" fmla="*/ 110 w 111"/>
                  <a:gd name="T51" fmla="*/ 12 h 50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111"/>
                  <a:gd name="T79" fmla="*/ 0 h 50"/>
                  <a:gd name="T80" fmla="*/ 111 w 111"/>
                  <a:gd name="T81" fmla="*/ 50 h 50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111" h="50">
                    <a:moveTo>
                      <a:pt x="110" y="12"/>
                    </a:moveTo>
                    <a:lnTo>
                      <a:pt x="104" y="18"/>
                    </a:lnTo>
                    <a:lnTo>
                      <a:pt x="86" y="31"/>
                    </a:lnTo>
                    <a:lnTo>
                      <a:pt x="73" y="37"/>
                    </a:lnTo>
                    <a:lnTo>
                      <a:pt x="55" y="37"/>
                    </a:lnTo>
                    <a:lnTo>
                      <a:pt x="49" y="43"/>
                    </a:lnTo>
                    <a:lnTo>
                      <a:pt x="49" y="49"/>
                    </a:lnTo>
                    <a:lnTo>
                      <a:pt x="30" y="49"/>
                    </a:lnTo>
                    <a:lnTo>
                      <a:pt x="24" y="49"/>
                    </a:lnTo>
                    <a:lnTo>
                      <a:pt x="0" y="49"/>
                    </a:lnTo>
                    <a:lnTo>
                      <a:pt x="0" y="43"/>
                    </a:lnTo>
                    <a:lnTo>
                      <a:pt x="12" y="43"/>
                    </a:lnTo>
                    <a:lnTo>
                      <a:pt x="18" y="37"/>
                    </a:lnTo>
                    <a:lnTo>
                      <a:pt x="24" y="37"/>
                    </a:lnTo>
                    <a:lnTo>
                      <a:pt x="36" y="31"/>
                    </a:lnTo>
                    <a:lnTo>
                      <a:pt x="24" y="24"/>
                    </a:lnTo>
                    <a:lnTo>
                      <a:pt x="24" y="31"/>
                    </a:lnTo>
                    <a:lnTo>
                      <a:pt x="12" y="24"/>
                    </a:lnTo>
                    <a:lnTo>
                      <a:pt x="18" y="12"/>
                    </a:lnTo>
                    <a:lnTo>
                      <a:pt x="18" y="6"/>
                    </a:lnTo>
                    <a:lnTo>
                      <a:pt x="43" y="12"/>
                    </a:lnTo>
                    <a:lnTo>
                      <a:pt x="43" y="6"/>
                    </a:lnTo>
                    <a:lnTo>
                      <a:pt x="49" y="0"/>
                    </a:lnTo>
                    <a:lnTo>
                      <a:pt x="61" y="6"/>
                    </a:lnTo>
                    <a:lnTo>
                      <a:pt x="98" y="6"/>
                    </a:lnTo>
                    <a:lnTo>
                      <a:pt x="110" y="12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93" name="Freeform 57">
                <a:extLst>
                  <a:ext uri="{FF2B5EF4-FFF2-40B4-BE49-F238E27FC236}">
                    <a16:creationId xmlns:a16="http://schemas.microsoft.com/office/drawing/2014/main" id="{5C03D000-3247-4D5A-94A9-657AE93767F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344434" y="2199209"/>
                <a:ext cx="331204" cy="505340"/>
              </a:xfrm>
              <a:custGeom>
                <a:avLst/>
                <a:gdLst>
                  <a:gd name="T0" fmla="*/ 0 w 130"/>
                  <a:gd name="T1" fmla="*/ 229 h 292"/>
                  <a:gd name="T2" fmla="*/ 6 w 130"/>
                  <a:gd name="T3" fmla="*/ 229 h 292"/>
                  <a:gd name="T4" fmla="*/ 6 w 130"/>
                  <a:gd name="T5" fmla="*/ 216 h 292"/>
                  <a:gd name="T6" fmla="*/ 12 w 130"/>
                  <a:gd name="T7" fmla="*/ 204 h 292"/>
                  <a:gd name="T8" fmla="*/ 12 w 130"/>
                  <a:gd name="T9" fmla="*/ 185 h 292"/>
                  <a:gd name="T10" fmla="*/ 18 w 130"/>
                  <a:gd name="T11" fmla="*/ 185 h 292"/>
                  <a:gd name="T12" fmla="*/ 12 w 130"/>
                  <a:gd name="T13" fmla="*/ 154 h 292"/>
                  <a:gd name="T14" fmla="*/ 12 w 130"/>
                  <a:gd name="T15" fmla="*/ 129 h 292"/>
                  <a:gd name="T16" fmla="*/ 18 w 130"/>
                  <a:gd name="T17" fmla="*/ 123 h 292"/>
                  <a:gd name="T18" fmla="*/ 30 w 130"/>
                  <a:gd name="T19" fmla="*/ 123 h 292"/>
                  <a:gd name="T20" fmla="*/ 24 w 130"/>
                  <a:gd name="T21" fmla="*/ 111 h 292"/>
                  <a:gd name="T22" fmla="*/ 30 w 130"/>
                  <a:gd name="T23" fmla="*/ 99 h 292"/>
                  <a:gd name="T24" fmla="*/ 37 w 130"/>
                  <a:gd name="T25" fmla="*/ 74 h 292"/>
                  <a:gd name="T26" fmla="*/ 43 w 130"/>
                  <a:gd name="T27" fmla="*/ 74 h 292"/>
                  <a:gd name="T28" fmla="*/ 49 w 130"/>
                  <a:gd name="T29" fmla="*/ 55 h 292"/>
                  <a:gd name="T30" fmla="*/ 55 w 130"/>
                  <a:gd name="T31" fmla="*/ 49 h 292"/>
                  <a:gd name="T32" fmla="*/ 49 w 130"/>
                  <a:gd name="T33" fmla="*/ 43 h 292"/>
                  <a:gd name="T34" fmla="*/ 55 w 130"/>
                  <a:gd name="T35" fmla="*/ 30 h 292"/>
                  <a:gd name="T36" fmla="*/ 61 w 130"/>
                  <a:gd name="T37" fmla="*/ 24 h 292"/>
                  <a:gd name="T38" fmla="*/ 68 w 130"/>
                  <a:gd name="T39" fmla="*/ 24 h 292"/>
                  <a:gd name="T40" fmla="*/ 74 w 130"/>
                  <a:gd name="T41" fmla="*/ 18 h 292"/>
                  <a:gd name="T42" fmla="*/ 74 w 130"/>
                  <a:gd name="T43" fmla="*/ 12 h 292"/>
                  <a:gd name="T44" fmla="*/ 92 w 130"/>
                  <a:gd name="T45" fmla="*/ 12 h 292"/>
                  <a:gd name="T46" fmla="*/ 92 w 130"/>
                  <a:gd name="T47" fmla="*/ 0 h 292"/>
                  <a:gd name="T48" fmla="*/ 123 w 130"/>
                  <a:gd name="T49" fmla="*/ 24 h 292"/>
                  <a:gd name="T50" fmla="*/ 129 w 130"/>
                  <a:gd name="T51" fmla="*/ 80 h 292"/>
                  <a:gd name="T52" fmla="*/ 111 w 130"/>
                  <a:gd name="T53" fmla="*/ 80 h 292"/>
                  <a:gd name="T54" fmla="*/ 105 w 130"/>
                  <a:gd name="T55" fmla="*/ 92 h 292"/>
                  <a:gd name="T56" fmla="*/ 105 w 130"/>
                  <a:gd name="T57" fmla="*/ 99 h 292"/>
                  <a:gd name="T58" fmla="*/ 99 w 130"/>
                  <a:gd name="T59" fmla="*/ 105 h 292"/>
                  <a:gd name="T60" fmla="*/ 105 w 130"/>
                  <a:gd name="T61" fmla="*/ 111 h 292"/>
                  <a:gd name="T62" fmla="*/ 99 w 130"/>
                  <a:gd name="T63" fmla="*/ 129 h 292"/>
                  <a:gd name="T64" fmla="*/ 74 w 130"/>
                  <a:gd name="T65" fmla="*/ 148 h 292"/>
                  <a:gd name="T66" fmla="*/ 61 w 130"/>
                  <a:gd name="T67" fmla="*/ 160 h 292"/>
                  <a:gd name="T68" fmla="*/ 61 w 130"/>
                  <a:gd name="T69" fmla="*/ 191 h 292"/>
                  <a:gd name="T70" fmla="*/ 80 w 130"/>
                  <a:gd name="T71" fmla="*/ 210 h 292"/>
                  <a:gd name="T72" fmla="*/ 68 w 130"/>
                  <a:gd name="T73" fmla="*/ 222 h 292"/>
                  <a:gd name="T74" fmla="*/ 74 w 130"/>
                  <a:gd name="T75" fmla="*/ 222 h 292"/>
                  <a:gd name="T76" fmla="*/ 55 w 130"/>
                  <a:gd name="T77" fmla="*/ 235 h 292"/>
                  <a:gd name="T78" fmla="*/ 49 w 130"/>
                  <a:gd name="T79" fmla="*/ 279 h 292"/>
                  <a:gd name="T80" fmla="*/ 37 w 130"/>
                  <a:gd name="T81" fmla="*/ 279 h 292"/>
                  <a:gd name="T82" fmla="*/ 30 w 130"/>
                  <a:gd name="T83" fmla="*/ 285 h 292"/>
                  <a:gd name="T84" fmla="*/ 30 w 130"/>
                  <a:gd name="T85" fmla="*/ 291 h 292"/>
                  <a:gd name="T86" fmla="*/ 18 w 130"/>
                  <a:gd name="T87" fmla="*/ 291 h 292"/>
                  <a:gd name="T88" fmla="*/ 18 w 130"/>
                  <a:gd name="T89" fmla="*/ 279 h 292"/>
                  <a:gd name="T90" fmla="*/ 18 w 130"/>
                  <a:gd name="T91" fmla="*/ 273 h 292"/>
                  <a:gd name="T92" fmla="*/ 12 w 130"/>
                  <a:gd name="T93" fmla="*/ 267 h 292"/>
                  <a:gd name="T94" fmla="*/ 0 w 130"/>
                  <a:gd name="T95" fmla="*/ 229 h 292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130"/>
                  <a:gd name="T145" fmla="*/ 0 h 292"/>
                  <a:gd name="T146" fmla="*/ 130 w 130"/>
                  <a:gd name="T147" fmla="*/ 292 h 292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130" h="292">
                    <a:moveTo>
                      <a:pt x="0" y="229"/>
                    </a:moveTo>
                    <a:lnTo>
                      <a:pt x="6" y="229"/>
                    </a:lnTo>
                    <a:lnTo>
                      <a:pt x="6" y="216"/>
                    </a:lnTo>
                    <a:lnTo>
                      <a:pt x="12" y="204"/>
                    </a:lnTo>
                    <a:lnTo>
                      <a:pt x="12" y="185"/>
                    </a:lnTo>
                    <a:lnTo>
                      <a:pt x="18" y="185"/>
                    </a:lnTo>
                    <a:lnTo>
                      <a:pt x="12" y="154"/>
                    </a:lnTo>
                    <a:lnTo>
                      <a:pt x="12" y="129"/>
                    </a:lnTo>
                    <a:lnTo>
                      <a:pt x="18" y="123"/>
                    </a:lnTo>
                    <a:lnTo>
                      <a:pt x="30" y="123"/>
                    </a:lnTo>
                    <a:lnTo>
                      <a:pt x="24" y="111"/>
                    </a:lnTo>
                    <a:lnTo>
                      <a:pt x="30" y="99"/>
                    </a:lnTo>
                    <a:lnTo>
                      <a:pt x="37" y="74"/>
                    </a:lnTo>
                    <a:lnTo>
                      <a:pt x="43" y="74"/>
                    </a:lnTo>
                    <a:lnTo>
                      <a:pt x="49" y="55"/>
                    </a:lnTo>
                    <a:lnTo>
                      <a:pt x="55" y="49"/>
                    </a:lnTo>
                    <a:lnTo>
                      <a:pt x="49" y="43"/>
                    </a:lnTo>
                    <a:lnTo>
                      <a:pt x="55" y="30"/>
                    </a:lnTo>
                    <a:lnTo>
                      <a:pt x="61" y="24"/>
                    </a:lnTo>
                    <a:lnTo>
                      <a:pt x="68" y="24"/>
                    </a:lnTo>
                    <a:lnTo>
                      <a:pt x="74" y="18"/>
                    </a:lnTo>
                    <a:lnTo>
                      <a:pt x="74" y="12"/>
                    </a:lnTo>
                    <a:lnTo>
                      <a:pt x="92" y="12"/>
                    </a:lnTo>
                    <a:lnTo>
                      <a:pt x="92" y="0"/>
                    </a:lnTo>
                    <a:lnTo>
                      <a:pt x="123" y="24"/>
                    </a:lnTo>
                    <a:lnTo>
                      <a:pt x="129" y="80"/>
                    </a:lnTo>
                    <a:lnTo>
                      <a:pt x="111" y="80"/>
                    </a:lnTo>
                    <a:lnTo>
                      <a:pt x="105" y="92"/>
                    </a:lnTo>
                    <a:lnTo>
                      <a:pt x="105" y="99"/>
                    </a:lnTo>
                    <a:lnTo>
                      <a:pt x="99" y="105"/>
                    </a:lnTo>
                    <a:lnTo>
                      <a:pt x="105" y="111"/>
                    </a:lnTo>
                    <a:lnTo>
                      <a:pt x="99" y="129"/>
                    </a:lnTo>
                    <a:lnTo>
                      <a:pt x="74" y="148"/>
                    </a:lnTo>
                    <a:lnTo>
                      <a:pt x="61" y="160"/>
                    </a:lnTo>
                    <a:lnTo>
                      <a:pt x="61" y="191"/>
                    </a:lnTo>
                    <a:lnTo>
                      <a:pt x="80" y="210"/>
                    </a:lnTo>
                    <a:lnTo>
                      <a:pt x="68" y="222"/>
                    </a:lnTo>
                    <a:lnTo>
                      <a:pt x="74" y="222"/>
                    </a:lnTo>
                    <a:lnTo>
                      <a:pt x="55" y="235"/>
                    </a:lnTo>
                    <a:lnTo>
                      <a:pt x="49" y="279"/>
                    </a:lnTo>
                    <a:lnTo>
                      <a:pt x="37" y="279"/>
                    </a:lnTo>
                    <a:lnTo>
                      <a:pt x="30" y="285"/>
                    </a:lnTo>
                    <a:lnTo>
                      <a:pt x="30" y="291"/>
                    </a:lnTo>
                    <a:lnTo>
                      <a:pt x="18" y="291"/>
                    </a:lnTo>
                    <a:lnTo>
                      <a:pt x="18" y="279"/>
                    </a:lnTo>
                    <a:lnTo>
                      <a:pt x="18" y="273"/>
                    </a:lnTo>
                    <a:lnTo>
                      <a:pt x="12" y="267"/>
                    </a:lnTo>
                    <a:lnTo>
                      <a:pt x="0" y="229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94" name="Freeform 58">
                <a:extLst>
                  <a:ext uri="{FF2B5EF4-FFF2-40B4-BE49-F238E27FC236}">
                    <a16:creationId xmlns:a16="http://schemas.microsoft.com/office/drawing/2014/main" id="{0EFD9586-05E7-4CB6-B1C3-026D0B8565F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52728" y="2704549"/>
                <a:ext cx="63693" cy="43264"/>
              </a:xfrm>
              <a:custGeom>
                <a:avLst/>
                <a:gdLst>
                  <a:gd name="T0" fmla="*/ 18 w 25"/>
                  <a:gd name="T1" fmla="*/ 24 h 25"/>
                  <a:gd name="T2" fmla="*/ 18 w 25"/>
                  <a:gd name="T3" fmla="*/ 18 h 25"/>
                  <a:gd name="T4" fmla="*/ 12 w 25"/>
                  <a:gd name="T5" fmla="*/ 18 h 25"/>
                  <a:gd name="T6" fmla="*/ 6 w 25"/>
                  <a:gd name="T7" fmla="*/ 24 h 25"/>
                  <a:gd name="T8" fmla="*/ 0 w 25"/>
                  <a:gd name="T9" fmla="*/ 18 h 25"/>
                  <a:gd name="T10" fmla="*/ 6 w 25"/>
                  <a:gd name="T11" fmla="*/ 6 h 25"/>
                  <a:gd name="T12" fmla="*/ 6 w 25"/>
                  <a:gd name="T13" fmla="*/ 0 h 25"/>
                  <a:gd name="T14" fmla="*/ 18 w 25"/>
                  <a:gd name="T15" fmla="*/ 6 h 25"/>
                  <a:gd name="T16" fmla="*/ 24 w 25"/>
                  <a:gd name="T17" fmla="*/ 18 h 25"/>
                  <a:gd name="T18" fmla="*/ 18 w 25"/>
                  <a:gd name="T19" fmla="*/ 24 h 2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5"/>
                  <a:gd name="T31" fmla="*/ 0 h 25"/>
                  <a:gd name="T32" fmla="*/ 25 w 25"/>
                  <a:gd name="T33" fmla="*/ 25 h 2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5" h="25">
                    <a:moveTo>
                      <a:pt x="18" y="24"/>
                    </a:moveTo>
                    <a:lnTo>
                      <a:pt x="18" y="18"/>
                    </a:lnTo>
                    <a:lnTo>
                      <a:pt x="12" y="18"/>
                    </a:lnTo>
                    <a:lnTo>
                      <a:pt x="6" y="24"/>
                    </a:lnTo>
                    <a:lnTo>
                      <a:pt x="0" y="18"/>
                    </a:lnTo>
                    <a:lnTo>
                      <a:pt x="6" y="6"/>
                    </a:lnTo>
                    <a:lnTo>
                      <a:pt x="6" y="0"/>
                    </a:lnTo>
                    <a:lnTo>
                      <a:pt x="18" y="6"/>
                    </a:lnTo>
                    <a:lnTo>
                      <a:pt x="24" y="18"/>
                    </a:lnTo>
                    <a:lnTo>
                      <a:pt x="18" y="24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95" name="Freeform 59">
                <a:extLst>
                  <a:ext uri="{FF2B5EF4-FFF2-40B4-BE49-F238E27FC236}">
                    <a16:creationId xmlns:a16="http://schemas.microsoft.com/office/drawing/2014/main" id="{7488CF43-329F-4097-B0FA-E2131DD3F5F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89033" y="2704549"/>
                <a:ext cx="127386" cy="109028"/>
              </a:xfrm>
              <a:custGeom>
                <a:avLst/>
                <a:gdLst>
                  <a:gd name="T0" fmla="*/ 31 w 50"/>
                  <a:gd name="T1" fmla="*/ 6 h 63"/>
                  <a:gd name="T2" fmla="*/ 24 w 50"/>
                  <a:gd name="T3" fmla="*/ 18 h 63"/>
                  <a:gd name="T4" fmla="*/ 31 w 50"/>
                  <a:gd name="T5" fmla="*/ 25 h 63"/>
                  <a:gd name="T6" fmla="*/ 37 w 50"/>
                  <a:gd name="T7" fmla="*/ 18 h 63"/>
                  <a:gd name="T8" fmla="*/ 43 w 50"/>
                  <a:gd name="T9" fmla="*/ 18 h 63"/>
                  <a:gd name="T10" fmla="*/ 43 w 50"/>
                  <a:gd name="T11" fmla="*/ 25 h 63"/>
                  <a:gd name="T12" fmla="*/ 49 w 50"/>
                  <a:gd name="T13" fmla="*/ 37 h 63"/>
                  <a:gd name="T14" fmla="*/ 43 w 50"/>
                  <a:gd name="T15" fmla="*/ 56 h 63"/>
                  <a:gd name="T16" fmla="*/ 12 w 50"/>
                  <a:gd name="T17" fmla="*/ 62 h 63"/>
                  <a:gd name="T18" fmla="*/ 0 w 50"/>
                  <a:gd name="T19" fmla="*/ 56 h 63"/>
                  <a:gd name="T20" fmla="*/ 12 w 50"/>
                  <a:gd name="T21" fmla="*/ 56 h 63"/>
                  <a:gd name="T22" fmla="*/ 18 w 50"/>
                  <a:gd name="T23" fmla="*/ 37 h 63"/>
                  <a:gd name="T24" fmla="*/ 12 w 50"/>
                  <a:gd name="T25" fmla="*/ 37 h 63"/>
                  <a:gd name="T26" fmla="*/ 6 w 50"/>
                  <a:gd name="T27" fmla="*/ 31 h 63"/>
                  <a:gd name="T28" fmla="*/ 12 w 50"/>
                  <a:gd name="T29" fmla="*/ 25 h 63"/>
                  <a:gd name="T30" fmla="*/ 6 w 50"/>
                  <a:gd name="T31" fmla="*/ 25 h 63"/>
                  <a:gd name="T32" fmla="*/ 12 w 50"/>
                  <a:gd name="T33" fmla="*/ 18 h 63"/>
                  <a:gd name="T34" fmla="*/ 24 w 50"/>
                  <a:gd name="T35" fmla="*/ 18 h 63"/>
                  <a:gd name="T36" fmla="*/ 24 w 50"/>
                  <a:gd name="T37" fmla="*/ 12 h 63"/>
                  <a:gd name="T38" fmla="*/ 18 w 50"/>
                  <a:gd name="T39" fmla="*/ 12 h 63"/>
                  <a:gd name="T40" fmla="*/ 24 w 50"/>
                  <a:gd name="T41" fmla="*/ 6 h 63"/>
                  <a:gd name="T42" fmla="*/ 31 w 50"/>
                  <a:gd name="T43" fmla="*/ 0 h 63"/>
                  <a:gd name="T44" fmla="*/ 31 w 50"/>
                  <a:gd name="T45" fmla="*/ 6 h 63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50"/>
                  <a:gd name="T70" fmla="*/ 0 h 63"/>
                  <a:gd name="T71" fmla="*/ 50 w 50"/>
                  <a:gd name="T72" fmla="*/ 63 h 63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50" h="63">
                    <a:moveTo>
                      <a:pt x="31" y="6"/>
                    </a:moveTo>
                    <a:lnTo>
                      <a:pt x="24" y="18"/>
                    </a:lnTo>
                    <a:lnTo>
                      <a:pt x="31" y="25"/>
                    </a:lnTo>
                    <a:lnTo>
                      <a:pt x="37" y="18"/>
                    </a:lnTo>
                    <a:lnTo>
                      <a:pt x="43" y="18"/>
                    </a:lnTo>
                    <a:lnTo>
                      <a:pt x="43" y="25"/>
                    </a:lnTo>
                    <a:lnTo>
                      <a:pt x="49" y="37"/>
                    </a:lnTo>
                    <a:lnTo>
                      <a:pt x="43" y="56"/>
                    </a:lnTo>
                    <a:lnTo>
                      <a:pt x="12" y="62"/>
                    </a:lnTo>
                    <a:lnTo>
                      <a:pt x="0" y="56"/>
                    </a:lnTo>
                    <a:lnTo>
                      <a:pt x="12" y="56"/>
                    </a:lnTo>
                    <a:lnTo>
                      <a:pt x="18" y="37"/>
                    </a:lnTo>
                    <a:lnTo>
                      <a:pt x="12" y="37"/>
                    </a:lnTo>
                    <a:lnTo>
                      <a:pt x="6" y="31"/>
                    </a:lnTo>
                    <a:lnTo>
                      <a:pt x="12" y="25"/>
                    </a:lnTo>
                    <a:lnTo>
                      <a:pt x="6" y="25"/>
                    </a:lnTo>
                    <a:lnTo>
                      <a:pt x="12" y="18"/>
                    </a:lnTo>
                    <a:lnTo>
                      <a:pt x="24" y="18"/>
                    </a:lnTo>
                    <a:lnTo>
                      <a:pt x="24" y="12"/>
                    </a:lnTo>
                    <a:lnTo>
                      <a:pt x="18" y="12"/>
                    </a:lnTo>
                    <a:lnTo>
                      <a:pt x="24" y="6"/>
                    </a:lnTo>
                    <a:lnTo>
                      <a:pt x="31" y="0"/>
                    </a:lnTo>
                    <a:lnTo>
                      <a:pt x="31" y="6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96" name="Freeform 60">
                <a:extLst>
                  <a:ext uri="{FF2B5EF4-FFF2-40B4-BE49-F238E27FC236}">
                    <a16:creationId xmlns:a16="http://schemas.microsoft.com/office/drawing/2014/main" id="{7AB1A043-8681-43E0-9E09-573CF3BB724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62908" y="2638785"/>
                <a:ext cx="81528" cy="77878"/>
              </a:xfrm>
              <a:custGeom>
                <a:avLst/>
                <a:gdLst>
                  <a:gd name="T0" fmla="*/ 12 w 32"/>
                  <a:gd name="T1" fmla="*/ 44 h 45"/>
                  <a:gd name="T2" fmla="*/ 19 w 32"/>
                  <a:gd name="T3" fmla="*/ 44 h 45"/>
                  <a:gd name="T4" fmla="*/ 25 w 32"/>
                  <a:gd name="T5" fmla="*/ 26 h 45"/>
                  <a:gd name="T6" fmla="*/ 31 w 32"/>
                  <a:gd name="T7" fmla="*/ 26 h 45"/>
                  <a:gd name="T8" fmla="*/ 31 w 32"/>
                  <a:gd name="T9" fmla="*/ 19 h 45"/>
                  <a:gd name="T10" fmla="*/ 25 w 32"/>
                  <a:gd name="T11" fmla="*/ 19 h 45"/>
                  <a:gd name="T12" fmla="*/ 25 w 32"/>
                  <a:gd name="T13" fmla="*/ 0 h 45"/>
                  <a:gd name="T14" fmla="*/ 6 w 32"/>
                  <a:gd name="T15" fmla="*/ 7 h 45"/>
                  <a:gd name="T16" fmla="*/ 0 w 32"/>
                  <a:gd name="T17" fmla="*/ 19 h 45"/>
                  <a:gd name="T18" fmla="*/ 0 w 32"/>
                  <a:gd name="T19" fmla="*/ 32 h 45"/>
                  <a:gd name="T20" fmla="*/ 6 w 32"/>
                  <a:gd name="T21" fmla="*/ 38 h 45"/>
                  <a:gd name="T22" fmla="*/ 12 w 32"/>
                  <a:gd name="T23" fmla="*/ 44 h 45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32"/>
                  <a:gd name="T37" fmla="*/ 0 h 45"/>
                  <a:gd name="T38" fmla="*/ 32 w 32"/>
                  <a:gd name="T39" fmla="*/ 45 h 45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32" h="45">
                    <a:moveTo>
                      <a:pt x="12" y="44"/>
                    </a:moveTo>
                    <a:lnTo>
                      <a:pt x="19" y="44"/>
                    </a:lnTo>
                    <a:lnTo>
                      <a:pt x="25" y="26"/>
                    </a:lnTo>
                    <a:lnTo>
                      <a:pt x="31" y="26"/>
                    </a:lnTo>
                    <a:lnTo>
                      <a:pt x="31" y="19"/>
                    </a:lnTo>
                    <a:lnTo>
                      <a:pt x="25" y="19"/>
                    </a:lnTo>
                    <a:lnTo>
                      <a:pt x="25" y="0"/>
                    </a:lnTo>
                    <a:lnTo>
                      <a:pt x="6" y="7"/>
                    </a:lnTo>
                    <a:lnTo>
                      <a:pt x="0" y="19"/>
                    </a:lnTo>
                    <a:lnTo>
                      <a:pt x="0" y="32"/>
                    </a:lnTo>
                    <a:lnTo>
                      <a:pt x="6" y="38"/>
                    </a:lnTo>
                    <a:lnTo>
                      <a:pt x="12" y="44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97" name="Freeform 61">
                <a:extLst>
                  <a:ext uri="{FF2B5EF4-FFF2-40B4-BE49-F238E27FC236}">
                    <a16:creationId xmlns:a16="http://schemas.microsoft.com/office/drawing/2014/main" id="{F7F43424-5B35-4D45-9525-4131CE6D20E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153359" y="2784156"/>
                <a:ext cx="94265" cy="74415"/>
              </a:xfrm>
              <a:custGeom>
                <a:avLst/>
                <a:gdLst>
                  <a:gd name="T0" fmla="*/ 24 w 37"/>
                  <a:gd name="T1" fmla="*/ 42 h 43"/>
                  <a:gd name="T2" fmla="*/ 24 w 37"/>
                  <a:gd name="T3" fmla="*/ 24 h 43"/>
                  <a:gd name="T4" fmla="*/ 30 w 37"/>
                  <a:gd name="T5" fmla="*/ 18 h 43"/>
                  <a:gd name="T6" fmla="*/ 36 w 37"/>
                  <a:gd name="T7" fmla="*/ 0 h 43"/>
                  <a:gd name="T8" fmla="*/ 18 w 37"/>
                  <a:gd name="T9" fmla="*/ 6 h 43"/>
                  <a:gd name="T10" fmla="*/ 24 w 37"/>
                  <a:gd name="T11" fmla="*/ 18 h 43"/>
                  <a:gd name="T12" fmla="*/ 18 w 37"/>
                  <a:gd name="T13" fmla="*/ 18 h 43"/>
                  <a:gd name="T14" fmla="*/ 18 w 37"/>
                  <a:gd name="T15" fmla="*/ 12 h 43"/>
                  <a:gd name="T16" fmla="*/ 12 w 37"/>
                  <a:gd name="T17" fmla="*/ 12 h 43"/>
                  <a:gd name="T18" fmla="*/ 0 w 37"/>
                  <a:gd name="T19" fmla="*/ 36 h 43"/>
                  <a:gd name="T20" fmla="*/ 18 w 37"/>
                  <a:gd name="T21" fmla="*/ 36 h 43"/>
                  <a:gd name="T22" fmla="*/ 24 w 37"/>
                  <a:gd name="T23" fmla="*/ 42 h 43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37"/>
                  <a:gd name="T37" fmla="*/ 0 h 43"/>
                  <a:gd name="T38" fmla="*/ 37 w 37"/>
                  <a:gd name="T39" fmla="*/ 43 h 43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37" h="43">
                    <a:moveTo>
                      <a:pt x="24" y="42"/>
                    </a:moveTo>
                    <a:lnTo>
                      <a:pt x="24" y="24"/>
                    </a:lnTo>
                    <a:lnTo>
                      <a:pt x="30" y="18"/>
                    </a:lnTo>
                    <a:lnTo>
                      <a:pt x="36" y="0"/>
                    </a:lnTo>
                    <a:lnTo>
                      <a:pt x="18" y="6"/>
                    </a:lnTo>
                    <a:lnTo>
                      <a:pt x="24" y="18"/>
                    </a:lnTo>
                    <a:lnTo>
                      <a:pt x="18" y="18"/>
                    </a:lnTo>
                    <a:lnTo>
                      <a:pt x="18" y="12"/>
                    </a:lnTo>
                    <a:lnTo>
                      <a:pt x="12" y="12"/>
                    </a:lnTo>
                    <a:lnTo>
                      <a:pt x="0" y="36"/>
                    </a:lnTo>
                    <a:lnTo>
                      <a:pt x="18" y="36"/>
                    </a:lnTo>
                    <a:lnTo>
                      <a:pt x="24" y="42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98" name="Freeform 62">
                <a:extLst>
                  <a:ext uri="{FF2B5EF4-FFF2-40B4-BE49-F238E27FC236}">
                    <a16:creationId xmlns:a16="http://schemas.microsoft.com/office/drawing/2014/main" id="{3E7D1186-B10F-4385-A1D1-23CE17FBD8C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138070" y="2823961"/>
                <a:ext cx="78978" cy="43264"/>
              </a:xfrm>
              <a:custGeom>
                <a:avLst/>
                <a:gdLst>
                  <a:gd name="T0" fmla="*/ 24 w 31"/>
                  <a:gd name="T1" fmla="*/ 24 h 25"/>
                  <a:gd name="T2" fmla="*/ 18 w 31"/>
                  <a:gd name="T3" fmla="*/ 24 h 25"/>
                  <a:gd name="T4" fmla="*/ 18 w 31"/>
                  <a:gd name="T5" fmla="*/ 18 h 25"/>
                  <a:gd name="T6" fmla="*/ 12 w 31"/>
                  <a:gd name="T7" fmla="*/ 18 h 25"/>
                  <a:gd name="T8" fmla="*/ 12 w 31"/>
                  <a:gd name="T9" fmla="*/ 12 h 25"/>
                  <a:gd name="T10" fmla="*/ 0 w 31"/>
                  <a:gd name="T11" fmla="*/ 6 h 25"/>
                  <a:gd name="T12" fmla="*/ 0 w 31"/>
                  <a:gd name="T13" fmla="*/ 0 h 25"/>
                  <a:gd name="T14" fmla="*/ 6 w 31"/>
                  <a:gd name="T15" fmla="*/ 0 h 25"/>
                  <a:gd name="T16" fmla="*/ 18 w 31"/>
                  <a:gd name="T17" fmla="*/ 0 h 25"/>
                  <a:gd name="T18" fmla="*/ 30 w 31"/>
                  <a:gd name="T19" fmla="*/ 6 h 25"/>
                  <a:gd name="T20" fmla="*/ 30 w 31"/>
                  <a:gd name="T21" fmla="*/ 18 h 25"/>
                  <a:gd name="T22" fmla="*/ 24 w 31"/>
                  <a:gd name="T23" fmla="*/ 18 h 25"/>
                  <a:gd name="T24" fmla="*/ 24 w 31"/>
                  <a:gd name="T25" fmla="*/ 24 h 2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31"/>
                  <a:gd name="T40" fmla="*/ 0 h 25"/>
                  <a:gd name="T41" fmla="*/ 31 w 31"/>
                  <a:gd name="T42" fmla="*/ 25 h 25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31" h="25">
                    <a:moveTo>
                      <a:pt x="24" y="24"/>
                    </a:moveTo>
                    <a:lnTo>
                      <a:pt x="18" y="24"/>
                    </a:lnTo>
                    <a:lnTo>
                      <a:pt x="18" y="18"/>
                    </a:lnTo>
                    <a:lnTo>
                      <a:pt x="12" y="18"/>
                    </a:lnTo>
                    <a:lnTo>
                      <a:pt x="12" y="12"/>
                    </a:lnTo>
                    <a:lnTo>
                      <a:pt x="0" y="6"/>
                    </a:lnTo>
                    <a:lnTo>
                      <a:pt x="0" y="0"/>
                    </a:lnTo>
                    <a:lnTo>
                      <a:pt x="6" y="0"/>
                    </a:lnTo>
                    <a:lnTo>
                      <a:pt x="18" y="0"/>
                    </a:lnTo>
                    <a:lnTo>
                      <a:pt x="30" y="6"/>
                    </a:lnTo>
                    <a:lnTo>
                      <a:pt x="30" y="18"/>
                    </a:lnTo>
                    <a:lnTo>
                      <a:pt x="24" y="18"/>
                    </a:lnTo>
                    <a:lnTo>
                      <a:pt x="24" y="24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99" name="Freeform 63">
                <a:extLst>
                  <a:ext uri="{FF2B5EF4-FFF2-40B4-BE49-F238E27FC236}">
                    <a16:creationId xmlns:a16="http://schemas.microsoft.com/office/drawing/2014/main" id="{56A30662-48D2-43FB-A98D-513877E2AE5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199217" y="2855113"/>
                <a:ext cx="48404" cy="32882"/>
              </a:xfrm>
              <a:custGeom>
                <a:avLst/>
                <a:gdLst>
                  <a:gd name="T0" fmla="*/ 0 w 19"/>
                  <a:gd name="T1" fmla="*/ 18 h 19"/>
                  <a:gd name="T2" fmla="*/ 0 w 19"/>
                  <a:gd name="T3" fmla="*/ 0 h 19"/>
                  <a:gd name="T4" fmla="*/ 18 w 19"/>
                  <a:gd name="T5" fmla="*/ 0 h 19"/>
                  <a:gd name="T6" fmla="*/ 18 w 19"/>
                  <a:gd name="T7" fmla="*/ 18 h 19"/>
                  <a:gd name="T8" fmla="*/ 0 w 19"/>
                  <a:gd name="T9" fmla="*/ 18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"/>
                  <a:gd name="T16" fmla="*/ 0 h 19"/>
                  <a:gd name="T17" fmla="*/ 19 w 19"/>
                  <a:gd name="T18" fmla="*/ 19 h 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" h="19">
                    <a:moveTo>
                      <a:pt x="0" y="18"/>
                    </a:moveTo>
                    <a:lnTo>
                      <a:pt x="0" y="0"/>
                    </a:lnTo>
                    <a:lnTo>
                      <a:pt x="18" y="0"/>
                    </a:lnTo>
                    <a:lnTo>
                      <a:pt x="18" y="18"/>
                    </a:lnTo>
                    <a:lnTo>
                      <a:pt x="0" y="18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00" name="Freeform 64">
                <a:extLst>
                  <a:ext uri="{FF2B5EF4-FFF2-40B4-BE49-F238E27FC236}">
                    <a16:creationId xmlns:a16="http://schemas.microsoft.com/office/drawing/2014/main" id="{F73BCF62-0F12-401E-BF97-1173519BA32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420865" y="2714932"/>
                <a:ext cx="254770" cy="162678"/>
              </a:xfrm>
              <a:custGeom>
                <a:avLst/>
                <a:gdLst>
                  <a:gd name="T0" fmla="*/ 87 w 100"/>
                  <a:gd name="T1" fmla="*/ 93 h 94"/>
                  <a:gd name="T2" fmla="*/ 93 w 100"/>
                  <a:gd name="T3" fmla="*/ 81 h 94"/>
                  <a:gd name="T4" fmla="*/ 99 w 100"/>
                  <a:gd name="T5" fmla="*/ 75 h 94"/>
                  <a:gd name="T6" fmla="*/ 93 w 100"/>
                  <a:gd name="T7" fmla="*/ 50 h 94"/>
                  <a:gd name="T8" fmla="*/ 99 w 100"/>
                  <a:gd name="T9" fmla="*/ 37 h 94"/>
                  <a:gd name="T10" fmla="*/ 93 w 100"/>
                  <a:gd name="T11" fmla="*/ 18 h 94"/>
                  <a:gd name="T12" fmla="*/ 87 w 100"/>
                  <a:gd name="T13" fmla="*/ 12 h 94"/>
                  <a:gd name="T14" fmla="*/ 68 w 100"/>
                  <a:gd name="T15" fmla="*/ 12 h 94"/>
                  <a:gd name="T16" fmla="*/ 56 w 100"/>
                  <a:gd name="T17" fmla="*/ 12 h 94"/>
                  <a:gd name="T18" fmla="*/ 49 w 100"/>
                  <a:gd name="T19" fmla="*/ 12 h 94"/>
                  <a:gd name="T20" fmla="*/ 43 w 100"/>
                  <a:gd name="T21" fmla="*/ 12 h 94"/>
                  <a:gd name="T22" fmla="*/ 43 w 100"/>
                  <a:gd name="T23" fmla="*/ 0 h 94"/>
                  <a:gd name="T24" fmla="*/ 0 w 100"/>
                  <a:gd name="T25" fmla="*/ 18 h 94"/>
                  <a:gd name="T26" fmla="*/ 6 w 100"/>
                  <a:gd name="T27" fmla="*/ 68 h 94"/>
                  <a:gd name="T28" fmla="*/ 12 w 100"/>
                  <a:gd name="T29" fmla="*/ 68 h 94"/>
                  <a:gd name="T30" fmla="*/ 18 w 100"/>
                  <a:gd name="T31" fmla="*/ 68 h 94"/>
                  <a:gd name="T32" fmla="*/ 24 w 100"/>
                  <a:gd name="T33" fmla="*/ 81 h 94"/>
                  <a:gd name="T34" fmla="*/ 31 w 100"/>
                  <a:gd name="T35" fmla="*/ 75 h 94"/>
                  <a:gd name="T36" fmla="*/ 37 w 100"/>
                  <a:gd name="T37" fmla="*/ 75 h 94"/>
                  <a:gd name="T38" fmla="*/ 49 w 100"/>
                  <a:gd name="T39" fmla="*/ 87 h 94"/>
                  <a:gd name="T40" fmla="*/ 56 w 100"/>
                  <a:gd name="T41" fmla="*/ 87 h 94"/>
                  <a:gd name="T42" fmla="*/ 62 w 100"/>
                  <a:gd name="T43" fmla="*/ 93 h 94"/>
                  <a:gd name="T44" fmla="*/ 74 w 100"/>
                  <a:gd name="T45" fmla="*/ 87 h 94"/>
                  <a:gd name="T46" fmla="*/ 87 w 100"/>
                  <a:gd name="T47" fmla="*/ 93 h 94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100"/>
                  <a:gd name="T73" fmla="*/ 0 h 94"/>
                  <a:gd name="T74" fmla="*/ 100 w 100"/>
                  <a:gd name="T75" fmla="*/ 94 h 94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100" h="94">
                    <a:moveTo>
                      <a:pt x="87" y="93"/>
                    </a:moveTo>
                    <a:lnTo>
                      <a:pt x="93" y="81"/>
                    </a:lnTo>
                    <a:lnTo>
                      <a:pt x="99" y="75"/>
                    </a:lnTo>
                    <a:lnTo>
                      <a:pt x="93" y="50"/>
                    </a:lnTo>
                    <a:lnTo>
                      <a:pt x="99" y="37"/>
                    </a:lnTo>
                    <a:lnTo>
                      <a:pt x="93" y="18"/>
                    </a:lnTo>
                    <a:lnTo>
                      <a:pt x="87" y="12"/>
                    </a:lnTo>
                    <a:lnTo>
                      <a:pt x="68" y="12"/>
                    </a:lnTo>
                    <a:lnTo>
                      <a:pt x="56" y="12"/>
                    </a:lnTo>
                    <a:lnTo>
                      <a:pt x="49" y="12"/>
                    </a:lnTo>
                    <a:lnTo>
                      <a:pt x="43" y="12"/>
                    </a:lnTo>
                    <a:lnTo>
                      <a:pt x="43" y="0"/>
                    </a:lnTo>
                    <a:lnTo>
                      <a:pt x="0" y="18"/>
                    </a:lnTo>
                    <a:lnTo>
                      <a:pt x="6" y="68"/>
                    </a:lnTo>
                    <a:lnTo>
                      <a:pt x="12" y="68"/>
                    </a:lnTo>
                    <a:lnTo>
                      <a:pt x="18" y="68"/>
                    </a:lnTo>
                    <a:lnTo>
                      <a:pt x="24" y="81"/>
                    </a:lnTo>
                    <a:lnTo>
                      <a:pt x="31" y="75"/>
                    </a:lnTo>
                    <a:lnTo>
                      <a:pt x="37" y="75"/>
                    </a:lnTo>
                    <a:lnTo>
                      <a:pt x="49" y="87"/>
                    </a:lnTo>
                    <a:lnTo>
                      <a:pt x="56" y="87"/>
                    </a:lnTo>
                    <a:lnTo>
                      <a:pt x="62" y="93"/>
                    </a:lnTo>
                    <a:lnTo>
                      <a:pt x="74" y="87"/>
                    </a:lnTo>
                    <a:lnTo>
                      <a:pt x="87" y="93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01" name="Freeform 65">
                <a:extLst>
                  <a:ext uri="{FF2B5EF4-FFF2-40B4-BE49-F238E27FC236}">
                    <a16:creationId xmlns:a16="http://schemas.microsoft.com/office/drawing/2014/main" id="{E22E09BC-E7B5-46A0-92DC-BBC878D4DAD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14501" y="2714932"/>
                <a:ext cx="224199" cy="204213"/>
              </a:xfrm>
              <a:custGeom>
                <a:avLst/>
                <a:gdLst>
                  <a:gd name="T0" fmla="*/ 50 w 88"/>
                  <a:gd name="T1" fmla="*/ 18 h 118"/>
                  <a:gd name="T2" fmla="*/ 50 w 88"/>
                  <a:gd name="T3" fmla="*/ 18 h 118"/>
                  <a:gd name="T4" fmla="*/ 56 w 88"/>
                  <a:gd name="T5" fmla="*/ 18 h 118"/>
                  <a:gd name="T6" fmla="*/ 75 w 88"/>
                  <a:gd name="T7" fmla="*/ 6 h 118"/>
                  <a:gd name="T8" fmla="*/ 75 w 88"/>
                  <a:gd name="T9" fmla="*/ 12 h 118"/>
                  <a:gd name="T10" fmla="*/ 81 w 88"/>
                  <a:gd name="T11" fmla="*/ 18 h 118"/>
                  <a:gd name="T12" fmla="*/ 87 w 88"/>
                  <a:gd name="T13" fmla="*/ 68 h 118"/>
                  <a:gd name="T14" fmla="*/ 81 w 88"/>
                  <a:gd name="T15" fmla="*/ 62 h 118"/>
                  <a:gd name="T16" fmla="*/ 75 w 88"/>
                  <a:gd name="T17" fmla="*/ 74 h 118"/>
                  <a:gd name="T18" fmla="*/ 62 w 88"/>
                  <a:gd name="T19" fmla="*/ 74 h 118"/>
                  <a:gd name="T20" fmla="*/ 69 w 88"/>
                  <a:gd name="T21" fmla="*/ 86 h 118"/>
                  <a:gd name="T22" fmla="*/ 81 w 88"/>
                  <a:gd name="T23" fmla="*/ 99 h 118"/>
                  <a:gd name="T24" fmla="*/ 69 w 88"/>
                  <a:gd name="T25" fmla="*/ 111 h 118"/>
                  <a:gd name="T26" fmla="*/ 43 w 88"/>
                  <a:gd name="T27" fmla="*/ 117 h 118"/>
                  <a:gd name="T28" fmla="*/ 37 w 88"/>
                  <a:gd name="T29" fmla="*/ 117 h 118"/>
                  <a:gd name="T30" fmla="*/ 12 w 88"/>
                  <a:gd name="T31" fmla="*/ 117 h 118"/>
                  <a:gd name="T32" fmla="*/ 18 w 88"/>
                  <a:gd name="T33" fmla="*/ 99 h 118"/>
                  <a:gd name="T34" fmla="*/ 0 w 88"/>
                  <a:gd name="T35" fmla="*/ 86 h 118"/>
                  <a:gd name="T36" fmla="*/ 0 w 88"/>
                  <a:gd name="T37" fmla="*/ 80 h 118"/>
                  <a:gd name="T38" fmla="*/ 0 w 88"/>
                  <a:gd name="T39" fmla="*/ 68 h 118"/>
                  <a:gd name="T40" fmla="*/ 0 w 88"/>
                  <a:gd name="T41" fmla="*/ 49 h 118"/>
                  <a:gd name="T42" fmla="*/ 12 w 88"/>
                  <a:gd name="T43" fmla="*/ 43 h 118"/>
                  <a:gd name="T44" fmla="*/ 6 w 88"/>
                  <a:gd name="T45" fmla="*/ 43 h 118"/>
                  <a:gd name="T46" fmla="*/ 12 w 88"/>
                  <a:gd name="T47" fmla="*/ 24 h 118"/>
                  <a:gd name="T48" fmla="*/ 25 w 88"/>
                  <a:gd name="T49" fmla="*/ 24 h 118"/>
                  <a:gd name="T50" fmla="*/ 31 w 88"/>
                  <a:gd name="T51" fmla="*/ 18 h 118"/>
                  <a:gd name="T52" fmla="*/ 25 w 88"/>
                  <a:gd name="T53" fmla="*/ 12 h 118"/>
                  <a:gd name="T54" fmla="*/ 31 w 88"/>
                  <a:gd name="T55" fmla="*/ 6 h 118"/>
                  <a:gd name="T56" fmla="*/ 31 w 88"/>
                  <a:gd name="T57" fmla="*/ 0 h 118"/>
                  <a:gd name="T58" fmla="*/ 37 w 88"/>
                  <a:gd name="T59" fmla="*/ 0 h 118"/>
                  <a:gd name="T60" fmla="*/ 37 w 88"/>
                  <a:gd name="T61" fmla="*/ 6 h 118"/>
                  <a:gd name="T62" fmla="*/ 50 w 88"/>
                  <a:gd name="T63" fmla="*/ 12 h 118"/>
                  <a:gd name="T64" fmla="*/ 50 w 88"/>
                  <a:gd name="T65" fmla="*/ 18 h 118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88"/>
                  <a:gd name="T100" fmla="*/ 0 h 118"/>
                  <a:gd name="T101" fmla="*/ 88 w 88"/>
                  <a:gd name="T102" fmla="*/ 118 h 118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88" h="118">
                    <a:moveTo>
                      <a:pt x="50" y="18"/>
                    </a:moveTo>
                    <a:lnTo>
                      <a:pt x="50" y="18"/>
                    </a:lnTo>
                    <a:lnTo>
                      <a:pt x="56" y="18"/>
                    </a:lnTo>
                    <a:lnTo>
                      <a:pt x="75" y="6"/>
                    </a:lnTo>
                    <a:lnTo>
                      <a:pt x="75" y="12"/>
                    </a:lnTo>
                    <a:lnTo>
                      <a:pt x="81" y="18"/>
                    </a:lnTo>
                    <a:lnTo>
                      <a:pt x="87" y="68"/>
                    </a:lnTo>
                    <a:lnTo>
                      <a:pt x="81" y="62"/>
                    </a:lnTo>
                    <a:lnTo>
                      <a:pt x="75" y="74"/>
                    </a:lnTo>
                    <a:lnTo>
                      <a:pt x="62" y="74"/>
                    </a:lnTo>
                    <a:lnTo>
                      <a:pt x="69" y="86"/>
                    </a:lnTo>
                    <a:lnTo>
                      <a:pt x="81" y="99"/>
                    </a:lnTo>
                    <a:lnTo>
                      <a:pt x="69" y="111"/>
                    </a:lnTo>
                    <a:lnTo>
                      <a:pt x="43" y="117"/>
                    </a:lnTo>
                    <a:lnTo>
                      <a:pt x="37" y="117"/>
                    </a:lnTo>
                    <a:lnTo>
                      <a:pt x="12" y="117"/>
                    </a:lnTo>
                    <a:lnTo>
                      <a:pt x="18" y="99"/>
                    </a:lnTo>
                    <a:lnTo>
                      <a:pt x="0" y="86"/>
                    </a:lnTo>
                    <a:lnTo>
                      <a:pt x="0" y="80"/>
                    </a:lnTo>
                    <a:lnTo>
                      <a:pt x="0" y="68"/>
                    </a:lnTo>
                    <a:lnTo>
                      <a:pt x="0" y="49"/>
                    </a:lnTo>
                    <a:lnTo>
                      <a:pt x="12" y="43"/>
                    </a:lnTo>
                    <a:lnTo>
                      <a:pt x="6" y="43"/>
                    </a:lnTo>
                    <a:lnTo>
                      <a:pt x="12" y="24"/>
                    </a:lnTo>
                    <a:lnTo>
                      <a:pt x="25" y="24"/>
                    </a:lnTo>
                    <a:lnTo>
                      <a:pt x="31" y="18"/>
                    </a:lnTo>
                    <a:lnTo>
                      <a:pt x="25" y="12"/>
                    </a:lnTo>
                    <a:lnTo>
                      <a:pt x="31" y="6"/>
                    </a:lnTo>
                    <a:lnTo>
                      <a:pt x="31" y="0"/>
                    </a:lnTo>
                    <a:lnTo>
                      <a:pt x="37" y="0"/>
                    </a:lnTo>
                    <a:lnTo>
                      <a:pt x="37" y="6"/>
                    </a:lnTo>
                    <a:lnTo>
                      <a:pt x="50" y="12"/>
                    </a:lnTo>
                    <a:lnTo>
                      <a:pt x="50" y="18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02" name="Freeform 66">
                <a:extLst>
                  <a:ext uri="{FF2B5EF4-FFF2-40B4-BE49-F238E27FC236}">
                    <a16:creationId xmlns:a16="http://schemas.microsoft.com/office/drawing/2014/main" id="{D35F5398-2873-4C18-9276-C5B94804A78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359721" y="2823961"/>
                <a:ext cx="270060" cy="84800"/>
              </a:xfrm>
              <a:custGeom>
                <a:avLst/>
                <a:gdLst>
                  <a:gd name="T0" fmla="*/ 105 w 106"/>
                  <a:gd name="T1" fmla="*/ 30 h 49"/>
                  <a:gd name="T2" fmla="*/ 99 w 106"/>
                  <a:gd name="T3" fmla="*/ 24 h 49"/>
                  <a:gd name="T4" fmla="*/ 87 w 106"/>
                  <a:gd name="T5" fmla="*/ 30 h 49"/>
                  <a:gd name="T6" fmla="*/ 81 w 106"/>
                  <a:gd name="T7" fmla="*/ 24 h 49"/>
                  <a:gd name="T8" fmla="*/ 68 w 106"/>
                  <a:gd name="T9" fmla="*/ 24 h 49"/>
                  <a:gd name="T10" fmla="*/ 62 w 106"/>
                  <a:gd name="T11" fmla="*/ 12 h 49"/>
                  <a:gd name="T12" fmla="*/ 56 w 106"/>
                  <a:gd name="T13" fmla="*/ 12 h 49"/>
                  <a:gd name="T14" fmla="*/ 49 w 106"/>
                  <a:gd name="T15" fmla="*/ 18 h 49"/>
                  <a:gd name="T16" fmla="*/ 43 w 106"/>
                  <a:gd name="T17" fmla="*/ 6 h 49"/>
                  <a:gd name="T18" fmla="*/ 37 w 106"/>
                  <a:gd name="T19" fmla="*/ 6 h 49"/>
                  <a:gd name="T20" fmla="*/ 31 w 106"/>
                  <a:gd name="T21" fmla="*/ 6 h 49"/>
                  <a:gd name="T22" fmla="*/ 24 w 106"/>
                  <a:gd name="T23" fmla="*/ 0 h 49"/>
                  <a:gd name="T24" fmla="*/ 18 w 106"/>
                  <a:gd name="T25" fmla="*/ 12 h 49"/>
                  <a:gd name="T26" fmla="*/ 0 w 106"/>
                  <a:gd name="T27" fmla="*/ 12 h 49"/>
                  <a:gd name="T28" fmla="*/ 6 w 106"/>
                  <a:gd name="T29" fmla="*/ 24 h 49"/>
                  <a:gd name="T30" fmla="*/ 18 w 106"/>
                  <a:gd name="T31" fmla="*/ 36 h 49"/>
                  <a:gd name="T32" fmla="*/ 31 w 106"/>
                  <a:gd name="T33" fmla="*/ 36 h 49"/>
                  <a:gd name="T34" fmla="*/ 37 w 106"/>
                  <a:gd name="T35" fmla="*/ 30 h 49"/>
                  <a:gd name="T36" fmla="*/ 49 w 106"/>
                  <a:gd name="T37" fmla="*/ 36 h 49"/>
                  <a:gd name="T38" fmla="*/ 56 w 106"/>
                  <a:gd name="T39" fmla="*/ 48 h 49"/>
                  <a:gd name="T40" fmla="*/ 68 w 106"/>
                  <a:gd name="T41" fmla="*/ 48 h 49"/>
                  <a:gd name="T42" fmla="*/ 93 w 106"/>
                  <a:gd name="T43" fmla="*/ 42 h 49"/>
                  <a:gd name="T44" fmla="*/ 105 w 106"/>
                  <a:gd name="T45" fmla="*/ 42 h 49"/>
                  <a:gd name="T46" fmla="*/ 105 w 106"/>
                  <a:gd name="T47" fmla="*/ 30 h 49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106"/>
                  <a:gd name="T73" fmla="*/ 0 h 49"/>
                  <a:gd name="T74" fmla="*/ 106 w 106"/>
                  <a:gd name="T75" fmla="*/ 49 h 49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106" h="49">
                    <a:moveTo>
                      <a:pt x="105" y="30"/>
                    </a:moveTo>
                    <a:lnTo>
                      <a:pt x="99" y="24"/>
                    </a:lnTo>
                    <a:lnTo>
                      <a:pt x="87" y="30"/>
                    </a:lnTo>
                    <a:lnTo>
                      <a:pt x="81" y="24"/>
                    </a:lnTo>
                    <a:lnTo>
                      <a:pt x="68" y="24"/>
                    </a:lnTo>
                    <a:lnTo>
                      <a:pt x="62" y="12"/>
                    </a:lnTo>
                    <a:lnTo>
                      <a:pt x="56" y="12"/>
                    </a:lnTo>
                    <a:lnTo>
                      <a:pt x="49" y="18"/>
                    </a:lnTo>
                    <a:lnTo>
                      <a:pt x="43" y="6"/>
                    </a:lnTo>
                    <a:lnTo>
                      <a:pt x="37" y="6"/>
                    </a:lnTo>
                    <a:lnTo>
                      <a:pt x="31" y="6"/>
                    </a:lnTo>
                    <a:lnTo>
                      <a:pt x="24" y="0"/>
                    </a:lnTo>
                    <a:lnTo>
                      <a:pt x="18" y="12"/>
                    </a:lnTo>
                    <a:lnTo>
                      <a:pt x="0" y="12"/>
                    </a:lnTo>
                    <a:lnTo>
                      <a:pt x="6" y="24"/>
                    </a:lnTo>
                    <a:lnTo>
                      <a:pt x="18" y="36"/>
                    </a:lnTo>
                    <a:lnTo>
                      <a:pt x="31" y="36"/>
                    </a:lnTo>
                    <a:lnTo>
                      <a:pt x="37" y="30"/>
                    </a:lnTo>
                    <a:lnTo>
                      <a:pt x="49" y="36"/>
                    </a:lnTo>
                    <a:lnTo>
                      <a:pt x="56" y="48"/>
                    </a:lnTo>
                    <a:lnTo>
                      <a:pt x="68" y="48"/>
                    </a:lnTo>
                    <a:lnTo>
                      <a:pt x="93" y="42"/>
                    </a:lnTo>
                    <a:lnTo>
                      <a:pt x="105" y="42"/>
                    </a:lnTo>
                    <a:lnTo>
                      <a:pt x="105" y="30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03" name="Freeform 67">
                <a:extLst>
                  <a:ext uri="{FF2B5EF4-FFF2-40B4-BE49-F238E27FC236}">
                    <a16:creationId xmlns:a16="http://schemas.microsoft.com/office/drawing/2014/main" id="{A9BAF209-2603-46FF-A840-A438CD83E6B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93482" y="2877610"/>
                <a:ext cx="206366" cy="65763"/>
              </a:xfrm>
              <a:custGeom>
                <a:avLst/>
                <a:gdLst>
                  <a:gd name="T0" fmla="*/ 0 w 81"/>
                  <a:gd name="T1" fmla="*/ 25 h 38"/>
                  <a:gd name="T2" fmla="*/ 12 w 81"/>
                  <a:gd name="T3" fmla="*/ 25 h 38"/>
                  <a:gd name="T4" fmla="*/ 37 w 81"/>
                  <a:gd name="T5" fmla="*/ 25 h 38"/>
                  <a:gd name="T6" fmla="*/ 37 w 81"/>
                  <a:gd name="T7" fmla="*/ 18 h 38"/>
                  <a:gd name="T8" fmla="*/ 49 w 81"/>
                  <a:gd name="T9" fmla="*/ 6 h 38"/>
                  <a:gd name="T10" fmla="*/ 56 w 81"/>
                  <a:gd name="T11" fmla="*/ 6 h 38"/>
                  <a:gd name="T12" fmla="*/ 62 w 81"/>
                  <a:gd name="T13" fmla="*/ 0 h 38"/>
                  <a:gd name="T14" fmla="*/ 74 w 81"/>
                  <a:gd name="T15" fmla="*/ 6 h 38"/>
                  <a:gd name="T16" fmla="*/ 80 w 81"/>
                  <a:gd name="T17" fmla="*/ 18 h 38"/>
                  <a:gd name="T18" fmla="*/ 68 w 81"/>
                  <a:gd name="T19" fmla="*/ 31 h 38"/>
                  <a:gd name="T20" fmla="*/ 43 w 81"/>
                  <a:gd name="T21" fmla="*/ 37 h 38"/>
                  <a:gd name="T22" fmla="*/ 31 w 81"/>
                  <a:gd name="T23" fmla="*/ 37 h 38"/>
                  <a:gd name="T24" fmla="*/ 31 w 81"/>
                  <a:gd name="T25" fmla="*/ 31 h 38"/>
                  <a:gd name="T26" fmla="*/ 12 w 81"/>
                  <a:gd name="T27" fmla="*/ 37 h 38"/>
                  <a:gd name="T28" fmla="*/ 6 w 81"/>
                  <a:gd name="T29" fmla="*/ 31 h 38"/>
                  <a:gd name="T30" fmla="*/ 6 w 81"/>
                  <a:gd name="T31" fmla="*/ 25 h 38"/>
                  <a:gd name="T32" fmla="*/ 0 w 81"/>
                  <a:gd name="T33" fmla="*/ 25 h 3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1"/>
                  <a:gd name="T52" fmla="*/ 0 h 38"/>
                  <a:gd name="T53" fmla="*/ 81 w 81"/>
                  <a:gd name="T54" fmla="*/ 38 h 38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1" h="38">
                    <a:moveTo>
                      <a:pt x="0" y="25"/>
                    </a:moveTo>
                    <a:lnTo>
                      <a:pt x="12" y="25"/>
                    </a:lnTo>
                    <a:lnTo>
                      <a:pt x="37" y="25"/>
                    </a:lnTo>
                    <a:lnTo>
                      <a:pt x="37" y="18"/>
                    </a:lnTo>
                    <a:lnTo>
                      <a:pt x="49" y="6"/>
                    </a:lnTo>
                    <a:lnTo>
                      <a:pt x="56" y="6"/>
                    </a:lnTo>
                    <a:lnTo>
                      <a:pt x="62" y="0"/>
                    </a:lnTo>
                    <a:lnTo>
                      <a:pt x="74" y="6"/>
                    </a:lnTo>
                    <a:lnTo>
                      <a:pt x="80" y="18"/>
                    </a:lnTo>
                    <a:lnTo>
                      <a:pt x="68" y="31"/>
                    </a:lnTo>
                    <a:lnTo>
                      <a:pt x="43" y="37"/>
                    </a:lnTo>
                    <a:lnTo>
                      <a:pt x="31" y="37"/>
                    </a:lnTo>
                    <a:lnTo>
                      <a:pt x="31" y="31"/>
                    </a:lnTo>
                    <a:lnTo>
                      <a:pt x="12" y="37"/>
                    </a:lnTo>
                    <a:lnTo>
                      <a:pt x="6" y="31"/>
                    </a:lnTo>
                    <a:lnTo>
                      <a:pt x="6" y="25"/>
                    </a:lnTo>
                    <a:lnTo>
                      <a:pt x="0" y="25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04" name="Freeform 68">
                <a:extLst>
                  <a:ext uri="{FF2B5EF4-FFF2-40B4-BE49-F238E27FC236}">
                    <a16:creationId xmlns:a16="http://schemas.microsoft.com/office/drawing/2014/main" id="{C2CF926D-F076-40E4-A54B-8A53230F9B0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93482" y="2920875"/>
                <a:ext cx="48404" cy="32882"/>
              </a:xfrm>
              <a:custGeom>
                <a:avLst/>
                <a:gdLst>
                  <a:gd name="T0" fmla="*/ 18 w 19"/>
                  <a:gd name="T1" fmla="*/ 18 h 19"/>
                  <a:gd name="T2" fmla="*/ 18 w 19"/>
                  <a:gd name="T3" fmla="*/ 18 h 19"/>
                  <a:gd name="T4" fmla="*/ 18 w 19"/>
                  <a:gd name="T5" fmla="*/ 0 h 19"/>
                  <a:gd name="T6" fmla="*/ 0 w 19"/>
                  <a:gd name="T7" fmla="*/ 0 h 19"/>
                  <a:gd name="T8" fmla="*/ 18 w 19"/>
                  <a:gd name="T9" fmla="*/ 18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"/>
                  <a:gd name="T16" fmla="*/ 0 h 19"/>
                  <a:gd name="T17" fmla="*/ 19 w 19"/>
                  <a:gd name="T18" fmla="*/ 19 h 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" h="19">
                    <a:moveTo>
                      <a:pt x="18" y="18"/>
                    </a:moveTo>
                    <a:lnTo>
                      <a:pt x="18" y="18"/>
                    </a:lnTo>
                    <a:lnTo>
                      <a:pt x="18" y="0"/>
                    </a:lnTo>
                    <a:lnTo>
                      <a:pt x="0" y="0"/>
                    </a:lnTo>
                    <a:lnTo>
                      <a:pt x="18" y="18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05" name="Freeform 69">
                <a:extLst>
                  <a:ext uri="{FF2B5EF4-FFF2-40B4-BE49-F238E27FC236}">
                    <a16:creationId xmlns:a16="http://schemas.microsoft.com/office/drawing/2014/main" id="{272357E5-2C2F-4DE2-BE68-207F2C6ADE0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14501" y="2920875"/>
                <a:ext cx="109552" cy="43264"/>
              </a:xfrm>
              <a:custGeom>
                <a:avLst/>
                <a:gdLst>
                  <a:gd name="T0" fmla="*/ 12 w 43"/>
                  <a:gd name="T1" fmla="*/ 24 h 25"/>
                  <a:gd name="T2" fmla="*/ 24 w 43"/>
                  <a:gd name="T3" fmla="*/ 18 h 25"/>
                  <a:gd name="T4" fmla="*/ 30 w 43"/>
                  <a:gd name="T5" fmla="*/ 24 h 25"/>
                  <a:gd name="T6" fmla="*/ 36 w 43"/>
                  <a:gd name="T7" fmla="*/ 12 h 25"/>
                  <a:gd name="T8" fmla="*/ 42 w 43"/>
                  <a:gd name="T9" fmla="*/ 18 h 25"/>
                  <a:gd name="T10" fmla="*/ 42 w 43"/>
                  <a:gd name="T11" fmla="*/ 12 h 25"/>
                  <a:gd name="T12" fmla="*/ 36 w 43"/>
                  <a:gd name="T13" fmla="*/ 6 h 25"/>
                  <a:gd name="T14" fmla="*/ 36 w 43"/>
                  <a:gd name="T15" fmla="*/ 0 h 25"/>
                  <a:gd name="T16" fmla="*/ 12 w 43"/>
                  <a:gd name="T17" fmla="*/ 0 h 25"/>
                  <a:gd name="T18" fmla="*/ 0 w 43"/>
                  <a:gd name="T19" fmla="*/ 12 h 25"/>
                  <a:gd name="T20" fmla="*/ 0 w 43"/>
                  <a:gd name="T21" fmla="*/ 18 h 25"/>
                  <a:gd name="T22" fmla="*/ 6 w 43"/>
                  <a:gd name="T23" fmla="*/ 18 h 25"/>
                  <a:gd name="T24" fmla="*/ 12 w 43"/>
                  <a:gd name="T25" fmla="*/ 24 h 2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43"/>
                  <a:gd name="T40" fmla="*/ 0 h 25"/>
                  <a:gd name="T41" fmla="*/ 43 w 43"/>
                  <a:gd name="T42" fmla="*/ 25 h 25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43" h="25">
                    <a:moveTo>
                      <a:pt x="12" y="24"/>
                    </a:moveTo>
                    <a:lnTo>
                      <a:pt x="24" y="18"/>
                    </a:lnTo>
                    <a:lnTo>
                      <a:pt x="30" y="24"/>
                    </a:lnTo>
                    <a:lnTo>
                      <a:pt x="36" y="12"/>
                    </a:lnTo>
                    <a:lnTo>
                      <a:pt x="42" y="18"/>
                    </a:lnTo>
                    <a:lnTo>
                      <a:pt x="42" y="12"/>
                    </a:lnTo>
                    <a:lnTo>
                      <a:pt x="36" y="6"/>
                    </a:lnTo>
                    <a:lnTo>
                      <a:pt x="36" y="0"/>
                    </a:lnTo>
                    <a:lnTo>
                      <a:pt x="12" y="0"/>
                    </a:lnTo>
                    <a:lnTo>
                      <a:pt x="0" y="12"/>
                    </a:lnTo>
                    <a:lnTo>
                      <a:pt x="0" y="18"/>
                    </a:lnTo>
                    <a:lnTo>
                      <a:pt x="6" y="18"/>
                    </a:lnTo>
                    <a:lnTo>
                      <a:pt x="12" y="24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06" name="Freeform 70">
                <a:extLst>
                  <a:ext uri="{FF2B5EF4-FFF2-40B4-BE49-F238E27FC236}">
                    <a16:creationId xmlns:a16="http://schemas.microsoft.com/office/drawing/2014/main" id="{FE8EBA79-EF00-40B7-B2B5-AEA56E1399C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946990" y="2823961"/>
                <a:ext cx="315917" cy="214595"/>
              </a:xfrm>
              <a:custGeom>
                <a:avLst/>
                <a:gdLst>
                  <a:gd name="T0" fmla="*/ 74 w 124"/>
                  <a:gd name="T1" fmla="*/ 0 h 124"/>
                  <a:gd name="T2" fmla="*/ 61 w 124"/>
                  <a:gd name="T3" fmla="*/ 6 h 124"/>
                  <a:gd name="T4" fmla="*/ 61 w 124"/>
                  <a:gd name="T5" fmla="*/ 18 h 124"/>
                  <a:gd name="T6" fmla="*/ 49 w 124"/>
                  <a:gd name="T7" fmla="*/ 24 h 124"/>
                  <a:gd name="T8" fmla="*/ 43 w 124"/>
                  <a:gd name="T9" fmla="*/ 30 h 124"/>
                  <a:gd name="T10" fmla="*/ 37 w 124"/>
                  <a:gd name="T11" fmla="*/ 30 h 124"/>
                  <a:gd name="T12" fmla="*/ 30 w 124"/>
                  <a:gd name="T13" fmla="*/ 24 h 124"/>
                  <a:gd name="T14" fmla="*/ 24 w 124"/>
                  <a:gd name="T15" fmla="*/ 24 h 124"/>
                  <a:gd name="T16" fmla="*/ 30 w 124"/>
                  <a:gd name="T17" fmla="*/ 43 h 124"/>
                  <a:gd name="T18" fmla="*/ 18 w 124"/>
                  <a:gd name="T19" fmla="*/ 43 h 124"/>
                  <a:gd name="T20" fmla="*/ 12 w 124"/>
                  <a:gd name="T21" fmla="*/ 37 h 124"/>
                  <a:gd name="T22" fmla="*/ 0 w 124"/>
                  <a:gd name="T23" fmla="*/ 43 h 124"/>
                  <a:gd name="T24" fmla="*/ 0 w 124"/>
                  <a:gd name="T25" fmla="*/ 49 h 124"/>
                  <a:gd name="T26" fmla="*/ 18 w 124"/>
                  <a:gd name="T27" fmla="*/ 55 h 124"/>
                  <a:gd name="T28" fmla="*/ 30 w 124"/>
                  <a:gd name="T29" fmla="*/ 74 h 124"/>
                  <a:gd name="T30" fmla="*/ 37 w 124"/>
                  <a:gd name="T31" fmla="*/ 80 h 124"/>
                  <a:gd name="T32" fmla="*/ 30 w 124"/>
                  <a:gd name="T33" fmla="*/ 111 h 124"/>
                  <a:gd name="T34" fmla="*/ 24 w 124"/>
                  <a:gd name="T35" fmla="*/ 111 h 124"/>
                  <a:gd name="T36" fmla="*/ 43 w 124"/>
                  <a:gd name="T37" fmla="*/ 123 h 124"/>
                  <a:gd name="T38" fmla="*/ 74 w 124"/>
                  <a:gd name="T39" fmla="*/ 123 h 124"/>
                  <a:gd name="T40" fmla="*/ 74 w 124"/>
                  <a:gd name="T41" fmla="*/ 117 h 124"/>
                  <a:gd name="T42" fmla="*/ 86 w 124"/>
                  <a:gd name="T43" fmla="*/ 111 h 124"/>
                  <a:gd name="T44" fmla="*/ 105 w 124"/>
                  <a:gd name="T45" fmla="*/ 117 h 124"/>
                  <a:gd name="T46" fmla="*/ 111 w 124"/>
                  <a:gd name="T47" fmla="*/ 117 h 124"/>
                  <a:gd name="T48" fmla="*/ 123 w 124"/>
                  <a:gd name="T49" fmla="*/ 105 h 124"/>
                  <a:gd name="T50" fmla="*/ 111 w 124"/>
                  <a:gd name="T51" fmla="*/ 92 h 124"/>
                  <a:gd name="T52" fmla="*/ 117 w 124"/>
                  <a:gd name="T53" fmla="*/ 80 h 124"/>
                  <a:gd name="T54" fmla="*/ 111 w 124"/>
                  <a:gd name="T55" fmla="*/ 74 h 124"/>
                  <a:gd name="T56" fmla="*/ 105 w 124"/>
                  <a:gd name="T57" fmla="*/ 74 h 124"/>
                  <a:gd name="T58" fmla="*/ 105 w 124"/>
                  <a:gd name="T59" fmla="*/ 68 h 124"/>
                  <a:gd name="T60" fmla="*/ 117 w 124"/>
                  <a:gd name="T61" fmla="*/ 55 h 124"/>
                  <a:gd name="T62" fmla="*/ 123 w 124"/>
                  <a:gd name="T63" fmla="*/ 37 h 124"/>
                  <a:gd name="T64" fmla="*/ 105 w 124"/>
                  <a:gd name="T65" fmla="*/ 24 h 124"/>
                  <a:gd name="T66" fmla="*/ 99 w 124"/>
                  <a:gd name="T67" fmla="*/ 24 h 124"/>
                  <a:gd name="T68" fmla="*/ 92 w 124"/>
                  <a:gd name="T69" fmla="*/ 24 h 124"/>
                  <a:gd name="T70" fmla="*/ 92 w 124"/>
                  <a:gd name="T71" fmla="*/ 18 h 124"/>
                  <a:gd name="T72" fmla="*/ 86 w 124"/>
                  <a:gd name="T73" fmla="*/ 18 h 124"/>
                  <a:gd name="T74" fmla="*/ 86 w 124"/>
                  <a:gd name="T75" fmla="*/ 12 h 124"/>
                  <a:gd name="T76" fmla="*/ 74 w 124"/>
                  <a:gd name="T77" fmla="*/ 6 h 124"/>
                  <a:gd name="T78" fmla="*/ 74 w 124"/>
                  <a:gd name="T79" fmla="*/ 0 h 124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124"/>
                  <a:gd name="T121" fmla="*/ 0 h 124"/>
                  <a:gd name="T122" fmla="*/ 124 w 124"/>
                  <a:gd name="T123" fmla="*/ 124 h 124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124" h="124">
                    <a:moveTo>
                      <a:pt x="74" y="0"/>
                    </a:moveTo>
                    <a:lnTo>
                      <a:pt x="61" y="6"/>
                    </a:lnTo>
                    <a:lnTo>
                      <a:pt x="61" y="18"/>
                    </a:lnTo>
                    <a:lnTo>
                      <a:pt x="49" y="24"/>
                    </a:lnTo>
                    <a:lnTo>
                      <a:pt x="43" y="30"/>
                    </a:lnTo>
                    <a:lnTo>
                      <a:pt x="37" y="30"/>
                    </a:lnTo>
                    <a:lnTo>
                      <a:pt x="30" y="24"/>
                    </a:lnTo>
                    <a:lnTo>
                      <a:pt x="24" y="24"/>
                    </a:lnTo>
                    <a:lnTo>
                      <a:pt x="30" y="43"/>
                    </a:lnTo>
                    <a:lnTo>
                      <a:pt x="18" y="43"/>
                    </a:lnTo>
                    <a:lnTo>
                      <a:pt x="12" y="37"/>
                    </a:lnTo>
                    <a:lnTo>
                      <a:pt x="0" y="43"/>
                    </a:lnTo>
                    <a:lnTo>
                      <a:pt x="0" y="49"/>
                    </a:lnTo>
                    <a:lnTo>
                      <a:pt x="18" y="55"/>
                    </a:lnTo>
                    <a:lnTo>
                      <a:pt x="30" y="74"/>
                    </a:lnTo>
                    <a:lnTo>
                      <a:pt x="37" y="80"/>
                    </a:lnTo>
                    <a:lnTo>
                      <a:pt x="30" y="111"/>
                    </a:lnTo>
                    <a:lnTo>
                      <a:pt x="24" y="111"/>
                    </a:lnTo>
                    <a:lnTo>
                      <a:pt x="43" y="123"/>
                    </a:lnTo>
                    <a:lnTo>
                      <a:pt x="74" y="123"/>
                    </a:lnTo>
                    <a:lnTo>
                      <a:pt x="74" y="117"/>
                    </a:lnTo>
                    <a:lnTo>
                      <a:pt x="86" y="111"/>
                    </a:lnTo>
                    <a:lnTo>
                      <a:pt x="105" y="117"/>
                    </a:lnTo>
                    <a:lnTo>
                      <a:pt x="111" y="117"/>
                    </a:lnTo>
                    <a:lnTo>
                      <a:pt x="123" y="105"/>
                    </a:lnTo>
                    <a:lnTo>
                      <a:pt x="111" y="92"/>
                    </a:lnTo>
                    <a:lnTo>
                      <a:pt x="117" y="80"/>
                    </a:lnTo>
                    <a:lnTo>
                      <a:pt x="111" y="74"/>
                    </a:lnTo>
                    <a:lnTo>
                      <a:pt x="105" y="74"/>
                    </a:lnTo>
                    <a:lnTo>
                      <a:pt x="105" y="68"/>
                    </a:lnTo>
                    <a:lnTo>
                      <a:pt x="117" y="55"/>
                    </a:lnTo>
                    <a:lnTo>
                      <a:pt x="123" y="37"/>
                    </a:lnTo>
                    <a:lnTo>
                      <a:pt x="105" y="24"/>
                    </a:lnTo>
                    <a:lnTo>
                      <a:pt x="99" y="24"/>
                    </a:lnTo>
                    <a:lnTo>
                      <a:pt x="92" y="24"/>
                    </a:lnTo>
                    <a:lnTo>
                      <a:pt x="92" y="18"/>
                    </a:lnTo>
                    <a:lnTo>
                      <a:pt x="86" y="18"/>
                    </a:lnTo>
                    <a:lnTo>
                      <a:pt x="86" y="12"/>
                    </a:lnTo>
                    <a:lnTo>
                      <a:pt x="74" y="6"/>
                    </a:lnTo>
                    <a:lnTo>
                      <a:pt x="74" y="0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07" name="Freeform 71">
                <a:extLst>
                  <a:ext uri="{FF2B5EF4-FFF2-40B4-BE49-F238E27FC236}">
                    <a16:creationId xmlns:a16="http://schemas.microsoft.com/office/drawing/2014/main" id="{49BFAD64-E84E-45FD-82BA-0E3A50EA4BE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22154" y="3005676"/>
                <a:ext cx="315917" cy="173062"/>
              </a:xfrm>
              <a:custGeom>
                <a:avLst/>
                <a:gdLst>
                  <a:gd name="T0" fmla="*/ 12 w 124"/>
                  <a:gd name="T1" fmla="*/ 24 h 100"/>
                  <a:gd name="T2" fmla="*/ 30 w 124"/>
                  <a:gd name="T3" fmla="*/ 24 h 100"/>
                  <a:gd name="T4" fmla="*/ 37 w 124"/>
                  <a:gd name="T5" fmla="*/ 31 h 100"/>
                  <a:gd name="T6" fmla="*/ 30 w 124"/>
                  <a:gd name="T7" fmla="*/ 43 h 100"/>
                  <a:gd name="T8" fmla="*/ 30 w 124"/>
                  <a:gd name="T9" fmla="*/ 49 h 100"/>
                  <a:gd name="T10" fmla="*/ 24 w 124"/>
                  <a:gd name="T11" fmla="*/ 56 h 100"/>
                  <a:gd name="T12" fmla="*/ 24 w 124"/>
                  <a:gd name="T13" fmla="*/ 74 h 100"/>
                  <a:gd name="T14" fmla="*/ 24 w 124"/>
                  <a:gd name="T15" fmla="*/ 87 h 100"/>
                  <a:gd name="T16" fmla="*/ 37 w 124"/>
                  <a:gd name="T17" fmla="*/ 99 h 100"/>
                  <a:gd name="T18" fmla="*/ 49 w 124"/>
                  <a:gd name="T19" fmla="*/ 93 h 100"/>
                  <a:gd name="T20" fmla="*/ 74 w 124"/>
                  <a:gd name="T21" fmla="*/ 93 h 100"/>
                  <a:gd name="T22" fmla="*/ 99 w 124"/>
                  <a:gd name="T23" fmla="*/ 68 h 100"/>
                  <a:gd name="T24" fmla="*/ 92 w 124"/>
                  <a:gd name="T25" fmla="*/ 56 h 100"/>
                  <a:gd name="T26" fmla="*/ 105 w 124"/>
                  <a:gd name="T27" fmla="*/ 37 h 100"/>
                  <a:gd name="T28" fmla="*/ 123 w 124"/>
                  <a:gd name="T29" fmla="*/ 24 h 100"/>
                  <a:gd name="T30" fmla="*/ 123 w 124"/>
                  <a:gd name="T31" fmla="*/ 18 h 100"/>
                  <a:gd name="T32" fmla="*/ 92 w 124"/>
                  <a:gd name="T33" fmla="*/ 18 h 100"/>
                  <a:gd name="T34" fmla="*/ 74 w 124"/>
                  <a:gd name="T35" fmla="*/ 6 h 100"/>
                  <a:gd name="T36" fmla="*/ 61 w 124"/>
                  <a:gd name="T37" fmla="*/ 6 h 100"/>
                  <a:gd name="T38" fmla="*/ 49 w 124"/>
                  <a:gd name="T39" fmla="*/ 6 h 100"/>
                  <a:gd name="T40" fmla="*/ 12 w 124"/>
                  <a:gd name="T41" fmla="*/ 0 h 100"/>
                  <a:gd name="T42" fmla="*/ 12 w 124"/>
                  <a:gd name="T43" fmla="*/ 6 h 100"/>
                  <a:gd name="T44" fmla="*/ 6 w 124"/>
                  <a:gd name="T45" fmla="*/ 12 h 100"/>
                  <a:gd name="T46" fmla="*/ 0 w 124"/>
                  <a:gd name="T47" fmla="*/ 12 h 100"/>
                  <a:gd name="T48" fmla="*/ 12 w 124"/>
                  <a:gd name="T49" fmla="*/ 24 h 100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124"/>
                  <a:gd name="T76" fmla="*/ 0 h 100"/>
                  <a:gd name="T77" fmla="*/ 124 w 124"/>
                  <a:gd name="T78" fmla="*/ 100 h 100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124" h="100">
                    <a:moveTo>
                      <a:pt x="12" y="24"/>
                    </a:moveTo>
                    <a:lnTo>
                      <a:pt x="30" y="24"/>
                    </a:lnTo>
                    <a:lnTo>
                      <a:pt x="37" y="31"/>
                    </a:lnTo>
                    <a:lnTo>
                      <a:pt x="30" y="43"/>
                    </a:lnTo>
                    <a:lnTo>
                      <a:pt x="30" y="49"/>
                    </a:lnTo>
                    <a:lnTo>
                      <a:pt x="24" y="56"/>
                    </a:lnTo>
                    <a:lnTo>
                      <a:pt x="24" y="74"/>
                    </a:lnTo>
                    <a:lnTo>
                      <a:pt x="24" y="87"/>
                    </a:lnTo>
                    <a:lnTo>
                      <a:pt x="37" y="99"/>
                    </a:lnTo>
                    <a:lnTo>
                      <a:pt x="49" y="93"/>
                    </a:lnTo>
                    <a:lnTo>
                      <a:pt x="74" y="93"/>
                    </a:lnTo>
                    <a:lnTo>
                      <a:pt x="99" y="68"/>
                    </a:lnTo>
                    <a:lnTo>
                      <a:pt x="92" y="56"/>
                    </a:lnTo>
                    <a:lnTo>
                      <a:pt x="105" y="37"/>
                    </a:lnTo>
                    <a:lnTo>
                      <a:pt x="123" y="24"/>
                    </a:lnTo>
                    <a:lnTo>
                      <a:pt x="123" y="18"/>
                    </a:lnTo>
                    <a:lnTo>
                      <a:pt x="92" y="18"/>
                    </a:lnTo>
                    <a:lnTo>
                      <a:pt x="74" y="6"/>
                    </a:lnTo>
                    <a:lnTo>
                      <a:pt x="61" y="6"/>
                    </a:lnTo>
                    <a:lnTo>
                      <a:pt x="49" y="6"/>
                    </a:lnTo>
                    <a:lnTo>
                      <a:pt x="12" y="0"/>
                    </a:lnTo>
                    <a:lnTo>
                      <a:pt x="12" y="6"/>
                    </a:lnTo>
                    <a:lnTo>
                      <a:pt x="6" y="12"/>
                    </a:lnTo>
                    <a:lnTo>
                      <a:pt x="0" y="12"/>
                    </a:lnTo>
                    <a:lnTo>
                      <a:pt x="12" y="24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08" name="Freeform 72">
                <a:extLst>
                  <a:ext uri="{FF2B5EF4-FFF2-40B4-BE49-F238E27FC236}">
                    <a16:creationId xmlns:a16="http://schemas.microsoft.com/office/drawing/2014/main" id="{D841F055-A900-4890-985D-C83C79547F4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22154" y="3048941"/>
                <a:ext cx="78978" cy="109028"/>
              </a:xfrm>
              <a:custGeom>
                <a:avLst/>
                <a:gdLst>
                  <a:gd name="T0" fmla="*/ 24 w 31"/>
                  <a:gd name="T1" fmla="*/ 62 h 63"/>
                  <a:gd name="T2" fmla="*/ 24 w 31"/>
                  <a:gd name="T3" fmla="*/ 50 h 63"/>
                  <a:gd name="T4" fmla="*/ 24 w 31"/>
                  <a:gd name="T5" fmla="*/ 31 h 63"/>
                  <a:gd name="T6" fmla="*/ 30 w 31"/>
                  <a:gd name="T7" fmla="*/ 25 h 63"/>
                  <a:gd name="T8" fmla="*/ 30 w 31"/>
                  <a:gd name="T9" fmla="*/ 18 h 63"/>
                  <a:gd name="T10" fmla="*/ 30 w 31"/>
                  <a:gd name="T11" fmla="*/ 6 h 63"/>
                  <a:gd name="T12" fmla="*/ 12 w 31"/>
                  <a:gd name="T13" fmla="*/ 0 h 63"/>
                  <a:gd name="T14" fmla="*/ 6 w 31"/>
                  <a:gd name="T15" fmla="*/ 12 h 63"/>
                  <a:gd name="T16" fmla="*/ 0 w 31"/>
                  <a:gd name="T17" fmla="*/ 44 h 63"/>
                  <a:gd name="T18" fmla="*/ 6 w 31"/>
                  <a:gd name="T19" fmla="*/ 50 h 63"/>
                  <a:gd name="T20" fmla="*/ 6 w 31"/>
                  <a:gd name="T21" fmla="*/ 62 h 63"/>
                  <a:gd name="T22" fmla="*/ 24 w 31"/>
                  <a:gd name="T23" fmla="*/ 62 h 63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31"/>
                  <a:gd name="T37" fmla="*/ 0 h 63"/>
                  <a:gd name="T38" fmla="*/ 31 w 31"/>
                  <a:gd name="T39" fmla="*/ 63 h 63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31" h="63">
                    <a:moveTo>
                      <a:pt x="24" y="62"/>
                    </a:moveTo>
                    <a:lnTo>
                      <a:pt x="24" y="50"/>
                    </a:lnTo>
                    <a:lnTo>
                      <a:pt x="24" y="31"/>
                    </a:lnTo>
                    <a:lnTo>
                      <a:pt x="30" y="25"/>
                    </a:lnTo>
                    <a:lnTo>
                      <a:pt x="30" y="18"/>
                    </a:lnTo>
                    <a:lnTo>
                      <a:pt x="30" y="6"/>
                    </a:lnTo>
                    <a:lnTo>
                      <a:pt x="12" y="0"/>
                    </a:lnTo>
                    <a:lnTo>
                      <a:pt x="6" y="12"/>
                    </a:lnTo>
                    <a:lnTo>
                      <a:pt x="0" y="44"/>
                    </a:lnTo>
                    <a:lnTo>
                      <a:pt x="6" y="50"/>
                    </a:lnTo>
                    <a:lnTo>
                      <a:pt x="6" y="62"/>
                    </a:lnTo>
                    <a:lnTo>
                      <a:pt x="24" y="62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09" name="Freeform 73">
                <a:extLst>
                  <a:ext uri="{FF2B5EF4-FFF2-40B4-BE49-F238E27FC236}">
                    <a16:creationId xmlns:a16="http://schemas.microsoft.com/office/drawing/2014/main" id="{8703AA57-963F-451F-A620-A2F9A5D679D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29788" y="2932990"/>
                <a:ext cx="300631" cy="204213"/>
              </a:xfrm>
              <a:custGeom>
                <a:avLst/>
                <a:gdLst>
                  <a:gd name="T0" fmla="*/ 6 w 118"/>
                  <a:gd name="T1" fmla="*/ 43 h 118"/>
                  <a:gd name="T2" fmla="*/ 18 w 118"/>
                  <a:gd name="T3" fmla="*/ 37 h 118"/>
                  <a:gd name="T4" fmla="*/ 37 w 118"/>
                  <a:gd name="T5" fmla="*/ 43 h 118"/>
                  <a:gd name="T6" fmla="*/ 43 w 118"/>
                  <a:gd name="T7" fmla="*/ 68 h 118"/>
                  <a:gd name="T8" fmla="*/ 49 w 118"/>
                  <a:gd name="T9" fmla="*/ 68 h 118"/>
                  <a:gd name="T10" fmla="*/ 55 w 118"/>
                  <a:gd name="T11" fmla="*/ 74 h 118"/>
                  <a:gd name="T12" fmla="*/ 68 w 118"/>
                  <a:gd name="T13" fmla="*/ 80 h 118"/>
                  <a:gd name="T14" fmla="*/ 80 w 118"/>
                  <a:gd name="T15" fmla="*/ 93 h 118"/>
                  <a:gd name="T16" fmla="*/ 93 w 118"/>
                  <a:gd name="T17" fmla="*/ 93 h 118"/>
                  <a:gd name="T18" fmla="*/ 93 w 118"/>
                  <a:gd name="T19" fmla="*/ 111 h 118"/>
                  <a:gd name="T20" fmla="*/ 93 w 118"/>
                  <a:gd name="T21" fmla="*/ 117 h 118"/>
                  <a:gd name="T22" fmla="*/ 99 w 118"/>
                  <a:gd name="T23" fmla="*/ 111 h 118"/>
                  <a:gd name="T24" fmla="*/ 105 w 118"/>
                  <a:gd name="T25" fmla="*/ 105 h 118"/>
                  <a:gd name="T26" fmla="*/ 99 w 118"/>
                  <a:gd name="T27" fmla="*/ 99 h 118"/>
                  <a:gd name="T28" fmla="*/ 105 w 118"/>
                  <a:gd name="T29" fmla="*/ 86 h 118"/>
                  <a:gd name="T30" fmla="*/ 117 w 118"/>
                  <a:gd name="T31" fmla="*/ 99 h 118"/>
                  <a:gd name="T32" fmla="*/ 117 w 118"/>
                  <a:gd name="T33" fmla="*/ 93 h 118"/>
                  <a:gd name="T34" fmla="*/ 93 w 118"/>
                  <a:gd name="T35" fmla="*/ 74 h 118"/>
                  <a:gd name="T36" fmla="*/ 86 w 118"/>
                  <a:gd name="T37" fmla="*/ 74 h 118"/>
                  <a:gd name="T38" fmla="*/ 74 w 118"/>
                  <a:gd name="T39" fmla="*/ 68 h 118"/>
                  <a:gd name="T40" fmla="*/ 68 w 118"/>
                  <a:gd name="T41" fmla="*/ 49 h 118"/>
                  <a:gd name="T42" fmla="*/ 55 w 118"/>
                  <a:gd name="T43" fmla="*/ 37 h 118"/>
                  <a:gd name="T44" fmla="*/ 55 w 118"/>
                  <a:gd name="T45" fmla="*/ 24 h 118"/>
                  <a:gd name="T46" fmla="*/ 62 w 118"/>
                  <a:gd name="T47" fmla="*/ 18 h 118"/>
                  <a:gd name="T48" fmla="*/ 68 w 118"/>
                  <a:gd name="T49" fmla="*/ 18 h 118"/>
                  <a:gd name="T50" fmla="*/ 74 w 118"/>
                  <a:gd name="T51" fmla="*/ 18 h 118"/>
                  <a:gd name="T52" fmla="*/ 68 w 118"/>
                  <a:gd name="T53" fmla="*/ 12 h 118"/>
                  <a:gd name="T54" fmla="*/ 68 w 118"/>
                  <a:gd name="T55" fmla="*/ 6 h 118"/>
                  <a:gd name="T56" fmla="*/ 55 w 118"/>
                  <a:gd name="T57" fmla="*/ 6 h 118"/>
                  <a:gd name="T58" fmla="*/ 55 w 118"/>
                  <a:gd name="T59" fmla="*/ 0 h 118"/>
                  <a:gd name="T60" fmla="*/ 37 w 118"/>
                  <a:gd name="T61" fmla="*/ 6 h 118"/>
                  <a:gd name="T62" fmla="*/ 37 w 118"/>
                  <a:gd name="T63" fmla="*/ 12 h 118"/>
                  <a:gd name="T64" fmla="*/ 24 w 118"/>
                  <a:gd name="T65" fmla="*/ 6 h 118"/>
                  <a:gd name="T66" fmla="*/ 24 w 118"/>
                  <a:gd name="T67" fmla="*/ 18 h 118"/>
                  <a:gd name="T68" fmla="*/ 18 w 118"/>
                  <a:gd name="T69" fmla="*/ 12 h 118"/>
                  <a:gd name="T70" fmla="*/ 6 w 118"/>
                  <a:gd name="T71" fmla="*/ 18 h 118"/>
                  <a:gd name="T72" fmla="*/ 0 w 118"/>
                  <a:gd name="T73" fmla="*/ 18 h 118"/>
                  <a:gd name="T74" fmla="*/ 0 w 118"/>
                  <a:gd name="T75" fmla="*/ 31 h 118"/>
                  <a:gd name="T76" fmla="*/ 6 w 118"/>
                  <a:gd name="T77" fmla="*/ 43 h 11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118"/>
                  <a:gd name="T118" fmla="*/ 0 h 118"/>
                  <a:gd name="T119" fmla="*/ 118 w 118"/>
                  <a:gd name="T120" fmla="*/ 118 h 11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118" h="118">
                    <a:moveTo>
                      <a:pt x="6" y="43"/>
                    </a:moveTo>
                    <a:lnTo>
                      <a:pt x="18" y="37"/>
                    </a:lnTo>
                    <a:lnTo>
                      <a:pt x="37" y="43"/>
                    </a:lnTo>
                    <a:lnTo>
                      <a:pt x="43" y="68"/>
                    </a:lnTo>
                    <a:lnTo>
                      <a:pt x="49" y="68"/>
                    </a:lnTo>
                    <a:lnTo>
                      <a:pt x="55" y="74"/>
                    </a:lnTo>
                    <a:lnTo>
                      <a:pt x="68" y="80"/>
                    </a:lnTo>
                    <a:lnTo>
                      <a:pt x="80" y="93"/>
                    </a:lnTo>
                    <a:lnTo>
                      <a:pt x="93" y="93"/>
                    </a:lnTo>
                    <a:lnTo>
                      <a:pt x="93" y="111"/>
                    </a:lnTo>
                    <a:lnTo>
                      <a:pt x="93" y="117"/>
                    </a:lnTo>
                    <a:lnTo>
                      <a:pt x="99" y="111"/>
                    </a:lnTo>
                    <a:lnTo>
                      <a:pt x="105" y="105"/>
                    </a:lnTo>
                    <a:lnTo>
                      <a:pt x="99" y="99"/>
                    </a:lnTo>
                    <a:lnTo>
                      <a:pt x="105" y="86"/>
                    </a:lnTo>
                    <a:lnTo>
                      <a:pt x="117" y="99"/>
                    </a:lnTo>
                    <a:lnTo>
                      <a:pt x="117" y="93"/>
                    </a:lnTo>
                    <a:lnTo>
                      <a:pt x="93" y="74"/>
                    </a:lnTo>
                    <a:lnTo>
                      <a:pt x="86" y="74"/>
                    </a:lnTo>
                    <a:lnTo>
                      <a:pt x="74" y="68"/>
                    </a:lnTo>
                    <a:lnTo>
                      <a:pt x="68" y="49"/>
                    </a:lnTo>
                    <a:lnTo>
                      <a:pt x="55" y="37"/>
                    </a:lnTo>
                    <a:lnTo>
                      <a:pt x="55" y="24"/>
                    </a:lnTo>
                    <a:lnTo>
                      <a:pt x="62" y="18"/>
                    </a:lnTo>
                    <a:lnTo>
                      <a:pt x="68" y="18"/>
                    </a:lnTo>
                    <a:lnTo>
                      <a:pt x="74" y="18"/>
                    </a:lnTo>
                    <a:lnTo>
                      <a:pt x="68" y="12"/>
                    </a:lnTo>
                    <a:lnTo>
                      <a:pt x="68" y="6"/>
                    </a:lnTo>
                    <a:lnTo>
                      <a:pt x="55" y="6"/>
                    </a:lnTo>
                    <a:lnTo>
                      <a:pt x="55" y="0"/>
                    </a:lnTo>
                    <a:lnTo>
                      <a:pt x="37" y="6"/>
                    </a:lnTo>
                    <a:lnTo>
                      <a:pt x="37" y="12"/>
                    </a:lnTo>
                    <a:lnTo>
                      <a:pt x="24" y="6"/>
                    </a:lnTo>
                    <a:lnTo>
                      <a:pt x="24" y="18"/>
                    </a:lnTo>
                    <a:lnTo>
                      <a:pt x="18" y="12"/>
                    </a:lnTo>
                    <a:lnTo>
                      <a:pt x="6" y="18"/>
                    </a:lnTo>
                    <a:lnTo>
                      <a:pt x="0" y="18"/>
                    </a:lnTo>
                    <a:lnTo>
                      <a:pt x="0" y="31"/>
                    </a:lnTo>
                    <a:lnTo>
                      <a:pt x="6" y="43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10" name="Freeform 74">
                <a:extLst>
                  <a:ext uri="{FF2B5EF4-FFF2-40B4-BE49-F238E27FC236}">
                    <a16:creationId xmlns:a16="http://schemas.microsoft.com/office/drawing/2014/main" id="{4DF5F3F1-80B2-4E06-A9C0-D9F781669E4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581371" y="2900109"/>
                <a:ext cx="234389" cy="117681"/>
              </a:xfrm>
              <a:custGeom>
                <a:avLst/>
                <a:gdLst>
                  <a:gd name="T0" fmla="*/ 12 w 92"/>
                  <a:gd name="T1" fmla="*/ 49 h 68"/>
                  <a:gd name="T2" fmla="*/ 24 w 92"/>
                  <a:gd name="T3" fmla="*/ 49 h 68"/>
                  <a:gd name="T4" fmla="*/ 24 w 92"/>
                  <a:gd name="T5" fmla="*/ 55 h 68"/>
                  <a:gd name="T6" fmla="*/ 24 w 92"/>
                  <a:gd name="T7" fmla="*/ 61 h 68"/>
                  <a:gd name="T8" fmla="*/ 36 w 92"/>
                  <a:gd name="T9" fmla="*/ 61 h 68"/>
                  <a:gd name="T10" fmla="*/ 49 w 92"/>
                  <a:gd name="T11" fmla="*/ 67 h 68"/>
                  <a:gd name="T12" fmla="*/ 67 w 92"/>
                  <a:gd name="T13" fmla="*/ 61 h 68"/>
                  <a:gd name="T14" fmla="*/ 85 w 92"/>
                  <a:gd name="T15" fmla="*/ 61 h 68"/>
                  <a:gd name="T16" fmla="*/ 85 w 92"/>
                  <a:gd name="T17" fmla="*/ 55 h 68"/>
                  <a:gd name="T18" fmla="*/ 91 w 92"/>
                  <a:gd name="T19" fmla="*/ 49 h 68"/>
                  <a:gd name="T20" fmla="*/ 91 w 92"/>
                  <a:gd name="T21" fmla="*/ 43 h 68"/>
                  <a:gd name="T22" fmla="*/ 79 w 92"/>
                  <a:gd name="T23" fmla="*/ 43 h 68"/>
                  <a:gd name="T24" fmla="*/ 79 w 92"/>
                  <a:gd name="T25" fmla="*/ 37 h 68"/>
                  <a:gd name="T26" fmla="*/ 79 w 92"/>
                  <a:gd name="T27" fmla="*/ 24 h 68"/>
                  <a:gd name="T28" fmla="*/ 67 w 92"/>
                  <a:gd name="T29" fmla="*/ 0 h 68"/>
                  <a:gd name="T30" fmla="*/ 61 w 92"/>
                  <a:gd name="T31" fmla="*/ 0 h 68"/>
                  <a:gd name="T32" fmla="*/ 42 w 92"/>
                  <a:gd name="T33" fmla="*/ 6 h 68"/>
                  <a:gd name="T34" fmla="*/ 24 w 92"/>
                  <a:gd name="T35" fmla="*/ 6 h 68"/>
                  <a:gd name="T36" fmla="*/ 18 w 92"/>
                  <a:gd name="T37" fmla="*/ 6 h 68"/>
                  <a:gd name="T38" fmla="*/ 6 w 92"/>
                  <a:gd name="T39" fmla="*/ 30 h 68"/>
                  <a:gd name="T40" fmla="*/ 0 w 92"/>
                  <a:gd name="T41" fmla="*/ 30 h 68"/>
                  <a:gd name="T42" fmla="*/ 12 w 92"/>
                  <a:gd name="T43" fmla="*/ 49 h 68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92"/>
                  <a:gd name="T67" fmla="*/ 0 h 68"/>
                  <a:gd name="T68" fmla="*/ 92 w 92"/>
                  <a:gd name="T69" fmla="*/ 68 h 68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92" h="68">
                    <a:moveTo>
                      <a:pt x="12" y="49"/>
                    </a:moveTo>
                    <a:lnTo>
                      <a:pt x="24" y="49"/>
                    </a:lnTo>
                    <a:lnTo>
                      <a:pt x="24" y="55"/>
                    </a:lnTo>
                    <a:lnTo>
                      <a:pt x="24" y="61"/>
                    </a:lnTo>
                    <a:lnTo>
                      <a:pt x="36" y="61"/>
                    </a:lnTo>
                    <a:lnTo>
                      <a:pt x="49" y="67"/>
                    </a:lnTo>
                    <a:lnTo>
                      <a:pt x="67" y="61"/>
                    </a:lnTo>
                    <a:lnTo>
                      <a:pt x="85" y="61"/>
                    </a:lnTo>
                    <a:lnTo>
                      <a:pt x="85" y="55"/>
                    </a:lnTo>
                    <a:lnTo>
                      <a:pt x="91" y="49"/>
                    </a:lnTo>
                    <a:lnTo>
                      <a:pt x="91" y="43"/>
                    </a:lnTo>
                    <a:lnTo>
                      <a:pt x="79" y="43"/>
                    </a:lnTo>
                    <a:lnTo>
                      <a:pt x="79" y="37"/>
                    </a:lnTo>
                    <a:lnTo>
                      <a:pt x="79" y="24"/>
                    </a:lnTo>
                    <a:lnTo>
                      <a:pt x="67" y="0"/>
                    </a:lnTo>
                    <a:lnTo>
                      <a:pt x="61" y="0"/>
                    </a:lnTo>
                    <a:lnTo>
                      <a:pt x="42" y="6"/>
                    </a:lnTo>
                    <a:lnTo>
                      <a:pt x="24" y="6"/>
                    </a:lnTo>
                    <a:lnTo>
                      <a:pt x="18" y="6"/>
                    </a:lnTo>
                    <a:lnTo>
                      <a:pt x="6" y="30"/>
                    </a:lnTo>
                    <a:lnTo>
                      <a:pt x="0" y="30"/>
                    </a:lnTo>
                    <a:lnTo>
                      <a:pt x="12" y="49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11" name="Freeform 75">
                <a:extLst>
                  <a:ext uri="{FF2B5EF4-FFF2-40B4-BE49-F238E27FC236}">
                    <a16:creationId xmlns:a16="http://schemas.microsoft.com/office/drawing/2014/main" id="{C577B5D3-CCC6-4768-A8A1-8E3780CDA4E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721497" y="3048941"/>
                <a:ext cx="491708" cy="129797"/>
              </a:xfrm>
              <a:custGeom>
                <a:avLst/>
                <a:gdLst>
                  <a:gd name="T0" fmla="*/ 186 w 193"/>
                  <a:gd name="T1" fmla="*/ 31 h 75"/>
                  <a:gd name="T2" fmla="*/ 180 w 193"/>
                  <a:gd name="T3" fmla="*/ 24 h 75"/>
                  <a:gd name="T4" fmla="*/ 174 w 193"/>
                  <a:gd name="T5" fmla="*/ 6 h 75"/>
                  <a:gd name="T6" fmla="*/ 155 w 193"/>
                  <a:gd name="T7" fmla="*/ 6 h 75"/>
                  <a:gd name="T8" fmla="*/ 143 w 193"/>
                  <a:gd name="T9" fmla="*/ 12 h 75"/>
                  <a:gd name="T10" fmla="*/ 112 w 193"/>
                  <a:gd name="T11" fmla="*/ 12 h 75"/>
                  <a:gd name="T12" fmla="*/ 93 w 193"/>
                  <a:gd name="T13" fmla="*/ 0 h 75"/>
                  <a:gd name="T14" fmla="*/ 74 w 193"/>
                  <a:gd name="T15" fmla="*/ 0 h 75"/>
                  <a:gd name="T16" fmla="*/ 56 w 193"/>
                  <a:gd name="T17" fmla="*/ 12 h 75"/>
                  <a:gd name="T18" fmla="*/ 43 w 193"/>
                  <a:gd name="T19" fmla="*/ 12 h 75"/>
                  <a:gd name="T20" fmla="*/ 24 w 193"/>
                  <a:gd name="T21" fmla="*/ 12 h 75"/>
                  <a:gd name="T22" fmla="*/ 24 w 193"/>
                  <a:gd name="T23" fmla="*/ 0 h 75"/>
                  <a:gd name="T24" fmla="*/ 12 w 193"/>
                  <a:gd name="T25" fmla="*/ 0 h 75"/>
                  <a:gd name="T26" fmla="*/ 6 w 193"/>
                  <a:gd name="T27" fmla="*/ 6 h 75"/>
                  <a:gd name="T28" fmla="*/ 0 w 193"/>
                  <a:gd name="T29" fmla="*/ 18 h 75"/>
                  <a:gd name="T30" fmla="*/ 6 w 193"/>
                  <a:gd name="T31" fmla="*/ 18 h 75"/>
                  <a:gd name="T32" fmla="*/ 6 w 193"/>
                  <a:gd name="T33" fmla="*/ 24 h 75"/>
                  <a:gd name="T34" fmla="*/ 18 w 193"/>
                  <a:gd name="T35" fmla="*/ 12 h 75"/>
                  <a:gd name="T36" fmla="*/ 31 w 193"/>
                  <a:gd name="T37" fmla="*/ 12 h 75"/>
                  <a:gd name="T38" fmla="*/ 37 w 193"/>
                  <a:gd name="T39" fmla="*/ 18 h 75"/>
                  <a:gd name="T40" fmla="*/ 31 w 193"/>
                  <a:gd name="T41" fmla="*/ 18 h 75"/>
                  <a:gd name="T42" fmla="*/ 31 w 193"/>
                  <a:gd name="T43" fmla="*/ 24 h 75"/>
                  <a:gd name="T44" fmla="*/ 6 w 193"/>
                  <a:gd name="T45" fmla="*/ 24 h 75"/>
                  <a:gd name="T46" fmla="*/ 0 w 193"/>
                  <a:gd name="T47" fmla="*/ 37 h 75"/>
                  <a:gd name="T48" fmla="*/ 12 w 193"/>
                  <a:gd name="T49" fmla="*/ 31 h 75"/>
                  <a:gd name="T50" fmla="*/ 12 w 193"/>
                  <a:gd name="T51" fmla="*/ 49 h 75"/>
                  <a:gd name="T52" fmla="*/ 6 w 193"/>
                  <a:gd name="T53" fmla="*/ 43 h 75"/>
                  <a:gd name="T54" fmla="*/ 6 w 193"/>
                  <a:gd name="T55" fmla="*/ 49 h 75"/>
                  <a:gd name="T56" fmla="*/ 12 w 193"/>
                  <a:gd name="T57" fmla="*/ 56 h 75"/>
                  <a:gd name="T58" fmla="*/ 18 w 193"/>
                  <a:gd name="T59" fmla="*/ 62 h 75"/>
                  <a:gd name="T60" fmla="*/ 12 w 193"/>
                  <a:gd name="T61" fmla="*/ 62 h 75"/>
                  <a:gd name="T62" fmla="*/ 24 w 193"/>
                  <a:gd name="T63" fmla="*/ 62 h 75"/>
                  <a:gd name="T64" fmla="*/ 24 w 193"/>
                  <a:gd name="T65" fmla="*/ 68 h 75"/>
                  <a:gd name="T66" fmla="*/ 37 w 193"/>
                  <a:gd name="T67" fmla="*/ 74 h 75"/>
                  <a:gd name="T68" fmla="*/ 49 w 193"/>
                  <a:gd name="T69" fmla="*/ 74 h 75"/>
                  <a:gd name="T70" fmla="*/ 49 w 193"/>
                  <a:gd name="T71" fmla="*/ 68 h 75"/>
                  <a:gd name="T72" fmla="*/ 56 w 193"/>
                  <a:gd name="T73" fmla="*/ 68 h 75"/>
                  <a:gd name="T74" fmla="*/ 68 w 193"/>
                  <a:gd name="T75" fmla="*/ 74 h 75"/>
                  <a:gd name="T76" fmla="*/ 74 w 193"/>
                  <a:gd name="T77" fmla="*/ 74 h 75"/>
                  <a:gd name="T78" fmla="*/ 87 w 193"/>
                  <a:gd name="T79" fmla="*/ 68 h 75"/>
                  <a:gd name="T80" fmla="*/ 99 w 193"/>
                  <a:gd name="T81" fmla="*/ 68 h 75"/>
                  <a:gd name="T82" fmla="*/ 99 w 193"/>
                  <a:gd name="T83" fmla="*/ 74 h 75"/>
                  <a:gd name="T84" fmla="*/ 112 w 193"/>
                  <a:gd name="T85" fmla="*/ 74 h 75"/>
                  <a:gd name="T86" fmla="*/ 112 w 193"/>
                  <a:gd name="T87" fmla="*/ 68 h 75"/>
                  <a:gd name="T88" fmla="*/ 124 w 193"/>
                  <a:gd name="T89" fmla="*/ 68 h 75"/>
                  <a:gd name="T90" fmla="*/ 136 w 193"/>
                  <a:gd name="T91" fmla="*/ 68 h 75"/>
                  <a:gd name="T92" fmla="*/ 149 w 193"/>
                  <a:gd name="T93" fmla="*/ 62 h 75"/>
                  <a:gd name="T94" fmla="*/ 168 w 193"/>
                  <a:gd name="T95" fmla="*/ 62 h 75"/>
                  <a:gd name="T96" fmla="*/ 174 w 193"/>
                  <a:gd name="T97" fmla="*/ 56 h 75"/>
                  <a:gd name="T98" fmla="*/ 192 w 193"/>
                  <a:gd name="T99" fmla="*/ 62 h 75"/>
                  <a:gd name="T100" fmla="*/ 180 w 193"/>
                  <a:gd name="T101" fmla="*/ 31 h 75"/>
                  <a:gd name="T102" fmla="*/ 186 w 193"/>
                  <a:gd name="T103" fmla="*/ 24 h 75"/>
                  <a:gd name="T104" fmla="*/ 186 w 193"/>
                  <a:gd name="T105" fmla="*/ 31 h 75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93"/>
                  <a:gd name="T160" fmla="*/ 0 h 75"/>
                  <a:gd name="T161" fmla="*/ 193 w 193"/>
                  <a:gd name="T162" fmla="*/ 75 h 75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93" h="75">
                    <a:moveTo>
                      <a:pt x="186" y="31"/>
                    </a:moveTo>
                    <a:lnTo>
                      <a:pt x="180" y="24"/>
                    </a:lnTo>
                    <a:lnTo>
                      <a:pt x="174" y="6"/>
                    </a:lnTo>
                    <a:lnTo>
                      <a:pt x="155" y="6"/>
                    </a:lnTo>
                    <a:lnTo>
                      <a:pt x="143" y="12"/>
                    </a:lnTo>
                    <a:lnTo>
                      <a:pt x="112" y="12"/>
                    </a:lnTo>
                    <a:lnTo>
                      <a:pt x="93" y="0"/>
                    </a:lnTo>
                    <a:lnTo>
                      <a:pt x="74" y="0"/>
                    </a:lnTo>
                    <a:lnTo>
                      <a:pt x="56" y="12"/>
                    </a:lnTo>
                    <a:lnTo>
                      <a:pt x="43" y="12"/>
                    </a:lnTo>
                    <a:lnTo>
                      <a:pt x="24" y="12"/>
                    </a:lnTo>
                    <a:lnTo>
                      <a:pt x="24" y="0"/>
                    </a:lnTo>
                    <a:lnTo>
                      <a:pt x="12" y="0"/>
                    </a:lnTo>
                    <a:lnTo>
                      <a:pt x="6" y="6"/>
                    </a:lnTo>
                    <a:lnTo>
                      <a:pt x="0" y="18"/>
                    </a:lnTo>
                    <a:lnTo>
                      <a:pt x="6" y="18"/>
                    </a:lnTo>
                    <a:lnTo>
                      <a:pt x="6" y="24"/>
                    </a:lnTo>
                    <a:lnTo>
                      <a:pt x="18" y="12"/>
                    </a:lnTo>
                    <a:lnTo>
                      <a:pt x="31" y="12"/>
                    </a:lnTo>
                    <a:lnTo>
                      <a:pt x="37" y="18"/>
                    </a:lnTo>
                    <a:lnTo>
                      <a:pt x="31" y="18"/>
                    </a:lnTo>
                    <a:lnTo>
                      <a:pt x="31" y="24"/>
                    </a:lnTo>
                    <a:lnTo>
                      <a:pt x="6" y="24"/>
                    </a:lnTo>
                    <a:lnTo>
                      <a:pt x="0" y="37"/>
                    </a:lnTo>
                    <a:lnTo>
                      <a:pt x="12" y="31"/>
                    </a:lnTo>
                    <a:lnTo>
                      <a:pt x="12" y="49"/>
                    </a:lnTo>
                    <a:lnTo>
                      <a:pt x="6" y="43"/>
                    </a:lnTo>
                    <a:lnTo>
                      <a:pt x="6" y="49"/>
                    </a:lnTo>
                    <a:lnTo>
                      <a:pt x="12" y="56"/>
                    </a:lnTo>
                    <a:lnTo>
                      <a:pt x="18" y="62"/>
                    </a:lnTo>
                    <a:lnTo>
                      <a:pt x="12" y="62"/>
                    </a:lnTo>
                    <a:lnTo>
                      <a:pt x="24" y="62"/>
                    </a:lnTo>
                    <a:lnTo>
                      <a:pt x="24" y="68"/>
                    </a:lnTo>
                    <a:lnTo>
                      <a:pt x="37" y="74"/>
                    </a:lnTo>
                    <a:lnTo>
                      <a:pt x="49" y="74"/>
                    </a:lnTo>
                    <a:lnTo>
                      <a:pt x="49" y="68"/>
                    </a:lnTo>
                    <a:lnTo>
                      <a:pt x="56" y="68"/>
                    </a:lnTo>
                    <a:lnTo>
                      <a:pt x="68" y="74"/>
                    </a:lnTo>
                    <a:lnTo>
                      <a:pt x="74" y="74"/>
                    </a:lnTo>
                    <a:lnTo>
                      <a:pt x="87" y="68"/>
                    </a:lnTo>
                    <a:lnTo>
                      <a:pt x="99" y="68"/>
                    </a:lnTo>
                    <a:lnTo>
                      <a:pt x="99" y="74"/>
                    </a:lnTo>
                    <a:lnTo>
                      <a:pt x="112" y="74"/>
                    </a:lnTo>
                    <a:lnTo>
                      <a:pt x="112" y="68"/>
                    </a:lnTo>
                    <a:lnTo>
                      <a:pt x="124" y="68"/>
                    </a:lnTo>
                    <a:lnTo>
                      <a:pt x="136" y="68"/>
                    </a:lnTo>
                    <a:lnTo>
                      <a:pt x="149" y="62"/>
                    </a:lnTo>
                    <a:lnTo>
                      <a:pt x="168" y="62"/>
                    </a:lnTo>
                    <a:lnTo>
                      <a:pt x="174" y="56"/>
                    </a:lnTo>
                    <a:lnTo>
                      <a:pt x="192" y="62"/>
                    </a:lnTo>
                    <a:lnTo>
                      <a:pt x="180" y="31"/>
                    </a:lnTo>
                    <a:lnTo>
                      <a:pt x="186" y="24"/>
                    </a:lnTo>
                    <a:lnTo>
                      <a:pt x="186" y="31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12" name="Freeform 76">
                <a:extLst>
                  <a:ext uri="{FF2B5EF4-FFF2-40B4-BE49-F238E27FC236}">
                    <a16:creationId xmlns:a16="http://schemas.microsoft.com/office/drawing/2014/main" id="{3BCAE13E-74A5-49F8-8E25-3F82C8CE3A5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581371" y="3059325"/>
                <a:ext cx="155409" cy="88262"/>
              </a:xfrm>
              <a:custGeom>
                <a:avLst/>
                <a:gdLst>
                  <a:gd name="T0" fmla="*/ 6 w 61"/>
                  <a:gd name="T1" fmla="*/ 12 h 51"/>
                  <a:gd name="T2" fmla="*/ 24 w 61"/>
                  <a:gd name="T3" fmla="*/ 6 h 51"/>
                  <a:gd name="T4" fmla="*/ 42 w 61"/>
                  <a:gd name="T5" fmla="*/ 0 h 51"/>
                  <a:gd name="T6" fmla="*/ 54 w 61"/>
                  <a:gd name="T7" fmla="*/ 6 h 51"/>
                  <a:gd name="T8" fmla="*/ 60 w 61"/>
                  <a:gd name="T9" fmla="*/ 0 h 51"/>
                  <a:gd name="T10" fmla="*/ 54 w 61"/>
                  <a:gd name="T11" fmla="*/ 12 h 51"/>
                  <a:gd name="T12" fmla="*/ 36 w 61"/>
                  <a:gd name="T13" fmla="*/ 12 h 51"/>
                  <a:gd name="T14" fmla="*/ 30 w 61"/>
                  <a:gd name="T15" fmla="*/ 12 h 51"/>
                  <a:gd name="T16" fmla="*/ 30 w 61"/>
                  <a:gd name="T17" fmla="*/ 19 h 51"/>
                  <a:gd name="T18" fmla="*/ 24 w 61"/>
                  <a:gd name="T19" fmla="*/ 12 h 51"/>
                  <a:gd name="T20" fmla="*/ 24 w 61"/>
                  <a:gd name="T21" fmla="*/ 19 h 51"/>
                  <a:gd name="T22" fmla="*/ 30 w 61"/>
                  <a:gd name="T23" fmla="*/ 38 h 51"/>
                  <a:gd name="T24" fmla="*/ 42 w 61"/>
                  <a:gd name="T25" fmla="*/ 50 h 51"/>
                  <a:gd name="T26" fmla="*/ 36 w 61"/>
                  <a:gd name="T27" fmla="*/ 44 h 51"/>
                  <a:gd name="T28" fmla="*/ 36 w 61"/>
                  <a:gd name="T29" fmla="*/ 50 h 51"/>
                  <a:gd name="T30" fmla="*/ 24 w 61"/>
                  <a:gd name="T31" fmla="*/ 44 h 51"/>
                  <a:gd name="T32" fmla="*/ 6 w 61"/>
                  <a:gd name="T33" fmla="*/ 44 h 51"/>
                  <a:gd name="T34" fmla="*/ 0 w 61"/>
                  <a:gd name="T35" fmla="*/ 25 h 51"/>
                  <a:gd name="T36" fmla="*/ 6 w 61"/>
                  <a:gd name="T37" fmla="*/ 12 h 51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61"/>
                  <a:gd name="T58" fmla="*/ 0 h 51"/>
                  <a:gd name="T59" fmla="*/ 61 w 61"/>
                  <a:gd name="T60" fmla="*/ 51 h 51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61" h="51">
                    <a:moveTo>
                      <a:pt x="6" y="12"/>
                    </a:moveTo>
                    <a:lnTo>
                      <a:pt x="24" y="6"/>
                    </a:lnTo>
                    <a:lnTo>
                      <a:pt x="42" y="0"/>
                    </a:lnTo>
                    <a:lnTo>
                      <a:pt x="54" y="6"/>
                    </a:lnTo>
                    <a:lnTo>
                      <a:pt x="60" y="0"/>
                    </a:lnTo>
                    <a:lnTo>
                      <a:pt x="54" y="12"/>
                    </a:lnTo>
                    <a:lnTo>
                      <a:pt x="36" y="12"/>
                    </a:lnTo>
                    <a:lnTo>
                      <a:pt x="30" y="12"/>
                    </a:lnTo>
                    <a:lnTo>
                      <a:pt x="30" y="19"/>
                    </a:lnTo>
                    <a:lnTo>
                      <a:pt x="24" y="12"/>
                    </a:lnTo>
                    <a:lnTo>
                      <a:pt x="24" y="19"/>
                    </a:lnTo>
                    <a:lnTo>
                      <a:pt x="30" y="38"/>
                    </a:lnTo>
                    <a:lnTo>
                      <a:pt x="42" y="50"/>
                    </a:lnTo>
                    <a:lnTo>
                      <a:pt x="36" y="44"/>
                    </a:lnTo>
                    <a:lnTo>
                      <a:pt x="36" y="50"/>
                    </a:lnTo>
                    <a:lnTo>
                      <a:pt x="24" y="44"/>
                    </a:lnTo>
                    <a:lnTo>
                      <a:pt x="6" y="44"/>
                    </a:lnTo>
                    <a:lnTo>
                      <a:pt x="0" y="25"/>
                    </a:lnTo>
                    <a:lnTo>
                      <a:pt x="6" y="12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13" name="Freeform 77">
                <a:extLst>
                  <a:ext uri="{FF2B5EF4-FFF2-40B4-BE49-F238E27FC236}">
                    <a16:creationId xmlns:a16="http://schemas.microsoft.com/office/drawing/2014/main" id="{B07E935E-469D-493F-8C60-4E861983297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958433" y="3157970"/>
                <a:ext cx="191079" cy="95185"/>
              </a:xfrm>
              <a:custGeom>
                <a:avLst/>
                <a:gdLst>
                  <a:gd name="T0" fmla="*/ 0 w 75"/>
                  <a:gd name="T1" fmla="*/ 54 h 55"/>
                  <a:gd name="T2" fmla="*/ 6 w 75"/>
                  <a:gd name="T3" fmla="*/ 48 h 55"/>
                  <a:gd name="T4" fmla="*/ 12 w 75"/>
                  <a:gd name="T5" fmla="*/ 36 h 55"/>
                  <a:gd name="T6" fmla="*/ 6 w 75"/>
                  <a:gd name="T7" fmla="*/ 30 h 55"/>
                  <a:gd name="T8" fmla="*/ 6 w 75"/>
                  <a:gd name="T9" fmla="*/ 12 h 55"/>
                  <a:gd name="T10" fmla="*/ 12 w 75"/>
                  <a:gd name="T11" fmla="*/ 12 h 55"/>
                  <a:gd name="T12" fmla="*/ 12 w 75"/>
                  <a:gd name="T13" fmla="*/ 6 h 55"/>
                  <a:gd name="T14" fmla="*/ 31 w 75"/>
                  <a:gd name="T15" fmla="*/ 0 h 55"/>
                  <a:gd name="T16" fmla="*/ 43 w 75"/>
                  <a:gd name="T17" fmla="*/ 6 h 55"/>
                  <a:gd name="T18" fmla="*/ 56 w 75"/>
                  <a:gd name="T19" fmla="*/ 0 h 55"/>
                  <a:gd name="T20" fmla="*/ 74 w 75"/>
                  <a:gd name="T21" fmla="*/ 0 h 55"/>
                  <a:gd name="T22" fmla="*/ 62 w 75"/>
                  <a:gd name="T23" fmla="*/ 6 h 55"/>
                  <a:gd name="T24" fmla="*/ 62 w 75"/>
                  <a:gd name="T25" fmla="*/ 30 h 55"/>
                  <a:gd name="T26" fmla="*/ 37 w 75"/>
                  <a:gd name="T27" fmla="*/ 42 h 55"/>
                  <a:gd name="T28" fmla="*/ 12 w 75"/>
                  <a:gd name="T29" fmla="*/ 54 h 55"/>
                  <a:gd name="T30" fmla="*/ 0 w 75"/>
                  <a:gd name="T31" fmla="*/ 54 h 55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75"/>
                  <a:gd name="T49" fmla="*/ 0 h 55"/>
                  <a:gd name="T50" fmla="*/ 75 w 75"/>
                  <a:gd name="T51" fmla="*/ 55 h 55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75" h="55">
                    <a:moveTo>
                      <a:pt x="0" y="54"/>
                    </a:moveTo>
                    <a:lnTo>
                      <a:pt x="6" y="48"/>
                    </a:lnTo>
                    <a:lnTo>
                      <a:pt x="12" y="36"/>
                    </a:lnTo>
                    <a:lnTo>
                      <a:pt x="6" y="30"/>
                    </a:lnTo>
                    <a:lnTo>
                      <a:pt x="6" y="12"/>
                    </a:lnTo>
                    <a:lnTo>
                      <a:pt x="12" y="12"/>
                    </a:lnTo>
                    <a:lnTo>
                      <a:pt x="12" y="6"/>
                    </a:lnTo>
                    <a:lnTo>
                      <a:pt x="31" y="0"/>
                    </a:lnTo>
                    <a:lnTo>
                      <a:pt x="43" y="6"/>
                    </a:lnTo>
                    <a:lnTo>
                      <a:pt x="56" y="0"/>
                    </a:lnTo>
                    <a:lnTo>
                      <a:pt x="74" y="0"/>
                    </a:lnTo>
                    <a:lnTo>
                      <a:pt x="62" y="6"/>
                    </a:lnTo>
                    <a:lnTo>
                      <a:pt x="62" y="30"/>
                    </a:lnTo>
                    <a:lnTo>
                      <a:pt x="37" y="42"/>
                    </a:lnTo>
                    <a:lnTo>
                      <a:pt x="12" y="54"/>
                    </a:lnTo>
                    <a:lnTo>
                      <a:pt x="0" y="54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14" name="Freeform 78">
                <a:extLst>
                  <a:ext uri="{FF2B5EF4-FFF2-40B4-BE49-F238E27FC236}">
                    <a16:creationId xmlns:a16="http://schemas.microsoft.com/office/drawing/2014/main" id="{3EC85F80-C66F-4EEA-9720-19F106CBADB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943147" y="3232386"/>
                <a:ext cx="109552" cy="86531"/>
              </a:xfrm>
              <a:custGeom>
                <a:avLst/>
                <a:gdLst>
                  <a:gd name="T0" fmla="*/ 42 w 43"/>
                  <a:gd name="T1" fmla="*/ 18 h 50"/>
                  <a:gd name="T2" fmla="*/ 42 w 43"/>
                  <a:gd name="T3" fmla="*/ 0 h 50"/>
                  <a:gd name="T4" fmla="*/ 18 w 43"/>
                  <a:gd name="T5" fmla="*/ 12 h 50"/>
                  <a:gd name="T6" fmla="*/ 12 w 43"/>
                  <a:gd name="T7" fmla="*/ 12 h 50"/>
                  <a:gd name="T8" fmla="*/ 6 w 43"/>
                  <a:gd name="T9" fmla="*/ 18 h 50"/>
                  <a:gd name="T10" fmla="*/ 6 w 43"/>
                  <a:gd name="T11" fmla="*/ 31 h 50"/>
                  <a:gd name="T12" fmla="*/ 0 w 43"/>
                  <a:gd name="T13" fmla="*/ 49 h 50"/>
                  <a:gd name="T14" fmla="*/ 12 w 43"/>
                  <a:gd name="T15" fmla="*/ 49 h 50"/>
                  <a:gd name="T16" fmla="*/ 18 w 43"/>
                  <a:gd name="T17" fmla="*/ 43 h 50"/>
                  <a:gd name="T18" fmla="*/ 24 w 43"/>
                  <a:gd name="T19" fmla="*/ 43 h 50"/>
                  <a:gd name="T20" fmla="*/ 36 w 43"/>
                  <a:gd name="T21" fmla="*/ 37 h 50"/>
                  <a:gd name="T22" fmla="*/ 24 w 43"/>
                  <a:gd name="T23" fmla="*/ 24 h 50"/>
                  <a:gd name="T24" fmla="*/ 42 w 43"/>
                  <a:gd name="T25" fmla="*/ 18 h 50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43"/>
                  <a:gd name="T40" fmla="*/ 0 h 50"/>
                  <a:gd name="T41" fmla="*/ 43 w 43"/>
                  <a:gd name="T42" fmla="*/ 50 h 50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43" h="50">
                    <a:moveTo>
                      <a:pt x="42" y="18"/>
                    </a:moveTo>
                    <a:lnTo>
                      <a:pt x="42" y="0"/>
                    </a:lnTo>
                    <a:lnTo>
                      <a:pt x="18" y="12"/>
                    </a:lnTo>
                    <a:lnTo>
                      <a:pt x="12" y="12"/>
                    </a:lnTo>
                    <a:lnTo>
                      <a:pt x="6" y="18"/>
                    </a:lnTo>
                    <a:lnTo>
                      <a:pt x="6" y="31"/>
                    </a:lnTo>
                    <a:lnTo>
                      <a:pt x="0" y="49"/>
                    </a:lnTo>
                    <a:lnTo>
                      <a:pt x="12" y="49"/>
                    </a:lnTo>
                    <a:lnTo>
                      <a:pt x="18" y="43"/>
                    </a:lnTo>
                    <a:lnTo>
                      <a:pt x="24" y="43"/>
                    </a:lnTo>
                    <a:lnTo>
                      <a:pt x="36" y="37"/>
                    </a:lnTo>
                    <a:lnTo>
                      <a:pt x="24" y="24"/>
                    </a:lnTo>
                    <a:lnTo>
                      <a:pt x="42" y="18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15" name="Freeform 79">
                <a:extLst>
                  <a:ext uri="{FF2B5EF4-FFF2-40B4-BE49-F238E27FC236}">
                    <a16:creationId xmlns:a16="http://schemas.microsoft.com/office/drawing/2014/main" id="{DFC805C2-6938-481F-8C16-580A4EF8848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958433" y="3209888"/>
                <a:ext cx="48404" cy="32882"/>
              </a:xfrm>
              <a:custGeom>
                <a:avLst/>
                <a:gdLst>
                  <a:gd name="T0" fmla="*/ 9 w 19"/>
                  <a:gd name="T1" fmla="*/ 18 h 19"/>
                  <a:gd name="T2" fmla="*/ 0 w 19"/>
                  <a:gd name="T3" fmla="*/ 18 h 19"/>
                  <a:gd name="T4" fmla="*/ 9 w 19"/>
                  <a:gd name="T5" fmla="*/ 0 h 19"/>
                  <a:gd name="T6" fmla="*/ 18 w 19"/>
                  <a:gd name="T7" fmla="*/ 6 h 19"/>
                  <a:gd name="T8" fmla="*/ 9 w 19"/>
                  <a:gd name="T9" fmla="*/ 18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"/>
                  <a:gd name="T16" fmla="*/ 0 h 19"/>
                  <a:gd name="T17" fmla="*/ 19 w 19"/>
                  <a:gd name="T18" fmla="*/ 19 h 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" h="19">
                    <a:moveTo>
                      <a:pt x="9" y="18"/>
                    </a:moveTo>
                    <a:lnTo>
                      <a:pt x="0" y="18"/>
                    </a:lnTo>
                    <a:lnTo>
                      <a:pt x="9" y="0"/>
                    </a:lnTo>
                    <a:lnTo>
                      <a:pt x="18" y="6"/>
                    </a:lnTo>
                    <a:lnTo>
                      <a:pt x="9" y="18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16" name="Freeform 80">
                <a:extLst>
                  <a:ext uri="{FF2B5EF4-FFF2-40B4-BE49-F238E27FC236}">
                    <a16:creationId xmlns:a16="http://schemas.microsoft.com/office/drawing/2014/main" id="{0DEA1E9B-863E-4076-A840-8146A3DDF20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927859" y="3242771"/>
                <a:ext cx="48404" cy="76147"/>
              </a:xfrm>
              <a:custGeom>
                <a:avLst/>
                <a:gdLst>
                  <a:gd name="T0" fmla="*/ 18 w 19"/>
                  <a:gd name="T1" fmla="*/ 6 h 44"/>
                  <a:gd name="T2" fmla="*/ 12 w 19"/>
                  <a:gd name="T3" fmla="*/ 12 h 44"/>
                  <a:gd name="T4" fmla="*/ 12 w 19"/>
                  <a:gd name="T5" fmla="*/ 25 h 44"/>
                  <a:gd name="T6" fmla="*/ 12 w 19"/>
                  <a:gd name="T7" fmla="*/ 43 h 44"/>
                  <a:gd name="T8" fmla="*/ 0 w 19"/>
                  <a:gd name="T9" fmla="*/ 18 h 44"/>
                  <a:gd name="T10" fmla="*/ 6 w 19"/>
                  <a:gd name="T11" fmla="*/ 12 h 44"/>
                  <a:gd name="T12" fmla="*/ 12 w 19"/>
                  <a:gd name="T13" fmla="*/ 0 h 44"/>
                  <a:gd name="T14" fmla="*/ 18 w 19"/>
                  <a:gd name="T15" fmla="*/ 0 h 44"/>
                  <a:gd name="T16" fmla="*/ 18 w 19"/>
                  <a:gd name="T17" fmla="*/ 6 h 4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9"/>
                  <a:gd name="T28" fmla="*/ 0 h 44"/>
                  <a:gd name="T29" fmla="*/ 19 w 19"/>
                  <a:gd name="T30" fmla="*/ 44 h 44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9" h="44">
                    <a:moveTo>
                      <a:pt x="18" y="6"/>
                    </a:moveTo>
                    <a:lnTo>
                      <a:pt x="12" y="12"/>
                    </a:lnTo>
                    <a:lnTo>
                      <a:pt x="12" y="25"/>
                    </a:lnTo>
                    <a:lnTo>
                      <a:pt x="12" y="43"/>
                    </a:lnTo>
                    <a:lnTo>
                      <a:pt x="0" y="18"/>
                    </a:lnTo>
                    <a:lnTo>
                      <a:pt x="6" y="12"/>
                    </a:lnTo>
                    <a:lnTo>
                      <a:pt x="12" y="0"/>
                    </a:lnTo>
                    <a:lnTo>
                      <a:pt x="18" y="0"/>
                    </a:lnTo>
                    <a:lnTo>
                      <a:pt x="18" y="6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17" name="Freeform 81">
                <a:extLst>
                  <a:ext uri="{FF2B5EF4-FFF2-40B4-BE49-F238E27FC236}">
                    <a16:creationId xmlns:a16="http://schemas.microsoft.com/office/drawing/2014/main" id="{A146BEF7-CFEC-4F5F-A387-4CFD085461B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7052699" y="3145855"/>
                <a:ext cx="254770" cy="173062"/>
              </a:xfrm>
              <a:custGeom>
                <a:avLst/>
                <a:gdLst>
                  <a:gd name="T0" fmla="*/ 62 w 100"/>
                  <a:gd name="T1" fmla="*/ 6 h 100"/>
                  <a:gd name="T2" fmla="*/ 68 w 100"/>
                  <a:gd name="T3" fmla="*/ 18 h 100"/>
                  <a:gd name="T4" fmla="*/ 74 w 100"/>
                  <a:gd name="T5" fmla="*/ 24 h 100"/>
                  <a:gd name="T6" fmla="*/ 74 w 100"/>
                  <a:gd name="T7" fmla="*/ 31 h 100"/>
                  <a:gd name="T8" fmla="*/ 68 w 100"/>
                  <a:gd name="T9" fmla="*/ 43 h 100"/>
                  <a:gd name="T10" fmla="*/ 74 w 100"/>
                  <a:gd name="T11" fmla="*/ 56 h 100"/>
                  <a:gd name="T12" fmla="*/ 87 w 100"/>
                  <a:gd name="T13" fmla="*/ 62 h 100"/>
                  <a:gd name="T14" fmla="*/ 87 w 100"/>
                  <a:gd name="T15" fmla="*/ 81 h 100"/>
                  <a:gd name="T16" fmla="*/ 99 w 100"/>
                  <a:gd name="T17" fmla="*/ 87 h 100"/>
                  <a:gd name="T18" fmla="*/ 99 w 100"/>
                  <a:gd name="T19" fmla="*/ 93 h 100"/>
                  <a:gd name="T20" fmla="*/ 87 w 100"/>
                  <a:gd name="T21" fmla="*/ 93 h 100"/>
                  <a:gd name="T22" fmla="*/ 74 w 100"/>
                  <a:gd name="T23" fmla="*/ 99 h 100"/>
                  <a:gd name="T24" fmla="*/ 68 w 100"/>
                  <a:gd name="T25" fmla="*/ 99 h 100"/>
                  <a:gd name="T26" fmla="*/ 62 w 100"/>
                  <a:gd name="T27" fmla="*/ 99 h 100"/>
                  <a:gd name="T28" fmla="*/ 49 w 100"/>
                  <a:gd name="T29" fmla="*/ 93 h 100"/>
                  <a:gd name="T30" fmla="*/ 43 w 100"/>
                  <a:gd name="T31" fmla="*/ 87 h 100"/>
                  <a:gd name="T32" fmla="*/ 37 w 100"/>
                  <a:gd name="T33" fmla="*/ 81 h 100"/>
                  <a:gd name="T34" fmla="*/ 18 w 100"/>
                  <a:gd name="T35" fmla="*/ 68 h 100"/>
                  <a:gd name="T36" fmla="*/ 6 w 100"/>
                  <a:gd name="T37" fmla="*/ 68 h 100"/>
                  <a:gd name="T38" fmla="*/ 0 w 100"/>
                  <a:gd name="T39" fmla="*/ 49 h 100"/>
                  <a:gd name="T40" fmla="*/ 24 w 100"/>
                  <a:gd name="T41" fmla="*/ 37 h 100"/>
                  <a:gd name="T42" fmla="*/ 24 w 100"/>
                  <a:gd name="T43" fmla="*/ 12 h 100"/>
                  <a:gd name="T44" fmla="*/ 37 w 100"/>
                  <a:gd name="T45" fmla="*/ 6 h 100"/>
                  <a:gd name="T46" fmla="*/ 43 w 100"/>
                  <a:gd name="T47" fmla="*/ 0 h 100"/>
                  <a:gd name="T48" fmla="*/ 62 w 100"/>
                  <a:gd name="T49" fmla="*/ 6 h 100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100"/>
                  <a:gd name="T76" fmla="*/ 0 h 100"/>
                  <a:gd name="T77" fmla="*/ 100 w 100"/>
                  <a:gd name="T78" fmla="*/ 100 h 100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100" h="100">
                    <a:moveTo>
                      <a:pt x="62" y="6"/>
                    </a:moveTo>
                    <a:lnTo>
                      <a:pt x="68" y="18"/>
                    </a:lnTo>
                    <a:lnTo>
                      <a:pt x="74" y="24"/>
                    </a:lnTo>
                    <a:lnTo>
                      <a:pt x="74" y="31"/>
                    </a:lnTo>
                    <a:lnTo>
                      <a:pt x="68" y="43"/>
                    </a:lnTo>
                    <a:lnTo>
                      <a:pt x="74" y="56"/>
                    </a:lnTo>
                    <a:lnTo>
                      <a:pt x="87" y="62"/>
                    </a:lnTo>
                    <a:lnTo>
                      <a:pt x="87" y="81"/>
                    </a:lnTo>
                    <a:lnTo>
                      <a:pt x="99" y="87"/>
                    </a:lnTo>
                    <a:lnTo>
                      <a:pt x="99" y="93"/>
                    </a:lnTo>
                    <a:lnTo>
                      <a:pt x="87" y="93"/>
                    </a:lnTo>
                    <a:lnTo>
                      <a:pt x="74" y="99"/>
                    </a:lnTo>
                    <a:lnTo>
                      <a:pt x="68" y="99"/>
                    </a:lnTo>
                    <a:lnTo>
                      <a:pt x="62" y="99"/>
                    </a:lnTo>
                    <a:lnTo>
                      <a:pt x="49" y="93"/>
                    </a:lnTo>
                    <a:lnTo>
                      <a:pt x="43" y="87"/>
                    </a:lnTo>
                    <a:lnTo>
                      <a:pt x="37" y="81"/>
                    </a:lnTo>
                    <a:lnTo>
                      <a:pt x="18" y="68"/>
                    </a:lnTo>
                    <a:lnTo>
                      <a:pt x="6" y="68"/>
                    </a:lnTo>
                    <a:lnTo>
                      <a:pt x="0" y="49"/>
                    </a:lnTo>
                    <a:lnTo>
                      <a:pt x="24" y="37"/>
                    </a:lnTo>
                    <a:lnTo>
                      <a:pt x="24" y="12"/>
                    </a:lnTo>
                    <a:lnTo>
                      <a:pt x="37" y="6"/>
                    </a:lnTo>
                    <a:lnTo>
                      <a:pt x="43" y="0"/>
                    </a:lnTo>
                    <a:lnTo>
                      <a:pt x="62" y="6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18" name="Freeform 82">
                <a:extLst>
                  <a:ext uri="{FF2B5EF4-FFF2-40B4-BE49-F238E27FC236}">
                    <a16:creationId xmlns:a16="http://schemas.microsoft.com/office/drawing/2014/main" id="{9E6FFCEC-BEB2-4D96-99F6-D8EB5359964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7213204" y="3318917"/>
                <a:ext cx="45858" cy="31151"/>
              </a:xfrm>
              <a:custGeom>
                <a:avLst/>
                <a:gdLst>
                  <a:gd name="T0" fmla="*/ 0 w 18"/>
                  <a:gd name="T1" fmla="*/ 0 h 18"/>
                  <a:gd name="T2" fmla="*/ 8 w 18"/>
                  <a:gd name="T3" fmla="*/ 0 h 18"/>
                  <a:gd name="T4" fmla="*/ 17 w 18"/>
                  <a:gd name="T5" fmla="*/ 0 h 18"/>
                  <a:gd name="T6" fmla="*/ 8 w 18"/>
                  <a:gd name="T7" fmla="*/ 17 h 18"/>
                  <a:gd name="T8" fmla="*/ 0 w 18"/>
                  <a:gd name="T9" fmla="*/ 0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"/>
                  <a:gd name="T16" fmla="*/ 0 h 18"/>
                  <a:gd name="T17" fmla="*/ 18 w 18"/>
                  <a:gd name="T18" fmla="*/ 18 h 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" h="18">
                    <a:moveTo>
                      <a:pt x="0" y="0"/>
                    </a:moveTo>
                    <a:lnTo>
                      <a:pt x="8" y="0"/>
                    </a:lnTo>
                    <a:lnTo>
                      <a:pt x="17" y="0"/>
                    </a:lnTo>
                    <a:lnTo>
                      <a:pt x="8" y="17"/>
                    </a:lnTo>
                    <a:lnTo>
                      <a:pt x="0" y="0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19" name="Freeform 83">
                <a:extLst>
                  <a:ext uri="{FF2B5EF4-FFF2-40B4-BE49-F238E27FC236}">
                    <a16:creationId xmlns:a16="http://schemas.microsoft.com/office/drawing/2014/main" id="{5315D925-F931-49F1-BE5A-2C068BD6EA1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7243778" y="3308532"/>
                <a:ext cx="63693" cy="31151"/>
              </a:xfrm>
              <a:custGeom>
                <a:avLst/>
                <a:gdLst>
                  <a:gd name="T0" fmla="*/ 0 w 25"/>
                  <a:gd name="T1" fmla="*/ 8 h 18"/>
                  <a:gd name="T2" fmla="*/ 12 w 25"/>
                  <a:gd name="T3" fmla="*/ 0 h 18"/>
                  <a:gd name="T4" fmla="*/ 24 w 25"/>
                  <a:gd name="T5" fmla="*/ 0 h 18"/>
                  <a:gd name="T6" fmla="*/ 18 w 25"/>
                  <a:gd name="T7" fmla="*/ 0 h 18"/>
                  <a:gd name="T8" fmla="*/ 12 w 25"/>
                  <a:gd name="T9" fmla="*/ 8 h 18"/>
                  <a:gd name="T10" fmla="*/ 18 w 25"/>
                  <a:gd name="T11" fmla="*/ 17 h 18"/>
                  <a:gd name="T12" fmla="*/ 0 w 25"/>
                  <a:gd name="T13" fmla="*/ 8 h 1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5"/>
                  <a:gd name="T22" fmla="*/ 0 h 18"/>
                  <a:gd name="T23" fmla="*/ 25 w 25"/>
                  <a:gd name="T24" fmla="*/ 18 h 1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5" h="18">
                    <a:moveTo>
                      <a:pt x="0" y="8"/>
                    </a:moveTo>
                    <a:lnTo>
                      <a:pt x="12" y="0"/>
                    </a:lnTo>
                    <a:lnTo>
                      <a:pt x="24" y="0"/>
                    </a:lnTo>
                    <a:lnTo>
                      <a:pt x="18" y="0"/>
                    </a:lnTo>
                    <a:lnTo>
                      <a:pt x="12" y="8"/>
                    </a:lnTo>
                    <a:lnTo>
                      <a:pt x="18" y="17"/>
                    </a:lnTo>
                    <a:lnTo>
                      <a:pt x="0" y="8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20" name="Freeform 84">
                <a:extLst>
                  <a:ext uri="{FF2B5EF4-FFF2-40B4-BE49-F238E27FC236}">
                    <a16:creationId xmlns:a16="http://schemas.microsoft.com/office/drawing/2014/main" id="{D550065D-E44D-464E-AA2A-0969119B04B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943147" y="3265268"/>
                <a:ext cx="570688" cy="332278"/>
              </a:xfrm>
              <a:custGeom>
                <a:avLst/>
                <a:gdLst>
                  <a:gd name="T0" fmla="*/ 186 w 224"/>
                  <a:gd name="T1" fmla="*/ 161 h 192"/>
                  <a:gd name="T2" fmla="*/ 192 w 224"/>
                  <a:gd name="T3" fmla="*/ 154 h 192"/>
                  <a:gd name="T4" fmla="*/ 199 w 224"/>
                  <a:gd name="T5" fmla="*/ 142 h 192"/>
                  <a:gd name="T6" fmla="*/ 205 w 224"/>
                  <a:gd name="T7" fmla="*/ 136 h 192"/>
                  <a:gd name="T8" fmla="*/ 211 w 224"/>
                  <a:gd name="T9" fmla="*/ 130 h 192"/>
                  <a:gd name="T10" fmla="*/ 217 w 224"/>
                  <a:gd name="T11" fmla="*/ 130 h 192"/>
                  <a:gd name="T12" fmla="*/ 223 w 224"/>
                  <a:gd name="T13" fmla="*/ 123 h 192"/>
                  <a:gd name="T14" fmla="*/ 223 w 224"/>
                  <a:gd name="T15" fmla="*/ 117 h 192"/>
                  <a:gd name="T16" fmla="*/ 223 w 224"/>
                  <a:gd name="T17" fmla="*/ 111 h 192"/>
                  <a:gd name="T18" fmla="*/ 223 w 224"/>
                  <a:gd name="T19" fmla="*/ 105 h 192"/>
                  <a:gd name="T20" fmla="*/ 217 w 224"/>
                  <a:gd name="T21" fmla="*/ 105 h 192"/>
                  <a:gd name="T22" fmla="*/ 217 w 224"/>
                  <a:gd name="T23" fmla="*/ 99 h 192"/>
                  <a:gd name="T24" fmla="*/ 211 w 224"/>
                  <a:gd name="T25" fmla="*/ 92 h 192"/>
                  <a:gd name="T26" fmla="*/ 205 w 224"/>
                  <a:gd name="T27" fmla="*/ 92 h 192"/>
                  <a:gd name="T28" fmla="*/ 199 w 224"/>
                  <a:gd name="T29" fmla="*/ 99 h 192"/>
                  <a:gd name="T30" fmla="*/ 192 w 224"/>
                  <a:gd name="T31" fmla="*/ 99 h 192"/>
                  <a:gd name="T32" fmla="*/ 186 w 224"/>
                  <a:gd name="T33" fmla="*/ 99 h 192"/>
                  <a:gd name="T34" fmla="*/ 180 w 224"/>
                  <a:gd name="T35" fmla="*/ 99 h 192"/>
                  <a:gd name="T36" fmla="*/ 174 w 224"/>
                  <a:gd name="T37" fmla="*/ 99 h 192"/>
                  <a:gd name="T38" fmla="*/ 167 w 224"/>
                  <a:gd name="T39" fmla="*/ 99 h 192"/>
                  <a:gd name="T40" fmla="*/ 161 w 224"/>
                  <a:gd name="T41" fmla="*/ 92 h 192"/>
                  <a:gd name="T42" fmla="*/ 167 w 224"/>
                  <a:gd name="T43" fmla="*/ 86 h 192"/>
                  <a:gd name="T44" fmla="*/ 161 w 224"/>
                  <a:gd name="T45" fmla="*/ 74 h 192"/>
                  <a:gd name="T46" fmla="*/ 155 w 224"/>
                  <a:gd name="T47" fmla="*/ 61 h 192"/>
                  <a:gd name="T48" fmla="*/ 136 w 224"/>
                  <a:gd name="T49" fmla="*/ 37 h 192"/>
                  <a:gd name="T50" fmla="*/ 118 w 224"/>
                  <a:gd name="T51" fmla="*/ 30 h 192"/>
                  <a:gd name="T52" fmla="*/ 124 w 224"/>
                  <a:gd name="T53" fmla="*/ 30 h 192"/>
                  <a:gd name="T54" fmla="*/ 111 w 224"/>
                  <a:gd name="T55" fmla="*/ 37 h 192"/>
                  <a:gd name="T56" fmla="*/ 105 w 224"/>
                  <a:gd name="T57" fmla="*/ 30 h 192"/>
                  <a:gd name="T58" fmla="*/ 93 w 224"/>
                  <a:gd name="T59" fmla="*/ 24 h 192"/>
                  <a:gd name="T60" fmla="*/ 87 w 224"/>
                  <a:gd name="T61" fmla="*/ 18 h 192"/>
                  <a:gd name="T62" fmla="*/ 80 w 224"/>
                  <a:gd name="T63" fmla="*/ 12 h 192"/>
                  <a:gd name="T64" fmla="*/ 62 w 224"/>
                  <a:gd name="T65" fmla="*/ 0 h 192"/>
                  <a:gd name="T66" fmla="*/ 43 w 224"/>
                  <a:gd name="T67" fmla="*/ 0 h 192"/>
                  <a:gd name="T68" fmla="*/ 24 w 224"/>
                  <a:gd name="T69" fmla="*/ 6 h 192"/>
                  <a:gd name="T70" fmla="*/ 37 w 224"/>
                  <a:gd name="T71" fmla="*/ 18 h 192"/>
                  <a:gd name="T72" fmla="*/ 24 w 224"/>
                  <a:gd name="T73" fmla="*/ 24 h 192"/>
                  <a:gd name="T74" fmla="*/ 18 w 224"/>
                  <a:gd name="T75" fmla="*/ 24 h 192"/>
                  <a:gd name="T76" fmla="*/ 12 w 224"/>
                  <a:gd name="T77" fmla="*/ 30 h 192"/>
                  <a:gd name="T78" fmla="*/ 6 w 224"/>
                  <a:gd name="T79" fmla="*/ 30 h 192"/>
                  <a:gd name="T80" fmla="*/ 0 w 224"/>
                  <a:gd name="T81" fmla="*/ 43 h 192"/>
                  <a:gd name="T82" fmla="*/ 6 w 224"/>
                  <a:gd name="T83" fmla="*/ 43 h 192"/>
                  <a:gd name="T84" fmla="*/ 31 w 224"/>
                  <a:gd name="T85" fmla="*/ 86 h 192"/>
                  <a:gd name="T86" fmla="*/ 37 w 224"/>
                  <a:gd name="T87" fmla="*/ 92 h 192"/>
                  <a:gd name="T88" fmla="*/ 43 w 224"/>
                  <a:gd name="T89" fmla="*/ 99 h 192"/>
                  <a:gd name="T90" fmla="*/ 43 w 224"/>
                  <a:gd name="T91" fmla="*/ 123 h 192"/>
                  <a:gd name="T92" fmla="*/ 62 w 224"/>
                  <a:gd name="T93" fmla="*/ 136 h 192"/>
                  <a:gd name="T94" fmla="*/ 80 w 224"/>
                  <a:gd name="T95" fmla="*/ 161 h 192"/>
                  <a:gd name="T96" fmla="*/ 80 w 224"/>
                  <a:gd name="T97" fmla="*/ 167 h 192"/>
                  <a:gd name="T98" fmla="*/ 93 w 224"/>
                  <a:gd name="T99" fmla="*/ 161 h 192"/>
                  <a:gd name="T100" fmla="*/ 111 w 224"/>
                  <a:gd name="T101" fmla="*/ 179 h 192"/>
                  <a:gd name="T102" fmla="*/ 111 w 224"/>
                  <a:gd name="T103" fmla="*/ 191 h 192"/>
                  <a:gd name="T104" fmla="*/ 118 w 224"/>
                  <a:gd name="T105" fmla="*/ 191 h 192"/>
                  <a:gd name="T106" fmla="*/ 161 w 224"/>
                  <a:gd name="T107" fmla="*/ 161 h 192"/>
                  <a:gd name="T108" fmla="*/ 186 w 224"/>
                  <a:gd name="T109" fmla="*/ 161 h 192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w 224"/>
                  <a:gd name="T166" fmla="*/ 0 h 192"/>
                  <a:gd name="T167" fmla="*/ 224 w 224"/>
                  <a:gd name="T168" fmla="*/ 192 h 192"/>
                </a:gdLst>
                <a:ahLst/>
                <a:cxnLst>
                  <a:cxn ang="T110">
                    <a:pos x="T0" y="T1"/>
                  </a:cxn>
                  <a:cxn ang="T111">
                    <a:pos x="T2" y="T3"/>
                  </a:cxn>
                  <a:cxn ang="T112">
                    <a:pos x="T4" y="T5"/>
                  </a:cxn>
                  <a:cxn ang="T113">
                    <a:pos x="T6" y="T7"/>
                  </a:cxn>
                  <a:cxn ang="T114">
                    <a:pos x="T8" y="T9"/>
                  </a:cxn>
                  <a:cxn ang="T115">
                    <a:pos x="T10" y="T11"/>
                  </a:cxn>
                  <a:cxn ang="T116">
                    <a:pos x="T12" y="T13"/>
                  </a:cxn>
                  <a:cxn ang="T117">
                    <a:pos x="T14" y="T15"/>
                  </a:cxn>
                  <a:cxn ang="T118">
                    <a:pos x="T16" y="T17"/>
                  </a:cxn>
                  <a:cxn ang="T119">
                    <a:pos x="T18" y="T19"/>
                  </a:cxn>
                  <a:cxn ang="T120">
                    <a:pos x="T20" y="T21"/>
                  </a:cxn>
                  <a:cxn ang="T121">
                    <a:pos x="T22" y="T23"/>
                  </a:cxn>
                  <a:cxn ang="T122">
                    <a:pos x="T24" y="T25"/>
                  </a:cxn>
                  <a:cxn ang="T123">
                    <a:pos x="T26" y="T27"/>
                  </a:cxn>
                  <a:cxn ang="T124">
                    <a:pos x="T28" y="T29"/>
                  </a:cxn>
                  <a:cxn ang="T125">
                    <a:pos x="T30" y="T31"/>
                  </a:cxn>
                  <a:cxn ang="T126">
                    <a:pos x="T32" y="T33"/>
                  </a:cxn>
                  <a:cxn ang="T127">
                    <a:pos x="T34" y="T35"/>
                  </a:cxn>
                  <a:cxn ang="T128">
                    <a:pos x="T36" y="T37"/>
                  </a:cxn>
                  <a:cxn ang="T129">
                    <a:pos x="T38" y="T39"/>
                  </a:cxn>
                  <a:cxn ang="T130">
                    <a:pos x="T40" y="T41"/>
                  </a:cxn>
                  <a:cxn ang="T131">
                    <a:pos x="T42" y="T43"/>
                  </a:cxn>
                  <a:cxn ang="T132">
                    <a:pos x="T44" y="T45"/>
                  </a:cxn>
                  <a:cxn ang="T133">
                    <a:pos x="T46" y="T47"/>
                  </a:cxn>
                  <a:cxn ang="T134">
                    <a:pos x="T48" y="T49"/>
                  </a:cxn>
                  <a:cxn ang="T135">
                    <a:pos x="T50" y="T51"/>
                  </a:cxn>
                  <a:cxn ang="T136">
                    <a:pos x="T52" y="T53"/>
                  </a:cxn>
                  <a:cxn ang="T137">
                    <a:pos x="T54" y="T55"/>
                  </a:cxn>
                  <a:cxn ang="T138">
                    <a:pos x="T56" y="T57"/>
                  </a:cxn>
                  <a:cxn ang="T139">
                    <a:pos x="T58" y="T59"/>
                  </a:cxn>
                  <a:cxn ang="T140">
                    <a:pos x="T60" y="T61"/>
                  </a:cxn>
                  <a:cxn ang="T141">
                    <a:pos x="T62" y="T63"/>
                  </a:cxn>
                  <a:cxn ang="T142">
                    <a:pos x="T64" y="T65"/>
                  </a:cxn>
                  <a:cxn ang="T143">
                    <a:pos x="T66" y="T67"/>
                  </a:cxn>
                  <a:cxn ang="T144">
                    <a:pos x="T68" y="T69"/>
                  </a:cxn>
                  <a:cxn ang="T145">
                    <a:pos x="T70" y="T71"/>
                  </a:cxn>
                  <a:cxn ang="T146">
                    <a:pos x="T72" y="T73"/>
                  </a:cxn>
                  <a:cxn ang="T147">
                    <a:pos x="T74" y="T75"/>
                  </a:cxn>
                  <a:cxn ang="T148">
                    <a:pos x="T76" y="T77"/>
                  </a:cxn>
                  <a:cxn ang="T149">
                    <a:pos x="T78" y="T79"/>
                  </a:cxn>
                  <a:cxn ang="T150">
                    <a:pos x="T80" y="T81"/>
                  </a:cxn>
                  <a:cxn ang="T151">
                    <a:pos x="T82" y="T83"/>
                  </a:cxn>
                  <a:cxn ang="T152">
                    <a:pos x="T84" y="T85"/>
                  </a:cxn>
                  <a:cxn ang="T153">
                    <a:pos x="T86" y="T87"/>
                  </a:cxn>
                  <a:cxn ang="T154">
                    <a:pos x="T88" y="T89"/>
                  </a:cxn>
                  <a:cxn ang="T155">
                    <a:pos x="T90" y="T91"/>
                  </a:cxn>
                  <a:cxn ang="T156">
                    <a:pos x="T92" y="T93"/>
                  </a:cxn>
                  <a:cxn ang="T157">
                    <a:pos x="T94" y="T95"/>
                  </a:cxn>
                  <a:cxn ang="T158">
                    <a:pos x="T96" y="T97"/>
                  </a:cxn>
                  <a:cxn ang="T159">
                    <a:pos x="T98" y="T99"/>
                  </a:cxn>
                  <a:cxn ang="T160">
                    <a:pos x="T100" y="T101"/>
                  </a:cxn>
                  <a:cxn ang="T161">
                    <a:pos x="T102" y="T103"/>
                  </a:cxn>
                  <a:cxn ang="T162">
                    <a:pos x="T104" y="T105"/>
                  </a:cxn>
                  <a:cxn ang="T163">
                    <a:pos x="T106" y="T107"/>
                  </a:cxn>
                  <a:cxn ang="T164">
                    <a:pos x="T108" y="T109"/>
                  </a:cxn>
                </a:cxnLst>
                <a:rect l="T165" t="T166" r="T167" b="T168"/>
                <a:pathLst>
                  <a:path w="224" h="192">
                    <a:moveTo>
                      <a:pt x="186" y="161"/>
                    </a:moveTo>
                    <a:lnTo>
                      <a:pt x="192" y="154"/>
                    </a:lnTo>
                    <a:lnTo>
                      <a:pt x="199" y="142"/>
                    </a:lnTo>
                    <a:lnTo>
                      <a:pt x="205" y="136"/>
                    </a:lnTo>
                    <a:lnTo>
                      <a:pt x="211" y="130"/>
                    </a:lnTo>
                    <a:lnTo>
                      <a:pt x="217" y="130"/>
                    </a:lnTo>
                    <a:lnTo>
                      <a:pt x="223" y="123"/>
                    </a:lnTo>
                    <a:lnTo>
                      <a:pt x="223" y="117"/>
                    </a:lnTo>
                    <a:lnTo>
                      <a:pt x="223" y="111"/>
                    </a:lnTo>
                    <a:lnTo>
                      <a:pt x="223" y="105"/>
                    </a:lnTo>
                    <a:lnTo>
                      <a:pt x="217" y="105"/>
                    </a:lnTo>
                    <a:lnTo>
                      <a:pt x="217" y="99"/>
                    </a:lnTo>
                    <a:lnTo>
                      <a:pt x="211" y="92"/>
                    </a:lnTo>
                    <a:lnTo>
                      <a:pt x="205" y="92"/>
                    </a:lnTo>
                    <a:lnTo>
                      <a:pt x="199" y="99"/>
                    </a:lnTo>
                    <a:lnTo>
                      <a:pt x="192" y="99"/>
                    </a:lnTo>
                    <a:lnTo>
                      <a:pt x="186" y="99"/>
                    </a:lnTo>
                    <a:lnTo>
                      <a:pt x="180" y="99"/>
                    </a:lnTo>
                    <a:lnTo>
                      <a:pt x="174" y="99"/>
                    </a:lnTo>
                    <a:lnTo>
                      <a:pt x="167" y="99"/>
                    </a:lnTo>
                    <a:lnTo>
                      <a:pt x="161" y="92"/>
                    </a:lnTo>
                    <a:lnTo>
                      <a:pt x="167" y="86"/>
                    </a:lnTo>
                    <a:lnTo>
                      <a:pt x="161" y="74"/>
                    </a:lnTo>
                    <a:lnTo>
                      <a:pt x="155" y="61"/>
                    </a:lnTo>
                    <a:lnTo>
                      <a:pt x="136" y="37"/>
                    </a:lnTo>
                    <a:lnTo>
                      <a:pt x="118" y="30"/>
                    </a:lnTo>
                    <a:lnTo>
                      <a:pt x="124" y="30"/>
                    </a:lnTo>
                    <a:lnTo>
                      <a:pt x="111" y="37"/>
                    </a:lnTo>
                    <a:lnTo>
                      <a:pt x="105" y="30"/>
                    </a:lnTo>
                    <a:lnTo>
                      <a:pt x="93" y="24"/>
                    </a:lnTo>
                    <a:lnTo>
                      <a:pt x="87" y="18"/>
                    </a:lnTo>
                    <a:lnTo>
                      <a:pt x="80" y="12"/>
                    </a:lnTo>
                    <a:lnTo>
                      <a:pt x="62" y="0"/>
                    </a:lnTo>
                    <a:lnTo>
                      <a:pt x="43" y="0"/>
                    </a:lnTo>
                    <a:lnTo>
                      <a:pt x="24" y="6"/>
                    </a:lnTo>
                    <a:lnTo>
                      <a:pt x="37" y="18"/>
                    </a:lnTo>
                    <a:lnTo>
                      <a:pt x="24" y="24"/>
                    </a:lnTo>
                    <a:lnTo>
                      <a:pt x="18" y="24"/>
                    </a:lnTo>
                    <a:lnTo>
                      <a:pt x="12" y="30"/>
                    </a:lnTo>
                    <a:lnTo>
                      <a:pt x="6" y="30"/>
                    </a:lnTo>
                    <a:lnTo>
                      <a:pt x="0" y="43"/>
                    </a:lnTo>
                    <a:lnTo>
                      <a:pt x="6" y="43"/>
                    </a:lnTo>
                    <a:lnTo>
                      <a:pt x="31" y="86"/>
                    </a:lnTo>
                    <a:lnTo>
                      <a:pt x="37" y="92"/>
                    </a:lnTo>
                    <a:lnTo>
                      <a:pt x="43" y="99"/>
                    </a:lnTo>
                    <a:lnTo>
                      <a:pt x="43" y="123"/>
                    </a:lnTo>
                    <a:lnTo>
                      <a:pt x="62" y="136"/>
                    </a:lnTo>
                    <a:lnTo>
                      <a:pt x="80" y="161"/>
                    </a:lnTo>
                    <a:lnTo>
                      <a:pt x="80" y="167"/>
                    </a:lnTo>
                    <a:lnTo>
                      <a:pt x="93" y="161"/>
                    </a:lnTo>
                    <a:lnTo>
                      <a:pt x="111" y="179"/>
                    </a:lnTo>
                    <a:lnTo>
                      <a:pt x="111" y="191"/>
                    </a:lnTo>
                    <a:lnTo>
                      <a:pt x="118" y="191"/>
                    </a:lnTo>
                    <a:lnTo>
                      <a:pt x="161" y="161"/>
                    </a:lnTo>
                    <a:lnTo>
                      <a:pt x="186" y="161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21" name="Freeform 85">
                <a:extLst>
                  <a:ext uri="{FF2B5EF4-FFF2-40B4-BE49-F238E27FC236}">
                    <a16:creationId xmlns:a16="http://schemas.microsoft.com/office/drawing/2014/main" id="{174F5FD4-B253-4724-97FF-9011F5E8641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7355877" y="3382951"/>
                <a:ext cx="48404" cy="32882"/>
              </a:xfrm>
              <a:custGeom>
                <a:avLst/>
                <a:gdLst>
                  <a:gd name="T0" fmla="*/ 9 w 19"/>
                  <a:gd name="T1" fmla="*/ 18 h 19"/>
                  <a:gd name="T2" fmla="*/ 0 w 19"/>
                  <a:gd name="T3" fmla="*/ 6 h 19"/>
                  <a:gd name="T4" fmla="*/ 9 w 19"/>
                  <a:gd name="T5" fmla="*/ 0 h 19"/>
                  <a:gd name="T6" fmla="*/ 18 w 19"/>
                  <a:gd name="T7" fmla="*/ 0 h 19"/>
                  <a:gd name="T8" fmla="*/ 9 w 19"/>
                  <a:gd name="T9" fmla="*/ 18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"/>
                  <a:gd name="T16" fmla="*/ 0 h 19"/>
                  <a:gd name="T17" fmla="*/ 19 w 19"/>
                  <a:gd name="T18" fmla="*/ 19 h 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" h="19">
                    <a:moveTo>
                      <a:pt x="9" y="18"/>
                    </a:moveTo>
                    <a:lnTo>
                      <a:pt x="0" y="6"/>
                    </a:lnTo>
                    <a:lnTo>
                      <a:pt x="9" y="0"/>
                    </a:lnTo>
                    <a:lnTo>
                      <a:pt x="18" y="0"/>
                    </a:lnTo>
                    <a:lnTo>
                      <a:pt x="9" y="18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22" name="Freeform 86">
                <a:extLst>
                  <a:ext uri="{FF2B5EF4-FFF2-40B4-BE49-F238E27FC236}">
                    <a16:creationId xmlns:a16="http://schemas.microsoft.com/office/drawing/2014/main" id="{71F55B14-C9CA-497E-9A12-7E944DA6617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7355877" y="3382951"/>
                <a:ext cx="142671" cy="53650"/>
              </a:xfrm>
              <a:custGeom>
                <a:avLst/>
                <a:gdLst>
                  <a:gd name="T0" fmla="*/ 49 w 56"/>
                  <a:gd name="T1" fmla="*/ 24 h 31"/>
                  <a:gd name="T2" fmla="*/ 55 w 56"/>
                  <a:gd name="T3" fmla="*/ 12 h 31"/>
                  <a:gd name="T4" fmla="*/ 55 w 56"/>
                  <a:gd name="T5" fmla="*/ 6 h 31"/>
                  <a:gd name="T6" fmla="*/ 55 w 56"/>
                  <a:gd name="T7" fmla="*/ 0 h 31"/>
                  <a:gd name="T8" fmla="*/ 37 w 56"/>
                  <a:gd name="T9" fmla="*/ 18 h 31"/>
                  <a:gd name="T10" fmla="*/ 18 w 56"/>
                  <a:gd name="T11" fmla="*/ 18 h 31"/>
                  <a:gd name="T12" fmla="*/ 6 w 56"/>
                  <a:gd name="T13" fmla="*/ 18 h 31"/>
                  <a:gd name="T14" fmla="*/ 0 w 56"/>
                  <a:gd name="T15" fmla="*/ 18 h 31"/>
                  <a:gd name="T16" fmla="*/ 0 w 56"/>
                  <a:gd name="T17" fmla="*/ 24 h 31"/>
                  <a:gd name="T18" fmla="*/ 0 w 56"/>
                  <a:gd name="T19" fmla="*/ 30 h 31"/>
                  <a:gd name="T20" fmla="*/ 6 w 56"/>
                  <a:gd name="T21" fmla="*/ 30 h 31"/>
                  <a:gd name="T22" fmla="*/ 12 w 56"/>
                  <a:gd name="T23" fmla="*/ 30 h 31"/>
                  <a:gd name="T24" fmla="*/ 18 w 56"/>
                  <a:gd name="T25" fmla="*/ 30 h 31"/>
                  <a:gd name="T26" fmla="*/ 24 w 56"/>
                  <a:gd name="T27" fmla="*/ 30 h 31"/>
                  <a:gd name="T28" fmla="*/ 31 w 56"/>
                  <a:gd name="T29" fmla="*/ 30 h 31"/>
                  <a:gd name="T30" fmla="*/ 37 w 56"/>
                  <a:gd name="T31" fmla="*/ 30 h 31"/>
                  <a:gd name="T32" fmla="*/ 43 w 56"/>
                  <a:gd name="T33" fmla="*/ 24 h 31"/>
                  <a:gd name="T34" fmla="*/ 49 w 56"/>
                  <a:gd name="T35" fmla="*/ 24 h 31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56"/>
                  <a:gd name="T55" fmla="*/ 0 h 31"/>
                  <a:gd name="T56" fmla="*/ 56 w 56"/>
                  <a:gd name="T57" fmla="*/ 31 h 31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56" h="31">
                    <a:moveTo>
                      <a:pt x="49" y="24"/>
                    </a:moveTo>
                    <a:lnTo>
                      <a:pt x="55" y="12"/>
                    </a:lnTo>
                    <a:lnTo>
                      <a:pt x="55" y="6"/>
                    </a:lnTo>
                    <a:lnTo>
                      <a:pt x="55" y="0"/>
                    </a:lnTo>
                    <a:lnTo>
                      <a:pt x="37" y="18"/>
                    </a:lnTo>
                    <a:lnTo>
                      <a:pt x="18" y="18"/>
                    </a:lnTo>
                    <a:lnTo>
                      <a:pt x="6" y="18"/>
                    </a:lnTo>
                    <a:lnTo>
                      <a:pt x="0" y="18"/>
                    </a:lnTo>
                    <a:lnTo>
                      <a:pt x="0" y="24"/>
                    </a:lnTo>
                    <a:lnTo>
                      <a:pt x="0" y="30"/>
                    </a:lnTo>
                    <a:lnTo>
                      <a:pt x="6" y="30"/>
                    </a:lnTo>
                    <a:lnTo>
                      <a:pt x="12" y="30"/>
                    </a:lnTo>
                    <a:lnTo>
                      <a:pt x="18" y="30"/>
                    </a:lnTo>
                    <a:lnTo>
                      <a:pt x="24" y="30"/>
                    </a:lnTo>
                    <a:lnTo>
                      <a:pt x="31" y="30"/>
                    </a:lnTo>
                    <a:lnTo>
                      <a:pt x="37" y="30"/>
                    </a:lnTo>
                    <a:lnTo>
                      <a:pt x="43" y="24"/>
                    </a:lnTo>
                    <a:lnTo>
                      <a:pt x="49" y="24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23" name="Freeform 87">
                <a:extLst>
                  <a:ext uri="{FF2B5EF4-FFF2-40B4-BE49-F238E27FC236}">
                    <a16:creationId xmlns:a16="http://schemas.microsoft.com/office/drawing/2014/main" id="{538F049A-A0E5-498A-AC94-0F47CCD2D58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7496000" y="3370835"/>
                <a:ext cx="2548" cy="32882"/>
              </a:xfrm>
              <a:custGeom>
                <a:avLst/>
                <a:gdLst>
                  <a:gd name="T0" fmla="*/ 0 w 1"/>
                  <a:gd name="T1" fmla="*/ 18 h 19"/>
                  <a:gd name="T2" fmla="*/ 0 w 1"/>
                  <a:gd name="T3" fmla="*/ 9 h 19"/>
                  <a:gd name="T4" fmla="*/ 0 w 1"/>
                  <a:gd name="T5" fmla="*/ 0 h 19"/>
                  <a:gd name="T6" fmla="*/ 0 w 1"/>
                  <a:gd name="T7" fmla="*/ 9 h 19"/>
                  <a:gd name="T8" fmla="*/ 0 w 1"/>
                  <a:gd name="T9" fmla="*/ 18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"/>
                  <a:gd name="T16" fmla="*/ 0 h 19"/>
                  <a:gd name="T17" fmla="*/ 1 w 1"/>
                  <a:gd name="T18" fmla="*/ 19 h 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" h="19">
                    <a:moveTo>
                      <a:pt x="0" y="18"/>
                    </a:moveTo>
                    <a:lnTo>
                      <a:pt x="0" y="9"/>
                    </a:lnTo>
                    <a:lnTo>
                      <a:pt x="0" y="0"/>
                    </a:lnTo>
                    <a:lnTo>
                      <a:pt x="0" y="9"/>
                    </a:lnTo>
                    <a:lnTo>
                      <a:pt x="0" y="18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24" name="Freeform 88">
                <a:extLst>
                  <a:ext uri="{FF2B5EF4-FFF2-40B4-BE49-F238E27FC236}">
                    <a16:creationId xmlns:a16="http://schemas.microsoft.com/office/drawing/2014/main" id="{76C0184B-70BE-4CC6-8F1B-0D57D24CE30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7419568" y="3403717"/>
                <a:ext cx="170697" cy="150563"/>
              </a:xfrm>
              <a:custGeom>
                <a:avLst/>
                <a:gdLst>
                  <a:gd name="T0" fmla="*/ 0 w 67"/>
                  <a:gd name="T1" fmla="*/ 86 h 87"/>
                  <a:gd name="T2" fmla="*/ 18 w 67"/>
                  <a:gd name="T3" fmla="*/ 80 h 87"/>
                  <a:gd name="T4" fmla="*/ 24 w 67"/>
                  <a:gd name="T5" fmla="*/ 74 h 87"/>
                  <a:gd name="T6" fmla="*/ 30 w 67"/>
                  <a:gd name="T7" fmla="*/ 68 h 87"/>
                  <a:gd name="T8" fmla="*/ 36 w 67"/>
                  <a:gd name="T9" fmla="*/ 62 h 87"/>
                  <a:gd name="T10" fmla="*/ 48 w 67"/>
                  <a:gd name="T11" fmla="*/ 62 h 87"/>
                  <a:gd name="T12" fmla="*/ 48 w 67"/>
                  <a:gd name="T13" fmla="*/ 49 h 87"/>
                  <a:gd name="T14" fmla="*/ 60 w 67"/>
                  <a:gd name="T15" fmla="*/ 37 h 87"/>
                  <a:gd name="T16" fmla="*/ 66 w 67"/>
                  <a:gd name="T17" fmla="*/ 24 h 87"/>
                  <a:gd name="T18" fmla="*/ 54 w 67"/>
                  <a:gd name="T19" fmla="*/ 12 h 87"/>
                  <a:gd name="T20" fmla="*/ 42 w 67"/>
                  <a:gd name="T21" fmla="*/ 6 h 87"/>
                  <a:gd name="T22" fmla="*/ 30 w 67"/>
                  <a:gd name="T23" fmla="*/ 0 h 87"/>
                  <a:gd name="T24" fmla="*/ 24 w 67"/>
                  <a:gd name="T25" fmla="*/ 12 h 87"/>
                  <a:gd name="T26" fmla="*/ 30 w 67"/>
                  <a:gd name="T27" fmla="*/ 18 h 87"/>
                  <a:gd name="T28" fmla="*/ 30 w 67"/>
                  <a:gd name="T29" fmla="*/ 24 h 87"/>
                  <a:gd name="T30" fmla="*/ 36 w 67"/>
                  <a:gd name="T31" fmla="*/ 31 h 87"/>
                  <a:gd name="T32" fmla="*/ 36 w 67"/>
                  <a:gd name="T33" fmla="*/ 37 h 87"/>
                  <a:gd name="T34" fmla="*/ 30 w 67"/>
                  <a:gd name="T35" fmla="*/ 43 h 87"/>
                  <a:gd name="T36" fmla="*/ 30 w 67"/>
                  <a:gd name="T37" fmla="*/ 49 h 87"/>
                  <a:gd name="T38" fmla="*/ 24 w 67"/>
                  <a:gd name="T39" fmla="*/ 49 h 87"/>
                  <a:gd name="T40" fmla="*/ 18 w 67"/>
                  <a:gd name="T41" fmla="*/ 55 h 87"/>
                  <a:gd name="T42" fmla="*/ 12 w 67"/>
                  <a:gd name="T43" fmla="*/ 62 h 87"/>
                  <a:gd name="T44" fmla="*/ 6 w 67"/>
                  <a:gd name="T45" fmla="*/ 74 h 87"/>
                  <a:gd name="T46" fmla="*/ 0 w 67"/>
                  <a:gd name="T47" fmla="*/ 80 h 87"/>
                  <a:gd name="T48" fmla="*/ 0 w 67"/>
                  <a:gd name="T49" fmla="*/ 86 h 87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67"/>
                  <a:gd name="T76" fmla="*/ 0 h 87"/>
                  <a:gd name="T77" fmla="*/ 67 w 67"/>
                  <a:gd name="T78" fmla="*/ 87 h 87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67" h="87">
                    <a:moveTo>
                      <a:pt x="0" y="86"/>
                    </a:moveTo>
                    <a:lnTo>
                      <a:pt x="18" y="80"/>
                    </a:lnTo>
                    <a:lnTo>
                      <a:pt x="24" y="74"/>
                    </a:lnTo>
                    <a:lnTo>
                      <a:pt x="30" y="68"/>
                    </a:lnTo>
                    <a:lnTo>
                      <a:pt x="36" y="62"/>
                    </a:lnTo>
                    <a:lnTo>
                      <a:pt x="48" y="62"/>
                    </a:lnTo>
                    <a:lnTo>
                      <a:pt x="48" y="49"/>
                    </a:lnTo>
                    <a:lnTo>
                      <a:pt x="60" y="37"/>
                    </a:lnTo>
                    <a:lnTo>
                      <a:pt x="66" y="24"/>
                    </a:lnTo>
                    <a:lnTo>
                      <a:pt x="54" y="12"/>
                    </a:lnTo>
                    <a:lnTo>
                      <a:pt x="42" y="6"/>
                    </a:lnTo>
                    <a:lnTo>
                      <a:pt x="30" y="0"/>
                    </a:lnTo>
                    <a:lnTo>
                      <a:pt x="24" y="12"/>
                    </a:lnTo>
                    <a:lnTo>
                      <a:pt x="30" y="18"/>
                    </a:lnTo>
                    <a:lnTo>
                      <a:pt x="30" y="24"/>
                    </a:lnTo>
                    <a:lnTo>
                      <a:pt x="36" y="31"/>
                    </a:lnTo>
                    <a:lnTo>
                      <a:pt x="36" y="37"/>
                    </a:lnTo>
                    <a:lnTo>
                      <a:pt x="30" y="43"/>
                    </a:lnTo>
                    <a:lnTo>
                      <a:pt x="30" y="49"/>
                    </a:lnTo>
                    <a:lnTo>
                      <a:pt x="24" y="49"/>
                    </a:lnTo>
                    <a:lnTo>
                      <a:pt x="18" y="55"/>
                    </a:lnTo>
                    <a:lnTo>
                      <a:pt x="12" y="62"/>
                    </a:lnTo>
                    <a:lnTo>
                      <a:pt x="6" y="74"/>
                    </a:lnTo>
                    <a:lnTo>
                      <a:pt x="0" y="80"/>
                    </a:lnTo>
                    <a:lnTo>
                      <a:pt x="0" y="86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25" name="Freeform 89">
                <a:extLst>
                  <a:ext uri="{FF2B5EF4-FFF2-40B4-BE49-F238E27FC236}">
                    <a16:creationId xmlns:a16="http://schemas.microsoft.com/office/drawing/2014/main" id="{2B8AC504-BC85-454F-BD68-4313764A713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7149513" y="3543897"/>
                <a:ext cx="270060" cy="74415"/>
              </a:xfrm>
              <a:custGeom>
                <a:avLst/>
                <a:gdLst>
                  <a:gd name="T0" fmla="*/ 0 w 106"/>
                  <a:gd name="T1" fmla="*/ 6 h 43"/>
                  <a:gd name="T2" fmla="*/ 12 w 106"/>
                  <a:gd name="T3" fmla="*/ 0 h 43"/>
                  <a:gd name="T4" fmla="*/ 31 w 106"/>
                  <a:gd name="T5" fmla="*/ 18 h 43"/>
                  <a:gd name="T6" fmla="*/ 31 w 106"/>
                  <a:gd name="T7" fmla="*/ 30 h 43"/>
                  <a:gd name="T8" fmla="*/ 37 w 106"/>
                  <a:gd name="T9" fmla="*/ 30 h 43"/>
                  <a:gd name="T10" fmla="*/ 81 w 106"/>
                  <a:gd name="T11" fmla="*/ 0 h 43"/>
                  <a:gd name="T12" fmla="*/ 105 w 106"/>
                  <a:gd name="T13" fmla="*/ 0 h 43"/>
                  <a:gd name="T14" fmla="*/ 105 w 106"/>
                  <a:gd name="T15" fmla="*/ 6 h 43"/>
                  <a:gd name="T16" fmla="*/ 99 w 106"/>
                  <a:gd name="T17" fmla="*/ 6 h 43"/>
                  <a:gd name="T18" fmla="*/ 99 w 106"/>
                  <a:gd name="T19" fmla="*/ 12 h 43"/>
                  <a:gd name="T20" fmla="*/ 74 w 106"/>
                  <a:gd name="T21" fmla="*/ 24 h 43"/>
                  <a:gd name="T22" fmla="*/ 43 w 106"/>
                  <a:gd name="T23" fmla="*/ 36 h 43"/>
                  <a:gd name="T24" fmla="*/ 31 w 106"/>
                  <a:gd name="T25" fmla="*/ 36 h 43"/>
                  <a:gd name="T26" fmla="*/ 24 w 106"/>
                  <a:gd name="T27" fmla="*/ 42 h 43"/>
                  <a:gd name="T28" fmla="*/ 12 w 106"/>
                  <a:gd name="T29" fmla="*/ 42 h 43"/>
                  <a:gd name="T30" fmla="*/ 0 w 106"/>
                  <a:gd name="T31" fmla="*/ 6 h 43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106"/>
                  <a:gd name="T49" fmla="*/ 0 h 43"/>
                  <a:gd name="T50" fmla="*/ 106 w 106"/>
                  <a:gd name="T51" fmla="*/ 43 h 43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106" h="43">
                    <a:moveTo>
                      <a:pt x="0" y="6"/>
                    </a:moveTo>
                    <a:lnTo>
                      <a:pt x="12" y="0"/>
                    </a:lnTo>
                    <a:lnTo>
                      <a:pt x="31" y="18"/>
                    </a:lnTo>
                    <a:lnTo>
                      <a:pt x="31" y="30"/>
                    </a:lnTo>
                    <a:lnTo>
                      <a:pt x="37" y="30"/>
                    </a:lnTo>
                    <a:lnTo>
                      <a:pt x="81" y="0"/>
                    </a:lnTo>
                    <a:lnTo>
                      <a:pt x="105" y="0"/>
                    </a:lnTo>
                    <a:lnTo>
                      <a:pt x="105" y="6"/>
                    </a:lnTo>
                    <a:lnTo>
                      <a:pt x="99" y="6"/>
                    </a:lnTo>
                    <a:lnTo>
                      <a:pt x="99" y="12"/>
                    </a:lnTo>
                    <a:lnTo>
                      <a:pt x="74" y="24"/>
                    </a:lnTo>
                    <a:lnTo>
                      <a:pt x="43" y="36"/>
                    </a:lnTo>
                    <a:lnTo>
                      <a:pt x="31" y="36"/>
                    </a:lnTo>
                    <a:lnTo>
                      <a:pt x="24" y="42"/>
                    </a:lnTo>
                    <a:lnTo>
                      <a:pt x="12" y="42"/>
                    </a:lnTo>
                    <a:lnTo>
                      <a:pt x="0" y="6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30" name="Freeform 90">
                <a:extLst>
                  <a:ext uri="{FF2B5EF4-FFF2-40B4-BE49-F238E27FC236}">
                    <a16:creationId xmlns:a16="http://schemas.microsoft.com/office/drawing/2014/main" id="{7D112770-0214-4F2A-9FBE-545BF24BB02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7180084" y="3093936"/>
                <a:ext cx="491708" cy="299395"/>
              </a:xfrm>
              <a:custGeom>
                <a:avLst/>
                <a:gdLst>
                  <a:gd name="T0" fmla="*/ 180 w 193"/>
                  <a:gd name="T1" fmla="*/ 172 h 173"/>
                  <a:gd name="T2" fmla="*/ 136 w 193"/>
                  <a:gd name="T3" fmla="*/ 166 h 173"/>
                  <a:gd name="T4" fmla="*/ 130 w 193"/>
                  <a:gd name="T5" fmla="*/ 154 h 173"/>
                  <a:gd name="T6" fmla="*/ 112 w 193"/>
                  <a:gd name="T7" fmla="*/ 160 h 173"/>
                  <a:gd name="T8" fmla="*/ 99 w 193"/>
                  <a:gd name="T9" fmla="*/ 160 h 173"/>
                  <a:gd name="T10" fmla="*/ 74 w 193"/>
                  <a:gd name="T11" fmla="*/ 148 h 173"/>
                  <a:gd name="T12" fmla="*/ 68 w 193"/>
                  <a:gd name="T13" fmla="*/ 123 h 173"/>
                  <a:gd name="T14" fmla="*/ 49 w 193"/>
                  <a:gd name="T15" fmla="*/ 117 h 173"/>
                  <a:gd name="T16" fmla="*/ 49 w 193"/>
                  <a:gd name="T17" fmla="*/ 123 h 173"/>
                  <a:gd name="T18" fmla="*/ 37 w 193"/>
                  <a:gd name="T19" fmla="*/ 111 h 173"/>
                  <a:gd name="T20" fmla="*/ 37 w 193"/>
                  <a:gd name="T21" fmla="*/ 92 h 173"/>
                  <a:gd name="T22" fmla="*/ 24 w 193"/>
                  <a:gd name="T23" fmla="*/ 86 h 173"/>
                  <a:gd name="T24" fmla="*/ 18 w 193"/>
                  <a:gd name="T25" fmla="*/ 74 h 173"/>
                  <a:gd name="T26" fmla="*/ 24 w 193"/>
                  <a:gd name="T27" fmla="*/ 61 h 173"/>
                  <a:gd name="T28" fmla="*/ 24 w 193"/>
                  <a:gd name="T29" fmla="*/ 55 h 173"/>
                  <a:gd name="T30" fmla="*/ 18 w 193"/>
                  <a:gd name="T31" fmla="*/ 49 h 173"/>
                  <a:gd name="T32" fmla="*/ 12 w 193"/>
                  <a:gd name="T33" fmla="*/ 37 h 173"/>
                  <a:gd name="T34" fmla="*/ 0 w 193"/>
                  <a:gd name="T35" fmla="*/ 12 h 173"/>
                  <a:gd name="T36" fmla="*/ 6 w 193"/>
                  <a:gd name="T37" fmla="*/ 0 h 173"/>
                  <a:gd name="T38" fmla="*/ 6 w 193"/>
                  <a:gd name="T39" fmla="*/ 6 h 173"/>
                  <a:gd name="T40" fmla="*/ 18 w 193"/>
                  <a:gd name="T41" fmla="*/ 12 h 173"/>
                  <a:gd name="T42" fmla="*/ 24 w 193"/>
                  <a:gd name="T43" fmla="*/ 18 h 173"/>
                  <a:gd name="T44" fmla="*/ 31 w 193"/>
                  <a:gd name="T45" fmla="*/ 18 h 173"/>
                  <a:gd name="T46" fmla="*/ 43 w 193"/>
                  <a:gd name="T47" fmla="*/ 6 h 173"/>
                  <a:gd name="T48" fmla="*/ 43 w 193"/>
                  <a:gd name="T49" fmla="*/ 18 h 173"/>
                  <a:gd name="T50" fmla="*/ 49 w 193"/>
                  <a:gd name="T51" fmla="*/ 18 h 173"/>
                  <a:gd name="T52" fmla="*/ 56 w 193"/>
                  <a:gd name="T53" fmla="*/ 30 h 173"/>
                  <a:gd name="T54" fmla="*/ 80 w 193"/>
                  <a:gd name="T55" fmla="*/ 43 h 173"/>
                  <a:gd name="T56" fmla="*/ 99 w 193"/>
                  <a:gd name="T57" fmla="*/ 43 h 173"/>
                  <a:gd name="T58" fmla="*/ 99 w 193"/>
                  <a:gd name="T59" fmla="*/ 30 h 173"/>
                  <a:gd name="T60" fmla="*/ 118 w 193"/>
                  <a:gd name="T61" fmla="*/ 24 h 173"/>
                  <a:gd name="T62" fmla="*/ 130 w 193"/>
                  <a:gd name="T63" fmla="*/ 24 h 173"/>
                  <a:gd name="T64" fmla="*/ 174 w 193"/>
                  <a:gd name="T65" fmla="*/ 43 h 173"/>
                  <a:gd name="T66" fmla="*/ 174 w 193"/>
                  <a:gd name="T67" fmla="*/ 55 h 173"/>
                  <a:gd name="T68" fmla="*/ 174 w 193"/>
                  <a:gd name="T69" fmla="*/ 67 h 173"/>
                  <a:gd name="T70" fmla="*/ 168 w 193"/>
                  <a:gd name="T71" fmla="*/ 74 h 173"/>
                  <a:gd name="T72" fmla="*/ 168 w 193"/>
                  <a:gd name="T73" fmla="*/ 98 h 173"/>
                  <a:gd name="T74" fmla="*/ 180 w 193"/>
                  <a:gd name="T75" fmla="*/ 105 h 173"/>
                  <a:gd name="T76" fmla="*/ 180 w 193"/>
                  <a:gd name="T77" fmla="*/ 111 h 173"/>
                  <a:gd name="T78" fmla="*/ 174 w 193"/>
                  <a:gd name="T79" fmla="*/ 123 h 173"/>
                  <a:gd name="T80" fmla="*/ 180 w 193"/>
                  <a:gd name="T81" fmla="*/ 135 h 173"/>
                  <a:gd name="T82" fmla="*/ 192 w 193"/>
                  <a:gd name="T83" fmla="*/ 142 h 173"/>
                  <a:gd name="T84" fmla="*/ 192 w 193"/>
                  <a:gd name="T85" fmla="*/ 154 h 173"/>
                  <a:gd name="T86" fmla="*/ 180 w 193"/>
                  <a:gd name="T87" fmla="*/ 166 h 173"/>
                  <a:gd name="T88" fmla="*/ 180 w 193"/>
                  <a:gd name="T89" fmla="*/ 172 h 173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193"/>
                  <a:gd name="T136" fmla="*/ 0 h 173"/>
                  <a:gd name="T137" fmla="*/ 193 w 193"/>
                  <a:gd name="T138" fmla="*/ 173 h 173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193" h="173">
                    <a:moveTo>
                      <a:pt x="180" y="172"/>
                    </a:moveTo>
                    <a:lnTo>
                      <a:pt x="136" y="166"/>
                    </a:lnTo>
                    <a:lnTo>
                      <a:pt x="130" y="154"/>
                    </a:lnTo>
                    <a:lnTo>
                      <a:pt x="112" y="160"/>
                    </a:lnTo>
                    <a:lnTo>
                      <a:pt x="99" y="160"/>
                    </a:lnTo>
                    <a:lnTo>
                      <a:pt x="74" y="148"/>
                    </a:lnTo>
                    <a:lnTo>
                      <a:pt x="68" y="123"/>
                    </a:lnTo>
                    <a:lnTo>
                      <a:pt x="49" y="117"/>
                    </a:lnTo>
                    <a:lnTo>
                      <a:pt x="49" y="123"/>
                    </a:lnTo>
                    <a:lnTo>
                      <a:pt x="37" y="111"/>
                    </a:lnTo>
                    <a:lnTo>
                      <a:pt x="37" y="92"/>
                    </a:lnTo>
                    <a:lnTo>
                      <a:pt x="24" y="86"/>
                    </a:lnTo>
                    <a:lnTo>
                      <a:pt x="18" y="74"/>
                    </a:lnTo>
                    <a:lnTo>
                      <a:pt x="24" y="61"/>
                    </a:lnTo>
                    <a:lnTo>
                      <a:pt x="24" y="55"/>
                    </a:lnTo>
                    <a:lnTo>
                      <a:pt x="18" y="49"/>
                    </a:lnTo>
                    <a:lnTo>
                      <a:pt x="12" y="37"/>
                    </a:lnTo>
                    <a:lnTo>
                      <a:pt x="0" y="12"/>
                    </a:lnTo>
                    <a:lnTo>
                      <a:pt x="6" y="0"/>
                    </a:lnTo>
                    <a:lnTo>
                      <a:pt x="6" y="6"/>
                    </a:lnTo>
                    <a:lnTo>
                      <a:pt x="18" y="12"/>
                    </a:lnTo>
                    <a:lnTo>
                      <a:pt x="24" y="18"/>
                    </a:lnTo>
                    <a:lnTo>
                      <a:pt x="31" y="18"/>
                    </a:lnTo>
                    <a:lnTo>
                      <a:pt x="43" y="6"/>
                    </a:lnTo>
                    <a:lnTo>
                      <a:pt x="43" y="18"/>
                    </a:lnTo>
                    <a:lnTo>
                      <a:pt x="49" y="18"/>
                    </a:lnTo>
                    <a:lnTo>
                      <a:pt x="56" y="30"/>
                    </a:lnTo>
                    <a:lnTo>
                      <a:pt x="80" y="43"/>
                    </a:lnTo>
                    <a:lnTo>
                      <a:pt x="99" y="43"/>
                    </a:lnTo>
                    <a:lnTo>
                      <a:pt x="99" y="30"/>
                    </a:lnTo>
                    <a:lnTo>
                      <a:pt x="118" y="24"/>
                    </a:lnTo>
                    <a:lnTo>
                      <a:pt x="130" y="24"/>
                    </a:lnTo>
                    <a:lnTo>
                      <a:pt x="174" y="43"/>
                    </a:lnTo>
                    <a:lnTo>
                      <a:pt x="174" y="55"/>
                    </a:lnTo>
                    <a:lnTo>
                      <a:pt x="174" y="67"/>
                    </a:lnTo>
                    <a:lnTo>
                      <a:pt x="168" y="74"/>
                    </a:lnTo>
                    <a:lnTo>
                      <a:pt x="168" y="98"/>
                    </a:lnTo>
                    <a:lnTo>
                      <a:pt x="180" y="105"/>
                    </a:lnTo>
                    <a:lnTo>
                      <a:pt x="180" y="111"/>
                    </a:lnTo>
                    <a:lnTo>
                      <a:pt x="174" y="123"/>
                    </a:lnTo>
                    <a:lnTo>
                      <a:pt x="180" y="135"/>
                    </a:lnTo>
                    <a:lnTo>
                      <a:pt x="192" y="142"/>
                    </a:lnTo>
                    <a:lnTo>
                      <a:pt x="192" y="154"/>
                    </a:lnTo>
                    <a:lnTo>
                      <a:pt x="180" y="166"/>
                    </a:lnTo>
                    <a:lnTo>
                      <a:pt x="180" y="172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31" name="Freeform 91">
                <a:extLst>
                  <a:ext uri="{FF2B5EF4-FFF2-40B4-BE49-F238E27FC236}">
                    <a16:creationId xmlns:a16="http://schemas.microsoft.com/office/drawing/2014/main" id="{B2931D41-44C6-49AD-99EF-299106B6096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7610648" y="3135472"/>
                <a:ext cx="361775" cy="183444"/>
              </a:xfrm>
              <a:custGeom>
                <a:avLst/>
                <a:gdLst>
                  <a:gd name="T0" fmla="*/ 141 w 142"/>
                  <a:gd name="T1" fmla="*/ 12 h 106"/>
                  <a:gd name="T2" fmla="*/ 129 w 142"/>
                  <a:gd name="T3" fmla="*/ 18 h 106"/>
                  <a:gd name="T4" fmla="*/ 123 w 142"/>
                  <a:gd name="T5" fmla="*/ 18 h 106"/>
                  <a:gd name="T6" fmla="*/ 111 w 142"/>
                  <a:gd name="T7" fmla="*/ 24 h 106"/>
                  <a:gd name="T8" fmla="*/ 111 w 142"/>
                  <a:gd name="T9" fmla="*/ 37 h 106"/>
                  <a:gd name="T10" fmla="*/ 104 w 142"/>
                  <a:gd name="T11" fmla="*/ 49 h 106"/>
                  <a:gd name="T12" fmla="*/ 92 w 142"/>
                  <a:gd name="T13" fmla="*/ 49 h 106"/>
                  <a:gd name="T14" fmla="*/ 98 w 142"/>
                  <a:gd name="T15" fmla="*/ 56 h 106"/>
                  <a:gd name="T16" fmla="*/ 92 w 142"/>
                  <a:gd name="T17" fmla="*/ 62 h 106"/>
                  <a:gd name="T18" fmla="*/ 86 w 142"/>
                  <a:gd name="T19" fmla="*/ 74 h 106"/>
                  <a:gd name="T20" fmla="*/ 61 w 142"/>
                  <a:gd name="T21" fmla="*/ 81 h 106"/>
                  <a:gd name="T22" fmla="*/ 61 w 142"/>
                  <a:gd name="T23" fmla="*/ 87 h 106"/>
                  <a:gd name="T24" fmla="*/ 55 w 142"/>
                  <a:gd name="T25" fmla="*/ 99 h 106"/>
                  <a:gd name="T26" fmla="*/ 18 w 142"/>
                  <a:gd name="T27" fmla="*/ 105 h 106"/>
                  <a:gd name="T28" fmla="*/ 6 w 142"/>
                  <a:gd name="T29" fmla="*/ 99 h 106"/>
                  <a:gd name="T30" fmla="*/ 12 w 142"/>
                  <a:gd name="T31" fmla="*/ 87 h 106"/>
                  <a:gd name="T32" fmla="*/ 12 w 142"/>
                  <a:gd name="T33" fmla="*/ 81 h 106"/>
                  <a:gd name="T34" fmla="*/ 0 w 142"/>
                  <a:gd name="T35" fmla="*/ 74 h 106"/>
                  <a:gd name="T36" fmla="*/ 0 w 142"/>
                  <a:gd name="T37" fmla="*/ 49 h 106"/>
                  <a:gd name="T38" fmla="*/ 6 w 142"/>
                  <a:gd name="T39" fmla="*/ 43 h 106"/>
                  <a:gd name="T40" fmla="*/ 6 w 142"/>
                  <a:gd name="T41" fmla="*/ 31 h 106"/>
                  <a:gd name="T42" fmla="*/ 24 w 142"/>
                  <a:gd name="T43" fmla="*/ 31 h 106"/>
                  <a:gd name="T44" fmla="*/ 30 w 142"/>
                  <a:gd name="T45" fmla="*/ 31 h 106"/>
                  <a:gd name="T46" fmla="*/ 37 w 142"/>
                  <a:gd name="T47" fmla="*/ 24 h 106"/>
                  <a:gd name="T48" fmla="*/ 43 w 142"/>
                  <a:gd name="T49" fmla="*/ 12 h 106"/>
                  <a:gd name="T50" fmla="*/ 49 w 142"/>
                  <a:gd name="T51" fmla="*/ 12 h 106"/>
                  <a:gd name="T52" fmla="*/ 49 w 142"/>
                  <a:gd name="T53" fmla="*/ 6 h 106"/>
                  <a:gd name="T54" fmla="*/ 80 w 142"/>
                  <a:gd name="T55" fmla="*/ 12 h 106"/>
                  <a:gd name="T56" fmla="*/ 86 w 142"/>
                  <a:gd name="T57" fmla="*/ 12 h 106"/>
                  <a:gd name="T58" fmla="*/ 92 w 142"/>
                  <a:gd name="T59" fmla="*/ 6 h 106"/>
                  <a:gd name="T60" fmla="*/ 98 w 142"/>
                  <a:gd name="T61" fmla="*/ 6 h 106"/>
                  <a:gd name="T62" fmla="*/ 104 w 142"/>
                  <a:gd name="T63" fmla="*/ 0 h 106"/>
                  <a:gd name="T64" fmla="*/ 111 w 142"/>
                  <a:gd name="T65" fmla="*/ 6 h 106"/>
                  <a:gd name="T66" fmla="*/ 111 w 142"/>
                  <a:gd name="T67" fmla="*/ 18 h 106"/>
                  <a:gd name="T68" fmla="*/ 129 w 142"/>
                  <a:gd name="T69" fmla="*/ 12 h 106"/>
                  <a:gd name="T70" fmla="*/ 141 w 142"/>
                  <a:gd name="T71" fmla="*/ 12 h 10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142"/>
                  <a:gd name="T109" fmla="*/ 0 h 106"/>
                  <a:gd name="T110" fmla="*/ 142 w 142"/>
                  <a:gd name="T111" fmla="*/ 106 h 10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142" h="106">
                    <a:moveTo>
                      <a:pt x="141" y="12"/>
                    </a:moveTo>
                    <a:lnTo>
                      <a:pt x="129" y="18"/>
                    </a:lnTo>
                    <a:lnTo>
                      <a:pt x="123" y="18"/>
                    </a:lnTo>
                    <a:lnTo>
                      <a:pt x="111" y="24"/>
                    </a:lnTo>
                    <a:lnTo>
                      <a:pt x="111" y="37"/>
                    </a:lnTo>
                    <a:lnTo>
                      <a:pt x="104" y="49"/>
                    </a:lnTo>
                    <a:lnTo>
                      <a:pt x="92" y="49"/>
                    </a:lnTo>
                    <a:lnTo>
                      <a:pt x="98" y="56"/>
                    </a:lnTo>
                    <a:lnTo>
                      <a:pt x="92" y="62"/>
                    </a:lnTo>
                    <a:lnTo>
                      <a:pt x="86" y="74"/>
                    </a:lnTo>
                    <a:lnTo>
                      <a:pt x="61" y="81"/>
                    </a:lnTo>
                    <a:lnTo>
                      <a:pt x="61" y="87"/>
                    </a:lnTo>
                    <a:lnTo>
                      <a:pt x="55" y="99"/>
                    </a:lnTo>
                    <a:lnTo>
                      <a:pt x="18" y="105"/>
                    </a:lnTo>
                    <a:lnTo>
                      <a:pt x="6" y="99"/>
                    </a:lnTo>
                    <a:lnTo>
                      <a:pt x="12" y="87"/>
                    </a:lnTo>
                    <a:lnTo>
                      <a:pt x="12" y="81"/>
                    </a:lnTo>
                    <a:lnTo>
                      <a:pt x="0" y="74"/>
                    </a:lnTo>
                    <a:lnTo>
                      <a:pt x="0" y="49"/>
                    </a:lnTo>
                    <a:lnTo>
                      <a:pt x="6" y="43"/>
                    </a:lnTo>
                    <a:lnTo>
                      <a:pt x="6" y="31"/>
                    </a:lnTo>
                    <a:lnTo>
                      <a:pt x="24" y="31"/>
                    </a:lnTo>
                    <a:lnTo>
                      <a:pt x="30" y="31"/>
                    </a:lnTo>
                    <a:lnTo>
                      <a:pt x="37" y="24"/>
                    </a:lnTo>
                    <a:lnTo>
                      <a:pt x="43" y="12"/>
                    </a:lnTo>
                    <a:lnTo>
                      <a:pt x="49" y="12"/>
                    </a:lnTo>
                    <a:lnTo>
                      <a:pt x="49" y="6"/>
                    </a:lnTo>
                    <a:lnTo>
                      <a:pt x="80" y="12"/>
                    </a:lnTo>
                    <a:lnTo>
                      <a:pt x="86" y="12"/>
                    </a:lnTo>
                    <a:lnTo>
                      <a:pt x="92" y="6"/>
                    </a:lnTo>
                    <a:lnTo>
                      <a:pt x="98" y="6"/>
                    </a:lnTo>
                    <a:lnTo>
                      <a:pt x="104" y="0"/>
                    </a:lnTo>
                    <a:lnTo>
                      <a:pt x="111" y="6"/>
                    </a:lnTo>
                    <a:lnTo>
                      <a:pt x="111" y="18"/>
                    </a:lnTo>
                    <a:lnTo>
                      <a:pt x="129" y="12"/>
                    </a:lnTo>
                    <a:lnTo>
                      <a:pt x="141" y="12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32" name="Freeform 92">
                <a:extLst>
                  <a:ext uri="{FF2B5EF4-FFF2-40B4-BE49-F238E27FC236}">
                    <a16:creationId xmlns:a16="http://schemas.microsoft.com/office/drawing/2014/main" id="{F20BBBA7-66BE-4FC0-AF4B-47A822D4333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7625932" y="3157970"/>
                <a:ext cx="425467" cy="266515"/>
              </a:xfrm>
              <a:custGeom>
                <a:avLst/>
                <a:gdLst>
                  <a:gd name="T0" fmla="*/ 6 w 167"/>
                  <a:gd name="T1" fmla="*/ 135 h 154"/>
                  <a:gd name="T2" fmla="*/ 6 w 167"/>
                  <a:gd name="T3" fmla="*/ 129 h 154"/>
                  <a:gd name="T4" fmla="*/ 18 w 167"/>
                  <a:gd name="T5" fmla="*/ 117 h 154"/>
                  <a:gd name="T6" fmla="*/ 12 w 167"/>
                  <a:gd name="T7" fmla="*/ 104 h 154"/>
                  <a:gd name="T8" fmla="*/ 6 w 167"/>
                  <a:gd name="T9" fmla="*/ 98 h 154"/>
                  <a:gd name="T10" fmla="*/ 0 w 167"/>
                  <a:gd name="T11" fmla="*/ 86 h 154"/>
                  <a:gd name="T12" fmla="*/ 12 w 167"/>
                  <a:gd name="T13" fmla="*/ 92 h 154"/>
                  <a:gd name="T14" fmla="*/ 49 w 167"/>
                  <a:gd name="T15" fmla="*/ 86 h 154"/>
                  <a:gd name="T16" fmla="*/ 55 w 167"/>
                  <a:gd name="T17" fmla="*/ 73 h 154"/>
                  <a:gd name="T18" fmla="*/ 55 w 167"/>
                  <a:gd name="T19" fmla="*/ 67 h 154"/>
                  <a:gd name="T20" fmla="*/ 80 w 167"/>
                  <a:gd name="T21" fmla="*/ 61 h 154"/>
                  <a:gd name="T22" fmla="*/ 86 w 167"/>
                  <a:gd name="T23" fmla="*/ 49 h 154"/>
                  <a:gd name="T24" fmla="*/ 92 w 167"/>
                  <a:gd name="T25" fmla="*/ 43 h 154"/>
                  <a:gd name="T26" fmla="*/ 86 w 167"/>
                  <a:gd name="T27" fmla="*/ 36 h 154"/>
                  <a:gd name="T28" fmla="*/ 98 w 167"/>
                  <a:gd name="T29" fmla="*/ 36 h 154"/>
                  <a:gd name="T30" fmla="*/ 105 w 167"/>
                  <a:gd name="T31" fmla="*/ 24 h 154"/>
                  <a:gd name="T32" fmla="*/ 105 w 167"/>
                  <a:gd name="T33" fmla="*/ 12 h 154"/>
                  <a:gd name="T34" fmla="*/ 117 w 167"/>
                  <a:gd name="T35" fmla="*/ 6 h 154"/>
                  <a:gd name="T36" fmla="*/ 123 w 167"/>
                  <a:gd name="T37" fmla="*/ 6 h 154"/>
                  <a:gd name="T38" fmla="*/ 136 w 167"/>
                  <a:gd name="T39" fmla="*/ 0 h 154"/>
                  <a:gd name="T40" fmla="*/ 148 w 167"/>
                  <a:gd name="T41" fmla="*/ 6 h 154"/>
                  <a:gd name="T42" fmla="*/ 148 w 167"/>
                  <a:gd name="T43" fmla="*/ 18 h 154"/>
                  <a:gd name="T44" fmla="*/ 166 w 167"/>
                  <a:gd name="T45" fmla="*/ 18 h 154"/>
                  <a:gd name="T46" fmla="*/ 160 w 167"/>
                  <a:gd name="T47" fmla="*/ 30 h 154"/>
                  <a:gd name="T48" fmla="*/ 148 w 167"/>
                  <a:gd name="T49" fmla="*/ 30 h 154"/>
                  <a:gd name="T50" fmla="*/ 129 w 167"/>
                  <a:gd name="T51" fmla="*/ 30 h 154"/>
                  <a:gd name="T52" fmla="*/ 129 w 167"/>
                  <a:gd name="T53" fmla="*/ 36 h 154"/>
                  <a:gd name="T54" fmla="*/ 129 w 167"/>
                  <a:gd name="T55" fmla="*/ 49 h 154"/>
                  <a:gd name="T56" fmla="*/ 142 w 167"/>
                  <a:gd name="T57" fmla="*/ 55 h 154"/>
                  <a:gd name="T58" fmla="*/ 142 w 167"/>
                  <a:gd name="T59" fmla="*/ 61 h 154"/>
                  <a:gd name="T60" fmla="*/ 136 w 167"/>
                  <a:gd name="T61" fmla="*/ 61 h 154"/>
                  <a:gd name="T62" fmla="*/ 136 w 167"/>
                  <a:gd name="T63" fmla="*/ 73 h 154"/>
                  <a:gd name="T64" fmla="*/ 105 w 167"/>
                  <a:gd name="T65" fmla="*/ 104 h 154"/>
                  <a:gd name="T66" fmla="*/ 98 w 167"/>
                  <a:gd name="T67" fmla="*/ 110 h 154"/>
                  <a:gd name="T68" fmla="*/ 92 w 167"/>
                  <a:gd name="T69" fmla="*/ 104 h 154"/>
                  <a:gd name="T70" fmla="*/ 86 w 167"/>
                  <a:gd name="T71" fmla="*/ 117 h 154"/>
                  <a:gd name="T72" fmla="*/ 86 w 167"/>
                  <a:gd name="T73" fmla="*/ 123 h 154"/>
                  <a:gd name="T74" fmla="*/ 92 w 167"/>
                  <a:gd name="T75" fmla="*/ 123 h 154"/>
                  <a:gd name="T76" fmla="*/ 92 w 167"/>
                  <a:gd name="T77" fmla="*/ 129 h 154"/>
                  <a:gd name="T78" fmla="*/ 98 w 167"/>
                  <a:gd name="T79" fmla="*/ 141 h 154"/>
                  <a:gd name="T80" fmla="*/ 98 w 167"/>
                  <a:gd name="T81" fmla="*/ 147 h 154"/>
                  <a:gd name="T82" fmla="*/ 80 w 167"/>
                  <a:gd name="T83" fmla="*/ 147 h 154"/>
                  <a:gd name="T84" fmla="*/ 68 w 167"/>
                  <a:gd name="T85" fmla="*/ 153 h 154"/>
                  <a:gd name="T86" fmla="*/ 61 w 167"/>
                  <a:gd name="T87" fmla="*/ 147 h 154"/>
                  <a:gd name="T88" fmla="*/ 55 w 167"/>
                  <a:gd name="T89" fmla="*/ 135 h 154"/>
                  <a:gd name="T90" fmla="*/ 37 w 167"/>
                  <a:gd name="T91" fmla="*/ 135 h 154"/>
                  <a:gd name="T92" fmla="*/ 24 w 167"/>
                  <a:gd name="T93" fmla="*/ 135 h 154"/>
                  <a:gd name="T94" fmla="*/ 6 w 167"/>
                  <a:gd name="T95" fmla="*/ 135 h 154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167"/>
                  <a:gd name="T145" fmla="*/ 0 h 154"/>
                  <a:gd name="T146" fmla="*/ 167 w 167"/>
                  <a:gd name="T147" fmla="*/ 154 h 154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167" h="154">
                    <a:moveTo>
                      <a:pt x="6" y="135"/>
                    </a:moveTo>
                    <a:lnTo>
                      <a:pt x="6" y="129"/>
                    </a:lnTo>
                    <a:lnTo>
                      <a:pt x="18" y="117"/>
                    </a:lnTo>
                    <a:lnTo>
                      <a:pt x="12" y="104"/>
                    </a:lnTo>
                    <a:lnTo>
                      <a:pt x="6" y="98"/>
                    </a:lnTo>
                    <a:lnTo>
                      <a:pt x="0" y="86"/>
                    </a:lnTo>
                    <a:lnTo>
                      <a:pt x="12" y="92"/>
                    </a:lnTo>
                    <a:lnTo>
                      <a:pt x="49" y="86"/>
                    </a:lnTo>
                    <a:lnTo>
                      <a:pt x="55" y="73"/>
                    </a:lnTo>
                    <a:lnTo>
                      <a:pt x="55" y="67"/>
                    </a:lnTo>
                    <a:lnTo>
                      <a:pt x="80" y="61"/>
                    </a:lnTo>
                    <a:lnTo>
                      <a:pt x="86" y="49"/>
                    </a:lnTo>
                    <a:lnTo>
                      <a:pt x="92" y="43"/>
                    </a:lnTo>
                    <a:lnTo>
                      <a:pt x="86" y="36"/>
                    </a:lnTo>
                    <a:lnTo>
                      <a:pt x="98" y="36"/>
                    </a:lnTo>
                    <a:lnTo>
                      <a:pt x="105" y="24"/>
                    </a:lnTo>
                    <a:lnTo>
                      <a:pt x="105" y="12"/>
                    </a:lnTo>
                    <a:lnTo>
                      <a:pt x="117" y="6"/>
                    </a:lnTo>
                    <a:lnTo>
                      <a:pt x="123" y="6"/>
                    </a:lnTo>
                    <a:lnTo>
                      <a:pt x="136" y="0"/>
                    </a:lnTo>
                    <a:lnTo>
                      <a:pt x="148" y="6"/>
                    </a:lnTo>
                    <a:lnTo>
                      <a:pt x="148" y="18"/>
                    </a:lnTo>
                    <a:lnTo>
                      <a:pt x="166" y="18"/>
                    </a:lnTo>
                    <a:lnTo>
                      <a:pt x="160" y="30"/>
                    </a:lnTo>
                    <a:lnTo>
                      <a:pt x="148" y="30"/>
                    </a:lnTo>
                    <a:lnTo>
                      <a:pt x="129" y="30"/>
                    </a:lnTo>
                    <a:lnTo>
                      <a:pt x="129" y="36"/>
                    </a:lnTo>
                    <a:lnTo>
                      <a:pt x="129" y="49"/>
                    </a:lnTo>
                    <a:lnTo>
                      <a:pt x="142" y="55"/>
                    </a:lnTo>
                    <a:lnTo>
                      <a:pt x="142" y="61"/>
                    </a:lnTo>
                    <a:lnTo>
                      <a:pt x="136" y="61"/>
                    </a:lnTo>
                    <a:lnTo>
                      <a:pt x="136" y="73"/>
                    </a:lnTo>
                    <a:lnTo>
                      <a:pt x="105" y="104"/>
                    </a:lnTo>
                    <a:lnTo>
                      <a:pt x="98" y="110"/>
                    </a:lnTo>
                    <a:lnTo>
                      <a:pt x="92" y="104"/>
                    </a:lnTo>
                    <a:lnTo>
                      <a:pt x="86" y="117"/>
                    </a:lnTo>
                    <a:lnTo>
                      <a:pt x="86" y="123"/>
                    </a:lnTo>
                    <a:lnTo>
                      <a:pt x="92" y="123"/>
                    </a:lnTo>
                    <a:lnTo>
                      <a:pt x="92" y="129"/>
                    </a:lnTo>
                    <a:lnTo>
                      <a:pt x="98" y="141"/>
                    </a:lnTo>
                    <a:lnTo>
                      <a:pt x="98" y="147"/>
                    </a:lnTo>
                    <a:lnTo>
                      <a:pt x="80" y="147"/>
                    </a:lnTo>
                    <a:lnTo>
                      <a:pt x="68" y="153"/>
                    </a:lnTo>
                    <a:lnTo>
                      <a:pt x="61" y="147"/>
                    </a:lnTo>
                    <a:lnTo>
                      <a:pt x="55" y="135"/>
                    </a:lnTo>
                    <a:lnTo>
                      <a:pt x="37" y="135"/>
                    </a:lnTo>
                    <a:lnTo>
                      <a:pt x="24" y="135"/>
                    </a:lnTo>
                    <a:lnTo>
                      <a:pt x="6" y="135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01" name="Freeform 93">
                <a:extLst>
                  <a:ext uri="{FF2B5EF4-FFF2-40B4-BE49-F238E27FC236}">
                    <a16:creationId xmlns:a16="http://schemas.microsoft.com/office/drawing/2014/main" id="{F06F445C-9483-419E-87FE-7F79DE695AD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112545" y="3298150"/>
                <a:ext cx="191079" cy="74415"/>
              </a:xfrm>
              <a:custGeom>
                <a:avLst/>
                <a:gdLst>
                  <a:gd name="T0" fmla="*/ 6 w 75"/>
                  <a:gd name="T1" fmla="*/ 0 h 43"/>
                  <a:gd name="T2" fmla="*/ 0 w 75"/>
                  <a:gd name="T3" fmla="*/ 18 h 43"/>
                  <a:gd name="T4" fmla="*/ 12 w 75"/>
                  <a:gd name="T5" fmla="*/ 30 h 43"/>
                  <a:gd name="T6" fmla="*/ 68 w 75"/>
                  <a:gd name="T7" fmla="*/ 42 h 43"/>
                  <a:gd name="T8" fmla="*/ 74 w 75"/>
                  <a:gd name="T9" fmla="*/ 42 h 43"/>
                  <a:gd name="T10" fmla="*/ 74 w 75"/>
                  <a:gd name="T11" fmla="*/ 36 h 43"/>
                  <a:gd name="T12" fmla="*/ 74 w 75"/>
                  <a:gd name="T13" fmla="*/ 30 h 43"/>
                  <a:gd name="T14" fmla="*/ 56 w 75"/>
                  <a:gd name="T15" fmla="*/ 24 h 43"/>
                  <a:gd name="T16" fmla="*/ 37 w 75"/>
                  <a:gd name="T17" fmla="*/ 18 h 43"/>
                  <a:gd name="T18" fmla="*/ 37 w 75"/>
                  <a:gd name="T19" fmla="*/ 12 h 43"/>
                  <a:gd name="T20" fmla="*/ 31 w 75"/>
                  <a:gd name="T21" fmla="*/ 12 h 43"/>
                  <a:gd name="T22" fmla="*/ 18 w 75"/>
                  <a:gd name="T23" fmla="*/ 0 h 43"/>
                  <a:gd name="T24" fmla="*/ 6 w 75"/>
                  <a:gd name="T25" fmla="*/ 0 h 43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75"/>
                  <a:gd name="T40" fmla="*/ 0 h 43"/>
                  <a:gd name="T41" fmla="*/ 75 w 75"/>
                  <a:gd name="T42" fmla="*/ 43 h 43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75" h="43">
                    <a:moveTo>
                      <a:pt x="6" y="0"/>
                    </a:moveTo>
                    <a:lnTo>
                      <a:pt x="0" y="18"/>
                    </a:lnTo>
                    <a:lnTo>
                      <a:pt x="12" y="30"/>
                    </a:lnTo>
                    <a:lnTo>
                      <a:pt x="68" y="42"/>
                    </a:lnTo>
                    <a:lnTo>
                      <a:pt x="74" y="42"/>
                    </a:lnTo>
                    <a:lnTo>
                      <a:pt x="74" y="36"/>
                    </a:lnTo>
                    <a:lnTo>
                      <a:pt x="74" y="30"/>
                    </a:lnTo>
                    <a:lnTo>
                      <a:pt x="56" y="24"/>
                    </a:lnTo>
                    <a:lnTo>
                      <a:pt x="37" y="18"/>
                    </a:lnTo>
                    <a:lnTo>
                      <a:pt x="37" y="12"/>
                    </a:lnTo>
                    <a:lnTo>
                      <a:pt x="31" y="12"/>
                    </a:lnTo>
                    <a:lnTo>
                      <a:pt x="18" y="0"/>
                    </a:lnTo>
                    <a:lnTo>
                      <a:pt x="6" y="0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02" name="Freeform 94">
                <a:extLst>
                  <a:ext uri="{FF2B5EF4-FFF2-40B4-BE49-F238E27FC236}">
                    <a16:creationId xmlns:a16="http://schemas.microsoft.com/office/drawing/2014/main" id="{51098C81-5275-4D83-BC0E-63341431665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303625" y="3370835"/>
                <a:ext cx="129934" cy="98645"/>
              </a:xfrm>
              <a:custGeom>
                <a:avLst/>
                <a:gdLst>
                  <a:gd name="T0" fmla="*/ 50 w 51"/>
                  <a:gd name="T1" fmla="*/ 50 h 57"/>
                  <a:gd name="T2" fmla="*/ 44 w 51"/>
                  <a:gd name="T3" fmla="*/ 31 h 57"/>
                  <a:gd name="T4" fmla="*/ 38 w 51"/>
                  <a:gd name="T5" fmla="*/ 37 h 57"/>
                  <a:gd name="T6" fmla="*/ 31 w 51"/>
                  <a:gd name="T7" fmla="*/ 31 h 57"/>
                  <a:gd name="T8" fmla="*/ 31 w 51"/>
                  <a:gd name="T9" fmla="*/ 25 h 57"/>
                  <a:gd name="T10" fmla="*/ 44 w 51"/>
                  <a:gd name="T11" fmla="*/ 18 h 57"/>
                  <a:gd name="T12" fmla="*/ 25 w 51"/>
                  <a:gd name="T13" fmla="*/ 12 h 57"/>
                  <a:gd name="T14" fmla="*/ 19 w 51"/>
                  <a:gd name="T15" fmla="*/ 6 h 57"/>
                  <a:gd name="T16" fmla="*/ 12 w 51"/>
                  <a:gd name="T17" fmla="*/ 0 h 57"/>
                  <a:gd name="T18" fmla="*/ 12 w 51"/>
                  <a:gd name="T19" fmla="*/ 6 h 57"/>
                  <a:gd name="T20" fmla="*/ 6 w 51"/>
                  <a:gd name="T21" fmla="*/ 0 h 57"/>
                  <a:gd name="T22" fmla="*/ 6 w 51"/>
                  <a:gd name="T23" fmla="*/ 6 h 57"/>
                  <a:gd name="T24" fmla="*/ 6 w 51"/>
                  <a:gd name="T25" fmla="*/ 12 h 57"/>
                  <a:gd name="T26" fmla="*/ 0 w 51"/>
                  <a:gd name="T27" fmla="*/ 18 h 57"/>
                  <a:gd name="T28" fmla="*/ 6 w 51"/>
                  <a:gd name="T29" fmla="*/ 25 h 57"/>
                  <a:gd name="T30" fmla="*/ 12 w 51"/>
                  <a:gd name="T31" fmla="*/ 50 h 57"/>
                  <a:gd name="T32" fmla="*/ 25 w 51"/>
                  <a:gd name="T33" fmla="*/ 50 h 57"/>
                  <a:gd name="T34" fmla="*/ 38 w 51"/>
                  <a:gd name="T35" fmla="*/ 37 h 57"/>
                  <a:gd name="T36" fmla="*/ 44 w 51"/>
                  <a:gd name="T37" fmla="*/ 56 h 57"/>
                  <a:gd name="T38" fmla="*/ 50 w 51"/>
                  <a:gd name="T39" fmla="*/ 50 h 57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51"/>
                  <a:gd name="T61" fmla="*/ 0 h 57"/>
                  <a:gd name="T62" fmla="*/ 51 w 51"/>
                  <a:gd name="T63" fmla="*/ 57 h 57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51" h="57">
                    <a:moveTo>
                      <a:pt x="50" y="50"/>
                    </a:moveTo>
                    <a:lnTo>
                      <a:pt x="44" y="31"/>
                    </a:lnTo>
                    <a:lnTo>
                      <a:pt x="38" y="37"/>
                    </a:lnTo>
                    <a:lnTo>
                      <a:pt x="31" y="31"/>
                    </a:lnTo>
                    <a:lnTo>
                      <a:pt x="31" y="25"/>
                    </a:lnTo>
                    <a:lnTo>
                      <a:pt x="44" y="18"/>
                    </a:lnTo>
                    <a:lnTo>
                      <a:pt x="25" y="12"/>
                    </a:lnTo>
                    <a:lnTo>
                      <a:pt x="19" y="6"/>
                    </a:lnTo>
                    <a:lnTo>
                      <a:pt x="12" y="0"/>
                    </a:lnTo>
                    <a:lnTo>
                      <a:pt x="12" y="6"/>
                    </a:lnTo>
                    <a:lnTo>
                      <a:pt x="6" y="0"/>
                    </a:lnTo>
                    <a:lnTo>
                      <a:pt x="6" y="6"/>
                    </a:lnTo>
                    <a:lnTo>
                      <a:pt x="6" y="12"/>
                    </a:lnTo>
                    <a:lnTo>
                      <a:pt x="0" y="18"/>
                    </a:lnTo>
                    <a:lnTo>
                      <a:pt x="6" y="25"/>
                    </a:lnTo>
                    <a:lnTo>
                      <a:pt x="12" y="50"/>
                    </a:lnTo>
                    <a:lnTo>
                      <a:pt x="25" y="50"/>
                    </a:lnTo>
                    <a:lnTo>
                      <a:pt x="38" y="37"/>
                    </a:lnTo>
                    <a:lnTo>
                      <a:pt x="44" y="56"/>
                    </a:lnTo>
                    <a:lnTo>
                      <a:pt x="50" y="50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11" name="Freeform 95">
                <a:extLst>
                  <a:ext uri="{FF2B5EF4-FFF2-40B4-BE49-F238E27FC236}">
                    <a16:creationId xmlns:a16="http://schemas.microsoft.com/office/drawing/2014/main" id="{A9797F95-27F7-4F78-B629-70DAC8FBE6F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415724" y="3339685"/>
                <a:ext cx="234389" cy="334009"/>
              </a:xfrm>
              <a:custGeom>
                <a:avLst/>
                <a:gdLst>
                  <a:gd name="T0" fmla="*/ 61 w 92"/>
                  <a:gd name="T1" fmla="*/ 192 h 193"/>
                  <a:gd name="T2" fmla="*/ 73 w 92"/>
                  <a:gd name="T3" fmla="*/ 168 h 193"/>
                  <a:gd name="T4" fmla="*/ 67 w 92"/>
                  <a:gd name="T5" fmla="*/ 149 h 193"/>
                  <a:gd name="T6" fmla="*/ 61 w 92"/>
                  <a:gd name="T7" fmla="*/ 143 h 193"/>
                  <a:gd name="T8" fmla="*/ 67 w 92"/>
                  <a:gd name="T9" fmla="*/ 124 h 193"/>
                  <a:gd name="T10" fmla="*/ 55 w 92"/>
                  <a:gd name="T11" fmla="*/ 105 h 193"/>
                  <a:gd name="T12" fmla="*/ 61 w 92"/>
                  <a:gd name="T13" fmla="*/ 93 h 193"/>
                  <a:gd name="T14" fmla="*/ 79 w 92"/>
                  <a:gd name="T15" fmla="*/ 80 h 193"/>
                  <a:gd name="T16" fmla="*/ 91 w 92"/>
                  <a:gd name="T17" fmla="*/ 68 h 193"/>
                  <a:gd name="T18" fmla="*/ 79 w 92"/>
                  <a:gd name="T19" fmla="*/ 68 h 193"/>
                  <a:gd name="T20" fmla="*/ 73 w 92"/>
                  <a:gd name="T21" fmla="*/ 62 h 193"/>
                  <a:gd name="T22" fmla="*/ 73 w 92"/>
                  <a:gd name="T23" fmla="*/ 56 h 193"/>
                  <a:gd name="T24" fmla="*/ 67 w 92"/>
                  <a:gd name="T25" fmla="*/ 49 h 193"/>
                  <a:gd name="T26" fmla="*/ 67 w 92"/>
                  <a:gd name="T27" fmla="*/ 43 h 193"/>
                  <a:gd name="T28" fmla="*/ 55 w 92"/>
                  <a:gd name="T29" fmla="*/ 49 h 193"/>
                  <a:gd name="T30" fmla="*/ 67 w 92"/>
                  <a:gd name="T31" fmla="*/ 18 h 193"/>
                  <a:gd name="T32" fmla="*/ 61 w 92"/>
                  <a:gd name="T33" fmla="*/ 0 h 193"/>
                  <a:gd name="T34" fmla="*/ 55 w 92"/>
                  <a:gd name="T35" fmla="*/ 0 h 193"/>
                  <a:gd name="T36" fmla="*/ 49 w 92"/>
                  <a:gd name="T37" fmla="*/ 12 h 193"/>
                  <a:gd name="T38" fmla="*/ 42 w 92"/>
                  <a:gd name="T39" fmla="*/ 12 h 193"/>
                  <a:gd name="T40" fmla="*/ 30 w 92"/>
                  <a:gd name="T41" fmla="*/ 18 h 193"/>
                  <a:gd name="T42" fmla="*/ 18 w 92"/>
                  <a:gd name="T43" fmla="*/ 43 h 193"/>
                  <a:gd name="T44" fmla="*/ 12 w 92"/>
                  <a:gd name="T45" fmla="*/ 49 h 193"/>
                  <a:gd name="T46" fmla="*/ 12 w 92"/>
                  <a:gd name="T47" fmla="*/ 62 h 193"/>
                  <a:gd name="T48" fmla="*/ 6 w 92"/>
                  <a:gd name="T49" fmla="*/ 68 h 193"/>
                  <a:gd name="T50" fmla="*/ 0 w 92"/>
                  <a:gd name="T51" fmla="*/ 80 h 193"/>
                  <a:gd name="T52" fmla="*/ 12 w 92"/>
                  <a:gd name="T53" fmla="*/ 87 h 193"/>
                  <a:gd name="T54" fmla="*/ 18 w 92"/>
                  <a:gd name="T55" fmla="*/ 99 h 193"/>
                  <a:gd name="T56" fmla="*/ 24 w 92"/>
                  <a:gd name="T57" fmla="*/ 118 h 193"/>
                  <a:gd name="T58" fmla="*/ 24 w 92"/>
                  <a:gd name="T59" fmla="*/ 124 h 193"/>
                  <a:gd name="T60" fmla="*/ 36 w 92"/>
                  <a:gd name="T61" fmla="*/ 130 h 193"/>
                  <a:gd name="T62" fmla="*/ 49 w 92"/>
                  <a:gd name="T63" fmla="*/ 118 h 193"/>
                  <a:gd name="T64" fmla="*/ 55 w 92"/>
                  <a:gd name="T65" fmla="*/ 124 h 193"/>
                  <a:gd name="T66" fmla="*/ 67 w 92"/>
                  <a:gd name="T67" fmla="*/ 161 h 193"/>
                  <a:gd name="T68" fmla="*/ 61 w 92"/>
                  <a:gd name="T69" fmla="*/ 192 h 193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92"/>
                  <a:gd name="T106" fmla="*/ 0 h 193"/>
                  <a:gd name="T107" fmla="*/ 92 w 92"/>
                  <a:gd name="T108" fmla="*/ 193 h 193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92" h="193">
                    <a:moveTo>
                      <a:pt x="61" y="192"/>
                    </a:moveTo>
                    <a:lnTo>
                      <a:pt x="73" y="168"/>
                    </a:lnTo>
                    <a:lnTo>
                      <a:pt x="67" y="149"/>
                    </a:lnTo>
                    <a:lnTo>
                      <a:pt x="61" y="143"/>
                    </a:lnTo>
                    <a:lnTo>
                      <a:pt x="67" y="124"/>
                    </a:lnTo>
                    <a:lnTo>
                      <a:pt x="55" y="105"/>
                    </a:lnTo>
                    <a:lnTo>
                      <a:pt x="61" y="93"/>
                    </a:lnTo>
                    <a:lnTo>
                      <a:pt x="79" y="80"/>
                    </a:lnTo>
                    <a:lnTo>
                      <a:pt x="91" y="68"/>
                    </a:lnTo>
                    <a:lnTo>
                      <a:pt x="79" y="68"/>
                    </a:lnTo>
                    <a:lnTo>
                      <a:pt x="73" y="62"/>
                    </a:lnTo>
                    <a:lnTo>
                      <a:pt x="73" y="56"/>
                    </a:lnTo>
                    <a:lnTo>
                      <a:pt x="67" y="49"/>
                    </a:lnTo>
                    <a:lnTo>
                      <a:pt x="67" y="43"/>
                    </a:lnTo>
                    <a:lnTo>
                      <a:pt x="55" y="49"/>
                    </a:lnTo>
                    <a:lnTo>
                      <a:pt x="67" y="18"/>
                    </a:lnTo>
                    <a:lnTo>
                      <a:pt x="61" y="0"/>
                    </a:lnTo>
                    <a:lnTo>
                      <a:pt x="55" y="0"/>
                    </a:lnTo>
                    <a:lnTo>
                      <a:pt x="49" y="12"/>
                    </a:lnTo>
                    <a:lnTo>
                      <a:pt x="42" y="12"/>
                    </a:lnTo>
                    <a:lnTo>
                      <a:pt x="30" y="18"/>
                    </a:lnTo>
                    <a:lnTo>
                      <a:pt x="18" y="43"/>
                    </a:lnTo>
                    <a:lnTo>
                      <a:pt x="12" y="49"/>
                    </a:lnTo>
                    <a:lnTo>
                      <a:pt x="12" y="62"/>
                    </a:lnTo>
                    <a:lnTo>
                      <a:pt x="6" y="68"/>
                    </a:lnTo>
                    <a:lnTo>
                      <a:pt x="0" y="80"/>
                    </a:lnTo>
                    <a:lnTo>
                      <a:pt x="12" y="87"/>
                    </a:lnTo>
                    <a:lnTo>
                      <a:pt x="18" y="99"/>
                    </a:lnTo>
                    <a:lnTo>
                      <a:pt x="24" y="118"/>
                    </a:lnTo>
                    <a:lnTo>
                      <a:pt x="24" y="124"/>
                    </a:lnTo>
                    <a:lnTo>
                      <a:pt x="36" y="130"/>
                    </a:lnTo>
                    <a:lnTo>
                      <a:pt x="49" y="118"/>
                    </a:lnTo>
                    <a:lnTo>
                      <a:pt x="55" y="124"/>
                    </a:lnTo>
                    <a:lnTo>
                      <a:pt x="67" y="161"/>
                    </a:lnTo>
                    <a:lnTo>
                      <a:pt x="61" y="192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17" name="Freeform 96">
                <a:extLst>
                  <a:ext uri="{FF2B5EF4-FFF2-40B4-BE49-F238E27FC236}">
                    <a16:creationId xmlns:a16="http://schemas.microsoft.com/office/drawing/2014/main" id="{55F3C5A8-4218-48E5-9C84-F78051042E8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555849" y="3479864"/>
                <a:ext cx="208913" cy="257861"/>
              </a:xfrm>
              <a:custGeom>
                <a:avLst/>
                <a:gdLst>
                  <a:gd name="T0" fmla="*/ 25 w 82"/>
                  <a:gd name="T1" fmla="*/ 0 h 149"/>
                  <a:gd name="T2" fmla="*/ 6 w 82"/>
                  <a:gd name="T3" fmla="*/ 12 h 149"/>
                  <a:gd name="T4" fmla="*/ 0 w 82"/>
                  <a:gd name="T5" fmla="*/ 24 h 149"/>
                  <a:gd name="T6" fmla="*/ 12 w 82"/>
                  <a:gd name="T7" fmla="*/ 43 h 149"/>
                  <a:gd name="T8" fmla="*/ 6 w 82"/>
                  <a:gd name="T9" fmla="*/ 62 h 149"/>
                  <a:gd name="T10" fmla="*/ 12 w 82"/>
                  <a:gd name="T11" fmla="*/ 68 h 149"/>
                  <a:gd name="T12" fmla="*/ 18 w 82"/>
                  <a:gd name="T13" fmla="*/ 86 h 149"/>
                  <a:gd name="T14" fmla="*/ 6 w 82"/>
                  <a:gd name="T15" fmla="*/ 111 h 149"/>
                  <a:gd name="T16" fmla="*/ 6 w 82"/>
                  <a:gd name="T17" fmla="*/ 117 h 149"/>
                  <a:gd name="T18" fmla="*/ 6 w 82"/>
                  <a:gd name="T19" fmla="*/ 124 h 149"/>
                  <a:gd name="T20" fmla="*/ 12 w 82"/>
                  <a:gd name="T21" fmla="*/ 124 h 149"/>
                  <a:gd name="T22" fmla="*/ 25 w 82"/>
                  <a:gd name="T23" fmla="*/ 142 h 149"/>
                  <a:gd name="T24" fmla="*/ 25 w 82"/>
                  <a:gd name="T25" fmla="*/ 136 h 149"/>
                  <a:gd name="T26" fmla="*/ 37 w 82"/>
                  <a:gd name="T27" fmla="*/ 142 h 149"/>
                  <a:gd name="T28" fmla="*/ 37 w 82"/>
                  <a:gd name="T29" fmla="*/ 148 h 149"/>
                  <a:gd name="T30" fmla="*/ 44 w 82"/>
                  <a:gd name="T31" fmla="*/ 142 h 149"/>
                  <a:gd name="T32" fmla="*/ 37 w 82"/>
                  <a:gd name="T33" fmla="*/ 136 h 149"/>
                  <a:gd name="T34" fmla="*/ 31 w 82"/>
                  <a:gd name="T35" fmla="*/ 136 h 149"/>
                  <a:gd name="T36" fmla="*/ 25 w 82"/>
                  <a:gd name="T37" fmla="*/ 111 h 149"/>
                  <a:gd name="T38" fmla="*/ 18 w 82"/>
                  <a:gd name="T39" fmla="*/ 117 h 149"/>
                  <a:gd name="T40" fmla="*/ 12 w 82"/>
                  <a:gd name="T41" fmla="*/ 105 h 149"/>
                  <a:gd name="T42" fmla="*/ 25 w 82"/>
                  <a:gd name="T43" fmla="*/ 86 h 149"/>
                  <a:gd name="T44" fmla="*/ 25 w 82"/>
                  <a:gd name="T45" fmla="*/ 74 h 149"/>
                  <a:gd name="T46" fmla="*/ 31 w 82"/>
                  <a:gd name="T47" fmla="*/ 74 h 149"/>
                  <a:gd name="T48" fmla="*/ 31 w 82"/>
                  <a:gd name="T49" fmla="*/ 80 h 149"/>
                  <a:gd name="T50" fmla="*/ 44 w 82"/>
                  <a:gd name="T51" fmla="*/ 80 h 149"/>
                  <a:gd name="T52" fmla="*/ 56 w 82"/>
                  <a:gd name="T53" fmla="*/ 93 h 149"/>
                  <a:gd name="T54" fmla="*/ 50 w 82"/>
                  <a:gd name="T55" fmla="*/ 74 h 149"/>
                  <a:gd name="T56" fmla="*/ 56 w 82"/>
                  <a:gd name="T57" fmla="*/ 68 h 149"/>
                  <a:gd name="T58" fmla="*/ 75 w 82"/>
                  <a:gd name="T59" fmla="*/ 62 h 149"/>
                  <a:gd name="T60" fmla="*/ 81 w 82"/>
                  <a:gd name="T61" fmla="*/ 55 h 149"/>
                  <a:gd name="T62" fmla="*/ 69 w 82"/>
                  <a:gd name="T63" fmla="*/ 43 h 149"/>
                  <a:gd name="T64" fmla="*/ 69 w 82"/>
                  <a:gd name="T65" fmla="*/ 31 h 149"/>
                  <a:gd name="T66" fmla="*/ 63 w 82"/>
                  <a:gd name="T67" fmla="*/ 24 h 149"/>
                  <a:gd name="T68" fmla="*/ 50 w 82"/>
                  <a:gd name="T69" fmla="*/ 24 h 149"/>
                  <a:gd name="T70" fmla="*/ 44 w 82"/>
                  <a:gd name="T71" fmla="*/ 24 h 149"/>
                  <a:gd name="T72" fmla="*/ 31 w 82"/>
                  <a:gd name="T73" fmla="*/ 31 h 149"/>
                  <a:gd name="T74" fmla="*/ 37 w 82"/>
                  <a:gd name="T75" fmla="*/ 12 h 149"/>
                  <a:gd name="T76" fmla="*/ 31 w 82"/>
                  <a:gd name="T77" fmla="*/ 6 h 149"/>
                  <a:gd name="T78" fmla="*/ 25 w 82"/>
                  <a:gd name="T79" fmla="*/ 0 h 149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82"/>
                  <a:gd name="T121" fmla="*/ 0 h 149"/>
                  <a:gd name="T122" fmla="*/ 82 w 82"/>
                  <a:gd name="T123" fmla="*/ 149 h 149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82" h="149">
                    <a:moveTo>
                      <a:pt x="25" y="0"/>
                    </a:moveTo>
                    <a:lnTo>
                      <a:pt x="6" y="12"/>
                    </a:lnTo>
                    <a:lnTo>
                      <a:pt x="0" y="24"/>
                    </a:lnTo>
                    <a:lnTo>
                      <a:pt x="12" y="43"/>
                    </a:lnTo>
                    <a:lnTo>
                      <a:pt x="6" y="62"/>
                    </a:lnTo>
                    <a:lnTo>
                      <a:pt x="12" y="68"/>
                    </a:lnTo>
                    <a:lnTo>
                      <a:pt x="18" y="86"/>
                    </a:lnTo>
                    <a:lnTo>
                      <a:pt x="6" y="111"/>
                    </a:lnTo>
                    <a:lnTo>
                      <a:pt x="6" y="117"/>
                    </a:lnTo>
                    <a:lnTo>
                      <a:pt x="6" y="124"/>
                    </a:lnTo>
                    <a:lnTo>
                      <a:pt x="12" y="124"/>
                    </a:lnTo>
                    <a:lnTo>
                      <a:pt x="25" y="142"/>
                    </a:lnTo>
                    <a:lnTo>
                      <a:pt x="25" y="136"/>
                    </a:lnTo>
                    <a:lnTo>
                      <a:pt x="37" y="142"/>
                    </a:lnTo>
                    <a:lnTo>
                      <a:pt x="37" y="148"/>
                    </a:lnTo>
                    <a:lnTo>
                      <a:pt x="44" y="142"/>
                    </a:lnTo>
                    <a:lnTo>
                      <a:pt x="37" y="136"/>
                    </a:lnTo>
                    <a:lnTo>
                      <a:pt x="31" y="136"/>
                    </a:lnTo>
                    <a:lnTo>
                      <a:pt x="25" y="111"/>
                    </a:lnTo>
                    <a:lnTo>
                      <a:pt x="18" y="117"/>
                    </a:lnTo>
                    <a:lnTo>
                      <a:pt x="12" y="105"/>
                    </a:lnTo>
                    <a:lnTo>
                      <a:pt x="25" y="86"/>
                    </a:lnTo>
                    <a:lnTo>
                      <a:pt x="25" y="74"/>
                    </a:lnTo>
                    <a:lnTo>
                      <a:pt x="31" y="74"/>
                    </a:lnTo>
                    <a:lnTo>
                      <a:pt x="31" y="80"/>
                    </a:lnTo>
                    <a:lnTo>
                      <a:pt x="44" y="80"/>
                    </a:lnTo>
                    <a:lnTo>
                      <a:pt x="56" y="93"/>
                    </a:lnTo>
                    <a:lnTo>
                      <a:pt x="50" y="74"/>
                    </a:lnTo>
                    <a:lnTo>
                      <a:pt x="56" y="68"/>
                    </a:lnTo>
                    <a:lnTo>
                      <a:pt x="75" y="62"/>
                    </a:lnTo>
                    <a:lnTo>
                      <a:pt x="81" y="55"/>
                    </a:lnTo>
                    <a:lnTo>
                      <a:pt x="69" y="43"/>
                    </a:lnTo>
                    <a:lnTo>
                      <a:pt x="69" y="31"/>
                    </a:lnTo>
                    <a:lnTo>
                      <a:pt x="63" y="24"/>
                    </a:lnTo>
                    <a:lnTo>
                      <a:pt x="50" y="24"/>
                    </a:lnTo>
                    <a:lnTo>
                      <a:pt x="44" y="24"/>
                    </a:lnTo>
                    <a:lnTo>
                      <a:pt x="31" y="31"/>
                    </a:lnTo>
                    <a:lnTo>
                      <a:pt x="37" y="12"/>
                    </a:lnTo>
                    <a:lnTo>
                      <a:pt x="31" y="6"/>
                    </a:lnTo>
                    <a:lnTo>
                      <a:pt x="25" y="0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18" name="Freeform 97">
                <a:extLst>
                  <a:ext uri="{FF2B5EF4-FFF2-40B4-BE49-F238E27FC236}">
                    <a16:creationId xmlns:a16="http://schemas.microsoft.com/office/drawing/2014/main" id="{EC12688B-7AC9-49DD-ADB7-1C6FD65DFB0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619542" y="3448714"/>
                <a:ext cx="191079" cy="148833"/>
              </a:xfrm>
              <a:custGeom>
                <a:avLst/>
                <a:gdLst>
                  <a:gd name="T0" fmla="*/ 74 w 75"/>
                  <a:gd name="T1" fmla="*/ 79 h 86"/>
                  <a:gd name="T2" fmla="*/ 74 w 75"/>
                  <a:gd name="T3" fmla="*/ 67 h 86"/>
                  <a:gd name="T4" fmla="*/ 62 w 75"/>
                  <a:gd name="T5" fmla="*/ 55 h 86"/>
                  <a:gd name="T6" fmla="*/ 37 w 75"/>
                  <a:gd name="T7" fmla="*/ 30 h 86"/>
                  <a:gd name="T8" fmla="*/ 43 w 75"/>
                  <a:gd name="T9" fmla="*/ 24 h 86"/>
                  <a:gd name="T10" fmla="*/ 43 w 75"/>
                  <a:gd name="T11" fmla="*/ 18 h 86"/>
                  <a:gd name="T12" fmla="*/ 31 w 75"/>
                  <a:gd name="T13" fmla="*/ 12 h 86"/>
                  <a:gd name="T14" fmla="*/ 18 w 75"/>
                  <a:gd name="T15" fmla="*/ 0 h 86"/>
                  <a:gd name="T16" fmla="*/ 12 w 75"/>
                  <a:gd name="T17" fmla="*/ 12 h 86"/>
                  <a:gd name="T18" fmla="*/ 12 w 75"/>
                  <a:gd name="T19" fmla="*/ 6 h 86"/>
                  <a:gd name="T20" fmla="*/ 0 w 75"/>
                  <a:gd name="T21" fmla="*/ 18 h 86"/>
                  <a:gd name="T22" fmla="*/ 6 w 75"/>
                  <a:gd name="T23" fmla="*/ 24 h 86"/>
                  <a:gd name="T24" fmla="*/ 12 w 75"/>
                  <a:gd name="T25" fmla="*/ 30 h 86"/>
                  <a:gd name="T26" fmla="*/ 6 w 75"/>
                  <a:gd name="T27" fmla="*/ 49 h 86"/>
                  <a:gd name="T28" fmla="*/ 18 w 75"/>
                  <a:gd name="T29" fmla="*/ 42 h 86"/>
                  <a:gd name="T30" fmla="*/ 24 w 75"/>
                  <a:gd name="T31" fmla="*/ 42 h 86"/>
                  <a:gd name="T32" fmla="*/ 31 w 75"/>
                  <a:gd name="T33" fmla="*/ 42 h 86"/>
                  <a:gd name="T34" fmla="*/ 43 w 75"/>
                  <a:gd name="T35" fmla="*/ 49 h 86"/>
                  <a:gd name="T36" fmla="*/ 43 w 75"/>
                  <a:gd name="T37" fmla="*/ 61 h 86"/>
                  <a:gd name="T38" fmla="*/ 56 w 75"/>
                  <a:gd name="T39" fmla="*/ 73 h 86"/>
                  <a:gd name="T40" fmla="*/ 49 w 75"/>
                  <a:gd name="T41" fmla="*/ 79 h 86"/>
                  <a:gd name="T42" fmla="*/ 62 w 75"/>
                  <a:gd name="T43" fmla="*/ 85 h 86"/>
                  <a:gd name="T44" fmla="*/ 62 w 75"/>
                  <a:gd name="T45" fmla="*/ 79 h 86"/>
                  <a:gd name="T46" fmla="*/ 74 w 75"/>
                  <a:gd name="T47" fmla="*/ 79 h 8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75"/>
                  <a:gd name="T73" fmla="*/ 0 h 86"/>
                  <a:gd name="T74" fmla="*/ 75 w 75"/>
                  <a:gd name="T75" fmla="*/ 86 h 8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75" h="86">
                    <a:moveTo>
                      <a:pt x="74" y="79"/>
                    </a:moveTo>
                    <a:lnTo>
                      <a:pt x="74" y="67"/>
                    </a:lnTo>
                    <a:lnTo>
                      <a:pt x="62" y="55"/>
                    </a:lnTo>
                    <a:lnTo>
                      <a:pt x="37" y="30"/>
                    </a:lnTo>
                    <a:lnTo>
                      <a:pt x="43" y="24"/>
                    </a:lnTo>
                    <a:lnTo>
                      <a:pt x="43" y="18"/>
                    </a:lnTo>
                    <a:lnTo>
                      <a:pt x="31" y="12"/>
                    </a:lnTo>
                    <a:lnTo>
                      <a:pt x="18" y="0"/>
                    </a:lnTo>
                    <a:lnTo>
                      <a:pt x="12" y="12"/>
                    </a:lnTo>
                    <a:lnTo>
                      <a:pt x="12" y="6"/>
                    </a:lnTo>
                    <a:lnTo>
                      <a:pt x="0" y="18"/>
                    </a:lnTo>
                    <a:lnTo>
                      <a:pt x="6" y="24"/>
                    </a:lnTo>
                    <a:lnTo>
                      <a:pt x="12" y="30"/>
                    </a:lnTo>
                    <a:lnTo>
                      <a:pt x="6" y="49"/>
                    </a:lnTo>
                    <a:lnTo>
                      <a:pt x="18" y="42"/>
                    </a:lnTo>
                    <a:lnTo>
                      <a:pt x="24" y="42"/>
                    </a:lnTo>
                    <a:lnTo>
                      <a:pt x="31" y="42"/>
                    </a:lnTo>
                    <a:lnTo>
                      <a:pt x="43" y="49"/>
                    </a:lnTo>
                    <a:lnTo>
                      <a:pt x="43" y="61"/>
                    </a:lnTo>
                    <a:lnTo>
                      <a:pt x="56" y="73"/>
                    </a:lnTo>
                    <a:lnTo>
                      <a:pt x="49" y="79"/>
                    </a:lnTo>
                    <a:lnTo>
                      <a:pt x="62" y="85"/>
                    </a:lnTo>
                    <a:lnTo>
                      <a:pt x="62" y="79"/>
                    </a:lnTo>
                    <a:lnTo>
                      <a:pt x="74" y="79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19" name="Freeform 98">
                <a:extLst>
                  <a:ext uri="{FF2B5EF4-FFF2-40B4-BE49-F238E27FC236}">
                    <a16:creationId xmlns:a16="http://schemas.microsoft.com/office/drawing/2014/main" id="{DD53A233-0B0A-4532-97A5-D87215BDF48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670495" y="3438330"/>
                <a:ext cx="185983" cy="245747"/>
              </a:xfrm>
              <a:custGeom>
                <a:avLst/>
                <a:gdLst>
                  <a:gd name="T0" fmla="*/ 0 w 73"/>
                  <a:gd name="T1" fmla="*/ 6 h 142"/>
                  <a:gd name="T2" fmla="*/ 6 w 73"/>
                  <a:gd name="T3" fmla="*/ 0 h 142"/>
                  <a:gd name="T4" fmla="*/ 12 w 73"/>
                  <a:gd name="T5" fmla="*/ 6 h 142"/>
                  <a:gd name="T6" fmla="*/ 36 w 73"/>
                  <a:gd name="T7" fmla="*/ 0 h 142"/>
                  <a:gd name="T8" fmla="*/ 48 w 73"/>
                  <a:gd name="T9" fmla="*/ 0 h 142"/>
                  <a:gd name="T10" fmla="*/ 48 w 73"/>
                  <a:gd name="T11" fmla="*/ 12 h 142"/>
                  <a:gd name="T12" fmla="*/ 60 w 73"/>
                  <a:gd name="T13" fmla="*/ 18 h 142"/>
                  <a:gd name="T14" fmla="*/ 48 w 73"/>
                  <a:gd name="T15" fmla="*/ 18 h 142"/>
                  <a:gd name="T16" fmla="*/ 36 w 73"/>
                  <a:gd name="T17" fmla="*/ 30 h 142"/>
                  <a:gd name="T18" fmla="*/ 36 w 73"/>
                  <a:gd name="T19" fmla="*/ 43 h 142"/>
                  <a:gd name="T20" fmla="*/ 66 w 73"/>
                  <a:gd name="T21" fmla="*/ 80 h 142"/>
                  <a:gd name="T22" fmla="*/ 72 w 73"/>
                  <a:gd name="T23" fmla="*/ 92 h 142"/>
                  <a:gd name="T24" fmla="*/ 66 w 73"/>
                  <a:gd name="T25" fmla="*/ 117 h 142"/>
                  <a:gd name="T26" fmla="*/ 54 w 73"/>
                  <a:gd name="T27" fmla="*/ 129 h 142"/>
                  <a:gd name="T28" fmla="*/ 48 w 73"/>
                  <a:gd name="T29" fmla="*/ 129 h 142"/>
                  <a:gd name="T30" fmla="*/ 42 w 73"/>
                  <a:gd name="T31" fmla="*/ 135 h 142"/>
                  <a:gd name="T32" fmla="*/ 30 w 73"/>
                  <a:gd name="T33" fmla="*/ 141 h 142"/>
                  <a:gd name="T34" fmla="*/ 30 w 73"/>
                  <a:gd name="T35" fmla="*/ 129 h 142"/>
                  <a:gd name="T36" fmla="*/ 24 w 73"/>
                  <a:gd name="T37" fmla="*/ 129 h 142"/>
                  <a:gd name="T38" fmla="*/ 36 w 73"/>
                  <a:gd name="T39" fmla="*/ 123 h 142"/>
                  <a:gd name="T40" fmla="*/ 36 w 73"/>
                  <a:gd name="T41" fmla="*/ 117 h 142"/>
                  <a:gd name="T42" fmla="*/ 54 w 73"/>
                  <a:gd name="T43" fmla="*/ 104 h 142"/>
                  <a:gd name="T44" fmla="*/ 54 w 73"/>
                  <a:gd name="T45" fmla="*/ 86 h 142"/>
                  <a:gd name="T46" fmla="*/ 54 w 73"/>
                  <a:gd name="T47" fmla="*/ 74 h 142"/>
                  <a:gd name="T48" fmla="*/ 42 w 73"/>
                  <a:gd name="T49" fmla="*/ 61 h 142"/>
                  <a:gd name="T50" fmla="*/ 18 w 73"/>
                  <a:gd name="T51" fmla="*/ 37 h 142"/>
                  <a:gd name="T52" fmla="*/ 24 w 73"/>
                  <a:gd name="T53" fmla="*/ 30 h 142"/>
                  <a:gd name="T54" fmla="*/ 24 w 73"/>
                  <a:gd name="T55" fmla="*/ 24 h 142"/>
                  <a:gd name="T56" fmla="*/ 12 w 73"/>
                  <a:gd name="T57" fmla="*/ 18 h 142"/>
                  <a:gd name="T58" fmla="*/ 0 w 73"/>
                  <a:gd name="T59" fmla="*/ 6 h 142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73"/>
                  <a:gd name="T91" fmla="*/ 0 h 142"/>
                  <a:gd name="T92" fmla="*/ 73 w 73"/>
                  <a:gd name="T93" fmla="*/ 142 h 142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73" h="142">
                    <a:moveTo>
                      <a:pt x="0" y="6"/>
                    </a:moveTo>
                    <a:lnTo>
                      <a:pt x="6" y="0"/>
                    </a:lnTo>
                    <a:lnTo>
                      <a:pt x="12" y="6"/>
                    </a:lnTo>
                    <a:lnTo>
                      <a:pt x="36" y="0"/>
                    </a:lnTo>
                    <a:lnTo>
                      <a:pt x="48" y="0"/>
                    </a:lnTo>
                    <a:lnTo>
                      <a:pt x="48" y="12"/>
                    </a:lnTo>
                    <a:lnTo>
                      <a:pt x="60" y="18"/>
                    </a:lnTo>
                    <a:lnTo>
                      <a:pt x="48" y="18"/>
                    </a:lnTo>
                    <a:lnTo>
                      <a:pt x="36" y="30"/>
                    </a:lnTo>
                    <a:lnTo>
                      <a:pt x="36" y="43"/>
                    </a:lnTo>
                    <a:lnTo>
                      <a:pt x="66" y="80"/>
                    </a:lnTo>
                    <a:lnTo>
                      <a:pt x="72" y="92"/>
                    </a:lnTo>
                    <a:lnTo>
                      <a:pt x="66" y="117"/>
                    </a:lnTo>
                    <a:lnTo>
                      <a:pt x="54" y="129"/>
                    </a:lnTo>
                    <a:lnTo>
                      <a:pt x="48" y="129"/>
                    </a:lnTo>
                    <a:lnTo>
                      <a:pt x="42" y="135"/>
                    </a:lnTo>
                    <a:lnTo>
                      <a:pt x="30" y="141"/>
                    </a:lnTo>
                    <a:lnTo>
                      <a:pt x="30" y="129"/>
                    </a:lnTo>
                    <a:lnTo>
                      <a:pt x="24" y="129"/>
                    </a:lnTo>
                    <a:lnTo>
                      <a:pt x="36" y="123"/>
                    </a:lnTo>
                    <a:lnTo>
                      <a:pt x="36" y="117"/>
                    </a:lnTo>
                    <a:lnTo>
                      <a:pt x="54" y="104"/>
                    </a:lnTo>
                    <a:lnTo>
                      <a:pt x="54" y="86"/>
                    </a:lnTo>
                    <a:lnTo>
                      <a:pt x="54" y="74"/>
                    </a:lnTo>
                    <a:lnTo>
                      <a:pt x="42" y="61"/>
                    </a:lnTo>
                    <a:lnTo>
                      <a:pt x="18" y="37"/>
                    </a:lnTo>
                    <a:lnTo>
                      <a:pt x="24" y="30"/>
                    </a:lnTo>
                    <a:lnTo>
                      <a:pt x="24" y="24"/>
                    </a:lnTo>
                    <a:lnTo>
                      <a:pt x="12" y="18"/>
                    </a:lnTo>
                    <a:lnTo>
                      <a:pt x="0" y="6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20" name="Freeform 99">
                <a:extLst>
                  <a:ext uri="{FF2B5EF4-FFF2-40B4-BE49-F238E27FC236}">
                    <a16:creationId xmlns:a16="http://schemas.microsoft.com/office/drawing/2014/main" id="{DF1BEADD-AB9B-4EF0-925E-1800738A101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685782" y="3585431"/>
                <a:ext cx="124836" cy="67492"/>
              </a:xfrm>
              <a:custGeom>
                <a:avLst/>
                <a:gdLst>
                  <a:gd name="T0" fmla="*/ 18 w 49"/>
                  <a:gd name="T1" fmla="*/ 38 h 39"/>
                  <a:gd name="T2" fmla="*/ 30 w 49"/>
                  <a:gd name="T3" fmla="*/ 38 h 39"/>
                  <a:gd name="T4" fmla="*/ 30 w 49"/>
                  <a:gd name="T5" fmla="*/ 32 h 39"/>
                  <a:gd name="T6" fmla="*/ 48 w 49"/>
                  <a:gd name="T7" fmla="*/ 19 h 39"/>
                  <a:gd name="T8" fmla="*/ 48 w 49"/>
                  <a:gd name="T9" fmla="*/ 0 h 39"/>
                  <a:gd name="T10" fmla="*/ 36 w 49"/>
                  <a:gd name="T11" fmla="*/ 0 h 39"/>
                  <a:gd name="T12" fmla="*/ 36 w 49"/>
                  <a:gd name="T13" fmla="*/ 6 h 39"/>
                  <a:gd name="T14" fmla="*/ 24 w 49"/>
                  <a:gd name="T15" fmla="*/ 0 h 39"/>
                  <a:gd name="T16" fmla="*/ 6 w 49"/>
                  <a:gd name="T17" fmla="*/ 6 h 39"/>
                  <a:gd name="T18" fmla="*/ 0 w 49"/>
                  <a:gd name="T19" fmla="*/ 12 h 39"/>
                  <a:gd name="T20" fmla="*/ 6 w 49"/>
                  <a:gd name="T21" fmla="*/ 32 h 39"/>
                  <a:gd name="T22" fmla="*/ 6 w 49"/>
                  <a:gd name="T23" fmla="*/ 38 h 39"/>
                  <a:gd name="T24" fmla="*/ 18 w 49"/>
                  <a:gd name="T25" fmla="*/ 38 h 39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49"/>
                  <a:gd name="T40" fmla="*/ 0 h 39"/>
                  <a:gd name="T41" fmla="*/ 49 w 49"/>
                  <a:gd name="T42" fmla="*/ 39 h 39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49" h="39">
                    <a:moveTo>
                      <a:pt x="18" y="38"/>
                    </a:moveTo>
                    <a:lnTo>
                      <a:pt x="30" y="38"/>
                    </a:lnTo>
                    <a:lnTo>
                      <a:pt x="30" y="32"/>
                    </a:lnTo>
                    <a:lnTo>
                      <a:pt x="48" y="19"/>
                    </a:lnTo>
                    <a:lnTo>
                      <a:pt x="48" y="0"/>
                    </a:lnTo>
                    <a:lnTo>
                      <a:pt x="36" y="0"/>
                    </a:lnTo>
                    <a:lnTo>
                      <a:pt x="36" y="6"/>
                    </a:lnTo>
                    <a:lnTo>
                      <a:pt x="24" y="0"/>
                    </a:lnTo>
                    <a:lnTo>
                      <a:pt x="6" y="6"/>
                    </a:lnTo>
                    <a:lnTo>
                      <a:pt x="0" y="12"/>
                    </a:lnTo>
                    <a:lnTo>
                      <a:pt x="6" y="32"/>
                    </a:lnTo>
                    <a:lnTo>
                      <a:pt x="6" y="38"/>
                    </a:lnTo>
                    <a:lnTo>
                      <a:pt x="18" y="38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21" name="Freeform 100">
                <a:extLst>
                  <a:ext uri="{FF2B5EF4-FFF2-40B4-BE49-F238E27FC236}">
                    <a16:creationId xmlns:a16="http://schemas.microsoft.com/office/drawing/2014/main" id="{55A78016-1A72-44DF-B71D-EBE96F4804A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619542" y="3715228"/>
                <a:ext cx="112099" cy="98645"/>
              </a:xfrm>
              <a:custGeom>
                <a:avLst/>
                <a:gdLst>
                  <a:gd name="T0" fmla="*/ 18 w 44"/>
                  <a:gd name="T1" fmla="*/ 6 h 57"/>
                  <a:gd name="T2" fmla="*/ 12 w 44"/>
                  <a:gd name="T3" fmla="*/ 12 h 57"/>
                  <a:gd name="T4" fmla="*/ 12 w 44"/>
                  <a:gd name="T5" fmla="*/ 6 h 57"/>
                  <a:gd name="T6" fmla="*/ 0 w 44"/>
                  <a:gd name="T7" fmla="*/ 0 h 57"/>
                  <a:gd name="T8" fmla="*/ 0 w 44"/>
                  <a:gd name="T9" fmla="*/ 6 h 57"/>
                  <a:gd name="T10" fmla="*/ 6 w 44"/>
                  <a:gd name="T11" fmla="*/ 25 h 57"/>
                  <a:gd name="T12" fmla="*/ 12 w 44"/>
                  <a:gd name="T13" fmla="*/ 44 h 57"/>
                  <a:gd name="T14" fmla="*/ 31 w 44"/>
                  <a:gd name="T15" fmla="*/ 56 h 57"/>
                  <a:gd name="T16" fmla="*/ 43 w 44"/>
                  <a:gd name="T17" fmla="*/ 56 h 57"/>
                  <a:gd name="T18" fmla="*/ 31 w 44"/>
                  <a:gd name="T19" fmla="*/ 37 h 57"/>
                  <a:gd name="T20" fmla="*/ 31 w 44"/>
                  <a:gd name="T21" fmla="*/ 18 h 57"/>
                  <a:gd name="T22" fmla="*/ 18 w 44"/>
                  <a:gd name="T23" fmla="*/ 6 h 5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44"/>
                  <a:gd name="T37" fmla="*/ 0 h 57"/>
                  <a:gd name="T38" fmla="*/ 44 w 44"/>
                  <a:gd name="T39" fmla="*/ 57 h 57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44" h="57">
                    <a:moveTo>
                      <a:pt x="18" y="6"/>
                    </a:moveTo>
                    <a:lnTo>
                      <a:pt x="12" y="12"/>
                    </a:lnTo>
                    <a:lnTo>
                      <a:pt x="12" y="6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6" y="25"/>
                    </a:lnTo>
                    <a:lnTo>
                      <a:pt x="12" y="44"/>
                    </a:lnTo>
                    <a:lnTo>
                      <a:pt x="31" y="56"/>
                    </a:lnTo>
                    <a:lnTo>
                      <a:pt x="43" y="56"/>
                    </a:lnTo>
                    <a:lnTo>
                      <a:pt x="31" y="37"/>
                    </a:lnTo>
                    <a:lnTo>
                      <a:pt x="31" y="18"/>
                    </a:lnTo>
                    <a:lnTo>
                      <a:pt x="18" y="6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22" name="Freeform 101">
                <a:extLst>
                  <a:ext uri="{FF2B5EF4-FFF2-40B4-BE49-F238E27FC236}">
                    <a16:creationId xmlns:a16="http://schemas.microsoft.com/office/drawing/2014/main" id="{78BD5679-08DF-4AEC-8025-0934FFE3E0D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856478" y="3715228"/>
                <a:ext cx="254770" cy="98645"/>
              </a:xfrm>
              <a:custGeom>
                <a:avLst/>
                <a:gdLst>
                  <a:gd name="T0" fmla="*/ 62 w 100"/>
                  <a:gd name="T1" fmla="*/ 18 h 57"/>
                  <a:gd name="T2" fmla="*/ 62 w 100"/>
                  <a:gd name="T3" fmla="*/ 25 h 57"/>
                  <a:gd name="T4" fmla="*/ 56 w 100"/>
                  <a:gd name="T5" fmla="*/ 25 h 57"/>
                  <a:gd name="T6" fmla="*/ 49 w 100"/>
                  <a:gd name="T7" fmla="*/ 31 h 57"/>
                  <a:gd name="T8" fmla="*/ 43 w 100"/>
                  <a:gd name="T9" fmla="*/ 25 h 57"/>
                  <a:gd name="T10" fmla="*/ 31 w 100"/>
                  <a:gd name="T11" fmla="*/ 37 h 57"/>
                  <a:gd name="T12" fmla="*/ 18 w 100"/>
                  <a:gd name="T13" fmla="*/ 44 h 57"/>
                  <a:gd name="T14" fmla="*/ 18 w 100"/>
                  <a:gd name="T15" fmla="*/ 56 h 57"/>
                  <a:gd name="T16" fmla="*/ 0 w 100"/>
                  <a:gd name="T17" fmla="*/ 50 h 57"/>
                  <a:gd name="T18" fmla="*/ 12 w 100"/>
                  <a:gd name="T19" fmla="*/ 56 h 57"/>
                  <a:gd name="T20" fmla="*/ 24 w 100"/>
                  <a:gd name="T21" fmla="*/ 56 h 57"/>
                  <a:gd name="T22" fmla="*/ 31 w 100"/>
                  <a:gd name="T23" fmla="*/ 56 h 57"/>
                  <a:gd name="T24" fmla="*/ 43 w 100"/>
                  <a:gd name="T25" fmla="*/ 56 h 57"/>
                  <a:gd name="T26" fmla="*/ 56 w 100"/>
                  <a:gd name="T27" fmla="*/ 50 h 57"/>
                  <a:gd name="T28" fmla="*/ 68 w 100"/>
                  <a:gd name="T29" fmla="*/ 25 h 57"/>
                  <a:gd name="T30" fmla="*/ 87 w 100"/>
                  <a:gd name="T31" fmla="*/ 25 h 57"/>
                  <a:gd name="T32" fmla="*/ 93 w 100"/>
                  <a:gd name="T33" fmla="*/ 25 h 57"/>
                  <a:gd name="T34" fmla="*/ 87 w 100"/>
                  <a:gd name="T35" fmla="*/ 18 h 57"/>
                  <a:gd name="T36" fmla="*/ 99 w 100"/>
                  <a:gd name="T37" fmla="*/ 18 h 57"/>
                  <a:gd name="T38" fmla="*/ 87 w 100"/>
                  <a:gd name="T39" fmla="*/ 12 h 57"/>
                  <a:gd name="T40" fmla="*/ 87 w 100"/>
                  <a:gd name="T41" fmla="*/ 6 h 57"/>
                  <a:gd name="T42" fmla="*/ 74 w 100"/>
                  <a:gd name="T43" fmla="*/ 0 h 57"/>
                  <a:gd name="T44" fmla="*/ 62 w 100"/>
                  <a:gd name="T45" fmla="*/ 18 h 57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100"/>
                  <a:gd name="T70" fmla="*/ 0 h 57"/>
                  <a:gd name="T71" fmla="*/ 100 w 100"/>
                  <a:gd name="T72" fmla="*/ 57 h 57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100" h="57">
                    <a:moveTo>
                      <a:pt x="62" y="18"/>
                    </a:moveTo>
                    <a:lnTo>
                      <a:pt x="62" y="25"/>
                    </a:lnTo>
                    <a:lnTo>
                      <a:pt x="56" y="25"/>
                    </a:lnTo>
                    <a:lnTo>
                      <a:pt x="49" y="31"/>
                    </a:lnTo>
                    <a:lnTo>
                      <a:pt x="43" y="25"/>
                    </a:lnTo>
                    <a:lnTo>
                      <a:pt x="31" y="37"/>
                    </a:lnTo>
                    <a:lnTo>
                      <a:pt x="18" y="44"/>
                    </a:lnTo>
                    <a:lnTo>
                      <a:pt x="18" y="56"/>
                    </a:lnTo>
                    <a:lnTo>
                      <a:pt x="0" y="50"/>
                    </a:lnTo>
                    <a:lnTo>
                      <a:pt x="12" y="56"/>
                    </a:lnTo>
                    <a:lnTo>
                      <a:pt x="24" y="56"/>
                    </a:lnTo>
                    <a:lnTo>
                      <a:pt x="31" y="56"/>
                    </a:lnTo>
                    <a:lnTo>
                      <a:pt x="43" y="56"/>
                    </a:lnTo>
                    <a:lnTo>
                      <a:pt x="56" y="50"/>
                    </a:lnTo>
                    <a:lnTo>
                      <a:pt x="68" y="25"/>
                    </a:lnTo>
                    <a:lnTo>
                      <a:pt x="87" y="25"/>
                    </a:lnTo>
                    <a:lnTo>
                      <a:pt x="93" y="25"/>
                    </a:lnTo>
                    <a:lnTo>
                      <a:pt x="87" y="18"/>
                    </a:lnTo>
                    <a:lnTo>
                      <a:pt x="99" y="18"/>
                    </a:lnTo>
                    <a:lnTo>
                      <a:pt x="87" y="12"/>
                    </a:lnTo>
                    <a:lnTo>
                      <a:pt x="87" y="6"/>
                    </a:lnTo>
                    <a:lnTo>
                      <a:pt x="74" y="0"/>
                    </a:lnTo>
                    <a:lnTo>
                      <a:pt x="62" y="18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23" name="Freeform 102">
                <a:extLst>
                  <a:ext uri="{FF2B5EF4-FFF2-40B4-BE49-F238E27FC236}">
                    <a16:creationId xmlns:a16="http://schemas.microsoft.com/office/drawing/2014/main" id="{D671189D-5012-4272-B9D4-732B47DE05D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968577" y="3748109"/>
                <a:ext cx="48404" cy="31151"/>
              </a:xfrm>
              <a:custGeom>
                <a:avLst/>
                <a:gdLst>
                  <a:gd name="T0" fmla="*/ 0 w 19"/>
                  <a:gd name="T1" fmla="*/ 8 h 18"/>
                  <a:gd name="T2" fmla="*/ 6 w 19"/>
                  <a:gd name="T3" fmla="*/ 17 h 18"/>
                  <a:gd name="T4" fmla="*/ 12 w 19"/>
                  <a:gd name="T5" fmla="*/ 8 h 18"/>
                  <a:gd name="T6" fmla="*/ 18 w 19"/>
                  <a:gd name="T7" fmla="*/ 8 h 18"/>
                  <a:gd name="T8" fmla="*/ 12 w 19"/>
                  <a:gd name="T9" fmla="*/ 0 h 18"/>
                  <a:gd name="T10" fmla="*/ 0 w 19"/>
                  <a:gd name="T11" fmla="*/ 8 h 1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9"/>
                  <a:gd name="T19" fmla="*/ 0 h 18"/>
                  <a:gd name="T20" fmla="*/ 19 w 19"/>
                  <a:gd name="T21" fmla="*/ 18 h 1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9" h="18">
                    <a:moveTo>
                      <a:pt x="0" y="8"/>
                    </a:moveTo>
                    <a:lnTo>
                      <a:pt x="6" y="17"/>
                    </a:lnTo>
                    <a:lnTo>
                      <a:pt x="12" y="8"/>
                    </a:lnTo>
                    <a:lnTo>
                      <a:pt x="18" y="8"/>
                    </a:lnTo>
                    <a:lnTo>
                      <a:pt x="12" y="0"/>
                    </a:lnTo>
                    <a:lnTo>
                      <a:pt x="0" y="8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24" name="Freeform 103">
                <a:extLst>
                  <a:ext uri="{FF2B5EF4-FFF2-40B4-BE49-F238E27FC236}">
                    <a16:creationId xmlns:a16="http://schemas.microsoft.com/office/drawing/2014/main" id="{432EF9E9-4273-4B96-8FD8-5DDF51565F8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841193" y="3758493"/>
                <a:ext cx="254770" cy="140180"/>
              </a:xfrm>
              <a:custGeom>
                <a:avLst/>
                <a:gdLst>
                  <a:gd name="T0" fmla="*/ 6 w 100"/>
                  <a:gd name="T1" fmla="*/ 24 h 81"/>
                  <a:gd name="T2" fmla="*/ 18 w 100"/>
                  <a:gd name="T3" fmla="*/ 31 h 81"/>
                  <a:gd name="T4" fmla="*/ 31 w 100"/>
                  <a:gd name="T5" fmla="*/ 31 h 81"/>
                  <a:gd name="T6" fmla="*/ 37 w 100"/>
                  <a:gd name="T7" fmla="*/ 31 h 81"/>
                  <a:gd name="T8" fmla="*/ 49 w 100"/>
                  <a:gd name="T9" fmla="*/ 31 h 81"/>
                  <a:gd name="T10" fmla="*/ 56 w 100"/>
                  <a:gd name="T11" fmla="*/ 24 h 81"/>
                  <a:gd name="T12" fmla="*/ 74 w 100"/>
                  <a:gd name="T13" fmla="*/ 0 h 81"/>
                  <a:gd name="T14" fmla="*/ 93 w 100"/>
                  <a:gd name="T15" fmla="*/ 0 h 81"/>
                  <a:gd name="T16" fmla="*/ 87 w 100"/>
                  <a:gd name="T17" fmla="*/ 12 h 81"/>
                  <a:gd name="T18" fmla="*/ 93 w 100"/>
                  <a:gd name="T19" fmla="*/ 18 h 81"/>
                  <a:gd name="T20" fmla="*/ 93 w 100"/>
                  <a:gd name="T21" fmla="*/ 24 h 81"/>
                  <a:gd name="T22" fmla="*/ 99 w 100"/>
                  <a:gd name="T23" fmla="*/ 37 h 81"/>
                  <a:gd name="T24" fmla="*/ 93 w 100"/>
                  <a:gd name="T25" fmla="*/ 37 h 81"/>
                  <a:gd name="T26" fmla="*/ 87 w 100"/>
                  <a:gd name="T27" fmla="*/ 56 h 81"/>
                  <a:gd name="T28" fmla="*/ 74 w 100"/>
                  <a:gd name="T29" fmla="*/ 62 h 81"/>
                  <a:gd name="T30" fmla="*/ 81 w 100"/>
                  <a:gd name="T31" fmla="*/ 68 h 81"/>
                  <a:gd name="T32" fmla="*/ 74 w 100"/>
                  <a:gd name="T33" fmla="*/ 74 h 81"/>
                  <a:gd name="T34" fmla="*/ 62 w 100"/>
                  <a:gd name="T35" fmla="*/ 80 h 81"/>
                  <a:gd name="T36" fmla="*/ 56 w 100"/>
                  <a:gd name="T37" fmla="*/ 74 h 81"/>
                  <a:gd name="T38" fmla="*/ 43 w 100"/>
                  <a:gd name="T39" fmla="*/ 74 h 81"/>
                  <a:gd name="T40" fmla="*/ 31 w 100"/>
                  <a:gd name="T41" fmla="*/ 80 h 81"/>
                  <a:gd name="T42" fmla="*/ 31 w 100"/>
                  <a:gd name="T43" fmla="*/ 68 h 81"/>
                  <a:gd name="T44" fmla="*/ 18 w 100"/>
                  <a:gd name="T45" fmla="*/ 74 h 81"/>
                  <a:gd name="T46" fmla="*/ 12 w 100"/>
                  <a:gd name="T47" fmla="*/ 56 h 81"/>
                  <a:gd name="T48" fmla="*/ 6 w 100"/>
                  <a:gd name="T49" fmla="*/ 49 h 81"/>
                  <a:gd name="T50" fmla="*/ 0 w 100"/>
                  <a:gd name="T51" fmla="*/ 31 h 81"/>
                  <a:gd name="T52" fmla="*/ 6 w 100"/>
                  <a:gd name="T53" fmla="*/ 24 h 81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100"/>
                  <a:gd name="T82" fmla="*/ 0 h 81"/>
                  <a:gd name="T83" fmla="*/ 100 w 100"/>
                  <a:gd name="T84" fmla="*/ 81 h 81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T81" t="T82" r="T83" b="T84"/>
                <a:pathLst>
                  <a:path w="100" h="81">
                    <a:moveTo>
                      <a:pt x="6" y="24"/>
                    </a:moveTo>
                    <a:lnTo>
                      <a:pt x="18" y="31"/>
                    </a:lnTo>
                    <a:lnTo>
                      <a:pt x="31" y="31"/>
                    </a:lnTo>
                    <a:lnTo>
                      <a:pt x="37" y="31"/>
                    </a:lnTo>
                    <a:lnTo>
                      <a:pt x="49" y="31"/>
                    </a:lnTo>
                    <a:lnTo>
                      <a:pt x="56" y="24"/>
                    </a:lnTo>
                    <a:lnTo>
                      <a:pt x="74" y="0"/>
                    </a:lnTo>
                    <a:lnTo>
                      <a:pt x="93" y="0"/>
                    </a:lnTo>
                    <a:lnTo>
                      <a:pt x="87" y="12"/>
                    </a:lnTo>
                    <a:lnTo>
                      <a:pt x="93" y="18"/>
                    </a:lnTo>
                    <a:lnTo>
                      <a:pt x="93" y="24"/>
                    </a:lnTo>
                    <a:lnTo>
                      <a:pt x="99" y="37"/>
                    </a:lnTo>
                    <a:lnTo>
                      <a:pt x="93" y="37"/>
                    </a:lnTo>
                    <a:lnTo>
                      <a:pt x="87" y="56"/>
                    </a:lnTo>
                    <a:lnTo>
                      <a:pt x="74" y="62"/>
                    </a:lnTo>
                    <a:lnTo>
                      <a:pt x="81" y="68"/>
                    </a:lnTo>
                    <a:lnTo>
                      <a:pt x="74" y="74"/>
                    </a:lnTo>
                    <a:lnTo>
                      <a:pt x="62" y="80"/>
                    </a:lnTo>
                    <a:lnTo>
                      <a:pt x="56" y="74"/>
                    </a:lnTo>
                    <a:lnTo>
                      <a:pt x="43" y="74"/>
                    </a:lnTo>
                    <a:lnTo>
                      <a:pt x="31" y="80"/>
                    </a:lnTo>
                    <a:lnTo>
                      <a:pt x="31" y="68"/>
                    </a:lnTo>
                    <a:lnTo>
                      <a:pt x="18" y="74"/>
                    </a:lnTo>
                    <a:lnTo>
                      <a:pt x="12" y="56"/>
                    </a:lnTo>
                    <a:lnTo>
                      <a:pt x="6" y="49"/>
                    </a:lnTo>
                    <a:lnTo>
                      <a:pt x="0" y="31"/>
                    </a:lnTo>
                    <a:lnTo>
                      <a:pt x="6" y="24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25" name="Freeform 104">
                <a:extLst>
                  <a:ext uri="{FF2B5EF4-FFF2-40B4-BE49-F238E27FC236}">
                    <a16:creationId xmlns:a16="http://schemas.microsoft.com/office/drawing/2014/main" id="{62D19E4D-AB7C-49FA-B11A-0E8A9583B6C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9409333" y="3834641"/>
                <a:ext cx="254770" cy="150563"/>
              </a:xfrm>
              <a:custGeom>
                <a:avLst/>
                <a:gdLst>
                  <a:gd name="T0" fmla="*/ 99 w 100"/>
                  <a:gd name="T1" fmla="*/ 24 h 87"/>
                  <a:gd name="T2" fmla="*/ 99 w 100"/>
                  <a:gd name="T3" fmla="*/ 49 h 87"/>
                  <a:gd name="T4" fmla="*/ 99 w 100"/>
                  <a:gd name="T5" fmla="*/ 86 h 87"/>
                  <a:gd name="T6" fmla="*/ 87 w 100"/>
                  <a:gd name="T7" fmla="*/ 80 h 87"/>
                  <a:gd name="T8" fmla="*/ 68 w 100"/>
                  <a:gd name="T9" fmla="*/ 80 h 87"/>
                  <a:gd name="T10" fmla="*/ 74 w 100"/>
                  <a:gd name="T11" fmla="*/ 74 h 87"/>
                  <a:gd name="T12" fmla="*/ 68 w 100"/>
                  <a:gd name="T13" fmla="*/ 55 h 87"/>
                  <a:gd name="T14" fmla="*/ 24 w 100"/>
                  <a:gd name="T15" fmla="*/ 37 h 87"/>
                  <a:gd name="T16" fmla="*/ 18 w 100"/>
                  <a:gd name="T17" fmla="*/ 37 h 87"/>
                  <a:gd name="T18" fmla="*/ 18 w 100"/>
                  <a:gd name="T19" fmla="*/ 31 h 87"/>
                  <a:gd name="T20" fmla="*/ 6 w 100"/>
                  <a:gd name="T21" fmla="*/ 24 h 87"/>
                  <a:gd name="T22" fmla="*/ 24 w 100"/>
                  <a:gd name="T23" fmla="*/ 24 h 87"/>
                  <a:gd name="T24" fmla="*/ 24 w 100"/>
                  <a:gd name="T25" fmla="*/ 18 h 87"/>
                  <a:gd name="T26" fmla="*/ 12 w 100"/>
                  <a:gd name="T27" fmla="*/ 24 h 87"/>
                  <a:gd name="T28" fmla="*/ 6 w 100"/>
                  <a:gd name="T29" fmla="*/ 12 h 87"/>
                  <a:gd name="T30" fmla="*/ 0 w 100"/>
                  <a:gd name="T31" fmla="*/ 12 h 87"/>
                  <a:gd name="T32" fmla="*/ 12 w 100"/>
                  <a:gd name="T33" fmla="*/ 0 h 87"/>
                  <a:gd name="T34" fmla="*/ 18 w 100"/>
                  <a:gd name="T35" fmla="*/ 0 h 87"/>
                  <a:gd name="T36" fmla="*/ 31 w 100"/>
                  <a:gd name="T37" fmla="*/ 6 h 87"/>
                  <a:gd name="T38" fmla="*/ 31 w 100"/>
                  <a:gd name="T39" fmla="*/ 24 h 87"/>
                  <a:gd name="T40" fmla="*/ 43 w 100"/>
                  <a:gd name="T41" fmla="*/ 31 h 87"/>
                  <a:gd name="T42" fmla="*/ 56 w 100"/>
                  <a:gd name="T43" fmla="*/ 18 h 87"/>
                  <a:gd name="T44" fmla="*/ 68 w 100"/>
                  <a:gd name="T45" fmla="*/ 12 h 87"/>
                  <a:gd name="T46" fmla="*/ 99 w 100"/>
                  <a:gd name="T47" fmla="*/ 24 h 87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100"/>
                  <a:gd name="T73" fmla="*/ 0 h 87"/>
                  <a:gd name="T74" fmla="*/ 100 w 100"/>
                  <a:gd name="T75" fmla="*/ 87 h 87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100" h="87">
                    <a:moveTo>
                      <a:pt x="99" y="24"/>
                    </a:moveTo>
                    <a:lnTo>
                      <a:pt x="99" y="49"/>
                    </a:lnTo>
                    <a:lnTo>
                      <a:pt x="99" y="86"/>
                    </a:lnTo>
                    <a:lnTo>
                      <a:pt x="87" y="80"/>
                    </a:lnTo>
                    <a:lnTo>
                      <a:pt x="68" y="80"/>
                    </a:lnTo>
                    <a:lnTo>
                      <a:pt x="74" y="74"/>
                    </a:lnTo>
                    <a:lnTo>
                      <a:pt x="68" y="55"/>
                    </a:lnTo>
                    <a:lnTo>
                      <a:pt x="24" y="37"/>
                    </a:lnTo>
                    <a:lnTo>
                      <a:pt x="18" y="37"/>
                    </a:lnTo>
                    <a:lnTo>
                      <a:pt x="18" y="31"/>
                    </a:lnTo>
                    <a:lnTo>
                      <a:pt x="6" y="24"/>
                    </a:lnTo>
                    <a:lnTo>
                      <a:pt x="24" y="24"/>
                    </a:lnTo>
                    <a:lnTo>
                      <a:pt x="24" y="18"/>
                    </a:lnTo>
                    <a:lnTo>
                      <a:pt x="12" y="24"/>
                    </a:lnTo>
                    <a:lnTo>
                      <a:pt x="6" y="12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18" y="0"/>
                    </a:lnTo>
                    <a:lnTo>
                      <a:pt x="31" y="6"/>
                    </a:lnTo>
                    <a:lnTo>
                      <a:pt x="31" y="24"/>
                    </a:lnTo>
                    <a:lnTo>
                      <a:pt x="43" y="31"/>
                    </a:lnTo>
                    <a:lnTo>
                      <a:pt x="56" y="18"/>
                    </a:lnTo>
                    <a:lnTo>
                      <a:pt x="68" y="12"/>
                    </a:lnTo>
                    <a:lnTo>
                      <a:pt x="99" y="24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26" name="Freeform 105">
                <a:extLst>
                  <a:ext uri="{FF2B5EF4-FFF2-40B4-BE49-F238E27FC236}">
                    <a16:creationId xmlns:a16="http://schemas.microsoft.com/office/drawing/2014/main" id="{AB0D63F0-DD73-4951-866A-EC467899C76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9664103" y="3876175"/>
                <a:ext cx="252222" cy="141910"/>
              </a:xfrm>
              <a:custGeom>
                <a:avLst/>
                <a:gdLst>
                  <a:gd name="T0" fmla="*/ 6 w 99"/>
                  <a:gd name="T1" fmla="*/ 63 h 82"/>
                  <a:gd name="T2" fmla="*/ 0 w 99"/>
                  <a:gd name="T3" fmla="*/ 25 h 82"/>
                  <a:gd name="T4" fmla="*/ 0 w 99"/>
                  <a:gd name="T5" fmla="*/ 0 h 82"/>
                  <a:gd name="T6" fmla="*/ 24 w 99"/>
                  <a:gd name="T7" fmla="*/ 6 h 82"/>
                  <a:gd name="T8" fmla="*/ 43 w 99"/>
                  <a:gd name="T9" fmla="*/ 18 h 82"/>
                  <a:gd name="T10" fmla="*/ 49 w 99"/>
                  <a:gd name="T11" fmla="*/ 31 h 82"/>
                  <a:gd name="T12" fmla="*/ 68 w 99"/>
                  <a:gd name="T13" fmla="*/ 37 h 82"/>
                  <a:gd name="T14" fmla="*/ 61 w 99"/>
                  <a:gd name="T15" fmla="*/ 44 h 82"/>
                  <a:gd name="T16" fmla="*/ 74 w 99"/>
                  <a:gd name="T17" fmla="*/ 56 h 82"/>
                  <a:gd name="T18" fmla="*/ 74 w 99"/>
                  <a:gd name="T19" fmla="*/ 63 h 82"/>
                  <a:gd name="T20" fmla="*/ 80 w 99"/>
                  <a:gd name="T21" fmla="*/ 63 h 82"/>
                  <a:gd name="T22" fmla="*/ 80 w 99"/>
                  <a:gd name="T23" fmla="*/ 69 h 82"/>
                  <a:gd name="T24" fmla="*/ 98 w 99"/>
                  <a:gd name="T25" fmla="*/ 75 h 82"/>
                  <a:gd name="T26" fmla="*/ 98 w 99"/>
                  <a:gd name="T27" fmla="*/ 81 h 82"/>
                  <a:gd name="T28" fmla="*/ 68 w 99"/>
                  <a:gd name="T29" fmla="*/ 75 h 82"/>
                  <a:gd name="T30" fmla="*/ 49 w 99"/>
                  <a:gd name="T31" fmla="*/ 56 h 82"/>
                  <a:gd name="T32" fmla="*/ 37 w 99"/>
                  <a:gd name="T33" fmla="*/ 50 h 82"/>
                  <a:gd name="T34" fmla="*/ 30 w 99"/>
                  <a:gd name="T35" fmla="*/ 50 h 82"/>
                  <a:gd name="T36" fmla="*/ 24 w 99"/>
                  <a:gd name="T37" fmla="*/ 56 h 82"/>
                  <a:gd name="T38" fmla="*/ 24 w 99"/>
                  <a:gd name="T39" fmla="*/ 63 h 82"/>
                  <a:gd name="T40" fmla="*/ 18 w 99"/>
                  <a:gd name="T41" fmla="*/ 69 h 82"/>
                  <a:gd name="T42" fmla="*/ 6 w 99"/>
                  <a:gd name="T43" fmla="*/ 63 h 82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99"/>
                  <a:gd name="T67" fmla="*/ 0 h 82"/>
                  <a:gd name="T68" fmla="*/ 99 w 99"/>
                  <a:gd name="T69" fmla="*/ 82 h 82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99" h="82">
                    <a:moveTo>
                      <a:pt x="6" y="63"/>
                    </a:moveTo>
                    <a:lnTo>
                      <a:pt x="0" y="25"/>
                    </a:lnTo>
                    <a:lnTo>
                      <a:pt x="0" y="0"/>
                    </a:lnTo>
                    <a:lnTo>
                      <a:pt x="24" y="6"/>
                    </a:lnTo>
                    <a:lnTo>
                      <a:pt x="43" y="18"/>
                    </a:lnTo>
                    <a:lnTo>
                      <a:pt x="49" y="31"/>
                    </a:lnTo>
                    <a:lnTo>
                      <a:pt x="68" y="37"/>
                    </a:lnTo>
                    <a:lnTo>
                      <a:pt x="61" y="44"/>
                    </a:lnTo>
                    <a:lnTo>
                      <a:pt x="74" y="56"/>
                    </a:lnTo>
                    <a:lnTo>
                      <a:pt x="74" y="63"/>
                    </a:lnTo>
                    <a:lnTo>
                      <a:pt x="80" y="63"/>
                    </a:lnTo>
                    <a:lnTo>
                      <a:pt x="80" y="69"/>
                    </a:lnTo>
                    <a:lnTo>
                      <a:pt x="98" y="75"/>
                    </a:lnTo>
                    <a:lnTo>
                      <a:pt x="98" y="81"/>
                    </a:lnTo>
                    <a:lnTo>
                      <a:pt x="68" y="75"/>
                    </a:lnTo>
                    <a:lnTo>
                      <a:pt x="49" y="56"/>
                    </a:lnTo>
                    <a:lnTo>
                      <a:pt x="37" y="50"/>
                    </a:lnTo>
                    <a:lnTo>
                      <a:pt x="30" y="50"/>
                    </a:lnTo>
                    <a:lnTo>
                      <a:pt x="24" y="56"/>
                    </a:lnTo>
                    <a:lnTo>
                      <a:pt x="24" y="63"/>
                    </a:lnTo>
                    <a:lnTo>
                      <a:pt x="18" y="69"/>
                    </a:lnTo>
                    <a:lnTo>
                      <a:pt x="6" y="63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27" name="Freeform 106">
                <a:extLst>
                  <a:ext uri="{FF2B5EF4-FFF2-40B4-BE49-F238E27FC236}">
                    <a16:creationId xmlns:a16="http://schemas.microsoft.com/office/drawing/2014/main" id="{B5F46626-047B-4484-8697-94C30E5CAC3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9284495" y="3125087"/>
                <a:ext cx="78978" cy="96914"/>
              </a:xfrm>
              <a:custGeom>
                <a:avLst/>
                <a:gdLst>
                  <a:gd name="T0" fmla="*/ 6 w 31"/>
                  <a:gd name="T1" fmla="*/ 12 h 56"/>
                  <a:gd name="T2" fmla="*/ 24 w 31"/>
                  <a:gd name="T3" fmla="*/ 0 h 56"/>
                  <a:gd name="T4" fmla="*/ 30 w 31"/>
                  <a:gd name="T5" fmla="*/ 12 h 56"/>
                  <a:gd name="T6" fmla="*/ 30 w 31"/>
                  <a:gd name="T7" fmla="*/ 31 h 56"/>
                  <a:gd name="T8" fmla="*/ 30 w 31"/>
                  <a:gd name="T9" fmla="*/ 43 h 56"/>
                  <a:gd name="T10" fmla="*/ 6 w 31"/>
                  <a:gd name="T11" fmla="*/ 55 h 56"/>
                  <a:gd name="T12" fmla="*/ 0 w 31"/>
                  <a:gd name="T13" fmla="*/ 43 h 56"/>
                  <a:gd name="T14" fmla="*/ 6 w 31"/>
                  <a:gd name="T15" fmla="*/ 37 h 56"/>
                  <a:gd name="T16" fmla="*/ 0 w 31"/>
                  <a:gd name="T17" fmla="*/ 24 h 56"/>
                  <a:gd name="T18" fmla="*/ 6 w 31"/>
                  <a:gd name="T19" fmla="*/ 18 h 56"/>
                  <a:gd name="T20" fmla="*/ 6 w 31"/>
                  <a:gd name="T21" fmla="*/ 12 h 5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31"/>
                  <a:gd name="T34" fmla="*/ 0 h 56"/>
                  <a:gd name="T35" fmla="*/ 31 w 31"/>
                  <a:gd name="T36" fmla="*/ 56 h 5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31" h="56">
                    <a:moveTo>
                      <a:pt x="6" y="12"/>
                    </a:moveTo>
                    <a:lnTo>
                      <a:pt x="24" y="0"/>
                    </a:lnTo>
                    <a:lnTo>
                      <a:pt x="30" y="12"/>
                    </a:lnTo>
                    <a:lnTo>
                      <a:pt x="30" y="31"/>
                    </a:lnTo>
                    <a:lnTo>
                      <a:pt x="30" y="43"/>
                    </a:lnTo>
                    <a:lnTo>
                      <a:pt x="6" y="55"/>
                    </a:lnTo>
                    <a:lnTo>
                      <a:pt x="0" y="43"/>
                    </a:lnTo>
                    <a:lnTo>
                      <a:pt x="6" y="37"/>
                    </a:lnTo>
                    <a:lnTo>
                      <a:pt x="0" y="24"/>
                    </a:lnTo>
                    <a:lnTo>
                      <a:pt x="6" y="18"/>
                    </a:lnTo>
                    <a:lnTo>
                      <a:pt x="6" y="12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28" name="Freeform 107">
                <a:extLst>
                  <a:ext uri="{FF2B5EF4-FFF2-40B4-BE49-F238E27FC236}">
                    <a16:creationId xmlns:a16="http://schemas.microsoft.com/office/drawing/2014/main" id="{9AC1C8BB-60BA-42D4-B9A4-680B9290A6D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9238636" y="3038557"/>
                <a:ext cx="157957" cy="109028"/>
              </a:xfrm>
              <a:custGeom>
                <a:avLst/>
                <a:gdLst>
                  <a:gd name="T0" fmla="*/ 61 w 62"/>
                  <a:gd name="T1" fmla="*/ 0 h 63"/>
                  <a:gd name="T2" fmla="*/ 55 w 62"/>
                  <a:gd name="T3" fmla="*/ 0 h 63"/>
                  <a:gd name="T4" fmla="*/ 49 w 62"/>
                  <a:gd name="T5" fmla="*/ 6 h 63"/>
                  <a:gd name="T6" fmla="*/ 37 w 62"/>
                  <a:gd name="T7" fmla="*/ 6 h 63"/>
                  <a:gd name="T8" fmla="*/ 37 w 62"/>
                  <a:gd name="T9" fmla="*/ 18 h 63"/>
                  <a:gd name="T10" fmla="*/ 24 w 62"/>
                  <a:gd name="T11" fmla="*/ 12 h 63"/>
                  <a:gd name="T12" fmla="*/ 0 w 62"/>
                  <a:gd name="T13" fmla="*/ 37 h 63"/>
                  <a:gd name="T14" fmla="*/ 12 w 62"/>
                  <a:gd name="T15" fmla="*/ 44 h 63"/>
                  <a:gd name="T16" fmla="*/ 6 w 62"/>
                  <a:gd name="T17" fmla="*/ 56 h 63"/>
                  <a:gd name="T18" fmla="*/ 12 w 62"/>
                  <a:gd name="T19" fmla="*/ 62 h 63"/>
                  <a:gd name="T20" fmla="*/ 18 w 62"/>
                  <a:gd name="T21" fmla="*/ 62 h 63"/>
                  <a:gd name="T22" fmla="*/ 24 w 62"/>
                  <a:gd name="T23" fmla="*/ 62 h 63"/>
                  <a:gd name="T24" fmla="*/ 43 w 62"/>
                  <a:gd name="T25" fmla="*/ 50 h 63"/>
                  <a:gd name="T26" fmla="*/ 30 w 62"/>
                  <a:gd name="T27" fmla="*/ 44 h 63"/>
                  <a:gd name="T28" fmla="*/ 30 w 62"/>
                  <a:gd name="T29" fmla="*/ 37 h 63"/>
                  <a:gd name="T30" fmla="*/ 55 w 62"/>
                  <a:gd name="T31" fmla="*/ 25 h 63"/>
                  <a:gd name="T32" fmla="*/ 55 w 62"/>
                  <a:gd name="T33" fmla="*/ 12 h 63"/>
                  <a:gd name="T34" fmla="*/ 61 w 62"/>
                  <a:gd name="T35" fmla="*/ 0 h 63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62"/>
                  <a:gd name="T55" fmla="*/ 0 h 63"/>
                  <a:gd name="T56" fmla="*/ 62 w 62"/>
                  <a:gd name="T57" fmla="*/ 63 h 63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62" h="63">
                    <a:moveTo>
                      <a:pt x="61" y="0"/>
                    </a:moveTo>
                    <a:lnTo>
                      <a:pt x="55" y="0"/>
                    </a:lnTo>
                    <a:lnTo>
                      <a:pt x="49" y="6"/>
                    </a:lnTo>
                    <a:lnTo>
                      <a:pt x="37" y="6"/>
                    </a:lnTo>
                    <a:lnTo>
                      <a:pt x="37" y="18"/>
                    </a:lnTo>
                    <a:lnTo>
                      <a:pt x="24" y="12"/>
                    </a:lnTo>
                    <a:lnTo>
                      <a:pt x="0" y="37"/>
                    </a:lnTo>
                    <a:lnTo>
                      <a:pt x="12" y="44"/>
                    </a:lnTo>
                    <a:lnTo>
                      <a:pt x="6" y="56"/>
                    </a:lnTo>
                    <a:lnTo>
                      <a:pt x="12" y="62"/>
                    </a:lnTo>
                    <a:lnTo>
                      <a:pt x="18" y="62"/>
                    </a:lnTo>
                    <a:lnTo>
                      <a:pt x="24" y="62"/>
                    </a:lnTo>
                    <a:lnTo>
                      <a:pt x="43" y="50"/>
                    </a:lnTo>
                    <a:lnTo>
                      <a:pt x="30" y="44"/>
                    </a:lnTo>
                    <a:lnTo>
                      <a:pt x="30" y="37"/>
                    </a:lnTo>
                    <a:lnTo>
                      <a:pt x="55" y="25"/>
                    </a:lnTo>
                    <a:lnTo>
                      <a:pt x="55" y="12"/>
                    </a:lnTo>
                    <a:lnTo>
                      <a:pt x="61" y="0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29" name="Freeform 108">
                <a:extLst>
                  <a:ext uri="{FF2B5EF4-FFF2-40B4-BE49-F238E27FC236}">
                    <a16:creationId xmlns:a16="http://schemas.microsoft.com/office/drawing/2014/main" id="{9DFBE9E6-BE29-4866-953E-2F4C802CBB1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907432" y="1898082"/>
                <a:ext cx="48404" cy="32882"/>
              </a:xfrm>
              <a:custGeom>
                <a:avLst/>
                <a:gdLst>
                  <a:gd name="T0" fmla="*/ 18 w 19"/>
                  <a:gd name="T1" fmla="*/ 18 h 19"/>
                  <a:gd name="T2" fmla="*/ 18 w 19"/>
                  <a:gd name="T3" fmla="*/ 6 h 19"/>
                  <a:gd name="T4" fmla="*/ 6 w 19"/>
                  <a:gd name="T5" fmla="*/ 0 h 19"/>
                  <a:gd name="T6" fmla="*/ 0 w 19"/>
                  <a:gd name="T7" fmla="*/ 6 h 19"/>
                  <a:gd name="T8" fmla="*/ 18 w 19"/>
                  <a:gd name="T9" fmla="*/ 18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"/>
                  <a:gd name="T16" fmla="*/ 0 h 19"/>
                  <a:gd name="T17" fmla="*/ 19 w 19"/>
                  <a:gd name="T18" fmla="*/ 19 h 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" h="19">
                    <a:moveTo>
                      <a:pt x="18" y="18"/>
                    </a:moveTo>
                    <a:lnTo>
                      <a:pt x="18" y="6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18" y="18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30" name="Freeform 109">
                <a:extLst>
                  <a:ext uri="{FF2B5EF4-FFF2-40B4-BE49-F238E27FC236}">
                    <a16:creationId xmlns:a16="http://schemas.microsoft.com/office/drawing/2014/main" id="{62758F5E-38CC-45F0-BD50-C60091A2D58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25340" y="3189122"/>
                <a:ext cx="300631" cy="160948"/>
              </a:xfrm>
              <a:custGeom>
                <a:avLst/>
                <a:gdLst>
                  <a:gd name="T0" fmla="*/ 111 w 118"/>
                  <a:gd name="T1" fmla="*/ 6 h 93"/>
                  <a:gd name="T2" fmla="*/ 111 w 118"/>
                  <a:gd name="T3" fmla="*/ 12 h 93"/>
                  <a:gd name="T4" fmla="*/ 117 w 118"/>
                  <a:gd name="T5" fmla="*/ 37 h 93"/>
                  <a:gd name="T6" fmla="*/ 93 w 118"/>
                  <a:gd name="T7" fmla="*/ 43 h 93"/>
                  <a:gd name="T8" fmla="*/ 93 w 118"/>
                  <a:gd name="T9" fmla="*/ 49 h 93"/>
                  <a:gd name="T10" fmla="*/ 80 w 118"/>
                  <a:gd name="T11" fmla="*/ 68 h 93"/>
                  <a:gd name="T12" fmla="*/ 49 w 118"/>
                  <a:gd name="T13" fmla="*/ 74 h 93"/>
                  <a:gd name="T14" fmla="*/ 43 w 118"/>
                  <a:gd name="T15" fmla="*/ 80 h 93"/>
                  <a:gd name="T16" fmla="*/ 43 w 118"/>
                  <a:gd name="T17" fmla="*/ 92 h 93"/>
                  <a:gd name="T18" fmla="*/ 6 w 118"/>
                  <a:gd name="T19" fmla="*/ 92 h 93"/>
                  <a:gd name="T20" fmla="*/ 0 w 118"/>
                  <a:gd name="T21" fmla="*/ 92 h 93"/>
                  <a:gd name="T22" fmla="*/ 18 w 118"/>
                  <a:gd name="T23" fmla="*/ 86 h 93"/>
                  <a:gd name="T24" fmla="*/ 31 w 118"/>
                  <a:gd name="T25" fmla="*/ 74 h 93"/>
                  <a:gd name="T26" fmla="*/ 37 w 118"/>
                  <a:gd name="T27" fmla="*/ 61 h 93"/>
                  <a:gd name="T28" fmla="*/ 31 w 118"/>
                  <a:gd name="T29" fmla="*/ 49 h 93"/>
                  <a:gd name="T30" fmla="*/ 37 w 118"/>
                  <a:gd name="T31" fmla="*/ 37 h 93"/>
                  <a:gd name="T32" fmla="*/ 43 w 118"/>
                  <a:gd name="T33" fmla="*/ 30 h 93"/>
                  <a:gd name="T34" fmla="*/ 62 w 118"/>
                  <a:gd name="T35" fmla="*/ 18 h 93"/>
                  <a:gd name="T36" fmla="*/ 74 w 118"/>
                  <a:gd name="T37" fmla="*/ 0 h 93"/>
                  <a:gd name="T38" fmla="*/ 86 w 118"/>
                  <a:gd name="T39" fmla="*/ 6 h 93"/>
                  <a:gd name="T40" fmla="*/ 99 w 118"/>
                  <a:gd name="T41" fmla="*/ 6 h 93"/>
                  <a:gd name="T42" fmla="*/ 111 w 118"/>
                  <a:gd name="T43" fmla="*/ 6 h 93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118"/>
                  <a:gd name="T67" fmla="*/ 0 h 93"/>
                  <a:gd name="T68" fmla="*/ 118 w 118"/>
                  <a:gd name="T69" fmla="*/ 93 h 93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118" h="93">
                    <a:moveTo>
                      <a:pt x="111" y="6"/>
                    </a:moveTo>
                    <a:lnTo>
                      <a:pt x="111" y="12"/>
                    </a:lnTo>
                    <a:lnTo>
                      <a:pt x="117" y="37"/>
                    </a:lnTo>
                    <a:lnTo>
                      <a:pt x="93" y="43"/>
                    </a:lnTo>
                    <a:lnTo>
                      <a:pt x="93" y="49"/>
                    </a:lnTo>
                    <a:lnTo>
                      <a:pt x="80" y="68"/>
                    </a:lnTo>
                    <a:lnTo>
                      <a:pt x="49" y="74"/>
                    </a:lnTo>
                    <a:lnTo>
                      <a:pt x="43" y="80"/>
                    </a:lnTo>
                    <a:lnTo>
                      <a:pt x="43" y="92"/>
                    </a:lnTo>
                    <a:lnTo>
                      <a:pt x="6" y="92"/>
                    </a:lnTo>
                    <a:lnTo>
                      <a:pt x="0" y="92"/>
                    </a:lnTo>
                    <a:lnTo>
                      <a:pt x="18" y="86"/>
                    </a:lnTo>
                    <a:lnTo>
                      <a:pt x="31" y="74"/>
                    </a:lnTo>
                    <a:lnTo>
                      <a:pt x="37" y="61"/>
                    </a:lnTo>
                    <a:lnTo>
                      <a:pt x="31" y="49"/>
                    </a:lnTo>
                    <a:lnTo>
                      <a:pt x="37" y="37"/>
                    </a:lnTo>
                    <a:lnTo>
                      <a:pt x="43" y="30"/>
                    </a:lnTo>
                    <a:lnTo>
                      <a:pt x="62" y="18"/>
                    </a:lnTo>
                    <a:lnTo>
                      <a:pt x="74" y="0"/>
                    </a:lnTo>
                    <a:lnTo>
                      <a:pt x="86" y="6"/>
                    </a:lnTo>
                    <a:lnTo>
                      <a:pt x="99" y="6"/>
                    </a:lnTo>
                    <a:lnTo>
                      <a:pt x="111" y="6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31" name="Freeform 110">
                <a:extLst>
                  <a:ext uri="{FF2B5EF4-FFF2-40B4-BE49-F238E27FC236}">
                    <a16:creationId xmlns:a16="http://schemas.microsoft.com/office/drawing/2014/main" id="{ADFC5531-F5E3-4236-BF1A-6433237081C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37439" y="3157970"/>
                <a:ext cx="522281" cy="344392"/>
              </a:xfrm>
              <a:custGeom>
                <a:avLst/>
                <a:gdLst>
                  <a:gd name="T0" fmla="*/ 68 w 205"/>
                  <a:gd name="T1" fmla="*/ 24 h 199"/>
                  <a:gd name="T2" fmla="*/ 68 w 205"/>
                  <a:gd name="T3" fmla="*/ 31 h 199"/>
                  <a:gd name="T4" fmla="*/ 74 w 205"/>
                  <a:gd name="T5" fmla="*/ 55 h 199"/>
                  <a:gd name="T6" fmla="*/ 49 w 205"/>
                  <a:gd name="T7" fmla="*/ 62 h 199"/>
                  <a:gd name="T8" fmla="*/ 49 w 205"/>
                  <a:gd name="T9" fmla="*/ 68 h 199"/>
                  <a:gd name="T10" fmla="*/ 37 w 205"/>
                  <a:gd name="T11" fmla="*/ 87 h 199"/>
                  <a:gd name="T12" fmla="*/ 6 w 205"/>
                  <a:gd name="T13" fmla="*/ 93 h 199"/>
                  <a:gd name="T14" fmla="*/ 0 w 205"/>
                  <a:gd name="T15" fmla="*/ 99 h 199"/>
                  <a:gd name="T16" fmla="*/ 0 w 205"/>
                  <a:gd name="T17" fmla="*/ 111 h 199"/>
                  <a:gd name="T18" fmla="*/ 0 w 205"/>
                  <a:gd name="T19" fmla="*/ 118 h 199"/>
                  <a:gd name="T20" fmla="*/ 37 w 205"/>
                  <a:gd name="T21" fmla="*/ 136 h 199"/>
                  <a:gd name="T22" fmla="*/ 99 w 205"/>
                  <a:gd name="T23" fmla="*/ 180 h 199"/>
                  <a:gd name="T24" fmla="*/ 105 w 205"/>
                  <a:gd name="T25" fmla="*/ 186 h 199"/>
                  <a:gd name="T26" fmla="*/ 118 w 205"/>
                  <a:gd name="T27" fmla="*/ 192 h 199"/>
                  <a:gd name="T28" fmla="*/ 118 w 205"/>
                  <a:gd name="T29" fmla="*/ 198 h 199"/>
                  <a:gd name="T30" fmla="*/ 130 w 205"/>
                  <a:gd name="T31" fmla="*/ 198 h 199"/>
                  <a:gd name="T32" fmla="*/ 142 w 205"/>
                  <a:gd name="T33" fmla="*/ 198 h 199"/>
                  <a:gd name="T34" fmla="*/ 204 w 205"/>
                  <a:gd name="T35" fmla="*/ 155 h 199"/>
                  <a:gd name="T36" fmla="*/ 198 w 205"/>
                  <a:gd name="T37" fmla="*/ 149 h 199"/>
                  <a:gd name="T38" fmla="*/ 192 w 205"/>
                  <a:gd name="T39" fmla="*/ 143 h 199"/>
                  <a:gd name="T40" fmla="*/ 180 w 205"/>
                  <a:gd name="T41" fmla="*/ 124 h 199"/>
                  <a:gd name="T42" fmla="*/ 186 w 205"/>
                  <a:gd name="T43" fmla="*/ 124 h 199"/>
                  <a:gd name="T44" fmla="*/ 186 w 205"/>
                  <a:gd name="T45" fmla="*/ 111 h 199"/>
                  <a:gd name="T46" fmla="*/ 186 w 205"/>
                  <a:gd name="T47" fmla="*/ 93 h 199"/>
                  <a:gd name="T48" fmla="*/ 180 w 205"/>
                  <a:gd name="T49" fmla="*/ 87 h 199"/>
                  <a:gd name="T50" fmla="*/ 180 w 205"/>
                  <a:gd name="T51" fmla="*/ 80 h 199"/>
                  <a:gd name="T52" fmla="*/ 180 w 205"/>
                  <a:gd name="T53" fmla="*/ 62 h 199"/>
                  <a:gd name="T54" fmla="*/ 173 w 205"/>
                  <a:gd name="T55" fmla="*/ 55 h 199"/>
                  <a:gd name="T56" fmla="*/ 161 w 205"/>
                  <a:gd name="T57" fmla="*/ 43 h 199"/>
                  <a:gd name="T58" fmla="*/ 173 w 205"/>
                  <a:gd name="T59" fmla="*/ 31 h 199"/>
                  <a:gd name="T60" fmla="*/ 173 w 205"/>
                  <a:gd name="T61" fmla="*/ 6 h 199"/>
                  <a:gd name="T62" fmla="*/ 167 w 205"/>
                  <a:gd name="T63" fmla="*/ 6 h 199"/>
                  <a:gd name="T64" fmla="*/ 149 w 205"/>
                  <a:gd name="T65" fmla="*/ 0 h 199"/>
                  <a:gd name="T66" fmla="*/ 142 w 205"/>
                  <a:gd name="T67" fmla="*/ 6 h 199"/>
                  <a:gd name="T68" fmla="*/ 130 w 205"/>
                  <a:gd name="T69" fmla="*/ 6 h 199"/>
                  <a:gd name="T70" fmla="*/ 118 w 205"/>
                  <a:gd name="T71" fmla="*/ 6 h 199"/>
                  <a:gd name="T72" fmla="*/ 99 w 205"/>
                  <a:gd name="T73" fmla="*/ 6 h 199"/>
                  <a:gd name="T74" fmla="*/ 68 w 205"/>
                  <a:gd name="T75" fmla="*/ 24 h 199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205"/>
                  <a:gd name="T115" fmla="*/ 0 h 199"/>
                  <a:gd name="T116" fmla="*/ 205 w 205"/>
                  <a:gd name="T117" fmla="*/ 199 h 199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205" h="199">
                    <a:moveTo>
                      <a:pt x="68" y="24"/>
                    </a:moveTo>
                    <a:lnTo>
                      <a:pt x="68" y="31"/>
                    </a:lnTo>
                    <a:lnTo>
                      <a:pt x="74" y="55"/>
                    </a:lnTo>
                    <a:lnTo>
                      <a:pt x="49" y="62"/>
                    </a:lnTo>
                    <a:lnTo>
                      <a:pt x="49" y="68"/>
                    </a:lnTo>
                    <a:lnTo>
                      <a:pt x="37" y="87"/>
                    </a:lnTo>
                    <a:lnTo>
                      <a:pt x="6" y="93"/>
                    </a:lnTo>
                    <a:lnTo>
                      <a:pt x="0" y="99"/>
                    </a:lnTo>
                    <a:lnTo>
                      <a:pt x="0" y="111"/>
                    </a:lnTo>
                    <a:lnTo>
                      <a:pt x="0" y="118"/>
                    </a:lnTo>
                    <a:lnTo>
                      <a:pt x="37" y="136"/>
                    </a:lnTo>
                    <a:lnTo>
                      <a:pt x="99" y="180"/>
                    </a:lnTo>
                    <a:lnTo>
                      <a:pt x="105" y="186"/>
                    </a:lnTo>
                    <a:lnTo>
                      <a:pt x="118" y="192"/>
                    </a:lnTo>
                    <a:lnTo>
                      <a:pt x="118" y="198"/>
                    </a:lnTo>
                    <a:lnTo>
                      <a:pt x="130" y="198"/>
                    </a:lnTo>
                    <a:lnTo>
                      <a:pt x="142" y="198"/>
                    </a:lnTo>
                    <a:lnTo>
                      <a:pt x="204" y="155"/>
                    </a:lnTo>
                    <a:lnTo>
                      <a:pt x="198" y="149"/>
                    </a:lnTo>
                    <a:lnTo>
                      <a:pt x="192" y="143"/>
                    </a:lnTo>
                    <a:lnTo>
                      <a:pt x="180" y="124"/>
                    </a:lnTo>
                    <a:lnTo>
                      <a:pt x="186" y="124"/>
                    </a:lnTo>
                    <a:lnTo>
                      <a:pt x="186" y="111"/>
                    </a:lnTo>
                    <a:lnTo>
                      <a:pt x="186" y="93"/>
                    </a:lnTo>
                    <a:lnTo>
                      <a:pt x="180" y="87"/>
                    </a:lnTo>
                    <a:lnTo>
                      <a:pt x="180" y="80"/>
                    </a:lnTo>
                    <a:lnTo>
                      <a:pt x="180" y="62"/>
                    </a:lnTo>
                    <a:lnTo>
                      <a:pt x="173" y="55"/>
                    </a:lnTo>
                    <a:lnTo>
                      <a:pt x="161" y="43"/>
                    </a:lnTo>
                    <a:lnTo>
                      <a:pt x="173" y="31"/>
                    </a:lnTo>
                    <a:lnTo>
                      <a:pt x="173" y="6"/>
                    </a:lnTo>
                    <a:lnTo>
                      <a:pt x="167" y="6"/>
                    </a:lnTo>
                    <a:lnTo>
                      <a:pt x="149" y="0"/>
                    </a:lnTo>
                    <a:lnTo>
                      <a:pt x="142" y="6"/>
                    </a:lnTo>
                    <a:lnTo>
                      <a:pt x="130" y="6"/>
                    </a:lnTo>
                    <a:lnTo>
                      <a:pt x="118" y="6"/>
                    </a:lnTo>
                    <a:lnTo>
                      <a:pt x="99" y="6"/>
                    </a:lnTo>
                    <a:lnTo>
                      <a:pt x="68" y="24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32" name="Freeform 111">
                <a:extLst>
                  <a:ext uri="{FF2B5EF4-FFF2-40B4-BE49-F238E27FC236}">
                    <a16:creationId xmlns:a16="http://schemas.microsoft.com/office/drawing/2014/main" id="{2CE125AA-52B4-43DD-B970-AC161F3B7AF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47621" y="3157970"/>
                <a:ext cx="96813" cy="140180"/>
              </a:xfrm>
              <a:custGeom>
                <a:avLst/>
                <a:gdLst>
                  <a:gd name="T0" fmla="*/ 37 w 38"/>
                  <a:gd name="T1" fmla="*/ 49 h 81"/>
                  <a:gd name="T2" fmla="*/ 37 w 38"/>
                  <a:gd name="T3" fmla="*/ 56 h 81"/>
                  <a:gd name="T4" fmla="*/ 31 w 38"/>
                  <a:gd name="T5" fmla="*/ 68 h 81"/>
                  <a:gd name="T6" fmla="*/ 25 w 38"/>
                  <a:gd name="T7" fmla="*/ 80 h 81"/>
                  <a:gd name="T8" fmla="*/ 18 w 38"/>
                  <a:gd name="T9" fmla="*/ 80 h 81"/>
                  <a:gd name="T10" fmla="*/ 18 w 38"/>
                  <a:gd name="T11" fmla="*/ 62 h 81"/>
                  <a:gd name="T12" fmla="*/ 12 w 38"/>
                  <a:gd name="T13" fmla="*/ 56 h 81"/>
                  <a:gd name="T14" fmla="*/ 0 w 38"/>
                  <a:gd name="T15" fmla="*/ 43 h 81"/>
                  <a:gd name="T16" fmla="*/ 12 w 38"/>
                  <a:gd name="T17" fmla="*/ 31 h 81"/>
                  <a:gd name="T18" fmla="*/ 12 w 38"/>
                  <a:gd name="T19" fmla="*/ 6 h 81"/>
                  <a:gd name="T20" fmla="*/ 31 w 38"/>
                  <a:gd name="T21" fmla="*/ 0 h 81"/>
                  <a:gd name="T22" fmla="*/ 31 w 38"/>
                  <a:gd name="T23" fmla="*/ 6 h 81"/>
                  <a:gd name="T24" fmla="*/ 37 w 38"/>
                  <a:gd name="T25" fmla="*/ 6 h 81"/>
                  <a:gd name="T26" fmla="*/ 31 w 38"/>
                  <a:gd name="T27" fmla="*/ 12 h 81"/>
                  <a:gd name="T28" fmla="*/ 37 w 38"/>
                  <a:gd name="T29" fmla="*/ 24 h 81"/>
                  <a:gd name="T30" fmla="*/ 25 w 38"/>
                  <a:gd name="T31" fmla="*/ 37 h 81"/>
                  <a:gd name="T32" fmla="*/ 31 w 38"/>
                  <a:gd name="T33" fmla="*/ 43 h 81"/>
                  <a:gd name="T34" fmla="*/ 37 w 38"/>
                  <a:gd name="T35" fmla="*/ 43 h 81"/>
                  <a:gd name="T36" fmla="*/ 37 w 38"/>
                  <a:gd name="T37" fmla="*/ 49 h 81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38"/>
                  <a:gd name="T58" fmla="*/ 0 h 81"/>
                  <a:gd name="T59" fmla="*/ 38 w 38"/>
                  <a:gd name="T60" fmla="*/ 81 h 81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38" h="81">
                    <a:moveTo>
                      <a:pt x="37" y="49"/>
                    </a:moveTo>
                    <a:lnTo>
                      <a:pt x="37" y="56"/>
                    </a:lnTo>
                    <a:lnTo>
                      <a:pt x="31" y="68"/>
                    </a:lnTo>
                    <a:lnTo>
                      <a:pt x="25" y="80"/>
                    </a:lnTo>
                    <a:lnTo>
                      <a:pt x="18" y="80"/>
                    </a:lnTo>
                    <a:lnTo>
                      <a:pt x="18" y="62"/>
                    </a:lnTo>
                    <a:lnTo>
                      <a:pt x="12" y="56"/>
                    </a:lnTo>
                    <a:lnTo>
                      <a:pt x="0" y="43"/>
                    </a:lnTo>
                    <a:lnTo>
                      <a:pt x="12" y="31"/>
                    </a:lnTo>
                    <a:lnTo>
                      <a:pt x="12" y="6"/>
                    </a:lnTo>
                    <a:lnTo>
                      <a:pt x="31" y="0"/>
                    </a:lnTo>
                    <a:lnTo>
                      <a:pt x="31" y="6"/>
                    </a:lnTo>
                    <a:lnTo>
                      <a:pt x="37" y="6"/>
                    </a:lnTo>
                    <a:lnTo>
                      <a:pt x="31" y="12"/>
                    </a:lnTo>
                    <a:lnTo>
                      <a:pt x="37" y="24"/>
                    </a:lnTo>
                    <a:lnTo>
                      <a:pt x="25" y="37"/>
                    </a:lnTo>
                    <a:lnTo>
                      <a:pt x="31" y="43"/>
                    </a:lnTo>
                    <a:lnTo>
                      <a:pt x="37" y="43"/>
                    </a:lnTo>
                    <a:lnTo>
                      <a:pt x="37" y="49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33" name="Freeform 112">
                <a:extLst>
                  <a:ext uri="{FF2B5EF4-FFF2-40B4-BE49-F238E27FC236}">
                    <a16:creationId xmlns:a16="http://schemas.microsoft.com/office/drawing/2014/main" id="{6409EF3C-DBF4-4526-B17A-94671E75BF5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93482" y="3242771"/>
                <a:ext cx="412727" cy="259591"/>
              </a:xfrm>
              <a:custGeom>
                <a:avLst/>
                <a:gdLst>
                  <a:gd name="T0" fmla="*/ 24 w 162"/>
                  <a:gd name="T1" fmla="*/ 106 h 150"/>
                  <a:gd name="T2" fmla="*/ 18 w 162"/>
                  <a:gd name="T3" fmla="*/ 99 h 150"/>
                  <a:gd name="T4" fmla="*/ 12 w 162"/>
                  <a:gd name="T5" fmla="*/ 93 h 150"/>
                  <a:gd name="T6" fmla="*/ 0 w 162"/>
                  <a:gd name="T7" fmla="*/ 74 h 150"/>
                  <a:gd name="T8" fmla="*/ 6 w 162"/>
                  <a:gd name="T9" fmla="*/ 74 h 150"/>
                  <a:gd name="T10" fmla="*/ 6 w 162"/>
                  <a:gd name="T11" fmla="*/ 62 h 150"/>
                  <a:gd name="T12" fmla="*/ 6 w 162"/>
                  <a:gd name="T13" fmla="*/ 43 h 150"/>
                  <a:gd name="T14" fmla="*/ 0 w 162"/>
                  <a:gd name="T15" fmla="*/ 37 h 150"/>
                  <a:gd name="T16" fmla="*/ 0 w 162"/>
                  <a:gd name="T17" fmla="*/ 31 h 150"/>
                  <a:gd name="T18" fmla="*/ 6 w 162"/>
                  <a:gd name="T19" fmla="*/ 31 h 150"/>
                  <a:gd name="T20" fmla="*/ 6 w 162"/>
                  <a:gd name="T21" fmla="*/ 18 h 150"/>
                  <a:gd name="T22" fmla="*/ 18 w 162"/>
                  <a:gd name="T23" fmla="*/ 6 h 150"/>
                  <a:gd name="T24" fmla="*/ 18 w 162"/>
                  <a:gd name="T25" fmla="*/ 0 h 150"/>
                  <a:gd name="T26" fmla="*/ 31 w 162"/>
                  <a:gd name="T27" fmla="*/ 0 h 150"/>
                  <a:gd name="T28" fmla="*/ 49 w 162"/>
                  <a:gd name="T29" fmla="*/ 6 h 150"/>
                  <a:gd name="T30" fmla="*/ 62 w 162"/>
                  <a:gd name="T31" fmla="*/ 12 h 150"/>
                  <a:gd name="T32" fmla="*/ 62 w 162"/>
                  <a:gd name="T33" fmla="*/ 18 h 150"/>
                  <a:gd name="T34" fmla="*/ 99 w 162"/>
                  <a:gd name="T35" fmla="*/ 31 h 150"/>
                  <a:gd name="T36" fmla="*/ 105 w 162"/>
                  <a:gd name="T37" fmla="*/ 24 h 150"/>
                  <a:gd name="T38" fmla="*/ 112 w 162"/>
                  <a:gd name="T39" fmla="*/ 12 h 150"/>
                  <a:gd name="T40" fmla="*/ 130 w 162"/>
                  <a:gd name="T41" fmla="*/ 0 h 150"/>
                  <a:gd name="T42" fmla="*/ 143 w 162"/>
                  <a:gd name="T43" fmla="*/ 6 h 150"/>
                  <a:gd name="T44" fmla="*/ 143 w 162"/>
                  <a:gd name="T45" fmla="*/ 12 h 150"/>
                  <a:gd name="T46" fmla="*/ 161 w 162"/>
                  <a:gd name="T47" fmla="*/ 18 h 150"/>
                  <a:gd name="T48" fmla="*/ 155 w 162"/>
                  <a:gd name="T49" fmla="*/ 37 h 150"/>
                  <a:gd name="T50" fmla="*/ 161 w 162"/>
                  <a:gd name="T51" fmla="*/ 49 h 150"/>
                  <a:gd name="T52" fmla="*/ 161 w 162"/>
                  <a:gd name="T53" fmla="*/ 124 h 150"/>
                  <a:gd name="T54" fmla="*/ 161 w 162"/>
                  <a:gd name="T55" fmla="*/ 143 h 150"/>
                  <a:gd name="T56" fmla="*/ 149 w 162"/>
                  <a:gd name="T57" fmla="*/ 143 h 150"/>
                  <a:gd name="T58" fmla="*/ 149 w 162"/>
                  <a:gd name="T59" fmla="*/ 149 h 150"/>
                  <a:gd name="T60" fmla="*/ 68 w 162"/>
                  <a:gd name="T61" fmla="*/ 106 h 150"/>
                  <a:gd name="T62" fmla="*/ 56 w 162"/>
                  <a:gd name="T63" fmla="*/ 112 h 150"/>
                  <a:gd name="T64" fmla="*/ 49 w 162"/>
                  <a:gd name="T65" fmla="*/ 106 h 150"/>
                  <a:gd name="T66" fmla="*/ 24 w 162"/>
                  <a:gd name="T67" fmla="*/ 106 h 150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162"/>
                  <a:gd name="T103" fmla="*/ 0 h 150"/>
                  <a:gd name="T104" fmla="*/ 162 w 162"/>
                  <a:gd name="T105" fmla="*/ 150 h 150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162" h="150">
                    <a:moveTo>
                      <a:pt x="24" y="106"/>
                    </a:moveTo>
                    <a:lnTo>
                      <a:pt x="18" y="99"/>
                    </a:lnTo>
                    <a:lnTo>
                      <a:pt x="12" y="93"/>
                    </a:lnTo>
                    <a:lnTo>
                      <a:pt x="0" y="74"/>
                    </a:lnTo>
                    <a:lnTo>
                      <a:pt x="6" y="74"/>
                    </a:lnTo>
                    <a:lnTo>
                      <a:pt x="6" y="62"/>
                    </a:lnTo>
                    <a:lnTo>
                      <a:pt x="6" y="43"/>
                    </a:lnTo>
                    <a:lnTo>
                      <a:pt x="0" y="37"/>
                    </a:lnTo>
                    <a:lnTo>
                      <a:pt x="0" y="31"/>
                    </a:lnTo>
                    <a:lnTo>
                      <a:pt x="6" y="31"/>
                    </a:lnTo>
                    <a:lnTo>
                      <a:pt x="6" y="18"/>
                    </a:lnTo>
                    <a:lnTo>
                      <a:pt x="18" y="6"/>
                    </a:lnTo>
                    <a:lnTo>
                      <a:pt x="18" y="0"/>
                    </a:lnTo>
                    <a:lnTo>
                      <a:pt x="31" y="0"/>
                    </a:lnTo>
                    <a:lnTo>
                      <a:pt x="49" y="6"/>
                    </a:lnTo>
                    <a:lnTo>
                      <a:pt x="62" y="12"/>
                    </a:lnTo>
                    <a:lnTo>
                      <a:pt x="62" y="18"/>
                    </a:lnTo>
                    <a:lnTo>
                      <a:pt x="99" y="31"/>
                    </a:lnTo>
                    <a:lnTo>
                      <a:pt x="105" y="24"/>
                    </a:lnTo>
                    <a:lnTo>
                      <a:pt x="112" y="12"/>
                    </a:lnTo>
                    <a:lnTo>
                      <a:pt x="130" y="0"/>
                    </a:lnTo>
                    <a:lnTo>
                      <a:pt x="143" y="6"/>
                    </a:lnTo>
                    <a:lnTo>
                      <a:pt x="143" y="12"/>
                    </a:lnTo>
                    <a:lnTo>
                      <a:pt x="161" y="18"/>
                    </a:lnTo>
                    <a:lnTo>
                      <a:pt x="155" y="37"/>
                    </a:lnTo>
                    <a:lnTo>
                      <a:pt x="161" y="49"/>
                    </a:lnTo>
                    <a:lnTo>
                      <a:pt x="161" y="124"/>
                    </a:lnTo>
                    <a:lnTo>
                      <a:pt x="161" y="143"/>
                    </a:lnTo>
                    <a:lnTo>
                      <a:pt x="149" y="143"/>
                    </a:lnTo>
                    <a:lnTo>
                      <a:pt x="149" y="149"/>
                    </a:lnTo>
                    <a:lnTo>
                      <a:pt x="68" y="106"/>
                    </a:lnTo>
                    <a:lnTo>
                      <a:pt x="56" y="112"/>
                    </a:lnTo>
                    <a:lnTo>
                      <a:pt x="49" y="106"/>
                    </a:lnTo>
                    <a:lnTo>
                      <a:pt x="24" y="106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34" name="Freeform 113">
                <a:extLst>
                  <a:ext uri="{FF2B5EF4-FFF2-40B4-BE49-F238E27FC236}">
                    <a16:creationId xmlns:a16="http://schemas.microsoft.com/office/drawing/2014/main" id="{683D8E50-56CD-4AF9-86A7-00B973F485E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690923" y="3265268"/>
                <a:ext cx="285344" cy="193829"/>
              </a:xfrm>
              <a:custGeom>
                <a:avLst/>
                <a:gdLst>
                  <a:gd name="T0" fmla="*/ 111 w 112"/>
                  <a:gd name="T1" fmla="*/ 99 h 112"/>
                  <a:gd name="T2" fmla="*/ 93 w 112"/>
                  <a:gd name="T3" fmla="*/ 111 h 112"/>
                  <a:gd name="T4" fmla="*/ 87 w 112"/>
                  <a:gd name="T5" fmla="*/ 111 h 112"/>
                  <a:gd name="T6" fmla="*/ 6 w 112"/>
                  <a:gd name="T7" fmla="*/ 111 h 112"/>
                  <a:gd name="T8" fmla="*/ 6 w 112"/>
                  <a:gd name="T9" fmla="*/ 37 h 112"/>
                  <a:gd name="T10" fmla="*/ 0 w 112"/>
                  <a:gd name="T11" fmla="*/ 24 h 112"/>
                  <a:gd name="T12" fmla="*/ 6 w 112"/>
                  <a:gd name="T13" fmla="*/ 6 h 112"/>
                  <a:gd name="T14" fmla="*/ 6 w 112"/>
                  <a:gd name="T15" fmla="*/ 0 h 112"/>
                  <a:gd name="T16" fmla="*/ 6 w 112"/>
                  <a:gd name="T17" fmla="*/ 6 h 112"/>
                  <a:gd name="T18" fmla="*/ 24 w 112"/>
                  <a:gd name="T19" fmla="*/ 6 h 112"/>
                  <a:gd name="T20" fmla="*/ 43 w 112"/>
                  <a:gd name="T21" fmla="*/ 12 h 112"/>
                  <a:gd name="T22" fmla="*/ 68 w 112"/>
                  <a:gd name="T23" fmla="*/ 6 h 112"/>
                  <a:gd name="T24" fmla="*/ 74 w 112"/>
                  <a:gd name="T25" fmla="*/ 6 h 112"/>
                  <a:gd name="T26" fmla="*/ 74 w 112"/>
                  <a:gd name="T27" fmla="*/ 12 h 112"/>
                  <a:gd name="T28" fmla="*/ 80 w 112"/>
                  <a:gd name="T29" fmla="*/ 6 h 112"/>
                  <a:gd name="T30" fmla="*/ 80 w 112"/>
                  <a:gd name="T31" fmla="*/ 12 h 112"/>
                  <a:gd name="T32" fmla="*/ 93 w 112"/>
                  <a:gd name="T33" fmla="*/ 12 h 112"/>
                  <a:gd name="T34" fmla="*/ 105 w 112"/>
                  <a:gd name="T35" fmla="*/ 31 h 112"/>
                  <a:gd name="T36" fmla="*/ 99 w 112"/>
                  <a:gd name="T37" fmla="*/ 49 h 112"/>
                  <a:gd name="T38" fmla="*/ 87 w 112"/>
                  <a:gd name="T39" fmla="*/ 43 h 112"/>
                  <a:gd name="T40" fmla="*/ 80 w 112"/>
                  <a:gd name="T41" fmla="*/ 24 h 112"/>
                  <a:gd name="T42" fmla="*/ 80 w 112"/>
                  <a:gd name="T43" fmla="*/ 31 h 112"/>
                  <a:gd name="T44" fmla="*/ 111 w 112"/>
                  <a:gd name="T45" fmla="*/ 99 h 112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112"/>
                  <a:gd name="T70" fmla="*/ 0 h 112"/>
                  <a:gd name="T71" fmla="*/ 112 w 112"/>
                  <a:gd name="T72" fmla="*/ 112 h 112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112" h="112">
                    <a:moveTo>
                      <a:pt x="111" y="99"/>
                    </a:moveTo>
                    <a:lnTo>
                      <a:pt x="93" y="111"/>
                    </a:lnTo>
                    <a:lnTo>
                      <a:pt x="87" y="111"/>
                    </a:lnTo>
                    <a:lnTo>
                      <a:pt x="6" y="111"/>
                    </a:lnTo>
                    <a:lnTo>
                      <a:pt x="6" y="37"/>
                    </a:lnTo>
                    <a:lnTo>
                      <a:pt x="0" y="24"/>
                    </a:lnTo>
                    <a:lnTo>
                      <a:pt x="6" y="6"/>
                    </a:lnTo>
                    <a:lnTo>
                      <a:pt x="6" y="0"/>
                    </a:lnTo>
                    <a:lnTo>
                      <a:pt x="6" y="6"/>
                    </a:lnTo>
                    <a:lnTo>
                      <a:pt x="24" y="6"/>
                    </a:lnTo>
                    <a:lnTo>
                      <a:pt x="43" y="12"/>
                    </a:lnTo>
                    <a:lnTo>
                      <a:pt x="68" y="6"/>
                    </a:lnTo>
                    <a:lnTo>
                      <a:pt x="74" y="6"/>
                    </a:lnTo>
                    <a:lnTo>
                      <a:pt x="74" y="12"/>
                    </a:lnTo>
                    <a:lnTo>
                      <a:pt x="80" y="6"/>
                    </a:lnTo>
                    <a:lnTo>
                      <a:pt x="80" y="12"/>
                    </a:lnTo>
                    <a:lnTo>
                      <a:pt x="93" y="12"/>
                    </a:lnTo>
                    <a:lnTo>
                      <a:pt x="105" y="31"/>
                    </a:lnTo>
                    <a:lnTo>
                      <a:pt x="99" y="49"/>
                    </a:lnTo>
                    <a:lnTo>
                      <a:pt x="87" y="43"/>
                    </a:lnTo>
                    <a:lnTo>
                      <a:pt x="80" y="24"/>
                    </a:lnTo>
                    <a:lnTo>
                      <a:pt x="80" y="31"/>
                    </a:lnTo>
                    <a:lnTo>
                      <a:pt x="111" y="99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35" name="Freeform 114">
                <a:extLst>
                  <a:ext uri="{FF2B5EF4-FFF2-40B4-BE49-F238E27FC236}">
                    <a16:creationId xmlns:a16="http://schemas.microsoft.com/office/drawing/2014/main" id="{F580C55F-FA36-404A-B0A1-FE103B97666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627232" y="3438330"/>
                <a:ext cx="410182" cy="330547"/>
              </a:xfrm>
              <a:custGeom>
                <a:avLst/>
                <a:gdLst>
                  <a:gd name="T0" fmla="*/ 6 w 161"/>
                  <a:gd name="T1" fmla="*/ 123 h 191"/>
                  <a:gd name="T2" fmla="*/ 12 w 161"/>
                  <a:gd name="T3" fmla="*/ 129 h 191"/>
                  <a:gd name="T4" fmla="*/ 12 w 161"/>
                  <a:gd name="T5" fmla="*/ 141 h 191"/>
                  <a:gd name="T6" fmla="*/ 30 w 161"/>
                  <a:gd name="T7" fmla="*/ 147 h 191"/>
                  <a:gd name="T8" fmla="*/ 55 w 161"/>
                  <a:gd name="T9" fmla="*/ 178 h 191"/>
                  <a:gd name="T10" fmla="*/ 61 w 161"/>
                  <a:gd name="T11" fmla="*/ 184 h 191"/>
                  <a:gd name="T12" fmla="*/ 80 w 161"/>
                  <a:gd name="T13" fmla="*/ 184 h 191"/>
                  <a:gd name="T14" fmla="*/ 86 w 161"/>
                  <a:gd name="T15" fmla="*/ 190 h 191"/>
                  <a:gd name="T16" fmla="*/ 99 w 161"/>
                  <a:gd name="T17" fmla="*/ 190 h 191"/>
                  <a:gd name="T18" fmla="*/ 117 w 161"/>
                  <a:gd name="T19" fmla="*/ 190 h 191"/>
                  <a:gd name="T20" fmla="*/ 123 w 161"/>
                  <a:gd name="T21" fmla="*/ 184 h 191"/>
                  <a:gd name="T22" fmla="*/ 136 w 161"/>
                  <a:gd name="T23" fmla="*/ 184 h 191"/>
                  <a:gd name="T24" fmla="*/ 136 w 161"/>
                  <a:gd name="T25" fmla="*/ 178 h 191"/>
                  <a:gd name="T26" fmla="*/ 130 w 161"/>
                  <a:gd name="T27" fmla="*/ 172 h 191"/>
                  <a:gd name="T28" fmla="*/ 117 w 161"/>
                  <a:gd name="T29" fmla="*/ 154 h 191"/>
                  <a:gd name="T30" fmla="*/ 111 w 161"/>
                  <a:gd name="T31" fmla="*/ 154 h 191"/>
                  <a:gd name="T32" fmla="*/ 111 w 161"/>
                  <a:gd name="T33" fmla="*/ 147 h 191"/>
                  <a:gd name="T34" fmla="*/ 117 w 161"/>
                  <a:gd name="T35" fmla="*/ 141 h 191"/>
                  <a:gd name="T36" fmla="*/ 123 w 161"/>
                  <a:gd name="T37" fmla="*/ 123 h 191"/>
                  <a:gd name="T38" fmla="*/ 142 w 161"/>
                  <a:gd name="T39" fmla="*/ 98 h 191"/>
                  <a:gd name="T40" fmla="*/ 148 w 161"/>
                  <a:gd name="T41" fmla="*/ 61 h 191"/>
                  <a:gd name="T42" fmla="*/ 160 w 161"/>
                  <a:gd name="T43" fmla="*/ 55 h 191"/>
                  <a:gd name="T44" fmla="*/ 160 w 161"/>
                  <a:gd name="T45" fmla="*/ 49 h 191"/>
                  <a:gd name="T46" fmla="*/ 154 w 161"/>
                  <a:gd name="T47" fmla="*/ 43 h 191"/>
                  <a:gd name="T48" fmla="*/ 148 w 161"/>
                  <a:gd name="T49" fmla="*/ 6 h 191"/>
                  <a:gd name="T50" fmla="*/ 136 w 161"/>
                  <a:gd name="T51" fmla="*/ 0 h 191"/>
                  <a:gd name="T52" fmla="*/ 117 w 161"/>
                  <a:gd name="T53" fmla="*/ 12 h 191"/>
                  <a:gd name="T54" fmla="*/ 111 w 161"/>
                  <a:gd name="T55" fmla="*/ 12 h 191"/>
                  <a:gd name="T56" fmla="*/ 30 w 161"/>
                  <a:gd name="T57" fmla="*/ 12 h 191"/>
                  <a:gd name="T58" fmla="*/ 30 w 161"/>
                  <a:gd name="T59" fmla="*/ 6 h 191"/>
                  <a:gd name="T60" fmla="*/ 30 w 161"/>
                  <a:gd name="T61" fmla="*/ 30 h 191"/>
                  <a:gd name="T62" fmla="*/ 18 w 161"/>
                  <a:gd name="T63" fmla="*/ 30 h 191"/>
                  <a:gd name="T64" fmla="*/ 18 w 161"/>
                  <a:gd name="T65" fmla="*/ 36 h 191"/>
                  <a:gd name="T66" fmla="*/ 18 w 161"/>
                  <a:gd name="T67" fmla="*/ 67 h 191"/>
                  <a:gd name="T68" fmla="*/ 18 w 161"/>
                  <a:gd name="T69" fmla="*/ 73 h 191"/>
                  <a:gd name="T70" fmla="*/ 12 w 161"/>
                  <a:gd name="T71" fmla="*/ 73 h 191"/>
                  <a:gd name="T72" fmla="*/ 0 w 161"/>
                  <a:gd name="T73" fmla="*/ 98 h 191"/>
                  <a:gd name="T74" fmla="*/ 6 w 161"/>
                  <a:gd name="T75" fmla="*/ 117 h 191"/>
                  <a:gd name="T76" fmla="*/ 6 w 161"/>
                  <a:gd name="T77" fmla="*/ 123 h 191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161"/>
                  <a:gd name="T118" fmla="*/ 0 h 191"/>
                  <a:gd name="T119" fmla="*/ 161 w 161"/>
                  <a:gd name="T120" fmla="*/ 191 h 191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161" h="191">
                    <a:moveTo>
                      <a:pt x="6" y="123"/>
                    </a:moveTo>
                    <a:lnTo>
                      <a:pt x="12" y="129"/>
                    </a:lnTo>
                    <a:lnTo>
                      <a:pt x="12" y="141"/>
                    </a:lnTo>
                    <a:lnTo>
                      <a:pt x="30" y="147"/>
                    </a:lnTo>
                    <a:lnTo>
                      <a:pt x="55" y="178"/>
                    </a:lnTo>
                    <a:lnTo>
                      <a:pt x="61" y="184"/>
                    </a:lnTo>
                    <a:lnTo>
                      <a:pt x="80" y="184"/>
                    </a:lnTo>
                    <a:lnTo>
                      <a:pt x="86" y="190"/>
                    </a:lnTo>
                    <a:lnTo>
                      <a:pt x="99" y="190"/>
                    </a:lnTo>
                    <a:lnTo>
                      <a:pt x="117" y="190"/>
                    </a:lnTo>
                    <a:lnTo>
                      <a:pt x="123" y="184"/>
                    </a:lnTo>
                    <a:lnTo>
                      <a:pt x="136" y="184"/>
                    </a:lnTo>
                    <a:lnTo>
                      <a:pt x="136" y="178"/>
                    </a:lnTo>
                    <a:lnTo>
                      <a:pt x="130" y="172"/>
                    </a:lnTo>
                    <a:lnTo>
                      <a:pt x="117" y="154"/>
                    </a:lnTo>
                    <a:lnTo>
                      <a:pt x="111" y="154"/>
                    </a:lnTo>
                    <a:lnTo>
                      <a:pt x="111" y="147"/>
                    </a:lnTo>
                    <a:lnTo>
                      <a:pt x="117" y="141"/>
                    </a:lnTo>
                    <a:lnTo>
                      <a:pt x="123" y="123"/>
                    </a:lnTo>
                    <a:lnTo>
                      <a:pt x="142" y="98"/>
                    </a:lnTo>
                    <a:lnTo>
                      <a:pt x="148" y="61"/>
                    </a:lnTo>
                    <a:lnTo>
                      <a:pt x="160" y="55"/>
                    </a:lnTo>
                    <a:lnTo>
                      <a:pt x="160" y="49"/>
                    </a:lnTo>
                    <a:lnTo>
                      <a:pt x="154" y="43"/>
                    </a:lnTo>
                    <a:lnTo>
                      <a:pt x="148" y="6"/>
                    </a:lnTo>
                    <a:lnTo>
                      <a:pt x="136" y="0"/>
                    </a:lnTo>
                    <a:lnTo>
                      <a:pt x="117" y="12"/>
                    </a:lnTo>
                    <a:lnTo>
                      <a:pt x="111" y="12"/>
                    </a:lnTo>
                    <a:lnTo>
                      <a:pt x="30" y="12"/>
                    </a:lnTo>
                    <a:lnTo>
                      <a:pt x="30" y="6"/>
                    </a:lnTo>
                    <a:lnTo>
                      <a:pt x="30" y="30"/>
                    </a:lnTo>
                    <a:lnTo>
                      <a:pt x="18" y="30"/>
                    </a:lnTo>
                    <a:lnTo>
                      <a:pt x="18" y="36"/>
                    </a:lnTo>
                    <a:lnTo>
                      <a:pt x="18" y="67"/>
                    </a:lnTo>
                    <a:lnTo>
                      <a:pt x="18" y="73"/>
                    </a:lnTo>
                    <a:lnTo>
                      <a:pt x="12" y="73"/>
                    </a:lnTo>
                    <a:lnTo>
                      <a:pt x="0" y="98"/>
                    </a:lnTo>
                    <a:lnTo>
                      <a:pt x="6" y="117"/>
                    </a:lnTo>
                    <a:lnTo>
                      <a:pt x="6" y="123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36" name="Freeform 115">
                <a:extLst>
                  <a:ext uri="{FF2B5EF4-FFF2-40B4-BE49-F238E27FC236}">
                    <a16:creationId xmlns:a16="http://schemas.microsoft.com/office/drawing/2014/main" id="{04D4D122-5E06-476A-ABA5-35B2B5C77BE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897288" y="3523130"/>
                <a:ext cx="394895" cy="245747"/>
              </a:xfrm>
              <a:custGeom>
                <a:avLst/>
                <a:gdLst>
                  <a:gd name="T0" fmla="*/ 99 w 155"/>
                  <a:gd name="T1" fmla="*/ 55 h 142"/>
                  <a:gd name="T2" fmla="*/ 99 w 155"/>
                  <a:gd name="T3" fmla="*/ 61 h 142"/>
                  <a:gd name="T4" fmla="*/ 92 w 155"/>
                  <a:gd name="T5" fmla="*/ 67 h 142"/>
                  <a:gd name="T6" fmla="*/ 92 w 155"/>
                  <a:gd name="T7" fmla="*/ 74 h 142"/>
                  <a:gd name="T8" fmla="*/ 105 w 155"/>
                  <a:gd name="T9" fmla="*/ 74 h 142"/>
                  <a:gd name="T10" fmla="*/ 99 w 155"/>
                  <a:gd name="T11" fmla="*/ 80 h 142"/>
                  <a:gd name="T12" fmla="*/ 111 w 155"/>
                  <a:gd name="T13" fmla="*/ 92 h 142"/>
                  <a:gd name="T14" fmla="*/ 142 w 155"/>
                  <a:gd name="T15" fmla="*/ 98 h 142"/>
                  <a:gd name="T16" fmla="*/ 154 w 155"/>
                  <a:gd name="T17" fmla="*/ 98 h 142"/>
                  <a:gd name="T18" fmla="*/ 123 w 155"/>
                  <a:gd name="T19" fmla="*/ 129 h 142"/>
                  <a:gd name="T20" fmla="*/ 111 w 155"/>
                  <a:gd name="T21" fmla="*/ 129 h 142"/>
                  <a:gd name="T22" fmla="*/ 92 w 155"/>
                  <a:gd name="T23" fmla="*/ 141 h 142"/>
                  <a:gd name="T24" fmla="*/ 80 w 155"/>
                  <a:gd name="T25" fmla="*/ 135 h 142"/>
                  <a:gd name="T26" fmla="*/ 61 w 155"/>
                  <a:gd name="T27" fmla="*/ 141 h 142"/>
                  <a:gd name="T28" fmla="*/ 30 w 155"/>
                  <a:gd name="T29" fmla="*/ 135 h 142"/>
                  <a:gd name="T30" fmla="*/ 30 w 155"/>
                  <a:gd name="T31" fmla="*/ 129 h 142"/>
                  <a:gd name="T32" fmla="*/ 24 w 155"/>
                  <a:gd name="T33" fmla="*/ 123 h 142"/>
                  <a:gd name="T34" fmla="*/ 12 w 155"/>
                  <a:gd name="T35" fmla="*/ 104 h 142"/>
                  <a:gd name="T36" fmla="*/ 0 w 155"/>
                  <a:gd name="T37" fmla="*/ 104 h 142"/>
                  <a:gd name="T38" fmla="*/ 6 w 155"/>
                  <a:gd name="T39" fmla="*/ 98 h 142"/>
                  <a:gd name="T40" fmla="*/ 12 w 155"/>
                  <a:gd name="T41" fmla="*/ 92 h 142"/>
                  <a:gd name="T42" fmla="*/ 18 w 155"/>
                  <a:gd name="T43" fmla="*/ 74 h 142"/>
                  <a:gd name="T44" fmla="*/ 37 w 155"/>
                  <a:gd name="T45" fmla="*/ 49 h 142"/>
                  <a:gd name="T46" fmla="*/ 43 w 155"/>
                  <a:gd name="T47" fmla="*/ 12 h 142"/>
                  <a:gd name="T48" fmla="*/ 55 w 155"/>
                  <a:gd name="T49" fmla="*/ 6 h 142"/>
                  <a:gd name="T50" fmla="*/ 55 w 155"/>
                  <a:gd name="T51" fmla="*/ 0 h 142"/>
                  <a:gd name="T52" fmla="*/ 68 w 155"/>
                  <a:gd name="T53" fmla="*/ 24 h 142"/>
                  <a:gd name="T54" fmla="*/ 86 w 155"/>
                  <a:gd name="T55" fmla="*/ 37 h 142"/>
                  <a:gd name="T56" fmla="*/ 99 w 155"/>
                  <a:gd name="T57" fmla="*/ 55 h 142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155"/>
                  <a:gd name="T88" fmla="*/ 0 h 142"/>
                  <a:gd name="T89" fmla="*/ 155 w 155"/>
                  <a:gd name="T90" fmla="*/ 142 h 142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155" h="142">
                    <a:moveTo>
                      <a:pt x="99" y="55"/>
                    </a:moveTo>
                    <a:lnTo>
                      <a:pt x="99" y="61"/>
                    </a:lnTo>
                    <a:lnTo>
                      <a:pt x="92" y="67"/>
                    </a:lnTo>
                    <a:lnTo>
                      <a:pt x="92" y="74"/>
                    </a:lnTo>
                    <a:lnTo>
                      <a:pt x="105" y="74"/>
                    </a:lnTo>
                    <a:lnTo>
                      <a:pt x="99" y="80"/>
                    </a:lnTo>
                    <a:lnTo>
                      <a:pt x="111" y="92"/>
                    </a:lnTo>
                    <a:lnTo>
                      <a:pt x="142" y="98"/>
                    </a:lnTo>
                    <a:lnTo>
                      <a:pt x="154" y="98"/>
                    </a:lnTo>
                    <a:lnTo>
                      <a:pt x="123" y="129"/>
                    </a:lnTo>
                    <a:lnTo>
                      <a:pt x="111" y="129"/>
                    </a:lnTo>
                    <a:lnTo>
                      <a:pt x="92" y="141"/>
                    </a:lnTo>
                    <a:lnTo>
                      <a:pt x="80" y="135"/>
                    </a:lnTo>
                    <a:lnTo>
                      <a:pt x="61" y="141"/>
                    </a:lnTo>
                    <a:lnTo>
                      <a:pt x="30" y="135"/>
                    </a:lnTo>
                    <a:lnTo>
                      <a:pt x="30" y="129"/>
                    </a:lnTo>
                    <a:lnTo>
                      <a:pt x="24" y="123"/>
                    </a:lnTo>
                    <a:lnTo>
                      <a:pt x="12" y="104"/>
                    </a:lnTo>
                    <a:lnTo>
                      <a:pt x="0" y="104"/>
                    </a:lnTo>
                    <a:lnTo>
                      <a:pt x="6" y="98"/>
                    </a:lnTo>
                    <a:lnTo>
                      <a:pt x="12" y="92"/>
                    </a:lnTo>
                    <a:lnTo>
                      <a:pt x="18" y="74"/>
                    </a:lnTo>
                    <a:lnTo>
                      <a:pt x="37" y="49"/>
                    </a:lnTo>
                    <a:lnTo>
                      <a:pt x="43" y="12"/>
                    </a:lnTo>
                    <a:lnTo>
                      <a:pt x="55" y="6"/>
                    </a:lnTo>
                    <a:lnTo>
                      <a:pt x="55" y="0"/>
                    </a:lnTo>
                    <a:lnTo>
                      <a:pt x="68" y="24"/>
                    </a:lnTo>
                    <a:lnTo>
                      <a:pt x="86" y="37"/>
                    </a:lnTo>
                    <a:lnTo>
                      <a:pt x="99" y="55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37" name="Freeform 116">
                <a:extLst>
                  <a:ext uri="{FF2B5EF4-FFF2-40B4-BE49-F238E27FC236}">
                    <a16:creationId xmlns:a16="http://schemas.microsoft.com/office/drawing/2014/main" id="{5B008E17-FCD4-4DF1-B3F7-3ACE297C059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7134229" y="3620044"/>
                <a:ext cx="48404" cy="32882"/>
              </a:xfrm>
              <a:custGeom>
                <a:avLst/>
                <a:gdLst>
                  <a:gd name="T0" fmla="*/ 18 w 19"/>
                  <a:gd name="T1" fmla="*/ 18 h 19"/>
                  <a:gd name="T2" fmla="*/ 0 w 19"/>
                  <a:gd name="T3" fmla="*/ 18 h 19"/>
                  <a:gd name="T4" fmla="*/ 0 w 19"/>
                  <a:gd name="T5" fmla="*/ 12 h 19"/>
                  <a:gd name="T6" fmla="*/ 9 w 19"/>
                  <a:gd name="T7" fmla="*/ 6 h 19"/>
                  <a:gd name="T8" fmla="*/ 9 w 19"/>
                  <a:gd name="T9" fmla="*/ 0 h 19"/>
                  <a:gd name="T10" fmla="*/ 18 w 19"/>
                  <a:gd name="T11" fmla="*/ 0 h 19"/>
                  <a:gd name="T12" fmla="*/ 18 w 19"/>
                  <a:gd name="T13" fmla="*/ 6 h 19"/>
                  <a:gd name="T14" fmla="*/ 18 w 19"/>
                  <a:gd name="T15" fmla="*/ 12 h 19"/>
                  <a:gd name="T16" fmla="*/ 18 w 19"/>
                  <a:gd name="T17" fmla="*/ 18 h 19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9"/>
                  <a:gd name="T28" fmla="*/ 0 h 19"/>
                  <a:gd name="T29" fmla="*/ 19 w 19"/>
                  <a:gd name="T30" fmla="*/ 19 h 19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9" h="19">
                    <a:moveTo>
                      <a:pt x="18" y="18"/>
                    </a:moveTo>
                    <a:lnTo>
                      <a:pt x="0" y="18"/>
                    </a:lnTo>
                    <a:lnTo>
                      <a:pt x="0" y="12"/>
                    </a:lnTo>
                    <a:lnTo>
                      <a:pt x="9" y="6"/>
                    </a:lnTo>
                    <a:lnTo>
                      <a:pt x="9" y="0"/>
                    </a:lnTo>
                    <a:lnTo>
                      <a:pt x="18" y="0"/>
                    </a:lnTo>
                    <a:lnTo>
                      <a:pt x="18" y="6"/>
                    </a:lnTo>
                    <a:lnTo>
                      <a:pt x="18" y="12"/>
                    </a:lnTo>
                    <a:lnTo>
                      <a:pt x="18" y="18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38" name="Freeform 117">
                <a:extLst>
                  <a:ext uri="{FF2B5EF4-FFF2-40B4-BE49-F238E27FC236}">
                    <a16:creationId xmlns:a16="http://schemas.microsoft.com/office/drawing/2014/main" id="{2A49752A-4C08-433B-BC6C-D0319D29A20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7103652" y="3630428"/>
                <a:ext cx="264963" cy="237094"/>
              </a:xfrm>
              <a:custGeom>
                <a:avLst/>
                <a:gdLst>
                  <a:gd name="T0" fmla="*/ 12 w 104"/>
                  <a:gd name="T1" fmla="*/ 80 h 137"/>
                  <a:gd name="T2" fmla="*/ 0 w 104"/>
                  <a:gd name="T3" fmla="*/ 93 h 137"/>
                  <a:gd name="T4" fmla="*/ 0 w 104"/>
                  <a:gd name="T5" fmla="*/ 124 h 137"/>
                  <a:gd name="T6" fmla="*/ 6 w 104"/>
                  <a:gd name="T7" fmla="*/ 136 h 137"/>
                  <a:gd name="T8" fmla="*/ 24 w 104"/>
                  <a:gd name="T9" fmla="*/ 112 h 137"/>
                  <a:gd name="T10" fmla="*/ 55 w 104"/>
                  <a:gd name="T11" fmla="*/ 93 h 137"/>
                  <a:gd name="T12" fmla="*/ 67 w 104"/>
                  <a:gd name="T13" fmla="*/ 80 h 137"/>
                  <a:gd name="T14" fmla="*/ 79 w 104"/>
                  <a:gd name="T15" fmla="*/ 62 h 137"/>
                  <a:gd name="T16" fmla="*/ 103 w 104"/>
                  <a:gd name="T17" fmla="*/ 18 h 137"/>
                  <a:gd name="T18" fmla="*/ 103 w 104"/>
                  <a:gd name="T19" fmla="*/ 0 h 137"/>
                  <a:gd name="T20" fmla="*/ 97 w 104"/>
                  <a:gd name="T21" fmla="*/ 0 h 137"/>
                  <a:gd name="T22" fmla="*/ 85 w 104"/>
                  <a:gd name="T23" fmla="*/ 6 h 137"/>
                  <a:gd name="T24" fmla="*/ 36 w 104"/>
                  <a:gd name="T25" fmla="*/ 18 h 137"/>
                  <a:gd name="T26" fmla="*/ 24 w 104"/>
                  <a:gd name="T27" fmla="*/ 6 h 137"/>
                  <a:gd name="T28" fmla="*/ 24 w 104"/>
                  <a:gd name="T29" fmla="*/ 12 h 137"/>
                  <a:gd name="T30" fmla="*/ 18 w 104"/>
                  <a:gd name="T31" fmla="*/ 18 h 137"/>
                  <a:gd name="T32" fmla="*/ 30 w 104"/>
                  <a:gd name="T33" fmla="*/ 31 h 137"/>
                  <a:gd name="T34" fmla="*/ 61 w 104"/>
                  <a:gd name="T35" fmla="*/ 37 h 137"/>
                  <a:gd name="T36" fmla="*/ 73 w 104"/>
                  <a:gd name="T37" fmla="*/ 37 h 137"/>
                  <a:gd name="T38" fmla="*/ 42 w 104"/>
                  <a:gd name="T39" fmla="*/ 68 h 137"/>
                  <a:gd name="T40" fmla="*/ 30 w 104"/>
                  <a:gd name="T41" fmla="*/ 68 h 137"/>
                  <a:gd name="T42" fmla="*/ 12 w 104"/>
                  <a:gd name="T43" fmla="*/ 80 h 137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104"/>
                  <a:gd name="T67" fmla="*/ 0 h 137"/>
                  <a:gd name="T68" fmla="*/ 104 w 104"/>
                  <a:gd name="T69" fmla="*/ 137 h 137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104" h="137">
                    <a:moveTo>
                      <a:pt x="12" y="80"/>
                    </a:moveTo>
                    <a:lnTo>
                      <a:pt x="0" y="93"/>
                    </a:lnTo>
                    <a:lnTo>
                      <a:pt x="0" y="124"/>
                    </a:lnTo>
                    <a:lnTo>
                      <a:pt x="6" y="136"/>
                    </a:lnTo>
                    <a:lnTo>
                      <a:pt x="24" y="112"/>
                    </a:lnTo>
                    <a:lnTo>
                      <a:pt x="55" y="93"/>
                    </a:lnTo>
                    <a:lnTo>
                      <a:pt x="67" y="80"/>
                    </a:lnTo>
                    <a:lnTo>
                      <a:pt x="79" y="62"/>
                    </a:lnTo>
                    <a:lnTo>
                      <a:pt x="103" y="18"/>
                    </a:lnTo>
                    <a:lnTo>
                      <a:pt x="103" y="0"/>
                    </a:lnTo>
                    <a:lnTo>
                      <a:pt x="97" y="0"/>
                    </a:lnTo>
                    <a:lnTo>
                      <a:pt x="85" y="6"/>
                    </a:lnTo>
                    <a:lnTo>
                      <a:pt x="36" y="18"/>
                    </a:lnTo>
                    <a:lnTo>
                      <a:pt x="24" y="6"/>
                    </a:lnTo>
                    <a:lnTo>
                      <a:pt x="24" y="12"/>
                    </a:lnTo>
                    <a:lnTo>
                      <a:pt x="18" y="18"/>
                    </a:lnTo>
                    <a:lnTo>
                      <a:pt x="30" y="31"/>
                    </a:lnTo>
                    <a:lnTo>
                      <a:pt x="61" y="37"/>
                    </a:lnTo>
                    <a:lnTo>
                      <a:pt x="73" y="37"/>
                    </a:lnTo>
                    <a:lnTo>
                      <a:pt x="42" y="68"/>
                    </a:lnTo>
                    <a:lnTo>
                      <a:pt x="30" y="68"/>
                    </a:lnTo>
                    <a:lnTo>
                      <a:pt x="12" y="80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39" name="Freeform 118">
                <a:extLst>
                  <a:ext uri="{FF2B5EF4-FFF2-40B4-BE49-F238E27FC236}">
                    <a16:creationId xmlns:a16="http://schemas.microsoft.com/office/drawing/2014/main" id="{72F80109-4667-49DE-8340-E844BC5CD42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927859" y="3758493"/>
                <a:ext cx="206366" cy="150563"/>
              </a:xfrm>
              <a:custGeom>
                <a:avLst/>
                <a:gdLst>
                  <a:gd name="T0" fmla="*/ 80 w 81"/>
                  <a:gd name="T1" fmla="*/ 6 h 87"/>
                  <a:gd name="T2" fmla="*/ 68 w 81"/>
                  <a:gd name="T3" fmla="*/ 0 h 87"/>
                  <a:gd name="T4" fmla="*/ 49 w 81"/>
                  <a:gd name="T5" fmla="*/ 12 h 87"/>
                  <a:gd name="T6" fmla="*/ 18 w 81"/>
                  <a:gd name="T7" fmla="*/ 0 h 87"/>
                  <a:gd name="T8" fmla="*/ 6 w 81"/>
                  <a:gd name="T9" fmla="*/ 0 h 87"/>
                  <a:gd name="T10" fmla="*/ 0 w 81"/>
                  <a:gd name="T11" fmla="*/ 6 h 87"/>
                  <a:gd name="T12" fmla="*/ 6 w 81"/>
                  <a:gd name="T13" fmla="*/ 6 h 87"/>
                  <a:gd name="T14" fmla="*/ 12 w 81"/>
                  <a:gd name="T15" fmla="*/ 24 h 87"/>
                  <a:gd name="T16" fmla="*/ 0 w 81"/>
                  <a:gd name="T17" fmla="*/ 43 h 87"/>
                  <a:gd name="T18" fmla="*/ 0 w 81"/>
                  <a:gd name="T19" fmla="*/ 55 h 87"/>
                  <a:gd name="T20" fmla="*/ 6 w 81"/>
                  <a:gd name="T21" fmla="*/ 55 h 87"/>
                  <a:gd name="T22" fmla="*/ 37 w 81"/>
                  <a:gd name="T23" fmla="*/ 74 h 87"/>
                  <a:gd name="T24" fmla="*/ 43 w 81"/>
                  <a:gd name="T25" fmla="*/ 80 h 87"/>
                  <a:gd name="T26" fmla="*/ 56 w 81"/>
                  <a:gd name="T27" fmla="*/ 86 h 87"/>
                  <a:gd name="T28" fmla="*/ 62 w 81"/>
                  <a:gd name="T29" fmla="*/ 68 h 87"/>
                  <a:gd name="T30" fmla="*/ 68 w 81"/>
                  <a:gd name="T31" fmla="*/ 68 h 87"/>
                  <a:gd name="T32" fmla="*/ 74 w 81"/>
                  <a:gd name="T33" fmla="*/ 62 h 87"/>
                  <a:gd name="T34" fmla="*/ 74 w 81"/>
                  <a:gd name="T35" fmla="*/ 49 h 87"/>
                  <a:gd name="T36" fmla="*/ 74 w 81"/>
                  <a:gd name="T37" fmla="*/ 18 h 87"/>
                  <a:gd name="T38" fmla="*/ 80 w 81"/>
                  <a:gd name="T39" fmla="*/ 6 h 87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81"/>
                  <a:gd name="T61" fmla="*/ 0 h 87"/>
                  <a:gd name="T62" fmla="*/ 81 w 81"/>
                  <a:gd name="T63" fmla="*/ 87 h 87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81" h="87">
                    <a:moveTo>
                      <a:pt x="80" y="6"/>
                    </a:moveTo>
                    <a:lnTo>
                      <a:pt x="68" y="0"/>
                    </a:lnTo>
                    <a:lnTo>
                      <a:pt x="49" y="12"/>
                    </a:lnTo>
                    <a:lnTo>
                      <a:pt x="18" y="0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6" y="6"/>
                    </a:lnTo>
                    <a:lnTo>
                      <a:pt x="12" y="24"/>
                    </a:lnTo>
                    <a:lnTo>
                      <a:pt x="0" y="43"/>
                    </a:lnTo>
                    <a:lnTo>
                      <a:pt x="0" y="55"/>
                    </a:lnTo>
                    <a:lnTo>
                      <a:pt x="6" y="55"/>
                    </a:lnTo>
                    <a:lnTo>
                      <a:pt x="37" y="74"/>
                    </a:lnTo>
                    <a:lnTo>
                      <a:pt x="43" y="80"/>
                    </a:lnTo>
                    <a:lnTo>
                      <a:pt x="56" y="86"/>
                    </a:lnTo>
                    <a:lnTo>
                      <a:pt x="62" y="68"/>
                    </a:lnTo>
                    <a:lnTo>
                      <a:pt x="68" y="68"/>
                    </a:lnTo>
                    <a:lnTo>
                      <a:pt x="74" y="62"/>
                    </a:lnTo>
                    <a:lnTo>
                      <a:pt x="74" y="49"/>
                    </a:lnTo>
                    <a:lnTo>
                      <a:pt x="74" y="18"/>
                    </a:lnTo>
                    <a:lnTo>
                      <a:pt x="80" y="6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40" name="Freeform 119">
                <a:extLst>
                  <a:ext uri="{FF2B5EF4-FFF2-40B4-BE49-F238E27FC236}">
                    <a16:creationId xmlns:a16="http://schemas.microsoft.com/office/drawing/2014/main" id="{1BC0FD79-5D43-42F1-AD37-F821DFA7EA4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815761" y="3768879"/>
                <a:ext cx="145219" cy="86531"/>
              </a:xfrm>
              <a:custGeom>
                <a:avLst/>
                <a:gdLst>
                  <a:gd name="T0" fmla="*/ 44 w 57"/>
                  <a:gd name="T1" fmla="*/ 0 h 50"/>
                  <a:gd name="T2" fmla="*/ 50 w 57"/>
                  <a:gd name="T3" fmla="*/ 0 h 50"/>
                  <a:gd name="T4" fmla="*/ 56 w 57"/>
                  <a:gd name="T5" fmla="*/ 18 h 50"/>
                  <a:gd name="T6" fmla="*/ 44 w 57"/>
                  <a:gd name="T7" fmla="*/ 37 h 50"/>
                  <a:gd name="T8" fmla="*/ 44 w 57"/>
                  <a:gd name="T9" fmla="*/ 49 h 50"/>
                  <a:gd name="T10" fmla="*/ 25 w 57"/>
                  <a:gd name="T11" fmla="*/ 49 h 50"/>
                  <a:gd name="T12" fmla="*/ 12 w 57"/>
                  <a:gd name="T13" fmla="*/ 49 h 50"/>
                  <a:gd name="T14" fmla="*/ 0 w 57"/>
                  <a:gd name="T15" fmla="*/ 49 h 50"/>
                  <a:gd name="T16" fmla="*/ 6 w 57"/>
                  <a:gd name="T17" fmla="*/ 31 h 50"/>
                  <a:gd name="T18" fmla="*/ 12 w 57"/>
                  <a:gd name="T19" fmla="*/ 24 h 50"/>
                  <a:gd name="T20" fmla="*/ 18 w 57"/>
                  <a:gd name="T21" fmla="*/ 18 h 50"/>
                  <a:gd name="T22" fmla="*/ 12 w 57"/>
                  <a:gd name="T23" fmla="*/ 12 h 50"/>
                  <a:gd name="T24" fmla="*/ 12 w 57"/>
                  <a:gd name="T25" fmla="*/ 0 h 50"/>
                  <a:gd name="T26" fmla="*/ 25 w 57"/>
                  <a:gd name="T27" fmla="*/ 6 h 50"/>
                  <a:gd name="T28" fmla="*/ 44 w 57"/>
                  <a:gd name="T29" fmla="*/ 0 h 5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50"/>
                  <a:gd name="T47" fmla="*/ 57 w 57"/>
                  <a:gd name="T48" fmla="*/ 50 h 50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50">
                    <a:moveTo>
                      <a:pt x="44" y="0"/>
                    </a:moveTo>
                    <a:lnTo>
                      <a:pt x="50" y="0"/>
                    </a:lnTo>
                    <a:lnTo>
                      <a:pt x="56" y="18"/>
                    </a:lnTo>
                    <a:lnTo>
                      <a:pt x="44" y="37"/>
                    </a:lnTo>
                    <a:lnTo>
                      <a:pt x="44" y="49"/>
                    </a:lnTo>
                    <a:lnTo>
                      <a:pt x="25" y="49"/>
                    </a:lnTo>
                    <a:lnTo>
                      <a:pt x="12" y="49"/>
                    </a:lnTo>
                    <a:lnTo>
                      <a:pt x="0" y="49"/>
                    </a:lnTo>
                    <a:lnTo>
                      <a:pt x="6" y="31"/>
                    </a:lnTo>
                    <a:lnTo>
                      <a:pt x="12" y="24"/>
                    </a:lnTo>
                    <a:lnTo>
                      <a:pt x="18" y="18"/>
                    </a:lnTo>
                    <a:lnTo>
                      <a:pt x="12" y="12"/>
                    </a:lnTo>
                    <a:lnTo>
                      <a:pt x="12" y="0"/>
                    </a:lnTo>
                    <a:lnTo>
                      <a:pt x="25" y="6"/>
                    </a:lnTo>
                    <a:lnTo>
                      <a:pt x="44" y="0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41" name="Freeform 120">
                <a:extLst>
                  <a:ext uri="{FF2B5EF4-FFF2-40B4-BE49-F238E27FC236}">
                    <a16:creationId xmlns:a16="http://schemas.microsoft.com/office/drawing/2014/main" id="{047A61E8-685B-4D0D-87E9-03CD6F7F567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420865" y="3651196"/>
                <a:ext cx="349035" cy="128065"/>
              </a:xfrm>
              <a:custGeom>
                <a:avLst/>
                <a:gdLst>
                  <a:gd name="T0" fmla="*/ 87 w 137"/>
                  <a:gd name="T1" fmla="*/ 0 h 74"/>
                  <a:gd name="T2" fmla="*/ 93 w 137"/>
                  <a:gd name="T3" fmla="*/ 6 h 74"/>
                  <a:gd name="T4" fmla="*/ 93 w 137"/>
                  <a:gd name="T5" fmla="*/ 18 h 74"/>
                  <a:gd name="T6" fmla="*/ 112 w 137"/>
                  <a:gd name="T7" fmla="*/ 24 h 74"/>
                  <a:gd name="T8" fmla="*/ 136 w 137"/>
                  <a:gd name="T9" fmla="*/ 55 h 74"/>
                  <a:gd name="T10" fmla="*/ 87 w 137"/>
                  <a:gd name="T11" fmla="*/ 55 h 74"/>
                  <a:gd name="T12" fmla="*/ 87 w 137"/>
                  <a:gd name="T13" fmla="*/ 61 h 74"/>
                  <a:gd name="T14" fmla="*/ 62 w 137"/>
                  <a:gd name="T15" fmla="*/ 61 h 74"/>
                  <a:gd name="T16" fmla="*/ 62 w 137"/>
                  <a:gd name="T17" fmla="*/ 55 h 74"/>
                  <a:gd name="T18" fmla="*/ 56 w 137"/>
                  <a:gd name="T19" fmla="*/ 55 h 74"/>
                  <a:gd name="T20" fmla="*/ 43 w 137"/>
                  <a:gd name="T21" fmla="*/ 67 h 74"/>
                  <a:gd name="T22" fmla="*/ 24 w 137"/>
                  <a:gd name="T23" fmla="*/ 73 h 74"/>
                  <a:gd name="T24" fmla="*/ 18 w 137"/>
                  <a:gd name="T25" fmla="*/ 73 h 74"/>
                  <a:gd name="T26" fmla="*/ 6 w 137"/>
                  <a:gd name="T27" fmla="*/ 55 h 74"/>
                  <a:gd name="T28" fmla="*/ 0 w 137"/>
                  <a:gd name="T29" fmla="*/ 49 h 74"/>
                  <a:gd name="T30" fmla="*/ 12 w 137"/>
                  <a:gd name="T31" fmla="*/ 30 h 74"/>
                  <a:gd name="T32" fmla="*/ 43 w 137"/>
                  <a:gd name="T33" fmla="*/ 24 h 74"/>
                  <a:gd name="T34" fmla="*/ 49 w 137"/>
                  <a:gd name="T35" fmla="*/ 18 h 74"/>
                  <a:gd name="T36" fmla="*/ 62 w 137"/>
                  <a:gd name="T37" fmla="*/ 18 h 74"/>
                  <a:gd name="T38" fmla="*/ 80 w 137"/>
                  <a:gd name="T39" fmla="*/ 0 h 74"/>
                  <a:gd name="T40" fmla="*/ 87 w 137"/>
                  <a:gd name="T41" fmla="*/ 0 h 74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137"/>
                  <a:gd name="T64" fmla="*/ 0 h 74"/>
                  <a:gd name="T65" fmla="*/ 137 w 137"/>
                  <a:gd name="T66" fmla="*/ 74 h 74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137" h="74">
                    <a:moveTo>
                      <a:pt x="87" y="0"/>
                    </a:moveTo>
                    <a:lnTo>
                      <a:pt x="93" y="6"/>
                    </a:lnTo>
                    <a:lnTo>
                      <a:pt x="93" y="18"/>
                    </a:lnTo>
                    <a:lnTo>
                      <a:pt x="112" y="24"/>
                    </a:lnTo>
                    <a:lnTo>
                      <a:pt x="136" y="55"/>
                    </a:lnTo>
                    <a:lnTo>
                      <a:pt x="87" y="55"/>
                    </a:lnTo>
                    <a:lnTo>
                      <a:pt x="87" y="61"/>
                    </a:lnTo>
                    <a:lnTo>
                      <a:pt x="62" y="61"/>
                    </a:lnTo>
                    <a:lnTo>
                      <a:pt x="62" y="55"/>
                    </a:lnTo>
                    <a:lnTo>
                      <a:pt x="56" y="55"/>
                    </a:lnTo>
                    <a:lnTo>
                      <a:pt x="43" y="67"/>
                    </a:lnTo>
                    <a:lnTo>
                      <a:pt x="24" y="73"/>
                    </a:lnTo>
                    <a:lnTo>
                      <a:pt x="18" y="73"/>
                    </a:lnTo>
                    <a:lnTo>
                      <a:pt x="6" y="55"/>
                    </a:lnTo>
                    <a:lnTo>
                      <a:pt x="0" y="49"/>
                    </a:lnTo>
                    <a:lnTo>
                      <a:pt x="12" y="30"/>
                    </a:lnTo>
                    <a:lnTo>
                      <a:pt x="43" y="24"/>
                    </a:lnTo>
                    <a:lnTo>
                      <a:pt x="49" y="18"/>
                    </a:lnTo>
                    <a:lnTo>
                      <a:pt x="62" y="18"/>
                    </a:lnTo>
                    <a:lnTo>
                      <a:pt x="80" y="0"/>
                    </a:lnTo>
                    <a:lnTo>
                      <a:pt x="87" y="0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42" name="Freeform 121">
                <a:extLst>
                  <a:ext uri="{FF2B5EF4-FFF2-40B4-BE49-F238E27FC236}">
                    <a16:creationId xmlns:a16="http://schemas.microsoft.com/office/drawing/2014/main" id="{64AD80F5-515C-46BB-8136-A378D7C50C4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405581" y="3426215"/>
                <a:ext cx="270060" cy="278630"/>
              </a:xfrm>
              <a:custGeom>
                <a:avLst/>
                <a:gdLst>
                  <a:gd name="T0" fmla="*/ 12 w 106"/>
                  <a:gd name="T1" fmla="*/ 6 h 161"/>
                  <a:gd name="T2" fmla="*/ 12 w 106"/>
                  <a:gd name="T3" fmla="*/ 18 h 161"/>
                  <a:gd name="T4" fmla="*/ 24 w 106"/>
                  <a:gd name="T5" fmla="*/ 30 h 161"/>
                  <a:gd name="T6" fmla="*/ 18 w 106"/>
                  <a:gd name="T7" fmla="*/ 68 h 161"/>
                  <a:gd name="T8" fmla="*/ 0 w 106"/>
                  <a:gd name="T9" fmla="*/ 92 h 161"/>
                  <a:gd name="T10" fmla="*/ 0 w 106"/>
                  <a:gd name="T11" fmla="*/ 99 h 161"/>
                  <a:gd name="T12" fmla="*/ 6 w 106"/>
                  <a:gd name="T13" fmla="*/ 105 h 161"/>
                  <a:gd name="T14" fmla="*/ 12 w 106"/>
                  <a:gd name="T15" fmla="*/ 111 h 161"/>
                  <a:gd name="T16" fmla="*/ 18 w 106"/>
                  <a:gd name="T17" fmla="*/ 136 h 161"/>
                  <a:gd name="T18" fmla="*/ 6 w 106"/>
                  <a:gd name="T19" fmla="*/ 136 h 161"/>
                  <a:gd name="T20" fmla="*/ 6 w 106"/>
                  <a:gd name="T21" fmla="*/ 142 h 161"/>
                  <a:gd name="T22" fmla="*/ 12 w 106"/>
                  <a:gd name="T23" fmla="*/ 148 h 161"/>
                  <a:gd name="T24" fmla="*/ 18 w 106"/>
                  <a:gd name="T25" fmla="*/ 160 h 161"/>
                  <a:gd name="T26" fmla="*/ 49 w 106"/>
                  <a:gd name="T27" fmla="*/ 154 h 161"/>
                  <a:gd name="T28" fmla="*/ 56 w 106"/>
                  <a:gd name="T29" fmla="*/ 148 h 161"/>
                  <a:gd name="T30" fmla="*/ 68 w 106"/>
                  <a:gd name="T31" fmla="*/ 148 h 161"/>
                  <a:gd name="T32" fmla="*/ 87 w 106"/>
                  <a:gd name="T33" fmla="*/ 130 h 161"/>
                  <a:gd name="T34" fmla="*/ 93 w 106"/>
                  <a:gd name="T35" fmla="*/ 130 h 161"/>
                  <a:gd name="T36" fmla="*/ 93 w 106"/>
                  <a:gd name="T37" fmla="*/ 123 h 161"/>
                  <a:gd name="T38" fmla="*/ 87 w 106"/>
                  <a:gd name="T39" fmla="*/ 105 h 161"/>
                  <a:gd name="T40" fmla="*/ 99 w 106"/>
                  <a:gd name="T41" fmla="*/ 80 h 161"/>
                  <a:gd name="T42" fmla="*/ 105 w 106"/>
                  <a:gd name="T43" fmla="*/ 80 h 161"/>
                  <a:gd name="T44" fmla="*/ 105 w 106"/>
                  <a:gd name="T45" fmla="*/ 43 h 161"/>
                  <a:gd name="T46" fmla="*/ 24 w 106"/>
                  <a:gd name="T47" fmla="*/ 0 h 161"/>
                  <a:gd name="T48" fmla="*/ 12 w 106"/>
                  <a:gd name="T49" fmla="*/ 6 h 161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106"/>
                  <a:gd name="T76" fmla="*/ 0 h 161"/>
                  <a:gd name="T77" fmla="*/ 106 w 106"/>
                  <a:gd name="T78" fmla="*/ 161 h 161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106" h="161">
                    <a:moveTo>
                      <a:pt x="12" y="6"/>
                    </a:moveTo>
                    <a:lnTo>
                      <a:pt x="12" y="18"/>
                    </a:lnTo>
                    <a:lnTo>
                      <a:pt x="24" y="30"/>
                    </a:lnTo>
                    <a:lnTo>
                      <a:pt x="18" y="68"/>
                    </a:lnTo>
                    <a:lnTo>
                      <a:pt x="0" y="92"/>
                    </a:lnTo>
                    <a:lnTo>
                      <a:pt x="0" y="99"/>
                    </a:lnTo>
                    <a:lnTo>
                      <a:pt x="6" y="105"/>
                    </a:lnTo>
                    <a:lnTo>
                      <a:pt x="12" y="111"/>
                    </a:lnTo>
                    <a:lnTo>
                      <a:pt x="18" y="136"/>
                    </a:lnTo>
                    <a:lnTo>
                      <a:pt x="6" y="136"/>
                    </a:lnTo>
                    <a:lnTo>
                      <a:pt x="6" y="142"/>
                    </a:lnTo>
                    <a:lnTo>
                      <a:pt x="12" y="148"/>
                    </a:lnTo>
                    <a:lnTo>
                      <a:pt x="18" y="160"/>
                    </a:lnTo>
                    <a:lnTo>
                      <a:pt x="49" y="154"/>
                    </a:lnTo>
                    <a:lnTo>
                      <a:pt x="56" y="148"/>
                    </a:lnTo>
                    <a:lnTo>
                      <a:pt x="68" y="148"/>
                    </a:lnTo>
                    <a:lnTo>
                      <a:pt x="87" y="130"/>
                    </a:lnTo>
                    <a:lnTo>
                      <a:pt x="93" y="130"/>
                    </a:lnTo>
                    <a:lnTo>
                      <a:pt x="93" y="123"/>
                    </a:lnTo>
                    <a:lnTo>
                      <a:pt x="87" y="105"/>
                    </a:lnTo>
                    <a:lnTo>
                      <a:pt x="99" y="80"/>
                    </a:lnTo>
                    <a:lnTo>
                      <a:pt x="105" y="80"/>
                    </a:lnTo>
                    <a:lnTo>
                      <a:pt x="105" y="43"/>
                    </a:lnTo>
                    <a:lnTo>
                      <a:pt x="24" y="0"/>
                    </a:lnTo>
                    <a:lnTo>
                      <a:pt x="12" y="6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43" name="Freeform 122">
                <a:extLst>
                  <a:ext uri="{FF2B5EF4-FFF2-40B4-BE49-F238E27FC236}">
                    <a16:creationId xmlns:a16="http://schemas.microsoft.com/office/drawing/2014/main" id="{B51BB820-EF4F-493C-AF11-DA27405F97F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059090" y="3426215"/>
                <a:ext cx="410182" cy="204213"/>
              </a:xfrm>
              <a:custGeom>
                <a:avLst/>
                <a:gdLst>
                  <a:gd name="T0" fmla="*/ 136 w 161"/>
                  <a:gd name="T1" fmla="*/ 99 h 118"/>
                  <a:gd name="T2" fmla="*/ 136 w 161"/>
                  <a:gd name="T3" fmla="*/ 93 h 118"/>
                  <a:gd name="T4" fmla="*/ 154 w 161"/>
                  <a:gd name="T5" fmla="*/ 68 h 118"/>
                  <a:gd name="T6" fmla="*/ 160 w 161"/>
                  <a:gd name="T7" fmla="*/ 31 h 118"/>
                  <a:gd name="T8" fmla="*/ 154 w 161"/>
                  <a:gd name="T9" fmla="*/ 18 h 118"/>
                  <a:gd name="T10" fmla="*/ 154 w 161"/>
                  <a:gd name="T11" fmla="*/ 6 h 118"/>
                  <a:gd name="T12" fmla="*/ 142 w 161"/>
                  <a:gd name="T13" fmla="*/ 0 h 118"/>
                  <a:gd name="T14" fmla="*/ 117 w 161"/>
                  <a:gd name="T15" fmla="*/ 0 h 118"/>
                  <a:gd name="T16" fmla="*/ 55 w 161"/>
                  <a:gd name="T17" fmla="*/ 43 h 118"/>
                  <a:gd name="T18" fmla="*/ 43 w 161"/>
                  <a:gd name="T19" fmla="*/ 43 h 118"/>
                  <a:gd name="T20" fmla="*/ 43 w 161"/>
                  <a:gd name="T21" fmla="*/ 74 h 118"/>
                  <a:gd name="T22" fmla="*/ 37 w 161"/>
                  <a:gd name="T23" fmla="*/ 80 h 118"/>
                  <a:gd name="T24" fmla="*/ 0 w 161"/>
                  <a:gd name="T25" fmla="*/ 86 h 118"/>
                  <a:gd name="T26" fmla="*/ 6 w 161"/>
                  <a:gd name="T27" fmla="*/ 99 h 118"/>
                  <a:gd name="T28" fmla="*/ 18 w 161"/>
                  <a:gd name="T29" fmla="*/ 111 h 118"/>
                  <a:gd name="T30" fmla="*/ 24 w 161"/>
                  <a:gd name="T31" fmla="*/ 117 h 118"/>
                  <a:gd name="T32" fmla="*/ 30 w 161"/>
                  <a:gd name="T33" fmla="*/ 117 h 118"/>
                  <a:gd name="T34" fmla="*/ 37 w 161"/>
                  <a:gd name="T35" fmla="*/ 117 h 118"/>
                  <a:gd name="T36" fmla="*/ 37 w 161"/>
                  <a:gd name="T37" fmla="*/ 111 h 118"/>
                  <a:gd name="T38" fmla="*/ 49 w 161"/>
                  <a:gd name="T39" fmla="*/ 99 h 118"/>
                  <a:gd name="T40" fmla="*/ 55 w 161"/>
                  <a:gd name="T41" fmla="*/ 99 h 118"/>
                  <a:gd name="T42" fmla="*/ 74 w 161"/>
                  <a:gd name="T43" fmla="*/ 105 h 118"/>
                  <a:gd name="T44" fmla="*/ 80 w 161"/>
                  <a:gd name="T45" fmla="*/ 105 h 118"/>
                  <a:gd name="T46" fmla="*/ 92 w 161"/>
                  <a:gd name="T47" fmla="*/ 111 h 118"/>
                  <a:gd name="T48" fmla="*/ 105 w 161"/>
                  <a:gd name="T49" fmla="*/ 105 h 118"/>
                  <a:gd name="T50" fmla="*/ 123 w 161"/>
                  <a:gd name="T51" fmla="*/ 105 h 118"/>
                  <a:gd name="T52" fmla="*/ 136 w 161"/>
                  <a:gd name="T53" fmla="*/ 99 h 118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161"/>
                  <a:gd name="T82" fmla="*/ 0 h 118"/>
                  <a:gd name="T83" fmla="*/ 161 w 161"/>
                  <a:gd name="T84" fmla="*/ 118 h 118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T81" t="T82" r="T83" b="T84"/>
                <a:pathLst>
                  <a:path w="161" h="118">
                    <a:moveTo>
                      <a:pt x="136" y="99"/>
                    </a:moveTo>
                    <a:lnTo>
                      <a:pt x="136" y="93"/>
                    </a:lnTo>
                    <a:lnTo>
                      <a:pt x="154" y="68"/>
                    </a:lnTo>
                    <a:lnTo>
                      <a:pt x="160" y="31"/>
                    </a:lnTo>
                    <a:lnTo>
                      <a:pt x="154" y="18"/>
                    </a:lnTo>
                    <a:lnTo>
                      <a:pt x="154" y="6"/>
                    </a:lnTo>
                    <a:lnTo>
                      <a:pt x="142" y="0"/>
                    </a:lnTo>
                    <a:lnTo>
                      <a:pt x="117" y="0"/>
                    </a:lnTo>
                    <a:lnTo>
                      <a:pt x="55" y="43"/>
                    </a:lnTo>
                    <a:lnTo>
                      <a:pt x="43" y="43"/>
                    </a:lnTo>
                    <a:lnTo>
                      <a:pt x="43" y="74"/>
                    </a:lnTo>
                    <a:lnTo>
                      <a:pt x="37" y="80"/>
                    </a:lnTo>
                    <a:lnTo>
                      <a:pt x="0" y="86"/>
                    </a:lnTo>
                    <a:lnTo>
                      <a:pt x="6" y="99"/>
                    </a:lnTo>
                    <a:lnTo>
                      <a:pt x="18" y="111"/>
                    </a:lnTo>
                    <a:lnTo>
                      <a:pt x="24" y="117"/>
                    </a:lnTo>
                    <a:lnTo>
                      <a:pt x="30" y="117"/>
                    </a:lnTo>
                    <a:lnTo>
                      <a:pt x="37" y="117"/>
                    </a:lnTo>
                    <a:lnTo>
                      <a:pt x="37" y="111"/>
                    </a:lnTo>
                    <a:lnTo>
                      <a:pt x="49" y="99"/>
                    </a:lnTo>
                    <a:lnTo>
                      <a:pt x="55" y="99"/>
                    </a:lnTo>
                    <a:lnTo>
                      <a:pt x="74" y="105"/>
                    </a:lnTo>
                    <a:lnTo>
                      <a:pt x="80" y="105"/>
                    </a:lnTo>
                    <a:lnTo>
                      <a:pt x="92" y="111"/>
                    </a:lnTo>
                    <a:lnTo>
                      <a:pt x="105" y="105"/>
                    </a:lnTo>
                    <a:lnTo>
                      <a:pt x="123" y="105"/>
                    </a:lnTo>
                    <a:lnTo>
                      <a:pt x="136" y="99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44" name="Freeform 123">
                <a:extLst>
                  <a:ext uri="{FF2B5EF4-FFF2-40B4-BE49-F238E27FC236}">
                    <a16:creationId xmlns:a16="http://schemas.microsoft.com/office/drawing/2014/main" id="{2A714F33-8DA7-4035-AF70-FA0EA3285CC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5914" y="3393334"/>
                <a:ext cx="412727" cy="269977"/>
              </a:xfrm>
              <a:custGeom>
                <a:avLst/>
                <a:gdLst>
                  <a:gd name="T0" fmla="*/ 68 w 162"/>
                  <a:gd name="T1" fmla="*/ 0 h 156"/>
                  <a:gd name="T2" fmla="*/ 130 w 162"/>
                  <a:gd name="T3" fmla="*/ 43 h 156"/>
                  <a:gd name="T4" fmla="*/ 137 w 162"/>
                  <a:gd name="T5" fmla="*/ 49 h 156"/>
                  <a:gd name="T6" fmla="*/ 149 w 162"/>
                  <a:gd name="T7" fmla="*/ 56 h 156"/>
                  <a:gd name="T8" fmla="*/ 149 w 162"/>
                  <a:gd name="T9" fmla="*/ 68 h 156"/>
                  <a:gd name="T10" fmla="*/ 161 w 162"/>
                  <a:gd name="T11" fmla="*/ 62 h 156"/>
                  <a:gd name="T12" fmla="*/ 161 w 162"/>
                  <a:gd name="T13" fmla="*/ 93 h 156"/>
                  <a:gd name="T14" fmla="*/ 155 w 162"/>
                  <a:gd name="T15" fmla="*/ 99 h 156"/>
                  <a:gd name="T16" fmla="*/ 124 w 162"/>
                  <a:gd name="T17" fmla="*/ 106 h 156"/>
                  <a:gd name="T18" fmla="*/ 112 w 162"/>
                  <a:gd name="T19" fmla="*/ 106 h 156"/>
                  <a:gd name="T20" fmla="*/ 93 w 162"/>
                  <a:gd name="T21" fmla="*/ 124 h 156"/>
                  <a:gd name="T22" fmla="*/ 80 w 162"/>
                  <a:gd name="T23" fmla="*/ 124 h 156"/>
                  <a:gd name="T24" fmla="*/ 68 w 162"/>
                  <a:gd name="T25" fmla="*/ 143 h 156"/>
                  <a:gd name="T26" fmla="*/ 68 w 162"/>
                  <a:gd name="T27" fmla="*/ 155 h 156"/>
                  <a:gd name="T28" fmla="*/ 62 w 162"/>
                  <a:gd name="T29" fmla="*/ 155 h 156"/>
                  <a:gd name="T30" fmla="*/ 56 w 162"/>
                  <a:gd name="T31" fmla="*/ 149 h 156"/>
                  <a:gd name="T32" fmla="*/ 49 w 162"/>
                  <a:gd name="T33" fmla="*/ 155 h 156"/>
                  <a:gd name="T34" fmla="*/ 37 w 162"/>
                  <a:gd name="T35" fmla="*/ 155 h 156"/>
                  <a:gd name="T36" fmla="*/ 31 w 162"/>
                  <a:gd name="T37" fmla="*/ 131 h 156"/>
                  <a:gd name="T38" fmla="*/ 12 w 162"/>
                  <a:gd name="T39" fmla="*/ 137 h 156"/>
                  <a:gd name="T40" fmla="*/ 6 w 162"/>
                  <a:gd name="T41" fmla="*/ 137 h 156"/>
                  <a:gd name="T42" fmla="*/ 6 w 162"/>
                  <a:gd name="T43" fmla="*/ 131 h 156"/>
                  <a:gd name="T44" fmla="*/ 0 w 162"/>
                  <a:gd name="T45" fmla="*/ 112 h 156"/>
                  <a:gd name="T46" fmla="*/ 6 w 162"/>
                  <a:gd name="T47" fmla="*/ 99 h 156"/>
                  <a:gd name="T48" fmla="*/ 12 w 162"/>
                  <a:gd name="T49" fmla="*/ 106 h 156"/>
                  <a:gd name="T50" fmla="*/ 18 w 162"/>
                  <a:gd name="T51" fmla="*/ 99 h 156"/>
                  <a:gd name="T52" fmla="*/ 62 w 162"/>
                  <a:gd name="T53" fmla="*/ 99 h 156"/>
                  <a:gd name="T54" fmla="*/ 56 w 162"/>
                  <a:gd name="T55" fmla="*/ 0 h 156"/>
                  <a:gd name="T56" fmla="*/ 68 w 162"/>
                  <a:gd name="T57" fmla="*/ 0 h 15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162"/>
                  <a:gd name="T88" fmla="*/ 0 h 156"/>
                  <a:gd name="T89" fmla="*/ 162 w 162"/>
                  <a:gd name="T90" fmla="*/ 156 h 15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162" h="156">
                    <a:moveTo>
                      <a:pt x="68" y="0"/>
                    </a:moveTo>
                    <a:lnTo>
                      <a:pt x="130" y="43"/>
                    </a:lnTo>
                    <a:lnTo>
                      <a:pt x="137" y="49"/>
                    </a:lnTo>
                    <a:lnTo>
                      <a:pt x="149" y="56"/>
                    </a:lnTo>
                    <a:lnTo>
                      <a:pt x="149" y="68"/>
                    </a:lnTo>
                    <a:lnTo>
                      <a:pt x="161" y="62"/>
                    </a:lnTo>
                    <a:lnTo>
                      <a:pt x="161" y="93"/>
                    </a:lnTo>
                    <a:lnTo>
                      <a:pt x="155" y="99"/>
                    </a:lnTo>
                    <a:lnTo>
                      <a:pt x="124" y="106"/>
                    </a:lnTo>
                    <a:lnTo>
                      <a:pt x="112" y="106"/>
                    </a:lnTo>
                    <a:lnTo>
                      <a:pt x="93" y="124"/>
                    </a:lnTo>
                    <a:lnTo>
                      <a:pt x="80" y="124"/>
                    </a:lnTo>
                    <a:lnTo>
                      <a:pt x="68" y="143"/>
                    </a:lnTo>
                    <a:lnTo>
                      <a:pt x="68" y="155"/>
                    </a:lnTo>
                    <a:lnTo>
                      <a:pt x="62" y="155"/>
                    </a:lnTo>
                    <a:lnTo>
                      <a:pt x="56" y="149"/>
                    </a:lnTo>
                    <a:lnTo>
                      <a:pt x="49" y="155"/>
                    </a:lnTo>
                    <a:lnTo>
                      <a:pt x="37" y="155"/>
                    </a:lnTo>
                    <a:lnTo>
                      <a:pt x="31" y="131"/>
                    </a:lnTo>
                    <a:lnTo>
                      <a:pt x="12" y="137"/>
                    </a:lnTo>
                    <a:lnTo>
                      <a:pt x="6" y="137"/>
                    </a:lnTo>
                    <a:lnTo>
                      <a:pt x="6" y="131"/>
                    </a:lnTo>
                    <a:lnTo>
                      <a:pt x="0" y="112"/>
                    </a:lnTo>
                    <a:lnTo>
                      <a:pt x="6" y="99"/>
                    </a:lnTo>
                    <a:lnTo>
                      <a:pt x="12" y="106"/>
                    </a:lnTo>
                    <a:lnTo>
                      <a:pt x="18" y="99"/>
                    </a:lnTo>
                    <a:lnTo>
                      <a:pt x="62" y="99"/>
                    </a:lnTo>
                    <a:lnTo>
                      <a:pt x="56" y="0"/>
                    </a:lnTo>
                    <a:lnTo>
                      <a:pt x="68" y="0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45" name="Freeform 124">
                <a:extLst>
                  <a:ext uri="{FF2B5EF4-FFF2-40B4-BE49-F238E27FC236}">
                    <a16:creationId xmlns:a16="http://schemas.microsoft.com/office/drawing/2014/main" id="{4623D8DD-2255-49BA-B636-DE8F37F0352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631075" y="3360453"/>
                <a:ext cx="300631" cy="214595"/>
              </a:xfrm>
              <a:custGeom>
                <a:avLst/>
                <a:gdLst>
                  <a:gd name="T0" fmla="*/ 0 w 118"/>
                  <a:gd name="T1" fmla="*/ 61 h 124"/>
                  <a:gd name="T2" fmla="*/ 6 w 118"/>
                  <a:gd name="T3" fmla="*/ 61 h 124"/>
                  <a:gd name="T4" fmla="*/ 37 w 118"/>
                  <a:gd name="T5" fmla="*/ 61 h 124"/>
                  <a:gd name="T6" fmla="*/ 37 w 118"/>
                  <a:gd name="T7" fmla="*/ 43 h 124"/>
                  <a:gd name="T8" fmla="*/ 49 w 118"/>
                  <a:gd name="T9" fmla="*/ 37 h 124"/>
                  <a:gd name="T10" fmla="*/ 49 w 118"/>
                  <a:gd name="T11" fmla="*/ 12 h 124"/>
                  <a:gd name="T12" fmla="*/ 80 w 118"/>
                  <a:gd name="T13" fmla="*/ 12 h 124"/>
                  <a:gd name="T14" fmla="*/ 80 w 118"/>
                  <a:gd name="T15" fmla="*/ 0 h 124"/>
                  <a:gd name="T16" fmla="*/ 117 w 118"/>
                  <a:gd name="T17" fmla="*/ 24 h 124"/>
                  <a:gd name="T18" fmla="*/ 99 w 118"/>
                  <a:gd name="T19" fmla="*/ 24 h 124"/>
                  <a:gd name="T20" fmla="*/ 111 w 118"/>
                  <a:gd name="T21" fmla="*/ 117 h 124"/>
                  <a:gd name="T22" fmla="*/ 68 w 118"/>
                  <a:gd name="T23" fmla="*/ 117 h 124"/>
                  <a:gd name="T24" fmla="*/ 62 w 118"/>
                  <a:gd name="T25" fmla="*/ 123 h 124"/>
                  <a:gd name="T26" fmla="*/ 55 w 118"/>
                  <a:gd name="T27" fmla="*/ 117 h 124"/>
                  <a:gd name="T28" fmla="*/ 49 w 118"/>
                  <a:gd name="T29" fmla="*/ 123 h 124"/>
                  <a:gd name="T30" fmla="*/ 37 w 118"/>
                  <a:gd name="T31" fmla="*/ 117 h 124"/>
                  <a:gd name="T32" fmla="*/ 24 w 118"/>
                  <a:gd name="T33" fmla="*/ 105 h 124"/>
                  <a:gd name="T34" fmla="*/ 6 w 118"/>
                  <a:gd name="T35" fmla="*/ 111 h 124"/>
                  <a:gd name="T36" fmla="*/ 0 w 118"/>
                  <a:gd name="T37" fmla="*/ 111 h 124"/>
                  <a:gd name="T38" fmla="*/ 6 w 118"/>
                  <a:gd name="T39" fmla="*/ 86 h 124"/>
                  <a:gd name="T40" fmla="*/ 0 w 118"/>
                  <a:gd name="T41" fmla="*/ 80 h 124"/>
                  <a:gd name="T42" fmla="*/ 6 w 118"/>
                  <a:gd name="T43" fmla="*/ 68 h 124"/>
                  <a:gd name="T44" fmla="*/ 0 w 118"/>
                  <a:gd name="T45" fmla="*/ 61 h 124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118"/>
                  <a:gd name="T70" fmla="*/ 0 h 124"/>
                  <a:gd name="T71" fmla="*/ 118 w 118"/>
                  <a:gd name="T72" fmla="*/ 124 h 124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118" h="124">
                    <a:moveTo>
                      <a:pt x="0" y="61"/>
                    </a:moveTo>
                    <a:lnTo>
                      <a:pt x="6" y="61"/>
                    </a:lnTo>
                    <a:lnTo>
                      <a:pt x="37" y="61"/>
                    </a:lnTo>
                    <a:lnTo>
                      <a:pt x="37" y="43"/>
                    </a:lnTo>
                    <a:lnTo>
                      <a:pt x="49" y="37"/>
                    </a:lnTo>
                    <a:lnTo>
                      <a:pt x="49" y="12"/>
                    </a:lnTo>
                    <a:lnTo>
                      <a:pt x="80" y="12"/>
                    </a:lnTo>
                    <a:lnTo>
                      <a:pt x="80" y="0"/>
                    </a:lnTo>
                    <a:lnTo>
                      <a:pt x="117" y="24"/>
                    </a:lnTo>
                    <a:lnTo>
                      <a:pt x="99" y="24"/>
                    </a:lnTo>
                    <a:lnTo>
                      <a:pt x="111" y="117"/>
                    </a:lnTo>
                    <a:lnTo>
                      <a:pt x="68" y="117"/>
                    </a:lnTo>
                    <a:lnTo>
                      <a:pt x="62" y="123"/>
                    </a:lnTo>
                    <a:lnTo>
                      <a:pt x="55" y="117"/>
                    </a:lnTo>
                    <a:lnTo>
                      <a:pt x="49" y="123"/>
                    </a:lnTo>
                    <a:lnTo>
                      <a:pt x="37" y="117"/>
                    </a:lnTo>
                    <a:lnTo>
                      <a:pt x="24" y="105"/>
                    </a:lnTo>
                    <a:lnTo>
                      <a:pt x="6" y="111"/>
                    </a:lnTo>
                    <a:lnTo>
                      <a:pt x="0" y="111"/>
                    </a:lnTo>
                    <a:lnTo>
                      <a:pt x="6" y="86"/>
                    </a:lnTo>
                    <a:lnTo>
                      <a:pt x="0" y="80"/>
                    </a:lnTo>
                    <a:lnTo>
                      <a:pt x="6" y="68"/>
                    </a:lnTo>
                    <a:lnTo>
                      <a:pt x="0" y="61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46" name="Freeform 125">
                <a:extLst>
                  <a:ext uri="{FF2B5EF4-FFF2-40B4-BE49-F238E27FC236}">
                    <a16:creationId xmlns:a16="http://schemas.microsoft.com/office/drawing/2014/main" id="{2F59089E-A0BC-47DB-9C7B-FA31C1A05BC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631075" y="3350068"/>
                <a:ext cx="206366" cy="119413"/>
              </a:xfrm>
              <a:custGeom>
                <a:avLst/>
                <a:gdLst>
                  <a:gd name="T0" fmla="*/ 0 w 81"/>
                  <a:gd name="T1" fmla="*/ 68 h 69"/>
                  <a:gd name="T2" fmla="*/ 6 w 81"/>
                  <a:gd name="T3" fmla="*/ 62 h 69"/>
                  <a:gd name="T4" fmla="*/ 37 w 81"/>
                  <a:gd name="T5" fmla="*/ 62 h 69"/>
                  <a:gd name="T6" fmla="*/ 37 w 81"/>
                  <a:gd name="T7" fmla="*/ 50 h 69"/>
                  <a:gd name="T8" fmla="*/ 49 w 81"/>
                  <a:gd name="T9" fmla="*/ 43 h 69"/>
                  <a:gd name="T10" fmla="*/ 49 w 81"/>
                  <a:gd name="T11" fmla="*/ 18 h 69"/>
                  <a:gd name="T12" fmla="*/ 80 w 81"/>
                  <a:gd name="T13" fmla="*/ 18 h 69"/>
                  <a:gd name="T14" fmla="*/ 80 w 81"/>
                  <a:gd name="T15" fmla="*/ 6 h 69"/>
                  <a:gd name="T16" fmla="*/ 80 w 81"/>
                  <a:gd name="T17" fmla="*/ 0 h 69"/>
                  <a:gd name="T18" fmla="*/ 43 w 81"/>
                  <a:gd name="T19" fmla="*/ 0 h 69"/>
                  <a:gd name="T20" fmla="*/ 37 w 81"/>
                  <a:gd name="T21" fmla="*/ 0 h 69"/>
                  <a:gd name="T22" fmla="*/ 31 w 81"/>
                  <a:gd name="T23" fmla="*/ 12 h 69"/>
                  <a:gd name="T24" fmla="*/ 24 w 81"/>
                  <a:gd name="T25" fmla="*/ 18 h 69"/>
                  <a:gd name="T26" fmla="*/ 18 w 81"/>
                  <a:gd name="T27" fmla="*/ 31 h 69"/>
                  <a:gd name="T28" fmla="*/ 0 w 81"/>
                  <a:gd name="T29" fmla="*/ 56 h 69"/>
                  <a:gd name="T30" fmla="*/ 0 w 81"/>
                  <a:gd name="T31" fmla="*/ 68 h 69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81"/>
                  <a:gd name="T49" fmla="*/ 0 h 69"/>
                  <a:gd name="T50" fmla="*/ 81 w 81"/>
                  <a:gd name="T51" fmla="*/ 69 h 69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81" h="69">
                    <a:moveTo>
                      <a:pt x="0" y="68"/>
                    </a:moveTo>
                    <a:lnTo>
                      <a:pt x="6" y="62"/>
                    </a:lnTo>
                    <a:lnTo>
                      <a:pt x="37" y="62"/>
                    </a:lnTo>
                    <a:lnTo>
                      <a:pt x="37" y="50"/>
                    </a:lnTo>
                    <a:lnTo>
                      <a:pt x="49" y="43"/>
                    </a:lnTo>
                    <a:lnTo>
                      <a:pt x="49" y="18"/>
                    </a:lnTo>
                    <a:lnTo>
                      <a:pt x="80" y="18"/>
                    </a:lnTo>
                    <a:lnTo>
                      <a:pt x="80" y="6"/>
                    </a:lnTo>
                    <a:lnTo>
                      <a:pt x="80" y="0"/>
                    </a:lnTo>
                    <a:lnTo>
                      <a:pt x="43" y="0"/>
                    </a:lnTo>
                    <a:lnTo>
                      <a:pt x="37" y="0"/>
                    </a:lnTo>
                    <a:lnTo>
                      <a:pt x="31" y="12"/>
                    </a:lnTo>
                    <a:lnTo>
                      <a:pt x="24" y="18"/>
                    </a:lnTo>
                    <a:lnTo>
                      <a:pt x="18" y="31"/>
                    </a:lnTo>
                    <a:lnTo>
                      <a:pt x="0" y="56"/>
                    </a:lnTo>
                    <a:lnTo>
                      <a:pt x="0" y="68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47" name="Freeform 126">
                <a:extLst>
                  <a:ext uri="{FF2B5EF4-FFF2-40B4-BE49-F238E27FC236}">
                    <a16:creationId xmlns:a16="http://schemas.microsoft.com/office/drawing/2014/main" id="{51CF271C-E87C-4CAC-88CB-D95D95CD45A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615791" y="3543897"/>
                <a:ext cx="155409" cy="74415"/>
              </a:xfrm>
              <a:custGeom>
                <a:avLst/>
                <a:gdLst>
                  <a:gd name="T0" fmla="*/ 6 w 61"/>
                  <a:gd name="T1" fmla="*/ 36 h 43"/>
                  <a:gd name="T2" fmla="*/ 12 w 61"/>
                  <a:gd name="T3" fmla="*/ 36 h 43"/>
                  <a:gd name="T4" fmla="*/ 24 w 61"/>
                  <a:gd name="T5" fmla="*/ 36 h 43"/>
                  <a:gd name="T6" fmla="*/ 36 w 61"/>
                  <a:gd name="T7" fmla="*/ 36 h 43"/>
                  <a:gd name="T8" fmla="*/ 36 w 61"/>
                  <a:gd name="T9" fmla="*/ 30 h 43"/>
                  <a:gd name="T10" fmla="*/ 24 w 61"/>
                  <a:gd name="T11" fmla="*/ 30 h 43"/>
                  <a:gd name="T12" fmla="*/ 12 w 61"/>
                  <a:gd name="T13" fmla="*/ 30 h 43"/>
                  <a:gd name="T14" fmla="*/ 6 w 61"/>
                  <a:gd name="T15" fmla="*/ 36 h 43"/>
                  <a:gd name="T16" fmla="*/ 6 w 61"/>
                  <a:gd name="T17" fmla="*/ 30 h 43"/>
                  <a:gd name="T18" fmla="*/ 0 w 61"/>
                  <a:gd name="T19" fmla="*/ 24 h 43"/>
                  <a:gd name="T20" fmla="*/ 12 w 61"/>
                  <a:gd name="T21" fmla="*/ 6 h 43"/>
                  <a:gd name="T22" fmla="*/ 30 w 61"/>
                  <a:gd name="T23" fmla="*/ 0 h 43"/>
                  <a:gd name="T24" fmla="*/ 42 w 61"/>
                  <a:gd name="T25" fmla="*/ 12 h 43"/>
                  <a:gd name="T26" fmla="*/ 54 w 61"/>
                  <a:gd name="T27" fmla="*/ 24 h 43"/>
                  <a:gd name="T28" fmla="*/ 60 w 61"/>
                  <a:gd name="T29" fmla="*/ 42 h 43"/>
                  <a:gd name="T30" fmla="*/ 36 w 61"/>
                  <a:gd name="T31" fmla="*/ 42 h 43"/>
                  <a:gd name="T32" fmla="*/ 6 w 61"/>
                  <a:gd name="T33" fmla="*/ 42 h 43"/>
                  <a:gd name="T34" fmla="*/ 6 w 61"/>
                  <a:gd name="T35" fmla="*/ 36 h 43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61"/>
                  <a:gd name="T55" fmla="*/ 0 h 43"/>
                  <a:gd name="T56" fmla="*/ 61 w 61"/>
                  <a:gd name="T57" fmla="*/ 43 h 43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61" h="43">
                    <a:moveTo>
                      <a:pt x="6" y="36"/>
                    </a:moveTo>
                    <a:lnTo>
                      <a:pt x="12" y="36"/>
                    </a:lnTo>
                    <a:lnTo>
                      <a:pt x="24" y="36"/>
                    </a:lnTo>
                    <a:lnTo>
                      <a:pt x="36" y="36"/>
                    </a:lnTo>
                    <a:lnTo>
                      <a:pt x="36" y="30"/>
                    </a:lnTo>
                    <a:lnTo>
                      <a:pt x="24" y="30"/>
                    </a:lnTo>
                    <a:lnTo>
                      <a:pt x="12" y="30"/>
                    </a:lnTo>
                    <a:lnTo>
                      <a:pt x="6" y="36"/>
                    </a:lnTo>
                    <a:lnTo>
                      <a:pt x="6" y="30"/>
                    </a:lnTo>
                    <a:lnTo>
                      <a:pt x="0" y="24"/>
                    </a:lnTo>
                    <a:lnTo>
                      <a:pt x="12" y="6"/>
                    </a:lnTo>
                    <a:lnTo>
                      <a:pt x="30" y="0"/>
                    </a:lnTo>
                    <a:lnTo>
                      <a:pt x="42" y="12"/>
                    </a:lnTo>
                    <a:lnTo>
                      <a:pt x="54" y="24"/>
                    </a:lnTo>
                    <a:lnTo>
                      <a:pt x="60" y="42"/>
                    </a:lnTo>
                    <a:lnTo>
                      <a:pt x="36" y="42"/>
                    </a:lnTo>
                    <a:lnTo>
                      <a:pt x="6" y="42"/>
                    </a:lnTo>
                    <a:lnTo>
                      <a:pt x="6" y="36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48" name="Freeform 127">
                <a:extLst>
                  <a:ext uri="{FF2B5EF4-FFF2-40B4-BE49-F238E27FC236}">
                    <a16:creationId xmlns:a16="http://schemas.microsoft.com/office/drawing/2014/main" id="{9DD6E5AE-D10C-4658-BA3D-A0270A671BF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676936" y="3620044"/>
                <a:ext cx="191079" cy="95185"/>
              </a:xfrm>
              <a:custGeom>
                <a:avLst/>
                <a:gdLst>
                  <a:gd name="T0" fmla="*/ 68 w 75"/>
                  <a:gd name="T1" fmla="*/ 48 h 55"/>
                  <a:gd name="T2" fmla="*/ 68 w 75"/>
                  <a:gd name="T3" fmla="*/ 48 h 55"/>
                  <a:gd name="T4" fmla="*/ 68 w 75"/>
                  <a:gd name="T5" fmla="*/ 42 h 55"/>
                  <a:gd name="T6" fmla="*/ 74 w 75"/>
                  <a:gd name="T7" fmla="*/ 42 h 55"/>
                  <a:gd name="T8" fmla="*/ 68 w 75"/>
                  <a:gd name="T9" fmla="*/ 30 h 55"/>
                  <a:gd name="T10" fmla="*/ 68 w 75"/>
                  <a:gd name="T11" fmla="*/ 24 h 55"/>
                  <a:gd name="T12" fmla="*/ 62 w 75"/>
                  <a:gd name="T13" fmla="*/ 0 h 55"/>
                  <a:gd name="T14" fmla="*/ 43 w 75"/>
                  <a:gd name="T15" fmla="*/ 6 h 55"/>
                  <a:gd name="T16" fmla="*/ 37 w 75"/>
                  <a:gd name="T17" fmla="*/ 6 h 55"/>
                  <a:gd name="T18" fmla="*/ 37 w 75"/>
                  <a:gd name="T19" fmla="*/ 0 h 55"/>
                  <a:gd name="T20" fmla="*/ 12 w 75"/>
                  <a:gd name="T21" fmla="*/ 0 h 55"/>
                  <a:gd name="T22" fmla="*/ 12 w 75"/>
                  <a:gd name="T23" fmla="*/ 12 h 55"/>
                  <a:gd name="T24" fmla="*/ 0 w 75"/>
                  <a:gd name="T25" fmla="*/ 18 h 55"/>
                  <a:gd name="T26" fmla="*/ 18 w 75"/>
                  <a:gd name="T27" fmla="*/ 36 h 55"/>
                  <a:gd name="T28" fmla="*/ 24 w 75"/>
                  <a:gd name="T29" fmla="*/ 24 h 55"/>
                  <a:gd name="T30" fmla="*/ 37 w 75"/>
                  <a:gd name="T31" fmla="*/ 24 h 55"/>
                  <a:gd name="T32" fmla="*/ 43 w 75"/>
                  <a:gd name="T33" fmla="*/ 36 h 55"/>
                  <a:gd name="T34" fmla="*/ 43 w 75"/>
                  <a:gd name="T35" fmla="*/ 42 h 55"/>
                  <a:gd name="T36" fmla="*/ 49 w 75"/>
                  <a:gd name="T37" fmla="*/ 42 h 55"/>
                  <a:gd name="T38" fmla="*/ 56 w 75"/>
                  <a:gd name="T39" fmla="*/ 42 h 55"/>
                  <a:gd name="T40" fmla="*/ 62 w 75"/>
                  <a:gd name="T41" fmla="*/ 54 h 55"/>
                  <a:gd name="T42" fmla="*/ 68 w 75"/>
                  <a:gd name="T43" fmla="*/ 48 h 55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75"/>
                  <a:gd name="T67" fmla="*/ 0 h 55"/>
                  <a:gd name="T68" fmla="*/ 75 w 75"/>
                  <a:gd name="T69" fmla="*/ 55 h 55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75" h="55">
                    <a:moveTo>
                      <a:pt x="68" y="48"/>
                    </a:moveTo>
                    <a:lnTo>
                      <a:pt x="68" y="48"/>
                    </a:lnTo>
                    <a:lnTo>
                      <a:pt x="68" y="42"/>
                    </a:lnTo>
                    <a:lnTo>
                      <a:pt x="74" y="42"/>
                    </a:lnTo>
                    <a:lnTo>
                      <a:pt x="68" y="30"/>
                    </a:lnTo>
                    <a:lnTo>
                      <a:pt x="68" y="24"/>
                    </a:lnTo>
                    <a:lnTo>
                      <a:pt x="62" y="0"/>
                    </a:lnTo>
                    <a:lnTo>
                      <a:pt x="43" y="6"/>
                    </a:lnTo>
                    <a:lnTo>
                      <a:pt x="37" y="6"/>
                    </a:lnTo>
                    <a:lnTo>
                      <a:pt x="37" y="0"/>
                    </a:lnTo>
                    <a:lnTo>
                      <a:pt x="12" y="0"/>
                    </a:lnTo>
                    <a:lnTo>
                      <a:pt x="12" y="12"/>
                    </a:lnTo>
                    <a:lnTo>
                      <a:pt x="0" y="18"/>
                    </a:lnTo>
                    <a:lnTo>
                      <a:pt x="18" y="36"/>
                    </a:lnTo>
                    <a:lnTo>
                      <a:pt x="24" y="24"/>
                    </a:lnTo>
                    <a:lnTo>
                      <a:pt x="37" y="24"/>
                    </a:lnTo>
                    <a:lnTo>
                      <a:pt x="43" y="36"/>
                    </a:lnTo>
                    <a:lnTo>
                      <a:pt x="43" y="42"/>
                    </a:lnTo>
                    <a:lnTo>
                      <a:pt x="49" y="42"/>
                    </a:lnTo>
                    <a:lnTo>
                      <a:pt x="56" y="42"/>
                    </a:lnTo>
                    <a:lnTo>
                      <a:pt x="62" y="54"/>
                    </a:lnTo>
                    <a:lnTo>
                      <a:pt x="68" y="48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49" name="Freeform 128">
                <a:extLst>
                  <a:ext uri="{FF2B5EF4-FFF2-40B4-BE49-F238E27FC236}">
                    <a16:creationId xmlns:a16="http://schemas.microsoft.com/office/drawing/2014/main" id="{4CCB9433-6EEF-4E7F-B46C-91B0E662D93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25340" y="3663309"/>
                <a:ext cx="78978" cy="53650"/>
              </a:xfrm>
              <a:custGeom>
                <a:avLst/>
                <a:gdLst>
                  <a:gd name="T0" fmla="*/ 0 w 31"/>
                  <a:gd name="T1" fmla="*/ 12 h 31"/>
                  <a:gd name="T2" fmla="*/ 6 w 31"/>
                  <a:gd name="T3" fmla="*/ 0 h 31"/>
                  <a:gd name="T4" fmla="*/ 18 w 31"/>
                  <a:gd name="T5" fmla="*/ 0 h 31"/>
                  <a:gd name="T6" fmla="*/ 24 w 31"/>
                  <a:gd name="T7" fmla="*/ 12 h 31"/>
                  <a:gd name="T8" fmla="*/ 24 w 31"/>
                  <a:gd name="T9" fmla="*/ 18 h 31"/>
                  <a:gd name="T10" fmla="*/ 30 w 31"/>
                  <a:gd name="T11" fmla="*/ 18 h 31"/>
                  <a:gd name="T12" fmla="*/ 18 w 31"/>
                  <a:gd name="T13" fmla="*/ 30 h 31"/>
                  <a:gd name="T14" fmla="*/ 6 w 31"/>
                  <a:gd name="T15" fmla="*/ 30 h 31"/>
                  <a:gd name="T16" fmla="*/ 0 w 31"/>
                  <a:gd name="T17" fmla="*/ 24 h 31"/>
                  <a:gd name="T18" fmla="*/ 0 w 31"/>
                  <a:gd name="T19" fmla="*/ 12 h 3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1"/>
                  <a:gd name="T31" fmla="*/ 0 h 31"/>
                  <a:gd name="T32" fmla="*/ 31 w 31"/>
                  <a:gd name="T33" fmla="*/ 31 h 3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1" h="31">
                    <a:moveTo>
                      <a:pt x="0" y="12"/>
                    </a:moveTo>
                    <a:lnTo>
                      <a:pt x="6" y="0"/>
                    </a:lnTo>
                    <a:lnTo>
                      <a:pt x="18" y="0"/>
                    </a:lnTo>
                    <a:lnTo>
                      <a:pt x="24" y="12"/>
                    </a:lnTo>
                    <a:lnTo>
                      <a:pt x="24" y="18"/>
                    </a:lnTo>
                    <a:lnTo>
                      <a:pt x="30" y="18"/>
                    </a:lnTo>
                    <a:lnTo>
                      <a:pt x="18" y="30"/>
                    </a:lnTo>
                    <a:lnTo>
                      <a:pt x="6" y="30"/>
                    </a:lnTo>
                    <a:lnTo>
                      <a:pt x="0" y="24"/>
                    </a:lnTo>
                    <a:lnTo>
                      <a:pt x="0" y="12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50" name="Freeform 129">
                <a:extLst>
                  <a:ext uri="{FF2B5EF4-FFF2-40B4-BE49-F238E27FC236}">
                    <a16:creationId xmlns:a16="http://schemas.microsoft.com/office/drawing/2014/main" id="{7CF1A8E4-E5CC-44F9-B0FE-DD47A1E4501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71200" y="3694460"/>
                <a:ext cx="96813" cy="64032"/>
              </a:xfrm>
              <a:custGeom>
                <a:avLst/>
                <a:gdLst>
                  <a:gd name="T0" fmla="*/ 37 w 38"/>
                  <a:gd name="T1" fmla="*/ 36 h 37"/>
                  <a:gd name="T2" fmla="*/ 37 w 38"/>
                  <a:gd name="T3" fmla="*/ 24 h 37"/>
                  <a:gd name="T4" fmla="*/ 31 w 38"/>
                  <a:gd name="T5" fmla="*/ 18 h 37"/>
                  <a:gd name="T6" fmla="*/ 31 w 38"/>
                  <a:gd name="T7" fmla="*/ 6 h 37"/>
                  <a:gd name="T8" fmla="*/ 25 w 38"/>
                  <a:gd name="T9" fmla="*/ 12 h 37"/>
                  <a:gd name="T10" fmla="*/ 18 w 38"/>
                  <a:gd name="T11" fmla="*/ 0 h 37"/>
                  <a:gd name="T12" fmla="*/ 12 w 38"/>
                  <a:gd name="T13" fmla="*/ 0 h 37"/>
                  <a:gd name="T14" fmla="*/ 0 w 38"/>
                  <a:gd name="T15" fmla="*/ 12 h 37"/>
                  <a:gd name="T16" fmla="*/ 31 w 38"/>
                  <a:gd name="T17" fmla="*/ 36 h 37"/>
                  <a:gd name="T18" fmla="*/ 37 w 38"/>
                  <a:gd name="T19" fmla="*/ 36 h 3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8"/>
                  <a:gd name="T31" fmla="*/ 0 h 37"/>
                  <a:gd name="T32" fmla="*/ 38 w 38"/>
                  <a:gd name="T33" fmla="*/ 37 h 3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8" h="37">
                    <a:moveTo>
                      <a:pt x="37" y="36"/>
                    </a:moveTo>
                    <a:lnTo>
                      <a:pt x="37" y="24"/>
                    </a:lnTo>
                    <a:lnTo>
                      <a:pt x="31" y="18"/>
                    </a:lnTo>
                    <a:lnTo>
                      <a:pt x="31" y="6"/>
                    </a:lnTo>
                    <a:lnTo>
                      <a:pt x="25" y="12"/>
                    </a:lnTo>
                    <a:lnTo>
                      <a:pt x="18" y="0"/>
                    </a:lnTo>
                    <a:lnTo>
                      <a:pt x="12" y="0"/>
                    </a:lnTo>
                    <a:lnTo>
                      <a:pt x="0" y="12"/>
                    </a:lnTo>
                    <a:lnTo>
                      <a:pt x="31" y="36"/>
                    </a:lnTo>
                    <a:lnTo>
                      <a:pt x="37" y="36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51" name="Freeform 130">
                <a:extLst>
                  <a:ext uri="{FF2B5EF4-FFF2-40B4-BE49-F238E27FC236}">
                    <a16:creationId xmlns:a16="http://schemas.microsoft.com/office/drawing/2014/main" id="{D9126F44-2CFC-4B19-A004-A75EB5858BB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37439" y="3651196"/>
                <a:ext cx="155409" cy="107299"/>
              </a:xfrm>
              <a:custGeom>
                <a:avLst/>
                <a:gdLst>
                  <a:gd name="T0" fmla="*/ 54 w 61"/>
                  <a:gd name="T1" fmla="*/ 55 h 62"/>
                  <a:gd name="T2" fmla="*/ 60 w 61"/>
                  <a:gd name="T3" fmla="*/ 55 h 62"/>
                  <a:gd name="T4" fmla="*/ 54 w 61"/>
                  <a:gd name="T5" fmla="*/ 43 h 62"/>
                  <a:gd name="T6" fmla="*/ 60 w 61"/>
                  <a:gd name="T7" fmla="*/ 24 h 62"/>
                  <a:gd name="T8" fmla="*/ 60 w 61"/>
                  <a:gd name="T9" fmla="*/ 12 h 62"/>
                  <a:gd name="T10" fmla="*/ 54 w 61"/>
                  <a:gd name="T11" fmla="*/ 6 h 62"/>
                  <a:gd name="T12" fmla="*/ 36 w 61"/>
                  <a:gd name="T13" fmla="*/ 6 h 62"/>
                  <a:gd name="T14" fmla="*/ 30 w 61"/>
                  <a:gd name="T15" fmla="*/ 6 h 62"/>
                  <a:gd name="T16" fmla="*/ 24 w 61"/>
                  <a:gd name="T17" fmla="*/ 0 h 62"/>
                  <a:gd name="T18" fmla="*/ 18 w 61"/>
                  <a:gd name="T19" fmla="*/ 6 h 62"/>
                  <a:gd name="T20" fmla="*/ 6 w 61"/>
                  <a:gd name="T21" fmla="*/ 6 h 62"/>
                  <a:gd name="T22" fmla="*/ 6 w 61"/>
                  <a:gd name="T23" fmla="*/ 12 h 62"/>
                  <a:gd name="T24" fmla="*/ 12 w 61"/>
                  <a:gd name="T25" fmla="*/ 24 h 62"/>
                  <a:gd name="T26" fmla="*/ 6 w 61"/>
                  <a:gd name="T27" fmla="*/ 24 h 62"/>
                  <a:gd name="T28" fmla="*/ 6 w 61"/>
                  <a:gd name="T29" fmla="*/ 30 h 62"/>
                  <a:gd name="T30" fmla="*/ 0 w 61"/>
                  <a:gd name="T31" fmla="*/ 30 h 62"/>
                  <a:gd name="T32" fmla="*/ 6 w 61"/>
                  <a:gd name="T33" fmla="*/ 43 h 62"/>
                  <a:gd name="T34" fmla="*/ 12 w 61"/>
                  <a:gd name="T35" fmla="*/ 49 h 62"/>
                  <a:gd name="T36" fmla="*/ 12 w 61"/>
                  <a:gd name="T37" fmla="*/ 61 h 62"/>
                  <a:gd name="T38" fmla="*/ 30 w 61"/>
                  <a:gd name="T39" fmla="*/ 55 h 62"/>
                  <a:gd name="T40" fmla="*/ 48 w 61"/>
                  <a:gd name="T41" fmla="*/ 55 h 62"/>
                  <a:gd name="T42" fmla="*/ 54 w 61"/>
                  <a:gd name="T43" fmla="*/ 55 h 62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61"/>
                  <a:gd name="T67" fmla="*/ 0 h 62"/>
                  <a:gd name="T68" fmla="*/ 61 w 61"/>
                  <a:gd name="T69" fmla="*/ 62 h 62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61" h="62">
                    <a:moveTo>
                      <a:pt x="54" y="55"/>
                    </a:moveTo>
                    <a:lnTo>
                      <a:pt x="60" y="55"/>
                    </a:lnTo>
                    <a:lnTo>
                      <a:pt x="54" y="43"/>
                    </a:lnTo>
                    <a:lnTo>
                      <a:pt x="60" y="24"/>
                    </a:lnTo>
                    <a:lnTo>
                      <a:pt x="60" y="12"/>
                    </a:lnTo>
                    <a:lnTo>
                      <a:pt x="54" y="6"/>
                    </a:lnTo>
                    <a:lnTo>
                      <a:pt x="36" y="6"/>
                    </a:lnTo>
                    <a:lnTo>
                      <a:pt x="30" y="6"/>
                    </a:lnTo>
                    <a:lnTo>
                      <a:pt x="24" y="0"/>
                    </a:lnTo>
                    <a:lnTo>
                      <a:pt x="18" y="6"/>
                    </a:lnTo>
                    <a:lnTo>
                      <a:pt x="6" y="6"/>
                    </a:lnTo>
                    <a:lnTo>
                      <a:pt x="6" y="12"/>
                    </a:lnTo>
                    <a:lnTo>
                      <a:pt x="12" y="24"/>
                    </a:lnTo>
                    <a:lnTo>
                      <a:pt x="6" y="24"/>
                    </a:lnTo>
                    <a:lnTo>
                      <a:pt x="6" y="30"/>
                    </a:lnTo>
                    <a:lnTo>
                      <a:pt x="0" y="30"/>
                    </a:lnTo>
                    <a:lnTo>
                      <a:pt x="6" y="43"/>
                    </a:lnTo>
                    <a:lnTo>
                      <a:pt x="12" y="49"/>
                    </a:lnTo>
                    <a:lnTo>
                      <a:pt x="12" y="61"/>
                    </a:lnTo>
                    <a:lnTo>
                      <a:pt x="30" y="55"/>
                    </a:lnTo>
                    <a:lnTo>
                      <a:pt x="48" y="55"/>
                    </a:lnTo>
                    <a:lnTo>
                      <a:pt x="54" y="55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52" name="Freeform 131">
                <a:extLst>
                  <a:ext uri="{FF2B5EF4-FFF2-40B4-BE49-F238E27FC236}">
                    <a16:creationId xmlns:a16="http://schemas.microsoft.com/office/drawing/2014/main" id="{129B15CE-9E56-4FEE-81B1-DABC67FE0DC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931705" y="3575049"/>
                <a:ext cx="191079" cy="98645"/>
              </a:xfrm>
              <a:custGeom>
                <a:avLst/>
                <a:gdLst>
                  <a:gd name="T0" fmla="*/ 0 w 75"/>
                  <a:gd name="T1" fmla="*/ 50 h 57"/>
                  <a:gd name="T2" fmla="*/ 0 w 75"/>
                  <a:gd name="T3" fmla="*/ 37 h 57"/>
                  <a:gd name="T4" fmla="*/ 12 w 75"/>
                  <a:gd name="T5" fmla="*/ 18 h 57"/>
                  <a:gd name="T6" fmla="*/ 24 w 75"/>
                  <a:gd name="T7" fmla="*/ 12 h 57"/>
                  <a:gd name="T8" fmla="*/ 43 w 75"/>
                  <a:gd name="T9" fmla="*/ 0 h 57"/>
                  <a:gd name="T10" fmla="*/ 56 w 75"/>
                  <a:gd name="T11" fmla="*/ 0 h 57"/>
                  <a:gd name="T12" fmla="*/ 56 w 75"/>
                  <a:gd name="T13" fmla="*/ 12 h 57"/>
                  <a:gd name="T14" fmla="*/ 68 w 75"/>
                  <a:gd name="T15" fmla="*/ 25 h 57"/>
                  <a:gd name="T16" fmla="*/ 74 w 75"/>
                  <a:gd name="T17" fmla="*/ 25 h 57"/>
                  <a:gd name="T18" fmla="*/ 74 w 75"/>
                  <a:gd name="T19" fmla="*/ 31 h 57"/>
                  <a:gd name="T20" fmla="*/ 62 w 75"/>
                  <a:gd name="T21" fmla="*/ 44 h 57"/>
                  <a:gd name="T22" fmla="*/ 49 w 75"/>
                  <a:gd name="T23" fmla="*/ 37 h 57"/>
                  <a:gd name="T24" fmla="*/ 24 w 75"/>
                  <a:gd name="T25" fmla="*/ 44 h 57"/>
                  <a:gd name="T26" fmla="*/ 24 w 75"/>
                  <a:gd name="T27" fmla="*/ 56 h 57"/>
                  <a:gd name="T28" fmla="*/ 18 w 75"/>
                  <a:gd name="T29" fmla="*/ 50 h 57"/>
                  <a:gd name="T30" fmla="*/ 6 w 75"/>
                  <a:gd name="T31" fmla="*/ 50 h 57"/>
                  <a:gd name="T32" fmla="*/ 0 w 75"/>
                  <a:gd name="T33" fmla="*/ 50 h 5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75"/>
                  <a:gd name="T52" fmla="*/ 0 h 57"/>
                  <a:gd name="T53" fmla="*/ 75 w 75"/>
                  <a:gd name="T54" fmla="*/ 57 h 5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75" h="57">
                    <a:moveTo>
                      <a:pt x="0" y="50"/>
                    </a:moveTo>
                    <a:lnTo>
                      <a:pt x="0" y="37"/>
                    </a:lnTo>
                    <a:lnTo>
                      <a:pt x="12" y="18"/>
                    </a:lnTo>
                    <a:lnTo>
                      <a:pt x="24" y="12"/>
                    </a:lnTo>
                    <a:lnTo>
                      <a:pt x="43" y="0"/>
                    </a:lnTo>
                    <a:lnTo>
                      <a:pt x="56" y="0"/>
                    </a:lnTo>
                    <a:lnTo>
                      <a:pt x="56" y="12"/>
                    </a:lnTo>
                    <a:lnTo>
                      <a:pt x="68" y="25"/>
                    </a:lnTo>
                    <a:lnTo>
                      <a:pt x="74" y="25"/>
                    </a:lnTo>
                    <a:lnTo>
                      <a:pt x="74" y="31"/>
                    </a:lnTo>
                    <a:lnTo>
                      <a:pt x="62" y="44"/>
                    </a:lnTo>
                    <a:lnTo>
                      <a:pt x="49" y="37"/>
                    </a:lnTo>
                    <a:lnTo>
                      <a:pt x="24" y="44"/>
                    </a:lnTo>
                    <a:lnTo>
                      <a:pt x="24" y="56"/>
                    </a:lnTo>
                    <a:lnTo>
                      <a:pt x="18" y="50"/>
                    </a:lnTo>
                    <a:lnTo>
                      <a:pt x="6" y="50"/>
                    </a:lnTo>
                    <a:lnTo>
                      <a:pt x="0" y="50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53" name="Freeform 132">
                <a:extLst>
                  <a:ext uri="{FF2B5EF4-FFF2-40B4-BE49-F238E27FC236}">
                    <a16:creationId xmlns:a16="http://schemas.microsoft.com/office/drawing/2014/main" id="{2370522D-5DAC-45F1-9C42-04F48E8B6E7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977566" y="3640811"/>
                <a:ext cx="112099" cy="117681"/>
              </a:xfrm>
              <a:custGeom>
                <a:avLst/>
                <a:gdLst>
                  <a:gd name="T0" fmla="*/ 6 w 44"/>
                  <a:gd name="T1" fmla="*/ 18 h 68"/>
                  <a:gd name="T2" fmla="*/ 6 w 44"/>
                  <a:gd name="T3" fmla="*/ 6 h 68"/>
                  <a:gd name="T4" fmla="*/ 31 w 44"/>
                  <a:gd name="T5" fmla="*/ 0 h 68"/>
                  <a:gd name="T6" fmla="*/ 37 w 44"/>
                  <a:gd name="T7" fmla="*/ 24 h 68"/>
                  <a:gd name="T8" fmla="*/ 37 w 44"/>
                  <a:gd name="T9" fmla="*/ 43 h 68"/>
                  <a:gd name="T10" fmla="*/ 43 w 44"/>
                  <a:gd name="T11" fmla="*/ 49 h 68"/>
                  <a:gd name="T12" fmla="*/ 12 w 44"/>
                  <a:gd name="T13" fmla="*/ 67 h 68"/>
                  <a:gd name="T14" fmla="*/ 0 w 44"/>
                  <a:gd name="T15" fmla="*/ 61 h 68"/>
                  <a:gd name="T16" fmla="*/ 6 w 44"/>
                  <a:gd name="T17" fmla="*/ 61 h 68"/>
                  <a:gd name="T18" fmla="*/ 0 w 44"/>
                  <a:gd name="T19" fmla="*/ 49 h 68"/>
                  <a:gd name="T20" fmla="*/ 6 w 44"/>
                  <a:gd name="T21" fmla="*/ 30 h 68"/>
                  <a:gd name="T22" fmla="*/ 6 w 44"/>
                  <a:gd name="T23" fmla="*/ 18 h 6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44"/>
                  <a:gd name="T37" fmla="*/ 0 h 68"/>
                  <a:gd name="T38" fmla="*/ 44 w 44"/>
                  <a:gd name="T39" fmla="*/ 68 h 68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44" h="68">
                    <a:moveTo>
                      <a:pt x="6" y="18"/>
                    </a:moveTo>
                    <a:lnTo>
                      <a:pt x="6" y="6"/>
                    </a:lnTo>
                    <a:lnTo>
                      <a:pt x="31" y="0"/>
                    </a:lnTo>
                    <a:lnTo>
                      <a:pt x="37" y="24"/>
                    </a:lnTo>
                    <a:lnTo>
                      <a:pt x="37" y="43"/>
                    </a:lnTo>
                    <a:lnTo>
                      <a:pt x="43" y="49"/>
                    </a:lnTo>
                    <a:lnTo>
                      <a:pt x="12" y="67"/>
                    </a:lnTo>
                    <a:lnTo>
                      <a:pt x="0" y="61"/>
                    </a:lnTo>
                    <a:lnTo>
                      <a:pt x="6" y="61"/>
                    </a:lnTo>
                    <a:lnTo>
                      <a:pt x="0" y="49"/>
                    </a:lnTo>
                    <a:lnTo>
                      <a:pt x="6" y="30"/>
                    </a:lnTo>
                    <a:lnTo>
                      <a:pt x="6" y="18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54" name="Freeform 133">
                <a:extLst>
                  <a:ext uri="{FF2B5EF4-FFF2-40B4-BE49-F238E27FC236}">
                    <a16:creationId xmlns:a16="http://schemas.microsoft.com/office/drawing/2014/main" id="{32312ED1-A937-4047-8931-1FDDB07C357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059090" y="3640811"/>
                <a:ext cx="48404" cy="86531"/>
              </a:xfrm>
              <a:custGeom>
                <a:avLst/>
                <a:gdLst>
                  <a:gd name="T0" fmla="*/ 12 w 19"/>
                  <a:gd name="T1" fmla="*/ 6 h 50"/>
                  <a:gd name="T2" fmla="*/ 0 w 19"/>
                  <a:gd name="T3" fmla="*/ 0 h 50"/>
                  <a:gd name="T4" fmla="*/ 6 w 19"/>
                  <a:gd name="T5" fmla="*/ 24 h 50"/>
                  <a:gd name="T6" fmla="*/ 6 w 19"/>
                  <a:gd name="T7" fmla="*/ 43 h 50"/>
                  <a:gd name="T8" fmla="*/ 12 w 19"/>
                  <a:gd name="T9" fmla="*/ 49 h 50"/>
                  <a:gd name="T10" fmla="*/ 18 w 19"/>
                  <a:gd name="T11" fmla="*/ 49 h 50"/>
                  <a:gd name="T12" fmla="*/ 18 w 19"/>
                  <a:gd name="T13" fmla="*/ 31 h 50"/>
                  <a:gd name="T14" fmla="*/ 12 w 19"/>
                  <a:gd name="T15" fmla="*/ 18 h 50"/>
                  <a:gd name="T16" fmla="*/ 6 w 19"/>
                  <a:gd name="T17" fmla="*/ 12 h 50"/>
                  <a:gd name="T18" fmla="*/ 12 w 19"/>
                  <a:gd name="T19" fmla="*/ 6 h 5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9"/>
                  <a:gd name="T31" fmla="*/ 0 h 50"/>
                  <a:gd name="T32" fmla="*/ 19 w 19"/>
                  <a:gd name="T33" fmla="*/ 50 h 5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9" h="50">
                    <a:moveTo>
                      <a:pt x="12" y="6"/>
                    </a:moveTo>
                    <a:lnTo>
                      <a:pt x="0" y="0"/>
                    </a:lnTo>
                    <a:lnTo>
                      <a:pt x="6" y="24"/>
                    </a:lnTo>
                    <a:lnTo>
                      <a:pt x="6" y="43"/>
                    </a:lnTo>
                    <a:lnTo>
                      <a:pt x="12" y="49"/>
                    </a:lnTo>
                    <a:lnTo>
                      <a:pt x="18" y="49"/>
                    </a:lnTo>
                    <a:lnTo>
                      <a:pt x="18" y="31"/>
                    </a:lnTo>
                    <a:lnTo>
                      <a:pt x="12" y="18"/>
                    </a:lnTo>
                    <a:lnTo>
                      <a:pt x="6" y="12"/>
                    </a:lnTo>
                    <a:lnTo>
                      <a:pt x="12" y="6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55" name="Freeform 134">
                <a:extLst>
                  <a:ext uri="{FF2B5EF4-FFF2-40B4-BE49-F238E27FC236}">
                    <a16:creationId xmlns:a16="http://schemas.microsoft.com/office/drawing/2014/main" id="{91F86B29-CA56-421E-ABBD-274D5FF5D95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074377" y="3630428"/>
                <a:ext cx="78978" cy="96914"/>
              </a:xfrm>
              <a:custGeom>
                <a:avLst/>
                <a:gdLst>
                  <a:gd name="T0" fmla="*/ 18 w 31"/>
                  <a:gd name="T1" fmla="*/ 0 h 56"/>
                  <a:gd name="T2" fmla="*/ 6 w 31"/>
                  <a:gd name="T3" fmla="*/ 12 h 56"/>
                  <a:gd name="T4" fmla="*/ 0 w 31"/>
                  <a:gd name="T5" fmla="*/ 18 h 56"/>
                  <a:gd name="T6" fmla="*/ 12 w 31"/>
                  <a:gd name="T7" fmla="*/ 24 h 56"/>
                  <a:gd name="T8" fmla="*/ 12 w 31"/>
                  <a:gd name="T9" fmla="*/ 37 h 56"/>
                  <a:gd name="T10" fmla="*/ 12 w 31"/>
                  <a:gd name="T11" fmla="*/ 55 h 56"/>
                  <a:gd name="T12" fmla="*/ 24 w 31"/>
                  <a:gd name="T13" fmla="*/ 55 h 56"/>
                  <a:gd name="T14" fmla="*/ 24 w 31"/>
                  <a:gd name="T15" fmla="*/ 37 h 56"/>
                  <a:gd name="T16" fmla="*/ 30 w 31"/>
                  <a:gd name="T17" fmla="*/ 12 h 56"/>
                  <a:gd name="T18" fmla="*/ 30 w 31"/>
                  <a:gd name="T19" fmla="*/ 0 h 56"/>
                  <a:gd name="T20" fmla="*/ 30 w 31"/>
                  <a:gd name="T21" fmla="*/ 6 h 56"/>
                  <a:gd name="T22" fmla="*/ 24 w 31"/>
                  <a:gd name="T23" fmla="*/ 0 h 56"/>
                  <a:gd name="T24" fmla="*/ 18 w 31"/>
                  <a:gd name="T25" fmla="*/ 0 h 5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31"/>
                  <a:gd name="T40" fmla="*/ 0 h 56"/>
                  <a:gd name="T41" fmla="*/ 31 w 31"/>
                  <a:gd name="T42" fmla="*/ 56 h 5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31" h="56">
                    <a:moveTo>
                      <a:pt x="18" y="0"/>
                    </a:moveTo>
                    <a:lnTo>
                      <a:pt x="6" y="12"/>
                    </a:lnTo>
                    <a:lnTo>
                      <a:pt x="0" y="18"/>
                    </a:lnTo>
                    <a:lnTo>
                      <a:pt x="12" y="24"/>
                    </a:lnTo>
                    <a:lnTo>
                      <a:pt x="12" y="37"/>
                    </a:lnTo>
                    <a:lnTo>
                      <a:pt x="12" y="55"/>
                    </a:lnTo>
                    <a:lnTo>
                      <a:pt x="24" y="55"/>
                    </a:lnTo>
                    <a:lnTo>
                      <a:pt x="24" y="37"/>
                    </a:lnTo>
                    <a:lnTo>
                      <a:pt x="30" y="12"/>
                    </a:lnTo>
                    <a:lnTo>
                      <a:pt x="30" y="0"/>
                    </a:lnTo>
                    <a:lnTo>
                      <a:pt x="30" y="6"/>
                    </a:lnTo>
                    <a:lnTo>
                      <a:pt x="24" y="0"/>
                    </a:lnTo>
                    <a:lnTo>
                      <a:pt x="18" y="0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56" name="Freeform 135">
                <a:extLst>
                  <a:ext uri="{FF2B5EF4-FFF2-40B4-BE49-F238E27FC236}">
                    <a16:creationId xmlns:a16="http://schemas.microsoft.com/office/drawing/2014/main" id="{A359CDD6-B428-4DBE-871E-D1DC95371FF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138070" y="3597547"/>
                <a:ext cx="285344" cy="160948"/>
              </a:xfrm>
              <a:custGeom>
                <a:avLst/>
                <a:gdLst>
                  <a:gd name="T0" fmla="*/ 55 w 112"/>
                  <a:gd name="T1" fmla="*/ 92 h 93"/>
                  <a:gd name="T2" fmla="*/ 68 w 112"/>
                  <a:gd name="T3" fmla="*/ 68 h 93"/>
                  <a:gd name="T4" fmla="*/ 74 w 112"/>
                  <a:gd name="T5" fmla="*/ 68 h 93"/>
                  <a:gd name="T6" fmla="*/ 80 w 112"/>
                  <a:gd name="T7" fmla="*/ 74 h 93"/>
                  <a:gd name="T8" fmla="*/ 87 w 112"/>
                  <a:gd name="T9" fmla="*/ 68 h 93"/>
                  <a:gd name="T10" fmla="*/ 99 w 112"/>
                  <a:gd name="T11" fmla="*/ 49 h 93"/>
                  <a:gd name="T12" fmla="*/ 105 w 112"/>
                  <a:gd name="T13" fmla="*/ 30 h 93"/>
                  <a:gd name="T14" fmla="*/ 111 w 112"/>
                  <a:gd name="T15" fmla="*/ 18 h 93"/>
                  <a:gd name="T16" fmla="*/ 111 w 112"/>
                  <a:gd name="T17" fmla="*/ 12 h 93"/>
                  <a:gd name="T18" fmla="*/ 111 w 112"/>
                  <a:gd name="T19" fmla="*/ 6 h 93"/>
                  <a:gd name="T20" fmla="*/ 105 w 112"/>
                  <a:gd name="T21" fmla="*/ 0 h 93"/>
                  <a:gd name="T22" fmla="*/ 99 w 112"/>
                  <a:gd name="T23" fmla="*/ 0 h 93"/>
                  <a:gd name="T24" fmla="*/ 93 w 112"/>
                  <a:gd name="T25" fmla="*/ 6 h 93"/>
                  <a:gd name="T26" fmla="*/ 74 w 112"/>
                  <a:gd name="T27" fmla="*/ 6 h 93"/>
                  <a:gd name="T28" fmla="*/ 62 w 112"/>
                  <a:gd name="T29" fmla="*/ 12 h 93"/>
                  <a:gd name="T30" fmla="*/ 49 w 112"/>
                  <a:gd name="T31" fmla="*/ 6 h 93"/>
                  <a:gd name="T32" fmla="*/ 43 w 112"/>
                  <a:gd name="T33" fmla="*/ 12 h 93"/>
                  <a:gd name="T34" fmla="*/ 24 w 112"/>
                  <a:gd name="T35" fmla="*/ 0 h 93"/>
                  <a:gd name="T36" fmla="*/ 18 w 112"/>
                  <a:gd name="T37" fmla="*/ 0 h 93"/>
                  <a:gd name="T38" fmla="*/ 6 w 112"/>
                  <a:gd name="T39" fmla="*/ 12 h 93"/>
                  <a:gd name="T40" fmla="*/ 6 w 112"/>
                  <a:gd name="T41" fmla="*/ 18 h 93"/>
                  <a:gd name="T42" fmla="*/ 6 w 112"/>
                  <a:gd name="T43" fmla="*/ 30 h 93"/>
                  <a:gd name="T44" fmla="*/ 0 w 112"/>
                  <a:gd name="T45" fmla="*/ 55 h 93"/>
                  <a:gd name="T46" fmla="*/ 0 w 112"/>
                  <a:gd name="T47" fmla="*/ 74 h 93"/>
                  <a:gd name="T48" fmla="*/ 12 w 112"/>
                  <a:gd name="T49" fmla="*/ 74 h 93"/>
                  <a:gd name="T50" fmla="*/ 18 w 112"/>
                  <a:gd name="T51" fmla="*/ 80 h 93"/>
                  <a:gd name="T52" fmla="*/ 24 w 112"/>
                  <a:gd name="T53" fmla="*/ 92 h 93"/>
                  <a:gd name="T54" fmla="*/ 31 w 112"/>
                  <a:gd name="T55" fmla="*/ 92 h 93"/>
                  <a:gd name="T56" fmla="*/ 55 w 112"/>
                  <a:gd name="T57" fmla="*/ 92 h 93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112"/>
                  <a:gd name="T88" fmla="*/ 0 h 93"/>
                  <a:gd name="T89" fmla="*/ 112 w 112"/>
                  <a:gd name="T90" fmla="*/ 93 h 93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112" h="93">
                    <a:moveTo>
                      <a:pt x="55" y="92"/>
                    </a:moveTo>
                    <a:lnTo>
                      <a:pt x="68" y="68"/>
                    </a:lnTo>
                    <a:lnTo>
                      <a:pt x="74" y="68"/>
                    </a:lnTo>
                    <a:lnTo>
                      <a:pt x="80" y="74"/>
                    </a:lnTo>
                    <a:lnTo>
                      <a:pt x="87" y="68"/>
                    </a:lnTo>
                    <a:lnTo>
                      <a:pt x="99" y="49"/>
                    </a:lnTo>
                    <a:lnTo>
                      <a:pt x="105" y="30"/>
                    </a:lnTo>
                    <a:lnTo>
                      <a:pt x="111" y="18"/>
                    </a:lnTo>
                    <a:lnTo>
                      <a:pt x="111" y="12"/>
                    </a:lnTo>
                    <a:lnTo>
                      <a:pt x="111" y="6"/>
                    </a:lnTo>
                    <a:lnTo>
                      <a:pt x="105" y="0"/>
                    </a:lnTo>
                    <a:lnTo>
                      <a:pt x="99" y="0"/>
                    </a:lnTo>
                    <a:lnTo>
                      <a:pt x="93" y="6"/>
                    </a:lnTo>
                    <a:lnTo>
                      <a:pt x="74" y="6"/>
                    </a:lnTo>
                    <a:lnTo>
                      <a:pt x="62" y="12"/>
                    </a:lnTo>
                    <a:lnTo>
                      <a:pt x="49" y="6"/>
                    </a:lnTo>
                    <a:lnTo>
                      <a:pt x="43" y="12"/>
                    </a:lnTo>
                    <a:lnTo>
                      <a:pt x="24" y="0"/>
                    </a:lnTo>
                    <a:lnTo>
                      <a:pt x="18" y="0"/>
                    </a:lnTo>
                    <a:lnTo>
                      <a:pt x="6" y="12"/>
                    </a:lnTo>
                    <a:lnTo>
                      <a:pt x="6" y="18"/>
                    </a:lnTo>
                    <a:lnTo>
                      <a:pt x="6" y="30"/>
                    </a:lnTo>
                    <a:lnTo>
                      <a:pt x="0" y="55"/>
                    </a:lnTo>
                    <a:lnTo>
                      <a:pt x="0" y="74"/>
                    </a:lnTo>
                    <a:lnTo>
                      <a:pt x="12" y="74"/>
                    </a:lnTo>
                    <a:lnTo>
                      <a:pt x="18" y="80"/>
                    </a:lnTo>
                    <a:lnTo>
                      <a:pt x="24" y="92"/>
                    </a:lnTo>
                    <a:lnTo>
                      <a:pt x="31" y="92"/>
                    </a:lnTo>
                    <a:lnTo>
                      <a:pt x="55" y="92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57" name="Freeform 136">
                <a:extLst>
                  <a:ext uri="{FF2B5EF4-FFF2-40B4-BE49-F238E27FC236}">
                    <a16:creationId xmlns:a16="http://schemas.microsoft.com/office/drawing/2014/main" id="{A03F9379-1BC7-406A-857A-C5587E3FBB6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78194" y="3609662"/>
                <a:ext cx="191079" cy="192099"/>
              </a:xfrm>
              <a:custGeom>
                <a:avLst/>
                <a:gdLst>
                  <a:gd name="T0" fmla="*/ 0 w 75"/>
                  <a:gd name="T1" fmla="*/ 86 h 111"/>
                  <a:gd name="T2" fmla="*/ 12 w 75"/>
                  <a:gd name="T3" fmla="*/ 61 h 111"/>
                  <a:gd name="T4" fmla="*/ 18 w 75"/>
                  <a:gd name="T5" fmla="*/ 61 h 111"/>
                  <a:gd name="T6" fmla="*/ 24 w 75"/>
                  <a:gd name="T7" fmla="*/ 67 h 111"/>
                  <a:gd name="T8" fmla="*/ 31 w 75"/>
                  <a:gd name="T9" fmla="*/ 61 h 111"/>
                  <a:gd name="T10" fmla="*/ 43 w 75"/>
                  <a:gd name="T11" fmla="*/ 43 h 111"/>
                  <a:gd name="T12" fmla="*/ 49 w 75"/>
                  <a:gd name="T13" fmla="*/ 24 h 111"/>
                  <a:gd name="T14" fmla="*/ 56 w 75"/>
                  <a:gd name="T15" fmla="*/ 12 h 111"/>
                  <a:gd name="T16" fmla="*/ 56 w 75"/>
                  <a:gd name="T17" fmla="*/ 6 h 111"/>
                  <a:gd name="T18" fmla="*/ 56 w 75"/>
                  <a:gd name="T19" fmla="*/ 0 h 111"/>
                  <a:gd name="T20" fmla="*/ 62 w 75"/>
                  <a:gd name="T21" fmla="*/ 6 h 111"/>
                  <a:gd name="T22" fmla="*/ 68 w 75"/>
                  <a:gd name="T23" fmla="*/ 30 h 111"/>
                  <a:gd name="T24" fmla="*/ 56 w 75"/>
                  <a:gd name="T25" fmla="*/ 30 h 111"/>
                  <a:gd name="T26" fmla="*/ 56 w 75"/>
                  <a:gd name="T27" fmla="*/ 36 h 111"/>
                  <a:gd name="T28" fmla="*/ 62 w 75"/>
                  <a:gd name="T29" fmla="*/ 43 h 111"/>
                  <a:gd name="T30" fmla="*/ 68 w 75"/>
                  <a:gd name="T31" fmla="*/ 55 h 111"/>
                  <a:gd name="T32" fmla="*/ 56 w 75"/>
                  <a:gd name="T33" fmla="*/ 73 h 111"/>
                  <a:gd name="T34" fmla="*/ 62 w 75"/>
                  <a:gd name="T35" fmla="*/ 80 h 111"/>
                  <a:gd name="T36" fmla="*/ 74 w 75"/>
                  <a:gd name="T37" fmla="*/ 104 h 111"/>
                  <a:gd name="T38" fmla="*/ 74 w 75"/>
                  <a:gd name="T39" fmla="*/ 110 h 111"/>
                  <a:gd name="T40" fmla="*/ 49 w 75"/>
                  <a:gd name="T41" fmla="*/ 110 h 111"/>
                  <a:gd name="T42" fmla="*/ 24 w 75"/>
                  <a:gd name="T43" fmla="*/ 110 h 111"/>
                  <a:gd name="T44" fmla="*/ 12 w 75"/>
                  <a:gd name="T45" fmla="*/ 110 h 111"/>
                  <a:gd name="T46" fmla="*/ 12 w 75"/>
                  <a:gd name="T47" fmla="*/ 98 h 111"/>
                  <a:gd name="T48" fmla="*/ 6 w 75"/>
                  <a:gd name="T49" fmla="*/ 92 h 111"/>
                  <a:gd name="T50" fmla="*/ 0 w 75"/>
                  <a:gd name="T51" fmla="*/ 86 h 111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75"/>
                  <a:gd name="T79" fmla="*/ 0 h 111"/>
                  <a:gd name="T80" fmla="*/ 75 w 75"/>
                  <a:gd name="T81" fmla="*/ 111 h 111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75" h="111">
                    <a:moveTo>
                      <a:pt x="0" y="86"/>
                    </a:moveTo>
                    <a:lnTo>
                      <a:pt x="12" y="61"/>
                    </a:lnTo>
                    <a:lnTo>
                      <a:pt x="18" y="61"/>
                    </a:lnTo>
                    <a:lnTo>
                      <a:pt x="24" y="67"/>
                    </a:lnTo>
                    <a:lnTo>
                      <a:pt x="31" y="61"/>
                    </a:lnTo>
                    <a:lnTo>
                      <a:pt x="43" y="43"/>
                    </a:lnTo>
                    <a:lnTo>
                      <a:pt x="49" y="24"/>
                    </a:lnTo>
                    <a:lnTo>
                      <a:pt x="56" y="12"/>
                    </a:lnTo>
                    <a:lnTo>
                      <a:pt x="56" y="6"/>
                    </a:lnTo>
                    <a:lnTo>
                      <a:pt x="56" y="0"/>
                    </a:lnTo>
                    <a:lnTo>
                      <a:pt x="62" y="6"/>
                    </a:lnTo>
                    <a:lnTo>
                      <a:pt x="68" y="30"/>
                    </a:lnTo>
                    <a:lnTo>
                      <a:pt x="56" y="30"/>
                    </a:lnTo>
                    <a:lnTo>
                      <a:pt x="56" y="36"/>
                    </a:lnTo>
                    <a:lnTo>
                      <a:pt x="62" y="43"/>
                    </a:lnTo>
                    <a:lnTo>
                      <a:pt x="68" y="55"/>
                    </a:lnTo>
                    <a:lnTo>
                      <a:pt x="56" y="73"/>
                    </a:lnTo>
                    <a:lnTo>
                      <a:pt x="62" y="80"/>
                    </a:lnTo>
                    <a:lnTo>
                      <a:pt x="74" y="104"/>
                    </a:lnTo>
                    <a:lnTo>
                      <a:pt x="74" y="110"/>
                    </a:lnTo>
                    <a:lnTo>
                      <a:pt x="49" y="110"/>
                    </a:lnTo>
                    <a:lnTo>
                      <a:pt x="24" y="110"/>
                    </a:lnTo>
                    <a:lnTo>
                      <a:pt x="12" y="110"/>
                    </a:lnTo>
                    <a:lnTo>
                      <a:pt x="12" y="98"/>
                    </a:lnTo>
                    <a:lnTo>
                      <a:pt x="6" y="92"/>
                    </a:lnTo>
                    <a:lnTo>
                      <a:pt x="0" y="86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58" name="Freeform 137">
                <a:extLst>
                  <a:ext uri="{FF2B5EF4-FFF2-40B4-BE49-F238E27FC236}">
                    <a16:creationId xmlns:a16="http://schemas.microsoft.com/office/drawing/2014/main" id="{9305E2F5-0991-4F4E-B961-8250755D9AE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93482" y="3791376"/>
                <a:ext cx="50954" cy="32882"/>
              </a:xfrm>
              <a:custGeom>
                <a:avLst/>
                <a:gdLst>
                  <a:gd name="T0" fmla="*/ 19 w 20"/>
                  <a:gd name="T1" fmla="*/ 0 h 19"/>
                  <a:gd name="T2" fmla="*/ 19 w 20"/>
                  <a:gd name="T3" fmla="*/ 18 h 19"/>
                  <a:gd name="T4" fmla="*/ 6 w 20"/>
                  <a:gd name="T5" fmla="*/ 18 h 19"/>
                  <a:gd name="T6" fmla="*/ 0 w 20"/>
                  <a:gd name="T7" fmla="*/ 18 h 19"/>
                  <a:gd name="T8" fmla="*/ 6 w 20"/>
                  <a:gd name="T9" fmla="*/ 9 h 19"/>
                  <a:gd name="T10" fmla="*/ 19 w 20"/>
                  <a:gd name="T11" fmla="*/ 0 h 1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0"/>
                  <a:gd name="T19" fmla="*/ 0 h 19"/>
                  <a:gd name="T20" fmla="*/ 20 w 20"/>
                  <a:gd name="T21" fmla="*/ 19 h 1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0" h="19">
                    <a:moveTo>
                      <a:pt x="19" y="0"/>
                    </a:moveTo>
                    <a:lnTo>
                      <a:pt x="19" y="18"/>
                    </a:lnTo>
                    <a:lnTo>
                      <a:pt x="6" y="18"/>
                    </a:lnTo>
                    <a:lnTo>
                      <a:pt x="0" y="18"/>
                    </a:lnTo>
                    <a:lnTo>
                      <a:pt x="6" y="9"/>
                    </a:lnTo>
                    <a:lnTo>
                      <a:pt x="19" y="0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59" name="Freeform 138">
                <a:extLst>
                  <a:ext uri="{FF2B5EF4-FFF2-40B4-BE49-F238E27FC236}">
                    <a16:creationId xmlns:a16="http://schemas.microsoft.com/office/drawing/2014/main" id="{8AD43502-B0BC-411D-B624-E6318CB87B0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78194" y="3791376"/>
                <a:ext cx="145219" cy="107299"/>
              </a:xfrm>
              <a:custGeom>
                <a:avLst/>
                <a:gdLst>
                  <a:gd name="T0" fmla="*/ 12 w 57"/>
                  <a:gd name="T1" fmla="*/ 12 h 62"/>
                  <a:gd name="T2" fmla="*/ 25 w 57"/>
                  <a:gd name="T3" fmla="*/ 12 h 62"/>
                  <a:gd name="T4" fmla="*/ 25 w 57"/>
                  <a:gd name="T5" fmla="*/ 0 h 62"/>
                  <a:gd name="T6" fmla="*/ 50 w 57"/>
                  <a:gd name="T7" fmla="*/ 6 h 62"/>
                  <a:gd name="T8" fmla="*/ 44 w 57"/>
                  <a:gd name="T9" fmla="*/ 12 h 62"/>
                  <a:gd name="T10" fmla="*/ 56 w 57"/>
                  <a:gd name="T11" fmla="*/ 12 h 62"/>
                  <a:gd name="T12" fmla="*/ 56 w 57"/>
                  <a:gd name="T13" fmla="*/ 24 h 62"/>
                  <a:gd name="T14" fmla="*/ 56 w 57"/>
                  <a:gd name="T15" fmla="*/ 49 h 62"/>
                  <a:gd name="T16" fmla="*/ 44 w 57"/>
                  <a:gd name="T17" fmla="*/ 43 h 62"/>
                  <a:gd name="T18" fmla="*/ 31 w 57"/>
                  <a:gd name="T19" fmla="*/ 49 h 62"/>
                  <a:gd name="T20" fmla="*/ 31 w 57"/>
                  <a:gd name="T21" fmla="*/ 61 h 62"/>
                  <a:gd name="T22" fmla="*/ 25 w 57"/>
                  <a:gd name="T23" fmla="*/ 61 h 62"/>
                  <a:gd name="T24" fmla="*/ 12 w 57"/>
                  <a:gd name="T25" fmla="*/ 49 h 62"/>
                  <a:gd name="T26" fmla="*/ 0 w 57"/>
                  <a:gd name="T27" fmla="*/ 30 h 62"/>
                  <a:gd name="T28" fmla="*/ 6 w 57"/>
                  <a:gd name="T29" fmla="*/ 30 h 62"/>
                  <a:gd name="T30" fmla="*/ 12 w 57"/>
                  <a:gd name="T31" fmla="*/ 18 h 62"/>
                  <a:gd name="T32" fmla="*/ 12 w 57"/>
                  <a:gd name="T33" fmla="*/ 12 h 62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7"/>
                  <a:gd name="T52" fmla="*/ 0 h 62"/>
                  <a:gd name="T53" fmla="*/ 57 w 57"/>
                  <a:gd name="T54" fmla="*/ 62 h 62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7" h="62">
                    <a:moveTo>
                      <a:pt x="12" y="12"/>
                    </a:moveTo>
                    <a:lnTo>
                      <a:pt x="25" y="12"/>
                    </a:lnTo>
                    <a:lnTo>
                      <a:pt x="25" y="0"/>
                    </a:lnTo>
                    <a:lnTo>
                      <a:pt x="50" y="6"/>
                    </a:lnTo>
                    <a:lnTo>
                      <a:pt x="44" y="12"/>
                    </a:lnTo>
                    <a:lnTo>
                      <a:pt x="56" y="12"/>
                    </a:lnTo>
                    <a:lnTo>
                      <a:pt x="56" y="24"/>
                    </a:lnTo>
                    <a:lnTo>
                      <a:pt x="56" y="49"/>
                    </a:lnTo>
                    <a:lnTo>
                      <a:pt x="44" y="43"/>
                    </a:lnTo>
                    <a:lnTo>
                      <a:pt x="31" y="49"/>
                    </a:lnTo>
                    <a:lnTo>
                      <a:pt x="31" y="61"/>
                    </a:lnTo>
                    <a:lnTo>
                      <a:pt x="25" y="61"/>
                    </a:lnTo>
                    <a:lnTo>
                      <a:pt x="12" y="49"/>
                    </a:lnTo>
                    <a:lnTo>
                      <a:pt x="0" y="30"/>
                    </a:lnTo>
                    <a:lnTo>
                      <a:pt x="6" y="30"/>
                    </a:lnTo>
                    <a:lnTo>
                      <a:pt x="12" y="18"/>
                    </a:lnTo>
                    <a:lnTo>
                      <a:pt x="12" y="12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60" name="Freeform 139">
                <a:extLst>
                  <a:ext uri="{FF2B5EF4-FFF2-40B4-BE49-F238E27FC236}">
                    <a16:creationId xmlns:a16="http://schemas.microsoft.com/office/drawing/2014/main" id="{CF221954-3B08-4B1F-B27A-60FDE22EE2A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344434" y="3768879"/>
                <a:ext cx="185983" cy="150563"/>
              </a:xfrm>
              <a:custGeom>
                <a:avLst/>
                <a:gdLst>
                  <a:gd name="T0" fmla="*/ 48 w 73"/>
                  <a:gd name="T1" fmla="*/ 6 h 87"/>
                  <a:gd name="T2" fmla="*/ 48 w 73"/>
                  <a:gd name="T3" fmla="*/ 18 h 87"/>
                  <a:gd name="T4" fmla="*/ 24 w 73"/>
                  <a:gd name="T5" fmla="*/ 18 h 87"/>
                  <a:gd name="T6" fmla="*/ 18 w 73"/>
                  <a:gd name="T7" fmla="*/ 24 h 87"/>
                  <a:gd name="T8" fmla="*/ 30 w 73"/>
                  <a:gd name="T9" fmla="*/ 24 h 87"/>
                  <a:gd name="T10" fmla="*/ 30 w 73"/>
                  <a:gd name="T11" fmla="*/ 37 h 87"/>
                  <a:gd name="T12" fmla="*/ 30 w 73"/>
                  <a:gd name="T13" fmla="*/ 62 h 87"/>
                  <a:gd name="T14" fmla="*/ 18 w 73"/>
                  <a:gd name="T15" fmla="*/ 55 h 87"/>
                  <a:gd name="T16" fmla="*/ 6 w 73"/>
                  <a:gd name="T17" fmla="*/ 62 h 87"/>
                  <a:gd name="T18" fmla="*/ 6 w 73"/>
                  <a:gd name="T19" fmla="*/ 74 h 87"/>
                  <a:gd name="T20" fmla="*/ 0 w 73"/>
                  <a:gd name="T21" fmla="*/ 74 h 87"/>
                  <a:gd name="T22" fmla="*/ 12 w 73"/>
                  <a:gd name="T23" fmla="*/ 86 h 87"/>
                  <a:gd name="T24" fmla="*/ 18 w 73"/>
                  <a:gd name="T25" fmla="*/ 80 h 87"/>
                  <a:gd name="T26" fmla="*/ 30 w 73"/>
                  <a:gd name="T27" fmla="*/ 80 h 87"/>
                  <a:gd name="T28" fmla="*/ 36 w 73"/>
                  <a:gd name="T29" fmla="*/ 86 h 87"/>
                  <a:gd name="T30" fmla="*/ 48 w 73"/>
                  <a:gd name="T31" fmla="*/ 74 h 87"/>
                  <a:gd name="T32" fmla="*/ 54 w 73"/>
                  <a:gd name="T33" fmla="*/ 55 h 87"/>
                  <a:gd name="T34" fmla="*/ 66 w 73"/>
                  <a:gd name="T35" fmla="*/ 43 h 87"/>
                  <a:gd name="T36" fmla="*/ 72 w 73"/>
                  <a:gd name="T37" fmla="*/ 0 h 87"/>
                  <a:gd name="T38" fmla="*/ 54 w 73"/>
                  <a:gd name="T39" fmla="*/ 6 h 87"/>
                  <a:gd name="T40" fmla="*/ 48 w 73"/>
                  <a:gd name="T41" fmla="*/ 6 h 87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73"/>
                  <a:gd name="T64" fmla="*/ 0 h 87"/>
                  <a:gd name="T65" fmla="*/ 73 w 73"/>
                  <a:gd name="T66" fmla="*/ 87 h 87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73" h="87">
                    <a:moveTo>
                      <a:pt x="48" y="6"/>
                    </a:moveTo>
                    <a:lnTo>
                      <a:pt x="48" y="18"/>
                    </a:lnTo>
                    <a:lnTo>
                      <a:pt x="24" y="18"/>
                    </a:lnTo>
                    <a:lnTo>
                      <a:pt x="18" y="24"/>
                    </a:lnTo>
                    <a:lnTo>
                      <a:pt x="30" y="24"/>
                    </a:lnTo>
                    <a:lnTo>
                      <a:pt x="30" y="37"/>
                    </a:lnTo>
                    <a:lnTo>
                      <a:pt x="30" y="62"/>
                    </a:lnTo>
                    <a:lnTo>
                      <a:pt x="18" y="55"/>
                    </a:lnTo>
                    <a:lnTo>
                      <a:pt x="6" y="62"/>
                    </a:lnTo>
                    <a:lnTo>
                      <a:pt x="6" y="74"/>
                    </a:lnTo>
                    <a:lnTo>
                      <a:pt x="0" y="74"/>
                    </a:lnTo>
                    <a:lnTo>
                      <a:pt x="12" y="86"/>
                    </a:lnTo>
                    <a:lnTo>
                      <a:pt x="18" y="80"/>
                    </a:lnTo>
                    <a:lnTo>
                      <a:pt x="30" y="80"/>
                    </a:lnTo>
                    <a:lnTo>
                      <a:pt x="36" y="86"/>
                    </a:lnTo>
                    <a:lnTo>
                      <a:pt x="48" y="74"/>
                    </a:lnTo>
                    <a:lnTo>
                      <a:pt x="54" y="55"/>
                    </a:lnTo>
                    <a:lnTo>
                      <a:pt x="66" y="43"/>
                    </a:lnTo>
                    <a:lnTo>
                      <a:pt x="72" y="0"/>
                    </a:lnTo>
                    <a:lnTo>
                      <a:pt x="54" y="6"/>
                    </a:lnTo>
                    <a:lnTo>
                      <a:pt x="48" y="6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61" name="Freeform 140">
                <a:extLst>
                  <a:ext uri="{FF2B5EF4-FFF2-40B4-BE49-F238E27FC236}">
                    <a16:creationId xmlns:a16="http://schemas.microsoft.com/office/drawing/2014/main" id="{16296839-1C50-44BA-A1BD-39B1D8BC737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375007" y="3748109"/>
                <a:ext cx="491708" cy="311511"/>
              </a:xfrm>
              <a:custGeom>
                <a:avLst/>
                <a:gdLst>
                  <a:gd name="T0" fmla="*/ 155 w 193"/>
                  <a:gd name="T1" fmla="*/ 0 h 180"/>
                  <a:gd name="T2" fmla="*/ 105 w 193"/>
                  <a:gd name="T3" fmla="*/ 0 h 180"/>
                  <a:gd name="T4" fmla="*/ 105 w 193"/>
                  <a:gd name="T5" fmla="*/ 6 h 180"/>
                  <a:gd name="T6" fmla="*/ 87 w 193"/>
                  <a:gd name="T7" fmla="*/ 6 h 180"/>
                  <a:gd name="T8" fmla="*/ 80 w 193"/>
                  <a:gd name="T9" fmla="*/ 0 h 180"/>
                  <a:gd name="T10" fmla="*/ 74 w 193"/>
                  <a:gd name="T11" fmla="*/ 0 h 180"/>
                  <a:gd name="T12" fmla="*/ 62 w 193"/>
                  <a:gd name="T13" fmla="*/ 12 h 180"/>
                  <a:gd name="T14" fmla="*/ 56 w 193"/>
                  <a:gd name="T15" fmla="*/ 55 h 180"/>
                  <a:gd name="T16" fmla="*/ 43 w 193"/>
                  <a:gd name="T17" fmla="*/ 68 h 180"/>
                  <a:gd name="T18" fmla="*/ 37 w 193"/>
                  <a:gd name="T19" fmla="*/ 86 h 180"/>
                  <a:gd name="T20" fmla="*/ 24 w 193"/>
                  <a:gd name="T21" fmla="*/ 99 h 180"/>
                  <a:gd name="T22" fmla="*/ 18 w 193"/>
                  <a:gd name="T23" fmla="*/ 93 h 180"/>
                  <a:gd name="T24" fmla="*/ 6 w 193"/>
                  <a:gd name="T25" fmla="*/ 93 h 180"/>
                  <a:gd name="T26" fmla="*/ 0 w 193"/>
                  <a:gd name="T27" fmla="*/ 105 h 180"/>
                  <a:gd name="T28" fmla="*/ 6 w 193"/>
                  <a:gd name="T29" fmla="*/ 111 h 180"/>
                  <a:gd name="T30" fmla="*/ 12 w 193"/>
                  <a:gd name="T31" fmla="*/ 105 h 180"/>
                  <a:gd name="T32" fmla="*/ 37 w 193"/>
                  <a:gd name="T33" fmla="*/ 105 h 180"/>
                  <a:gd name="T34" fmla="*/ 43 w 193"/>
                  <a:gd name="T35" fmla="*/ 111 h 180"/>
                  <a:gd name="T36" fmla="*/ 49 w 193"/>
                  <a:gd name="T37" fmla="*/ 124 h 180"/>
                  <a:gd name="T38" fmla="*/ 56 w 193"/>
                  <a:gd name="T39" fmla="*/ 130 h 180"/>
                  <a:gd name="T40" fmla="*/ 68 w 193"/>
                  <a:gd name="T41" fmla="*/ 130 h 180"/>
                  <a:gd name="T42" fmla="*/ 74 w 193"/>
                  <a:gd name="T43" fmla="*/ 117 h 180"/>
                  <a:gd name="T44" fmla="*/ 87 w 193"/>
                  <a:gd name="T45" fmla="*/ 117 h 180"/>
                  <a:gd name="T46" fmla="*/ 93 w 193"/>
                  <a:gd name="T47" fmla="*/ 124 h 180"/>
                  <a:gd name="T48" fmla="*/ 99 w 193"/>
                  <a:gd name="T49" fmla="*/ 142 h 180"/>
                  <a:gd name="T50" fmla="*/ 99 w 193"/>
                  <a:gd name="T51" fmla="*/ 155 h 180"/>
                  <a:gd name="T52" fmla="*/ 99 w 193"/>
                  <a:gd name="T53" fmla="*/ 161 h 180"/>
                  <a:gd name="T54" fmla="*/ 118 w 193"/>
                  <a:gd name="T55" fmla="*/ 155 h 180"/>
                  <a:gd name="T56" fmla="*/ 143 w 193"/>
                  <a:gd name="T57" fmla="*/ 167 h 180"/>
                  <a:gd name="T58" fmla="*/ 149 w 193"/>
                  <a:gd name="T59" fmla="*/ 167 h 180"/>
                  <a:gd name="T60" fmla="*/ 168 w 193"/>
                  <a:gd name="T61" fmla="*/ 173 h 180"/>
                  <a:gd name="T62" fmla="*/ 174 w 193"/>
                  <a:gd name="T63" fmla="*/ 179 h 180"/>
                  <a:gd name="T64" fmla="*/ 174 w 193"/>
                  <a:gd name="T65" fmla="*/ 167 h 180"/>
                  <a:gd name="T66" fmla="*/ 168 w 193"/>
                  <a:gd name="T67" fmla="*/ 167 h 180"/>
                  <a:gd name="T68" fmla="*/ 161 w 193"/>
                  <a:gd name="T69" fmla="*/ 167 h 180"/>
                  <a:gd name="T70" fmla="*/ 168 w 193"/>
                  <a:gd name="T71" fmla="*/ 136 h 180"/>
                  <a:gd name="T72" fmla="*/ 168 w 193"/>
                  <a:gd name="T73" fmla="*/ 130 h 180"/>
                  <a:gd name="T74" fmla="*/ 186 w 193"/>
                  <a:gd name="T75" fmla="*/ 130 h 180"/>
                  <a:gd name="T76" fmla="*/ 174 w 193"/>
                  <a:gd name="T77" fmla="*/ 111 h 180"/>
                  <a:gd name="T78" fmla="*/ 174 w 193"/>
                  <a:gd name="T79" fmla="*/ 93 h 180"/>
                  <a:gd name="T80" fmla="*/ 174 w 193"/>
                  <a:gd name="T81" fmla="*/ 80 h 180"/>
                  <a:gd name="T82" fmla="*/ 168 w 193"/>
                  <a:gd name="T83" fmla="*/ 74 h 180"/>
                  <a:gd name="T84" fmla="*/ 174 w 193"/>
                  <a:gd name="T85" fmla="*/ 62 h 180"/>
                  <a:gd name="T86" fmla="*/ 180 w 193"/>
                  <a:gd name="T87" fmla="*/ 43 h 180"/>
                  <a:gd name="T88" fmla="*/ 186 w 193"/>
                  <a:gd name="T89" fmla="*/ 37 h 180"/>
                  <a:gd name="T90" fmla="*/ 192 w 193"/>
                  <a:gd name="T91" fmla="*/ 31 h 180"/>
                  <a:gd name="T92" fmla="*/ 186 w 193"/>
                  <a:gd name="T93" fmla="*/ 24 h 180"/>
                  <a:gd name="T94" fmla="*/ 186 w 193"/>
                  <a:gd name="T95" fmla="*/ 12 h 180"/>
                  <a:gd name="T96" fmla="*/ 180 w 193"/>
                  <a:gd name="T97" fmla="*/ 6 h 180"/>
                  <a:gd name="T98" fmla="*/ 161 w 193"/>
                  <a:gd name="T99" fmla="*/ 6 h 180"/>
                  <a:gd name="T100" fmla="*/ 155 w 193"/>
                  <a:gd name="T101" fmla="*/ 0 h 180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w 193"/>
                  <a:gd name="T154" fmla="*/ 0 h 180"/>
                  <a:gd name="T155" fmla="*/ 193 w 193"/>
                  <a:gd name="T156" fmla="*/ 180 h 180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T153" t="T154" r="T155" b="T156"/>
                <a:pathLst>
                  <a:path w="193" h="180">
                    <a:moveTo>
                      <a:pt x="155" y="0"/>
                    </a:moveTo>
                    <a:lnTo>
                      <a:pt x="105" y="0"/>
                    </a:lnTo>
                    <a:lnTo>
                      <a:pt x="105" y="6"/>
                    </a:lnTo>
                    <a:lnTo>
                      <a:pt x="87" y="6"/>
                    </a:lnTo>
                    <a:lnTo>
                      <a:pt x="80" y="0"/>
                    </a:lnTo>
                    <a:lnTo>
                      <a:pt x="74" y="0"/>
                    </a:lnTo>
                    <a:lnTo>
                      <a:pt x="62" y="12"/>
                    </a:lnTo>
                    <a:lnTo>
                      <a:pt x="56" y="55"/>
                    </a:lnTo>
                    <a:lnTo>
                      <a:pt x="43" y="68"/>
                    </a:lnTo>
                    <a:lnTo>
                      <a:pt x="37" y="86"/>
                    </a:lnTo>
                    <a:lnTo>
                      <a:pt x="24" y="99"/>
                    </a:lnTo>
                    <a:lnTo>
                      <a:pt x="18" y="93"/>
                    </a:lnTo>
                    <a:lnTo>
                      <a:pt x="6" y="93"/>
                    </a:lnTo>
                    <a:lnTo>
                      <a:pt x="0" y="105"/>
                    </a:lnTo>
                    <a:lnTo>
                      <a:pt x="6" y="111"/>
                    </a:lnTo>
                    <a:lnTo>
                      <a:pt x="12" y="105"/>
                    </a:lnTo>
                    <a:lnTo>
                      <a:pt x="37" y="105"/>
                    </a:lnTo>
                    <a:lnTo>
                      <a:pt x="43" y="111"/>
                    </a:lnTo>
                    <a:lnTo>
                      <a:pt x="49" y="124"/>
                    </a:lnTo>
                    <a:lnTo>
                      <a:pt x="56" y="130"/>
                    </a:lnTo>
                    <a:lnTo>
                      <a:pt x="68" y="130"/>
                    </a:lnTo>
                    <a:lnTo>
                      <a:pt x="74" y="117"/>
                    </a:lnTo>
                    <a:lnTo>
                      <a:pt x="87" y="117"/>
                    </a:lnTo>
                    <a:lnTo>
                      <a:pt x="93" y="124"/>
                    </a:lnTo>
                    <a:lnTo>
                      <a:pt x="99" y="142"/>
                    </a:lnTo>
                    <a:lnTo>
                      <a:pt x="99" y="155"/>
                    </a:lnTo>
                    <a:lnTo>
                      <a:pt x="99" y="161"/>
                    </a:lnTo>
                    <a:lnTo>
                      <a:pt x="118" y="155"/>
                    </a:lnTo>
                    <a:lnTo>
                      <a:pt x="143" y="167"/>
                    </a:lnTo>
                    <a:lnTo>
                      <a:pt x="149" y="167"/>
                    </a:lnTo>
                    <a:lnTo>
                      <a:pt x="168" y="173"/>
                    </a:lnTo>
                    <a:lnTo>
                      <a:pt x="174" y="179"/>
                    </a:lnTo>
                    <a:lnTo>
                      <a:pt x="174" y="167"/>
                    </a:lnTo>
                    <a:lnTo>
                      <a:pt x="168" y="167"/>
                    </a:lnTo>
                    <a:lnTo>
                      <a:pt x="161" y="167"/>
                    </a:lnTo>
                    <a:lnTo>
                      <a:pt x="168" y="136"/>
                    </a:lnTo>
                    <a:lnTo>
                      <a:pt x="168" y="130"/>
                    </a:lnTo>
                    <a:lnTo>
                      <a:pt x="186" y="130"/>
                    </a:lnTo>
                    <a:lnTo>
                      <a:pt x="174" y="111"/>
                    </a:lnTo>
                    <a:lnTo>
                      <a:pt x="174" y="93"/>
                    </a:lnTo>
                    <a:lnTo>
                      <a:pt x="174" y="80"/>
                    </a:lnTo>
                    <a:lnTo>
                      <a:pt x="168" y="74"/>
                    </a:lnTo>
                    <a:lnTo>
                      <a:pt x="174" y="62"/>
                    </a:lnTo>
                    <a:lnTo>
                      <a:pt x="180" y="43"/>
                    </a:lnTo>
                    <a:lnTo>
                      <a:pt x="186" y="37"/>
                    </a:lnTo>
                    <a:lnTo>
                      <a:pt x="192" y="31"/>
                    </a:lnTo>
                    <a:lnTo>
                      <a:pt x="186" y="24"/>
                    </a:lnTo>
                    <a:lnTo>
                      <a:pt x="186" y="12"/>
                    </a:lnTo>
                    <a:lnTo>
                      <a:pt x="180" y="6"/>
                    </a:lnTo>
                    <a:lnTo>
                      <a:pt x="161" y="6"/>
                    </a:lnTo>
                    <a:lnTo>
                      <a:pt x="155" y="0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62" name="Freeform 141">
                <a:extLst>
                  <a:ext uri="{FF2B5EF4-FFF2-40B4-BE49-F238E27FC236}">
                    <a16:creationId xmlns:a16="http://schemas.microsoft.com/office/drawing/2014/main" id="{70E6281C-2532-477F-A1ED-E3B16B97D6E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800474" y="3855409"/>
                <a:ext cx="48404" cy="32882"/>
              </a:xfrm>
              <a:custGeom>
                <a:avLst/>
                <a:gdLst>
                  <a:gd name="T0" fmla="*/ 18 w 19"/>
                  <a:gd name="T1" fmla="*/ 18 h 19"/>
                  <a:gd name="T2" fmla="*/ 0 w 19"/>
                  <a:gd name="T3" fmla="*/ 18 h 19"/>
                  <a:gd name="T4" fmla="*/ 6 w 19"/>
                  <a:gd name="T5" fmla="*/ 0 h 19"/>
                  <a:gd name="T6" fmla="*/ 18 w 19"/>
                  <a:gd name="T7" fmla="*/ 0 h 19"/>
                  <a:gd name="T8" fmla="*/ 18 w 19"/>
                  <a:gd name="T9" fmla="*/ 9 h 19"/>
                  <a:gd name="T10" fmla="*/ 18 w 19"/>
                  <a:gd name="T11" fmla="*/ 18 h 1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9"/>
                  <a:gd name="T19" fmla="*/ 0 h 19"/>
                  <a:gd name="T20" fmla="*/ 19 w 19"/>
                  <a:gd name="T21" fmla="*/ 19 h 1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9" h="19">
                    <a:moveTo>
                      <a:pt x="18" y="18"/>
                    </a:moveTo>
                    <a:lnTo>
                      <a:pt x="0" y="18"/>
                    </a:lnTo>
                    <a:lnTo>
                      <a:pt x="6" y="0"/>
                    </a:lnTo>
                    <a:lnTo>
                      <a:pt x="18" y="0"/>
                    </a:lnTo>
                    <a:lnTo>
                      <a:pt x="18" y="9"/>
                    </a:lnTo>
                    <a:lnTo>
                      <a:pt x="18" y="18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63" name="Freeform 142">
                <a:extLst>
                  <a:ext uri="{FF2B5EF4-FFF2-40B4-BE49-F238E27FC236}">
                    <a16:creationId xmlns:a16="http://schemas.microsoft.com/office/drawing/2014/main" id="{5EB5EDF5-2094-47D9-9CA7-8D70BAD82FD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800474" y="3876175"/>
                <a:ext cx="48404" cy="32882"/>
              </a:xfrm>
              <a:custGeom>
                <a:avLst/>
                <a:gdLst>
                  <a:gd name="T0" fmla="*/ 18 w 19"/>
                  <a:gd name="T1" fmla="*/ 0 h 19"/>
                  <a:gd name="T2" fmla="*/ 18 w 19"/>
                  <a:gd name="T3" fmla="*/ 6 h 19"/>
                  <a:gd name="T4" fmla="*/ 6 w 19"/>
                  <a:gd name="T5" fmla="*/ 18 h 19"/>
                  <a:gd name="T6" fmla="*/ 6 w 19"/>
                  <a:gd name="T7" fmla="*/ 6 h 19"/>
                  <a:gd name="T8" fmla="*/ 0 w 19"/>
                  <a:gd name="T9" fmla="*/ 0 h 19"/>
                  <a:gd name="T10" fmla="*/ 18 w 19"/>
                  <a:gd name="T11" fmla="*/ 0 h 1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9"/>
                  <a:gd name="T19" fmla="*/ 0 h 19"/>
                  <a:gd name="T20" fmla="*/ 19 w 19"/>
                  <a:gd name="T21" fmla="*/ 19 h 1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9" h="19">
                    <a:moveTo>
                      <a:pt x="18" y="0"/>
                    </a:moveTo>
                    <a:lnTo>
                      <a:pt x="18" y="6"/>
                    </a:lnTo>
                    <a:lnTo>
                      <a:pt x="6" y="18"/>
                    </a:lnTo>
                    <a:lnTo>
                      <a:pt x="6" y="6"/>
                    </a:lnTo>
                    <a:lnTo>
                      <a:pt x="0" y="0"/>
                    </a:lnTo>
                    <a:lnTo>
                      <a:pt x="18" y="0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64" name="Freeform 143">
                <a:extLst>
                  <a:ext uri="{FF2B5EF4-FFF2-40B4-BE49-F238E27FC236}">
                    <a16:creationId xmlns:a16="http://schemas.microsoft.com/office/drawing/2014/main" id="{AB2BC5E3-E2C5-4027-A593-7254F15DA83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815761" y="3845024"/>
                <a:ext cx="285344" cy="183444"/>
              </a:xfrm>
              <a:custGeom>
                <a:avLst/>
                <a:gdLst>
                  <a:gd name="T0" fmla="*/ 37 w 112"/>
                  <a:gd name="T1" fmla="*/ 87 h 106"/>
                  <a:gd name="T2" fmla="*/ 18 w 112"/>
                  <a:gd name="T3" fmla="*/ 81 h 106"/>
                  <a:gd name="T4" fmla="*/ 12 w 112"/>
                  <a:gd name="T5" fmla="*/ 74 h 106"/>
                  <a:gd name="T6" fmla="*/ 0 w 112"/>
                  <a:gd name="T7" fmla="*/ 56 h 106"/>
                  <a:gd name="T8" fmla="*/ 0 w 112"/>
                  <a:gd name="T9" fmla="*/ 37 h 106"/>
                  <a:gd name="T10" fmla="*/ 12 w 112"/>
                  <a:gd name="T11" fmla="*/ 24 h 106"/>
                  <a:gd name="T12" fmla="*/ 12 w 112"/>
                  <a:gd name="T13" fmla="*/ 18 h 106"/>
                  <a:gd name="T14" fmla="*/ 12 w 112"/>
                  <a:gd name="T15" fmla="*/ 12 h 106"/>
                  <a:gd name="T16" fmla="*/ 12 w 112"/>
                  <a:gd name="T17" fmla="*/ 6 h 106"/>
                  <a:gd name="T18" fmla="*/ 24 w 112"/>
                  <a:gd name="T19" fmla="*/ 0 h 106"/>
                  <a:gd name="T20" fmla="*/ 43 w 112"/>
                  <a:gd name="T21" fmla="*/ 0 h 106"/>
                  <a:gd name="T22" fmla="*/ 49 w 112"/>
                  <a:gd name="T23" fmla="*/ 0 h 106"/>
                  <a:gd name="T24" fmla="*/ 80 w 112"/>
                  <a:gd name="T25" fmla="*/ 24 h 106"/>
                  <a:gd name="T26" fmla="*/ 87 w 112"/>
                  <a:gd name="T27" fmla="*/ 31 h 106"/>
                  <a:gd name="T28" fmla="*/ 99 w 112"/>
                  <a:gd name="T29" fmla="*/ 37 h 106"/>
                  <a:gd name="T30" fmla="*/ 93 w 112"/>
                  <a:gd name="T31" fmla="*/ 56 h 106"/>
                  <a:gd name="T32" fmla="*/ 99 w 112"/>
                  <a:gd name="T33" fmla="*/ 62 h 106"/>
                  <a:gd name="T34" fmla="*/ 99 w 112"/>
                  <a:gd name="T35" fmla="*/ 81 h 106"/>
                  <a:gd name="T36" fmla="*/ 105 w 112"/>
                  <a:gd name="T37" fmla="*/ 93 h 106"/>
                  <a:gd name="T38" fmla="*/ 111 w 112"/>
                  <a:gd name="T39" fmla="*/ 99 h 106"/>
                  <a:gd name="T40" fmla="*/ 99 w 112"/>
                  <a:gd name="T41" fmla="*/ 105 h 106"/>
                  <a:gd name="T42" fmla="*/ 68 w 112"/>
                  <a:gd name="T43" fmla="*/ 105 h 106"/>
                  <a:gd name="T44" fmla="*/ 55 w 112"/>
                  <a:gd name="T45" fmla="*/ 105 h 106"/>
                  <a:gd name="T46" fmla="*/ 49 w 112"/>
                  <a:gd name="T47" fmla="*/ 93 h 106"/>
                  <a:gd name="T48" fmla="*/ 43 w 112"/>
                  <a:gd name="T49" fmla="*/ 87 h 106"/>
                  <a:gd name="T50" fmla="*/ 37 w 112"/>
                  <a:gd name="T51" fmla="*/ 87 h 10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112"/>
                  <a:gd name="T79" fmla="*/ 0 h 106"/>
                  <a:gd name="T80" fmla="*/ 112 w 112"/>
                  <a:gd name="T81" fmla="*/ 106 h 10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112" h="106">
                    <a:moveTo>
                      <a:pt x="37" y="87"/>
                    </a:moveTo>
                    <a:lnTo>
                      <a:pt x="18" y="81"/>
                    </a:lnTo>
                    <a:lnTo>
                      <a:pt x="12" y="74"/>
                    </a:lnTo>
                    <a:lnTo>
                      <a:pt x="0" y="56"/>
                    </a:lnTo>
                    <a:lnTo>
                      <a:pt x="0" y="37"/>
                    </a:lnTo>
                    <a:lnTo>
                      <a:pt x="12" y="24"/>
                    </a:lnTo>
                    <a:lnTo>
                      <a:pt x="12" y="18"/>
                    </a:lnTo>
                    <a:lnTo>
                      <a:pt x="12" y="12"/>
                    </a:lnTo>
                    <a:lnTo>
                      <a:pt x="12" y="6"/>
                    </a:lnTo>
                    <a:lnTo>
                      <a:pt x="24" y="0"/>
                    </a:lnTo>
                    <a:lnTo>
                      <a:pt x="43" y="0"/>
                    </a:lnTo>
                    <a:lnTo>
                      <a:pt x="49" y="0"/>
                    </a:lnTo>
                    <a:lnTo>
                      <a:pt x="80" y="24"/>
                    </a:lnTo>
                    <a:lnTo>
                      <a:pt x="87" y="31"/>
                    </a:lnTo>
                    <a:lnTo>
                      <a:pt x="99" y="37"/>
                    </a:lnTo>
                    <a:lnTo>
                      <a:pt x="93" y="56"/>
                    </a:lnTo>
                    <a:lnTo>
                      <a:pt x="99" y="62"/>
                    </a:lnTo>
                    <a:lnTo>
                      <a:pt x="99" y="81"/>
                    </a:lnTo>
                    <a:lnTo>
                      <a:pt x="105" y="93"/>
                    </a:lnTo>
                    <a:lnTo>
                      <a:pt x="111" y="99"/>
                    </a:lnTo>
                    <a:lnTo>
                      <a:pt x="99" y="105"/>
                    </a:lnTo>
                    <a:lnTo>
                      <a:pt x="68" y="105"/>
                    </a:lnTo>
                    <a:lnTo>
                      <a:pt x="55" y="105"/>
                    </a:lnTo>
                    <a:lnTo>
                      <a:pt x="49" y="93"/>
                    </a:lnTo>
                    <a:lnTo>
                      <a:pt x="43" y="87"/>
                    </a:lnTo>
                    <a:lnTo>
                      <a:pt x="37" y="87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65" name="Freeform 144">
                <a:extLst>
                  <a:ext uri="{FF2B5EF4-FFF2-40B4-BE49-F238E27FC236}">
                    <a16:creationId xmlns:a16="http://schemas.microsoft.com/office/drawing/2014/main" id="{71547B9E-FC13-401D-B25C-0C900F21172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627232" y="3974821"/>
                <a:ext cx="300631" cy="169600"/>
              </a:xfrm>
              <a:custGeom>
                <a:avLst/>
                <a:gdLst>
                  <a:gd name="T0" fmla="*/ 18 w 118"/>
                  <a:gd name="T1" fmla="*/ 24 h 98"/>
                  <a:gd name="T2" fmla="*/ 37 w 118"/>
                  <a:gd name="T3" fmla="*/ 36 h 98"/>
                  <a:gd name="T4" fmla="*/ 49 w 118"/>
                  <a:gd name="T5" fmla="*/ 36 h 98"/>
                  <a:gd name="T6" fmla="*/ 68 w 118"/>
                  <a:gd name="T7" fmla="*/ 42 h 98"/>
                  <a:gd name="T8" fmla="*/ 74 w 118"/>
                  <a:gd name="T9" fmla="*/ 48 h 98"/>
                  <a:gd name="T10" fmla="*/ 74 w 118"/>
                  <a:gd name="T11" fmla="*/ 36 h 98"/>
                  <a:gd name="T12" fmla="*/ 68 w 118"/>
                  <a:gd name="T13" fmla="*/ 36 h 98"/>
                  <a:gd name="T14" fmla="*/ 62 w 118"/>
                  <a:gd name="T15" fmla="*/ 36 h 98"/>
                  <a:gd name="T16" fmla="*/ 68 w 118"/>
                  <a:gd name="T17" fmla="*/ 6 h 98"/>
                  <a:gd name="T18" fmla="*/ 68 w 118"/>
                  <a:gd name="T19" fmla="*/ 0 h 98"/>
                  <a:gd name="T20" fmla="*/ 86 w 118"/>
                  <a:gd name="T21" fmla="*/ 0 h 98"/>
                  <a:gd name="T22" fmla="*/ 93 w 118"/>
                  <a:gd name="T23" fmla="*/ 6 h 98"/>
                  <a:gd name="T24" fmla="*/ 111 w 118"/>
                  <a:gd name="T25" fmla="*/ 12 h 98"/>
                  <a:gd name="T26" fmla="*/ 117 w 118"/>
                  <a:gd name="T27" fmla="*/ 24 h 98"/>
                  <a:gd name="T28" fmla="*/ 111 w 118"/>
                  <a:gd name="T29" fmla="*/ 30 h 98"/>
                  <a:gd name="T30" fmla="*/ 111 w 118"/>
                  <a:gd name="T31" fmla="*/ 42 h 98"/>
                  <a:gd name="T32" fmla="*/ 105 w 118"/>
                  <a:gd name="T33" fmla="*/ 55 h 98"/>
                  <a:gd name="T34" fmla="*/ 111 w 118"/>
                  <a:gd name="T35" fmla="*/ 55 h 98"/>
                  <a:gd name="T36" fmla="*/ 80 w 118"/>
                  <a:gd name="T37" fmla="*/ 67 h 98"/>
                  <a:gd name="T38" fmla="*/ 80 w 118"/>
                  <a:gd name="T39" fmla="*/ 73 h 98"/>
                  <a:gd name="T40" fmla="*/ 68 w 118"/>
                  <a:gd name="T41" fmla="*/ 73 h 98"/>
                  <a:gd name="T42" fmla="*/ 62 w 118"/>
                  <a:gd name="T43" fmla="*/ 85 h 98"/>
                  <a:gd name="T44" fmla="*/ 43 w 118"/>
                  <a:gd name="T45" fmla="*/ 97 h 98"/>
                  <a:gd name="T46" fmla="*/ 31 w 118"/>
                  <a:gd name="T47" fmla="*/ 91 h 98"/>
                  <a:gd name="T48" fmla="*/ 18 w 118"/>
                  <a:gd name="T49" fmla="*/ 91 h 98"/>
                  <a:gd name="T50" fmla="*/ 12 w 118"/>
                  <a:gd name="T51" fmla="*/ 91 h 98"/>
                  <a:gd name="T52" fmla="*/ 0 w 118"/>
                  <a:gd name="T53" fmla="*/ 79 h 98"/>
                  <a:gd name="T54" fmla="*/ 0 w 118"/>
                  <a:gd name="T55" fmla="*/ 48 h 98"/>
                  <a:gd name="T56" fmla="*/ 18 w 118"/>
                  <a:gd name="T57" fmla="*/ 48 h 98"/>
                  <a:gd name="T58" fmla="*/ 18 w 118"/>
                  <a:gd name="T59" fmla="*/ 24 h 98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118"/>
                  <a:gd name="T91" fmla="*/ 0 h 98"/>
                  <a:gd name="T92" fmla="*/ 118 w 118"/>
                  <a:gd name="T93" fmla="*/ 98 h 98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118" h="98">
                    <a:moveTo>
                      <a:pt x="18" y="24"/>
                    </a:moveTo>
                    <a:lnTo>
                      <a:pt x="37" y="36"/>
                    </a:lnTo>
                    <a:lnTo>
                      <a:pt x="49" y="36"/>
                    </a:lnTo>
                    <a:lnTo>
                      <a:pt x="68" y="42"/>
                    </a:lnTo>
                    <a:lnTo>
                      <a:pt x="74" y="48"/>
                    </a:lnTo>
                    <a:lnTo>
                      <a:pt x="74" y="36"/>
                    </a:lnTo>
                    <a:lnTo>
                      <a:pt x="68" y="36"/>
                    </a:lnTo>
                    <a:lnTo>
                      <a:pt x="62" y="36"/>
                    </a:lnTo>
                    <a:lnTo>
                      <a:pt x="68" y="6"/>
                    </a:lnTo>
                    <a:lnTo>
                      <a:pt x="68" y="0"/>
                    </a:lnTo>
                    <a:lnTo>
                      <a:pt x="86" y="0"/>
                    </a:lnTo>
                    <a:lnTo>
                      <a:pt x="93" y="6"/>
                    </a:lnTo>
                    <a:lnTo>
                      <a:pt x="111" y="12"/>
                    </a:lnTo>
                    <a:lnTo>
                      <a:pt x="117" y="24"/>
                    </a:lnTo>
                    <a:lnTo>
                      <a:pt x="111" y="30"/>
                    </a:lnTo>
                    <a:lnTo>
                      <a:pt x="111" y="42"/>
                    </a:lnTo>
                    <a:lnTo>
                      <a:pt x="105" y="55"/>
                    </a:lnTo>
                    <a:lnTo>
                      <a:pt x="111" y="55"/>
                    </a:lnTo>
                    <a:lnTo>
                      <a:pt x="80" y="67"/>
                    </a:lnTo>
                    <a:lnTo>
                      <a:pt x="80" y="73"/>
                    </a:lnTo>
                    <a:lnTo>
                      <a:pt x="68" y="73"/>
                    </a:lnTo>
                    <a:lnTo>
                      <a:pt x="62" y="85"/>
                    </a:lnTo>
                    <a:lnTo>
                      <a:pt x="43" y="97"/>
                    </a:lnTo>
                    <a:lnTo>
                      <a:pt x="31" y="91"/>
                    </a:lnTo>
                    <a:lnTo>
                      <a:pt x="18" y="91"/>
                    </a:lnTo>
                    <a:lnTo>
                      <a:pt x="12" y="91"/>
                    </a:lnTo>
                    <a:lnTo>
                      <a:pt x="0" y="79"/>
                    </a:lnTo>
                    <a:lnTo>
                      <a:pt x="0" y="48"/>
                    </a:lnTo>
                    <a:lnTo>
                      <a:pt x="18" y="48"/>
                    </a:lnTo>
                    <a:lnTo>
                      <a:pt x="18" y="24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66" name="Freeform 145">
                <a:extLst>
                  <a:ext uri="{FF2B5EF4-FFF2-40B4-BE49-F238E27FC236}">
                    <a16:creationId xmlns:a16="http://schemas.microsoft.com/office/drawing/2014/main" id="{95F30420-60F2-480D-8803-A41189066F2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359721" y="4123654"/>
                <a:ext cx="346489" cy="216327"/>
              </a:xfrm>
              <a:custGeom>
                <a:avLst/>
                <a:gdLst>
                  <a:gd name="T0" fmla="*/ 49 w 136"/>
                  <a:gd name="T1" fmla="*/ 124 h 125"/>
                  <a:gd name="T2" fmla="*/ 37 w 136"/>
                  <a:gd name="T3" fmla="*/ 112 h 125"/>
                  <a:gd name="T4" fmla="*/ 30 w 136"/>
                  <a:gd name="T5" fmla="*/ 74 h 125"/>
                  <a:gd name="T6" fmla="*/ 30 w 136"/>
                  <a:gd name="T7" fmla="*/ 56 h 125"/>
                  <a:gd name="T8" fmla="*/ 0 w 136"/>
                  <a:gd name="T9" fmla="*/ 12 h 125"/>
                  <a:gd name="T10" fmla="*/ 0 w 136"/>
                  <a:gd name="T11" fmla="*/ 6 h 125"/>
                  <a:gd name="T12" fmla="*/ 18 w 136"/>
                  <a:gd name="T13" fmla="*/ 0 h 125"/>
                  <a:gd name="T14" fmla="*/ 24 w 136"/>
                  <a:gd name="T15" fmla="*/ 6 h 125"/>
                  <a:gd name="T16" fmla="*/ 67 w 136"/>
                  <a:gd name="T17" fmla="*/ 6 h 125"/>
                  <a:gd name="T18" fmla="*/ 74 w 136"/>
                  <a:gd name="T19" fmla="*/ 6 h 125"/>
                  <a:gd name="T20" fmla="*/ 98 w 136"/>
                  <a:gd name="T21" fmla="*/ 12 h 125"/>
                  <a:gd name="T22" fmla="*/ 117 w 136"/>
                  <a:gd name="T23" fmla="*/ 6 h 125"/>
                  <a:gd name="T24" fmla="*/ 123 w 136"/>
                  <a:gd name="T25" fmla="*/ 6 h 125"/>
                  <a:gd name="T26" fmla="*/ 135 w 136"/>
                  <a:gd name="T27" fmla="*/ 6 h 125"/>
                  <a:gd name="T28" fmla="*/ 117 w 136"/>
                  <a:gd name="T29" fmla="*/ 18 h 125"/>
                  <a:gd name="T30" fmla="*/ 111 w 136"/>
                  <a:gd name="T31" fmla="*/ 12 h 125"/>
                  <a:gd name="T32" fmla="*/ 92 w 136"/>
                  <a:gd name="T33" fmla="*/ 12 h 125"/>
                  <a:gd name="T34" fmla="*/ 92 w 136"/>
                  <a:gd name="T35" fmla="*/ 49 h 125"/>
                  <a:gd name="T36" fmla="*/ 80 w 136"/>
                  <a:gd name="T37" fmla="*/ 56 h 125"/>
                  <a:gd name="T38" fmla="*/ 80 w 136"/>
                  <a:gd name="T39" fmla="*/ 81 h 125"/>
                  <a:gd name="T40" fmla="*/ 80 w 136"/>
                  <a:gd name="T41" fmla="*/ 124 h 125"/>
                  <a:gd name="T42" fmla="*/ 74 w 136"/>
                  <a:gd name="T43" fmla="*/ 124 h 125"/>
                  <a:gd name="T44" fmla="*/ 61 w 136"/>
                  <a:gd name="T45" fmla="*/ 124 h 125"/>
                  <a:gd name="T46" fmla="*/ 49 w 136"/>
                  <a:gd name="T47" fmla="*/ 118 h 125"/>
                  <a:gd name="T48" fmla="*/ 49 w 136"/>
                  <a:gd name="T49" fmla="*/ 124 h 125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136"/>
                  <a:gd name="T76" fmla="*/ 0 h 125"/>
                  <a:gd name="T77" fmla="*/ 136 w 136"/>
                  <a:gd name="T78" fmla="*/ 125 h 125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136" h="125">
                    <a:moveTo>
                      <a:pt x="49" y="124"/>
                    </a:moveTo>
                    <a:lnTo>
                      <a:pt x="37" y="112"/>
                    </a:lnTo>
                    <a:lnTo>
                      <a:pt x="30" y="74"/>
                    </a:lnTo>
                    <a:lnTo>
                      <a:pt x="30" y="56"/>
                    </a:lnTo>
                    <a:lnTo>
                      <a:pt x="0" y="12"/>
                    </a:lnTo>
                    <a:lnTo>
                      <a:pt x="0" y="6"/>
                    </a:lnTo>
                    <a:lnTo>
                      <a:pt x="18" y="0"/>
                    </a:lnTo>
                    <a:lnTo>
                      <a:pt x="24" y="6"/>
                    </a:lnTo>
                    <a:lnTo>
                      <a:pt x="67" y="6"/>
                    </a:lnTo>
                    <a:lnTo>
                      <a:pt x="74" y="6"/>
                    </a:lnTo>
                    <a:lnTo>
                      <a:pt x="98" y="12"/>
                    </a:lnTo>
                    <a:lnTo>
                      <a:pt x="117" y="6"/>
                    </a:lnTo>
                    <a:lnTo>
                      <a:pt x="123" y="6"/>
                    </a:lnTo>
                    <a:lnTo>
                      <a:pt x="135" y="6"/>
                    </a:lnTo>
                    <a:lnTo>
                      <a:pt x="117" y="18"/>
                    </a:lnTo>
                    <a:lnTo>
                      <a:pt x="111" y="12"/>
                    </a:lnTo>
                    <a:lnTo>
                      <a:pt x="92" y="12"/>
                    </a:lnTo>
                    <a:lnTo>
                      <a:pt x="92" y="49"/>
                    </a:lnTo>
                    <a:lnTo>
                      <a:pt x="80" y="56"/>
                    </a:lnTo>
                    <a:lnTo>
                      <a:pt x="80" y="81"/>
                    </a:lnTo>
                    <a:lnTo>
                      <a:pt x="80" y="124"/>
                    </a:lnTo>
                    <a:lnTo>
                      <a:pt x="74" y="124"/>
                    </a:lnTo>
                    <a:lnTo>
                      <a:pt x="61" y="124"/>
                    </a:lnTo>
                    <a:lnTo>
                      <a:pt x="49" y="118"/>
                    </a:lnTo>
                    <a:lnTo>
                      <a:pt x="49" y="124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67" name="Freeform 146">
                <a:extLst>
                  <a:ext uri="{FF2B5EF4-FFF2-40B4-BE49-F238E27FC236}">
                    <a16:creationId xmlns:a16="http://schemas.microsoft.com/office/drawing/2014/main" id="{A9B5E5ED-C3A1-4633-A63C-5CB4B0E1806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359721" y="3929825"/>
                <a:ext cx="315917" cy="214595"/>
              </a:xfrm>
              <a:custGeom>
                <a:avLst/>
                <a:gdLst>
                  <a:gd name="T0" fmla="*/ 0 w 124"/>
                  <a:gd name="T1" fmla="*/ 117 h 124"/>
                  <a:gd name="T2" fmla="*/ 18 w 124"/>
                  <a:gd name="T3" fmla="*/ 111 h 124"/>
                  <a:gd name="T4" fmla="*/ 24 w 124"/>
                  <a:gd name="T5" fmla="*/ 117 h 124"/>
                  <a:gd name="T6" fmla="*/ 68 w 124"/>
                  <a:gd name="T7" fmla="*/ 117 h 124"/>
                  <a:gd name="T8" fmla="*/ 74 w 124"/>
                  <a:gd name="T9" fmla="*/ 117 h 124"/>
                  <a:gd name="T10" fmla="*/ 99 w 124"/>
                  <a:gd name="T11" fmla="*/ 123 h 124"/>
                  <a:gd name="T12" fmla="*/ 117 w 124"/>
                  <a:gd name="T13" fmla="*/ 117 h 124"/>
                  <a:gd name="T14" fmla="*/ 105 w 124"/>
                  <a:gd name="T15" fmla="*/ 111 h 124"/>
                  <a:gd name="T16" fmla="*/ 105 w 124"/>
                  <a:gd name="T17" fmla="*/ 74 h 124"/>
                  <a:gd name="T18" fmla="*/ 123 w 124"/>
                  <a:gd name="T19" fmla="*/ 74 h 124"/>
                  <a:gd name="T20" fmla="*/ 123 w 124"/>
                  <a:gd name="T21" fmla="*/ 49 h 124"/>
                  <a:gd name="T22" fmla="*/ 105 w 124"/>
                  <a:gd name="T23" fmla="*/ 55 h 124"/>
                  <a:gd name="T24" fmla="*/ 105 w 124"/>
                  <a:gd name="T25" fmla="*/ 49 h 124"/>
                  <a:gd name="T26" fmla="*/ 99 w 124"/>
                  <a:gd name="T27" fmla="*/ 37 h 124"/>
                  <a:gd name="T28" fmla="*/ 99 w 124"/>
                  <a:gd name="T29" fmla="*/ 18 h 124"/>
                  <a:gd name="T30" fmla="*/ 92 w 124"/>
                  <a:gd name="T31" fmla="*/ 12 h 124"/>
                  <a:gd name="T32" fmla="*/ 80 w 124"/>
                  <a:gd name="T33" fmla="*/ 12 h 124"/>
                  <a:gd name="T34" fmla="*/ 74 w 124"/>
                  <a:gd name="T35" fmla="*/ 24 h 124"/>
                  <a:gd name="T36" fmla="*/ 61 w 124"/>
                  <a:gd name="T37" fmla="*/ 24 h 124"/>
                  <a:gd name="T38" fmla="*/ 49 w 124"/>
                  <a:gd name="T39" fmla="*/ 18 h 124"/>
                  <a:gd name="T40" fmla="*/ 49 w 124"/>
                  <a:gd name="T41" fmla="*/ 6 h 124"/>
                  <a:gd name="T42" fmla="*/ 43 w 124"/>
                  <a:gd name="T43" fmla="*/ 0 h 124"/>
                  <a:gd name="T44" fmla="*/ 18 w 124"/>
                  <a:gd name="T45" fmla="*/ 0 h 124"/>
                  <a:gd name="T46" fmla="*/ 12 w 124"/>
                  <a:gd name="T47" fmla="*/ 6 h 124"/>
                  <a:gd name="T48" fmla="*/ 12 w 124"/>
                  <a:gd name="T49" fmla="*/ 24 h 124"/>
                  <a:gd name="T50" fmla="*/ 12 w 124"/>
                  <a:gd name="T51" fmla="*/ 30 h 124"/>
                  <a:gd name="T52" fmla="*/ 24 w 124"/>
                  <a:gd name="T53" fmla="*/ 55 h 124"/>
                  <a:gd name="T54" fmla="*/ 18 w 124"/>
                  <a:gd name="T55" fmla="*/ 68 h 124"/>
                  <a:gd name="T56" fmla="*/ 12 w 124"/>
                  <a:gd name="T57" fmla="*/ 74 h 124"/>
                  <a:gd name="T58" fmla="*/ 0 w 124"/>
                  <a:gd name="T59" fmla="*/ 105 h 124"/>
                  <a:gd name="T60" fmla="*/ 0 w 124"/>
                  <a:gd name="T61" fmla="*/ 117 h 124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w 124"/>
                  <a:gd name="T94" fmla="*/ 0 h 124"/>
                  <a:gd name="T95" fmla="*/ 124 w 124"/>
                  <a:gd name="T96" fmla="*/ 124 h 124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T93" t="T94" r="T95" b="T96"/>
                <a:pathLst>
                  <a:path w="124" h="124">
                    <a:moveTo>
                      <a:pt x="0" y="117"/>
                    </a:moveTo>
                    <a:lnTo>
                      <a:pt x="18" y="111"/>
                    </a:lnTo>
                    <a:lnTo>
                      <a:pt x="24" y="117"/>
                    </a:lnTo>
                    <a:lnTo>
                      <a:pt x="68" y="117"/>
                    </a:lnTo>
                    <a:lnTo>
                      <a:pt x="74" y="117"/>
                    </a:lnTo>
                    <a:lnTo>
                      <a:pt x="99" y="123"/>
                    </a:lnTo>
                    <a:lnTo>
                      <a:pt x="117" y="117"/>
                    </a:lnTo>
                    <a:lnTo>
                      <a:pt x="105" y="111"/>
                    </a:lnTo>
                    <a:lnTo>
                      <a:pt x="105" y="74"/>
                    </a:lnTo>
                    <a:lnTo>
                      <a:pt x="123" y="74"/>
                    </a:lnTo>
                    <a:lnTo>
                      <a:pt x="123" y="49"/>
                    </a:lnTo>
                    <a:lnTo>
                      <a:pt x="105" y="55"/>
                    </a:lnTo>
                    <a:lnTo>
                      <a:pt x="105" y="49"/>
                    </a:lnTo>
                    <a:lnTo>
                      <a:pt x="99" y="37"/>
                    </a:lnTo>
                    <a:lnTo>
                      <a:pt x="99" y="18"/>
                    </a:lnTo>
                    <a:lnTo>
                      <a:pt x="92" y="12"/>
                    </a:lnTo>
                    <a:lnTo>
                      <a:pt x="80" y="12"/>
                    </a:lnTo>
                    <a:lnTo>
                      <a:pt x="74" y="24"/>
                    </a:lnTo>
                    <a:lnTo>
                      <a:pt x="61" y="24"/>
                    </a:lnTo>
                    <a:lnTo>
                      <a:pt x="49" y="18"/>
                    </a:lnTo>
                    <a:lnTo>
                      <a:pt x="49" y="6"/>
                    </a:lnTo>
                    <a:lnTo>
                      <a:pt x="43" y="0"/>
                    </a:lnTo>
                    <a:lnTo>
                      <a:pt x="18" y="0"/>
                    </a:lnTo>
                    <a:lnTo>
                      <a:pt x="12" y="6"/>
                    </a:lnTo>
                    <a:lnTo>
                      <a:pt x="12" y="24"/>
                    </a:lnTo>
                    <a:lnTo>
                      <a:pt x="12" y="30"/>
                    </a:lnTo>
                    <a:lnTo>
                      <a:pt x="24" y="55"/>
                    </a:lnTo>
                    <a:lnTo>
                      <a:pt x="18" y="68"/>
                    </a:lnTo>
                    <a:lnTo>
                      <a:pt x="12" y="74"/>
                    </a:lnTo>
                    <a:lnTo>
                      <a:pt x="0" y="105"/>
                    </a:lnTo>
                    <a:lnTo>
                      <a:pt x="0" y="117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68" name="Freeform 147">
                <a:extLst>
                  <a:ext uri="{FF2B5EF4-FFF2-40B4-BE49-F238E27FC236}">
                    <a16:creationId xmlns:a16="http://schemas.microsoft.com/office/drawing/2014/main" id="{FF01D770-8615-4E15-92B6-A9FD9CCD79D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375007" y="3909058"/>
                <a:ext cx="48404" cy="32882"/>
              </a:xfrm>
              <a:custGeom>
                <a:avLst/>
                <a:gdLst>
                  <a:gd name="T0" fmla="*/ 18 w 19"/>
                  <a:gd name="T1" fmla="*/ 0 h 19"/>
                  <a:gd name="T2" fmla="*/ 0 w 19"/>
                  <a:gd name="T3" fmla="*/ 18 h 19"/>
                  <a:gd name="T4" fmla="*/ 0 w 19"/>
                  <a:gd name="T5" fmla="*/ 9 h 19"/>
                  <a:gd name="T6" fmla="*/ 18 w 19"/>
                  <a:gd name="T7" fmla="*/ 0 h 1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"/>
                  <a:gd name="T13" fmla="*/ 0 h 19"/>
                  <a:gd name="T14" fmla="*/ 19 w 19"/>
                  <a:gd name="T15" fmla="*/ 19 h 1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9" h="19">
                    <a:moveTo>
                      <a:pt x="18" y="0"/>
                    </a:moveTo>
                    <a:lnTo>
                      <a:pt x="0" y="18"/>
                    </a:lnTo>
                    <a:lnTo>
                      <a:pt x="0" y="9"/>
                    </a:lnTo>
                    <a:lnTo>
                      <a:pt x="18" y="0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69" name="Freeform 148">
                <a:extLst>
                  <a:ext uri="{FF2B5EF4-FFF2-40B4-BE49-F238E27FC236}">
                    <a16:creationId xmlns:a16="http://schemas.microsoft.com/office/drawing/2014/main" id="{22E7208A-6448-4B82-9F5C-4AF889C4E57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484556" y="4220568"/>
                <a:ext cx="412727" cy="237094"/>
              </a:xfrm>
              <a:custGeom>
                <a:avLst/>
                <a:gdLst>
                  <a:gd name="T0" fmla="*/ 149 w 162"/>
                  <a:gd name="T1" fmla="*/ 6 h 137"/>
                  <a:gd name="T2" fmla="*/ 155 w 162"/>
                  <a:gd name="T3" fmla="*/ 37 h 137"/>
                  <a:gd name="T4" fmla="*/ 149 w 162"/>
                  <a:gd name="T5" fmla="*/ 37 h 137"/>
                  <a:gd name="T6" fmla="*/ 143 w 162"/>
                  <a:gd name="T7" fmla="*/ 49 h 137"/>
                  <a:gd name="T8" fmla="*/ 149 w 162"/>
                  <a:gd name="T9" fmla="*/ 49 h 137"/>
                  <a:gd name="T10" fmla="*/ 155 w 162"/>
                  <a:gd name="T11" fmla="*/ 49 h 137"/>
                  <a:gd name="T12" fmla="*/ 161 w 162"/>
                  <a:gd name="T13" fmla="*/ 49 h 137"/>
                  <a:gd name="T14" fmla="*/ 161 w 162"/>
                  <a:gd name="T15" fmla="*/ 68 h 137"/>
                  <a:gd name="T16" fmla="*/ 149 w 162"/>
                  <a:gd name="T17" fmla="*/ 74 h 137"/>
                  <a:gd name="T18" fmla="*/ 137 w 162"/>
                  <a:gd name="T19" fmla="*/ 93 h 137"/>
                  <a:gd name="T20" fmla="*/ 118 w 162"/>
                  <a:gd name="T21" fmla="*/ 118 h 137"/>
                  <a:gd name="T22" fmla="*/ 105 w 162"/>
                  <a:gd name="T23" fmla="*/ 124 h 137"/>
                  <a:gd name="T24" fmla="*/ 80 w 162"/>
                  <a:gd name="T25" fmla="*/ 130 h 137"/>
                  <a:gd name="T26" fmla="*/ 74 w 162"/>
                  <a:gd name="T27" fmla="*/ 130 h 137"/>
                  <a:gd name="T28" fmla="*/ 56 w 162"/>
                  <a:gd name="T29" fmla="*/ 130 h 137"/>
                  <a:gd name="T30" fmla="*/ 37 w 162"/>
                  <a:gd name="T31" fmla="*/ 136 h 137"/>
                  <a:gd name="T32" fmla="*/ 31 w 162"/>
                  <a:gd name="T33" fmla="*/ 136 h 137"/>
                  <a:gd name="T34" fmla="*/ 24 w 162"/>
                  <a:gd name="T35" fmla="*/ 130 h 137"/>
                  <a:gd name="T36" fmla="*/ 18 w 162"/>
                  <a:gd name="T37" fmla="*/ 130 h 137"/>
                  <a:gd name="T38" fmla="*/ 12 w 162"/>
                  <a:gd name="T39" fmla="*/ 118 h 137"/>
                  <a:gd name="T40" fmla="*/ 18 w 162"/>
                  <a:gd name="T41" fmla="*/ 112 h 137"/>
                  <a:gd name="T42" fmla="*/ 18 w 162"/>
                  <a:gd name="T43" fmla="*/ 105 h 137"/>
                  <a:gd name="T44" fmla="*/ 0 w 162"/>
                  <a:gd name="T45" fmla="*/ 74 h 137"/>
                  <a:gd name="T46" fmla="*/ 0 w 162"/>
                  <a:gd name="T47" fmla="*/ 68 h 137"/>
                  <a:gd name="T48" fmla="*/ 0 w 162"/>
                  <a:gd name="T49" fmla="*/ 62 h 137"/>
                  <a:gd name="T50" fmla="*/ 12 w 162"/>
                  <a:gd name="T51" fmla="*/ 74 h 137"/>
                  <a:gd name="T52" fmla="*/ 24 w 162"/>
                  <a:gd name="T53" fmla="*/ 74 h 137"/>
                  <a:gd name="T54" fmla="*/ 31 w 162"/>
                  <a:gd name="T55" fmla="*/ 68 h 137"/>
                  <a:gd name="T56" fmla="*/ 31 w 162"/>
                  <a:gd name="T57" fmla="*/ 24 h 137"/>
                  <a:gd name="T58" fmla="*/ 43 w 162"/>
                  <a:gd name="T59" fmla="*/ 31 h 137"/>
                  <a:gd name="T60" fmla="*/ 43 w 162"/>
                  <a:gd name="T61" fmla="*/ 43 h 137"/>
                  <a:gd name="T62" fmla="*/ 56 w 162"/>
                  <a:gd name="T63" fmla="*/ 49 h 137"/>
                  <a:gd name="T64" fmla="*/ 68 w 162"/>
                  <a:gd name="T65" fmla="*/ 31 h 137"/>
                  <a:gd name="T66" fmla="*/ 80 w 162"/>
                  <a:gd name="T67" fmla="*/ 37 h 137"/>
                  <a:gd name="T68" fmla="*/ 87 w 162"/>
                  <a:gd name="T69" fmla="*/ 37 h 137"/>
                  <a:gd name="T70" fmla="*/ 112 w 162"/>
                  <a:gd name="T71" fmla="*/ 12 h 137"/>
                  <a:gd name="T72" fmla="*/ 130 w 162"/>
                  <a:gd name="T73" fmla="*/ 0 h 137"/>
                  <a:gd name="T74" fmla="*/ 143 w 162"/>
                  <a:gd name="T75" fmla="*/ 0 h 137"/>
                  <a:gd name="T76" fmla="*/ 149 w 162"/>
                  <a:gd name="T77" fmla="*/ 6 h 137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162"/>
                  <a:gd name="T118" fmla="*/ 0 h 137"/>
                  <a:gd name="T119" fmla="*/ 162 w 162"/>
                  <a:gd name="T120" fmla="*/ 137 h 137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162" h="137">
                    <a:moveTo>
                      <a:pt x="149" y="6"/>
                    </a:moveTo>
                    <a:lnTo>
                      <a:pt x="155" y="37"/>
                    </a:lnTo>
                    <a:lnTo>
                      <a:pt x="149" y="37"/>
                    </a:lnTo>
                    <a:lnTo>
                      <a:pt x="143" y="49"/>
                    </a:lnTo>
                    <a:lnTo>
                      <a:pt x="149" y="49"/>
                    </a:lnTo>
                    <a:lnTo>
                      <a:pt x="155" y="49"/>
                    </a:lnTo>
                    <a:lnTo>
                      <a:pt x="161" y="49"/>
                    </a:lnTo>
                    <a:lnTo>
                      <a:pt x="161" y="68"/>
                    </a:lnTo>
                    <a:lnTo>
                      <a:pt x="149" y="74"/>
                    </a:lnTo>
                    <a:lnTo>
                      <a:pt x="137" y="93"/>
                    </a:lnTo>
                    <a:lnTo>
                      <a:pt x="118" y="118"/>
                    </a:lnTo>
                    <a:lnTo>
                      <a:pt x="105" y="124"/>
                    </a:lnTo>
                    <a:lnTo>
                      <a:pt x="80" y="130"/>
                    </a:lnTo>
                    <a:lnTo>
                      <a:pt x="74" y="130"/>
                    </a:lnTo>
                    <a:lnTo>
                      <a:pt x="56" y="130"/>
                    </a:lnTo>
                    <a:lnTo>
                      <a:pt x="37" y="136"/>
                    </a:lnTo>
                    <a:lnTo>
                      <a:pt x="31" y="136"/>
                    </a:lnTo>
                    <a:lnTo>
                      <a:pt x="24" y="130"/>
                    </a:lnTo>
                    <a:lnTo>
                      <a:pt x="18" y="130"/>
                    </a:lnTo>
                    <a:lnTo>
                      <a:pt x="12" y="118"/>
                    </a:lnTo>
                    <a:lnTo>
                      <a:pt x="18" y="112"/>
                    </a:lnTo>
                    <a:lnTo>
                      <a:pt x="18" y="105"/>
                    </a:lnTo>
                    <a:lnTo>
                      <a:pt x="0" y="74"/>
                    </a:lnTo>
                    <a:lnTo>
                      <a:pt x="0" y="68"/>
                    </a:lnTo>
                    <a:lnTo>
                      <a:pt x="0" y="62"/>
                    </a:lnTo>
                    <a:lnTo>
                      <a:pt x="12" y="74"/>
                    </a:lnTo>
                    <a:lnTo>
                      <a:pt x="24" y="74"/>
                    </a:lnTo>
                    <a:lnTo>
                      <a:pt x="31" y="68"/>
                    </a:lnTo>
                    <a:lnTo>
                      <a:pt x="31" y="24"/>
                    </a:lnTo>
                    <a:lnTo>
                      <a:pt x="43" y="31"/>
                    </a:lnTo>
                    <a:lnTo>
                      <a:pt x="43" y="43"/>
                    </a:lnTo>
                    <a:lnTo>
                      <a:pt x="56" y="49"/>
                    </a:lnTo>
                    <a:lnTo>
                      <a:pt x="68" y="31"/>
                    </a:lnTo>
                    <a:lnTo>
                      <a:pt x="80" y="37"/>
                    </a:lnTo>
                    <a:lnTo>
                      <a:pt x="87" y="37"/>
                    </a:lnTo>
                    <a:lnTo>
                      <a:pt x="112" y="12"/>
                    </a:lnTo>
                    <a:lnTo>
                      <a:pt x="130" y="0"/>
                    </a:lnTo>
                    <a:lnTo>
                      <a:pt x="143" y="0"/>
                    </a:lnTo>
                    <a:lnTo>
                      <a:pt x="149" y="6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70" name="Freeform 149">
                <a:extLst>
                  <a:ext uri="{FF2B5EF4-FFF2-40B4-BE49-F238E27FC236}">
                    <a16:creationId xmlns:a16="http://schemas.microsoft.com/office/drawing/2014/main" id="{4F76209F-3141-4771-BE72-B2B182D3D57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566085" y="4135769"/>
                <a:ext cx="249676" cy="159216"/>
              </a:xfrm>
              <a:custGeom>
                <a:avLst/>
                <a:gdLst>
                  <a:gd name="T0" fmla="*/ 0 w 98"/>
                  <a:gd name="T1" fmla="*/ 73 h 92"/>
                  <a:gd name="T2" fmla="*/ 12 w 98"/>
                  <a:gd name="T3" fmla="*/ 79 h 92"/>
                  <a:gd name="T4" fmla="*/ 12 w 98"/>
                  <a:gd name="T5" fmla="*/ 91 h 92"/>
                  <a:gd name="T6" fmla="*/ 24 w 98"/>
                  <a:gd name="T7" fmla="*/ 91 h 92"/>
                  <a:gd name="T8" fmla="*/ 36 w 98"/>
                  <a:gd name="T9" fmla="*/ 79 h 92"/>
                  <a:gd name="T10" fmla="*/ 48 w 98"/>
                  <a:gd name="T11" fmla="*/ 85 h 92"/>
                  <a:gd name="T12" fmla="*/ 55 w 98"/>
                  <a:gd name="T13" fmla="*/ 85 h 92"/>
                  <a:gd name="T14" fmla="*/ 79 w 98"/>
                  <a:gd name="T15" fmla="*/ 55 h 92"/>
                  <a:gd name="T16" fmla="*/ 97 w 98"/>
                  <a:gd name="T17" fmla="*/ 49 h 92"/>
                  <a:gd name="T18" fmla="*/ 85 w 98"/>
                  <a:gd name="T19" fmla="*/ 42 h 92"/>
                  <a:gd name="T20" fmla="*/ 79 w 98"/>
                  <a:gd name="T21" fmla="*/ 30 h 92"/>
                  <a:gd name="T22" fmla="*/ 61 w 98"/>
                  <a:gd name="T23" fmla="*/ 18 h 92"/>
                  <a:gd name="T24" fmla="*/ 55 w 98"/>
                  <a:gd name="T25" fmla="*/ 0 h 92"/>
                  <a:gd name="T26" fmla="*/ 36 w 98"/>
                  <a:gd name="T27" fmla="*/ 12 h 92"/>
                  <a:gd name="T28" fmla="*/ 30 w 98"/>
                  <a:gd name="T29" fmla="*/ 6 h 92"/>
                  <a:gd name="T30" fmla="*/ 12 w 98"/>
                  <a:gd name="T31" fmla="*/ 6 h 92"/>
                  <a:gd name="T32" fmla="*/ 12 w 98"/>
                  <a:gd name="T33" fmla="*/ 42 h 92"/>
                  <a:gd name="T34" fmla="*/ 0 w 98"/>
                  <a:gd name="T35" fmla="*/ 49 h 92"/>
                  <a:gd name="T36" fmla="*/ 0 w 98"/>
                  <a:gd name="T37" fmla="*/ 73 h 92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98"/>
                  <a:gd name="T58" fmla="*/ 0 h 92"/>
                  <a:gd name="T59" fmla="*/ 98 w 98"/>
                  <a:gd name="T60" fmla="*/ 92 h 92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98" h="92">
                    <a:moveTo>
                      <a:pt x="0" y="73"/>
                    </a:moveTo>
                    <a:lnTo>
                      <a:pt x="12" y="79"/>
                    </a:lnTo>
                    <a:lnTo>
                      <a:pt x="12" y="91"/>
                    </a:lnTo>
                    <a:lnTo>
                      <a:pt x="24" y="91"/>
                    </a:lnTo>
                    <a:lnTo>
                      <a:pt x="36" y="79"/>
                    </a:lnTo>
                    <a:lnTo>
                      <a:pt x="48" y="85"/>
                    </a:lnTo>
                    <a:lnTo>
                      <a:pt x="55" y="85"/>
                    </a:lnTo>
                    <a:lnTo>
                      <a:pt x="79" y="55"/>
                    </a:lnTo>
                    <a:lnTo>
                      <a:pt x="97" y="49"/>
                    </a:lnTo>
                    <a:lnTo>
                      <a:pt x="85" y="42"/>
                    </a:lnTo>
                    <a:lnTo>
                      <a:pt x="79" y="30"/>
                    </a:lnTo>
                    <a:lnTo>
                      <a:pt x="61" y="18"/>
                    </a:lnTo>
                    <a:lnTo>
                      <a:pt x="55" y="0"/>
                    </a:lnTo>
                    <a:lnTo>
                      <a:pt x="36" y="12"/>
                    </a:lnTo>
                    <a:lnTo>
                      <a:pt x="30" y="6"/>
                    </a:lnTo>
                    <a:lnTo>
                      <a:pt x="12" y="6"/>
                    </a:lnTo>
                    <a:lnTo>
                      <a:pt x="12" y="42"/>
                    </a:lnTo>
                    <a:lnTo>
                      <a:pt x="0" y="49"/>
                    </a:lnTo>
                    <a:lnTo>
                      <a:pt x="0" y="73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71" name="Freeform 150">
                <a:extLst>
                  <a:ext uri="{FF2B5EF4-FFF2-40B4-BE49-F238E27FC236}">
                    <a16:creationId xmlns:a16="http://schemas.microsoft.com/office/drawing/2014/main" id="{AA197F03-E905-4955-B20A-1374EF1A8AC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706210" y="4102885"/>
                <a:ext cx="191079" cy="117681"/>
              </a:xfrm>
              <a:custGeom>
                <a:avLst/>
                <a:gdLst>
                  <a:gd name="T0" fmla="*/ 49 w 75"/>
                  <a:gd name="T1" fmla="*/ 0 h 68"/>
                  <a:gd name="T2" fmla="*/ 37 w 75"/>
                  <a:gd name="T3" fmla="*/ 0 h 68"/>
                  <a:gd name="T4" fmla="*/ 31 w 75"/>
                  <a:gd name="T5" fmla="*/ 12 h 68"/>
                  <a:gd name="T6" fmla="*/ 12 w 75"/>
                  <a:gd name="T7" fmla="*/ 24 h 68"/>
                  <a:gd name="T8" fmla="*/ 0 w 75"/>
                  <a:gd name="T9" fmla="*/ 18 h 68"/>
                  <a:gd name="T10" fmla="*/ 6 w 75"/>
                  <a:gd name="T11" fmla="*/ 37 h 68"/>
                  <a:gd name="T12" fmla="*/ 24 w 75"/>
                  <a:gd name="T13" fmla="*/ 49 h 68"/>
                  <a:gd name="T14" fmla="*/ 31 w 75"/>
                  <a:gd name="T15" fmla="*/ 61 h 68"/>
                  <a:gd name="T16" fmla="*/ 43 w 75"/>
                  <a:gd name="T17" fmla="*/ 67 h 68"/>
                  <a:gd name="T18" fmla="*/ 56 w 75"/>
                  <a:gd name="T19" fmla="*/ 67 h 68"/>
                  <a:gd name="T20" fmla="*/ 62 w 75"/>
                  <a:gd name="T21" fmla="*/ 67 h 68"/>
                  <a:gd name="T22" fmla="*/ 74 w 75"/>
                  <a:gd name="T23" fmla="*/ 43 h 68"/>
                  <a:gd name="T24" fmla="*/ 74 w 75"/>
                  <a:gd name="T25" fmla="*/ 18 h 68"/>
                  <a:gd name="T26" fmla="*/ 74 w 75"/>
                  <a:gd name="T27" fmla="*/ 6 h 68"/>
                  <a:gd name="T28" fmla="*/ 62 w 75"/>
                  <a:gd name="T29" fmla="*/ 0 h 68"/>
                  <a:gd name="T30" fmla="*/ 49 w 75"/>
                  <a:gd name="T31" fmla="*/ 0 h 68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75"/>
                  <a:gd name="T49" fmla="*/ 0 h 68"/>
                  <a:gd name="T50" fmla="*/ 75 w 75"/>
                  <a:gd name="T51" fmla="*/ 68 h 68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75" h="68">
                    <a:moveTo>
                      <a:pt x="49" y="0"/>
                    </a:moveTo>
                    <a:lnTo>
                      <a:pt x="37" y="0"/>
                    </a:lnTo>
                    <a:lnTo>
                      <a:pt x="31" y="12"/>
                    </a:lnTo>
                    <a:lnTo>
                      <a:pt x="12" y="24"/>
                    </a:lnTo>
                    <a:lnTo>
                      <a:pt x="0" y="18"/>
                    </a:lnTo>
                    <a:lnTo>
                      <a:pt x="6" y="37"/>
                    </a:lnTo>
                    <a:lnTo>
                      <a:pt x="24" y="49"/>
                    </a:lnTo>
                    <a:lnTo>
                      <a:pt x="31" y="61"/>
                    </a:lnTo>
                    <a:lnTo>
                      <a:pt x="43" y="67"/>
                    </a:lnTo>
                    <a:lnTo>
                      <a:pt x="56" y="67"/>
                    </a:lnTo>
                    <a:lnTo>
                      <a:pt x="62" y="67"/>
                    </a:lnTo>
                    <a:lnTo>
                      <a:pt x="74" y="43"/>
                    </a:lnTo>
                    <a:lnTo>
                      <a:pt x="74" y="18"/>
                    </a:lnTo>
                    <a:lnTo>
                      <a:pt x="74" y="6"/>
                    </a:lnTo>
                    <a:lnTo>
                      <a:pt x="62" y="0"/>
                    </a:lnTo>
                    <a:lnTo>
                      <a:pt x="49" y="0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72" name="Freeform 151">
                <a:extLst>
                  <a:ext uri="{FF2B5EF4-FFF2-40B4-BE49-F238E27FC236}">
                    <a16:creationId xmlns:a16="http://schemas.microsoft.com/office/drawing/2014/main" id="{5D64A6B7-5996-4EFE-9109-656E0670563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833593" y="4005973"/>
                <a:ext cx="267511" cy="289013"/>
              </a:xfrm>
              <a:custGeom>
                <a:avLst/>
                <a:gdLst>
                  <a:gd name="T0" fmla="*/ 24 w 105"/>
                  <a:gd name="T1" fmla="*/ 166 h 167"/>
                  <a:gd name="T2" fmla="*/ 24 w 105"/>
                  <a:gd name="T3" fmla="*/ 166 h 167"/>
                  <a:gd name="T4" fmla="*/ 24 w 105"/>
                  <a:gd name="T5" fmla="*/ 160 h 167"/>
                  <a:gd name="T6" fmla="*/ 24 w 105"/>
                  <a:gd name="T7" fmla="*/ 154 h 167"/>
                  <a:gd name="T8" fmla="*/ 49 w 105"/>
                  <a:gd name="T9" fmla="*/ 148 h 167"/>
                  <a:gd name="T10" fmla="*/ 55 w 105"/>
                  <a:gd name="T11" fmla="*/ 142 h 167"/>
                  <a:gd name="T12" fmla="*/ 55 w 105"/>
                  <a:gd name="T13" fmla="*/ 123 h 167"/>
                  <a:gd name="T14" fmla="*/ 43 w 105"/>
                  <a:gd name="T15" fmla="*/ 98 h 167"/>
                  <a:gd name="T16" fmla="*/ 74 w 105"/>
                  <a:gd name="T17" fmla="*/ 74 h 167"/>
                  <a:gd name="T18" fmla="*/ 86 w 105"/>
                  <a:gd name="T19" fmla="*/ 68 h 167"/>
                  <a:gd name="T20" fmla="*/ 104 w 105"/>
                  <a:gd name="T21" fmla="*/ 49 h 167"/>
                  <a:gd name="T22" fmla="*/ 104 w 105"/>
                  <a:gd name="T23" fmla="*/ 6 h 167"/>
                  <a:gd name="T24" fmla="*/ 104 w 105"/>
                  <a:gd name="T25" fmla="*/ 0 h 167"/>
                  <a:gd name="T26" fmla="*/ 92 w 105"/>
                  <a:gd name="T27" fmla="*/ 12 h 167"/>
                  <a:gd name="T28" fmla="*/ 61 w 105"/>
                  <a:gd name="T29" fmla="*/ 12 h 167"/>
                  <a:gd name="T30" fmla="*/ 49 w 105"/>
                  <a:gd name="T31" fmla="*/ 12 h 167"/>
                  <a:gd name="T32" fmla="*/ 43 w 105"/>
                  <a:gd name="T33" fmla="*/ 18 h 167"/>
                  <a:gd name="T34" fmla="*/ 49 w 105"/>
                  <a:gd name="T35" fmla="*/ 30 h 167"/>
                  <a:gd name="T36" fmla="*/ 55 w 105"/>
                  <a:gd name="T37" fmla="*/ 49 h 167"/>
                  <a:gd name="T38" fmla="*/ 55 w 105"/>
                  <a:gd name="T39" fmla="*/ 55 h 167"/>
                  <a:gd name="T40" fmla="*/ 49 w 105"/>
                  <a:gd name="T41" fmla="*/ 68 h 167"/>
                  <a:gd name="T42" fmla="*/ 43 w 105"/>
                  <a:gd name="T43" fmla="*/ 55 h 167"/>
                  <a:gd name="T44" fmla="*/ 43 w 105"/>
                  <a:gd name="T45" fmla="*/ 43 h 167"/>
                  <a:gd name="T46" fmla="*/ 37 w 105"/>
                  <a:gd name="T47" fmla="*/ 43 h 167"/>
                  <a:gd name="T48" fmla="*/ 30 w 105"/>
                  <a:gd name="T49" fmla="*/ 37 h 167"/>
                  <a:gd name="T50" fmla="*/ 0 w 105"/>
                  <a:gd name="T51" fmla="*/ 49 h 167"/>
                  <a:gd name="T52" fmla="*/ 0 w 105"/>
                  <a:gd name="T53" fmla="*/ 55 h 167"/>
                  <a:gd name="T54" fmla="*/ 12 w 105"/>
                  <a:gd name="T55" fmla="*/ 55 h 167"/>
                  <a:gd name="T56" fmla="*/ 24 w 105"/>
                  <a:gd name="T57" fmla="*/ 61 h 167"/>
                  <a:gd name="T58" fmla="*/ 30 w 105"/>
                  <a:gd name="T59" fmla="*/ 74 h 167"/>
                  <a:gd name="T60" fmla="*/ 24 w 105"/>
                  <a:gd name="T61" fmla="*/ 98 h 167"/>
                  <a:gd name="T62" fmla="*/ 12 w 105"/>
                  <a:gd name="T63" fmla="*/ 123 h 167"/>
                  <a:gd name="T64" fmla="*/ 18 w 105"/>
                  <a:gd name="T65" fmla="*/ 160 h 167"/>
                  <a:gd name="T66" fmla="*/ 18 w 105"/>
                  <a:gd name="T67" fmla="*/ 166 h 167"/>
                  <a:gd name="T68" fmla="*/ 24 w 105"/>
                  <a:gd name="T69" fmla="*/ 166 h 167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105"/>
                  <a:gd name="T106" fmla="*/ 0 h 167"/>
                  <a:gd name="T107" fmla="*/ 105 w 105"/>
                  <a:gd name="T108" fmla="*/ 167 h 167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105" h="167">
                    <a:moveTo>
                      <a:pt x="24" y="166"/>
                    </a:moveTo>
                    <a:lnTo>
                      <a:pt x="24" y="166"/>
                    </a:lnTo>
                    <a:lnTo>
                      <a:pt x="24" y="160"/>
                    </a:lnTo>
                    <a:lnTo>
                      <a:pt x="24" y="154"/>
                    </a:lnTo>
                    <a:lnTo>
                      <a:pt x="49" y="148"/>
                    </a:lnTo>
                    <a:lnTo>
                      <a:pt x="55" y="142"/>
                    </a:lnTo>
                    <a:lnTo>
                      <a:pt x="55" y="123"/>
                    </a:lnTo>
                    <a:lnTo>
                      <a:pt x="43" y="98"/>
                    </a:lnTo>
                    <a:lnTo>
                      <a:pt x="74" y="74"/>
                    </a:lnTo>
                    <a:lnTo>
                      <a:pt x="86" y="68"/>
                    </a:lnTo>
                    <a:lnTo>
                      <a:pt x="104" y="49"/>
                    </a:lnTo>
                    <a:lnTo>
                      <a:pt x="104" y="6"/>
                    </a:lnTo>
                    <a:lnTo>
                      <a:pt x="104" y="0"/>
                    </a:lnTo>
                    <a:lnTo>
                      <a:pt x="92" y="12"/>
                    </a:lnTo>
                    <a:lnTo>
                      <a:pt x="61" y="12"/>
                    </a:lnTo>
                    <a:lnTo>
                      <a:pt x="49" y="12"/>
                    </a:lnTo>
                    <a:lnTo>
                      <a:pt x="43" y="18"/>
                    </a:lnTo>
                    <a:lnTo>
                      <a:pt x="49" y="30"/>
                    </a:lnTo>
                    <a:lnTo>
                      <a:pt x="55" y="49"/>
                    </a:lnTo>
                    <a:lnTo>
                      <a:pt x="55" y="55"/>
                    </a:lnTo>
                    <a:lnTo>
                      <a:pt x="49" y="68"/>
                    </a:lnTo>
                    <a:lnTo>
                      <a:pt x="43" y="55"/>
                    </a:lnTo>
                    <a:lnTo>
                      <a:pt x="43" y="43"/>
                    </a:lnTo>
                    <a:lnTo>
                      <a:pt x="37" y="43"/>
                    </a:lnTo>
                    <a:lnTo>
                      <a:pt x="30" y="37"/>
                    </a:lnTo>
                    <a:lnTo>
                      <a:pt x="0" y="49"/>
                    </a:lnTo>
                    <a:lnTo>
                      <a:pt x="0" y="55"/>
                    </a:lnTo>
                    <a:lnTo>
                      <a:pt x="12" y="55"/>
                    </a:lnTo>
                    <a:lnTo>
                      <a:pt x="24" y="61"/>
                    </a:lnTo>
                    <a:lnTo>
                      <a:pt x="30" y="74"/>
                    </a:lnTo>
                    <a:lnTo>
                      <a:pt x="24" y="98"/>
                    </a:lnTo>
                    <a:lnTo>
                      <a:pt x="12" y="123"/>
                    </a:lnTo>
                    <a:lnTo>
                      <a:pt x="18" y="160"/>
                    </a:lnTo>
                    <a:lnTo>
                      <a:pt x="18" y="166"/>
                    </a:lnTo>
                    <a:lnTo>
                      <a:pt x="24" y="166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73" name="Freeform 152">
                <a:extLst>
                  <a:ext uri="{FF2B5EF4-FFF2-40B4-BE49-F238E27FC236}">
                    <a16:creationId xmlns:a16="http://schemas.microsoft.com/office/drawing/2014/main" id="{6F186529-20C8-44B9-A6DA-CE7895B5A82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897288" y="3995588"/>
                <a:ext cx="78978" cy="128065"/>
              </a:xfrm>
              <a:custGeom>
                <a:avLst/>
                <a:gdLst>
                  <a:gd name="T0" fmla="*/ 6 w 31"/>
                  <a:gd name="T1" fmla="*/ 43 h 74"/>
                  <a:gd name="T2" fmla="*/ 0 w 31"/>
                  <a:gd name="T3" fmla="*/ 43 h 74"/>
                  <a:gd name="T4" fmla="*/ 6 w 31"/>
                  <a:gd name="T5" fmla="*/ 30 h 74"/>
                  <a:gd name="T6" fmla="*/ 6 w 31"/>
                  <a:gd name="T7" fmla="*/ 18 h 74"/>
                  <a:gd name="T8" fmla="*/ 12 w 31"/>
                  <a:gd name="T9" fmla="*/ 12 h 74"/>
                  <a:gd name="T10" fmla="*/ 6 w 31"/>
                  <a:gd name="T11" fmla="*/ 0 h 74"/>
                  <a:gd name="T12" fmla="*/ 12 w 31"/>
                  <a:gd name="T13" fmla="*/ 0 h 74"/>
                  <a:gd name="T14" fmla="*/ 18 w 31"/>
                  <a:gd name="T15" fmla="*/ 6 h 74"/>
                  <a:gd name="T16" fmla="*/ 24 w 31"/>
                  <a:gd name="T17" fmla="*/ 18 h 74"/>
                  <a:gd name="T18" fmla="*/ 18 w 31"/>
                  <a:gd name="T19" fmla="*/ 24 h 74"/>
                  <a:gd name="T20" fmla="*/ 24 w 31"/>
                  <a:gd name="T21" fmla="*/ 36 h 74"/>
                  <a:gd name="T22" fmla="*/ 30 w 31"/>
                  <a:gd name="T23" fmla="*/ 55 h 74"/>
                  <a:gd name="T24" fmla="*/ 30 w 31"/>
                  <a:gd name="T25" fmla="*/ 61 h 74"/>
                  <a:gd name="T26" fmla="*/ 24 w 31"/>
                  <a:gd name="T27" fmla="*/ 73 h 74"/>
                  <a:gd name="T28" fmla="*/ 18 w 31"/>
                  <a:gd name="T29" fmla="*/ 61 h 74"/>
                  <a:gd name="T30" fmla="*/ 18 w 31"/>
                  <a:gd name="T31" fmla="*/ 49 h 74"/>
                  <a:gd name="T32" fmla="*/ 12 w 31"/>
                  <a:gd name="T33" fmla="*/ 49 h 74"/>
                  <a:gd name="T34" fmla="*/ 6 w 31"/>
                  <a:gd name="T35" fmla="*/ 43 h 74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31"/>
                  <a:gd name="T55" fmla="*/ 0 h 74"/>
                  <a:gd name="T56" fmla="*/ 31 w 31"/>
                  <a:gd name="T57" fmla="*/ 74 h 74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31" h="74">
                    <a:moveTo>
                      <a:pt x="6" y="43"/>
                    </a:moveTo>
                    <a:lnTo>
                      <a:pt x="0" y="43"/>
                    </a:lnTo>
                    <a:lnTo>
                      <a:pt x="6" y="30"/>
                    </a:lnTo>
                    <a:lnTo>
                      <a:pt x="6" y="18"/>
                    </a:lnTo>
                    <a:lnTo>
                      <a:pt x="12" y="12"/>
                    </a:lnTo>
                    <a:lnTo>
                      <a:pt x="6" y="0"/>
                    </a:lnTo>
                    <a:lnTo>
                      <a:pt x="12" y="0"/>
                    </a:lnTo>
                    <a:lnTo>
                      <a:pt x="18" y="6"/>
                    </a:lnTo>
                    <a:lnTo>
                      <a:pt x="24" y="18"/>
                    </a:lnTo>
                    <a:lnTo>
                      <a:pt x="18" y="24"/>
                    </a:lnTo>
                    <a:lnTo>
                      <a:pt x="24" y="36"/>
                    </a:lnTo>
                    <a:lnTo>
                      <a:pt x="30" y="55"/>
                    </a:lnTo>
                    <a:lnTo>
                      <a:pt x="30" y="61"/>
                    </a:lnTo>
                    <a:lnTo>
                      <a:pt x="24" y="73"/>
                    </a:lnTo>
                    <a:lnTo>
                      <a:pt x="18" y="61"/>
                    </a:lnTo>
                    <a:lnTo>
                      <a:pt x="18" y="49"/>
                    </a:lnTo>
                    <a:lnTo>
                      <a:pt x="12" y="49"/>
                    </a:lnTo>
                    <a:lnTo>
                      <a:pt x="6" y="43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74" name="Freeform 153">
                <a:extLst>
                  <a:ext uri="{FF2B5EF4-FFF2-40B4-BE49-F238E27FC236}">
                    <a16:creationId xmlns:a16="http://schemas.microsoft.com/office/drawing/2014/main" id="{73EF5C86-BC03-493E-9352-F737093C3D2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848882" y="4284601"/>
                <a:ext cx="48404" cy="32882"/>
              </a:xfrm>
              <a:custGeom>
                <a:avLst/>
                <a:gdLst>
                  <a:gd name="T0" fmla="*/ 18 w 19"/>
                  <a:gd name="T1" fmla="*/ 18 h 19"/>
                  <a:gd name="T2" fmla="*/ 18 w 19"/>
                  <a:gd name="T3" fmla="*/ 0 h 19"/>
                  <a:gd name="T4" fmla="*/ 9 w 19"/>
                  <a:gd name="T5" fmla="*/ 0 h 19"/>
                  <a:gd name="T6" fmla="*/ 0 w 19"/>
                  <a:gd name="T7" fmla="*/ 18 h 19"/>
                  <a:gd name="T8" fmla="*/ 9 w 19"/>
                  <a:gd name="T9" fmla="*/ 18 h 19"/>
                  <a:gd name="T10" fmla="*/ 18 w 19"/>
                  <a:gd name="T11" fmla="*/ 18 h 1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9"/>
                  <a:gd name="T19" fmla="*/ 0 h 19"/>
                  <a:gd name="T20" fmla="*/ 19 w 19"/>
                  <a:gd name="T21" fmla="*/ 19 h 1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9" h="19">
                    <a:moveTo>
                      <a:pt x="18" y="18"/>
                    </a:moveTo>
                    <a:lnTo>
                      <a:pt x="18" y="0"/>
                    </a:lnTo>
                    <a:lnTo>
                      <a:pt x="9" y="0"/>
                    </a:lnTo>
                    <a:lnTo>
                      <a:pt x="0" y="18"/>
                    </a:lnTo>
                    <a:lnTo>
                      <a:pt x="9" y="18"/>
                    </a:lnTo>
                    <a:lnTo>
                      <a:pt x="18" y="18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75" name="Freeform 154">
                <a:extLst>
                  <a:ext uri="{FF2B5EF4-FFF2-40B4-BE49-F238E27FC236}">
                    <a16:creationId xmlns:a16="http://schemas.microsoft.com/office/drawing/2014/main" id="{6C94F6BD-33D7-4731-9D36-DCDF41B29F9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158498" y="4608227"/>
                <a:ext cx="45858" cy="43264"/>
              </a:xfrm>
              <a:custGeom>
                <a:avLst/>
                <a:gdLst>
                  <a:gd name="T0" fmla="*/ 8 w 18"/>
                  <a:gd name="T1" fmla="*/ 0 h 25"/>
                  <a:gd name="T2" fmla="*/ 0 w 18"/>
                  <a:gd name="T3" fmla="*/ 24 h 25"/>
                  <a:gd name="T4" fmla="*/ 8 w 18"/>
                  <a:gd name="T5" fmla="*/ 24 h 25"/>
                  <a:gd name="T6" fmla="*/ 17 w 18"/>
                  <a:gd name="T7" fmla="*/ 12 h 25"/>
                  <a:gd name="T8" fmla="*/ 17 w 18"/>
                  <a:gd name="T9" fmla="*/ 6 h 25"/>
                  <a:gd name="T10" fmla="*/ 8 w 18"/>
                  <a:gd name="T11" fmla="*/ 0 h 2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8"/>
                  <a:gd name="T19" fmla="*/ 0 h 25"/>
                  <a:gd name="T20" fmla="*/ 18 w 18"/>
                  <a:gd name="T21" fmla="*/ 25 h 2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8" h="25">
                    <a:moveTo>
                      <a:pt x="8" y="0"/>
                    </a:moveTo>
                    <a:lnTo>
                      <a:pt x="0" y="24"/>
                    </a:lnTo>
                    <a:lnTo>
                      <a:pt x="8" y="24"/>
                    </a:lnTo>
                    <a:lnTo>
                      <a:pt x="17" y="12"/>
                    </a:lnTo>
                    <a:lnTo>
                      <a:pt x="17" y="6"/>
                    </a:lnTo>
                    <a:lnTo>
                      <a:pt x="8" y="0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76" name="Freeform 155">
                <a:extLst>
                  <a:ext uri="{FF2B5EF4-FFF2-40B4-BE49-F238E27FC236}">
                    <a16:creationId xmlns:a16="http://schemas.microsoft.com/office/drawing/2014/main" id="{DB12DAA2-7C9D-4B05-A8B2-C8C11FF74EE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064231" y="3511016"/>
                <a:ext cx="48404" cy="32882"/>
              </a:xfrm>
              <a:custGeom>
                <a:avLst/>
                <a:gdLst>
                  <a:gd name="T0" fmla="*/ 0 w 19"/>
                  <a:gd name="T1" fmla="*/ 9 h 19"/>
                  <a:gd name="T2" fmla="*/ 6 w 19"/>
                  <a:gd name="T3" fmla="*/ 18 h 19"/>
                  <a:gd name="T4" fmla="*/ 18 w 19"/>
                  <a:gd name="T5" fmla="*/ 18 h 19"/>
                  <a:gd name="T6" fmla="*/ 18 w 19"/>
                  <a:gd name="T7" fmla="*/ 9 h 19"/>
                  <a:gd name="T8" fmla="*/ 0 w 19"/>
                  <a:gd name="T9" fmla="*/ 0 h 19"/>
                  <a:gd name="T10" fmla="*/ 0 w 19"/>
                  <a:gd name="T11" fmla="*/ 9 h 1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9"/>
                  <a:gd name="T19" fmla="*/ 0 h 19"/>
                  <a:gd name="T20" fmla="*/ 19 w 19"/>
                  <a:gd name="T21" fmla="*/ 19 h 1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9" h="19">
                    <a:moveTo>
                      <a:pt x="0" y="9"/>
                    </a:moveTo>
                    <a:lnTo>
                      <a:pt x="6" y="18"/>
                    </a:lnTo>
                    <a:lnTo>
                      <a:pt x="18" y="18"/>
                    </a:lnTo>
                    <a:lnTo>
                      <a:pt x="18" y="9"/>
                    </a:lnTo>
                    <a:lnTo>
                      <a:pt x="0" y="0"/>
                    </a:lnTo>
                    <a:lnTo>
                      <a:pt x="0" y="9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77" name="Freeform 156">
                <a:extLst>
                  <a:ext uri="{FF2B5EF4-FFF2-40B4-BE49-F238E27FC236}">
                    <a16:creationId xmlns:a16="http://schemas.microsoft.com/office/drawing/2014/main" id="{2D16B365-D7D5-4D55-97F3-D0F9B82BE8C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936847" y="3459097"/>
                <a:ext cx="45858" cy="1731"/>
              </a:xfrm>
              <a:custGeom>
                <a:avLst/>
                <a:gdLst>
                  <a:gd name="T0" fmla="*/ 0 w 18"/>
                  <a:gd name="T1" fmla="*/ 0 h 1"/>
                  <a:gd name="T2" fmla="*/ 0 w 18"/>
                  <a:gd name="T3" fmla="*/ 0 h 1"/>
                  <a:gd name="T4" fmla="*/ 17 w 18"/>
                  <a:gd name="T5" fmla="*/ 0 h 1"/>
                  <a:gd name="T6" fmla="*/ 0 w 18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8"/>
                  <a:gd name="T13" fmla="*/ 0 h 1"/>
                  <a:gd name="T14" fmla="*/ 18 w 18"/>
                  <a:gd name="T15" fmla="*/ 1 h 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8" h="1">
                    <a:moveTo>
                      <a:pt x="0" y="0"/>
                    </a:moveTo>
                    <a:lnTo>
                      <a:pt x="0" y="0"/>
                    </a:lnTo>
                    <a:lnTo>
                      <a:pt x="17" y="0"/>
                    </a:lnTo>
                    <a:lnTo>
                      <a:pt x="0" y="0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78" name="Freeform 157">
                <a:extLst>
                  <a:ext uri="{FF2B5EF4-FFF2-40B4-BE49-F238E27FC236}">
                    <a16:creationId xmlns:a16="http://schemas.microsoft.com/office/drawing/2014/main" id="{3221705E-226B-4FE8-B882-3AF59C4A74B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888440" y="3438330"/>
                <a:ext cx="270060" cy="53650"/>
              </a:xfrm>
              <a:custGeom>
                <a:avLst/>
                <a:gdLst>
                  <a:gd name="T0" fmla="*/ 0 w 106"/>
                  <a:gd name="T1" fmla="*/ 12 h 31"/>
                  <a:gd name="T2" fmla="*/ 6 w 106"/>
                  <a:gd name="T3" fmla="*/ 12 h 31"/>
                  <a:gd name="T4" fmla="*/ 24 w 106"/>
                  <a:gd name="T5" fmla="*/ 6 h 31"/>
                  <a:gd name="T6" fmla="*/ 31 w 106"/>
                  <a:gd name="T7" fmla="*/ 6 h 31"/>
                  <a:gd name="T8" fmla="*/ 31 w 106"/>
                  <a:gd name="T9" fmla="*/ 12 h 31"/>
                  <a:gd name="T10" fmla="*/ 62 w 106"/>
                  <a:gd name="T11" fmla="*/ 12 h 31"/>
                  <a:gd name="T12" fmla="*/ 68 w 106"/>
                  <a:gd name="T13" fmla="*/ 24 h 31"/>
                  <a:gd name="T14" fmla="*/ 74 w 106"/>
                  <a:gd name="T15" fmla="*/ 24 h 31"/>
                  <a:gd name="T16" fmla="*/ 81 w 106"/>
                  <a:gd name="T17" fmla="*/ 24 h 31"/>
                  <a:gd name="T18" fmla="*/ 74 w 106"/>
                  <a:gd name="T19" fmla="*/ 30 h 31"/>
                  <a:gd name="T20" fmla="*/ 105 w 106"/>
                  <a:gd name="T21" fmla="*/ 30 h 31"/>
                  <a:gd name="T22" fmla="*/ 99 w 106"/>
                  <a:gd name="T23" fmla="*/ 24 h 31"/>
                  <a:gd name="T24" fmla="*/ 93 w 106"/>
                  <a:gd name="T25" fmla="*/ 24 h 31"/>
                  <a:gd name="T26" fmla="*/ 93 w 106"/>
                  <a:gd name="T27" fmla="*/ 18 h 31"/>
                  <a:gd name="T28" fmla="*/ 68 w 106"/>
                  <a:gd name="T29" fmla="*/ 6 h 31"/>
                  <a:gd name="T30" fmla="*/ 37 w 106"/>
                  <a:gd name="T31" fmla="*/ 0 h 31"/>
                  <a:gd name="T32" fmla="*/ 12 w 106"/>
                  <a:gd name="T33" fmla="*/ 0 h 31"/>
                  <a:gd name="T34" fmla="*/ 0 w 106"/>
                  <a:gd name="T35" fmla="*/ 12 h 31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6"/>
                  <a:gd name="T55" fmla="*/ 0 h 31"/>
                  <a:gd name="T56" fmla="*/ 106 w 106"/>
                  <a:gd name="T57" fmla="*/ 31 h 31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6" h="31">
                    <a:moveTo>
                      <a:pt x="0" y="12"/>
                    </a:moveTo>
                    <a:lnTo>
                      <a:pt x="6" y="12"/>
                    </a:lnTo>
                    <a:lnTo>
                      <a:pt x="24" y="6"/>
                    </a:lnTo>
                    <a:lnTo>
                      <a:pt x="31" y="6"/>
                    </a:lnTo>
                    <a:lnTo>
                      <a:pt x="31" y="12"/>
                    </a:lnTo>
                    <a:lnTo>
                      <a:pt x="62" y="12"/>
                    </a:lnTo>
                    <a:lnTo>
                      <a:pt x="68" y="24"/>
                    </a:lnTo>
                    <a:lnTo>
                      <a:pt x="74" y="24"/>
                    </a:lnTo>
                    <a:lnTo>
                      <a:pt x="81" y="24"/>
                    </a:lnTo>
                    <a:lnTo>
                      <a:pt x="74" y="30"/>
                    </a:lnTo>
                    <a:lnTo>
                      <a:pt x="105" y="30"/>
                    </a:lnTo>
                    <a:lnTo>
                      <a:pt x="99" y="24"/>
                    </a:lnTo>
                    <a:lnTo>
                      <a:pt x="93" y="24"/>
                    </a:lnTo>
                    <a:lnTo>
                      <a:pt x="93" y="18"/>
                    </a:lnTo>
                    <a:lnTo>
                      <a:pt x="68" y="6"/>
                    </a:lnTo>
                    <a:lnTo>
                      <a:pt x="37" y="0"/>
                    </a:lnTo>
                    <a:lnTo>
                      <a:pt x="12" y="0"/>
                    </a:lnTo>
                    <a:lnTo>
                      <a:pt x="0" y="12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79" name="Freeform 158">
                <a:extLst>
                  <a:ext uri="{FF2B5EF4-FFF2-40B4-BE49-F238E27FC236}">
                    <a16:creationId xmlns:a16="http://schemas.microsoft.com/office/drawing/2014/main" id="{8C22608F-79AA-47A3-A5F9-BA50B25885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349575" y="3511016"/>
                <a:ext cx="45858" cy="32882"/>
              </a:xfrm>
              <a:custGeom>
                <a:avLst/>
                <a:gdLst>
                  <a:gd name="T0" fmla="*/ 0 w 18"/>
                  <a:gd name="T1" fmla="*/ 18 h 19"/>
                  <a:gd name="T2" fmla="*/ 17 w 18"/>
                  <a:gd name="T3" fmla="*/ 18 h 19"/>
                  <a:gd name="T4" fmla="*/ 0 w 18"/>
                  <a:gd name="T5" fmla="*/ 0 h 19"/>
                  <a:gd name="T6" fmla="*/ 0 w 18"/>
                  <a:gd name="T7" fmla="*/ 18 h 1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8"/>
                  <a:gd name="T13" fmla="*/ 0 h 19"/>
                  <a:gd name="T14" fmla="*/ 18 w 18"/>
                  <a:gd name="T15" fmla="*/ 19 h 1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8" h="19">
                    <a:moveTo>
                      <a:pt x="0" y="18"/>
                    </a:moveTo>
                    <a:lnTo>
                      <a:pt x="17" y="18"/>
                    </a:lnTo>
                    <a:lnTo>
                      <a:pt x="0" y="0"/>
                    </a:lnTo>
                    <a:lnTo>
                      <a:pt x="0" y="18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80" name="Freeform 159">
                <a:extLst>
                  <a:ext uri="{FF2B5EF4-FFF2-40B4-BE49-F238E27FC236}">
                    <a16:creationId xmlns:a16="http://schemas.microsoft.com/office/drawing/2014/main" id="{72974EA9-51E3-4D89-814B-79691207BAF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476963" y="3554281"/>
                <a:ext cx="48404" cy="32882"/>
              </a:xfrm>
              <a:custGeom>
                <a:avLst/>
                <a:gdLst>
                  <a:gd name="T0" fmla="*/ 0 w 19"/>
                  <a:gd name="T1" fmla="*/ 0 h 19"/>
                  <a:gd name="T2" fmla="*/ 0 w 19"/>
                  <a:gd name="T3" fmla="*/ 18 h 19"/>
                  <a:gd name="T4" fmla="*/ 18 w 19"/>
                  <a:gd name="T5" fmla="*/ 0 h 19"/>
                  <a:gd name="T6" fmla="*/ 0 w 19"/>
                  <a:gd name="T7" fmla="*/ 0 h 1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"/>
                  <a:gd name="T13" fmla="*/ 0 h 19"/>
                  <a:gd name="T14" fmla="*/ 19 w 19"/>
                  <a:gd name="T15" fmla="*/ 19 h 1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9" h="19">
                    <a:moveTo>
                      <a:pt x="0" y="0"/>
                    </a:moveTo>
                    <a:lnTo>
                      <a:pt x="0" y="18"/>
                    </a:lnTo>
                    <a:lnTo>
                      <a:pt x="18" y="0"/>
                    </a:lnTo>
                    <a:lnTo>
                      <a:pt x="0" y="0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81" name="Freeform 160">
                <a:extLst>
                  <a:ext uri="{FF2B5EF4-FFF2-40B4-BE49-F238E27FC236}">
                    <a16:creationId xmlns:a16="http://schemas.microsoft.com/office/drawing/2014/main" id="{98289224-0AE7-4122-9EC6-95EAB6D405C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048947" y="3393334"/>
                <a:ext cx="48404" cy="32882"/>
              </a:xfrm>
              <a:custGeom>
                <a:avLst/>
                <a:gdLst>
                  <a:gd name="T0" fmla="*/ 9 w 19"/>
                  <a:gd name="T1" fmla="*/ 0 h 19"/>
                  <a:gd name="T2" fmla="*/ 0 w 19"/>
                  <a:gd name="T3" fmla="*/ 6 h 19"/>
                  <a:gd name="T4" fmla="*/ 18 w 19"/>
                  <a:gd name="T5" fmla="*/ 18 h 19"/>
                  <a:gd name="T6" fmla="*/ 18 w 19"/>
                  <a:gd name="T7" fmla="*/ 6 h 19"/>
                  <a:gd name="T8" fmla="*/ 9 w 19"/>
                  <a:gd name="T9" fmla="*/ 0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"/>
                  <a:gd name="T16" fmla="*/ 0 h 19"/>
                  <a:gd name="T17" fmla="*/ 19 w 19"/>
                  <a:gd name="T18" fmla="*/ 19 h 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" h="19">
                    <a:moveTo>
                      <a:pt x="9" y="0"/>
                    </a:moveTo>
                    <a:lnTo>
                      <a:pt x="0" y="6"/>
                    </a:lnTo>
                    <a:lnTo>
                      <a:pt x="18" y="18"/>
                    </a:lnTo>
                    <a:lnTo>
                      <a:pt x="18" y="6"/>
                    </a:lnTo>
                    <a:lnTo>
                      <a:pt x="9" y="0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82" name="Freeform 161">
                <a:extLst>
                  <a:ext uri="{FF2B5EF4-FFF2-40B4-BE49-F238E27FC236}">
                    <a16:creationId xmlns:a16="http://schemas.microsoft.com/office/drawing/2014/main" id="{82BB96AD-C9FE-43F6-8040-3298913DC09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173784" y="3469480"/>
                <a:ext cx="48404" cy="1731"/>
              </a:xfrm>
              <a:custGeom>
                <a:avLst/>
                <a:gdLst>
                  <a:gd name="T0" fmla="*/ 0 w 19"/>
                  <a:gd name="T1" fmla="*/ 0 h 1"/>
                  <a:gd name="T2" fmla="*/ 18 w 19"/>
                  <a:gd name="T3" fmla="*/ 0 h 1"/>
                  <a:gd name="T4" fmla="*/ 0 w 19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9"/>
                  <a:gd name="T10" fmla="*/ 0 h 1"/>
                  <a:gd name="T11" fmla="*/ 19 w 19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" h="1">
                    <a:moveTo>
                      <a:pt x="0" y="0"/>
                    </a:moveTo>
                    <a:lnTo>
                      <a:pt x="18" y="0"/>
                    </a:lnTo>
                    <a:lnTo>
                      <a:pt x="0" y="0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83" name="Freeform 162">
                <a:extLst>
                  <a:ext uri="{FF2B5EF4-FFF2-40B4-BE49-F238E27FC236}">
                    <a16:creationId xmlns:a16="http://schemas.microsoft.com/office/drawing/2014/main" id="{C9FCC9C7-18A4-4410-85BF-4CCD54637F4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173784" y="3069708"/>
                <a:ext cx="48404" cy="32882"/>
              </a:xfrm>
              <a:custGeom>
                <a:avLst/>
                <a:gdLst>
                  <a:gd name="T0" fmla="*/ 0 w 19"/>
                  <a:gd name="T1" fmla="*/ 18 h 19"/>
                  <a:gd name="T2" fmla="*/ 18 w 19"/>
                  <a:gd name="T3" fmla="*/ 18 h 19"/>
                  <a:gd name="T4" fmla="*/ 12 w 19"/>
                  <a:gd name="T5" fmla="*/ 0 h 19"/>
                  <a:gd name="T6" fmla="*/ 0 w 19"/>
                  <a:gd name="T7" fmla="*/ 18 h 1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"/>
                  <a:gd name="T13" fmla="*/ 0 h 19"/>
                  <a:gd name="T14" fmla="*/ 19 w 19"/>
                  <a:gd name="T15" fmla="*/ 19 h 1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9" h="19">
                    <a:moveTo>
                      <a:pt x="0" y="18"/>
                    </a:moveTo>
                    <a:lnTo>
                      <a:pt x="18" y="18"/>
                    </a:lnTo>
                    <a:lnTo>
                      <a:pt x="12" y="0"/>
                    </a:lnTo>
                    <a:lnTo>
                      <a:pt x="0" y="18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84" name="Freeform 163">
                <a:extLst>
                  <a:ext uri="{FF2B5EF4-FFF2-40B4-BE49-F238E27FC236}">
                    <a16:creationId xmlns:a16="http://schemas.microsoft.com/office/drawing/2014/main" id="{BAC58F92-F749-4241-85D6-FAAFD9EFCA7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410720" y="2855113"/>
                <a:ext cx="63693" cy="32882"/>
              </a:xfrm>
              <a:custGeom>
                <a:avLst/>
                <a:gdLst>
                  <a:gd name="T0" fmla="*/ 0 w 25"/>
                  <a:gd name="T1" fmla="*/ 0 h 19"/>
                  <a:gd name="T2" fmla="*/ 18 w 25"/>
                  <a:gd name="T3" fmla="*/ 18 h 19"/>
                  <a:gd name="T4" fmla="*/ 24 w 25"/>
                  <a:gd name="T5" fmla="*/ 18 h 19"/>
                  <a:gd name="T6" fmla="*/ 12 w 25"/>
                  <a:gd name="T7" fmla="*/ 9 h 19"/>
                  <a:gd name="T8" fmla="*/ 0 w 25"/>
                  <a:gd name="T9" fmla="*/ 0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"/>
                  <a:gd name="T16" fmla="*/ 0 h 19"/>
                  <a:gd name="T17" fmla="*/ 25 w 25"/>
                  <a:gd name="T18" fmla="*/ 19 h 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" h="19">
                    <a:moveTo>
                      <a:pt x="0" y="0"/>
                    </a:moveTo>
                    <a:lnTo>
                      <a:pt x="18" y="18"/>
                    </a:lnTo>
                    <a:lnTo>
                      <a:pt x="24" y="18"/>
                    </a:lnTo>
                    <a:lnTo>
                      <a:pt x="12" y="9"/>
                    </a:lnTo>
                    <a:lnTo>
                      <a:pt x="0" y="0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85" name="Freeform 164">
                <a:extLst>
                  <a:ext uri="{FF2B5EF4-FFF2-40B4-BE49-F238E27FC236}">
                    <a16:creationId xmlns:a16="http://schemas.microsoft.com/office/drawing/2014/main" id="{3E92F19E-B6F9-4C60-AB84-C319225EEEE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410720" y="2932990"/>
                <a:ext cx="63693" cy="32882"/>
              </a:xfrm>
              <a:custGeom>
                <a:avLst/>
                <a:gdLst>
                  <a:gd name="T0" fmla="*/ 0 w 25"/>
                  <a:gd name="T1" fmla="*/ 6 h 19"/>
                  <a:gd name="T2" fmla="*/ 18 w 25"/>
                  <a:gd name="T3" fmla="*/ 18 h 19"/>
                  <a:gd name="T4" fmla="*/ 18 w 25"/>
                  <a:gd name="T5" fmla="*/ 12 h 19"/>
                  <a:gd name="T6" fmla="*/ 24 w 25"/>
                  <a:gd name="T7" fmla="*/ 6 h 19"/>
                  <a:gd name="T8" fmla="*/ 12 w 25"/>
                  <a:gd name="T9" fmla="*/ 12 h 19"/>
                  <a:gd name="T10" fmla="*/ 6 w 25"/>
                  <a:gd name="T11" fmla="*/ 6 h 19"/>
                  <a:gd name="T12" fmla="*/ 6 w 25"/>
                  <a:gd name="T13" fmla="*/ 0 h 19"/>
                  <a:gd name="T14" fmla="*/ 0 w 25"/>
                  <a:gd name="T15" fmla="*/ 6 h 1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25"/>
                  <a:gd name="T25" fmla="*/ 0 h 19"/>
                  <a:gd name="T26" fmla="*/ 25 w 25"/>
                  <a:gd name="T27" fmla="*/ 19 h 19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5" h="19">
                    <a:moveTo>
                      <a:pt x="0" y="6"/>
                    </a:moveTo>
                    <a:lnTo>
                      <a:pt x="18" y="18"/>
                    </a:lnTo>
                    <a:lnTo>
                      <a:pt x="18" y="12"/>
                    </a:lnTo>
                    <a:lnTo>
                      <a:pt x="24" y="6"/>
                    </a:lnTo>
                    <a:lnTo>
                      <a:pt x="12" y="12"/>
                    </a:lnTo>
                    <a:lnTo>
                      <a:pt x="6" y="6"/>
                    </a:lnTo>
                    <a:lnTo>
                      <a:pt x="6" y="0"/>
                    </a:lnTo>
                    <a:lnTo>
                      <a:pt x="0" y="6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86" name="Freeform 165">
                <a:extLst>
                  <a:ext uri="{FF2B5EF4-FFF2-40B4-BE49-F238E27FC236}">
                    <a16:creationId xmlns:a16="http://schemas.microsoft.com/office/drawing/2014/main" id="{CE671C19-2D71-4E73-BB2C-2B6B20FC84E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921562" y="2457071"/>
                <a:ext cx="48404" cy="31151"/>
              </a:xfrm>
              <a:custGeom>
                <a:avLst/>
                <a:gdLst>
                  <a:gd name="T0" fmla="*/ 0 w 19"/>
                  <a:gd name="T1" fmla="*/ 17 h 18"/>
                  <a:gd name="T2" fmla="*/ 6 w 19"/>
                  <a:gd name="T3" fmla="*/ 17 h 18"/>
                  <a:gd name="T4" fmla="*/ 18 w 19"/>
                  <a:gd name="T5" fmla="*/ 0 h 18"/>
                  <a:gd name="T6" fmla="*/ 6 w 19"/>
                  <a:gd name="T7" fmla="*/ 8 h 18"/>
                  <a:gd name="T8" fmla="*/ 0 w 19"/>
                  <a:gd name="T9" fmla="*/ 17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"/>
                  <a:gd name="T16" fmla="*/ 0 h 18"/>
                  <a:gd name="T17" fmla="*/ 19 w 19"/>
                  <a:gd name="T18" fmla="*/ 18 h 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" h="18">
                    <a:moveTo>
                      <a:pt x="0" y="17"/>
                    </a:moveTo>
                    <a:lnTo>
                      <a:pt x="6" y="17"/>
                    </a:lnTo>
                    <a:lnTo>
                      <a:pt x="18" y="0"/>
                    </a:lnTo>
                    <a:lnTo>
                      <a:pt x="6" y="8"/>
                    </a:lnTo>
                    <a:lnTo>
                      <a:pt x="0" y="17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87" name="Freeform 166">
                <a:extLst>
                  <a:ext uri="{FF2B5EF4-FFF2-40B4-BE49-F238E27FC236}">
                    <a16:creationId xmlns:a16="http://schemas.microsoft.com/office/drawing/2014/main" id="{C4C48797-1878-4E84-8B01-12F954C1D25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018373" y="2477839"/>
                <a:ext cx="45858" cy="32882"/>
              </a:xfrm>
              <a:custGeom>
                <a:avLst/>
                <a:gdLst>
                  <a:gd name="T0" fmla="*/ 0 w 18"/>
                  <a:gd name="T1" fmla="*/ 0 h 19"/>
                  <a:gd name="T2" fmla="*/ 0 w 18"/>
                  <a:gd name="T3" fmla="*/ 18 h 19"/>
                  <a:gd name="T4" fmla="*/ 17 w 18"/>
                  <a:gd name="T5" fmla="*/ 0 h 19"/>
                  <a:gd name="T6" fmla="*/ 0 w 18"/>
                  <a:gd name="T7" fmla="*/ 0 h 1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8"/>
                  <a:gd name="T13" fmla="*/ 0 h 19"/>
                  <a:gd name="T14" fmla="*/ 18 w 18"/>
                  <a:gd name="T15" fmla="*/ 19 h 1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8" h="19">
                    <a:moveTo>
                      <a:pt x="0" y="0"/>
                    </a:moveTo>
                    <a:lnTo>
                      <a:pt x="0" y="18"/>
                    </a:lnTo>
                    <a:lnTo>
                      <a:pt x="17" y="0"/>
                    </a:lnTo>
                    <a:lnTo>
                      <a:pt x="0" y="0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88" name="Freeform 167">
                <a:extLst>
                  <a:ext uri="{FF2B5EF4-FFF2-40B4-BE49-F238E27FC236}">
                    <a16:creationId xmlns:a16="http://schemas.microsoft.com/office/drawing/2014/main" id="{8CEF2BD6-7F72-45A9-889F-F498B6C47EA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018373" y="2673398"/>
                <a:ext cx="45858" cy="31151"/>
              </a:xfrm>
              <a:custGeom>
                <a:avLst/>
                <a:gdLst>
                  <a:gd name="T0" fmla="*/ 0 w 18"/>
                  <a:gd name="T1" fmla="*/ 8 h 18"/>
                  <a:gd name="T2" fmla="*/ 0 w 18"/>
                  <a:gd name="T3" fmla="*/ 17 h 18"/>
                  <a:gd name="T4" fmla="*/ 8 w 18"/>
                  <a:gd name="T5" fmla="*/ 17 h 18"/>
                  <a:gd name="T6" fmla="*/ 17 w 18"/>
                  <a:gd name="T7" fmla="*/ 0 h 18"/>
                  <a:gd name="T8" fmla="*/ 8 w 18"/>
                  <a:gd name="T9" fmla="*/ 0 h 18"/>
                  <a:gd name="T10" fmla="*/ 0 w 18"/>
                  <a:gd name="T11" fmla="*/ 8 h 1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8"/>
                  <a:gd name="T19" fmla="*/ 0 h 18"/>
                  <a:gd name="T20" fmla="*/ 18 w 18"/>
                  <a:gd name="T21" fmla="*/ 18 h 1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8" h="18">
                    <a:moveTo>
                      <a:pt x="0" y="8"/>
                    </a:moveTo>
                    <a:lnTo>
                      <a:pt x="0" y="17"/>
                    </a:lnTo>
                    <a:lnTo>
                      <a:pt x="8" y="17"/>
                    </a:lnTo>
                    <a:lnTo>
                      <a:pt x="17" y="0"/>
                    </a:lnTo>
                    <a:lnTo>
                      <a:pt x="8" y="0"/>
                    </a:lnTo>
                    <a:lnTo>
                      <a:pt x="0" y="8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89" name="Freeform 169">
                <a:extLst>
                  <a:ext uri="{FF2B5EF4-FFF2-40B4-BE49-F238E27FC236}">
                    <a16:creationId xmlns:a16="http://schemas.microsoft.com/office/drawing/2014/main" id="{8002E3EC-1224-4E03-A4F4-829F09D899F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540654" y="2813577"/>
                <a:ext cx="170697" cy="129797"/>
              </a:xfrm>
              <a:custGeom>
                <a:avLst/>
                <a:gdLst>
                  <a:gd name="T0" fmla="*/ 0 w 67"/>
                  <a:gd name="T1" fmla="*/ 56 h 75"/>
                  <a:gd name="T2" fmla="*/ 6 w 67"/>
                  <a:gd name="T3" fmla="*/ 62 h 75"/>
                  <a:gd name="T4" fmla="*/ 12 w 67"/>
                  <a:gd name="T5" fmla="*/ 62 h 75"/>
                  <a:gd name="T6" fmla="*/ 42 w 67"/>
                  <a:gd name="T7" fmla="*/ 62 h 75"/>
                  <a:gd name="T8" fmla="*/ 42 w 67"/>
                  <a:gd name="T9" fmla="*/ 68 h 75"/>
                  <a:gd name="T10" fmla="*/ 36 w 67"/>
                  <a:gd name="T11" fmla="*/ 68 h 75"/>
                  <a:gd name="T12" fmla="*/ 42 w 67"/>
                  <a:gd name="T13" fmla="*/ 74 h 75"/>
                  <a:gd name="T14" fmla="*/ 48 w 67"/>
                  <a:gd name="T15" fmla="*/ 62 h 75"/>
                  <a:gd name="T16" fmla="*/ 54 w 67"/>
                  <a:gd name="T17" fmla="*/ 62 h 75"/>
                  <a:gd name="T18" fmla="*/ 54 w 67"/>
                  <a:gd name="T19" fmla="*/ 74 h 75"/>
                  <a:gd name="T20" fmla="*/ 60 w 67"/>
                  <a:gd name="T21" fmla="*/ 68 h 75"/>
                  <a:gd name="T22" fmla="*/ 60 w 67"/>
                  <a:gd name="T23" fmla="*/ 74 h 75"/>
                  <a:gd name="T24" fmla="*/ 66 w 67"/>
                  <a:gd name="T25" fmla="*/ 62 h 75"/>
                  <a:gd name="T26" fmla="*/ 60 w 67"/>
                  <a:gd name="T27" fmla="*/ 62 h 75"/>
                  <a:gd name="T28" fmla="*/ 66 w 67"/>
                  <a:gd name="T29" fmla="*/ 56 h 75"/>
                  <a:gd name="T30" fmla="*/ 60 w 67"/>
                  <a:gd name="T31" fmla="*/ 62 h 75"/>
                  <a:gd name="T32" fmla="*/ 54 w 67"/>
                  <a:gd name="T33" fmla="*/ 56 h 75"/>
                  <a:gd name="T34" fmla="*/ 66 w 67"/>
                  <a:gd name="T35" fmla="*/ 43 h 75"/>
                  <a:gd name="T36" fmla="*/ 54 w 67"/>
                  <a:gd name="T37" fmla="*/ 49 h 75"/>
                  <a:gd name="T38" fmla="*/ 54 w 67"/>
                  <a:gd name="T39" fmla="*/ 43 h 75"/>
                  <a:gd name="T40" fmla="*/ 60 w 67"/>
                  <a:gd name="T41" fmla="*/ 37 h 75"/>
                  <a:gd name="T42" fmla="*/ 42 w 67"/>
                  <a:gd name="T43" fmla="*/ 37 h 75"/>
                  <a:gd name="T44" fmla="*/ 36 w 67"/>
                  <a:gd name="T45" fmla="*/ 31 h 75"/>
                  <a:gd name="T46" fmla="*/ 42 w 67"/>
                  <a:gd name="T47" fmla="*/ 24 h 75"/>
                  <a:gd name="T48" fmla="*/ 36 w 67"/>
                  <a:gd name="T49" fmla="*/ 24 h 75"/>
                  <a:gd name="T50" fmla="*/ 24 w 67"/>
                  <a:gd name="T51" fmla="*/ 31 h 75"/>
                  <a:gd name="T52" fmla="*/ 42 w 67"/>
                  <a:gd name="T53" fmla="*/ 0 h 75"/>
                  <a:gd name="T54" fmla="*/ 30 w 67"/>
                  <a:gd name="T55" fmla="*/ 6 h 75"/>
                  <a:gd name="T56" fmla="*/ 6 w 67"/>
                  <a:gd name="T57" fmla="*/ 43 h 75"/>
                  <a:gd name="T58" fmla="*/ 12 w 67"/>
                  <a:gd name="T59" fmla="*/ 49 h 75"/>
                  <a:gd name="T60" fmla="*/ 0 w 67"/>
                  <a:gd name="T61" fmla="*/ 56 h 75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w 67"/>
                  <a:gd name="T94" fmla="*/ 0 h 75"/>
                  <a:gd name="T95" fmla="*/ 67 w 67"/>
                  <a:gd name="T96" fmla="*/ 75 h 75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T93" t="T94" r="T95" b="T96"/>
                <a:pathLst>
                  <a:path w="67" h="75">
                    <a:moveTo>
                      <a:pt x="0" y="56"/>
                    </a:moveTo>
                    <a:lnTo>
                      <a:pt x="6" y="62"/>
                    </a:lnTo>
                    <a:lnTo>
                      <a:pt x="12" y="62"/>
                    </a:lnTo>
                    <a:lnTo>
                      <a:pt x="42" y="62"/>
                    </a:lnTo>
                    <a:lnTo>
                      <a:pt x="42" y="68"/>
                    </a:lnTo>
                    <a:lnTo>
                      <a:pt x="36" y="68"/>
                    </a:lnTo>
                    <a:lnTo>
                      <a:pt x="42" y="74"/>
                    </a:lnTo>
                    <a:lnTo>
                      <a:pt x="48" y="62"/>
                    </a:lnTo>
                    <a:lnTo>
                      <a:pt x="54" y="62"/>
                    </a:lnTo>
                    <a:lnTo>
                      <a:pt x="54" y="74"/>
                    </a:lnTo>
                    <a:lnTo>
                      <a:pt x="60" y="68"/>
                    </a:lnTo>
                    <a:lnTo>
                      <a:pt x="60" y="74"/>
                    </a:lnTo>
                    <a:lnTo>
                      <a:pt x="66" y="62"/>
                    </a:lnTo>
                    <a:lnTo>
                      <a:pt x="60" y="62"/>
                    </a:lnTo>
                    <a:lnTo>
                      <a:pt x="66" y="56"/>
                    </a:lnTo>
                    <a:lnTo>
                      <a:pt x="60" y="62"/>
                    </a:lnTo>
                    <a:lnTo>
                      <a:pt x="54" y="56"/>
                    </a:lnTo>
                    <a:lnTo>
                      <a:pt x="66" y="43"/>
                    </a:lnTo>
                    <a:lnTo>
                      <a:pt x="54" y="49"/>
                    </a:lnTo>
                    <a:lnTo>
                      <a:pt x="54" y="43"/>
                    </a:lnTo>
                    <a:lnTo>
                      <a:pt x="60" y="37"/>
                    </a:lnTo>
                    <a:lnTo>
                      <a:pt x="42" y="37"/>
                    </a:lnTo>
                    <a:lnTo>
                      <a:pt x="36" y="31"/>
                    </a:lnTo>
                    <a:lnTo>
                      <a:pt x="42" y="24"/>
                    </a:lnTo>
                    <a:lnTo>
                      <a:pt x="36" y="24"/>
                    </a:lnTo>
                    <a:lnTo>
                      <a:pt x="24" y="31"/>
                    </a:lnTo>
                    <a:lnTo>
                      <a:pt x="42" y="0"/>
                    </a:lnTo>
                    <a:lnTo>
                      <a:pt x="30" y="6"/>
                    </a:lnTo>
                    <a:lnTo>
                      <a:pt x="6" y="43"/>
                    </a:lnTo>
                    <a:lnTo>
                      <a:pt x="12" y="49"/>
                    </a:lnTo>
                    <a:lnTo>
                      <a:pt x="0" y="56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90" name="Freeform 170">
                <a:extLst>
                  <a:ext uri="{FF2B5EF4-FFF2-40B4-BE49-F238E27FC236}">
                    <a16:creationId xmlns:a16="http://schemas.microsoft.com/office/drawing/2014/main" id="{A6F7EBEC-CEC9-4AD1-AEEC-BD6EF72A5FE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827296" y="2327274"/>
                <a:ext cx="175793" cy="119413"/>
              </a:xfrm>
              <a:custGeom>
                <a:avLst/>
                <a:gdLst>
                  <a:gd name="T0" fmla="*/ 0 w 69"/>
                  <a:gd name="T1" fmla="*/ 56 h 69"/>
                  <a:gd name="T2" fmla="*/ 12 w 69"/>
                  <a:gd name="T3" fmla="*/ 56 h 69"/>
                  <a:gd name="T4" fmla="*/ 18 w 69"/>
                  <a:gd name="T5" fmla="*/ 68 h 69"/>
                  <a:gd name="T6" fmla="*/ 25 w 69"/>
                  <a:gd name="T7" fmla="*/ 68 h 69"/>
                  <a:gd name="T8" fmla="*/ 37 w 69"/>
                  <a:gd name="T9" fmla="*/ 50 h 69"/>
                  <a:gd name="T10" fmla="*/ 43 w 69"/>
                  <a:gd name="T11" fmla="*/ 50 h 69"/>
                  <a:gd name="T12" fmla="*/ 62 w 69"/>
                  <a:gd name="T13" fmla="*/ 62 h 69"/>
                  <a:gd name="T14" fmla="*/ 68 w 69"/>
                  <a:gd name="T15" fmla="*/ 56 h 69"/>
                  <a:gd name="T16" fmla="*/ 62 w 69"/>
                  <a:gd name="T17" fmla="*/ 50 h 69"/>
                  <a:gd name="T18" fmla="*/ 50 w 69"/>
                  <a:gd name="T19" fmla="*/ 31 h 69"/>
                  <a:gd name="T20" fmla="*/ 25 w 69"/>
                  <a:gd name="T21" fmla="*/ 12 h 69"/>
                  <a:gd name="T22" fmla="*/ 25 w 69"/>
                  <a:gd name="T23" fmla="*/ 0 h 69"/>
                  <a:gd name="T24" fmla="*/ 12 w 69"/>
                  <a:gd name="T25" fmla="*/ 12 h 69"/>
                  <a:gd name="T26" fmla="*/ 12 w 69"/>
                  <a:gd name="T27" fmla="*/ 18 h 69"/>
                  <a:gd name="T28" fmla="*/ 12 w 69"/>
                  <a:gd name="T29" fmla="*/ 50 h 69"/>
                  <a:gd name="T30" fmla="*/ 0 w 69"/>
                  <a:gd name="T31" fmla="*/ 56 h 69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69"/>
                  <a:gd name="T49" fmla="*/ 0 h 69"/>
                  <a:gd name="T50" fmla="*/ 69 w 69"/>
                  <a:gd name="T51" fmla="*/ 69 h 69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69" h="69">
                    <a:moveTo>
                      <a:pt x="0" y="56"/>
                    </a:moveTo>
                    <a:lnTo>
                      <a:pt x="12" y="56"/>
                    </a:lnTo>
                    <a:lnTo>
                      <a:pt x="18" y="68"/>
                    </a:lnTo>
                    <a:lnTo>
                      <a:pt x="25" y="68"/>
                    </a:lnTo>
                    <a:lnTo>
                      <a:pt x="37" y="50"/>
                    </a:lnTo>
                    <a:lnTo>
                      <a:pt x="43" y="50"/>
                    </a:lnTo>
                    <a:lnTo>
                      <a:pt x="62" y="62"/>
                    </a:lnTo>
                    <a:lnTo>
                      <a:pt x="68" y="56"/>
                    </a:lnTo>
                    <a:lnTo>
                      <a:pt x="62" y="50"/>
                    </a:lnTo>
                    <a:lnTo>
                      <a:pt x="50" y="31"/>
                    </a:lnTo>
                    <a:lnTo>
                      <a:pt x="25" y="12"/>
                    </a:lnTo>
                    <a:lnTo>
                      <a:pt x="25" y="0"/>
                    </a:lnTo>
                    <a:lnTo>
                      <a:pt x="12" y="12"/>
                    </a:lnTo>
                    <a:lnTo>
                      <a:pt x="12" y="18"/>
                    </a:lnTo>
                    <a:lnTo>
                      <a:pt x="12" y="50"/>
                    </a:lnTo>
                    <a:lnTo>
                      <a:pt x="0" y="56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91" name="Freeform 171">
                <a:extLst>
                  <a:ext uri="{FF2B5EF4-FFF2-40B4-BE49-F238E27FC236}">
                    <a16:creationId xmlns:a16="http://schemas.microsoft.com/office/drawing/2014/main" id="{D6633FE7-CB92-41BA-8F48-0CE6B3229D2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079518" y="2232090"/>
                <a:ext cx="63693" cy="53650"/>
              </a:xfrm>
              <a:custGeom>
                <a:avLst/>
                <a:gdLst>
                  <a:gd name="T0" fmla="*/ 0 w 25"/>
                  <a:gd name="T1" fmla="*/ 18 h 31"/>
                  <a:gd name="T2" fmla="*/ 6 w 25"/>
                  <a:gd name="T3" fmla="*/ 30 h 31"/>
                  <a:gd name="T4" fmla="*/ 18 w 25"/>
                  <a:gd name="T5" fmla="*/ 30 h 31"/>
                  <a:gd name="T6" fmla="*/ 24 w 25"/>
                  <a:gd name="T7" fmla="*/ 24 h 31"/>
                  <a:gd name="T8" fmla="*/ 24 w 25"/>
                  <a:gd name="T9" fmla="*/ 12 h 31"/>
                  <a:gd name="T10" fmla="*/ 24 w 25"/>
                  <a:gd name="T11" fmla="*/ 0 h 31"/>
                  <a:gd name="T12" fmla="*/ 12 w 25"/>
                  <a:gd name="T13" fmla="*/ 0 h 31"/>
                  <a:gd name="T14" fmla="*/ 0 w 25"/>
                  <a:gd name="T15" fmla="*/ 18 h 3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25"/>
                  <a:gd name="T25" fmla="*/ 0 h 31"/>
                  <a:gd name="T26" fmla="*/ 25 w 25"/>
                  <a:gd name="T27" fmla="*/ 31 h 31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5" h="31">
                    <a:moveTo>
                      <a:pt x="0" y="18"/>
                    </a:moveTo>
                    <a:lnTo>
                      <a:pt x="6" y="30"/>
                    </a:lnTo>
                    <a:lnTo>
                      <a:pt x="18" y="30"/>
                    </a:lnTo>
                    <a:lnTo>
                      <a:pt x="24" y="24"/>
                    </a:lnTo>
                    <a:lnTo>
                      <a:pt x="24" y="12"/>
                    </a:lnTo>
                    <a:lnTo>
                      <a:pt x="24" y="0"/>
                    </a:lnTo>
                    <a:lnTo>
                      <a:pt x="12" y="0"/>
                    </a:lnTo>
                    <a:lnTo>
                      <a:pt x="0" y="18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92" name="Freeform 172">
                <a:extLst>
                  <a:ext uri="{FF2B5EF4-FFF2-40B4-BE49-F238E27FC236}">
                    <a16:creationId xmlns:a16="http://schemas.microsoft.com/office/drawing/2014/main" id="{BECA0DD4-89BF-4863-9894-3091DAA0D1F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763603" y="1941346"/>
                <a:ext cx="726098" cy="546875"/>
              </a:xfrm>
              <a:custGeom>
                <a:avLst/>
                <a:gdLst>
                  <a:gd name="T0" fmla="*/ 24 w 285"/>
                  <a:gd name="T1" fmla="*/ 111 h 316"/>
                  <a:gd name="T2" fmla="*/ 74 w 285"/>
                  <a:gd name="T3" fmla="*/ 123 h 316"/>
                  <a:gd name="T4" fmla="*/ 99 w 285"/>
                  <a:gd name="T5" fmla="*/ 136 h 316"/>
                  <a:gd name="T6" fmla="*/ 117 w 285"/>
                  <a:gd name="T7" fmla="*/ 111 h 316"/>
                  <a:gd name="T8" fmla="*/ 142 w 285"/>
                  <a:gd name="T9" fmla="*/ 142 h 316"/>
                  <a:gd name="T10" fmla="*/ 148 w 285"/>
                  <a:gd name="T11" fmla="*/ 148 h 316"/>
                  <a:gd name="T12" fmla="*/ 167 w 285"/>
                  <a:gd name="T13" fmla="*/ 173 h 316"/>
                  <a:gd name="T14" fmla="*/ 154 w 285"/>
                  <a:gd name="T15" fmla="*/ 223 h 316"/>
                  <a:gd name="T16" fmla="*/ 154 w 285"/>
                  <a:gd name="T17" fmla="*/ 241 h 316"/>
                  <a:gd name="T18" fmla="*/ 123 w 285"/>
                  <a:gd name="T19" fmla="*/ 247 h 316"/>
                  <a:gd name="T20" fmla="*/ 111 w 285"/>
                  <a:gd name="T21" fmla="*/ 260 h 316"/>
                  <a:gd name="T22" fmla="*/ 136 w 285"/>
                  <a:gd name="T23" fmla="*/ 266 h 316"/>
                  <a:gd name="T24" fmla="*/ 154 w 285"/>
                  <a:gd name="T25" fmla="*/ 260 h 316"/>
                  <a:gd name="T26" fmla="*/ 179 w 285"/>
                  <a:gd name="T27" fmla="*/ 284 h 316"/>
                  <a:gd name="T28" fmla="*/ 204 w 285"/>
                  <a:gd name="T29" fmla="*/ 303 h 316"/>
                  <a:gd name="T30" fmla="*/ 235 w 285"/>
                  <a:gd name="T31" fmla="*/ 315 h 316"/>
                  <a:gd name="T32" fmla="*/ 216 w 285"/>
                  <a:gd name="T33" fmla="*/ 284 h 316"/>
                  <a:gd name="T34" fmla="*/ 241 w 285"/>
                  <a:gd name="T35" fmla="*/ 297 h 316"/>
                  <a:gd name="T36" fmla="*/ 253 w 285"/>
                  <a:gd name="T37" fmla="*/ 278 h 316"/>
                  <a:gd name="T38" fmla="*/ 247 w 285"/>
                  <a:gd name="T39" fmla="*/ 260 h 316"/>
                  <a:gd name="T40" fmla="*/ 223 w 285"/>
                  <a:gd name="T41" fmla="*/ 229 h 316"/>
                  <a:gd name="T42" fmla="*/ 241 w 285"/>
                  <a:gd name="T43" fmla="*/ 229 h 316"/>
                  <a:gd name="T44" fmla="*/ 260 w 285"/>
                  <a:gd name="T45" fmla="*/ 247 h 316"/>
                  <a:gd name="T46" fmla="*/ 278 w 285"/>
                  <a:gd name="T47" fmla="*/ 235 h 316"/>
                  <a:gd name="T48" fmla="*/ 247 w 285"/>
                  <a:gd name="T49" fmla="*/ 173 h 316"/>
                  <a:gd name="T50" fmla="*/ 216 w 285"/>
                  <a:gd name="T51" fmla="*/ 161 h 316"/>
                  <a:gd name="T52" fmla="*/ 229 w 285"/>
                  <a:gd name="T53" fmla="*/ 142 h 316"/>
                  <a:gd name="T54" fmla="*/ 223 w 285"/>
                  <a:gd name="T55" fmla="*/ 123 h 316"/>
                  <a:gd name="T56" fmla="*/ 204 w 285"/>
                  <a:gd name="T57" fmla="*/ 99 h 316"/>
                  <a:gd name="T58" fmla="*/ 173 w 285"/>
                  <a:gd name="T59" fmla="*/ 74 h 316"/>
                  <a:gd name="T60" fmla="*/ 154 w 285"/>
                  <a:gd name="T61" fmla="*/ 43 h 316"/>
                  <a:gd name="T62" fmla="*/ 117 w 285"/>
                  <a:gd name="T63" fmla="*/ 37 h 316"/>
                  <a:gd name="T64" fmla="*/ 99 w 285"/>
                  <a:gd name="T65" fmla="*/ 43 h 316"/>
                  <a:gd name="T66" fmla="*/ 92 w 285"/>
                  <a:gd name="T67" fmla="*/ 37 h 316"/>
                  <a:gd name="T68" fmla="*/ 86 w 285"/>
                  <a:gd name="T69" fmla="*/ 6 h 316"/>
                  <a:gd name="T70" fmla="*/ 68 w 285"/>
                  <a:gd name="T71" fmla="*/ 6 h 316"/>
                  <a:gd name="T72" fmla="*/ 43 w 285"/>
                  <a:gd name="T73" fmla="*/ 61 h 316"/>
                  <a:gd name="T74" fmla="*/ 37 w 285"/>
                  <a:gd name="T75" fmla="*/ 61 h 316"/>
                  <a:gd name="T76" fmla="*/ 43 w 285"/>
                  <a:gd name="T77" fmla="*/ 12 h 316"/>
                  <a:gd name="T78" fmla="*/ 30 w 285"/>
                  <a:gd name="T79" fmla="*/ 0 h 316"/>
                  <a:gd name="T80" fmla="*/ 0 w 285"/>
                  <a:gd name="T81" fmla="*/ 49 h 31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285"/>
                  <a:gd name="T124" fmla="*/ 0 h 316"/>
                  <a:gd name="T125" fmla="*/ 285 w 285"/>
                  <a:gd name="T126" fmla="*/ 316 h 31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285" h="316">
                    <a:moveTo>
                      <a:pt x="0" y="68"/>
                    </a:moveTo>
                    <a:lnTo>
                      <a:pt x="24" y="111"/>
                    </a:lnTo>
                    <a:lnTo>
                      <a:pt x="43" y="117"/>
                    </a:lnTo>
                    <a:lnTo>
                      <a:pt x="74" y="123"/>
                    </a:lnTo>
                    <a:lnTo>
                      <a:pt x="86" y="123"/>
                    </a:lnTo>
                    <a:lnTo>
                      <a:pt x="99" y="136"/>
                    </a:lnTo>
                    <a:lnTo>
                      <a:pt x="111" y="130"/>
                    </a:lnTo>
                    <a:lnTo>
                      <a:pt x="117" y="111"/>
                    </a:lnTo>
                    <a:lnTo>
                      <a:pt x="123" y="123"/>
                    </a:lnTo>
                    <a:lnTo>
                      <a:pt x="142" y="142"/>
                    </a:lnTo>
                    <a:lnTo>
                      <a:pt x="136" y="161"/>
                    </a:lnTo>
                    <a:lnTo>
                      <a:pt x="148" y="148"/>
                    </a:lnTo>
                    <a:lnTo>
                      <a:pt x="154" y="161"/>
                    </a:lnTo>
                    <a:lnTo>
                      <a:pt x="167" y="173"/>
                    </a:lnTo>
                    <a:lnTo>
                      <a:pt x="173" y="198"/>
                    </a:lnTo>
                    <a:lnTo>
                      <a:pt x="154" y="223"/>
                    </a:lnTo>
                    <a:lnTo>
                      <a:pt x="161" y="235"/>
                    </a:lnTo>
                    <a:lnTo>
                      <a:pt x="154" y="241"/>
                    </a:lnTo>
                    <a:lnTo>
                      <a:pt x="123" y="235"/>
                    </a:lnTo>
                    <a:lnTo>
                      <a:pt x="123" y="247"/>
                    </a:lnTo>
                    <a:lnTo>
                      <a:pt x="117" y="247"/>
                    </a:lnTo>
                    <a:lnTo>
                      <a:pt x="111" y="260"/>
                    </a:lnTo>
                    <a:lnTo>
                      <a:pt x="117" y="266"/>
                    </a:lnTo>
                    <a:lnTo>
                      <a:pt x="136" y="266"/>
                    </a:lnTo>
                    <a:lnTo>
                      <a:pt x="142" y="260"/>
                    </a:lnTo>
                    <a:lnTo>
                      <a:pt x="154" y="260"/>
                    </a:lnTo>
                    <a:lnTo>
                      <a:pt x="179" y="278"/>
                    </a:lnTo>
                    <a:lnTo>
                      <a:pt x="179" y="284"/>
                    </a:lnTo>
                    <a:lnTo>
                      <a:pt x="185" y="297"/>
                    </a:lnTo>
                    <a:lnTo>
                      <a:pt x="204" y="303"/>
                    </a:lnTo>
                    <a:lnTo>
                      <a:pt x="216" y="309"/>
                    </a:lnTo>
                    <a:lnTo>
                      <a:pt x="235" y="315"/>
                    </a:lnTo>
                    <a:lnTo>
                      <a:pt x="235" y="309"/>
                    </a:lnTo>
                    <a:lnTo>
                      <a:pt x="216" y="284"/>
                    </a:lnTo>
                    <a:lnTo>
                      <a:pt x="210" y="278"/>
                    </a:lnTo>
                    <a:lnTo>
                      <a:pt x="241" y="297"/>
                    </a:lnTo>
                    <a:lnTo>
                      <a:pt x="253" y="297"/>
                    </a:lnTo>
                    <a:lnTo>
                      <a:pt x="253" y="278"/>
                    </a:lnTo>
                    <a:lnTo>
                      <a:pt x="247" y="272"/>
                    </a:lnTo>
                    <a:lnTo>
                      <a:pt x="247" y="260"/>
                    </a:lnTo>
                    <a:lnTo>
                      <a:pt x="229" y="241"/>
                    </a:lnTo>
                    <a:lnTo>
                      <a:pt x="223" y="229"/>
                    </a:lnTo>
                    <a:lnTo>
                      <a:pt x="229" y="216"/>
                    </a:lnTo>
                    <a:lnTo>
                      <a:pt x="241" y="229"/>
                    </a:lnTo>
                    <a:lnTo>
                      <a:pt x="247" y="241"/>
                    </a:lnTo>
                    <a:lnTo>
                      <a:pt x="260" y="247"/>
                    </a:lnTo>
                    <a:lnTo>
                      <a:pt x="266" y="235"/>
                    </a:lnTo>
                    <a:lnTo>
                      <a:pt x="278" y="235"/>
                    </a:lnTo>
                    <a:lnTo>
                      <a:pt x="284" y="210"/>
                    </a:lnTo>
                    <a:lnTo>
                      <a:pt x="247" y="173"/>
                    </a:lnTo>
                    <a:lnTo>
                      <a:pt x="229" y="173"/>
                    </a:lnTo>
                    <a:lnTo>
                      <a:pt x="216" y="161"/>
                    </a:lnTo>
                    <a:lnTo>
                      <a:pt x="216" y="148"/>
                    </a:lnTo>
                    <a:lnTo>
                      <a:pt x="229" y="142"/>
                    </a:lnTo>
                    <a:lnTo>
                      <a:pt x="223" y="136"/>
                    </a:lnTo>
                    <a:lnTo>
                      <a:pt x="223" y="123"/>
                    </a:lnTo>
                    <a:lnTo>
                      <a:pt x="216" y="105"/>
                    </a:lnTo>
                    <a:lnTo>
                      <a:pt x="204" y="99"/>
                    </a:lnTo>
                    <a:lnTo>
                      <a:pt x="185" y="80"/>
                    </a:lnTo>
                    <a:lnTo>
                      <a:pt x="173" y="74"/>
                    </a:lnTo>
                    <a:lnTo>
                      <a:pt x="161" y="68"/>
                    </a:lnTo>
                    <a:lnTo>
                      <a:pt x="154" y="43"/>
                    </a:lnTo>
                    <a:lnTo>
                      <a:pt x="142" y="43"/>
                    </a:lnTo>
                    <a:lnTo>
                      <a:pt x="117" y="37"/>
                    </a:lnTo>
                    <a:lnTo>
                      <a:pt x="111" y="43"/>
                    </a:lnTo>
                    <a:lnTo>
                      <a:pt x="99" y="43"/>
                    </a:lnTo>
                    <a:lnTo>
                      <a:pt x="86" y="55"/>
                    </a:lnTo>
                    <a:lnTo>
                      <a:pt x="92" y="37"/>
                    </a:lnTo>
                    <a:lnTo>
                      <a:pt x="86" y="24"/>
                    </a:lnTo>
                    <a:lnTo>
                      <a:pt x="86" y="6"/>
                    </a:lnTo>
                    <a:lnTo>
                      <a:pt x="80" y="0"/>
                    </a:lnTo>
                    <a:lnTo>
                      <a:pt x="68" y="6"/>
                    </a:lnTo>
                    <a:lnTo>
                      <a:pt x="43" y="30"/>
                    </a:lnTo>
                    <a:lnTo>
                      <a:pt x="43" y="61"/>
                    </a:lnTo>
                    <a:lnTo>
                      <a:pt x="43" y="74"/>
                    </a:lnTo>
                    <a:lnTo>
                      <a:pt x="37" y="61"/>
                    </a:lnTo>
                    <a:lnTo>
                      <a:pt x="30" y="30"/>
                    </a:lnTo>
                    <a:lnTo>
                      <a:pt x="43" y="12"/>
                    </a:lnTo>
                    <a:lnTo>
                      <a:pt x="55" y="0"/>
                    </a:lnTo>
                    <a:lnTo>
                      <a:pt x="30" y="0"/>
                    </a:lnTo>
                    <a:lnTo>
                      <a:pt x="6" y="24"/>
                    </a:lnTo>
                    <a:lnTo>
                      <a:pt x="0" y="49"/>
                    </a:lnTo>
                    <a:lnTo>
                      <a:pt x="0" y="68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93" name="Freeform 173">
                <a:extLst>
                  <a:ext uri="{FF2B5EF4-FFF2-40B4-BE49-F238E27FC236}">
                    <a16:creationId xmlns:a16="http://schemas.microsoft.com/office/drawing/2014/main" id="{331D54CC-13D6-407E-9BC4-BEFB002B3F5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000540" y="1941346"/>
                <a:ext cx="112099" cy="53650"/>
              </a:xfrm>
              <a:custGeom>
                <a:avLst/>
                <a:gdLst>
                  <a:gd name="T0" fmla="*/ 0 w 44"/>
                  <a:gd name="T1" fmla="*/ 6 h 31"/>
                  <a:gd name="T2" fmla="*/ 0 w 44"/>
                  <a:gd name="T3" fmla="*/ 12 h 31"/>
                  <a:gd name="T4" fmla="*/ 0 w 44"/>
                  <a:gd name="T5" fmla="*/ 30 h 31"/>
                  <a:gd name="T6" fmla="*/ 12 w 44"/>
                  <a:gd name="T7" fmla="*/ 30 h 31"/>
                  <a:gd name="T8" fmla="*/ 25 w 44"/>
                  <a:gd name="T9" fmla="*/ 30 h 31"/>
                  <a:gd name="T10" fmla="*/ 43 w 44"/>
                  <a:gd name="T11" fmla="*/ 30 h 31"/>
                  <a:gd name="T12" fmla="*/ 43 w 44"/>
                  <a:gd name="T13" fmla="*/ 24 h 31"/>
                  <a:gd name="T14" fmla="*/ 37 w 44"/>
                  <a:gd name="T15" fmla="*/ 6 h 31"/>
                  <a:gd name="T16" fmla="*/ 25 w 44"/>
                  <a:gd name="T17" fmla="*/ 0 h 31"/>
                  <a:gd name="T18" fmla="*/ 12 w 44"/>
                  <a:gd name="T19" fmla="*/ 0 h 31"/>
                  <a:gd name="T20" fmla="*/ 0 w 44"/>
                  <a:gd name="T21" fmla="*/ 6 h 3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44"/>
                  <a:gd name="T34" fmla="*/ 0 h 31"/>
                  <a:gd name="T35" fmla="*/ 44 w 44"/>
                  <a:gd name="T36" fmla="*/ 31 h 31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44" h="31">
                    <a:moveTo>
                      <a:pt x="0" y="6"/>
                    </a:moveTo>
                    <a:lnTo>
                      <a:pt x="0" y="12"/>
                    </a:lnTo>
                    <a:lnTo>
                      <a:pt x="0" y="30"/>
                    </a:lnTo>
                    <a:lnTo>
                      <a:pt x="12" y="30"/>
                    </a:lnTo>
                    <a:lnTo>
                      <a:pt x="25" y="30"/>
                    </a:lnTo>
                    <a:lnTo>
                      <a:pt x="43" y="30"/>
                    </a:lnTo>
                    <a:lnTo>
                      <a:pt x="43" y="24"/>
                    </a:lnTo>
                    <a:lnTo>
                      <a:pt x="37" y="6"/>
                    </a:lnTo>
                    <a:lnTo>
                      <a:pt x="25" y="0"/>
                    </a:lnTo>
                    <a:lnTo>
                      <a:pt x="12" y="0"/>
                    </a:lnTo>
                    <a:lnTo>
                      <a:pt x="0" y="6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94" name="Freeform 174">
                <a:extLst>
                  <a:ext uri="{FF2B5EF4-FFF2-40B4-BE49-F238E27FC236}">
                    <a16:creationId xmlns:a16="http://schemas.microsoft.com/office/drawing/2014/main" id="{921B7857-6B20-4661-AE73-BBDE7A1D6E4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234930" y="1650602"/>
                <a:ext cx="1360478" cy="912034"/>
              </a:xfrm>
              <a:custGeom>
                <a:avLst/>
                <a:gdLst>
                  <a:gd name="T0" fmla="*/ 13 w 534"/>
                  <a:gd name="T1" fmla="*/ 18 h 527"/>
                  <a:gd name="T2" fmla="*/ 0 w 534"/>
                  <a:gd name="T3" fmla="*/ 43 h 527"/>
                  <a:gd name="T4" fmla="*/ 19 w 534"/>
                  <a:gd name="T5" fmla="*/ 68 h 527"/>
                  <a:gd name="T6" fmla="*/ 50 w 534"/>
                  <a:gd name="T7" fmla="*/ 87 h 527"/>
                  <a:gd name="T8" fmla="*/ 100 w 534"/>
                  <a:gd name="T9" fmla="*/ 80 h 527"/>
                  <a:gd name="T10" fmla="*/ 131 w 534"/>
                  <a:gd name="T11" fmla="*/ 111 h 527"/>
                  <a:gd name="T12" fmla="*/ 149 w 534"/>
                  <a:gd name="T13" fmla="*/ 161 h 527"/>
                  <a:gd name="T14" fmla="*/ 155 w 534"/>
                  <a:gd name="T15" fmla="*/ 211 h 527"/>
                  <a:gd name="T16" fmla="*/ 155 w 534"/>
                  <a:gd name="T17" fmla="*/ 242 h 527"/>
                  <a:gd name="T18" fmla="*/ 174 w 534"/>
                  <a:gd name="T19" fmla="*/ 248 h 527"/>
                  <a:gd name="T20" fmla="*/ 186 w 534"/>
                  <a:gd name="T21" fmla="*/ 254 h 527"/>
                  <a:gd name="T22" fmla="*/ 205 w 534"/>
                  <a:gd name="T23" fmla="*/ 273 h 527"/>
                  <a:gd name="T24" fmla="*/ 168 w 534"/>
                  <a:gd name="T25" fmla="*/ 279 h 527"/>
                  <a:gd name="T26" fmla="*/ 180 w 534"/>
                  <a:gd name="T27" fmla="*/ 310 h 527"/>
                  <a:gd name="T28" fmla="*/ 205 w 534"/>
                  <a:gd name="T29" fmla="*/ 292 h 527"/>
                  <a:gd name="T30" fmla="*/ 205 w 534"/>
                  <a:gd name="T31" fmla="*/ 329 h 527"/>
                  <a:gd name="T32" fmla="*/ 180 w 534"/>
                  <a:gd name="T33" fmla="*/ 341 h 527"/>
                  <a:gd name="T34" fmla="*/ 193 w 534"/>
                  <a:gd name="T35" fmla="*/ 403 h 527"/>
                  <a:gd name="T36" fmla="*/ 224 w 534"/>
                  <a:gd name="T37" fmla="*/ 496 h 527"/>
                  <a:gd name="T38" fmla="*/ 255 w 534"/>
                  <a:gd name="T39" fmla="*/ 515 h 527"/>
                  <a:gd name="T40" fmla="*/ 280 w 534"/>
                  <a:gd name="T41" fmla="*/ 521 h 527"/>
                  <a:gd name="T42" fmla="*/ 292 w 534"/>
                  <a:gd name="T43" fmla="*/ 472 h 527"/>
                  <a:gd name="T44" fmla="*/ 311 w 534"/>
                  <a:gd name="T45" fmla="*/ 428 h 527"/>
                  <a:gd name="T46" fmla="*/ 317 w 534"/>
                  <a:gd name="T47" fmla="*/ 416 h 527"/>
                  <a:gd name="T48" fmla="*/ 348 w 534"/>
                  <a:gd name="T49" fmla="*/ 403 h 527"/>
                  <a:gd name="T50" fmla="*/ 404 w 534"/>
                  <a:gd name="T51" fmla="*/ 341 h 527"/>
                  <a:gd name="T52" fmla="*/ 441 w 534"/>
                  <a:gd name="T53" fmla="*/ 329 h 527"/>
                  <a:gd name="T54" fmla="*/ 491 w 534"/>
                  <a:gd name="T55" fmla="*/ 285 h 527"/>
                  <a:gd name="T56" fmla="*/ 454 w 534"/>
                  <a:gd name="T57" fmla="*/ 285 h 527"/>
                  <a:gd name="T58" fmla="*/ 466 w 534"/>
                  <a:gd name="T59" fmla="*/ 273 h 527"/>
                  <a:gd name="T60" fmla="*/ 472 w 534"/>
                  <a:gd name="T61" fmla="*/ 248 h 527"/>
                  <a:gd name="T62" fmla="*/ 485 w 534"/>
                  <a:gd name="T63" fmla="*/ 279 h 527"/>
                  <a:gd name="T64" fmla="*/ 497 w 534"/>
                  <a:gd name="T65" fmla="*/ 248 h 527"/>
                  <a:gd name="T66" fmla="*/ 497 w 534"/>
                  <a:gd name="T67" fmla="*/ 229 h 527"/>
                  <a:gd name="T68" fmla="*/ 485 w 534"/>
                  <a:gd name="T69" fmla="*/ 192 h 527"/>
                  <a:gd name="T70" fmla="*/ 510 w 534"/>
                  <a:gd name="T71" fmla="*/ 180 h 527"/>
                  <a:gd name="T72" fmla="*/ 503 w 534"/>
                  <a:gd name="T73" fmla="*/ 161 h 527"/>
                  <a:gd name="T74" fmla="*/ 528 w 534"/>
                  <a:gd name="T75" fmla="*/ 136 h 527"/>
                  <a:gd name="T76" fmla="*/ 522 w 534"/>
                  <a:gd name="T77" fmla="*/ 118 h 527"/>
                  <a:gd name="T78" fmla="*/ 503 w 534"/>
                  <a:gd name="T79" fmla="*/ 74 h 527"/>
                  <a:gd name="T80" fmla="*/ 510 w 534"/>
                  <a:gd name="T81" fmla="*/ 49 h 527"/>
                  <a:gd name="T82" fmla="*/ 534 w 534"/>
                  <a:gd name="T83" fmla="*/ 43 h 527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534"/>
                  <a:gd name="T127" fmla="*/ 0 h 527"/>
                  <a:gd name="T128" fmla="*/ 534 w 534"/>
                  <a:gd name="T129" fmla="*/ 527 h 527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534" h="527">
                    <a:moveTo>
                      <a:pt x="13" y="0"/>
                    </a:moveTo>
                    <a:lnTo>
                      <a:pt x="13" y="18"/>
                    </a:lnTo>
                    <a:lnTo>
                      <a:pt x="31" y="31"/>
                    </a:lnTo>
                    <a:lnTo>
                      <a:pt x="0" y="43"/>
                    </a:lnTo>
                    <a:lnTo>
                      <a:pt x="25" y="62"/>
                    </a:lnTo>
                    <a:lnTo>
                      <a:pt x="19" y="68"/>
                    </a:lnTo>
                    <a:lnTo>
                      <a:pt x="31" y="80"/>
                    </a:lnTo>
                    <a:lnTo>
                      <a:pt x="50" y="87"/>
                    </a:lnTo>
                    <a:lnTo>
                      <a:pt x="62" y="80"/>
                    </a:lnTo>
                    <a:lnTo>
                      <a:pt x="100" y="80"/>
                    </a:lnTo>
                    <a:lnTo>
                      <a:pt x="131" y="99"/>
                    </a:lnTo>
                    <a:lnTo>
                      <a:pt x="131" y="111"/>
                    </a:lnTo>
                    <a:lnTo>
                      <a:pt x="149" y="142"/>
                    </a:lnTo>
                    <a:lnTo>
                      <a:pt x="149" y="161"/>
                    </a:lnTo>
                    <a:lnTo>
                      <a:pt x="155" y="174"/>
                    </a:lnTo>
                    <a:lnTo>
                      <a:pt x="155" y="211"/>
                    </a:lnTo>
                    <a:lnTo>
                      <a:pt x="162" y="223"/>
                    </a:lnTo>
                    <a:lnTo>
                      <a:pt x="155" y="242"/>
                    </a:lnTo>
                    <a:lnTo>
                      <a:pt x="162" y="248"/>
                    </a:lnTo>
                    <a:lnTo>
                      <a:pt x="174" y="248"/>
                    </a:lnTo>
                    <a:lnTo>
                      <a:pt x="180" y="236"/>
                    </a:lnTo>
                    <a:lnTo>
                      <a:pt x="186" y="254"/>
                    </a:lnTo>
                    <a:lnTo>
                      <a:pt x="199" y="260"/>
                    </a:lnTo>
                    <a:lnTo>
                      <a:pt x="205" y="273"/>
                    </a:lnTo>
                    <a:lnTo>
                      <a:pt x="174" y="267"/>
                    </a:lnTo>
                    <a:lnTo>
                      <a:pt x="168" y="279"/>
                    </a:lnTo>
                    <a:lnTo>
                      <a:pt x="168" y="298"/>
                    </a:lnTo>
                    <a:lnTo>
                      <a:pt x="180" y="310"/>
                    </a:lnTo>
                    <a:lnTo>
                      <a:pt x="193" y="304"/>
                    </a:lnTo>
                    <a:lnTo>
                      <a:pt x="205" y="292"/>
                    </a:lnTo>
                    <a:lnTo>
                      <a:pt x="205" y="310"/>
                    </a:lnTo>
                    <a:lnTo>
                      <a:pt x="205" y="329"/>
                    </a:lnTo>
                    <a:lnTo>
                      <a:pt x="186" y="329"/>
                    </a:lnTo>
                    <a:lnTo>
                      <a:pt x="180" y="341"/>
                    </a:lnTo>
                    <a:lnTo>
                      <a:pt x="180" y="397"/>
                    </a:lnTo>
                    <a:lnTo>
                      <a:pt x="193" y="403"/>
                    </a:lnTo>
                    <a:lnTo>
                      <a:pt x="193" y="434"/>
                    </a:lnTo>
                    <a:lnTo>
                      <a:pt x="224" y="496"/>
                    </a:lnTo>
                    <a:lnTo>
                      <a:pt x="236" y="509"/>
                    </a:lnTo>
                    <a:lnTo>
                      <a:pt x="255" y="515"/>
                    </a:lnTo>
                    <a:lnTo>
                      <a:pt x="273" y="527"/>
                    </a:lnTo>
                    <a:lnTo>
                      <a:pt x="280" y="521"/>
                    </a:lnTo>
                    <a:lnTo>
                      <a:pt x="292" y="484"/>
                    </a:lnTo>
                    <a:lnTo>
                      <a:pt x="292" y="472"/>
                    </a:lnTo>
                    <a:lnTo>
                      <a:pt x="305" y="453"/>
                    </a:lnTo>
                    <a:lnTo>
                      <a:pt x="311" y="428"/>
                    </a:lnTo>
                    <a:lnTo>
                      <a:pt x="305" y="416"/>
                    </a:lnTo>
                    <a:lnTo>
                      <a:pt x="317" y="416"/>
                    </a:lnTo>
                    <a:lnTo>
                      <a:pt x="317" y="403"/>
                    </a:lnTo>
                    <a:lnTo>
                      <a:pt x="348" y="403"/>
                    </a:lnTo>
                    <a:lnTo>
                      <a:pt x="360" y="397"/>
                    </a:lnTo>
                    <a:lnTo>
                      <a:pt x="404" y="341"/>
                    </a:lnTo>
                    <a:lnTo>
                      <a:pt x="416" y="341"/>
                    </a:lnTo>
                    <a:lnTo>
                      <a:pt x="441" y="329"/>
                    </a:lnTo>
                    <a:lnTo>
                      <a:pt x="485" y="298"/>
                    </a:lnTo>
                    <a:lnTo>
                      <a:pt x="491" y="285"/>
                    </a:lnTo>
                    <a:lnTo>
                      <a:pt x="466" y="279"/>
                    </a:lnTo>
                    <a:lnTo>
                      <a:pt x="454" y="285"/>
                    </a:lnTo>
                    <a:lnTo>
                      <a:pt x="454" y="279"/>
                    </a:lnTo>
                    <a:lnTo>
                      <a:pt x="466" y="273"/>
                    </a:lnTo>
                    <a:lnTo>
                      <a:pt x="460" y="254"/>
                    </a:lnTo>
                    <a:lnTo>
                      <a:pt x="472" y="248"/>
                    </a:lnTo>
                    <a:lnTo>
                      <a:pt x="478" y="273"/>
                    </a:lnTo>
                    <a:lnTo>
                      <a:pt x="485" y="279"/>
                    </a:lnTo>
                    <a:lnTo>
                      <a:pt x="497" y="273"/>
                    </a:lnTo>
                    <a:lnTo>
                      <a:pt x="497" y="248"/>
                    </a:lnTo>
                    <a:lnTo>
                      <a:pt x="472" y="211"/>
                    </a:lnTo>
                    <a:lnTo>
                      <a:pt x="497" y="229"/>
                    </a:lnTo>
                    <a:lnTo>
                      <a:pt x="497" y="198"/>
                    </a:lnTo>
                    <a:lnTo>
                      <a:pt x="485" y="192"/>
                    </a:lnTo>
                    <a:lnTo>
                      <a:pt x="497" y="180"/>
                    </a:lnTo>
                    <a:lnTo>
                      <a:pt x="510" y="180"/>
                    </a:lnTo>
                    <a:lnTo>
                      <a:pt x="510" y="167"/>
                    </a:lnTo>
                    <a:lnTo>
                      <a:pt x="503" y="161"/>
                    </a:lnTo>
                    <a:lnTo>
                      <a:pt x="522" y="155"/>
                    </a:lnTo>
                    <a:lnTo>
                      <a:pt x="528" y="136"/>
                    </a:lnTo>
                    <a:lnTo>
                      <a:pt x="516" y="136"/>
                    </a:lnTo>
                    <a:lnTo>
                      <a:pt x="522" y="118"/>
                    </a:lnTo>
                    <a:lnTo>
                      <a:pt x="516" y="80"/>
                    </a:lnTo>
                    <a:lnTo>
                      <a:pt x="503" y="74"/>
                    </a:lnTo>
                    <a:lnTo>
                      <a:pt x="503" y="56"/>
                    </a:lnTo>
                    <a:lnTo>
                      <a:pt x="510" y="49"/>
                    </a:lnTo>
                    <a:lnTo>
                      <a:pt x="534" y="56"/>
                    </a:lnTo>
                    <a:lnTo>
                      <a:pt x="534" y="43"/>
                    </a:lnTo>
                    <a:lnTo>
                      <a:pt x="522" y="0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95" name="Freeform 175">
                <a:extLst>
                  <a:ext uri="{FF2B5EF4-FFF2-40B4-BE49-F238E27FC236}">
                    <a16:creationId xmlns:a16="http://schemas.microsoft.com/office/drawing/2014/main" id="{9717DC8D-AEB6-4473-9AFD-35B403115CB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587812" y="1834047"/>
                <a:ext cx="78978" cy="53650"/>
              </a:xfrm>
              <a:custGeom>
                <a:avLst/>
                <a:gdLst>
                  <a:gd name="T0" fmla="*/ 0 w 31"/>
                  <a:gd name="T1" fmla="*/ 18 h 31"/>
                  <a:gd name="T2" fmla="*/ 30 w 31"/>
                  <a:gd name="T3" fmla="*/ 30 h 31"/>
                  <a:gd name="T4" fmla="*/ 30 w 31"/>
                  <a:gd name="T5" fmla="*/ 12 h 31"/>
                  <a:gd name="T6" fmla="*/ 24 w 31"/>
                  <a:gd name="T7" fmla="*/ 0 h 31"/>
                  <a:gd name="T8" fmla="*/ 12 w 31"/>
                  <a:gd name="T9" fmla="*/ 0 h 31"/>
                  <a:gd name="T10" fmla="*/ 0 w 31"/>
                  <a:gd name="T11" fmla="*/ 18 h 3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1"/>
                  <a:gd name="T19" fmla="*/ 0 h 31"/>
                  <a:gd name="T20" fmla="*/ 31 w 31"/>
                  <a:gd name="T21" fmla="*/ 31 h 3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1" h="31">
                    <a:moveTo>
                      <a:pt x="0" y="18"/>
                    </a:moveTo>
                    <a:lnTo>
                      <a:pt x="30" y="30"/>
                    </a:lnTo>
                    <a:lnTo>
                      <a:pt x="30" y="12"/>
                    </a:lnTo>
                    <a:lnTo>
                      <a:pt x="24" y="0"/>
                    </a:lnTo>
                    <a:lnTo>
                      <a:pt x="12" y="0"/>
                    </a:lnTo>
                    <a:lnTo>
                      <a:pt x="0" y="18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96" name="Freeform 176">
                <a:extLst>
                  <a:ext uri="{FF2B5EF4-FFF2-40B4-BE49-F238E27FC236}">
                    <a16:creationId xmlns:a16="http://schemas.microsoft.com/office/drawing/2014/main" id="{E8170FEC-CEB5-4BE7-9849-91681C8E8EA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605645" y="1726749"/>
                <a:ext cx="412727" cy="181714"/>
              </a:xfrm>
              <a:custGeom>
                <a:avLst/>
                <a:gdLst>
                  <a:gd name="T0" fmla="*/ 0 w 162"/>
                  <a:gd name="T1" fmla="*/ 0 h 105"/>
                  <a:gd name="T2" fmla="*/ 0 w 162"/>
                  <a:gd name="T3" fmla="*/ 18 h 105"/>
                  <a:gd name="T4" fmla="*/ 12 w 162"/>
                  <a:gd name="T5" fmla="*/ 30 h 105"/>
                  <a:gd name="T6" fmla="*/ 31 w 162"/>
                  <a:gd name="T7" fmla="*/ 30 h 105"/>
                  <a:gd name="T8" fmla="*/ 37 w 162"/>
                  <a:gd name="T9" fmla="*/ 37 h 105"/>
                  <a:gd name="T10" fmla="*/ 43 w 162"/>
                  <a:gd name="T11" fmla="*/ 92 h 105"/>
                  <a:gd name="T12" fmla="*/ 99 w 162"/>
                  <a:gd name="T13" fmla="*/ 104 h 105"/>
                  <a:gd name="T14" fmla="*/ 112 w 162"/>
                  <a:gd name="T15" fmla="*/ 104 h 105"/>
                  <a:gd name="T16" fmla="*/ 124 w 162"/>
                  <a:gd name="T17" fmla="*/ 92 h 105"/>
                  <a:gd name="T18" fmla="*/ 143 w 162"/>
                  <a:gd name="T19" fmla="*/ 98 h 105"/>
                  <a:gd name="T20" fmla="*/ 155 w 162"/>
                  <a:gd name="T21" fmla="*/ 92 h 105"/>
                  <a:gd name="T22" fmla="*/ 161 w 162"/>
                  <a:gd name="T23" fmla="*/ 61 h 105"/>
                  <a:gd name="T24" fmla="*/ 143 w 162"/>
                  <a:gd name="T25" fmla="*/ 55 h 105"/>
                  <a:gd name="T26" fmla="*/ 112 w 162"/>
                  <a:gd name="T27" fmla="*/ 49 h 105"/>
                  <a:gd name="T28" fmla="*/ 93 w 162"/>
                  <a:gd name="T29" fmla="*/ 61 h 105"/>
                  <a:gd name="T30" fmla="*/ 74 w 162"/>
                  <a:gd name="T31" fmla="*/ 55 h 105"/>
                  <a:gd name="T32" fmla="*/ 62 w 162"/>
                  <a:gd name="T33" fmla="*/ 43 h 105"/>
                  <a:gd name="T34" fmla="*/ 62 w 162"/>
                  <a:gd name="T35" fmla="*/ 37 h 105"/>
                  <a:gd name="T36" fmla="*/ 49 w 162"/>
                  <a:gd name="T37" fmla="*/ 18 h 105"/>
                  <a:gd name="T38" fmla="*/ 31 w 162"/>
                  <a:gd name="T39" fmla="*/ 18 h 105"/>
                  <a:gd name="T40" fmla="*/ 18 w 162"/>
                  <a:gd name="T41" fmla="*/ 6 h 105"/>
                  <a:gd name="T42" fmla="*/ 0 w 162"/>
                  <a:gd name="T43" fmla="*/ 0 h 105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162"/>
                  <a:gd name="T67" fmla="*/ 0 h 105"/>
                  <a:gd name="T68" fmla="*/ 162 w 162"/>
                  <a:gd name="T69" fmla="*/ 105 h 105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162" h="105">
                    <a:moveTo>
                      <a:pt x="0" y="0"/>
                    </a:moveTo>
                    <a:lnTo>
                      <a:pt x="0" y="18"/>
                    </a:lnTo>
                    <a:lnTo>
                      <a:pt x="12" y="30"/>
                    </a:lnTo>
                    <a:lnTo>
                      <a:pt x="31" y="30"/>
                    </a:lnTo>
                    <a:lnTo>
                      <a:pt x="37" y="37"/>
                    </a:lnTo>
                    <a:lnTo>
                      <a:pt x="43" y="92"/>
                    </a:lnTo>
                    <a:lnTo>
                      <a:pt x="99" y="104"/>
                    </a:lnTo>
                    <a:lnTo>
                      <a:pt x="112" y="104"/>
                    </a:lnTo>
                    <a:lnTo>
                      <a:pt x="124" y="92"/>
                    </a:lnTo>
                    <a:lnTo>
                      <a:pt x="143" y="98"/>
                    </a:lnTo>
                    <a:lnTo>
                      <a:pt x="155" y="92"/>
                    </a:lnTo>
                    <a:lnTo>
                      <a:pt x="161" y="61"/>
                    </a:lnTo>
                    <a:lnTo>
                      <a:pt x="143" y="55"/>
                    </a:lnTo>
                    <a:lnTo>
                      <a:pt x="112" y="49"/>
                    </a:lnTo>
                    <a:lnTo>
                      <a:pt x="93" y="61"/>
                    </a:lnTo>
                    <a:lnTo>
                      <a:pt x="74" y="55"/>
                    </a:lnTo>
                    <a:lnTo>
                      <a:pt x="62" y="43"/>
                    </a:lnTo>
                    <a:lnTo>
                      <a:pt x="62" y="37"/>
                    </a:lnTo>
                    <a:lnTo>
                      <a:pt x="49" y="18"/>
                    </a:lnTo>
                    <a:lnTo>
                      <a:pt x="31" y="18"/>
                    </a:lnTo>
                    <a:lnTo>
                      <a:pt x="18" y="6"/>
                    </a:lnTo>
                    <a:lnTo>
                      <a:pt x="0" y="0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97" name="Freeform 177">
                <a:extLst>
                  <a:ext uri="{FF2B5EF4-FFF2-40B4-BE49-F238E27FC236}">
                    <a16:creationId xmlns:a16="http://schemas.microsoft.com/office/drawing/2014/main" id="{3F138159-AC86-44D2-AB19-3B6139C8894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572523" y="1662716"/>
                <a:ext cx="127386" cy="43264"/>
              </a:xfrm>
              <a:custGeom>
                <a:avLst/>
                <a:gdLst>
                  <a:gd name="T0" fmla="*/ 0 w 50"/>
                  <a:gd name="T1" fmla="*/ 6 h 25"/>
                  <a:gd name="T2" fmla="*/ 43 w 50"/>
                  <a:gd name="T3" fmla="*/ 24 h 25"/>
                  <a:gd name="T4" fmla="*/ 49 w 50"/>
                  <a:gd name="T5" fmla="*/ 12 h 25"/>
                  <a:gd name="T6" fmla="*/ 49 w 50"/>
                  <a:gd name="T7" fmla="*/ 0 h 25"/>
                  <a:gd name="T8" fmla="*/ 24 w 50"/>
                  <a:gd name="T9" fmla="*/ 0 h 25"/>
                  <a:gd name="T10" fmla="*/ 0 w 50"/>
                  <a:gd name="T11" fmla="*/ 6 h 2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0"/>
                  <a:gd name="T19" fmla="*/ 0 h 25"/>
                  <a:gd name="T20" fmla="*/ 50 w 50"/>
                  <a:gd name="T21" fmla="*/ 25 h 2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0" h="25">
                    <a:moveTo>
                      <a:pt x="0" y="6"/>
                    </a:moveTo>
                    <a:lnTo>
                      <a:pt x="43" y="24"/>
                    </a:lnTo>
                    <a:lnTo>
                      <a:pt x="49" y="12"/>
                    </a:lnTo>
                    <a:lnTo>
                      <a:pt x="49" y="0"/>
                    </a:lnTo>
                    <a:lnTo>
                      <a:pt x="24" y="0"/>
                    </a:lnTo>
                    <a:lnTo>
                      <a:pt x="0" y="6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98" name="Freeform 178">
                <a:extLst>
                  <a:ext uri="{FF2B5EF4-FFF2-40B4-BE49-F238E27FC236}">
                    <a16:creationId xmlns:a16="http://schemas.microsoft.com/office/drawing/2014/main" id="{730EF2D7-B082-42D0-B82F-2C65FC52B9D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350872" y="1673100"/>
                <a:ext cx="48404" cy="53650"/>
              </a:xfrm>
              <a:custGeom>
                <a:avLst/>
                <a:gdLst>
                  <a:gd name="T0" fmla="*/ 0 w 19"/>
                  <a:gd name="T1" fmla="*/ 0 h 31"/>
                  <a:gd name="T2" fmla="*/ 6 w 19"/>
                  <a:gd name="T3" fmla="*/ 24 h 31"/>
                  <a:gd name="T4" fmla="*/ 18 w 19"/>
                  <a:gd name="T5" fmla="*/ 30 h 31"/>
                  <a:gd name="T6" fmla="*/ 12 w 19"/>
                  <a:gd name="T7" fmla="*/ 0 h 31"/>
                  <a:gd name="T8" fmla="*/ 0 w 19"/>
                  <a:gd name="T9" fmla="*/ 0 h 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"/>
                  <a:gd name="T16" fmla="*/ 0 h 31"/>
                  <a:gd name="T17" fmla="*/ 19 w 19"/>
                  <a:gd name="T18" fmla="*/ 31 h 3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" h="31">
                    <a:moveTo>
                      <a:pt x="0" y="0"/>
                    </a:moveTo>
                    <a:lnTo>
                      <a:pt x="6" y="24"/>
                    </a:lnTo>
                    <a:lnTo>
                      <a:pt x="18" y="30"/>
                    </a:lnTo>
                    <a:lnTo>
                      <a:pt x="12" y="0"/>
                    </a:lnTo>
                    <a:lnTo>
                      <a:pt x="0" y="0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99" name="Freeform 179">
                <a:extLst>
                  <a:ext uri="{FF2B5EF4-FFF2-40B4-BE49-F238E27FC236}">
                    <a16:creationId xmlns:a16="http://schemas.microsoft.com/office/drawing/2014/main" id="{B7B6335C-F86C-4632-878A-61446D2EC63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381445" y="1747517"/>
                <a:ext cx="175793" cy="119413"/>
              </a:xfrm>
              <a:custGeom>
                <a:avLst/>
                <a:gdLst>
                  <a:gd name="T0" fmla="*/ 0 w 69"/>
                  <a:gd name="T1" fmla="*/ 6 h 69"/>
                  <a:gd name="T2" fmla="*/ 18 w 69"/>
                  <a:gd name="T3" fmla="*/ 56 h 69"/>
                  <a:gd name="T4" fmla="*/ 31 w 69"/>
                  <a:gd name="T5" fmla="*/ 43 h 69"/>
                  <a:gd name="T6" fmla="*/ 43 w 69"/>
                  <a:gd name="T7" fmla="*/ 68 h 69"/>
                  <a:gd name="T8" fmla="*/ 62 w 69"/>
                  <a:gd name="T9" fmla="*/ 68 h 69"/>
                  <a:gd name="T10" fmla="*/ 68 w 69"/>
                  <a:gd name="T11" fmla="*/ 50 h 69"/>
                  <a:gd name="T12" fmla="*/ 68 w 69"/>
                  <a:gd name="T13" fmla="*/ 12 h 69"/>
                  <a:gd name="T14" fmla="*/ 50 w 69"/>
                  <a:gd name="T15" fmla="*/ 0 h 69"/>
                  <a:gd name="T16" fmla="*/ 37 w 69"/>
                  <a:gd name="T17" fmla="*/ 0 h 69"/>
                  <a:gd name="T18" fmla="*/ 25 w 69"/>
                  <a:gd name="T19" fmla="*/ 31 h 69"/>
                  <a:gd name="T20" fmla="*/ 6 w 69"/>
                  <a:gd name="T21" fmla="*/ 6 h 69"/>
                  <a:gd name="T22" fmla="*/ 0 w 69"/>
                  <a:gd name="T23" fmla="*/ 6 h 69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69"/>
                  <a:gd name="T37" fmla="*/ 0 h 69"/>
                  <a:gd name="T38" fmla="*/ 69 w 69"/>
                  <a:gd name="T39" fmla="*/ 69 h 69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69" h="69">
                    <a:moveTo>
                      <a:pt x="0" y="6"/>
                    </a:moveTo>
                    <a:lnTo>
                      <a:pt x="18" y="56"/>
                    </a:lnTo>
                    <a:lnTo>
                      <a:pt x="31" y="43"/>
                    </a:lnTo>
                    <a:lnTo>
                      <a:pt x="43" y="68"/>
                    </a:lnTo>
                    <a:lnTo>
                      <a:pt x="62" y="68"/>
                    </a:lnTo>
                    <a:lnTo>
                      <a:pt x="68" y="50"/>
                    </a:lnTo>
                    <a:lnTo>
                      <a:pt x="68" y="12"/>
                    </a:lnTo>
                    <a:lnTo>
                      <a:pt x="50" y="0"/>
                    </a:lnTo>
                    <a:lnTo>
                      <a:pt x="37" y="0"/>
                    </a:lnTo>
                    <a:lnTo>
                      <a:pt x="25" y="31"/>
                    </a:lnTo>
                    <a:lnTo>
                      <a:pt x="6" y="6"/>
                    </a:lnTo>
                    <a:lnTo>
                      <a:pt x="0" y="6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00" name="Freeform 180">
                <a:extLst>
                  <a:ext uri="{FF2B5EF4-FFF2-40B4-BE49-F238E27FC236}">
                    <a16:creationId xmlns:a16="http://schemas.microsoft.com/office/drawing/2014/main" id="{5D854296-D45F-4E9E-B132-AB076CFB1B5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381445" y="1834047"/>
                <a:ext cx="48404" cy="32882"/>
              </a:xfrm>
              <a:custGeom>
                <a:avLst/>
                <a:gdLst>
                  <a:gd name="T0" fmla="*/ 0 w 19"/>
                  <a:gd name="T1" fmla="*/ 18 h 19"/>
                  <a:gd name="T2" fmla="*/ 18 w 19"/>
                  <a:gd name="T3" fmla="*/ 18 h 19"/>
                  <a:gd name="T4" fmla="*/ 9 w 19"/>
                  <a:gd name="T5" fmla="*/ 0 h 19"/>
                  <a:gd name="T6" fmla="*/ 0 w 19"/>
                  <a:gd name="T7" fmla="*/ 18 h 1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"/>
                  <a:gd name="T13" fmla="*/ 0 h 19"/>
                  <a:gd name="T14" fmla="*/ 19 w 19"/>
                  <a:gd name="T15" fmla="*/ 19 h 1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9" h="19">
                    <a:moveTo>
                      <a:pt x="0" y="18"/>
                    </a:moveTo>
                    <a:lnTo>
                      <a:pt x="18" y="18"/>
                    </a:lnTo>
                    <a:lnTo>
                      <a:pt x="9" y="0"/>
                    </a:lnTo>
                    <a:lnTo>
                      <a:pt x="0" y="18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01" name="Freeform 181">
                <a:extLst>
                  <a:ext uri="{FF2B5EF4-FFF2-40B4-BE49-F238E27FC236}">
                    <a16:creationId xmlns:a16="http://schemas.microsoft.com/office/drawing/2014/main" id="{6C9F4837-743E-4C4A-BAC4-76EFF2EED7B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159795" y="1652334"/>
                <a:ext cx="81528" cy="53650"/>
              </a:xfrm>
              <a:custGeom>
                <a:avLst/>
                <a:gdLst>
                  <a:gd name="T0" fmla="*/ 0 w 32"/>
                  <a:gd name="T1" fmla="*/ 12 h 31"/>
                  <a:gd name="T2" fmla="*/ 0 w 32"/>
                  <a:gd name="T3" fmla="*/ 24 h 31"/>
                  <a:gd name="T4" fmla="*/ 19 w 32"/>
                  <a:gd name="T5" fmla="*/ 30 h 31"/>
                  <a:gd name="T6" fmla="*/ 31 w 32"/>
                  <a:gd name="T7" fmla="*/ 18 h 31"/>
                  <a:gd name="T8" fmla="*/ 31 w 32"/>
                  <a:gd name="T9" fmla="*/ 0 h 31"/>
                  <a:gd name="T10" fmla="*/ 0 w 32"/>
                  <a:gd name="T11" fmla="*/ 12 h 3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2"/>
                  <a:gd name="T19" fmla="*/ 0 h 31"/>
                  <a:gd name="T20" fmla="*/ 32 w 32"/>
                  <a:gd name="T21" fmla="*/ 31 h 3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2" h="31">
                    <a:moveTo>
                      <a:pt x="0" y="12"/>
                    </a:moveTo>
                    <a:lnTo>
                      <a:pt x="0" y="24"/>
                    </a:lnTo>
                    <a:lnTo>
                      <a:pt x="19" y="30"/>
                    </a:lnTo>
                    <a:lnTo>
                      <a:pt x="31" y="18"/>
                    </a:lnTo>
                    <a:lnTo>
                      <a:pt x="31" y="0"/>
                    </a:lnTo>
                    <a:lnTo>
                      <a:pt x="0" y="12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02" name="Freeform 182">
                <a:extLst>
                  <a:ext uri="{FF2B5EF4-FFF2-40B4-BE49-F238E27FC236}">
                    <a16:creationId xmlns:a16="http://schemas.microsoft.com/office/drawing/2014/main" id="{D3DE0A27-6840-4A88-883A-838680E4C9F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004383" y="1789051"/>
                <a:ext cx="48404" cy="43264"/>
              </a:xfrm>
              <a:custGeom>
                <a:avLst/>
                <a:gdLst>
                  <a:gd name="T0" fmla="*/ 0 w 19"/>
                  <a:gd name="T1" fmla="*/ 24 h 25"/>
                  <a:gd name="T2" fmla="*/ 12 w 19"/>
                  <a:gd name="T3" fmla="*/ 24 h 25"/>
                  <a:gd name="T4" fmla="*/ 18 w 19"/>
                  <a:gd name="T5" fmla="*/ 0 h 25"/>
                  <a:gd name="T6" fmla="*/ 0 w 19"/>
                  <a:gd name="T7" fmla="*/ 24 h 2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"/>
                  <a:gd name="T13" fmla="*/ 0 h 25"/>
                  <a:gd name="T14" fmla="*/ 19 w 19"/>
                  <a:gd name="T15" fmla="*/ 25 h 2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9" h="25">
                    <a:moveTo>
                      <a:pt x="0" y="24"/>
                    </a:moveTo>
                    <a:lnTo>
                      <a:pt x="12" y="24"/>
                    </a:lnTo>
                    <a:lnTo>
                      <a:pt x="18" y="0"/>
                    </a:lnTo>
                    <a:lnTo>
                      <a:pt x="0" y="24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03" name="Freeform 183">
                <a:extLst>
                  <a:ext uri="{FF2B5EF4-FFF2-40B4-BE49-F238E27FC236}">
                    <a16:creationId xmlns:a16="http://schemas.microsoft.com/office/drawing/2014/main" id="{96AC50A7-3C9F-4223-9190-669FD989F05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892286" y="1683485"/>
                <a:ext cx="221651" cy="128065"/>
              </a:xfrm>
              <a:custGeom>
                <a:avLst/>
                <a:gdLst>
                  <a:gd name="T0" fmla="*/ 0 w 87"/>
                  <a:gd name="T1" fmla="*/ 55 h 74"/>
                  <a:gd name="T2" fmla="*/ 6 w 87"/>
                  <a:gd name="T3" fmla="*/ 73 h 74"/>
                  <a:gd name="T4" fmla="*/ 31 w 87"/>
                  <a:gd name="T5" fmla="*/ 73 h 74"/>
                  <a:gd name="T6" fmla="*/ 49 w 87"/>
                  <a:gd name="T7" fmla="*/ 49 h 74"/>
                  <a:gd name="T8" fmla="*/ 62 w 87"/>
                  <a:gd name="T9" fmla="*/ 55 h 74"/>
                  <a:gd name="T10" fmla="*/ 80 w 87"/>
                  <a:gd name="T11" fmla="*/ 36 h 74"/>
                  <a:gd name="T12" fmla="*/ 74 w 87"/>
                  <a:gd name="T13" fmla="*/ 24 h 74"/>
                  <a:gd name="T14" fmla="*/ 86 w 87"/>
                  <a:gd name="T15" fmla="*/ 12 h 74"/>
                  <a:gd name="T16" fmla="*/ 74 w 87"/>
                  <a:gd name="T17" fmla="*/ 0 h 74"/>
                  <a:gd name="T18" fmla="*/ 62 w 87"/>
                  <a:gd name="T19" fmla="*/ 12 h 74"/>
                  <a:gd name="T20" fmla="*/ 43 w 87"/>
                  <a:gd name="T21" fmla="*/ 12 h 74"/>
                  <a:gd name="T22" fmla="*/ 0 w 87"/>
                  <a:gd name="T23" fmla="*/ 55 h 7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87"/>
                  <a:gd name="T37" fmla="*/ 0 h 74"/>
                  <a:gd name="T38" fmla="*/ 87 w 87"/>
                  <a:gd name="T39" fmla="*/ 74 h 74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87" h="74">
                    <a:moveTo>
                      <a:pt x="0" y="55"/>
                    </a:moveTo>
                    <a:lnTo>
                      <a:pt x="6" y="73"/>
                    </a:lnTo>
                    <a:lnTo>
                      <a:pt x="31" y="73"/>
                    </a:lnTo>
                    <a:lnTo>
                      <a:pt x="49" y="49"/>
                    </a:lnTo>
                    <a:lnTo>
                      <a:pt x="62" y="55"/>
                    </a:lnTo>
                    <a:lnTo>
                      <a:pt x="80" y="36"/>
                    </a:lnTo>
                    <a:lnTo>
                      <a:pt x="74" y="24"/>
                    </a:lnTo>
                    <a:lnTo>
                      <a:pt x="86" y="12"/>
                    </a:lnTo>
                    <a:lnTo>
                      <a:pt x="74" y="0"/>
                    </a:lnTo>
                    <a:lnTo>
                      <a:pt x="62" y="12"/>
                    </a:lnTo>
                    <a:lnTo>
                      <a:pt x="43" y="12"/>
                    </a:lnTo>
                    <a:lnTo>
                      <a:pt x="0" y="55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04" name="Freeform 184">
                <a:extLst>
                  <a:ext uri="{FF2B5EF4-FFF2-40B4-BE49-F238E27FC236}">
                    <a16:creationId xmlns:a16="http://schemas.microsoft.com/office/drawing/2014/main" id="{CA2906A7-3CC1-4B85-92E9-0D38D31C714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050244" y="1737132"/>
                <a:ext cx="300631" cy="171331"/>
              </a:xfrm>
              <a:custGeom>
                <a:avLst/>
                <a:gdLst>
                  <a:gd name="T0" fmla="*/ 0 w 118"/>
                  <a:gd name="T1" fmla="*/ 68 h 99"/>
                  <a:gd name="T2" fmla="*/ 24 w 118"/>
                  <a:gd name="T3" fmla="*/ 74 h 99"/>
                  <a:gd name="T4" fmla="*/ 37 w 118"/>
                  <a:gd name="T5" fmla="*/ 68 h 99"/>
                  <a:gd name="T6" fmla="*/ 43 w 118"/>
                  <a:gd name="T7" fmla="*/ 80 h 99"/>
                  <a:gd name="T8" fmla="*/ 31 w 118"/>
                  <a:gd name="T9" fmla="*/ 86 h 99"/>
                  <a:gd name="T10" fmla="*/ 37 w 118"/>
                  <a:gd name="T11" fmla="*/ 92 h 99"/>
                  <a:gd name="T12" fmla="*/ 49 w 118"/>
                  <a:gd name="T13" fmla="*/ 98 h 99"/>
                  <a:gd name="T14" fmla="*/ 80 w 118"/>
                  <a:gd name="T15" fmla="*/ 74 h 99"/>
                  <a:gd name="T16" fmla="*/ 117 w 118"/>
                  <a:gd name="T17" fmla="*/ 74 h 99"/>
                  <a:gd name="T18" fmla="*/ 117 w 118"/>
                  <a:gd name="T19" fmla="*/ 43 h 99"/>
                  <a:gd name="T20" fmla="*/ 93 w 118"/>
                  <a:gd name="T21" fmla="*/ 24 h 99"/>
                  <a:gd name="T22" fmla="*/ 86 w 118"/>
                  <a:gd name="T23" fmla="*/ 0 h 99"/>
                  <a:gd name="T24" fmla="*/ 68 w 118"/>
                  <a:gd name="T25" fmla="*/ 24 h 99"/>
                  <a:gd name="T26" fmla="*/ 80 w 118"/>
                  <a:gd name="T27" fmla="*/ 30 h 99"/>
                  <a:gd name="T28" fmla="*/ 74 w 118"/>
                  <a:gd name="T29" fmla="*/ 43 h 99"/>
                  <a:gd name="T30" fmla="*/ 80 w 118"/>
                  <a:gd name="T31" fmla="*/ 55 h 99"/>
                  <a:gd name="T32" fmla="*/ 62 w 118"/>
                  <a:gd name="T33" fmla="*/ 55 h 99"/>
                  <a:gd name="T34" fmla="*/ 49 w 118"/>
                  <a:gd name="T35" fmla="*/ 30 h 99"/>
                  <a:gd name="T36" fmla="*/ 18 w 118"/>
                  <a:gd name="T37" fmla="*/ 18 h 99"/>
                  <a:gd name="T38" fmla="*/ 0 w 118"/>
                  <a:gd name="T39" fmla="*/ 68 h 99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18"/>
                  <a:gd name="T61" fmla="*/ 0 h 99"/>
                  <a:gd name="T62" fmla="*/ 118 w 118"/>
                  <a:gd name="T63" fmla="*/ 99 h 99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18" h="99">
                    <a:moveTo>
                      <a:pt x="0" y="68"/>
                    </a:moveTo>
                    <a:lnTo>
                      <a:pt x="24" y="74"/>
                    </a:lnTo>
                    <a:lnTo>
                      <a:pt x="37" y="68"/>
                    </a:lnTo>
                    <a:lnTo>
                      <a:pt x="43" y="80"/>
                    </a:lnTo>
                    <a:lnTo>
                      <a:pt x="31" y="86"/>
                    </a:lnTo>
                    <a:lnTo>
                      <a:pt x="37" y="92"/>
                    </a:lnTo>
                    <a:lnTo>
                      <a:pt x="49" y="98"/>
                    </a:lnTo>
                    <a:lnTo>
                      <a:pt x="80" y="74"/>
                    </a:lnTo>
                    <a:lnTo>
                      <a:pt x="117" y="74"/>
                    </a:lnTo>
                    <a:lnTo>
                      <a:pt x="117" y="43"/>
                    </a:lnTo>
                    <a:lnTo>
                      <a:pt x="93" y="24"/>
                    </a:lnTo>
                    <a:lnTo>
                      <a:pt x="86" y="0"/>
                    </a:lnTo>
                    <a:lnTo>
                      <a:pt x="68" y="24"/>
                    </a:lnTo>
                    <a:lnTo>
                      <a:pt x="80" y="30"/>
                    </a:lnTo>
                    <a:lnTo>
                      <a:pt x="74" y="43"/>
                    </a:lnTo>
                    <a:lnTo>
                      <a:pt x="80" y="55"/>
                    </a:lnTo>
                    <a:lnTo>
                      <a:pt x="62" y="55"/>
                    </a:lnTo>
                    <a:lnTo>
                      <a:pt x="49" y="30"/>
                    </a:lnTo>
                    <a:lnTo>
                      <a:pt x="18" y="18"/>
                    </a:lnTo>
                    <a:lnTo>
                      <a:pt x="0" y="68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05" name="Freeform 185">
                <a:extLst>
                  <a:ext uri="{FF2B5EF4-FFF2-40B4-BE49-F238E27FC236}">
                    <a16:creationId xmlns:a16="http://schemas.microsoft.com/office/drawing/2014/main" id="{CA2C915A-1E2A-476A-B163-3DCC36039CB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429852" y="1918848"/>
                <a:ext cx="175793" cy="162678"/>
              </a:xfrm>
              <a:custGeom>
                <a:avLst/>
                <a:gdLst>
                  <a:gd name="T0" fmla="*/ 0 w 69"/>
                  <a:gd name="T1" fmla="*/ 43 h 94"/>
                  <a:gd name="T2" fmla="*/ 6 w 69"/>
                  <a:gd name="T3" fmla="*/ 68 h 94"/>
                  <a:gd name="T4" fmla="*/ 18 w 69"/>
                  <a:gd name="T5" fmla="*/ 68 h 94"/>
                  <a:gd name="T6" fmla="*/ 37 w 69"/>
                  <a:gd name="T7" fmla="*/ 93 h 94"/>
                  <a:gd name="T8" fmla="*/ 50 w 69"/>
                  <a:gd name="T9" fmla="*/ 87 h 94"/>
                  <a:gd name="T10" fmla="*/ 62 w 69"/>
                  <a:gd name="T11" fmla="*/ 81 h 94"/>
                  <a:gd name="T12" fmla="*/ 68 w 69"/>
                  <a:gd name="T13" fmla="*/ 62 h 94"/>
                  <a:gd name="T14" fmla="*/ 62 w 69"/>
                  <a:gd name="T15" fmla="*/ 43 h 94"/>
                  <a:gd name="T16" fmla="*/ 50 w 69"/>
                  <a:gd name="T17" fmla="*/ 37 h 94"/>
                  <a:gd name="T18" fmla="*/ 56 w 69"/>
                  <a:gd name="T19" fmla="*/ 18 h 94"/>
                  <a:gd name="T20" fmla="*/ 50 w 69"/>
                  <a:gd name="T21" fmla="*/ 0 h 94"/>
                  <a:gd name="T22" fmla="*/ 43 w 69"/>
                  <a:gd name="T23" fmla="*/ 12 h 94"/>
                  <a:gd name="T24" fmla="*/ 25 w 69"/>
                  <a:gd name="T25" fmla="*/ 6 h 94"/>
                  <a:gd name="T26" fmla="*/ 18 w 69"/>
                  <a:gd name="T27" fmla="*/ 12 h 94"/>
                  <a:gd name="T28" fmla="*/ 12 w 69"/>
                  <a:gd name="T29" fmla="*/ 25 h 94"/>
                  <a:gd name="T30" fmla="*/ 25 w 69"/>
                  <a:gd name="T31" fmla="*/ 43 h 94"/>
                  <a:gd name="T32" fmla="*/ 6 w 69"/>
                  <a:gd name="T33" fmla="*/ 37 h 94"/>
                  <a:gd name="T34" fmla="*/ 0 w 69"/>
                  <a:gd name="T35" fmla="*/ 43 h 94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69"/>
                  <a:gd name="T55" fmla="*/ 0 h 94"/>
                  <a:gd name="T56" fmla="*/ 69 w 69"/>
                  <a:gd name="T57" fmla="*/ 94 h 94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69" h="94">
                    <a:moveTo>
                      <a:pt x="0" y="43"/>
                    </a:moveTo>
                    <a:lnTo>
                      <a:pt x="6" y="68"/>
                    </a:lnTo>
                    <a:lnTo>
                      <a:pt x="18" y="68"/>
                    </a:lnTo>
                    <a:lnTo>
                      <a:pt x="37" y="93"/>
                    </a:lnTo>
                    <a:lnTo>
                      <a:pt x="50" y="87"/>
                    </a:lnTo>
                    <a:lnTo>
                      <a:pt x="62" y="81"/>
                    </a:lnTo>
                    <a:lnTo>
                      <a:pt x="68" y="62"/>
                    </a:lnTo>
                    <a:lnTo>
                      <a:pt x="62" y="43"/>
                    </a:lnTo>
                    <a:lnTo>
                      <a:pt x="50" y="37"/>
                    </a:lnTo>
                    <a:lnTo>
                      <a:pt x="56" y="18"/>
                    </a:lnTo>
                    <a:lnTo>
                      <a:pt x="50" y="0"/>
                    </a:lnTo>
                    <a:lnTo>
                      <a:pt x="43" y="12"/>
                    </a:lnTo>
                    <a:lnTo>
                      <a:pt x="25" y="6"/>
                    </a:lnTo>
                    <a:lnTo>
                      <a:pt x="18" y="12"/>
                    </a:lnTo>
                    <a:lnTo>
                      <a:pt x="12" y="25"/>
                    </a:lnTo>
                    <a:lnTo>
                      <a:pt x="25" y="43"/>
                    </a:lnTo>
                    <a:lnTo>
                      <a:pt x="6" y="37"/>
                    </a:lnTo>
                    <a:lnTo>
                      <a:pt x="0" y="43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06" name="Freeform 186">
                <a:extLst>
                  <a:ext uri="{FF2B5EF4-FFF2-40B4-BE49-F238E27FC236}">
                    <a16:creationId xmlns:a16="http://schemas.microsoft.com/office/drawing/2014/main" id="{28EF9F47-1452-43B7-A35E-BB9EC7349F5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019670" y="1951730"/>
                <a:ext cx="461136" cy="269977"/>
              </a:xfrm>
              <a:custGeom>
                <a:avLst/>
                <a:gdLst>
                  <a:gd name="T0" fmla="*/ 0 w 181"/>
                  <a:gd name="T1" fmla="*/ 68 h 156"/>
                  <a:gd name="T2" fmla="*/ 12 w 181"/>
                  <a:gd name="T3" fmla="*/ 74 h 156"/>
                  <a:gd name="T4" fmla="*/ 6 w 181"/>
                  <a:gd name="T5" fmla="*/ 87 h 156"/>
                  <a:gd name="T6" fmla="*/ 18 w 181"/>
                  <a:gd name="T7" fmla="*/ 93 h 156"/>
                  <a:gd name="T8" fmla="*/ 49 w 181"/>
                  <a:gd name="T9" fmla="*/ 93 h 156"/>
                  <a:gd name="T10" fmla="*/ 62 w 181"/>
                  <a:gd name="T11" fmla="*/ 106 h 156"/>
                  <a:gd name="T12" fmla="*/ 49 w 181"/>
                  <a:gd name="T13" fmla="*/ 112 h 156"/>
                  <a:gd name="T14" fmla="*/ 24 w 181"/>
                  <a:gd name="T15" fmla="*/ 112 h 156"/>
                  <a:gd name="T16" fmla="*/ 24 w 181"/>
                  <a:gd name="T17" fmla="*/ 131 h 156"/>
                  <a:gd name="T18" fmla="*/ 37 w 181"/>
                  <a:gd name="T19" fmla="*/ 137 h 156"/>
                  <a:gd name="T20" fmla="*/ 49 w 181"/>
                  <a:gd name="T21" fmla="*/ 137 h 156"/>
                  <a:gd name="T22" fmla="*/ 62 w 181"/>
                  <a:gd name="T23" fmla="*/ 155 h 156"/>
                  <a:gd name="T24" fmla="*/ 93 w 181"/>
                  <a:gd name="T25" fmla="*/ 149 h 156"/>
                  <a:gd name="T26" fmla="*/ 118 w 181"/>
                  <a:gd name="T27" fmla="*/ 137 h 156"/>
                  <a:gd name="T28" fmla="*/ 131 w 181"/>
                  <a:gd name="T29" fmla="*/ 131 h 156"/>
                  <a:gd name="T30" fmla="*/ 149 w 181"/>
                  <a:gd name="T31" fmla="*/ 149 h 156"/>
                  <a:gd name="T32" fmla="*/ 162 w 181"/>
                  <a:gd name="T33" fmla="*/ 143 h 156"/>
                  <a:gd name="T34" fmla="*/ 174 w 181"/>
                  <a:gd name="T35" fmla="*/ 137 h 156"/>
                  <a:gd name="T36" fmla="*/ 168 w 181"/>
                  <a:gd name="T37" fmla="*/ 124 h 156"/>
                  <a:gd name="T38" fmla="*/ 180 w 181"/>
                  <a:gd name="T39" fmla="*/ 124 h 156"/>
                  <a:gd name="T40" fmla="*/ 180 w 181"/>
                  <a:gd name="T41" fmla="*/ 112 h 156"/>
                  <a:gd name="T42" fmla="*/ 156 w 181"/>
                  <a:gd name="T43" fmla="*/ 99 h 156"/>
                  <a:gd name="T44" fmla="*/ 143 w 181"/>
                  <a:gd name="T45" fmla="*/ 87 h 156"/>
                  <a:gd name="T46" fmla="*/ 143 w 181"/>
                  <a:gd name="T47" fmla="*/ 68 h 156"/>
                  <a:gd name="T48" fmla="*/ 137 w 181"/>
                  <a:gd name="T49" fmla="*/ 37 h 156"/>
                  <a:gd name="T50" fmla="*/ 149 w 181"/>
                  <a:gd name="T51" fmla="*/ 6 h 156"/>
                  <a:gd name="T52" fmla="*/ 143 w 181"/>
                  <a:gd name="T53" fmla="*/ 0 h 156"/>
                  <a:gd name="T54" fmla="*/ 124 w 181"/>
                  <a:gd name="T55" fmla="*/ 0 h 156"/>
                  <a:gd name="T56" fmla="*/ 112 w 181"/>
                  <a:gd name="T57" fmla="*/ 31 h 156"/>
                  <a:gd name="T58" fmla="*/ 93 w 181"/>
                  <a:gd name="T59" fmla="*/ 24 h 156"/>
                  <a:gd name="T60" fmla="*/ 81 w 181"/>
                  <a:gd name="T61" fmla="*/ 31 h 156"/>
                  <a:gd name="T62" fmla="*/ 68 w 181"/>
                  <a:gd name="T63" fmla="*/ 18 h 156"/>
                  <a:gd name="T64" fmla="*/ 56 w 181"/>
                  <a:gd name="T65" fmla="*/ 31 h 156"/>
                  <a:gd name="T66" fmla="*/ 56 w 181"/>
                  <a:gd name="T67" fmla="*/ 12 h 156"/>
                  <a:gd name="T68" fmla="*/ 43 w 181"/>
                  <a:gd name="T69" fmla="*/ 12 h 156"/>
                  <a:gd name="T70" fmla="*/ 12 w 181"/>
                  <a:gd name="T71" fmla="*/ 37 h 156"/>
                  <a:gd name="T72" fmla="*/ 12 w 181"/>
                  <a:gd name="T73" fmla="*/ 43 h 156"/>
                  <a:gd name="T74" fmla="*/ 0 w 181"/>
                  <a:gd name="T75" fmla="*/ 56 h 156"/>
                  <a:gd name="T76" fmla="*/ 0 w 181"/>
                  <a:gd name="T77" fmla="*/ 68 h 15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181"/>
                  <a:gd name="T118" fmla="*/ 0 h 156"/>
                  <a:gd name="T119" fmla="*/ 181 w 181"/>
                  <a:gd name="T120" fmla="*/ 156 h 156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181" h="156">
                    <a:moveTo>
                      <a:pt x="0" y="68"/>
                    </a:moveTo>
                    <a:lnTo>
                      <a:pt x="12" y="74"/>
                    </a:lnTo>
                    <a:lnTo>
                      <a:pt x="6" y="87"/>
                    </a:lnTo>
                    <a:lnTo>
                      <a:pt x="18" y="93"/>
                    </a:lnTo>
                    <a:lnTo>
                      <a:pt x="49" y="93"/>
                    </a:lnTo>
                    <a:lnTo>
                      <a:pt x="62" y="106"/>
                    </a:lnTo>
                    <a:lnTo>
                      <a:pt x="49" y="112"/>
                    </a:lnTo>
                    <a:lnTo>
                      <a:pt x="24" y="112"/>
                    </a:lnTo>
                    <a:lnTo>
                      <a:pt x="24" y="131"/>
                    </a:lnTo>
                    <a:lnTo>
                      <a:pt x="37" y="137"/>
                    </a:lnTo>
                    <a:lnTo>
                      <a:pt x="49" y="137"/>
                    </a:lnTo>
                    <a:lnTo>
                      <a:pt x="62" y="155"/>
                    </a:lnTo>
                    <a:lnTo>
                      <a:pt x="93" y="149"/>
                    </a:lnTo>
                    <a:lnTo>
                      <a:pt x="118" y="137"/>
                    </a:lnTo>
                    <a:lnTo>
                      <a:pt x="131" y="131"/>
                    </a:lnTo>
                    <a:lnTo>
                      <a:pt x="149" y="149"/>
                    </a:lnTo>
                    <a:lnTo>
                      <a:pt x="162" y="143"/>
                    </a:lnTo>
                    <a:lnTo>
                      <a:pt x="174" y="137"/>
                    </a:lnTo>
                    <a:lnTo>
                      <a:pt x="168" y="124"/>
                    </a:lnTo>
                    <a:lnTo>
                      <a:pt x="180" y="124"/>
                    </a:lnTo>
                    <a:lnTo>
                      <a:pt x="180" y="112"/>
                    </a:lnTo>
                    <a:lnTo>
                      <a:pt x="156" y="99"/>
                    </a:lnTo>
                    <a:lnTo>
                      <a:pt x="143" y="87"/>
                    </a:lnTo>
                    <a:lnTo>
                      <a:pt x="143" y="68"/>
                    </a:lnTo>
                    <a:lnTo>
                      <a:pt x="137" y="37"/>
                    </a:lnTo>
                    <a:lnTo>
                      <a:pt x="149" y="6"/>
                    </a:lnTo>
                    <a:lnTo>
                      <a:pt x="143" y="0"/>
                    </a:lnTo>
                    <a:lnTo>
                      <a:pt x="124" y="0"/>
                    </a:lnTo>
                    <a:lnTo>
                      <a:pt x="112" y="31"/>
                    </a:lnTo>
                    <a:lnTo>
                      <a:pt x="93" y="24"/>
                    </a:lnTo>
                    <a:lnTo>
                      <a:pt x="81" y="31"/>
                    </a:lnTo>
                    <a:lnTo>
                      <a:pt x="68" y="18"/>
                    </a:lnTo>
                    <a:lnTo>
                      <a:pt x="56" y="31"/>
                    </a:lnTo>
                    <a:lnTo>
                      <a:pt x="56" y="12"/>
                    </a:lnTo>
                    <a:lnTo>
                      <a:pt x="43" y="12"/>
                    </a:lnTo>
                    <a:lnTo>
                      <a:pt x="12" y="37"/>
                    </a:lnTo>
                    <a:lnTo>
                      <a:pt x="12" y="43"/>
                    </a:lnTo>
                    <a:lnTo>
                      <a:pt x="0" y="56"/>
                    </a:lnTo>
                    <a:lnTo>
                      <a:pt x="0" y="68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07" name="Freeform 187">
                <a:extLst>
                  <a:ext uri="{FF2B5EF4-FFF2-40B4-BE49-F238E27FC236}">
                    <a16:creationId xmlns:a16="http://schemas.microsoft.com/office/drawing/2014/main" id="{84E40007-6465-4DE0-99F5-92238BEF8E6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861713" y="1898081"/>
                <a:ext cx="252222" cy="193829"/>
              </a:xfrm>
              <a:custGeom>
                <a:avLst/>
                <a:gdLst>
                  <a:gd name="T0" fmla="*/ 0 w 99"/>
                  <a:gd name="T1" fmla="*/ 87 h 112"/>
                  <a:gd name="T2" fmla="*/ 12 w 99"/>
                  <a:gd name="T3" fmla="*/ 99 h 112"/>
                  <a:gd name="T4" fmla="*/ 18 w 99"/>
                  <a:gd name="T5" fmla="*/ 111 h 112"/>
                  <a:gd name="T6" fmla="*/ 43 w 99"/>
                  <a:gd name="T7" fmla="*/ 105 h 112"/>
                  <a:gd name="T8" fmla="*/ 55 w 99"/>
                  <a:gd name="T9" fmla="*/ 87 h 112"/>
                  <a:gd name="T10" fmla="*/ 61 w 99"/>
                  <a:gd name="T11" fmla="*/ 68 h 112"/>
                  <a:gd name="T12" fmla="*/ 98 w 99"/>
                  <a:gd name="T13" fmla="*/ 37 h 112"/>
                  <a:gd name="T14" fmla="*/ 86 w 99"/>
                  <a:gd name="T15" fmla="*/ 24 h 112"/>
                  <a:gd name="T16" fmla="*/ 74 w 99"/>
                  <a:gd name="T17" fmla="*/ 12 h 112"/>
                  <a:gd name="T18" fmla="*/ 55 w 99"/>
                  <a:gd name="T19" fmla="*/ 12 h 112"/>
                  <a:gd name="T20" fmla="*/ 37 w 99"/>
                  <a:gd name="T21" fmla="*/ 0 h 112"/>
                  <a:gd name="T22" fmla="*/ 6 w 99"/>
                  <a:gd name="T23" fmla="*/ 18 h 112"/>
                  <a:gd name="T24" fmla="*/ 12 w 99"/>
                  <a:gd name="T25" fmla="*/ 37 h 112"/>
                  <a:gd name="T26" fmla="*/ 12 w 99"/>
                  <a:gd name="T27" fmla="*/ 55 h 112"/>
                  <a:gd name="T28" fmla="*/ 0 w 99"/>
                  <a:gd name="T29" fmla="*/ 87 h 11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99"/>
                  <a:gd name="T46" fmla="*/ 0 h 112"/>
                  <a:gd name="T47" fmla="*/ 99 w 99"/>
                  <a:gd name="T48" fmla="*/ 112 h 112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99" h="112">
                    <a:moveTo>
                      <a:pt x="0" y="87"/>
                    </a:moveTo>
                    <a:lnTo>
                      <a:pt x="12" y="99"/>
                    </a:lnTo>
                    <a:lnTo>
                      <a:pt x="18" y="111"/>
                    </a:lnTo>
                    <a:lnTo>
                      <a:pt x="43" y="105"/>
                    </a:lnTo>
                    <a:lnTo>
                      <a:pt x="55" y="87"/>
                    </a:lnTo>
                    <a:lnTo>
                      <a:pt x="61" y="68"/>
                    </a:lnTo>
                    <a:lnTo>
                      <a:pt x="98" y="37"/>
                    </a:lnTo>
                    <a:lnTo>
                      <a:pt x="86" y="24"/>
                    </a:lnTo>
                    <a:lnTo>
                      <a:pt x="74" y="12"/>
                    </a:lnTo>
                    <a:lnTo>
                      <a:pt x="55" y="12"/>
                    </a:lnTo>
                    <a:lnTo>
                      <a:pt x="37" y="0"/>
                    </a:lnTo>
                    <a:lnTo>
                      <a:pt x="6" y="18"/>
                    </a:lnTo>
                    <a:lnTo>
                      <a:pt x="12" y="37"/>
                    </a:lnTo>
                    <a:lnTo>
                      <a:pt x="12" y="55"/>
                    </a:lnTo>
                    <a:lnTo>
                      <a:pt x="0" y="87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08" name="Freeform 188">
                <a:extLst>
                  <a:ext uri="{FF2B5EF4-FFF2-40B4-BE49-F238E27FC236}">
                    <a16:creationId xmlns:a16="http://schemas.microsoft.com/office/drawing/2014/main" id="{4B831570-EDAA-40F1-BDEA-D5FEE4BE056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866626" y="2424188"/>
                <a:ext cx="78978" cy="32882"/>
              </a:xfrm>
              <a:custGeom>
                <a:avLst/>
                <a:gdLst>
                  <a:gd name="T0" fmla="*/ 0 w 31"/>
                  <a:gd name="T1" fmla="*/ 0 h 19"/>
                  <a:gd name="T2" fmla="*/ 12 w 31"/>
                  <a:gd name="T3" fmla="*/ 0 h 19"/>
                  <a:gd name="T4" fmla="*/ 30 w 31"/>
                  <a:gd name="T5" fmla="*/ 9 h 19"/>
                  <a:gd name="T6" fmla="*/ 18 w 31"/>
                  <a:gd name="T7" fmla="*/ 18 h 19"/>
                  <a:gd name="T8" fmla="*/ 12 w 31"/>
                  <a:gd name="T9" fmla="*/ 9 h 19"/>
                  <a:gd name="T10" fmla="*/ 0 w 31"/>
                  <a:gd name="T11" fmla="*/ 9 h 19"/>
                  <a:gd name="T12" fmla="*/ 0 w 31"/>
                  <a:gd name="T13" fmla="*/ 0 h 1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1"/>
                  <a:gd name="T22" fmla="*/ 0 h 19"/>
                  <a:gd name="T23" fmla="*/ 31 w 31"/>
                  <a:gd name="T24" fmla="*/ 19 h 1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1" h="19">
                    <a:moveTo>
                      <a:pt x="0" y="0"/>
                    </a:moveTo>
                    <a:lnTo>
                      <a:pt x="12" y="0"/>
                    </a:lnTo>
                    <a:lnTo>
                      <a:pt x="30" y="9"/>
                    </a:lnTo>
                    <a:lnTo>
                      <a:pt x="18" y="18"/>
                    </a:lnTo>
                    <a:lnTo>
                      <a:pt x="12" y="9"/>
                    </a:lnTo>
                    <a:lnTo>
                      <a:pt x="0" y="9"/>
                    </a:lnTo>
                    <a:lnTo>
                      <a:pt x="0" y="0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09" name="Freeform 189">
                <a:extLst>
                  <a:ext uri="{FF2B5EF4-FFF2-40B4-BE49-F238E27FC236}">
                    <a16:creationId xmlns:a16="http://schemas.microsoft.com/office/drawing/2014/main" id="{8246A7B5-83EF-4B9D-870E-7100579A71A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784027" y="2543600"/>
                <a:ext cx="48404" cy="32882"/>
              </a:xfrm>
              <a:custGeom>
                <a:avLst/>
                <a:gdLst>
                  <a:gd name="T0" fmla="*/ 0 w 19"/>
                  <a:gd name="T1" fmla="*/ 9 h 19"/>
                  <a:gd name="T2" fmla="*/ 12 w 19"/>
                  <a:gd name="T3" fmla="*/ 18 h 19"/>
                  <a:gd name="T4" fmla="*/ 18 w 19"/>
                  <a:gd name="T5" fmla="*/ 9 h 19"/>
                  <a:gd name="T6" fmla="*/ 12 w 19"/>
                  <a:gd name="T7" fmla="*/ 0 h 19"/>
                  <a:gd name="T8" fmla="*/ 0 w 19"/>
                  <a:gd name="T9" fmla="*/ 9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"/>
                  <a:gd name="T16" fmla="*/ 0 h 19"/>
                  <a:gd name="T17" fmla="*/ 19 w 19"/>
                  <a:gd name="T18" fmla="*/ 19 h 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" h="19">
                    <a:moveTo>
                      <a:pt x="0" y="9"/>
                    </a:moveTo>
                    <a:lnTo>
                      <a:pt x="12" y="18"/>
                    </a:lnTo>
                    <a:lnTo>
                      <a:pt x="18" y="9"/>
                    </a:lnTo>
                    <a:lnTo>
                      <a:pt x="12" y="0"/>
                    </a:lnTo>
                    <a:lnTo>
                      <a:pt x="0" y="9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10" name="Freeform 190">
                <a:extLst>
                  <a:ext uri="{FF2B5EF4-FFF2-40B4-BE49-F238E27FC236}">
                    <a16:creationId xmlns:a16="http://schemas.microsoft.com/office/drawing/2014/main" id="{870C2A2C-3991-449C-B951-0F68D06CCAF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99944" y="2607633"/>
                <a:ext cx="63693" cy="55380"/>
              </a:xfrm>
              <a:custGeom>
                <a:avLst/>
                <a:gdLst>
                  <a:gd name="T0" fmla="*/ 0 w 25"/>
                  <a:gd name="T1" fmla="*/ 25 h 32"/>
                  <a:gd name="T2" fmla="*/ 6 w 25"/>
                  <a:gd name="T3" fmla="*/ 31 h 32"/>
                  <a:gd name="T4" fmla="*/ 18 w 25"/>
                  <a:gd name="T5" fmla="*/ 25 h 32"/>
                  <a:gd name="T6" fmla="*/ 24 w 25"/>
                  <a:gd name="T7" fmla="*/ 18 h 32"/>
                  <a:gd name="T8" fmla="*/ 24 w 25"/>
                  <a:gd name="T9" fmla="*/ 12 h 32"/>
                  <a:gd name="T10" fmla="*/ 18 w 25"/>
                  <a:gd name="T11" fmla="*/ 12 h 32"/>
                  <a:gd name="T12" fmla="*/ 24 w 25"/>
                  <a:gd name="T13" fmla="*/ 6 h 32"/>
                  <a:gd name="T14" fmla="*/ 24 w 25"/>
                  <a:gd name="T15" fmla="*/ 0 h 32"/>
                  <a:gd name="T16" fmla="*/ 0 w 25"/>
                  <a:gd name="T17" fmla="*/ 25 h 3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5"/>
                  <a:gd name="T28" fmla="*/ 0 h 32"/>
                  <a:gd name="T29" fmla="*/ 25 w 25"/>
                  <a:gd name="T30" fmla="*/ 32 h 32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5" h="32">
                    <a:moveTo>
                      <a:pt x="0" y="25"/>
                    </a:moveTo>
                    <a:lnTo>
                      <a:pt x="6" y="31"/>
                    </a:lnTo>
                    <a:lnTo>
                      <a:pt x="18" y="25"/>
                    </a:lnTo>
                    <a:lnTo>
                      <a:pt x="24" y="18"/>
                    </a:lnTo>
                    <a:lnTo>
                      <a:pt x="24" y="12"/>
                    </a:lnTo>
                    <a:lnTo>
                      <a:pt x="18" y="12"/>
                    </a:lnTo>
                    <a:lnTo>
                      <a:pt x="24" y="6"/>
                    </a:lnTo>
                    <a:lnTo>
                      <a:pt x="24" y="0"/>
                    </a:lnTo>
                    <a:lnTo>
                      <a:pt x="0" y="25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11" name="Freeform 191">
                <a:extLst>
                  <a:ext uri="{FF2B5EF4-FFF2-40B4-BE49-F238E27FC236}">
                    <a16:creationId xmlns:a16="http://schemas.microsoft.com/office/drawing/2014/main" id="{A9593FEB-57FF-4FD9-879A-6068600A128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657894" y="2739158"/>
                <a:ext cx="63693" cy="64032"/>
              </a:xfrm>
              <a:custGeom>
                <a:avLst/>
                <a:gdLst>
                  <a:gd name="T0" fmla="*/ 0 w 25"/>
                  <a:gd name="T1" fmla="*/ 0 h 37"/>
                  <a:gd name="T2" fmla="*/ 0 w 25"/>
                  <a:gd name="T3" fmla="*/ 12 h 37"/>
                  <a:gd name="T4" fmla="*/ 12 w 25"/>
                  <a:gd name="T5" fmla="*/ 30 h 37"/>
                  <a:gd name="T6" fmla="*/ 24 w 25"/>
                  <a:gd name="T7" fmla="*/ 36 h 37"/>
                  <a:gd name="T8" fmla="*/ 12 w 25"/>
                  <a:gd name="T9" fmla="*/ 24 h 37"/>
                  <a:gd name="T10" fmla="*/ 12 w 25"/>
                  <a:gd name="T11" fmla="*/ 18 h 37"/>
                  <a:gd name="T12" fmla="*/ 12 w 25"/>
                  <a:gd name="T13" fmla="*/ 12 h 37"/>
                  <a:gd name="T14" fmla="*/ 12 w 25"/>
                  <a:gd name="T15" fmla="*/ 0 h 37"/>
                  <a:gd name="T16" fmla="*/ 0 w 25"/>
                  <a:gd name="T17" fmla="*/ 0 h 3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5"/>
                  <a:gd name="T28" fmla="*/ 0 h 37"/>
                  <a:gd name="T29" fmla="*/ 25 w 25"/>
                  <a:gd name="T30" fmla="*/ 37 h 37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5" h="37">
                    <a:moveTo>
                      <a:pt x="0" y="0"/>
                    </a:moveTo>
                    <a:lnTo>
                      <a:pt x="0" y="12"/>
                    </a:lnTo>
                    <a:lnTo>
                      <a:pt x="12" y="30"/>
                    </a:lnTo>
                    <a:lnTo>
                      <a:pt x="24" y="36"/>
                    </a:lnTo>
                    <a:lnTo>
                      <a:pt x="12" y="24"/>
                    </a:lnTo>
                    <a:lnTo>
                      <a:pt x="12" y="18"/>
                    </a:lnTo>
                    <a:lnTo>
                      <a:pt x="12" y="12"/>
                    </a:lnTo>
                    <a:lnTo>
                      <a:pt x="12" y="0"/>
                    </a:lnTo>
                    <a:lnTo>
                      <a:pt x="0" y="0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12" name="Freeform 192">
                <a:extLst>
                  <a:ext uri="{FF2B5EF4-FFF2-40B4-BE49-F238E27FC236}">
                    <a16:creationId xmlns:a16="http://schemas.microsoft.com/office/drawing/2014/main" id="{63516999-101B-497F-BC75-C93B030CAAD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782732" y="2834343"/>
                <a:ext cx="124836" cy="64032"/>
              </a:xfrm>
              <a:custGeom>
                <a:avLst/>
                <a:gdLst>
                  <a:gd name="T0" fmla="*/ 0 w 49"/>
                  <a:gd name="T1" fmla="*/ 6 h 37"/>
                  <a:gd name="T2" fmla="*/ 6 w 49"/>
                  <a:gd name="T3" fmla="*/ 12 h 37"/>
                  <a:gd name="T4" fmla="*/ 18 w 49"/>
                  <a:gd name="T5" fmla="*/ 18 h 37"/>
                  <a:gd name="T6" fmla="*/ 18 w 49"/>
                  <a:gd name="T7" fmla="*/ 24 h 37"/>
                  <a:gd name="T8" fmla="*/ 30 w 49"/>
                  <a:gd name="T9" fmla="*/ 30 h 37"/>
                  <a:gd name="T10" fmla="*/ 42 w 49"/>
                  <a:gd name="T11" fmla="*/ 36 h 37"/>
                  <a:gd name="T12" fmla="*/ 48 w 49"/>
                  <a:gd name="T13" fmla="*/ 36 h 37"/>
                  <a:gd name="T14" fmla="*/ 24 w 49"/>
                  <a:gd name="T15" fmla="*/ 12 h 37"/>
                  <a:gd name="T16" fmla="*/ 0 w 49"/>
                  <a:gd name="T17" fmla="*/ 0 h 37"/>
                  <a:gd name="T18" fmla="*/ 0 w 49"/>
                  <a:gd name="T19" fmla="*/ 6 h 3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49"/>
                  <a:gd name="T31" fmla="*/ 0 h 37"/>
                  <a:gd name="T32" fmla="*/ 49 w 49"/>
                  <a:gd name="T33" fmla="*/ 37 h 3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49" h="37">
                    <a:moveTo>
                      <a:pt x="0" y="6"/>
                    </a:moveTo>
                    <a:lnTo>
                      <a:pt x="6" y="12"/>
                    </a:lnTo>
                    <a:lnTo>
                      <a:pt x="18" y="18"/>
                    </a:lnTo>
                    <a:lnTo>
                      <a:pt x="18" y="24"/>
                    </a:lnTo>
                    <a:lnTo>
                      <a:pt x="30" y="30"/>
                    </a:lnTo>
                    <a:lnTo>
                      <a:pt x="42" y="36"/>
                    </a:lnTo>
                    <a:lnTo>
                      <a:pt x="48" y="36"/>
                    </a:lnTo>
                    <a:lnTo>
                      <a:pt x="24" y="12"/>
                    </a:lnTo>
                    <a:lnTo>
                      <a:pt x="0" y="0"/>
                    </a:lnTo>
                    <a:lnTo>
                      <a:pt x="0" y="6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13" name="Freeform 193">
                <a:extLst>
                  <a:ext uri="{FF2B5EF4-FFF2-40B4-BE49-F238E27FC236}">
                    <a16:creationId xmlns:a16="http://schemas.microsoft.com/office/drawing/2014/main" id="{B4C86237-B44F-47DA-A81E-56427DD936F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439998" y="2306505"/>
                <a:ext cx="270060" cy="129797"/>
              </a:xfrm>
              <a:custGeom>
                <a:avLst/>
                <a:gdLst>
                  <a:gd name="T0" fmla="*/ 0 w 106"/>
                  <a:gd name="T1" fmla="*/ 24 h 75"/>
                  <a:gd name="T2" fmla="*/ 6 w 106"/>
                  <a:gd name="T3" fmla="*/ 31 h 75"/>
                  <a:gd name="T4" fmla="*/ 12 w 106"/>
                  <a:gd name="T5" fmla="*/ 24 h 75"/>
                  <a:gd name="T6" fmla="*/ 24 w 106"/>
                  <a:gd name="T7" fmla="*/ 31 h 75"/>
                  <a:gd name="T8" fmla="*/ 0 w 106"/>
                  <a:gd name="T9" fmla="*/ 43 h 75"/>
                  <a:gd name="T10" fmla="*/ 18 w 106"/>
                  <a:gd name="T11" fmla="*/ 43 h 75"/>
                  <a:gd name="T12" fmla="*/ 24 w 106"/>
                  <a:gd name="T13" fmla="*/ 56 h 75"/>
                  <a:gd name="T14" fmla="*/ 12 w 106"/>
                  <a:gd name="T15" fmla="*/ 68 h 75"/>
                  <a:gd name="T16" fmla="*/ 31 w 106"/>
                  <a:gd name="T17" fmla="*/ 68 h 75"/>
                  <a:gd name="T18" fmla="*/ 56 w 106"/>
                  <a:gd name="T19" fmla="*/ 74 h 75"/>
                  <a:gd name="T20" fmla="*/ 99 w 106"/>
                  <a:gd name="T21" fmla="*/ 49 h 75"/>
                  <a:gd name="T22" fmla="*/ 105 w 106"/>
                  <a:gd name="T23" fmla="*/ 43 h 75"/>
                  <a:gd name="T24" fmla="*/ 105 w 106"/>
                  <a:gd name="T25" fmla="*/ 24 h 75"/>
                  <a:gd name="T26" fmla="*/ 99 w 106"/>
                  <a:gd name="T27" fmla="*/ 18 h 75"/>
                  <a:gd name="T28" fmla="*/ 93 w 106"/>
                  <a:gd name="T29" fmla="*/ 6 h 75"/>
                  <a:gd name="T30" fmla="*/ 87 w 106"/>
                  <a:gd name="T31" fmla="*/ 12 h 75"/>
                  <a:gd name="T32" fmla="*/ 81 w 106"/>
                  <a:gd name="T33" fmla="*/ 0 h 75"/>
                  <a:gd name="T34" fmla="*/ 68 w 106"/>
                  <a:gd name="T35" fmla="*/ 12 h 75"/>
                  <a:gd name="T36" fmla="*/ 62 w 106"/>
                  <a:gd name="T37" fmla="*/ 12 h 75"/>
                  <a:gd name="T38" fmla="*/ 49 w 106"/>
                  <a:gd name="T39" fmla="*/ 12 h 75"/>
                  <a:gd name="T40" fmla="*/ 43 w 106"/>
                  <a:gd name="T41" fmla="*/ 18 h 75"/>
                  <a:gd name="T42" fmla="*/ 37 w 106"/>
                  <a:gd name="T43" fmla="*/ 12 h 75"/>
                  <a:gd name="T44" fmla="*/ 37 w 106"/>
                  <a:gd name="T45" fmla="*/ 24 h 75"/>
                  <a:gd name="T46" fmla="*/ 31 w 106"/>
                  <a:gd name="T47" fmla="*/ 31 h 75"/>
                  <a:gd name="T48" fmla="*/ 24 w 106"/>
                  <a:gd name="T49" fmla="*/ 12 h 75"/>
                  <a:gd name="T50" fmla="*/ 18 w 106"/>
                  <a:gd name="T51" fmla="*/ 6 h 75"/>
                  <a:gd name="T52" fmla="*/ 12 w 106"/>
                  <a:gd name="T53" fmla="*/ 6 h 75"/>
                  <a:gd name="T54" fmla="*/ 12 w 106"/>
                  <a:gd name="T55" fmla="*/ 12 h 75"/>
                  <a:gd name="T56" fmla="*/ 6 w 106"/>
                  <a:gd name="T57" fmla="*/ 12 h 75"/>
                  <a:gd name="T58" fmla="*/ 6 w 106"/>
                  <a:gd name="T59" fmla="*/ 18 h 75"/>
                  <a:gd name="T60" fmla="*/ 0 w 106"/>
                  <a:gd name="T61" fmla="*/ 24 h 75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w 106"/>
                  <a:gd name="T94" fmla="*/ 0 h 75"/>
                  <a:gd name="T95" fmla="*/ 106 w 106"/>
                  <a:gd name="T96" fmla="*/ 75 h 75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T93" t="T94" r="T95" b="T96"/>
                <a:pathLst>
                  <a:path w="106" h="75">
                    <a:moveTo>
                      <a:pt x="0" y="24"/>
                    </a:moveTo>
                    <a:lnTo>
                      <a:pt x="6" y="31"/>
                    </a:lnTo>
                    <a:lnTo>
                      <a:pt x="12" y="24"/>
                    </a:lnTo>
                    <a:lnTo>
                      <a:pt x="24" y="31"/>
                    </a:lnTo>
                    <a:lnTo>
                      <a:pt x="0" y="43"/>
                    </a:lnTo>
                    <a:lnTo>
                      <a:pt x="18" y="43"/>
                    </a:lnTo>
                    <a:lnTo>
                      <a:pt x="24" y="56"/>
                    </a:lnTo>
                    <a:lnTo>
                      <a:pt x="12" y="68"/>
                    </a:lnTo>
                    <a:lnTo>
                      <a:pt x="31" y="68"/>
                    </a:lnTo>
                    <a:lnTo>
                      <a:pt x="56" y="74"/>
                    </a:lnTo>
                    <a:lnTo>
                      <a:pt x="99" y="49"/>
                    </a:lnTo>
                    <a:lnTo>
                      <a:pt x="105" y="43"/>
                    </a:lnTo>
                    <a:lnTo>
                      <a:pt x="105" y="24"/>
                    </a:lnTo>
                    <a:lnTo>
                      <a:pt x="99" y="18"/>
                    </a:lnTo>
                    <a:lnTo>
                      <a:pt x="93" y="6"/>
                    </a:lnTo>
                    <a:lnTo>
                      <a:pt x="87" y="12"/>
                    </a:lnTo>
                    <a:lnTo>
                      <a:pt x="81" y="0"/>
                    </a:lnTo>
                    <a:lnTo>
                      <a:pt x="68" y="12"/>
                    </a:lnTo>
                    <a:lnTo>
                      <a:pt x="62" y="12"/>
                    </a:lnTo>
                    <a:lnTo>
                      <a:pt x="49" y="12"/>
                    </a:lnTo>
                    <a:lnTo>
                      <a:pt x="43" y="18"/>
                    </a:lnTo>
                    <a:lnTo>
                      <a:pt x="37" y="12"/>
                    </a:lnTo>
                    <a:lnTo>
                      <a:pt x="37" y="24"/>
                    </a:lnTo>
                    <a:lnTo>
                      <a:pt x="31" y="31"/>
                    </a:lnTo>
                    <a:lnTo>
                      <a:pt x="24" y="12"/>
                    </a:lnTo>
                    <a:lnTo>
                      <a:pt x="18" y="6"/>
                    </a:lnTo>
                    <a:lnTo>
                      <a:pt x="12" y="6"/>
                    </a:lnTo>
                    <a:lnTo>
                      <a:pt x="12" y="12"/>
                    </a:lnTo>
                    <a:lnTo>
                      <a:pt x="6" y="12"/>
                    </a:lnTo>
                    <a:lnTo>
                      <a:pt x="6" y="18"/>
                    </a:lnTo>
                    <a:lnTo>
                      <a:pt x="0" y="24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14" name="Freeform 194">
                <a:extLst>
                  <a:ext uri="{FF2B5EF4-FFF2-40B4-BE49-F238E27FC236}">
                    <a16:creationId xmlns:a16="http://schemas.microsoft.com/office/drawing/2014/main" id="{0CFBE33D-ADED-4E3A-89D8-835A76C3E4B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582668" y="1844432"/>
                <a:ext cx="48404" cy="32882"/>
              </a:xfrm>
              <a:custGeom>
                <a:avLst/>
                <a:gdLst>
                  <a:gd name="T0" fmla="*/ 0 w 19"/>
                  <a:gd name="T1" fmla="*/ 0 h 19"/>
                  <a:gd name="T2" fmla="*/ 0 w 19"/>
                  <a:gd name="T3" fmla="*/ 18 h 19"/>
                  <a:gd name="T4" fmla="*/ 18 w 19"/>
                  <a:gd name="T5" fmla="*/ 18 h 19"/>
                  <a:gd name="T6" fmla="*/ 0 w 19"/>
                  <a:gd name="T7" fmla="*/ 0 h 1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"/>
                  <a:gd name="T13" fmla="*/ 0 h 19"/>
                  <a:gd name="T14" fmla="*/ 19 w 19"/>
                  <a:gd name="T15" fmla="*/ 19 h 1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9" h="19">
                    <a:moveTo>
                      <a:pt x="0" y="0"/>
                    </a:moveTo>
                    <a:lnTo>
                      <a:pt x="0" y="18"/>
                    </a:lnTo>
                    <a:lnTo>
                      <a:pt x="18" y="18"/>
                    </a:lnTo>
                    <a:lnTo>
                      <a:pt x="0" y="0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15" name="Freeform 195">
                <a:extLst>
                  <a:ext uri="{FF2B5EF4-FFF2-40B4-BE49-F238E27FC236}">
                    <a16:creationId xmlns:a16="http://schemas.microsoft.com/office/drawing/2014/main" id="{31A02689-257F-4A12-9A39-C2D76A261EA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7164797" y="4038851"/>
                <a:ext cx="188531" cy="235364"/>
              </a:xfrm>
              <a:custGeom>
                <a:avLst/>
                <a:gdLst>
                  <a:gd name="T0" fmla="*/ 0 w 74"/>
                  <a:gd name="T1" fmla="*/ 98 h 136"/>
                  <a:gd name="T2" fmla="*/ 6 w 74"/>
                  <a:gd name="T3" fmla="*/ 129 h 136"/>
                  <a:gd name="T4" fmla="*/ 12 w 74"/>
                  <a:gd name="T5" fmla="*/ 135 h 136"/>
                  <a:gd name="T6" fmla="*/ 18 w 74"/>
                  <a:gd name="T7" fmla="*/ 135 h 136"/>
                  <a:gd name="T8" fmla="*/ 36 w 74"/>
                  <a:gd name="T9" fmla="*/ 135 h 136"/>
                  <a:gd name="T10" fmla="*/ 36 w 74"/>
                  <a:gd name="T11" fmla="*/ 129 h 136"/>
                  <a:gd name="T12" fmla="*/ 61 w 74"/>
                  <a:gd name="T13" fmla="*/ 67 h 136"/>
                  <a:gd name="T14" fmla="*/ 61 w 74"/>
                  <a:gd name="T15" fmla="*/ 37 h 136"/>
                  <a:gd name="T16" fmla="*/ 67 w 74"/>
                  <a:gd name="T17" fmla="*/ 37 h 136"/>
                  <a:gd name="T18" fmla="*/ 73 w 74"/>
                  <a:gd name="T19" fmla="*/ 37 h 136"/>
                  <a:gd name="T20" fmla="*/ 67 w 74"/>
                  <a:gd name="T21" fmla="*/ 12 h 136"/>
                  <a:gd name="T22" fmla="*/ 61 w 74"/>
                  <a:gd name="T23" fmla="*/ 0 h 136"/>
                  <a:gd name="T24" fmla="*/ 55 w 74"/>
                  <a:gd name="T25" fmla="*/ 6 h 136"/>
                  <a:gd name="T26" fmla="*/ 55 w 74"/>
                  <a:gd name="T27" fmla="*/ 12 h 136"/>
                  <a:gd name="T28" fmla="*/ 49 w 74"/>
                  <a:gd name="T29" fmla="*/ 18 h 136"/>
                  <a:gd name="T30" fmla="*/ 43 w 74"/>
                  <a:gd name="T31" fmla="*/ 24 h 136"/>
                  <a:gd name="T32" fmla="*/ 12 w 74"/>
                  <a:gd name="T33" fmla="*/ 43 h 136"/>
                  <a:gd name="T34" fmla="*/ 6 w 74"/>
                  <a:gd name="T35" fmla="*/ 55 h 136"/>
                  <a:gd name="T36" fmla="*/ 12 w 74"/>
                  <a:gd name="T37" fmla="*/ 80 h 136"/>
                  <a:gd name="T38" fmla="*/ 0 w 74"/>
                  <a:gd name="T39" fmla="*/ 98 h 1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74"/>
                  <a:gd name="T61" fmla="*/ 0 h 136"/>
                  <a:gd name="T62" fmla="*/ 74 w 74"/>
                  <a:gd name="T63" fmla="*/ 136 h 1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74" h="136">
                    <a:moveTo>
                      <a:pt x="0" y="98"/>
                    </a:moveTo>
                    <a:lnTo>
                      <a:pt x="6" y="129"/>
                    </a:lnTo>
                    <a:lnTo>
                      <a:pt x="12" y="135"/>
                    </a:lnTo>
                    <a:lnTo>
                      <a:pt x="18" y="135"/>
                    </a:lnTo>
                    <a:lnTo>
                      <a:pt x="36" y="135"/>
                    </a:lnTo>
                    <a:lnTo>
                      <a:pt x="36" y="129"/>
                    </a:lnTo>
                    <a:lnTo>
                      <a:pt x="61" y="67"/>
                    </a:lnTo>
                    <a:lnTo>
                      <a:pt x="61" y="37"/>
                    </a:lnTo>
                    <a:lnTo>
                      <a:pt x="67" y="37"/>
                    </a:lnTo>
                    <a:lnTo>
                      <a:pt x="73" y="37"/>
                    </a:lnTo>
                    <a:lnTo>
                      <a:pt x="67" y="12"/>
                    </a:lnTo>
                    <a:lnTo>
                      <a:pt x="61" y="0"/>
                    </a:lnTo>
                    <a:lnTo>
                      <a:pt x="55" y="6"/>
                    </a:lnTo>
                    <a:lnTo>
                      <a:pt x="55" y="12"/>
                    </a:lnTo>
                    <a:lnTo>
                      <a:pt x="49" y="18"/>
                    </a:lnTo>
                    <a:lnTo>
                      <a:pt x="43" y="24"/>
                    </a:lnTo>
                    <a:lnTo>
                      <a:pt x="12" y="43"/>
                    </a:lnTo>
                    <a:lnTo>
                      <a:pt x="6" y="55"/>
                    </a:lnTo>
                    <a:lnTo>
                      <a:pt x="12" y="80"/>
                    </a:lnTo>
                    <a:lnTo>
                      <a:pt x="0" y="98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16" name="Freeform 196">
                <a:extLst>
                  <a:ext uri="{FF2B5EF4-FFF2-40B4-BE49-F238E27FC236}">
                    <a16:creationId xmlns:a16="http://schemas.microsoft.com/office/drawing/2014/main" id="{50B1CDE6-1755-4963-9F2B-9A17F7DEA83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540563" y="3813871"/>
                <a:ext cx="48404" cy="31151"/>
              </a:xfrm>
              <a:custGeom>
                <a:avLst/>
                <a:gdLst>
                  <a:gd name="T0" fmla="*/ 0 w 19"/>
                  <a:gd name="T1" fmla="*/ 0 h 18"/>
                  <a:gd name="T2" fmla="*/ 18 w 19"/>
                  <a:gd name="T3" fmla="*/ 17 h 18"/>
                  <a:gd name="T4" fmla="*/ 9 w 19"/>
                  <a:gd name="T5" fmla="*/ 0 h 18"/>
                  <a:gd name="T6" fmla="*/ 0 w 19"/>
                  <a:gd name="T7" fmla="*/ 0 h 1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"/>
                  <a:gd name="T13" fmla="*/ 0 h 18"/>
                  <a:gd name="T14" fmla="*/ 19 w 19"/>
                  <a:gd name="T15" fmla="*/ 18 h 1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9" h="18">
                    <a:moveTo>
                      <a:pt x="0" y="0"/>
                    </a:moveTo>
                    <a:lnTo>
                      <a:pt x="18" y="17"/>
                    </a:lnTo>
                    <a:lnTo>
                      <a:pt x="9" y="0"/>
                    </a:lnTo>
                    <a:lnTo>
                      <a:pt x="0" y="0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17" name="Freeform 197">
                <a:extLst>
                  <a:ext uri="{FF2B5EF4-FFF2-40B4-BE49-F238E27FC236}">
                    <a16:creationId xmlns:a16="http://schemas.microsoft.com/office/drawing/2014/main" id="{1A132357-1B24-4E65-AFD0-531AB375514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588971" y="3845023"/>
                <a:ext cx="45858" cy="32882"/>
              </a:xfrm>
              <a:custGeom>
                <a:avLst/>
                <a:gdLst>
                  <a:gd name="T0" fmla="*/ 0 w 18"/>
                  <a:gd name="T1" fmla="*/ 9 h 19"/>
                  <a:gd name="T2" fmla="*/ 0 w 18"/>
                  <a:gd name="T3" fmla="*/ 18 h 19"/>
                  <a:gd name="T4" fmla="*/ 17 w 18"/>
                  <a:gd name="T5" fmla="*/ 18 h 19"/>
                  <a:gd name="T6" fmla="*/ 0 w 18"/>
                  <a:gd name="T7" fmla="*/ 0 h 19"/>
                  <a:gd name="T8" fmla="*/ 0 w 18"/>
                  <a:gd name="T9" fmla="*/ 9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"/>
                  <a:gd name="T16" fmla="*/ 0 h 19"/>
                  <a:gd name="T17" fmla="*/ 18 w 18"/>
                  <a:gd name="T18" fmla="*/ 19 h 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" h="19">
                    <a:moveTo>
                      <a:pt x="0" y="9"/>
                    </a:moveTo>
                    <a:lnTo>
                      <a:pt x="0" y="18"/>
                    </a:lnTo>
                    <a:lnTo>
                      <a:pt x="17" y="18"/>
                    </a:lnTo>
                    <a:lnTo>
                      <a:pt x="0" y="0"/>
                    </a:lnTo>
                    <a:lnTo>
                      <a:pt x="0" y="9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18" name="Freeform 198">
                <a:extLst>
                  <a:ext uri="{FF2B5EF4-FFF2-40B4-BE49-F238E27FC236}">
                    <a16:creationId xmlns:a16="http://schemas.microsoft.com/office/drawing/2014/main" id="{8EC9EDC9-5CE1-40A6-B7BA-8F66952D095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097258" y="3663308"/>
                <a:ext cx="48404" cy="74415"/>
              </a:xfrm>
              <a:custGeom>
                <a:avLst/>
                <a:gdLst>
                  <a:gd name="T0" fmla="*/ 0 w 19"/>
                  <a:gd name="T1" fmla="*/ 18 h 43"/>
                  <a:gd name="T2" fmla="*/ 6 w 19"/>
                  <a:gd name="T3" fmla="*/ 42 h 43"/>
                  <a:gd name="T4" fmla="*/ 18 w 19"/>
                  <a:gd name="T5" fmla="*/ 36 h 43"/>
                  <a:gd name="T6" fmla="*/ 18 w 19"/>
                  <a:gd name="T7" fmla="*/ 24 h 43"/>
                  <a:gd name="T8" fmla="*/ 6 w 19"/>
                  <a:gd name="T9" fmla="*/ 6 h 43"/>
                  <a:gd name="T10" fmla="*/ 6 w 19"/>
                  <a:gd name="T11" fmla="*/ 0 h 43"/>
                  <a:gd name="T12" fmla="*/ 0 w 19"/>
                  <a:gd name="T13" fmla="*/ 18 h 4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"/>
                  <a:gd name="T22" fmla="*/ 0 h 43"/>
                  <a:gd name="T23" fmla="*/ 19 w 19"/>
                  <a:gd name="T24" fmla="*/ 43 h 4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" h="43">
                    <a:moveTo>
                      <a:pt x="0" y="18"/>
                    </a:moveTo>
                    <a:lnTo>
                      <a:pt x="6" y="42"/>
                    </a:lnTo>
                    <a:lnTo>
                      <a:pt x="18" y="36"/>
                    </a:lnTo>
                    <a:lnTo>
                      <a:pt x="18" y="24"/>
                    </a:lnTo>
                    <a:lnTo>
                      <a:pt x="6" y="6"/>
                    </a:lnTo>
                    <a:lnTo>
                      <a:pt x="6" y="0"/>
                    </a:lnTo>
                    <a:lnTo>
                      <a:pt x="0" y="18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19" name="Freeform 199">
                <a:extLst>
                  <a:ext uri="{FF2B5EF4-FFF2-40B4-BE49-F238E27FC236}">
                    <a16:creationId xmlns:a16="http://schemas.microsoft.com/office/drawing/2014/main" id="{11F21BFF-57A9-4F7E-96AF-952F37F1A88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841191" y="3490247"/>
                <a:ext cx="63693" cy="32882"/>
              </a:xfrm>
              <a:custGeom>
                <a:avLst/>
                <a:gdLst>
                  <a:gd name="T0" fmla="*/ 0 w 25"/>
                  <a:gd name="T1" fmla="*/ 6 h 19"/>
                  <a:gd name="T2" fmla="*/ 0 w 25"/>
                  <a:gd name="T3" fmla="*/ 18 h 19"/>
                  <a:gd name="T4" fmla="*/ 6 w 25"/>
                  <a:gd name="T5" fmla="*/ 18 h 19"/>
                  <a:gd name="T6" fmla="*/ 18 w 25"/>
                  <a:gd name="T7" fmla="*/ 12 h 19"/>
                  <a:gd name="T8" fmla="*/ 24 w 25"/>
                  <a:gd name="T9" fmla="*/ 0 h 19"/>
                  <a:gd name="T10" fmla="*/ 6 w 25"/>
                  <a:gd name="T11" fmla="*/ 0 h 19"/>
                  <a:gd name="T12" fmla="*/ 0 w 25"/>
                  <a:gd name="T13" fmla="*/ 6 h 1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5"/>
                  <a:gd name="T22" fmla="*/ 0 h 19"/>
                  <a:gd name="T23" fmla="*/ 25 w 25"/>
                  <a:gd name="T24" fmla="*/ 19 h 1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5" h="19">
                    <a:moveTo>
                      <a:pt x="0" y="6"/>
                    </a:moveTo>
                    <a:lnTo>
                      <a:pt x="0" y="18"/>
                    </a:lnTo>
                    <a:lnTo>
                      <a:pt x="6" y="18"/>
                    </a:lnTo>
                    <a:lnTo>
                      <a:pt x="18" y="12"/>
                    </a:lnTo>
                    <a:lnTo>
                      <a:pt x="24" y="0"/>
                    </a:lnTo>
                    <a:lnTo>
                      <a:pt x="6" y="0"/>
                    </a:lnTo>
                    <a:lnTo>
                      <a:pt x="0" y="6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20" name="Freeform 200">
                <a:extLst>
                  <a:ext uri="{FF2B5EF4-FFF2-40B4-BE49-F238E27FC236}">
                    <a16:creationId xmlns:a16="http://schemas.microsoft.com/office/drawing/2014/main" id="{925B05A8-92E4-4DB3-B104-4885F6524D3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9126537" y="3393332"/>
                <a:ext cx="48404" cy="65763"/>
              </a:xfrm>
              <a:custGeom>
                <a:avLst/>
                <a:gdLst>
                  <a:gd name="T0" fmla="*/ 0 w 19"/>
                  <a:gd name="T1" fmla="*/ 18 h 38"/>
                  <a:gd name="T2" fmla="*/ 6 w 19"/>
                  <a:gd name="T3" fmla="*/ 31 h 38"/>
                  <a:gd name="T4" fmla="*/ 6 w 19"/>
                  <a:gd name="T5" fmla="*/ 37 h 38"/>
                  <a:gd name="T6" fmla="*/ 18 w 19"/>
                  <a:gd name="T7" fmla="*/ 0 h 38"/>
                  <a:gd name="T8" fmla="*/ 12 w 19"/>
                  <a:gd name="T9" fmla="*/ 6 h 38"/>
                  <a:gd name="T10" fmla="*/ 0 w 19"/>
                  <a:gd name="T11" fmla="*/ 18 h 3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9"/>
                  <a:gd name="T19" fmla="*/ 0 h 38"/>
                  <a:gd name="T20" fmla="*/ 19 w 19"/>
                  <a:gd name="T21" fmla="*/ 38 h 3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9" h="38">
                    <a:moveTo>
                      <a:pt x="0" y="18"/>
                    </a:moveTo>
                    <a:lnTo>
                      <a:pt x="6" y="31"/>
                    </a:lnTo>
                    <a:lnTo>
                      <a:pt x="6" y="37"/>
                    </a:lnTo>
                    <a:lnTo>
                      <a:pt x="18" y="0"/>
                    </a:lnTo>
                    <a:lnTo>
                      <a:pt x="12" y="6"/>
                    </a:lnTo>
                    <a:lnTo>
                      <a:pt x="0" y="18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21" name="Freeform 201">
                <a:extLst>
                  <a:ext uri="{FF2B5EF4-FFF2-40B4-BE49-F238E27FC236}">
                    <a16:creationId xmlns:a16="http://schemas.microsoft.com/office/drawing/2014/main" id="{1135B37F-F149-4356-8106-A6D976A932F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9363474" y="3232384"/>
                <a:ext cx="63693" cy="55380"/>
              </a:xfrm>
              <a:custGeom>
                <a:avLst/>
                <a:gdLst>
                  <a:gd name="T0" fmla="*/ 0 w 25"/>
                  <a:gd name="T1" fmla="*/ 6 h 32"/>
                  <a:gd name="T2" fmla="*/ 6 w 25"/>
                  <a:gd name="T3" fmla="*/ 12 h 32"/>
                  <a:gd name="T4" fmla="*/ 12 w 25"/>
                  <a:gd name="T5" fmla="*/ 12 h 32"/>
                  <a:gd name="T6" fmla="*/ 12 w 25"/>
                  <a:gd name="T7" fmla="*/ 6 h 32"/>
                  <a:gd name="T8" fmla="*/ 12 w 25"/>
                  <a:gd name="T9" fmla="*/ 12 h 32"/>
                  <a:gd name="T10" fmla="*/ 12 w 25"/>
                  <a:gd name="T11" fmla="*/ 25 h 32"/>
                  <a:gd name="T12" fmla="*/ 18 w 25"/>
                  <a:gd name="T13" fmla="*/ 31 h 32"/>
                  <a:gd name="T14" fmla="*/ 24 w 25"/>
                  <a:gd name="T15" fmla="*/ 25 h 32"/>
                  <a:gd name="T16" fmla="*/ 24 w 25"/>
                  <a:gd name="T17" fmla="*/ 6 h 32"/>
                  <a:gd name="T18" fmla="*/ 24 w 25"/>
                  <a:gd name="T19" fmla="*/ 0 h 32"/>
                  <a:gd name="T20" fmla="*/ 12 w 25"/>
                  <a:gd name="T21" fmla="*/ 0 h 32"/>
                  <a:gd name="T22" fmla="*/ 0 w 25"/>
                  <a:gd name="T23" fmla="*/ 6 h 32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5"/>
                  <a:gd name="T37" fmla="*/ 0 h 32"/>
                  <a:gd name="T38" fmla="*/ 25 w 25"/>
                  <a:gd name="T39" fmla="*/ 32 h 32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5" h="32">
                    <a:moveTo>
                      <a:pt x="0" y="6"/>
                    </a:moveTo>
                    <a:lnTo>
                      <a:pt x="6" y="12"/>
                    </a:lnTo>
                    <a:lnTo>
                      <a:pt x="12" y="12"/>
                    </a:lnTo>
                    <a:lnTo>
                      <a:pt x="12" y="6"/>
                    </a:lnTo>
                    <a:lnTo>
                      <a:pt x="12" y="12"/>
                    </a:lnTo>
                    <a:lnTo>
                      <a:pt x="12" y="25"/>
                    </a:lnTo>
                    <a:lnTo>
                      <a:pt x="18" y="31"/>
                    </a:lnTo>
                    <a:lnTo>
                      <a:pt x="24" y="25"/>
                    </a:lnTo>
                    <a:lnTo>
                      <a:pt x="24" y="6"/>
                    </a:lnTo>
                    <a:lnTo>
                      <a:pt x="24" y="0"/>
                    </a:lnTo>
                    <a:lnTo>
                      <a:pt x="12" y="0"/>
                    </a:lnTo>
                    <a:lnTo>
                      <a:pt x="0" y="6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22" name="Freeform 202">
                <a:extLst>
                  <a:ext uri="{FF2B5EF4-FFF2-40B4-BE49-F238E27FC236}">
                    <a16:creationId xmlns:a16="http://schemas.microsoft.com/office/drawing/2014/main" id="{DD1932D1-F4EF-4211-8814-54713346BD7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9445000" y="3220271"/>
                <a:ext cx="63693" cy="32882"/>
              </a:xfrm>
              <a:custGeom>
                <a:avLst/>
                <a:gdLst>
                  <a:gd name="T0" fmla="*/ 0 w 25"/>
                  <a:gd name="T1" fmla="*/ 6 h 19"/>
                  <a:gd name="T2" fmla="*/ 0 w 25"/>
                  <a:gd name="T3" fmla="*/ 12 h 19"/>
                  <a:gd name="T4" fmla="*/ 6 w 25"/>
                  <a:gd name="T5" fmla="*/ 18 h 19"/>
                  <a:gd name="T6" fmla="*/ 12 w 25"/>
                  <a:gd name="T7" fmla="*/ 12 h 19"/>
                  <a:gd name="T8" fmla="*/ 12 w 25"/>
                  <a:gd name="T9" fmla="*/ 6 h 19"/>
                  <a:gd name="T10" fmla="*/ 18 w 25"/>
                  <a:gd name="T11" fmla="*/ 12 h 19"/>
                  <a:gd name="T12" fmla="*/ 24 w 25"/>
                  <a:gd name="T13" fmla="*/ 6 h 19"/>
                  <a:gd name="T14" fmla="*/ 24 w 25"/>
                  <a:gd name="T15" fmla="*/ 0 h 19"/>
                  <a:gd name="T16" fmla="*/ 12 w 25"/>
                  <a:gd name="T17" fmla="*/ 0 h 19"/>
                  <a:gd name="T18" fmla="*/ 0 w 25"/>
                  <a:gd name="T19" fmla="*/ 6 h 1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5"/>
                  <a:gd name="T31" fmla="*/ 0 h 19"/>
                  <a:gd name="T32" fmla="*/ 25 w 25"/>
                  <a:gd name="T33" fmla="*/ 19 h 19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5" h="19">
                    <a:moveTo>
                      <a:pt x="0" y="6"/>
                    </a:moveTo>
                    <a:lnTo>
                      <a:pt x="0" y="12"/>
                    </a:lnTo>
                    <a:lnTo>
                      <a:pt x="6" y="18"/>
                    </a:lnTo>
                    <a:lnTo>
                      <a:pt x="12" y="12"/>
                    </a:lnTo>
                    <a:lnTo>
                      <a:pt x="12" y="6"/>
                    </a:lnTo>
                    <a:lnTo>
                      <a:pt x="18" y="12"/>
                    </a:lnTo>
                    <a:lnTo>
                      <a:pt x="24" y="6"/>
                    </a:lnTo>
                    <a:lnTo>
                      <a:pt x="24" y="0"/>
                    </a:lnTo>
                    <a:lnTo>
                      <a:pt x="12" y="0"/>
                    </a:lnTo>
                    <a:lnTo>
                      <a:pt x="0" y="6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23" name="Freeform 203">
                <a:extLst>
                  <a:ext uri="{FF2B5EF4-FFF2-40B4-BE49-F238E27FC236}">
                    <a16:creationId xmlns:a16="http://schemas.microsoft.com/office/drawing/2014/main" id="{5B0DF93D-A0D3-4935-AB39-219921DB44E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9409333" y="3059323"/>
                <a:ext cx="270060" cy="173062"/>
              </a:xfrm>
              <a:custGeom>
                <a:avLst/>
                <a:gdLst>
                  <a:gd name="T0" fmla="*/ 0 w 106"/>
                  <a:gd name="T1" fmla="*/ 93 h 100"/>
                  <a:gd name="T2" fmla="*/ 0 w 106"/>
                  <a:gd name="T3" fmla="*/ 93 h 100"/>
                  <a:gd name="T4" fmla="*/ 12 w 106"/>
                  <a:gd name="T5" fmla="*/ 93 h 100"/>
                  <a:gd name="T6" fmla="*/ 37 w 106"/>
                  <a:gd name="T7" fmla="*/ 87 h 100"/>
                  <a:gd name="T8" fmla="*/ 43 w 106"/>
                  <a:gd name="T9" fmla="*/ 87 h 100"/>
                  <a:gd name="T10" fmla="*/ 43 w 106"/>
                  <a:gd name="T11" fmla="*/ 93 h 100"/>
                  <a:gd name="T12" fmla="*/ 49 w 106"/>
                  <a:gd name="T13" fmla="*/ 99 h 100"/>
                  <a:gd name="T14" fmla="*/ 56 w 106"/>
                  <a:gd name="T15" fmla="*/ 93 h 100"/>
                  <a:gd name="T16" fmla="*/ 56 w 106"/>
                  <a:gd name="T17" fmla="*/ 87 h 100"/>
                  <a:gd name="T18" fmla="*/ 56 w 106"/>
                  <a:gd name="T19" fmla="*/ 81 h 100"/>
                  <a:gd name="T20" fmla="*/ 62 w 106"/>
                  <a:gd name="T21" fmla="*/ 87 h 100"/>
                  <a:gd name="T22" fmla="*/ 68 w 106"/>
                  <a:gd name="T23" fmla="*/ 87 h 100"/>
                  <a:gd name="T24" fmla="*/ 74 w 106"/>
                  <a:gd name="T25" fmla="*/ 81 h 100"/>
                  <a:gd name="T26" fmla="*/ 81 w 106"/>
                  <a:gd name="T27" fmla="*/ 87 h 100"/>
                  <a:gd name="T28" fmla="*/ 81 w 106"/>
                  <a:gd name="T29" fmla="*/ 81 h 100"/>
                  <a:gd name="T30" fmla="*/ 87 w 106"/>
                  <a:gd name="T31" fmla="*/ 74 h 100"/>
                  <a:gd name="T32" fmla="*/ 87 w 106"/>
                  <a:gd name="T33" fmla="*/ 87 h 100"/>
                  <a:gd name="T34" fmla="*/ 93 w 106"/>
                  <a:gd name="T35" fmla="*/ 81 h 100"/>
                  <a:gd name="T36" fmla="*/ 99 w 106"/>
                  <a:gd name="T37" fmla="*/ 74 h 100"/>
                  <a:gd name="T38" fmla="*/ 99 w 106"/>
                  <a:gd name="T39" fmla="*/ 43 h 100"/>
                  <a:gd name="T40" fmla="*/ 105 w 106"/>
                  <a:gd name="T41" fmla="*/ 43 h 100"/>
                  <a:gd name="T42" fmla="*/ 105 w 106"/>
                  <a:gd name="T43" fmla="*/ 31 h 100"/>
                  <a:gd name="T44" fmla="*/ 105 w 106"/>
                  <a:gd name="T45" fmla="*/ 6 h 100"/>
                  <a:gd name="T46" fmla="*/ 99 w 106"/>
                  <a:gd name="T47" fmla="*/ 0 h 100"/>
                  <a:gd name="T48" fmla="*/ 99 w 106"/>
                  <a:gd name="T49" fmla="*/ 12 h 100"/>
                  <a:gd name="T50" fmla="*/ 93 w 106"/>
                  <a:gd name="T51" fmla="*/ 6 h 100"/>
                  <a:gd name="T52" fmla="*/ 87 w 106"/>
                  <a:gd name="T53" fmla="*/ 37 h 100"/>
                  <a:gd name="T54" fmla="*/ 74 w 106"/>
                  <a:gd name="T55" fmla="*/ 56 h 100"/>
                  <a:gd name="T56" fmla="*/ 62 w 106"/>
                  <a:gd name="T57" fmla="*/ 62 h 100"/>
                  <a:gd name="T58" fmla="*/ 62 w 106"/>
                  <a:gd name="T59" fmla="*/ 56 h 100"/>
                  <a:gd name="T60" fmla="*/ 56 w 106"/>
                  <a:gd name="T61" fmla="*/ 56 h 100"/>
                  <a:gd name="T62" fmla="*/ 43 w 106"/>
                  <a:gd name="T63" fmla="*/ 74 h 100"/>
                  <a:gd name="T64" fmla="*/ 18 w 106"/>
                  <a:gd name="T65" fmla="*/ 74 h 100"/>
                  <a:gd name="T66" fmla="*/ 0 w 106"/>
                  <a:gd name="T67" fmla="*/ 93 h 100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106"/>
                  <a:gd name="T103" fmla="*/ 0 h 100"/>
                  <a:gd name="T104" fmla="*/ 106 w 106"/>
                  <a:gd name="T105" fmla="*/ 100 h 100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106" h="100">
                    <a:moveTo>
                      <a:pt x="0" y="93"/>
                    </a:moveTo>
                    <a:lnTo>
                      <a:pt x="0" y="93"/>
                    </a:lnTo>
                    <a:lnTo>
                      <a:pt x="12" y="93"/>
                    </a:lnTo>
                    <a:lnTo>
                      <a:pt x="37" y="87"/>
                    </a:lnTo>
                    <a:lnTo>
                      <a:pt x="43" y="87"/>
                    </a:lnTo>
                    <a:lnTo>
                      <a:pt x="43" y="93"/>
                    </a:lnTo>
                    <a:lnTo>
                      <a:pt x="49" y="99"/>
                    </a:lnTo>
                    <a:lnTo>
                      <a:pt x="56" y="93"/>
                    </a:lnTo>
                    <a:lnTo>
                      <a:pt x="56" y="87"/>
                    </a:lnTo>
                    <a:lnTo>
                      <a:pt x="56" y="81"/>
                    </a:lnTo>
                    <a:lnTo>
                      <a:pt x="62" y="87"/>
                    </a:lnTo>
                    <a:lnTo>
                      <a:pt x="68" y="87"/>
                    </a:lnTo>
                    <a:lnTo>
                      <a:pt x="74" y="81"/>
                    </a:lnTo>
                    <a:lnTo>
                      <a:pt x="81" y="87"/>
                    </a:lnTo>
                    <a:lnTo>
                      <a:pt x="81" y="81"/>
                    </a:lnTo>
                    <a:lnTo>
                      <a:pt x="87" y="74"/>
                    </a:lnTo>
                    <a:lnTo>
                      <a:pt x="87" y="87"/>
                    </a:lnTo>
                    <a:lnTo>
                      <a:pt x="93" y="81"/>
                    </a:lnTo>
                    <a:lnTo>
                      <a:pt x="99" y="74"/>
                    </a:lnTo>
                    <a:lnTo>
                      <a:pt x="99" y="43"/>
                    </a:lnTo>
                    <a:lnTo>
                      <a:pt x="105" y="43"/>
                    </a:lnTo>
                    <a:lnTo>
                      <a:pt x="105" y="31"/>
                    </a:lnTo>
                    <a:lnTo>
                      <a:pt x="105" y="6"/>
                    </a:lnTo>
                    <a:lnTo>
                      <a:pt x="99" y="0"/>
                    </a:lnTo>
                    <a:lnTo>
                      <a:pt x="99" y="12"/>
                    </a:lnTo>
                    <a:lnTo>
                      <a:pt x="93" y="6"/>
                    </a:lnTo>
                    <a:lnTo>
                      <a:pt x="87" y="37"/>
                    </a:lnTo>
                    <a:lnTo>
                      <a:pt x="74" y="56"/>
                    </a:lnTo>
                    <a:lnTo>
                      <a:pt x="62" y="62"/>
                    </a:lnTo>
                    <a:lnTo>
                      <a:pt x="62" y="56"/>
                    </a:lnTo>
                    <a:lnTo>
                      <a:pt x="56" y="56"/>
                    </a:lnTo>
                    <a:lnTo>
                      <a:pt x="43" y="74"/>
                    </a:lnTo>
                    <a:lnTo>
                      <a:pt x="18" y="74"/>
                    </a:lnTo>
                    <a:lnTo>
                      <a:pt x="0" y="93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24" name="Freeform 204">
                <a:extLst>
                  <a:ext uri="{FF2B5EF4-FFF2-40B4-BE49-F238E27FC236}">
                    <a16:creationId xmlns:a16="http://schemas.microsoft.com/office/drawing/2014/main" id="{14B381BE-EE78-45BC-86D0-1F43207D45B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9633532" y="2974523"/>
                <a:ext cx="157957" cy="84800"/>
              </a:xfrm>
              <a:custGeom>
                <a:avLst/>
                <a:gdLst>
                  <a:gd name="T0" fmla="*/ 0 w 62"/>
                  <a:gd name="T1" fmla="*/ 36 h 49"/>
                  <a:gd name="T2" fmla="*/ 0 w 62"/>
                  <a:gd name="T3" fmla="*/ 48 h 49"/>
                  <a:gd name="T4" fmla="*/ 12 w 62"/>
                  <a:gd name="T5" fmla="*/ 48 h 49"/>
                  <a:gd name="T6" fmla="*/ 6 w 62"/>
                  <a:gd name="T7" fmla="*/ 42 h 49"/>
                  <a:gd name="T8" fmla="*/ 6 w 62"/>
                  <a:gd name="T9" fmla="*/ 36 h 49"/>
                  <a:gd name="T10" fmla="*/ 12 w 62"/>
                  <a:gd name="T11" fmla="*/ 42 h 49"/>
                  <a:gd name="T12" fmla="*/ 18 w 62"/>
                  <a:gd name="T13" fmla="*/ 36 h 49"/>
                  <a:gd name="T14" fmla="*/ 37 w 62"/>
                  <a:gd name="T15" fmla="*/ 42 h 49"/>
                  <a:gd name="T16" fmla="*/ 43 w 62"/>
                  <a:gd name="T17" fmla="*/ 30 h 49"/>
                  <a:gd name="T18" fmla="*/ 49 w 62"/>
                  <a:gd name="T19" fmla="*/ 30 h 49"/>
                  <a:gd name="T20" fmla="*/ 61 w 62"/>
                  <a:gd name="T21" fmla="*/ 24 h 49"/>
                  <a:gd name="T22" fmla="*/ 55 w 62"/>
                  <a:gd name="T23" fmla="*/ 24 h 49"/>
                  <a:gd name="T24" fmla="*/ 49 w 62"/>
                  <a:gd name="T25" fmla="*/ 24 h 49"/>
                  <a:gd name="T26" fmla="*/ 55 w 62"/>
                  <a:gd name="T27" fmla="*/ 12 h 49"/>
                  <a:gd name="T28" fmla="*/ 49 w 62"/>
                  <a:gd name="T29" fmla="*/ 18 h 49"/>
                  <a:gd name="T30" fmla="*/ 37 w 62"/>
                  <a:gd name="T31" fmla="*/ 18 h 49"/>
                  <a:gd name="T32" fmla="*/ 24 w 62"/>
                  <a:gd name="T33" fmla="*/ 0 h 49"/>
                  <a:gd name="T34" fmla="*/ 18 w 62"/>
                  <a:gd name="T35" fmla="*/ 0 h 49"/>
                  <a:gd name="T36" fmla="*/ 18 w 62"/>
                  <a:gd name="T37" fmla="*/ 6 h 49"/>
                  <a:gd name="T38" fmla="*/ 12 w 62"/>
                  <a:gd name="T39" fmla="*/ 30 h 49"/>
                  <a:gd name="T40" fmla="*/ 6 w 62"/>
                  <a:gd name="T41" fmla="*/ 30 h 49"/>
                  <a:gd name="T42" fmla="*/ 0 w 62"/>
                  <a:gd name="T43" fmla="*/ 36 h 49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62"/>
                  <a:gd name="T67" fmla="*/ 0 h 49"/>
                  <a:gd name="T68" fmla="*/ 62 w 62"/>
                  <a:gd name="T69" fmla="*/ 49 h 49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62" h="49">
                    <a:moveTo>
                      <a:pt x="0" y="36"/>
                    </a:moveTo>
                    <a:lnTo>
                      <a:pt x="0" y="48"/>
                    </a:lnTo>
                    <a:lnTo>
                      <a:pt x="12" y="48"/>
                    </a:lnTo>
                    <a:lnTo>
                      <a:pt x="6" y="42"/>
                    </a:lnTo>
                    <a:lnTo>
                      <a:pt x="6" y="36"/>
                    </a:lnTo>
                    <a:lnTo>
                      <a:pt x="12" y="42"/>
                    </a:lnTo>
                    <a:lnTo>
                      <a:pt x="18" y="36"/>
                    </a:lnTo>
                    <a:lnTo>
                      <a:pt x="37" y="42"/>
                    </a:lnTo>
                    <a:lnTo>
                      <a:pt x="43" y="30"/>
                    </a:lnTo>
                    <a:lnTo>
                      <a:pt x="49" y="30"/>
                    </a:lnTo>
                    <a:lnTo>
                      <a:pt x="61" y="24"/>
                    </a:lnTo>
                    <a:lnTo>
                      <a:pt x="55" y="24"/>
                    </a:lnTo>
                    <a:lnTo>
                      <a:pt x="49" y="24"/>
                    </a:lnTo>
                    <a:lnTo>
                      <a:pt x="55" y="12"/>
                    </a:lnTo>
                    <a:lnTo>
                      <a:pt x="49" y="18"/>
                    </a:lnTo>
                    <a:lnTo>
                      <a:pt x="37" y="18"/>
                    </a:lnTo>
                    <a:lnTo>
                      <a:pt x="24" y="0"/>
                    </a:lnTo>
                    <a:lnTo>
                      <a:pt x="18" y="0"/>
                    </a:lnTo>
                    <a:lnTo>
                      <a:pt x="18" y="6"/>
                    </a:lnTo>
                    <a:lnTo>
                      <a:pt x="12" y="30"/>
                    </a:lnTo>
                    <a:lnTo>
                      <a:pt x="6" y="30"/>
                    </a:lnTo>
                    <a:lnTo>
                      <a:pt x="0" y="36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25" name="Freeform 205">
                <a:extLst>
                  <a:ext uri="{FF2B5EF4-FFF2-40B4-BE49-F238E27FC236}">
                    <a16:creationId xmlns:a16="http://schemas.microsoft.com/office/drawing/2014/main" id="{C44FB5F4-4033-4E3F-B673-FDD10C2ABE3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9822063" y="2974523"/>
                <a:ext cx="48404" cy="32882"/>
              </a:xfrm>
              <a:custGeom>
                <a:avLst/>
                <a:gdLst>
                  <a:gd name="T0" fmla="*/ 0 w 19"/>
                  <a:gd name="T1" fmla="*/ 18 h 19"/>
                  <a:gd name="T2" fmla="*/ 18 w 19"/>
                  <a:gd name="T3" fmla="*/ 0 h 19"/>
                  <a:gd name="T4" fmla="*/ 6 w 19"/>
                  <a:gd name="T5" fmla="*/ 0 h 19"/>
                  <a:gd name="T6" fmla="*/ 0 w 19"/>
                  <a:gd name="T7" fmla="*/ 18 h 1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"/>
                  <a:gd name="T13" fmla="*/ 0 h 19"/>
                  <a:gd name="T14" fmla="*/ 19 w 19"/>
                  <a:gd name="T15" fmla="*/ 19 h 1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9" h="19">
                    <a:moveTo>
                      <a:pt x="0" y="18"/>
                    </a:moveTo>
                    <a:lnTo>
                      <a:pt x="18" y="0"/>
                    </a:lnTo>
                    <a:lnTo>
                      <a:pt x="6" y="0"/>
                    </a:lnTo>
                    <a:lnTo>
                      <a:pt x="0" y="18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26" name="Freeform 206">
                <a:extLst>
                  <a:ext uri="{FF2B5EF4-FFF2-40B4-BE49-F238E27FC236}">
                    <a16:creationId xmlns:a16="http://schemas.microsoft.com/office/drawing/2014/main" id="{94001DD9-DDBE-46F6-82ED-A9297DCA792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028425" y="2834343"/>
                <a:ext cx="48404" cy="32882"/>
              </a:xfrm>
              <a:custGeom>
                <a:avLst/>
                <a:gdLst>
                  <a:gd name="T0" fmla="*/ 0 w 19"/>
                  <a:gd name="T1" fmla="*/ 9 h 19"/>
                  <a:gd name="T2" fmla="*/ 0 w 19"/>
                  <a:gd name="T3" fmla="*/ 18 h 19"/>
                  <a:gd name="T4" fmla="*/ 18 w 19"/>
                  <a:gd name="T5" fmla="*/ 18 h 19"/>
                  <a:gd name="T6" fmla="*/ 18 w 19"/>
                  <a:gd name="T7" fmla="*/ 0 h 19"/>
                  <a:gd name="T8" fmla="*/ 0 w 19"/>
                  <a:gd name="T9" fmla="*/ 9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"/>
                  <a:gd name="T16" fmla="*/ 0 h 19"/>
                  <a:gd name="T17" fmla="*/ 19 w 19"/>
                  <a:gd name="T18" fmla="*/ 19 h 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" h="19">
                    <a:moveTo>
                      <a:pt x="0" y="9"/>
                    </a:moveTo>
                    <a:lnTo>
                      <a:pt x="0" y="18"/>
                    </a:lnTo>
                    <a:lnTo>
                      <a:pt x="18" y="18"/>
                    </a:lnTo>
                    <a:lnTo>
                      <a:pt x="18" y="0"/>
                    </a:lnTo>
                    <a:lnTo>
                      <a:pt x="0" y="9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27" name="Freeform 207">
                <a:extLst>
                  <a:ext uri="{FF2B5EF4-FFF2-40B4-BE49-F238E27FC236}">
                    <a16:creationId xmlns:a16="http://schemas.microsoft.com/office/drawing/2014/main" id="{CDFB792E-9342-4674-9930-C04565B8788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9569839" y="2714931"/>
                <a:ext cx="48404" cy="32882"/>
              </a:xfrm>
              <a:custGeom>
                <a:avLst/>
                <a:gdLst>
                  <a:gd name="T0" fmla="*/ 0 w 19"/>
                  <a:gd name="T1" fmla="*/ 18 h 19"/>
                  <a:gd name="T2" fmla="*/ 18 w 19"/>
                  <a:gd name="T3" fmla="*/ 18 h 19"/>
                  <a:gd name="T4" fmla="*/ 18 w 19"/>
                  <a:gd name="T5" fmla="*/ 0 h 19"/>
                  <a:gd name="T6" fmla="*/ 0 w 19"/>
                  <a:gd name="T7" fmla="*/ 0 h 19"/>
                  <a:gd name="T8" fmla="*/ 0 w 19"/>
                  <a:gd name="T9" fmla="*/ 18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"/>
                  <a:gd name="T16" fmla="*/ 0 h 19"/>
                  <a:gd name="T17" fmla="*/ 19 w 19"/>
                  <a:gd name="T18" fmla="*/ 19 h 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" h="19">
                    <a:moveTo>
                      <a:pt x="0" y="18"/>
                    </a:moveTo>
                    <a:lnTo>
                      <a:pt x="18" y="18"/>
                    </a:lnTo>
                    <a:lnTo>
                      <a:pt x="18" y="0"/>
                    </a:lnTo>
                    <a:lnTo>
                      <a:pt x="0" y="0"/>
                    </a:lnTo>
                    <a:lnTo>
                      <a:pt x="0" y="18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28" name="Freeform 208">
                <a:extLst>
                  <a:ext uri="{FF2B5EF4-FFF2-40B4-BE49-F238E27FC236}">
                    <a16:creationId xmlns:a16="http://schemas.microsoft.com/office/drawing/2014/main" id="{457880A1-48D3-46E8-89C7-251E80C2B14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234793" y="2586866"/>
                <a:ext cx="48404" cy="31151"/>
              </a:xfrm>
              <a:custGeom>
                <a:avLst/>
                <a:gdLst>
                  <a:gd name="T0" fmla="*/ 0 w 19"/>
                  <a:gd name="T1" fmla="*/ 17 h 18"/>
                  <a:gd name="T2" fmla="*/ 18 w 19"/>
                  <a:gd name="T3" fmla="*/ 8 h 18"/>
                  <a:gd name="T4" fmla="*/ 18 w 19"/>
                  <a:gd name="T5" fmla="*/ 0 h 18"/>
                  <a:gd name="T6" fmla="*/ 9 w 19"/>
                  <a:gd name="T7" fmla="*/ 0 h 18"/>
                  <a:gd name="T8" fmla="*/ 0 w 19"/>
                  <a:gd name="T9" fmla="*/ 17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"/>
                  <a:gd name="T16" fmla="*/ 0 h 18"/>
                  <a:gd name="T17" fmla="*/ 19 w 19"/>
                  <a:gd name="T18" fmla="*/ 18 h 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" h="18">
                    <a:moveTo>
                      <a:pt x="0" y="17"/>
                    </a:moveTo>
                    <a:lnTo>
                      <a:pt x="18" y="8"/>
                    </a:lnTo>
                    <a:lnTo>
                      <a:pt x="18" y="0"/>
                    </a:lnTo>
                    <a:lnTo>
                      <a:pt x="9" y="0"/>
                    </a:lnTo>
                    <a:lnTo>
                      <a:pt x="0" y="17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29" name="Freeform 209">
                <a:extLst>
                  <a:ext uri="{FF2B5EF4-FFF2-40B4-BE49-F238E27FC236}">
                    <a16:creationId xmlns:a16="http://schemas.microsoft.com/office/drawing/2014/main" id="{08B6DEE3-4FB9-462C-B22F-511049EAEC4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9679389" y="2739158"/>
                <a:ext cx="66241" cy="224980"/>
              </a:xfrm>
              <a:custGeom>
                <a:avLst/>
                <a:gdLst>
                  <a:gd name="T0" fmla="*/ 0 w 26"/>
                  <a:gd name="T1" fmla="*/ 18 h 130"/>
                  <a:gd name="T2" fmla="*/ 0 w 26"/>
                  <a:gd name="T3" fmla="*/ 43 h 130"/>
                  <a:gd name="T4" fmla="*/ 6 w 26"/>
                  <a:gd name="T5" fmla="*/ 55 h 130"/>
                  <a:gd name="T6" fmla="*/ 0 w 26"/>
                  <a:gd name="T7" fmla="*/ 86 h 130"/>
                  <a:gd name="T8" fmla="*/ 6 w 26"/>
                  <a:gd name="T9" fmla="*/ 99 h 130"/>
                  <a:gd name="T10" fmla="*/ 0 w 26"/>
                  <a:gd name="T11" fmla="*/ 117 h 130"/>
                  <a:gd name="T12" fmla="*/ 6 w 26"/>
                  <a:gd name="T13" fmla="*/ 129 h 130"/>
                  <a:gd name="T14" fmla="*/ 12 w 26"/>
                  <a:gd name="T15" fmla="*/ 117 h 130"/>
                  <a:gd name="T16" fmla="*/ 19 w 26"/>
                  <a:gd name="T17" fmla="*/ 123 h 130"/>
                  <a:gd name="T18" fmla="*/ 19 w 26"/>
                  <a:gd name="T19" fmla="*/ 117 h 130"/>
                  <a:gd name="T20" fmla="*/ 12 w 26"/>
                  <a:gd name="T21" fmla="*/ 99 h 130"/>
                  <a:gd name="T22" fmla="*/ 12 w 26"/>
                  <a:gd name="T23" fmla="*/ 80 h 130"/>
                  <a:gd name="T24" fmla="*/ 19 w 26"/>
                  <a:gd name="T25" fmla="*/ 80 h 130"/>
                  <a:gd name="T26" fmla="*/ 25 w 26"/>
                  <a:gd name="T27" fmla="*/ 80 h 130"/>
                  <a:gd name="T28" fmla="*/ 12 w 26"/>
                  <a:gd name="T29" fmla="*/ 37 h 130"/>
                  <a:gd name="T30" fmla="*/ 12 w 26"/>
                  <a:gd name="T31" fmla="*/ 6 h 130"/>
                  <a:gd name="T32" fmla="*/ 12 w 26"/>
                  <a:gd name="T33" fmla="*/ 0 h 130"/>
                  <a:gd name="T34" fmla="*/ 6 w 26"/>
                  <a:gd name="T35" fmla="*/ 0 h 130"/>
                  <a:gd name="T36" fmla="*/ 12 w 26"/>
                  <a:gd name="T37" fmla="*/ 6 h 130"/>
                  <a:gd name="T38" fmla="*/ 0 w 26"/>
                  <a:gd name="T39" fmla="*/ 18 h 130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26"/>
                  <a:gd name="T61" fmla="*/ 0 h 130"/>
                  <a:gd name="T62" fmla="*/ 26 w 26"/>
                  <a:gd name="T63" fmla="*/ 130 h 130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26" h="130">
                    <a:moveTo>
                      <a:pt x="0" y="18"/>
                    </a:moveTo>
                    <a:lnTo>
                      <a:pt x="0" y="43"/>
                    </a:lnTo>
                    <a:lnTo>
                      <a:pt x="6" y="55"/>
                    </a:lnTo>
                    <a:lnTo>
                      <a:pt x="0" y="86"/>
                    </a:lnTo>
                    <a:lnTo>
                      <a:pt x="6" y="99"/>
                    </a:lnTo>
                    <a:lnTo>
                      <a:pt x="0" y="117"/>
                    </a:lnTo>
                    <a:lnTo>
                      <a:pt x="6" y="129"/>
                    </a:lnTo>
                    <a:lnTo>
                      <a:pt x="12" y="117"/>
                    </a:lnTo>
                    <a:lnTo>
                      <a:pt x="19" y="123"/>
                    </a:lnTo>
                    <a:lnTo>
                      <a:pt x="19" y="117"/>
                    </a:lnTo>
                    <a:lnTo>
                      <a:pt x="12" y="99"/>
                    </a:lnTo>
                    <a:lnTo>
                      <a:pt x="12" y="80"/>
                    </a:lnTo>
                    <a:lnTo>
                      <a:pt x="19" y="80"/>
                    </a:lnTo>
                    <a:lnTo>
                      <a:pt x="25" y="80"/>
                    </a:lnTo>
                    <a:lnTo>
                      <a:pt x="12" y="37"/>
                    </a:lnTo>
                    <a:lnTo>
                      <a:pt x="12" y="6"/>
                    </a:lnTo>
                    <a:lnTo>
                      <a:pt x="12" y="0"/>
                    </a:lnTo>
                    <a:lnTo>
                      <a:pt x="6" y="0"/>
                    </a:lnTo>
                    <a:lnTo>
                      <a:pt x="12" y="6"/>
                    </a:lnTo>
                    <a:lnTo>
                      <a:pt x="0" y="18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30" name="Freeform 210">
                <a:extLst>
                  <a:ext uri="{FF2B5EF4-FFF2-40B4-BE49-F238E27FC236}">
                    <a16:creationId xmlns:a16="http://schemas.microsoft.com/office/drawing/2014/main" id="{17F08F02-48FB-4814-B27F-1A48B643DB2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629685" y="2069411"/>
                <a:ext cx="94265" cy="43264"/>
              </a:xfrm>
              <a:custGeom>
                <a:avLst/>
                <a:gdLst>
                  <a:gd name="T0" fmla="*/ 12 w 37"/>
                  <a:gd name="T1" fmla="*/ 18 h 25"/>
                  <a:gd name="T2" fmla="*/ 24 w 37"/>
                  <a:gd name="T3" fmla="*/ 18 h 25"/>
                  <a:gd name="T4" fmla="*/ 36 w 37"/>
                  <a:gd name="T5" fmla="*/ 12 h 25"/>
                  <a:gd name="T6" fmla="*/ 30 w 37"/>
                  <a:gd name="T7" fmla="*/ 0 h 25"/>
                  <a:gd name="T8" fmla="*/ 12 w 37"/>
                  <a:gd name="T9" fmla="*/ 0 h 25"/>
                  <a:gd name="T10" fmla="*/ 0 w 37"/>
                  <a:gd name="T11" fmla="*/ 12 h 25"/>
                  <a:gd name="T12" fmla="*/ 0 w 37"/>
                  <a:gd name="T13" fmla="*/ 24 h 25"/>
                  <a:gd name="T14" fmla="*/ 12 w 37"/>
                  <a:gd name="T15" fmla="*/ 18 h 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37"/>
                  <a:gd name="T25" fmla="*/ 0 h 25"/>
                  <a:gd name="T26" fmla="*/ 37 w 37"/>
                  <a:gd name="T27" fmla="*/ 25 h 25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37" h="25">
                    <a:moveTo>
                      <a:pt x="12" y="18"/>
                    </a:moveTo>
                    <a:lnTo>
                      <a:pt x="24" y="18"/>
                    </a:lnTo>
                    <a:lnTo>
                      <a:pt x="36" y="12"/>
                    </a:lnTo>
                    <a:lnTo>
                      <a:pt x="30" y="0"/>
                    </a:lnTo>
                    <a:lnTo>
                      <a:pt x="12" y="0"/>
                    </a:lnTo>
                    <a:lnTo>
                      <a:pt x="0" y="12"/>
                    </a:lnTo>
                    <a:lnTo>
                      <a:pt x="0" y="24"/>
                    </a:lnTo>
                    <a:lnTo>
                      <a:pt x="12" y="18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31" name="Freeform 211">
                <a:extLst>
                  <a:ext uri="{FF2B5EF4-FFF2-40B4-BE49-F238E27FC236}">
                    <a16:creationId xmlns:a16="http://schemas.microsoft.com/office/drawing/2014/main" id="{9D00173F-D3E3-41A1-A12B-4209835F46F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9648816" y="1941345"/>
                <a:ext cx="81528" cy="43264"/>
              </a:xfrm>
              <a:custGeom>
                <a:avLst/>
                <a:gdLst>
                  <a:gd name="T0" fmla="*/ 0 w 32"/>
                  <a:gd name="T1" fmla="*/ 12 h 25"/>
                  <a:gd name="T2" fmla="*/ 12 w 32"/>
                  <a:gd name="T3" fmla="*/ 18 h 25"/>
                  <a:gd name="T4" fmla="*/ 31 w 32"/>
                  <a:gd name="T5" fmla="*/ 24 h 25"/>
                  <a:gd name="T6" fmla="*/ 31 w 32"/>
                  <a:gd name="T7" fmla="*/ 12 h 25"/>
                  <a:gd name="T8" fmla="*/ 19 w 32"/>
                  <a:gd name="T9" fmla="*/ 0 h 25"/>
                  <a:gd name="T10" fmla="*/ 6 w 32"/>
                  <a:gd name="T11" fmla="*/ 0 h 25"/>
                  <a:gd name="T12" fmla="*/ 0 w 32"/>
                  <a:gd name="T13" fmla="*/ 12 h 2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2"/>
                  <a:gd name="T22" fmla="*/ 0 h 25"/>
                  <a:gd name="T23" fmla="*/ 32 w 32"/>
                  <a:gd name="T24" fmla="*/ 25 h 2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2" h="25">
                    <a:moveTo>
                      <a:pt x="0" y="12"/>
                    </a:moveTo>
                    <a:lnTo>
                      <a:pt x="12" y="18"/>
                    </a:lnTo>
                    <a:lnTo>
                      <a:pt x="31" y="24"/>
                    </a:lnTo>
                    <a:lnTo>
                      <a:pt x="31" y="12"/>
                    </a:lnTo>
                    <a:lnTo>
                      <a:pt x="19" y="0"/>
                    </a:lnTo>
                    <a:lnTo>
                      <a:pt x="6" y="0"/>
                    </a:lnTo>
                    <a:lnTo>
                      <a:pt x="0" y="12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32" name="Freeform 212">
                <a:extLst>
                  <a:ext uri="{FF2B5EF4-FFF2-40B4-BE49-F238E27FC236}">
                    <a16:creationId xmlns:a16="http://schemas.microsoft.com/office/drawing/2014/main" id="{259DB54B-7104-42E9-BB98-2F50B4751C0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9648816" y="1918848"/>
                <a:ext cx="45858" cy="32882"/>
              </a:xfrm>
              <a:custGeom>
                <a:avLst/>
                <a:gdLst>
                  <a:gd name="T0" fmla="*/ 0 w 18"/>
                  <a:gd name="T1" fmla="*/ 0 h 19"/>
                  <a:gd name="T2" fmla="*/ 0 w 18"/>
                  <a:gd name="T3" fmla="*/ 18 h 19"/>
                  <a:gd name="T4" fmla="*/ 17 w 18"/>
                  <a:gd name="T5" fmla="*/ 9 h 19"/>
                  <a:gd name="T6" fmla="*/ 17 w 18"/>
                  <a:gd name="T7" fmla="*/ 0 h 19"/>
                  <a:gd name="T8" fmla="*/ 0 w 18"/>
                  <a:gd name="T9" fmla="*/ 0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"/>
                  <a:gd name="T16" fmla="*/ 0 h 19"/>
                  <a:gd name="T17" fmla="*/ 18 w 18"/>
                  <a:gd name="T18" fmla="*/ 19 h 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" h="19">
                    <a:moveTo>
                      <a:pt x="0" y="0"/>
                    </a:moveTo>
                    <a:lnTo>
                      <a:pt x="0" y="18"/>
                    </a:lnTo>
                    <a:lnTo>
                      <a:pt x="17" y="9"/>
                    </a:lnTo>
                    <a:lnTo>
                      <a:pt x="17" y="0"/>
                    </a:lnTo>
                    <a:lnTo>
                      <a:pt x="0" y="0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33" name="Freeform 213">
                <a:extLst>
                  <a:ext uri="{FF2B5EF4-FFF2-40B4-BE49-F238E27FC236}">
                    <a16:creationId xmlns:a16="http://schemas.microsoft.com/office/drawing/2014/main" id="{90A7F357-F63F-403F-9FE5-5FB7FBDDEEF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9806774" y="1834047"/>
                <a:ext cx="109552" cy="53650"/>
              </a:xfrm>
              <a:custGeom>
                <a:avLst/>
                <a:gdLst>
                  <a:gd name="T0" fmla="*/ 0 w 43"/>
                  <a:gd name="T1" fmla="*/ 0 h 31"/>
                  <a:gd name="T2" fmla="*/ 6 w 43"/>
                  <a:gd name="T3" fmla="*/ 18 h 31"/>
                  <a:gd name="T4" fmla="*/ 24 w 43"/>
                  <a:gd name="T5" fmla="*/ 30 h 31"/>
                  <a:gd name="T6" fmla="*/ 36 w 43"/>
                  <a:gd name="T7" fmla="*/ 30 h 31"/>
                  <a:gd name="T8" fmla="*/ 42 w 43"/>
                  <a:gd name="T9" fmla="*/ 12 h 31"/>
                  <a:gd name="T10" fmla="*/ 6 w 43"/>
                  <a:gd name="T11" fmla="*/ 6 h 31"/>
                  <a:gd name="T12" fmla="*/ 0 w 43"/>
                  <a:gd name="T13" fmla="*/ 0 h 3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3"/>
                  <a:gd name="T22" fmla="*/ 0 h 31"/>
                  <a:gd name="T23" fmla="*/ 43 w 43"/>
                  <a:gd name="T24" fmla="*/ 31 h 3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3" h="31">
                    <a:moveTo>
                      <a:pt x="0" y="0"/>
                    </a:moveTo>
                    <a:lnTo>
                      <a:pt x="6" y="18"/>
                    </a:lnTo>
                    <a:lnTo>
                      <a:pt x="24" y="30"/>
                    </a:lnTo>
                    <a:lnTo>
                      <a:pt x="36" y="30"/>
                    </a:lnTo>
                    <a:lnTo>
                      <a:pt x="42" y="12"/>
                    </a:lnTo>
                    <a:lnTo>
                      <a:pt x="6" y="6"/>
                    </a:lnTo>
                    <a:lnTo>
                      <a:pt x="0" y="0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34" name="Freeform 214">
                <a:extLst>
                  <a:ext uri="{FF2B5EF4-FFF2-40B4-BE49-F238E27FC236}">
                    <a16:creationId xmlns:a16="http://schemas.microsoft.com/office/drawing/2014/main" id="{5358894F-9639-48D5-AE10-759821FACD1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9569836" y="1789051"/>
                <a:ext cx="191079" cy="98645"/>
              </a:xfrm>
              <a:custGeom>
                <a:avLst/>
                <a:gdLst>
                  <a:gd name="T0" fmla="*/ 0 w 75"/>
                  <a:gd name="T1" fmla="*/ 37 h 57"/>
                  <a:gd name="T2" fmla="*/ 6 w 75"/>
                  <a:gd name="T3" fmla="*/ 56 h 57"/>
                  <a:gd name="T4" fmla="*/ 18 w 75"/>
                  <a:gd name="T5" fmla="*/ 56 h 57"/>
                  <a:gd name="T6" fmla="*/ 49 w 75"/>
                  <a:gd name="T7" fmla="*/ 44 h 57"/>
                  <a:gd name="T8" fmla="*/ 56 w 75"/>
                  <a:gd name="T9" fmla="*/ 50 h 57"/>
                  <a:gd name="T10" fmla="*/ 74 w 75"/>
                  <a:gd name="T11" fmla="*/ 31 h 57"/>
                  <a:gd name="T12" fmla="*/ 74 w 75"/>
                  <a:gd name="T13" fmla="*/ 18 h 57"/>
                  <a:gd name="T14" fmla="*/ 68 w 75"/>
                  <a:gd name="T15" fmla="*/ 12 h 57"/>
                  <a:gd name="T16" fmla="*/ 62 w 75"/>
                  <a:gd name="T17" fmla="*/ 12 h 57"/>
                  <a:gd name="T18" fmla="*/ 49 w 75"/>
                  <a:gd name="T19" fmla="*/ 0 h 57"/>
                  <a:gd name="T20" fmla="*/ 37 w 75"/>
                  <a:gd name="T21" fmla="*/ 12 h 57"/>
                  <a:gd name="T22" fmla="*/ 18 w 75"/>
                  <a:gd name="T23" fmla="*/ 0 h 57"/>
                  <a:gd name="T24" fmla="*/ 6 w 75"/>
                  <a:gd name="T25" fmla="*/ 6 h 57"/>
                  <a:gd name="T26" fmla="*/ 0 w 75"/>
                  <a:gd name="T27" fmla="*/ 37 h 57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75"/>
                  <a:gd name="T43" fmla="*/ 0 h 57"/>
                  <a:gd name="T44" fmla="*/ 75 w 75"/>
                  <a:gd name="T45" fmla="*/ 57 h 57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75" h="57">
                    <a:moveTo>
                      <a:pt x="0" y="37"/>
                    </a:moveTo>
                    <a:lnTo>
                      <a:pt x="6" y="56"/>
                    </a:lnTo>
                    <a:lnTo>
                      <a:pt x="18" y="56"/>
                    </a:lnTo>
                    <a:lnTo>
                      <a:pt x="49" y="44"/>
                    </a:lnTo>
                    <a:lnTo>
                      <a:pt x="56" y="50"/>
                    </a:lnTo>
                    <a:lnTo>
                      <a:pt x="74" y="31"/>
                    </a:lnTo>
                    <a:lnTo>
                      <a:pt x="74" y="18"/>
                    </a:lnTo>
                    <a:lnTo>
                      <a:pt x="68" y="12"/>
                    </a:lnTo>
                    <a:lnTo>
                      <a:pt x="62" y="12"/>
                    </a:lnTo>
                    <a:lnTo>
                      <a:pt x="49" y="0"/>
                    </a:lnTo>
                    <a:lnTo>
                      <a:pt x="37" y="12"/>
                    </a:lnTo>
                    <a:lnTo>
                      <a:pt x="18" y="0"/>
                    </a:lnTo>
                    <a:lnTo>
                      <a:pt x="6" y="6"/>
                    </a:lnTo>
                    <a:lnTo>
                      <a:pt x="0" y="37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35" name="Freeform 215">
                <a:extLst>
                  <a:ext uri="{FF2B5EF4-FFF2-40B4-BE49-F238E27FC236}">
                    <a16:creationId xmlns:a16="http://schemas.microsoft.com/office/drawing/2014/main" id="{7256FFC0-8EEA-47EC-974D-17E829A1ACC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7386446" y="1726749"/>
                <a:ext cx="443301" cy="396312"/>
              </a:xfrm>
              <a:custGeom>
                <a:avLst/>
                <a:gdLst>
                  <a:gd name="T0" fmla="*/ 0 w 174"/>
                  <a:gd name="T1" fmla="*/ 198 h 229"/>
                  <a:gd name="T2" fmla="*/ 18 w 174"/>
                  <a:gd name="T3" fmla="*/ 222 h 229"/>
                  <a:gd name="T4" fmla="*/ 49 w 174"/>
                  <a:gd name="T5" fmla="*/ 228 h 229"/>
                  <a:gd name="T6" fmla="*/ 55 w 174"/>
                  <a:gd name="T7" fmla="*/ 222 h 229"/>
                  <a:gd name="T8" fmla="*/ 43 w 174"/>
                  <a:gd name="T9" fmla="*/ 216 h 229"/>
                  <a:gd name="T10" fmla="*/ 37 w 174"/>
                  <a:gd name="T11" fmla="*/ 198 h 229"/>
                  <a:gd name="T12" fmla="*/ 37 w 174"/>
                  <a:gd name="T13" fmla="*/ 167 h 229"/>
                  <a:gd name="T14" fmla="*/ 43 w 174"/>
                  <a:gd name="T15" fmla="*/ 154 h 229"/>
                  <a:gd name="T16" fmla="*/ 86 w 174"/>
                  <a:gd name="T17" fmla="*/ 80 h 229"/>
                  <a:gd name="T18" fmla="*/ 118 w 174"/>
                  <a:gd name="T19" fmla="*/ 55 h 229"/>
                  <a:gd name="T20" fmla="*/ 167 w 174"/>
                  <a:gd name="T21" fmla="*/ 30 h 229"/>
                  <a:gd name="T22" fmla="*/ 173 w 174"/>
                  <a:gd name="T23" fmla="*/ 6 h 229"/>
                  <a:gd name="T24" fmla="*/ 161 w 174"/>
                  <a:gd name="T25" fmla="*/ 0 h 229"/>
                  <a:gd name="T26" fmla="*/ 142 w 174"/>
                  <a:gd name="T27" fmla="*/ 12 h 229"/>
                  <a:gd name="T28" fmla="*/ 136 w 174"/>
                  <a:gd name="T29" fmla="*/ 24 h 229"/>
                  <a:gd name="T30" fmla="*/ 111 w 174"/>
                  <a:gd name="T31" fmla="*/ 30 h 229"/>
                  <a:gd name="T32" fmla="*/ 93 w 174"/>
                  <a:gd name="T33" fmla="*/ 30 h 229"/>
                  <a:gd name="T34" fmla="*/ 74 w 174"/>
                  <a:gd name="T35" fmla="*/ 43 h 229"/>
                  <a:gd name="T36" fmla="*/ 55 w 174"/>
                  <a:gd name="T37" fmla="*/ 68 h 229"/>
                  <a:gd name="T38" fmla="*/ 37 w 174"/>
                  <a:gd name="T39" fmla="*/ 80 h 229"/>
                  <a:gd name="T40" fmla="*/ 37 w 174"/>
                  <a:gd name="T41" fmla="*/ 92 h 229"/>
                  <a:gd name="T42" fmla="*/ 31 w 174"/>
                  <a:gd name="T43" fmla="*/ 111 h 229"/>
                  <a:gd name="T44" fmla="*/ 18 w 174"/>
                  <a:gd name="T45" fmla="*/ 129 h 229"/>
                  <a:gd name="T46" fmla="*/ 24 w 174"/>
                  <a:gd name="T47" fmla="*/ 136 h 229"/>
                  <a:gd name="T48" fmla="*/ 12 w 174"/>
                  <a:gd name="T49" fmla="*/ 148 h 229"/>
                  <a:gd name="T50" fmla="*/ 6 w 174"/>
                  <a:gd name="T51" fmla="*/ 160 h 229"/>
                  <a:gd name="T52" fmla="*/ 12 w 174"/>
                  <a:gd name="T53" fmla="*/ 173 h 229"/>
                  <a:gd name="T54" fmla="*/ 0 w 174"/>
                  <a:gd name="T55" fmla="*/ 185 h 229"/>
                  <a:gd name="T56" fmla="*/ 0 w 174"/>
                  <a:gd name="T57" fmla="*/ 198 h 229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174"/>
                  <a:gd name="T88" fmla="*/ 0 h 229"/>
                  <a:gd name="T89" fmla="*/ 174 w 174"/>
                  <a:gd name="T90" fmla="*/ 229 h 229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174" h="229">
                    <a:moveTo>
                      <a:pt x="0" y="198"/>
                    </a:moveTo>
                    <a:lnTo>
                      <a:pt x="18" y="222"/>
                    </a:lnTo>
                    <a:lnTo>
                      <a:pt x="49" y="228"/>
                    </a:lnTo>
                    <a:lnTo>
                      <a:pt x="55" y="222"/>
                    </a:lnTo>
                    <a:lnTo>
                      <a:pt x="43" y="216"/>
                    </a:lnTo>
                    <a:lnTo>
                      <a:pt x="37" y="198"/>
                    </a:lnTo>
                    <a:lnTo>
                      <a:pt x="37" y="167"/>
                    </a:lnTo>
                    <a:lnTo>
                      <a:pt x="43" y="154"/>
                    </a:lnTo>
                    <a:lnTo>
                      <a:pt x="86" y="80"/>
                    </a:lnTo>
                    <a:lnTo>
                      <a:pt x="118" y="55"/>
                    </a:lnTo>
                    <a:lnTo>
                      <a:pt x="167" y="30"/>
                    </a:lnTo>
                    <a:lnTo>
                      <a:pt x="173" y="6"/>
                    </a:lnTo>
                    <a:lnTo>
                      <a:pt x="161" y="0"/>
                    </a:lnTo>
                    <a:lnTo>
                      <a:pt x="142" y="12"/>
                    </a:lnTo>
                    <a:lnTo>
                      <a:pt x="136" y="24"/>
                    </a:lnTo>
                    <a:lnTo>
                      <a:pt x="111" y="30"/>
                    </a:lnTo>
                    <a:lnTo>
                      <a:pt x="93" y="30"/>
                    </a:lnTo>
                    <a:lnTo>
                      <a:pt x="74" y="43"/>
                    </a:lnTo>
                    <a:lnTo>
                      <a:pt x="55" y="68"/>
                    </a:lnTo>
                    <a:lnTo>
                      <a:pt x="37" y="80"/>
                    </a:lnTo>
                    <a:lnTo>
                      <a:pt x="37" y="92"/>
                    </a:lnTo>
                    <a:lnTo>
                      <a:pt x="31" y="111"/>
                    </a:lnTo>
                    <a:lnTo>
                      <a:pt x="18" y="129"/>
                    </a:lnTo>
                    <a:lnTo>
                      <a:pt x="24" y="136"/>
                    </a:lnTo>
                    <a:lnTo>
                      <a:pt x="12" y="148"/>
                    </a:lnTo>
                    <a:lnTo>
                      <a:pt x="6" y="160"/>
                    </a:lnTo>
                    <a:lnTo>
                      <a:pt x="12" y="173"/>
                    </a:lnTo>
                    <a:lnTo>
                      <a:pt x="0" y="185"/>
                    </a:lnTo>
                    <a:lnTo>
                      <a:pt x="0" y="198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36" name="Freeform 216">
                <a:extLst>
                  <a:ext uri="{FF2B5EF4-FFF2-40B4-BE49-F238E27FC236}">
                    <a16:creationId xmlns:a16="http://schemas.microsoft.com/office/drawing/2014/main" id="{33B1407A-6AA7-4FA6-B120-9594643096D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7307468" y="2166325"/>
                <a:ext cx="48404" cy="44996"/>
              </a:xfrm>
              <a:custGeom>
                <a:avLst/>
                <a:gdLst>
                  <a:gd name="T0" fmla="*/ 0 w 19"/>
                  <a:gd name="T1" fmla="*/ 25 h 26"/>
                  <a:gd name="T2" fmla="*/ 12 w 19"/>
                  <a:gd name="T3" fmla="*/ 19 h 26"/>
                  <a:gd name="T4" fmla="*/ 18 w 19"/>
                  <a:gd name="T5" fmla="*/ 12 h 26"/>
                  <a:gd name="T6" fmla="*/ 6 w 19"/>
                  <a:gd name="T7" fmla="*/ 0 h 26"/>
                  <a:gd name="T8" fmla="*/ 0 w 19"/>
                  <a:gd name="T9" fmla="*/ 12 h 26"/>
                  <a:gd name="T10" fmla="*/ 0 w 19"/>
                  <a:gd name="T11" fmla="*/ 25 h 2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9"/>
                  <a:gd name="T19" fmla="*/ 0 h 26"/>
                  <a:gd name="T20" fmla="*/ 19 w 19"/>
                  <a:gd name="T21" fmla="*/ 26 h 2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9" h="26">
                    <a:moveTo>
                      <a:pt x="0" y="25"/>
                    </a:moveTo>
                    <a:lnTo>
                      <a:pt x="12" y="19"/>
                    </a:lnTo>
                    <a:lnTo>
                      <a:pt x="18" y="12"/>
                    </a:lnTo>
                    <a:lnTo>
                      <a:pt x="6" y="0"/>
                    </a:lnTo>
                    <a:lnTo>
                      <a:pt x="0" y="12"/>
                    </a:lnTo>
                    <a:lnTo>
                      <a:pt x="0" y="25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37" name="Freeform 217">
                <a:extLst>
                  <a:ext uri="{FF2B5EF4-FFF2-40B4-BE49-F238E27FC236}">
                    <a16:creationId xmlns:a16="http://schemas.microsoft.com/office/drawing/2014/main" id="{450017CA-FB21-4B97-856C-91A6660A53B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68010" y="2477838"/>
                <a:ext cx="48404" cy="32882"/>
              </a:xfrm>
              <a:custGeom>
                <a:avLst/>
                <a:gdLst>
                  <a:gd name="T0" fmla="*/ 0 w 19"/>
                  <a:gd name="T1" fmla="*/ 18 h 19"/>
                  <a:gd name="T2" fmla="*/ 9 w 19"/>
                  <a:gd name="T3" fmla="*/ 18 h 19"/>
                  <a:gd name="T4" fmla="*/ 18 w 19"/>
                  <a:gd name="T5" fmla="*/ 0 h 19"/>
                  <a:gd name="T6" fmla="*/ 0 w 19"/>
                  <a:gd name="T7" fmla="*/ 0 h 19"/>
                  <a:gd name="T8" fmla="*/ 0 w 19"/>
                  <a:gd name="T9" fmla="*/ 18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"/>
                  <a:gd name="T16" fmla="*/ 0 h 19"/>
                  <a:gd name="T17" fmla="*/ 19 w 19"/>
                  <a:gd name="T18" fmla="*/ 19 h 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" h="19">
                    <a:moveTo>
                      <a:pt x="0" y="18"/>
                    </a:moveTo>
                    <a:lnTo>
                      <a:pt x="9" y="18"/>
                    </a:lnTo>
                    <a:lnTo>
                      <a:pt x="18" y="0"/>
                    </a:lnTo>
                    <a:lnTo>
                      <a:pt x="0" y="0"/>
                    </a:lnTo>
                    <a:lnTo>
                      <a:pt x="0" y="18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38" name="Freeform 218">
                <a:extLst>
                  <a:ext uri="{FF2B5EF4-FFF2-40B4-BE49-F238E27FC236}">
                    <a16:creationId xmlns:a16="http://schemas.microsoft.com/office/drawing/2014/main" id="{674FEC34-7BE6-473C-8223-5C42A17748C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68010" y="2607633"/>
                <a:ext cx="48404" cy="32882"/>
              </a:xfrm>
              <a:custGeom>
                <a:avLst/>
                <a:gdLst>
                  <a:gd name="T0" fmla="*/ 0 w 19"/>
                  <a:gd name="T1" fmla="*/ 18 h 19"/>
                  <a:gd name="T2" fmla="*/ 18 w 19"/>
                  <a:gd name="T3" fmla="*/ 12 h 19"/>
                  <a:gd name="T4" fmla="*/ 18 w 19"/>
                  <a:gd name="T5" fmla="*/ 0 h 19"/>
                  <a:gd name="T6" fmla="*/ 9 w 19"/>
                  <a:gd name="T7" fmla="*/ 6 h 19"/>
                  <a:gd name="T8" fmla="*/ 0 w 19"/>
                  <a:gd name="T9" fmla="*/ 18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"/>
                  <a:gd name="T16" fmla="*/ 0 h 19"/>
                  <a:gd name="T17" fmla="*/ 19 w 19"/>
                  <a:gd name="T18" fmla="*/ 19 h 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" h="19">
                    <a:moveTo>
                      <a:pt x="0" y="18"/>
                    </a:moveTo>
                    <a:lnTo>
                      <a:pt x="18" y="12"/>
                    </a:lnTo>
                    <a:lnTo>
                      <a:pt x="18" y="0"/>
                    </a:lnTo>
                    <a:lnTo>
                      <a:pt x="9" y="6"/>
                    </a:lnTo>
                    <a:lnTo>
                      <a:pt x="0" y="18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39" name="Freeform 219">
                <a:extLst>
                  <a:ext uri="{FF2B5EF4-FFF2-40B4-BE49-F238E27FC236}">
                    <a16:creationId xmlns:a16="http://schemas.microsoft.com/office/drawing/2014/main" id="{2E54082A-907B-4FB0-9958-03E966DA8F7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311314" y="2694162"/>
                <a:ext cx="48404" cy="32882"/>
              </a:xfrm>
              <a:custGeom>
                <a:avLst/>
                <a:gdLst>
                  <a:gd name="T0" fmla="*/ 0 w 19"/>
                  <a:gd name="T1" fmla="*/ 9 h 19"/>
                  <a:gd name="T2" fmla="*/ 9 w 19"/>
                  <a:gd name="T3" fmla="*/ 18 h 19"/>
                  <a:gd name="T4" fmla="*/ 18 w 19"/>
                  <a:gd name="T5" fmla="*/ 18 h 19"/>
                  <a:gd name="T6" fmla="*/ 18 w 19"/>
                  <a:gd name="T7" fmla="*/ 9 h 19"/>
                  <a:gd name="T8" fmla="*/ 9 w 19"/>
                  <a:gd name="T9" fmla="*/ 0 h 19"/>
                  <a:gd name="T10" fmla="*/ 0 w 19"/>
                  <a:gd name="T11" fmla="*/ 9 h 1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9"/>
                  <a:gd name="T19" fmla="*/ 0 h 19"/>
                  <a:gd name="T20" fmla="*/ 19 w 19"/>
                  <a:gd name="T21" fmla="*/ 19 h 1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9" h="19">
                    <a:moveTo>
                      <a:pt x="0" y="9"/>
                    </a:moveTo>
                    <a:lnTo>
                      <a:pt x="9" y="18"/>
                    </a:lnTo>
                    <a:lnTo>
                      <a:pt x="18" y="18"/>
                    </a:lnTo>
                    <a:lnTo>
                      <a:pt x="18" y="9"/>
                    </a:lnTo>
                    <a:lnTo>
                      <a:pt x="9" y="0"/>
                    </a:lnTo>
                    <a:lnTo>
                      <a:pt x="0" y="9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40" name="Freeform 220">
                <a:extLst>
                  <a:ext uri="{FF2B5EF4-FFF2-40B4-BE49-F238E27FC236}">
                    <a16:creationId xmlns:a16="http://schemas.microsoft.com/office/drawing/2014/main" id="{EA62B25C-0A20-41BB-A220-713AA575228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344433" y="2683780"/>
                <a:ext cx="45858" cy="32882"/>
              </a:xfrm>
              <a:custGeom>
                <a:avLst/>
                <a:gdLst>
                  <a:gd name="T0" fmla="*/ 0 w 18"/>
                  <a:gd name="T1" fmla="*/ 6 h 19"/>
                  <a:gd name="T2" fmla="*/ 0 w 18"/>
                  <a:gd name="T3" fmla="*/ 18 h 19"/>
                  <a:gd name="T4" fmla="*/ 17 w 18"/>
                  <a:gd name="T5" fmla="*/ 12 h 19"/>
                  <a:gd name="T6" fmla="*/ 17 w 18"/>
                  <a:gd name="T7" fmla="*/ 6 h 19"/>
                  <a:gd name="T8" fmla="*/ 17 w 18"/>
                  <a:gd name="T9" fmla="*/ 0 h 19"/>
                  <a:gd name="T10" fmla="*/ 0 w 18"/>
                  <a:gd name="T11" fmla="*/ 6 h 1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8"/>
                  <a:gd name="T19" fmla="*/ 0 h 19"/>
                  <a:gd name="T20" fmla="*/ 18 w 18"/>
                  <a:gd name="T21" fmla="*/ 19 h 1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8" h="19">
                    <a:moveTo>
                      <a:pt x="0" y="6"/>
                    </a:moveTo>
                    <a:lnTo>
                      <a:pt x="0" y="18"/>
                    </a:lnTo>
                    <a:lnTo>
                      <a:pt x="17" y="12"/>
                    </a:lnTo>
                    <a:lnTo>
                      <a:pt x="17" y="6"/>
                    </a:lnTo>
                    <a:lnTo>
                      <a:pt x="17" y="0"/>
                    </a:lnTo>
                    <a:lnTo>
                      <a:pt x="0" y="6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41" name="Freeform 221">
                <a:extLst>
                  <a:ext uri="{FF2B5EF4-FFF2-40B4-BE49-F238E27FC236}">
                    <a16:creationId xmlns:a16="http://schemas.microsoft.com/office/drawing/2014/main" id="{30173533-3664-41D4-A130-E75FA562127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344433" y="2714931"/>
                <a:ext cx="45858" cy="32882"/>
              </a:xfrm>
              <a:custGeom>
                <a:avLst/>
                <a:gdLst>
                  <a:gd name="T0" fmla="*/ 0 w 18"/>
                  <a:gd name="T1" fmla="*/ 0 h 19"/>
                  <a:gd name="T2" fmla="*/ 8 w 18"/>
                  <a:gd name="T3" fmla="*/ 18 h 19"/>
                  <a:gd name="T4" fmla="*/ 17 w 18"/>
                  <a:gd name="T5" fmla="*/ 0 h 19"/>
                  <a:gd name="T6" fmla="*/ 0 w 18"/>
                  <a:gd name="T7" fmla="*/ 0 h 1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8"/>
                  <a:gd name="T13" fmla="*/ 0 h 19"/>
                  <a:gd name="T14" fmla="*/ 18 w 18"/>
                  <a:gd name="T15" fmla="*/ 19 h 1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8" h="19">
                    <a:moveTo>
                      <a:pt x="0" y="0"/>
                    </a:moveTo>
                    <a:lnTo>
                      <a:pt x="8" y="18"/>
                    </a:lnTo>
                    <a:lnTo>
                      <a:pt x="17" y="0"/>
                    </a:lnTo>
                    <a:lnTo>
                      <a:pt x="0" y="0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42" name="Freeform 222">
                <a:extLst>
                  <a:ext uri="{FF2B5EF4-FFF2-40B4-BE49-F238E27FC236}">
                    <a16:creationId xmlns:a16="http://schemas.microsoft.com/office/drawing/2014/main" id="{77E50CD2-33BC-493F-ACA5-C82205FDB06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515130" y="2628400"/>
                <a:ext cx="48404" cy="32882"/>
              </a:xfrm>
              <a:custGeom>
                <a:avLst/>
                <a:gdLst>
                  <a:gd name="T0" fmla="*/ 0 w 19"/>
                  <a:gd name="T1" fmla="*/ 8 h 19"/>
                  <a:gd name="T2" fmla="*/ 9 w 19"/>
                  <a:gd name="T3" fmla="*/ 18 h 19"/>
                  <a:gd name="T4" fmla="*/ 9 w 19"/>
                  <a:gd name="T5" fmla="*/ 8 h 19"/>
                  <a:gd name="T6" fmla="*/ 18 w 19"/>
                  <a:gd name="T7" fmla="*/ 0 h 19"/>
                  <a:gd name="T8" fmla="*/ 0 w 19"/>
                  <a:gd name="T9" fmla="*/ 8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"/>
                  <a:gd name="T16" fmla="*/ 0 h 19"/>
                  <a:gd name="T17" fmla="*/ 19 w 19"/>
                  <a:gd name="T18" fmla="*/ 19 h 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" h="19">
                    <a:moveTo>
                      <a:pt x="0" y="8"/>
                    </a:moveTo>
                    <a:lnTo>
                      <a:pt x="9" y="18"/>
                    </a:lnTo>
                    <a:lnTo>
                      <a:pt x="9" y="8"/>
                    </a:lnTo>
                    <a:lnTo>
                      <a:pt x="18" y="0"/>
                    </a:lnTo>
                    <a:lnTo>
                      <a:pt x="0" y="8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43" name="Freeform 223">
                <a:extLst>
                  <a:ext uri="{FF2B5EF4-FFF2-40B4-BE49-F238E27FC236}">
                    <a16:creationId xmlns:a16="http://schemas.microsoft.com/office/drawing/2014/main" id="{46ACD59C-9139-4405-B1ED-B892CED8D0D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611943" y="2607633"/>
                <a:ext cx="48404" cy="31151"/>
              </a:xfrm>
              <a:custGeom>
                <a:avLst/>
                <a:gdLst>
                  <a:gd name="T0" fmla="*/ 0 w 19"/>
                  <a:gd name="T1" fmla="*/ 17 h 18"/>
                  <a:gd name="T2" fmla="*/ 6 w 19"/>
                  <a:gd name="T3" fmla="*/ 17 h 18"/>
                  <a:gd name="T4" fmla="*/ 18 w 19"/>
                  <a:gd name="T5" fmla="*/ 0 h 18"/>
                  <a:gd name="T6" fmla="*/ 6 w 19"/>
                  <a:gd name="T7" fmla="*/ 0 h 18"/>
                  <a:gd name="T8" fmla="*/ 0 w 19"/>
                  <a:gd name="T9" fmla="*/ 17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"/>
                  <a:gd name="T16" fmla="*/ 0 h 18"/>
                  <a:gd name="T17" fmla="*/ 19 w 19"/>
                  <a:gd name="T18" fmla="*/ 18 h 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" h="18">
                    <a:moveTo>
                      <a:pt x="0" y="17"/>
                    </a:moveTo>
                    <a:lnTo>
                      <a:pt x="6" y="17"/>
                    </a:lnTo>
                    <a:lnTo>
                      <a:pt x="18" y="0"/>
                    </a:lnTo>
                    <a:lnTo>
                      <a:pt x="6" y="0"/>
                    </a:lnTo>
                    <a:lnTo>
                      <a:pt x="0" y="17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44" name="Freeform 224">
                <a:extLst>
                  <a:ext uri="{FF2B5EF4-FFF2-40B4-BE49-F238E27FC236}">
                    <a16:creationId xmlns:a16="http://schemas.microsoft.com/office/drawing/2014/main" id="{9265A6D0-80B6-4833-97C0-023044A1692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627230" y="2586866"/>
                <a:ext cx="48404" cy="31151"/>
              </a:xfrm>
              <a:custGeom>
                <a:avLst/>
                <a:gdLst>
                  <a:gd name="T0" fmla="*/ 0 w 19"/>
                  <a:gd name="T1" fmla="*/ 17 h 18"/>
                  <a:gd name="T2" fmla="*/ 0 w 19"/>
                  <a:gd name="T3" fmla="*/ 17 h 18"/>
                  <a:gd name="T4" fmla="*/ 18 w 19"/>
                  <a:gd name="T5" fmla="*/ 17 h 18"/>
                  <a:gd name="T6" fmla="*/ 18 w 19"/>
                  <a:gd name="T7" fmla="*/ 0 h 18"/>
                  <a:gd name="T8" fmla="*/ 0 w 19"/>
                  <a:gd name="T9" fmla="*/ 17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"/>
                  <a:gd name="T16" fmla="*/ 0 h 18"/>
                  <a:gd name="T17" fmla="*/ 19 w 19"/>
                  <a:gd name="T18" fmla="*/ 18 h 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" h="18">
                    <a:moveTo>
                      <a:pt x="0" y="17"/>
                    </a:moveTo>
                    <a:lnTo>
                      <a:pt x="0" y="17"/>
                    </a:lnTo>
                    <a:lnTo>
                      <a:pt x="18" y="17"/>
                    </a:lnTo>
                    <a:lnTo>
                      <a:pt x="18" y="0"/>
                    </a:lnTo>
                    <a:lnTo>
                      <a:pt x="0" y="17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45" name="Freeform 225">
                <a:extLst>
                  <a:ext uri="{FF2B5EF4-FFF2-40B4-BE49-F238E27FC236}">
                    <a16:creationId xmlns:a16="http://schemas.microsoft.com/office/drawing/2014/main" id="{FC73A023-64D5-4B14-A2FC-BBD49603305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83297" y="2607633"/>
                <a:ext cx="224199" cy="249210"/>
              </a:xfrm>
              <a:custGeom>
                <a:avLst/>
                <a:gdLst>
                  <a:gd name="T0" fmla="*/ 12 w 88"/>
                  <a:gd name="T1" fmla="*/ 143 h 144"/>
                  <a:gd name="T2" fmla="*/ 18 w 88"/>
                  <a:gd name="T3" fmla="*/ 143 h 144"/>
                  <a:gd name="T4" fmla="*/ 25 w 88"/>
                  <a:gd name="T5" fmla="*/ 137 h 144"/>
                  <a:gd name="T6" fmla="*/ 31 w 88"/>
                  <a:gd name="T7" fmla="*/ 143 h 144"/>
                  <a:gd name="T8" fmla="*/ 37 w 88"/>
                  <a:gd name="T9" fmla="*/ 137 h 144"/>
                  <a:gd name="T10" fmla="*/ 43 w 88"/>
                  <a:gd name="T11" fmla="*/ 137 h 144"/>
                  <a:gd name="T12" fmla="*/ 50 w 88"/>
                  <a:gd name="T13" fmla="*/ 137 h 144"/>
                  <a:gd name="T14" fmla="*/ 56 w 88"/>
                  <a:gd name="T15" fmla="*/ 131 h 144"/>
                  <a:gd name="T16" fmla="*/ 81 w 88"/>
                  <a:gd name="T17" fmla="*/ 131 h 144"/>
                  <a:gd name="T18" fmla="*/ 87 w 88"/>
                  <a:gd name="T19" fmla="*/ 125 h 144"/>
                  <a:gd name="T20" fmla="*/ 75 w 88"/>
                  <a:gd name="T21" fmla="*/ 125 h 144"/>
                  <a:gd name="T22" fmla="*/ 87 w 88"/>
                  <a:gd name="T23" fmla="*/ 106 h 144"/>
                  <a:gd name="T24" fmla="*/ 81 w 88"/>
                  <a:gd name="T25" fmla="*/ 100 h 144"/>
                  <a:gd name="T26" fmla="*/ 75 w 88"/>
                  <a:gd name="T27" fmla="*/ 100 h 144"/>
                  <a:gd name="T28" fmla="*/ 69 w 88"/>
                  <a:gd name="T29" fmla="*/ 100 h 144"/>
                  <a:gd name="T30" fmla="*/ 75 w 88"/>
                  <a:gd name="T31" fmla="*/ 94 h 144"/>
                  <a:gd name="T32" fmla="*/ 75 w 88"/>
                  <a:gd name="T33" fmla="*/ 88 h 144"/>
                  <a:gd name="T34" fmla="*/ 69 w 88"/>
                  <a:gd name="T35" fmla="*/ 75 h 144"/>
                  <a:gd name="T36" fmla="*/ 56 w 88"/>
                  <a:gd name="T37" fmla="*/ 69 h 144"/>
                  <a:gd name="T38" fmla="*/ 50 w 88"/>
                  <a:gd name="T39" fmla="*/ 50 h 144"/>
                  <a:gd name="T40" fmla="*/ 37 w 88"/>
                  <a:gd name="T41" fmla="*/ 44 h 144"/>
                  <a:gd name="T42" fmla="*/ 50 w 88"/>
                  <a:gd name="T43" fmla="*/ 25 h 144"/>
                  <a:gd name="T44" fmla="*/ 50 w 88"/>
                  <a:gd name="T45" fmla="*/ 18 h 144"/>
                  <a:gd name="T46" fmla="*/ 31 w 88"/>
                  <a:gd name="T47" fmla="*/ 18 h 144"/>
                  <a:gd name="T48" fmla="*/ 31 w 88"/>
                  <a:gd name="T49" fmla="*/ 12 h 144"/>
                  <a:gd name="T50" fmla="*/ 37 w 88"/>
                  <a:gd name="T51" fmla="*/ 6 h 144"/>
                  <a:gd name="T52" fmla="*/ 37 w 88"/>
                  <a:gd name="T53" fmla="*/ 0 h 144"/>
                  <a:gd name="T54" fmla="*/ 18 w 88"/>
                  <a:gd name="T55" fmla="*/ 0 h 144"/>
                  <a:gd name="T56" fmla="*/ 12 w 88"/>
                  <a:gd name="T57" fmla="*/ 18 h 144"/>
                  <a:gd name="T58" fmla="*/ 6 w 88"/>
                  <a:gd name="T59" fmla="*/ 18 h 144"/>
                  <a:gd name="T60" fmla="*/ 0 w 88"/>
                  <a:gd name="T61" fmla="*/ 18 h 144"/>
                  <a:gd name="T62" fmla="*/ 6 w 88"/>
                  <a:gd name="T63" fmla="*/ 25 h 144"/>
                  <a:gd name="T64" fmla="*/ 12 w 88"/>
                  <a:gd name="T65" fmla="*/ 25 h 144"/>
                  <a:gd name="T66" fmla="*/ 12 w 88"/>
                  <a:gd name="T67" fmla="*/ 38 h 144"/>
                  <a:gd name="T68" fmla="*/ 18 w 88"/>
                  <a:gd name="T69" fmla="*/ 38 h 144"/>
                  <a:gd name="T70" fmla="*/ 12 w 88"/>
                  <a:gd name="T71" fmla="*/ 44 h 144"/>
                  <a:gd name="T72" fmla="*/ 6 w 88"/>
                  <a:gd name="T73" fmla="*/ 50 h 144"/>
                  <a:gd name="T74" fmla="*/ 12 w 88"/>
                  <a:gd name="T75" fmla="*/ 50 h 144"/>
                  <a:gd name="T76" fmla="*/ 12 w 88"/>
                  <a:gd name="T77" fmla="*/ 56 h 144"/>
                  <a:gd name="T78" fmla="*/ 18 w 88"/>
                  <a:gd name="T79" fmla="*/ 50 h 144"/>
                  <a:gd name="T80" fmla="*/ 25 w 88"/>
                  <a:gd name="T81" fmla="*/ 56 h 144"/>
                  <a:gd name="T82" fmla="*/ 18 w 88"/>
                  <a:gd name="T83" fmla="*/ 63 h 144"/>
                  <a:gd name="T84" fmla="*/ 25 w 88"/>
                  <a:gd name="T85" fmla="*/ 69 h 144"/>
                  <a:gd name="T86" fmla="*/ 37 w 88"/>
                  <a:gd name="T87" fmla="*/ 63 h 144"/>
                  <a:gd name="T88" fmla="*/ 37 w 88"/>
                  <a:gd name="T89" fmla="*/ 75 h 144"/>
                  <a:gd name="T90" fmla="*/ 43 w 88"/>
                  <a:gd name="T91" fmla="*/ 75 h 144"/>
                  <a:gd name="T92" fmla="*/ 37 w 88"/>
                  <a:gd name="T93" fmla="*/ 94 h 144"/>
                  <a:gd name="T94" fmla="*/ 25 w 88"/>
                  <a:gd name="T95" fmla="*/ 94 h 144"/>
                  <a:gd name="T96" fmla="*/ 25 w 88"/>
                  <a:gd name="T97" fmla="*/ 100 h 144"/>
                  <a:gd name="T98" fmla="*/ 31 w 88"/>
                  <a:gd name="T99" fmla="*/ 100 h 144"/>
                  <a:gd name="T100" fmla="*/ 31 w 88"/>
                  <a:gd name="T101" fmla="*/ 112 h 144"/>
                  <a:gd name="T102" fmla="*/ 18 w 88"/>
                  <a:gd name="T103" fmla="*/ 119 h 144"/>
                  <a:gd name="T104" fmla="*/ 25 w 88"/>
                  <a:gd name="T105" fmla="*/ 119 h 144"/>
                  <a:gd name="T106" fmla="*/ 37 w 88"/>
                  <a:gd name="T107" fmla="*/ 125 h 144"/>
                  <a:gd name="T108" fmla="*/ 43 w 88"/>
                  <a:gd name="T109" fmla="*/ 119 h 144"/>
                  <a:gd name="T110" fmla="*/ 37 w 88"/>
                  <a:gd name="T111" fmla="*/ 125 h 144"/>
                  <a:gd name="T112" fmla="*/ 31 w 88"/>
                  <a:gd name="T113" fmla="*/ 125 h 144"/>
                  <a:gd name="T114" fmla="*/ 12 w 88"/>
                  <a:gd name="T115" fmla="*/ 143 h 144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w 88"/>
                  <a:gd name="T175" fmla="*/ 0 h 144"/>
                  <a:gd name="T176" fmla="*/ 88 w 88"/>
                  <a:gd name="T177" fmla="*/ 144 h 144"/>
                </a:gdLst>
                <a:ahLst/>
                <a:cxnLst>
                  <a:cxn ang="T116">
                    <a:pos x="T0" y="T1"/>
                  </a:cxn>
                  <a:cxn ang="T117">
                    <a:pos x="T2" y="T3"/>
                  </a:cxn>
                  <a:cxn ang="T118">
                    <a:pos x="T4" y="T5"/>
                  </a:cxn>
                  <a:cxn ang="T119">
                    <a:pos x="T6" y="T7"/>
                  </a:cxn>
                  <a:cxn ang="T120">
                    <a:pos x="T8" y="T9"/>
                  </a:cxn>
                  <a:cxn ang="T121">
                    <a:pos x="T10" y="T11"/>
                  </a:cxn>
                  <a:cxn ang="T122">
                    <a:pos x="T12" y="T13"/>
                  </a:cxn>
                  <a:cxn ang="T123">
                    <a:pos x="T14" y="T15"/>
                  </a:cxn>
                  <a:cxn ang="T124">
                    <a:pos x="T16" y="T17"/>
                  </a:cxn>
                  <a:cxn ang="T125">
                    <a:pos x="T18" y="T19"/>
                  </a:cxn>
                  <a:cxn ang="T126">
                    <a:pos x="T20" y="T21"/>
                  </a:cxn>
                  <a:cxn ang="T127">
                    <a:pos x="T22" y="T23"/>
                  </a:cxn>
                  <a:cxn ang="T128">
                    <a:pos x="T24" y="T25"/>
                  </a:cxn>
                  <a:cxn ang="T129">
                    <a:pos x="T26" y="T27"/>
                  </a:cxn>
                  <a:cxn ang="T130">
                    <a:pos x="T28" y="T29"/>
                  </a:cxn>
                  <a:cxn ang="T131">
                    <a:pos x="T30" y="T31"/>
                  </a:cxn>
                  <a:cxn ang="T132">
                    <a:pos x="T32" y="T33"/>
                  </a:cxn>
                  <a:cxn ang="T133">
                    <a:pos x="T34" y="T35"/>
                  </a:cxn>
                  <a:cxn ang="T134">
                    <a:pos x="T36" y="T37"/>
                  </a:cxn>
                  <a:cxn ang="T135">
                    <a:pos x="T38" y="T39"/>
                  </a:cxn>
                  <a:cxn ang="T136">
                    <a:pos x="T40" y="T41"/>
                  </a:cxn>
                  <a:cxn ang="T137">
                    <a:pos x="T42" y="T43"/>
                  </a:cxn>
                  <a:cxn ang="T138">
                    <a:pos x="T44" y="T45"/>
                  </a:cxn>
                  <a:cxn ang="T139">
                    <a:pos x="T46" y="T47"/>
                  </a:cxn>
                  <a:cxn ang="T140">
                    <a:pos x="T48" y="T49"/>
                  </a:cxn>
                  <a:cxn ang="T141">
                    <a:pos x="T50" y="T51"/>
                  </a:cxn>
                  <a:cxn ang="T142">
                    <a:pos x="T52" y="T53"/>
                  </a:cxn>
                  <a:cxn ang="T143">
                    <a:pos x="T54" y="T55"/>
                  </a:cxn>
                  <a:cxn ang="T144">
                    <a:pos x="T56" y="T57"/>
                  </a:cxn>
                  <a:cxn ang="T145">
                    <a:pos x="T58" y="T59"/>
                  </a:cxn>
                  <a:cxn ang="T146">
                    <a:pos x="T60" y="T61"/>
                  </a:cxn>
                  <a:cxn ang="T147">
                    <a:pos x="T62" y="T63"/>
                  </a:cxn>
                  <a:cxn ang="T148">
                    <a:pos x="T64" y="T65"/>
                  </a:cxn>
                  <a:cxn ang="T149">
                    <a:pos x="T66" y="T67"/>
                  </a:cxn>
                  <a:cxn ang="T150">
                    <a:pos x="T68" y="T69"/>
                  </a:cxn>
                  <a:cxn ang="T151">
                    <a:pos x="T70" y="T71"/>
                  </a:cxn>
                  <a:cxn ang="T152">
                    <a:pos x="T72" y="T73"/>
                  </a:cxn>
                  <a:cxn ang="T153">
                    <a:pos x="T74" y="T75"/>
                  </a:cxn>
                  <a:cxn ang="T154">
                    <a:pos x="T76" y="T77"/>
                  </a:cxn>
                  <a:cxn ang="T155">
                    <a:pos x="T78" y="T79"/>
                  </a:cxn>
                  <a:cxn ang="T156">
                    <a:pos x="T80" y="T81"/>
                  </a:cxn>
                  <a:cxn ang="T157">
                    <a:pos x="T82" y="T83"/>
                  </a:cxn>
                  <a:cxn ang="T158">
                    <a:pos x="T84" y="T85"/>
                  </a:cxn>
                  <a:cxn ang="T159">
                    <a:pos x="T86" y="T87"/>
                  </a:cxn>
                  <a:cxn ang="T160">
                    <a:pos x="T88" y="T89"/>
                  </a:cxn>
                  <a:cxn ang="T161">
                    <a:pos x="T90" y="T91"/>
                  </a:cxn>
                  <a:cxn ang="T162">
                    <a:pos x="T92" y="T93"/>
                  </a:cxn>
                  <a:cxn ang="T163">
                    <a:pos x="T94" y="T95"/>
                  </a:cxn>
                  <a:cxn ang="T164">
                    <a:pos x="T96" y="T97"/>
                  </a:cxn>
                  <a:cxn ang="T165">
                    <a:pos x="T98" y="T99"/>
                  </a:cxn>
                  <a:cxn ang="T166">
                    <a:pos x="T100" y="T101"/>
                  </a:cxn>
                  <a:cxn ang="T167">
                    <a:pos x="T102" y="T103"/>
                  </a:cxn>
                  <a:cxn ang="T168">
                    <a:pos x="T104" y="T105"/>
                  </a:cxn>
                  <a:cxn ang="T169">
                    <a:pos x="T106" y="T107"/>
                  </a:cxn>
                  <a:cxn ang="T170">
                    <a:pos x="T108" y="T109"/>
                  </a:cxn>
                  <a:cxn ang="T171">
                    <a:pos x="T110" y="T111"/>
                  </a:cxn>
                  <a:cxn ang="T172">
                    <a:pos x="T112" y="T113"/>
                  </a:cxn>
                  <a:cxn ang="T173">
                    <a:pos x="T114" y="T115"/>
                  </a:cxn>
                </a:cxnLst>
                <a:rect l="T174" t="T175" r="T176" b="T177"/>
                <a:pathLst>
                  <a:path w="88" h="144">
                    <a:moveTo>
                      <a:pt x="12" y="143"/>
                    </a:moveTo>
                    <a:lnTo>
                      <a:pt x="18" y="143"/>
                    </a:lnTo>
                    <a:lnTo>
                      <a:pt x="25" y="137"/>
                    </a:lnTo>
                    <a:lnTo>
                      <a:pt x="31" y="143"/>
                    </a:lnTo>
                    <a:lnTo>
                      <a:pt x="37" y="137"/>
                    </a:lnTo>
                    <a:lnTo>
                      <a:pt x="43" y="137"/>
                    </a:lnTo>
                    <a:lnTo>
                      <a:pt x="50" y="137"/>
                    </a:lnTo>
                    <a:lnTo>
                      <a:pt x="56" y="131"/>
                    </a:lnTo>
                    <a:lnTo>
                      <a:pt x="81" y="131"/>
                    </a:lnTo>
                    <a:lnTo>
                      <a:pt x="87" y="125"/>
                    </a:lnTo>
                    <a:lnTo>
                      <a:pt x="75" y="125"/>
                    </a:lnTo>
                    <a:lnTo>
                      <a:pt x="87" y="106"/>
                    </a:lnTo>
                    <a:lnTo>
                      <a:pt x="81" y="100"/>
                    </a:lnTo>
                    <a:lnTo>
                      <a:pt x="75" y="100"/>
                    </a:lnTo>
                    <a:lnTo>
                      <a:pt x="69" y="100"/>
                    </a:lnTo>
                    <a:lnTo>
                      <a:pt x="75" y="94"/>
                    </a:lnTo>
                    <a:lnTo>
                      <a:pt x="75" y="88"/>
                    </a:lnTo>
                    <a:lnTo>
                      <a:pt x="69" y="75"/>
                    </a:lnTo>
                    <a:lnTo>
                      <a:pt x="56" y="69"/>
                    </a:lnTo>
                    <a:lnTo>
                      <a:pt x="50" y="50"/>
                    </a:lnTo>
                    <a:lnTo>
                      <a:pt x="37" y="44"/>
                    </a:lnTo>
                    <a:lnTo>
                      <a:pt x="50" y="25"/>
                    </a:lnTo>
                    <a:lnTo>
                      <a:pt x="50" y="18"/>
                    </a:lnTo>
                    <a:lnTo>
                      <a:pt x="31" y="18"/>
                    </a:lnTo>
                    <a:lnTo>
                      <a:pt x="31" y="12"/>
                    </a:lnTo>
                    <a:lnTo>
                      <a:pt x="37" y="6"/>
                    </a:lnTo>
                    <a:lnTo>
                      <a:pt x="37" y="0"/>
                    </a:lnTo>
                    <a:lnTo>
                      <a:pt x="18" y="0"/>
                    </a:lnTo>
                    <a:lnTo>
                      <a:pt x="12" y="18"/>
                    </a:lnTo>
                    <a:lnTo>
                      <a:pt x="6" y="18"/>
                    </a:lnTo>
                    <a:lnTo>
                      <a:pt x="0" y="18"/>
                    </a:lnTo>
                    <a:lnTo>
                      <a:pt x="6" y="25"/>
                    </a:lnTo>
                    <a:lnTo>
                      <a:pt x="12" y="25"/>
                    </a:lnTo>
                    <a:lnTo>
                      <a:pt x="12" y="38"/>
                    </a:lnTo>
                    <a:lnTo>
                      <a:pt x="18" y="38"/>
                    </a:lnTo>
                    <a:lnTo>
                      <a:pt x="12" y="44"/>
                    </a:lnTo>
                    <a:lnTo>
                      <a:pt x="6" y="50"/>
                    </a:lnTo>
                    <a:lnTo>
                      <a:pt x="12" y="50"/>
                    </a:lnTo>
                    <a:lnTo>
                      <a:pt x="12" y="56"/>
                    </a:lnTo>
                    <a:lnTo>
                      <a:pt x="18" y="50"/>
                    </a:lnTo>
                    <a:lnTo>
                      <a:pt x="25" y="56"/>
                    </a:lnTo>
                    <a:lnTo>
                      <a:pt x="18" y="63"/>
                    </a:lnTo>
                    <a:lnTo>
                      <a:pt x="25" y="69"/>
                    </a:lnTo>
                    <a:lnTo>
                      <a:pt x="37" y="63"/>
                    </a:lnTo>
                    <a:lnTo>
                      <a:pt x="37" y="75"/>
                    </a:lnTo>
                    <a:lnTo>
                      <a:pt x="43" y="75"/>
                    </a:lnTo>
                    <a:lnTo>
                      <a:pt x="37" y="94"/>
                    </a:lnTo>
                    <a:lnTo>
                      <a:pt x="25" y="94"/>
                    </a:lnTo>
                    <a:lnTo>
                      <a:pt x="25" y="100"/>
                    </a:lnTo>
                    <a:lnTo>
                      <a:pt x="31" y="100"/>
                    </a:lnTo>
                    <a:lnTo>
                      <a:pt x="31" y="112"/>
                    </a:lnTo>
                    <a:lnTo>
                      <a:pt x="18" y="119"/>
                    </a:lnTo>
                    <a:lnTo>
                      <a:pt x="25" y="119"/>
                    </a:lnTo>
                    <a:lnTo>
                      <a:pt x="37" y="125"/>
                    </a:lnTo>
                    <a:lnTo>
                      <a:pt x="43" y="119"/>
                    </a:lnTo>
                    <a:lnTo>
                      <a:pt x="37" y="125"/>
                    </a:lnTo>
                    <a:lnTo>
                      <a:pt x="31" y="125"/>
                    </a:lnTo>
                    <a:lnTo>
                      <a:pt x="12" y="143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46" name="Freeform 226">
                <a:extLst>
                  <a:ext uri="{FF2B5EF4-FFF2-40B4-BE49-F238E27FC236}">
                    <a16:creationId xmlns:a16="http://schemas.microsoft.com/office/drawing/2014/main" id="{1BAAB3D6-5872-4782-9AAE-D82BFC38B3B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78192" y="3028172"/>
                <a:ext cx="45858" cy="43264"/>
              </a:xfrm>
              <a:custGeom>
                <a:avLst/>
                <a:gdLst>
                  <a:gd name="T0" fmla="*/ 0 w 18"/>
                  <a:gd name="T1" fmla="*/ 6 h 25"/>
                  <a:gd name="T2" fmla="*/ 0 w 18"/>
                  <a:gd name="T3" fmla="*/ 18 h 25"/>
                  <a:gd name="T4" fmla="*/ 17 w 18"/>
                  <a:gd name="T5" fmla="*/ 24 h 25"/>
                  <a:gd name="T6" fmla="*/ 17 w 18"/>
                  <a:gd name="T7" fmla="*/ 0 h 25"/>
                  <a:gd name="T8" fmla="*/ 0 w 18"/>
                  <a:gd name="T9" fmla="*/ 6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"/>
                  <a:gd name="T16" fmla="*/ 0 h 25"/>
                  <a:gd name="T17" fmla="*/ 18 w 18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" h="25">
                    <a:moveTo>
                      <a:pt x="0" y="6"/>
                    </a:moveTo>
                    <a:lnTo>
                      <a:pt x="0" y="18"/>
                    </a:lnTo>
                    <a:lnTo>
                      <a:pt x="17" y="24"/>
                    </a:lnTo>
                    <a:lnTo>
                      <a:pt x="17" y="0"/>
                    </a:lnTo>
                    <a:lnTo>
                      <a:pt x="0" y="6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47" name="Freeform 227">
                <a:extLst>
                  <a:ext uri="{FF2B5EF4-FFF2-40B4-BE49-F238E27FC236}">
                    <a16:creationId xmlns:a16="http://schemas.microsoft.com/office/drawing/2014/main" id="{C1337A80-230D-4710-9582-EB419E9C437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62906" y="3069706"/>
                <a:ext cx="48404" cy="55380"/>
              </a:xfrm>
              <a:custGeom>
                <a:avLst/>
                <a:gdLst>
                  <a:gd name="T0" fmla="*/ 0 w 19"/>
                  <a:gd name="T1" fmla="*/ 6 h 32"/>
                  <a:gd name="T2" fmla="*/ 6 w 19"/>
                  <a:gd name="T3" fmla="*/ 25 h 32"/>
                  <a:gd name="T4" fmla="*/ 6 w 19"/>
                  <a:gd name="T5" fmla="*/ 31 h 32"/>
                  <a:gd name="T6" fmla="*/ 18 w 19"/>
                  <a:gd name="T7" fmla="*/ 25 h 32"/>
                  <a:gd name="T8" fmla="*/ 18 w 19"/>
                  <a:gd name="T9" fmla="*/ 6 h 32"/>
                  <a:gd name="T10" fmla="*/ 12 w 19"/>
                  <a:gd name="T11" fmla="*/ 0 h 32"/>
                  <a:gd name="T12" fmla="*/ 0 w 19"/>
                  <a:gd name="T13" fmla="*/ 6 h 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"/>
                  <a:gd name="T22" fmla="*/ 0 h 32"/>
                  <a:gd name="T23" fmla="*/ 19 w 19"/>
                  <a:gd name="T24" fmla="*/ 32 h 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" h="32">
                    <a:moveTo>
                      <a:pt x="0" y="6"/>
                    </a:moveTo>
                    <a:lnTo>
                      <a:pt x="6" y="25"/>
                    </a:lnTo>
                    <a:lnTo>
                      <a:pt x="6" y="31"/>
                    </a:lnTo>
                    <a:lnTo>
                      <a:pt x="18" y="25"/>
                    </a:lnTo>
                    <a:lnTo>
                      <a:pt x="18" y="6"/>
                    </a:lnTo>
                    <a:lnTo>
                      <a:pt x="12" y="0"/>
                    </a:lnTo>
                    <a:lnTo>
                      <a:pt x="0" y="6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48" name="Freeform 228">
                <a:extLst>
                  <a:ext uri="{FF2B5EF4-FFF2-40B4-BE49-F238E27FC236}">
                    <a16:creationId xmlns:a16="http://schemas.microsoft.com/office/drawing/2014/main" id="{0FFAC53D-268E-4BD8-8D3A-0C3BCF0FA80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375005" y="3135470"/>
                <a:ext cx="94265" cy="32882"/>
              </a:xfrm>
              <a:custGeom>
                <a:avLst/>
                <a:gdLst>
                  <a:gd name="T0" fmla="*/ 0 w 37"/>
                  <a:gd name="T1" fmla="*/ 6 h 19"/>
                  <a:gd name="T2" fmla="*/ 6 w 37"/>
                  <a:gd name="T3" fmla="*/ 12 h 19"/>
                  <a:gd name="T4" fmla="*/ 30 w 37"/>
                  <a:gd name="T5" fmla="*/ 18 h 19"/>
                  <a:gd name="T6" fmla="*/ 36 w 37"/>
                  <a:gd name="T7" fmla="*/ 0 h 19"/>
                  <a:gd name="T8" fmla="*/ 18 w 37"/>
                  <a:gd name="T9" fmla="*/ 6 h 19"/>
                  <a:gd name="T10" fmla="*/ 6 w 37"/>
                  <a:gd name="T11" fmla="*/ 0 h 19"/>
                  <a:gd name="T12" fmla="*/ 0 w 37"/>
                  <a:gd name="T13" fmla="*/ 6 h 1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7"/>
                  <a:gd name="T22" fmla="*/ 0 h 19"/>
                  <a:gd name="T23" fmla="*/ 37 w 37"/>
                  <a:gd name="T24" fmla="*/ 19 h 1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7" h="19">
                    <a:moveTo>
                      <a:pt x="0" y="6"/>
                    </a:moveTo>
                    <a:lnTo>
                      <a:pt x="6" y="12"/>
                    </a:lnTo>
                    <a:lnTo>
                      <a:pt x="30" y="18"/>
                    </a:lnTo>
                    <a:lnTo>
                      <a:pt x="36" y="0"/>
                    </a:lnTo>
                    <a:lnTo>
                      <a:pt x="18" y="6"/>
                    </a:lnTo>
                    <a:lnTo>
                      <a:pt x="6" y="0"/>
                    </a:lnTo>
                    <a:lnTo>
                      <a:pt x="0" y="6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49" name="Freeform 229">
                <a:extLst>
                  <a:ext uri="{FF2B5EF4-FFF2-40B4-BE49-F238E27FC236}">
                    <a16:creationId xmlns:a16="http://schemas.microsoft.com/office/drawing/2014/main" id="{5A56F6CB-9ECA-4891-B9FC-8836FCBA9CF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596656" y="3135470"/>
                <a:ext cx="63693" cy="43264"/>
              </a:xfrm>
              <a:custGeom>
                <a:avLst/>
                <a:gdLst>
                  <a:gd name="T0" fmla="*/ 0 w 25"/>
                  <a:gd name="T1" fmla="*/ 6 h 25"/>
                  <a:gd name="T2" fmla="*/ 6 w 25"/>
                  <a:gd name="T3" fmla="*/ 12 h 25"/>
                  <a:gd name="T4" fmla="*/ 6 w 25"/>
                  <a:gd name="T5" fmla="*/ 18 h 25"/>
                  <a:gd name="T6" fmla="*/ 12 w 25"/>
                  <a:gd name="T7" fmla="*/ 24 h 25"/>
                  <a:gd name="T8" fmla="*/ 18 w 25"/>
                  <a:gd name="T9" fmla="*/ 18 h 25"/>
                  <a:gd name="T10" fmla="*/ 24 w 25"/>
                  <a:gd name="T11" fmla="*/ 24 h 25"/>
                  <a:gd name="T12" fmla="*/ 18 w 25"/>
                  <a:gd name="T13" fmla="*/ 12 h 25"/>
                  <a:gd name="T14" fmla="*/ 24 w 25"/>
                  <a:gd name="T15" fmla="*/ 12 h 25"/>
                  <a:gd name="T16" fmla="*/ 18 w 25"/>
                  <a:gd name="T17" fmla="*/ 6 h 25"/>
                  <a:gd name="T18" fmla="*/ 12 w 25"/>
                  <a:gd name="T19" fmla="*/ 0 h 25"/>
                  <a:gd name="T20" fmla="*/ 0 w 25"/>
                  <a:gd name="T21" fmla="*/ 6 h 2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25"/>
                  <a:gd name="T34" fmla="*/ 0 h 25"/>
                  <a:gd name="T35" fmla="*/ 25 w 25"/>
                  <a:gd name="T36" fmla="*/ 25 h 25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25" h="25">
                    <a:moveTo>
                      <a:pt x="0" y="6"/>
                    </a:moveTo>
                    <a:lnTo>
                      <a:pt x="6" y="12"/>
                    </a:lnTo>
                    <a:lnTo>
                      <a:pt x="6" y="18"/>
                    </a:lnTo>
                    <a:lnTo>
                      <a:pt x="12" y="24"/>
                    </a:lnTo>
                    <a:lnTo>
                      <a:pt x="18" y="18"/>
                    </a:lnTo>
                    <a:lnTo>
                      <a:pt x="24" y="24"/>
                    </a:lnTo>
                    <a:lnTo>
                      <a:pt x="18" y="12"/>
                    </a:lnTo>
                    <a:lnTo>
                      <a:pt x="24" y="12"/>
                    </a:lnTo>
                    <a:lnTo>
                      <a:pt x="18" y="6"/>
                    </a:lnTo>
                    <a:lnTo>
                      <a:pt x="12" y="0"/>
                    </a:lnTo>
                    <a:lnTo>
                      <a:pt x="0" y="6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50" name="Freeform 230">
                <a:extLst>
                  <a:ext uri="{FF2B5EF4-FFF2-40B4-BE49-F238E27FC236}">
                    <a16:creationId xmlns:a16="http://schemas.microsoft.com/office/drawing/2014/main" id="{50C2EC7C-263E-4BA5-8657-BDC17588BB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660349" y="3189120"/>
                <a:ext cx="78978" cy="32882"/>
              </a:xfrm>
              <a:custGeom>
                <a:avLst/>
                <a:gdLst>
                  <a:gd name="T0" fmla="*/ 0 w 31"/>
                  <a:gd name="T1" fmla="*/ 18 h 19"/>
                  <a:gd name="T2" fmla="*/ 12 w 31"/>
                  <a:gd name="T3" fmla="*/ 18 h 19"/>
                  <a:gd name="T4" fmla="*/ 24 w 31"/>
                  <a:gd name="T5" fmla="*/ 18 h 19"/>
                  <a:gd name="T6" fmla="*/ 30 w 31"/>
                  <a:gd name="T7" fmla="*/ 18 h 19"/>
                  <a:gd name="T8" fmla="*/ 24 w 31"/>
                  <a:gd name="T9" fmla="*/ 18 h 19"/>
                  <a:gd name="T10" fmla="*/ 0 w 31"/>
                  <a:gd name="T11" fmla="*/ 0 h 19"/>
                  <a:gd name="T12" fmla="*/ 0 w 31"/>
                  <a:gd name="T13" fmla="*/ 18 h 1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1"/>
                  <a:gd name="T22" fmla="*/ 0 h 19"/>
                  <a:gd name="T23" fmla="*/ 31 w 31"/>
                  <a:gd name="T24" fmla="*/ 19 h 1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1" h="19">
                    <a:moveTo>
                      <a:pt x="0" y="18"/>
                    </a:moveTo>
                    <a:lnTo>
                      <a:pt x="12" y="18"/>
                    </a:lnTo>
                    <a:lnTo>
                      <a:pt x="24" y="18"/>
                    </a:lnTo>
                    <a:lnTo>
                      <a:pt x="30" y="18"/>
                    </a:lnTo>
                    <a:lnTo>
                      <a:pt x="24" y="18"/>
                    </a:lnTo>
                    <a:lnTo>
                      <a:pt x="0" y="0"/>
                    </a:lnTo>
                    <a:lnTo>
                      <a:pt x="0" y="18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51" name="Freeform 231">
                <a:extLst>
                  <a:ext uri="{FF2B5EF4-FFF2-40B4-BE49-F238E27FC236}">
                    <a16:creationId xmlns:a16="http://schemas.microsoft.com/office/drawing/2014/main" id="{BEEA64F5-E2FC-4DC7-8D6E-C969EBF40F1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882000" y="3189120"/>
                <a:ext cx="63693" cy="32882"/>
              </a:xfrm>
              <a:custGeom>
                <a:avLst/>
                <a:gdLst>
                  <a:gd name="T0" fmla="*/ 0 w 25"/>
                  <a:gd name="T1" fmla="*/ 9 h 19"/>
                  <a:gd name="T2" fmla="*/ 6 w 25"/>
                  <a:gd name="T3" fmla="*/ 18 h 19"/>
                  <a:gd name="T4" fmla="*/ 12 w 25"/>
                  <a:gd name="T5" fmla="*/ 18 h 19"/>
                  <a:gd name="T6" fmla="*/ 18 w 25"/>
                  <a:gd name="T7" fmla="*/ 9 h 19"/>
                  <a:gd name="T8" fmla="*/ 24 w 25"/>
                  <a:gd name="T9" fmla="*/ 0 h 19"/>
                  <a:gd name="T10" fmla="*/ 0 w 25"/>
                  <a:gd name="T11" fmla="*/ 9 h 1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"/>
                  <a:gd name="T19" fmla="*/ 0 h 19"/>
                  <a:gd name="T20" fmla="*/ 25 w 25"/>
                  <a:gd name="T21" fmla="*/ 19 h 1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" h="19">
                    <a:moveTo>
                      <a:pt x="0" y="9"/>
                    </a:moveTo>
                    <a:lnTo>
                      <a:pt x="6" y="18"/>
                    </a:lnTo>
                    <a:lnTo>
                      <a:pt x="12" y="18"/>
                    </a:lnTo>
                    <a:lnTo>
                      <a:pt x="18" y="9"/>
                    </a:lnTo>
                    <a:lnTo>
                      <a:pt x="24" y="0"/>
                    </a:lnTo>
                    <a:lnTo>
                      <a:pt x="0" y="9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52" name="Freeform 233">
                <a:extLst>
                  <a:ext uri="{FF2B5EF4-FFF2-40B4-BE49-F238E27FC236}">
                    <a16:creationId xmlns:a16="http://schemas.microsoft.com/office/drawing/2014/main" id="{8DEE0D0D-663E-46E2-BA43-FC1D0E2C64B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769900" y="3168352"/>
                <a:ext cx="45858" cy="31151"/>
              </a:xfrm>
              <a:custGeom>
                <a:avLst/>
                <a:gdLst>
                  <a:gd name="T0" fmla="*/ 0 w 18"/>
                  <a:gd name="T1" fmla="*/ 8 h 18"/>
                  <a:gd name="T2" fmla="*/ 0 w 18"/>
                  <a:gd name="T3" fmla="*/ 17 h 18"/>
                  <a:gd name="T4" fmla="*/ 17 w 18"/>
                  <a:gd name="T5" fmla="*/ 0 h 18"/>
                  <a:gd name="T6" fmla="*/ 0 w 18"/>
                  <a:gd name="T7" fmla="*/ 8 h 1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8"/>
                  <a:gd name="T13" fmla="*/ 0 h 18"/>
                  <a:gd name="T14" fmla="*/ 18 w 18"/>
                  <a:gd name="T15" fmla="*/ 18 h 1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8" h="18">
                    <a:moveTo>
                      <a:pt x="0" y="8"/>
                    </a:moveTo>
                    <a:lnTo>
                      <a:pt x="0" y="17"/>
                    </a:lnTo>
                    <a:lnTo>
                      <a:pt x="17" y="0"/>
                    </a:lnTo>
                    <a:lnTo>
                      <a:pt x="0" y="8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53" name="Freeform 234">
                <a:extLst>
                  <a:ext uri="{FF2B5EF4-FFF2-40B4-BE49-F238E27FC236}">
                    <a16:creationId xmlns:a16="http://schemas.microsoft.com/office/drawing/2014/main" id="{EACEB594-5F74-4023-A7C4-56427E2080C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10052" y="3318915"/>
                <a:ext cx="45858" cy="31151"/>
              </a:xfrm>
              <a:custGeom>
                <a:avLst/>
                <a:gdLst>
                  <a:gd name="T0" fmla="*/ 0 w 18"/>
                  <a:gd name="T1" fmla="*/ 17 h 18"/>
                  <a:gd name="T2" fmla="*/ 0 w 18"/>
                  <a:gd name="T3" fmla="*/ 17 h 18"/>
                  <a:gd name="T4" fmla="*/ 17 w 18"/>
                  <a:gd name="T5" fmla="*/ 0 h 18"/>
                  <a:gd name="T6" fmla="*/ 0 w 18"/>
                  <a:gd name="T7" fmla="*/ 17 h 1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8"/>
                  <a:gd name="T13" fmla="*/ 0 h 18"/>
                  <a:gd name="T14" fmla="*/ 18 w 18"/>
                  <a:gd name="T15" fmla="*/ 18 h 1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8" h="18">
                    <a:moveTo>
                      <a:pt x="0" y="17"/>
                    </a:moveTo>
                    <a:lnTo>
                      <a:pt x="0" y="17"/>
                    </a:lnTo>
                    <a:lnTo>
                      <a:pt x="17" y="0"/>
                    </a:lnTo>
                    <a:lnTo>
                      <a:pt x="0" y="17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54" name="Freeform 235">
                <a:extLst>
                  <a:ext uri="{FF2B5EF4-FFF2-40B4-BE49-F238E27FC236}">
                    <a16:creationId xmlns:a16="http://schemas.microsoft.com/office/drawing/2014/main" id="{B11C722F-0771-4C24-A5BD-EA5AD6730C0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692218" y="3329300"/>
                <a:ext cx="48404" cy="32882"/>
              </a:xfrm>
              <a:custGeom>
                <a:avLst/>
                <a:gdLst>
                  <a:gd name="T0" fmla="*/ 18 w 19"/>
                  <a:gd name="T1" fmla="*/ 0 h 19"/>
                  <a:gd name="T2" fmla="*/ 0 w 19"/>
                  <a:gd name="T3" fmla="*/ 18 h 19"/>
                  <a:gd name="T4" fmla="*/ 18 w 19"/>
                  <a:gd name="T5" fmla="*/ 18 h 19"/>
                  <a:gd name="T6" fmla="*/ 18 w 19"/>
                  <a:gd name="T7" fmla="*/ 0 h 1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"/>
                  <a:gd name="T13" fmla="*/ 0 h 19"/>
                  <a:gd name="T14" fmla="*/ 19 w 19"/>
                  <a:gd name="T15" fmla="*/ 19 h 1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9" h="19">
                    <a:moveTo>
                      <a:pt x="18" y="0"/>
                    </a:moveTo>
                    <a:lnTo>
                      <a:pt x="0" y="18"/>
                    </a:lnTo>
                    <a:lnTo>
                      <a:pt x="18" y="18"/>
                    </a:lnTo>
                    <a:lnTo>
                      <a:pt x="18" y="0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55" name="Freeform 236">
                <a:extLst>
                  <a:ext uri="{FF2B5EF4-FFF2-40B4-BE49-F238E27FC236}">
                    <a16:creationId xmlns:a16="http://schemas.microsoft.com/office/drawing/2014/main" id="{81067F23-E527-4444-99B0-970A68BFE7D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78192" y="3768876"/>
                <a:ext cx="45858" cy="32882"/>
              </a:xfrm>
              <a:custGeom>
                <a:avLst/>
                <a:gdLst>
                  <a:gd name="T0" fmla="*/ 0 w 18"/>
                  <a:gd name="T1" fmla="*/ 18 h 19"/>
                  <a:gd name="T2" fmla="*/ 17 w 18"/>
                  <a:gd name="T3" fmla="*/ 0 h 19"/>
                  <a:gd name="T4" fmla="*/ 0 w 18"/>
                  <a:gd name="T5" fmla="*/ 0 h 19"/>
                  <a:gd name="T6" fmla="*/ 0 w 18"/>
                  <a:gd name="T7" fmla="*/ 18 h 1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8"/>
                  <a:gd name="T13" fmla="*/ 0 h 19"/>
                  <a:gd name="T14" fmla="*/ 18 w 18"/>
                  <a:gd name="T15" fmla="*/ 19 h 1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8" h="19">
                    <a:moveTo>
                      <a:pt x="0" y="18"/>
                    </a:moveTo>
                    <a:lnTo>
                      <a:pt x="17" y="0"/>
                    </a:lnTo>
                    <a:lnTo>
                      <a:pt x="0" y="0"/>
                    </a:lnTo>
                    <a:lnTo>
                      <a:pt x="0" y="18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56" name="Freeform 237">
                <a:extLst>
                  <a:ext uri="{FF2B5EF4-FFF2-40B4-BE49-F238E27FC236}">
                    <a16:creationId xmlns:a16="http://schemas.microsoft.com/office/drawing/2014/main" id="{011EC561-94A1-4614-8992-792AB33E077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953290" y="4016354"/>
                <a:ext cx="1026727" cy="538221"/>
              </a:xfrm>
              <a:custGeom>
                <a:avLst/>
                <a:gdLst>
                  <a:gd name="T0" fmla="*/ 37 w 403"/>
                  <a:gd name="T1" fmla="*/ 261 h 311"/>
                  <a:gd name="T2" fmla="*/ 68 w 403"/>
                  <a:gd name="T3" fmla="*/ 248 h 311"/>
                  <a:gd name="T4" fmla="*/ 111 w 403"/>
                  <a:gd name="T5" fmla="*/ 236 h 311"/>
                  <a:gd name="T6" fmla="*/ 185 w 403"/>
                  <a:gd name="T7" fmla="*/ 217 h 311"/>
                  <a:gd name="T8" fmla="*/ 210 w 403"/>
                  <a:gd name="T9" fmla="*/ 236 h 311"/>
                  <a:gd name="T10" fmla="*/ 223 w 403"/>
                  <a:gd name="T11" fmla="*/ 261 h 311"/>
                  <a:gd name="T12" fmla="*/ 247 w 403"/>
                  <a:gd name="T13" fmla="*/ 242 h 311"/>
                  <a:gd name="T14" fmla="*/ 247 w 403"/>
                  <a:gd name="T15" fmla="*/ 261 h 311"/>
                  <a:gd name="T16" fmla="*/ 254 w 403"/>
                  <a:gd name="T17" fmla="*/ 261 h 311"/>
                  <a:gd name="T18" fmla="*/ 260 w 403"/>
                  <a:gd name="T19" fmla="*/ 267 h 311"/>
                  <a:gd name="T20" fmla="*/ 266 w 403"/>
                  <a:gd name="T21" fmla="*/ 279 h 311"/>
                  <a:gd name="T22" fmla="*/ 278 w 403"/>
                  <a:gd name="T23" fmla="*/ 298 h 311"/>
                  <a:gd name="T24" fmla="*/ 297 w 403"/>
                  <a:gd name="T25" fmla="*/ 304 h 311"/>
                  <a:gd name="T26" fmla="*/ 316 w 403"/>
                  <a:gd name="T27" fmla="*/ 292 h 311"/>
                  <a:gd name="T28" fmla="*/ 322 w 403"/>
                  <a:gd name="T29" fmla="*/ 298 h 311"/>
                  <a:gd name="T30" fmla="*/ 334 w 403"/>
                  <a:gd name="T31" fmla="*/ 310 h 311"/>
                  <a:gd name="T32" fmla="*/ 365 w 403"/>
                  <a:gd name="T33" fmla="*/ 292 h 311"/>
                  <a:gd name="T34" fmla="*/ 402 w 403"/>
                  <a:gd name="T35" fmla="*/ 211 h 311"/>
                  <a:gd name="T36" fmla="*/ 402 w 403"/>
                  <a:gd name="T37" fmla="*/ 155 h 311"/>
                  <a:gd name="T38" fmla="*/ 378 w 403"/>
                  <a:gd name="T39" fmla="*/ 130 h 311"/>
                  <a:gd name="T40" fmla="*/ 371 w 403"/>
                  <a:gd name="T41" fmla="*/ 118 h 311"/>
                  <a:gd name="T42" fmla="*/ 359 w 403"/>
                  <a:gd name="T43" fmla="*/ 99 h 311"/>
                  <a:gd name="T44" fmla="*/ 328 w 403"/>
                  <a:gd name="T45" fmla="*/ 68 h 311"/>
                  <a:gd name="T46" fmla="*/ 322 w 403"/>
                  <a:gd name="T47" fmla="*/ 43 h 311"/>
                  <a:gd name="T48" fmla="*/ 303 w 403"/>
                  <a:gd name="T49" fmla="*/ 37 h 311"/>
                  <a:gd name="T50" fmla="*/ 291 w 403"/>
                  <a:gd name="T51" fmla="*/ 0 h 311"/>
                  <a:gd name="T52" fmla="*/ 285 w 403"/>
                  <a:gd name="T53" fmla="*/ 43 h 311"/>
                  <a:gd name="T54" fmla="*/ 266 w 403"/>
                  <a:gd name="T55" fmla="*/ 68 h 311"/>
                  <a:gd name="T56" fmla="*/ 235 w 403"/>
                  <a:gd name="T57" fmla="*/ 49 h 311"/>
                  <a:gd name="T58" fmla="*/ 229 w 403"/>
                  <a:gd name="T59" fmla="*/ 24 h 311"/>
                  <a:gd name="T60" fmla="*/ 241 w 403"/>
                  <a:gd name="T61" fmla="*/ 18 h 311"/>
                  <a:gd name="T62" fmla="*/ 229 w 403"/>
                  <a:gd name="T63" fmla="*/ 18 h 311"/>
                  <a:gd name="T64" fmla="*/ 223 w 403"/>
                  <a:gd name="T65" fmla="*/ 18 h 311"/>
                  <a:gd name="T66" fmla="*/ 198 w 403"/>
                  <a:gd name="T67" fmla="*/ 12 h 311"/>
                  <a:gd name="T68" fmla="*/ 179 w 403"/>
                  <a:gd name="T69" fmla="*/ 18 h 311"/>
                  <a:gd name="T70" fmla="*/ 173 w 403"/>
                  <a:gd name="T71" fmla="*/ 31 h 311"/>
                  <a:gd name="T72" fmla="*/ 161 w 403"/>
                  <a:gd name="T73" fmla="*/ 37 h 311"/>
                  <a:gd name="T74" fmla="*/ 154 w 403"/>
                  <a:gd name="T75" fmla="*/ 43 h 311"/>
                  <a:gd name="T76" fmla="*/ 148 w 403"/>
                  <a:gd name="T77" fmla="*/ 37 h 311"/>
                  <a:gd name="T78" fmla="*/ 136 w 403"/>
                  <a:gd name="T79" fmla="*/ 31 h 311"/>
                  <a:gd name="T80" fmla="*/ 123 w 403"/>
                  <a:gd name="T81" fmla="*/ 37 h 311"/>
                  <a:gd name="T82" fmla="*/ 105 w 403"/>
                  <a:gd name="T83" fmla="*/ 55 h 311"/>
                  <a:gd name="T84" fmla="*/ 111 w 403"/>
                  <a:gd name="T85" fmla="*/ 62 h 311"/>
                  <a:gd name="T86" fmla="*/ 99 w 403"/>
                  <a:gd name="T87" fmla="*/ 55 h 311"/>
                  <a:gd name="T88" fmla="*/ 92 w 403"/>
                  <a:gd name="T89" fmla="*/ 74 h 311"/>
                  <a:gd name="T90" fmla="*/ 30 w 403"/>
                  <a:gd name="T91" fmla="*/ 99 h 311"/>
                  <a:gd name="T92" fmla="*/ 12 w 403"/>
                  <a:gd name="T93" fmla="*/ 111 h 311"/>
                  <a:gd name="T94" fmla="*/ 6 w 403"/>
                  <a:gd name="T95" fmla="*/ 130 h 311"/>
                  <a:gd name="T96" fmla="*/ 12 w 403"/>
                  <a:gd name="T97" fmla="*/ 161 h 311"/>
                  <a:gd name="T98" fmla="*/ 6 w 403"/>
                  <a:gd name="T99" fmla="*/ 161 h 311"/>
                  <a:gd name="T100" fmla="*/ 18 w 403"/>
                  <a:gd name="T101" fmla="*/ 192 h 311"/>
                  <a:gd name="T102" fmla="*/ 24 w 403"/>
                  <a:gd name="T103" fmla="*/ 236 h 311"/>
                  <a:gd name="T104" fmla="*/ 18 w 403"/>
                  <a:gd name="T105" fmla="*/ 248 h 311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403"/>
                  <a:gd name="T160" fmla="*/ 0 h 311"/>
                  <a:gd name="T161" fmla="*/ 403 w 403"/>
                  <a:gd name="T162" fmla="*/ 311 h 311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403" h="311">
                    <a:moveTo>
                      <a:pt x="18" y="248"/>
                    </a:moveTo>
                    <a:lnTo>
                      <a:pt x="37" y="261"/>
                    </a:lnTo>
                    <a:lnTo>
                      <a:pt x="55" y="261"/>
                    </a:lnTo>
                    <a:lnTo>
                      <a:pt x="68" y="248"/>
                    </a:lnTo>
                    <a:lnTo>
                      <a:pt x="105" y="248"/>
                    </a:lnTo>
                    <a:lnTo>
                      <a:pt x="111" y="236"/>
                    </a:lnTo>
                    <a:lnTo>
                      <a:pt x="130" y="223"/>
                    </a:lnTo>
                    <a:lnTo>
                      <a:pt x="185" y="217"/>
                    </a:lnTo>
                    <a:lnTo>
                      <a:pt x="210" y="230"/>
                    </a:lnTo>
                    <a:lnTo>
                      <a:pt x="210" y="236"/>
                    </a:lnTo>
                    <a:lnTo>
                      <a:pt x="216" y="236"/>
                    </a:lnTo>
                    <a:lnTo>
                      <a:pt x="223" y="261"/>
                    </a:lnTo>
                    <a:lnTo>
                      <a:pt x="247" y="236"/>
                    </a:lnTo>
                    <a:lnTo>
                      <a:pt x="247" y="242"/>
                    </a:lnTo>
                    <a:lnTo>
                      <a:pt x="235" y="261"/>
                    </a:lnTo>
                    <a:lnTo>
                      <a:pt x="247" y="261"/>
                    </a:lnTo>
                    <a:lnTo>
                      <a:pt x="247" y="248"/>
                    </a:lnTo>
                    <a:lnTo>
                      <a:pt x="254" y="261"/>
                    </a:lnTo>
                    <a:lnTo>
                      <a:pt x="247" y="267"/>
                    </a:lnTo>
                    <a:lnTo>
                      <a:pt x="260" y="267"/>
                    </a:lnTo>
                    <a:lnTo>
                      <a:pt x="260" y="273"/>
                    </a:lnTo>
                    <a:lnTo>
                      <a:pt x="266" y="279"/>
                    </a:lnTo>
                    <a:lnTo>
                      <a:pt x="266" y="286"/>
                    </a:lnTo>
                    <a:lnTo>
                      <a:pt x="278" y="298"/>
                    </a:lnTo>
                    <a:lnTo>
                      <a:pt x="285" y="304"/>
                    </a:lnTo>
                    <a:lnTo>
                      <a:pt x="297" y="304"/>
                    </a:lnTo>
                    <a:lnTo>
                      <a:pt x="303" y="304"/>
                    </a:lnTo>
                    <a:lnTo>
                      <a:pt x="316" y="292"/>
                    </a:lnTo>
                    <a:lnTo>
                      <a:pt x="316" y="304"/>
                    </a:lnTo>
                    <a:lnTo>
                      <a:pt x="322" y="298"/>
                    </a:lnTo>
                    <a:lnTo>
                      <a:pt x="322" y="304"/>
                    </a:lnTo>
                    <a:lnTo>
                      <a:pt x="334" y="310"/>
                    </a:lnTo>
                    <a:lnTo>
                      <a:pt x="353" y="292"/>
                    </a:lnTo>
                    <a:lnTo>
                      <a:pt x="365" y="292"/>
                    </a:lnTo>
                    <a:lnTo>
                      <a:pt x="371" y="267"/>
                    </a:lnTo>
                    <a:lnTo>
                      <a:pt x="402" y="211"/>
                    </a:lnTo>
                    <a:lnTo>
                      <a:pt x="402" y="186"/>
                    </a:lnTo>
                    <a:lnTo>
                      <a:pt x="402" y="155"/>
                    </a:lnTo>
                    <a:lnTo>
                      <a:pt x="390" y="136"/>
                    </a:lnTo>
                    <a:lnTo>
                      <a:pt x="378" y="130"/>
                    </a:lnTo>
                    <a:lnTo>
                      <a:pt x="378" y="124"/>
                    </a:lnTo>
                    <a:lnTo>
                      <a:pt x="371" y="118"/>
                    </a:lnTo>
                    <a:lnTo>
                      <a:pt x="365" y="118"/>
                    </a:lnTo>
                    <a:lnTo>
                      <a:pt x="359" y="99"/>
                    </a:lnTo>
                    <a:lnTo>
                      <a:pt x="334" y="80"/>
                    </a:lnTo>
                    <a:lnTo>
                      <a:pt x="328" y="68"/>
                    </a:lnTo>
                    <a:lnTo>
                      <a:pt x="322" y="55"/>
                    </a:lnTo>
                    <a:lnTo>
                      <a:pt x="322" y="43"/>
                    </a:lnTo>
                    <a:lnTo>
                      <a:pt x="316" y="37"/>
                    </a:lnTo>
                    <a:lnTo>
                      <a:pt x="303" y="37"/>
                    </a:lnTo>
                    <a:lnTo>
                      <a:pt x="297" y="6"/>
                    </a:lnTo>
                    <a:lnTo>
                      <a:pt x="291" y="0"/>
                    </a:lnTo>
                    <a:lnTo>
                      <a:pt x="285" y="12"/>
                    </a:lnTo>
                    <a:lnTo>
                      <a:pt x="285" y="43"/>
                    </a:lnTo>
                    <a:lnTo>
                      <a:pt x="278" y="68"/>
                    </a:lnTo>
                    <a:lnTo>
                      <a:pt x="266" y="68"/>
                    </a:lnTo>
                    <a:lnTo>
                      <a:pt x="241" y="49"/>
                    </a:lnTo>
                    <a:lnTo>
                      <a:pt x="235" y="49"/>
                    </a:lnTo>
                    <a:lnTo>
                      <a:pt x="223" y="43"/>
                    </a:lnTo>
                    <a:lnTo>
                      <a:pt x="229" y="24"/>
                    </a:lnTo>
                    <a:lnTo>
                      <a:pt x="235" y="24"/>
                    </a:lnTo>
                    <a:lnTo>
                      <a:pt x="241" y="18"/>
                    </a:lnTo>
                    <a:lnTo>
                      <a:pt x="235" y="12"/>
                    </a:lnTo>
                    <a:lnTo>
                      <a:pt x="229" y="18"/>
                    </a:lnTo>
                    <a:lnTo>
                      <a:pt x="229" y="12"/>
                    </a:lnTo>
                    <a:lnTo>
                      <a:pt x="223" y="18"/>
                    </a:lnTo>
                    <a:lnTo>
                      <a:pt x="192" y="6"/>
                    </a:lnTo>
                    <a:lnTo>
                      <a:pt x="198" y="12"/>
                    </a:lnTo>
                    <a:lnTo>
                      <a:pt x="192" y="18"/>
                    </a:lnTo>
                    <a:lnTo>
                      <a:pt x="179" y="18"/>
                    </a:lnTo>
                    <a:lnTo>
                      <a:pt x="173" y="18"/>
                    </a:lnTo>
                    <a:lnTo>
                      <a:pt x="173" y="31"/>
                    </a:lnTo>
                    <a:lnTo>
                      <a:pt x="167" y="31"/>
                    </a:lnTo>
                    <a:lnTo>
                      <a:pt x="161" y="37"/>
                    </a:lnTo>
                    <a:lnTo>
                      <a:pt x="167" y="43"/>
                    </a:lnTo>
                    <a:lnTo>
                      <a:pt x="154" y="43"/>
                    </a:lnTo>
                    <a:lnTo>
                      <a:pt x="148" y="43"/>
                    </a:lnTo>
                    <a:lnTo>
                      <a:pt x="148" y="37"/>
                    </a:lnTo>
                    <a:lnTo>
                      <a:pt x="142" y="31"/>
                    </a:lnTo>
                    <a:lnTo>
                      <a:pt x="136" y="31"/>
                    </a:lnTo>
                    <a:lnTo>
                      <a:pt x="130" y="37"/>
                    </a:lnTo>
                    <a:lnTo>
                      <a:pt x="123" y="37"/>
                    </a:lnTo>
                    <a:lnTo>
                      <a:pt x="111" y="55"/>
                    </a:lnTo>
                    <a:lnTo>
                      <a:pt x="105" y="55"/>
                    </a:lnTo>
                    <a:lnTo>
                      <a:pt x="105" y="62"/>
                    </a:lnTo>
                    <a:lnTo>
                      <a:pt x="111" y="62"/>
                    </a:lnTo>
                    <a:lnTo>
                      <a:pt x="105" y="68"/>
                    </a:lnTo>
                    <a:lnTo>
                      <a:pt x="99" y="55"/>
                    </a:lnTo>
                    <a:lnTo>
                      <a:pt x="92" y="68"/>
                    </a:lnTo>
                    <a:lnTo>
                      <a:pt x="92" y="74"/>
                    </a:lnTo>
                    <a:lnTo>
                      <a:pt x="80" y="93"/>
                    </a:lnTo>
                    <a:lnTo>
                      <a:pt x="30" y="99"/>
                    </a:lnTo>
                    <a:lnTo>
                      <a:pt x="12" y="118"/>
                    </a:lnTo>
                    <a:lnTo>
                      <a:pt x="12" y="111"/>
                    </a:lnTo>
                    <a:lnTo>
                      <a:pt x="6" y="124"/>
                    </a:lnTo>
                    <a:lnTo>
                      <a:pt x="6" y="130"/>
                    </a:lnTo>
                    <a:lnTo>
                      <a:pt x="6" y="136"/>
                    </a:lnTo>
                    <a:lnTo>
                      <a:pt x="12" y="161"/>
                    </a:lnTo>
                    <a:lnTo>
                      <a:pt x="6" y="155"/>
                    </a:lnTo>
                    <a:lnTo>
                      <a:pt x="6" y="161"/>
                    </a:lnTo>
                    <a:lnTo>
                      <a:pt x="0" y="161"/>
                    </a:lnTo>
                    <a:lnTo>
                      <a:pt x="18" y="192"/>
                    </a:lnTo>
                    <a:lnTo>
                      <a:pt x="24" y="223"/>
                    </a:lnTo>
                    <a:lnTo>
                      <a:pt x="24" y="236"/>
                    </a:lnTo>
                    <a:lnTo>
                      <a:pt x="18" y="242"/>
                    </a:lnTo>
                    <a:lnTo>
                      <a:pt x="18" y="248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57" name="Freeform 238">
                <a:extLst>
                  <a:ext uri="{FF2B5EF4-FFF2-40B4-BE49-F238E27FC236}">
                    <a16:creationId xmlns:a16="http://schemas.microsoft.com/office/drawing/2014/main" id="{B249ADC3-11C1-4D37-A23E-B2CBFD5AA1F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9378757" y="4028468"/>
                <a:ext cx="48404" cy="31151"/>
              </a:xfrm>
              <a:custGeom>
                <a:avLst/>
                <a:gdLst>
                  <a:gd name="T0" fmla="*/ 0 w 19"/>
                  <a:gd name="T1" fmla="*/ 17 h 18"/>
                  <a:gd name="T2" fmla="*/ 12 w 19"/>
                  <a:gd name="T3" fmla="*/ 17 h 18"/>
                  <a:gd name="T4" fmla="*/ 18 w 19"/>
                  <a:gd name="T5" fmla="*/ 0 h 18"/>
                  <a:gd name="T6" fmla="*/ 6 w 19"/>
                  <a:gd name="T7" fmla="*/ 0 h 18"/>
                  <a:gd name="T8" fmla="*/ 0 w 19"/>
                  <a:gd name="T9" fmla="*/ 17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"/>
                  <a:gd name="T16" fmla="*/ 0 h 18"/>
                  <a:gd name="T17" fmla="*/ 19 w 19"/>
                  <a:gd name="T18" fmla="*/ 18 h 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" h="18">
                    <a:moveTo>
                      <a:pt x="0" y="17"/>
                    </a:moveTo>
                    <a:lnTo>
                      <a:pt x="12" y="17"/>
                    </a:lnTo>
                    <a:lnTo>
                      <a:pt x="18" y="0"/>
                    </a:lnTo>
                    <a:lnTo>
                      <a:pt x="6" y="0"/>
                    </a:lnTo>
                    <a:lnTo>
                      <a:pt x="0" y="17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58" name="Freeform 239">
                <a:extLst>
                  <a:ext uri="{FF2B5EF4-FFF2-40B4-BE49-F238E27FC236}">
                    <a16:creationId xmlns:a16="http://schemas.microsoft.com/office/drawing/2014/main" id="{1BE45628-F3BD-49FC-A704-F6A60BA88EE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9554550" y="4480158"/>
                <a:ext cx="48404" cy="32882"/>
              </a:xfrm>
              <a:custGeom>
                <a:avLst/>
                <a:gdLst>
                  <a:gd name="T0" fmla="*/ 0 w 19"/>
                  <a:gd name="T1" fmla="*/ 18 h 19"/>
                  <a:gd name="T2" fmla="*/ 18 w 19"/>
                  <a:gd name="T3" fmla="*/ 18 h 19"/>
                  <a:gd name="T4" fmla="*/ 9 w 19"/>
                  <a:gd name="T5" fmla="*/ 0 h 19"/>
                  <a:gd name="T6" fmla="*/ 0 w 19"/>
                  <a:gd name="T7" fmla="*/ 18 h 1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"/>
                  <a:gd name="T13" fmla="*/ 0 h 19"/>
                  <a:gd name="T14" fmla="*/ 19 w 19"/>
                  <a:gd name="T15" fmla="*/ 19 h 1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9" h="19">
                    <a:moveTo>
                      <a:pt x="0" y="18"/>
                    </a:moveTo>
                    <a:lnTo>
                      <a:pt x="18" y="18"/>
                    </a:lnTo>
                    <a:lnTo>
                      <a:pt x="9" y="0"/>
                    </a:lnTo>
                    <a:lnTo>
                      <a:pt x="0" y="18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59" name="Freeform 240">
                <a:extLst>
                  <a:ext uri="{FF2B5EF4-FFF2-40B4-BE49-F238E27FC236}">
                    <a16:creationId xmlns:a16="http://schemas.microsoft.com/office/drawing/2014/main" id="{70965B49-5BC3-497F-8030-F2BD6EBF941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9760916" y="4585726"/>
                <a:ext cx="94265" cy="64032"/>
              </a:xfrm>
              <a:custGeom>
                <a:avLst/>
                <a:gdLst>
                  <a:gd name="T0" fmla="*/ 0 w 37"/>
                  <a:gd name="T1" fmla="*/ 0 h 37"/>
                  <a:gd name="T2" fmla="*/ 12 w 37"/>
                  <a:gd name="T3" fmla="*/ 36 h 37"/>
                  <a:gd name="T4" fmla="*/ 24 w 37"/>
                  <a:gd name="T5" fmla="*/ 36 h 37"/>
                  <a:gd name="T6" fmla="*/ 30 w 37"/>
                  <a:gd name="T7" fmla="*/ 30 h 37"/>
                  <a:gd name="T8" fmla="*/ 36 w 37"/>
                  <a:gd name="T9" fmla="*/ 6 h 37"/>
                  <a:gd name="T10" fmla="*/ 30 w 37"/>
                  <a:gd name="T11" fmla="*/ 0 h 37"/>
                  <a:gd name="T12" fmla="*/ 12 w 37"/>
                  <a:gd name="T13" fmla="*/ 6 h 37"/>
                  <a:gd name="T14" fmla="*/ 0 w 37"/>
                  <a:gd name="T15" fmla="*/ 0 h 3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37"/>
                  <a:gd name="T25" fmla="*/ 0 h 37"/>
                  <a:gd name="T26" fmla="*/ 37 w 37"/>
                  <a:gd name="T27" fmla="*/ 37 h 3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37" h="37">
                    <a:moveTo>
                      <a:pt x="0" y="0"/>
                    </a:moveTo>
                    <a:lnTo>
                      <a:pt x="12" y="36"/>
                    </a:lnTo>
                    <a:lnTo>
                      <a:pt x="24" y="36"/>
                    </a:lnTo>
                    <a:lnTo>
                      <a:pt x="30" y="30"/>
                    </a:lnTo>
                    <a:lnTo>
                      <a:pt x="36" y="6"/>
                    </a:lnTo>
                    <a:lnTo>
                      <a:pt x="30" y="0"/>
                    </a:lnTo>
                    <a:lnTo>
                      <a:pt x="12" y="6"/>
                    </a:lnTo>
                    <a:lnTo>
                      <a:pt x="0" y="0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60" name="Freeform 241">
                <a:extLst>
                  <a:ext uri="{FF2B5EF4-FFF2-40B4-BE49-F238E27FC236}">
                    <a16:creationId xmlns:a16="http://schemas.microsoft.com/office/drawing/2014/main" id="{0E853095-2171-4492-A66B-B2C0EF4C3D8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474275" y="4455929"/>
                <a:ext cx="155409" cy="152294"/>
              </a:xfrm>
              <a:custGeom>
                <a:avLst/>
                <a:gdLst>
                  <a:gd name="T0" fmla="*/ 12 w 61"/>
                  <a:gd name="T1" fmla="*/ 56 h 88"/>
                  <a:gd name="T2" fmla="*/ 24 w 61"/>
                  <a:gd name="T3" fmla="*/ 69 h 88"/>
                  <a:gd name="T4" fmla="*/ 24 w 61"/>
                  <a:gd name="T5" fmla="*/ 81 h 88"/>
                  <a:gd name="T6" fmla="*/ 24 w 61"/>
                  <a:gd name="T7" fmla="*/ 87 h 88"/>
                  <a:gd name="T8" fmla="*/ 30 w 61"/>
                  <a:gd name="T9" fmla="*/ 87 h 88"/>
                  <a:gd name="T10" fmla="*/ 42 w 61"/>
                  <a:gd name="T11" fmla="*/ 56 h 88"/>
                  <a:gd name="T12" fmla="*/ 54 w 61"/>
                  <a:gd name="T13" fmla="*/ 56 h 88"/>
                  <a:gd name="T14" fmla="*/ 54 w 61"/>
                  <a:gd name="T15" fmla="*/ 50 h 88"/>
                  <a:gd name="T16" fmla="*/ 60 w 61"/>
                  <a:gd name="T17" fmla="*/ 37 h 88"/>
                  <a:gd name="T18" fmla="*/ 54 w 61"/>
                  <a:gd name="T19" fmla="*/ 37 h 88"/>
                  <a:gd name="T20" fmla="*/ 48 w 61"/>
                  <a:gd name="T21" fmla="*/ 43 h 88"/>
                  <a:gd name="T22" fmla="*/ 36 w 61"/>
                  <a:gd name="T23" fmla="*/ 37 h 88"/>
                  <a:gd name="T24" fmla="*/ 30 w 61"/>
                  <a:gd name="T25" fmla="*/ 25 h 88"/>
                  <a:gd name="T26" fmla="*/ 30 w 61"/>
                  <a:gd name="T27" fmla="*/ 31 h 88"/>
                  <a:gd name="T28" fmla="*/ 24 w 61"/>
                  <a:gd name="T29" fmla="*/ 31 h 88"/>
                  <a:gd name="T30" fmla="*/ 18 w 61"/>
                  <a:gd name="T31" fmla="*/ 12 h 88"/>
                  <a:gd name="T32" fmla="*/ 0 w 61"/>
                  <a:gd name="T33" fmla="*/ 0 h 88"/>
                  <a:gd name="T34" fmla="*/ 18 w 61"/>
                  <a:gd name="T35" fmla="*/ 31 h 88"/>
                  <a:gd name="T36" fmla="*/ 24 w 61"/>
                  <a:gd name="T37" fmla="*/ 31 h 88"/>
                  <a:gd name="T38" fmla="*/ 18 w 61"/>
                  <a:gd name="T39" fmla="*/ 56 h 88"/>
                  <a:gd name="T40" fmla="*/ 12 w 61"/>
                  <a:gd name="T41" fmla="*/ 56 h 88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61"/>
                  <a:gd name="T64" fmla="*/ 0 h 88"/>
                  <a:gd name="T65" fmla="*/ 61 w 61"/>
                  <a:gd name="T66" fmla="*/ 88 h 88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61" h="88">
                    <a:moveTo>
                      <a:pt x="12" y="56"/>
                    </a:moveTo>
                    <a:lnTo>
                      <a:pt x="24" y="69"/>
                    </a:lnTo>
                    <a:lnTo>
                      <a:pt x="24" y="81"/>
                    </a:lnTo>
                    <a:lnTo>
                      <a:pt x="24" y="87"/>
                    </a:lnTo>
                    <a:lnTo>
                      <a:pt x="30" y="87"/>
                    </a:lnTo>
                    <a:lnTo>
                      <a:pt x="42" y="56"/>
                    </a:lnTo>
                    <a:lnTo>
                      <a:pt x="54" y="56"/>
                    </a:lnTo>
                    <a:lnTo>
                      <a:pt x="54" y="50"/>
                    </a:lnTo>
                    <a:lnTo>
                      <a:pt x="60" y="37"/>
                    </a:lnTo>
                    <a:lnTo>
                      <a:pt x="54" y="37"/>
                    </a:lnTo>
                    <a:lnTo>
                      <a:pt x="48" y="43"/>
                    </a:lnTo>
                    <a:lnTo>
                      <a:pt x="36" y="37"/>
                    </a:lnTo>
                    <a:lnTo>
                      <a:pt x="30" y="25"/>
                    </a:lnTo>
                    <a:lnTo>
                      <a:pt x="30" y="31"/>
                    </a:lnTo>
                    <a:lnTo>
                      <a:pt x="24" y="31"/>
                    </a:lnTo>
                    <a:lnTo>
                      <a:pt x="18" y="12"/>
                    </a:lnTo>
                    <a:lnTo>
                      <a:pt x="0" y="0"/>
                    </a:lnTo>
                    <a:lnTo>
                      <a:pt x="18" y="31"/>
                    </a:lnTo>
                    <a:lnTo>
                      <a:pt x="24" y="31"/>
                    </a:lnTo>
                    <a:lnTo>
                      <a:pt x="18" y="56"/>
                    </a:lnTo>
                    <a:lnTo>
                      <a:pt x="12" y="56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61" name="Freeform 242">
                <a:extLst>
                  <a:ext uri="{FF2B5EF4-FFF2-40B4-BE49-F238E27FC236}">
                    <a16:creationId xmlns:a16="http://schemas.microsoft.com/office/drawing/2014/main" id="{A9310B70-7FA0-4681-9190-EBD887FE79A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313767" y="4585726"/>
                <a:ext cx="206366" cy="140180"/>
              </a:xfrm>
              <a:custGeom>
                <a:avLst/>
                <a:gdLst>
                  <a:gd name="T0" fmla="*/ 0 w 81"/>
                  <a:gd name="T1" fmla="*/ 68 h 81"/>
                  <a:gd name="T2" fmla="*/ 6 w 81"/>
                  <a:gd name="T3" fmla="*/ 74 h 81"/>
                  <a:gd name="T4" fmla="*/ 12 w 81"/>
                  <a:gd name="T5" fmla="*/ 74 h 81"/>
                  <a:gd name="T6" fmla="*/ 24 w 81"/>
                  <a:gd name="T7" fmla="*/ 80 h 81"/>
                  <a:gd name="T8" fmla="*/ 37 w 81"/>
                  <a:gd name="T9" fmla="*/ 74 h 81"/>
                  <a:gd name="T10" fmla="*/ 43 w 81"/>
                  <a:gd name="T11" fmla="*/ 68 h 81"/>
                  <a:gd name="T12" fmla="*/ 49 w 81"/>
                  <a:gd name="T13" fmla="*/ 49 h 81"/>
                  <a:gd name="T14" fmla="*/ 62 w 81"/>
                  <a:gd name="T15" fmla="*/ 43 h 81"/>
                  <a:gd name="T16" fmla="*/ 68 w 81"/>
                  <a:gd name="T17" fmla="*/ 43 h 81"/>
                  <a:gd name="T18" fmla="*/ 68 w 81"/>
                  <a:gd name="T19" fmla="*/ 31 h 81"/>
                  <a:gd name="T20" fmla="*/ 80 w 81"/>
                  <a:gd name="T21" fmla="*/ 12 h 81"/>
                  <a:gd name="T22" fmla="*/ 80 w 81"/>
                  <a:gd name="T23" fmla="*/ 6 h 81"/>
                  <a:gd name="T24" fmla="*/ 74 w 81"/>
                  <a:gd name="T25" fmla="*/ 6 h 81"/>
                  <a:gd name="T26" fmla="*/ 68 w 81"/>
                  <a:gd name="T27" fmla="*/ 6 h 81"/>
                  <a:gd name="T28" fmla="*/ 62 w 81"/>
                  <a:gd name="T29" fmla="*/ 0 h 81"/>
                  <a:gd name="T30" fmla="*/ 62 w 81"/>
                  <a:gd name="T31" fmla="*/ 6 h 81"/>
                  <a:gd name="T32" fmla="*/ 56 w 81"/>
                  <a:gd name="T33" fmla="*/ 12 h 81"/>
                  <a:gd name="T34" fmla="*/ 49 w 81"/>
                  <a:gd name="T35" fmla="*/ 12 h 81"/>
                  <a:gd name="T36" fmla="*/ 49 w 81"/>
                  <a:gd name="T37" fmla="*/ 24 h 81"/>
                  <a:gd name="T38" fmla="*/ 18 w 81"/>
                  <a:gd name="T39" fmla="*/ 43 h 81"/>
                  <a:gd name="T40" fmla="*/ 0 w 81"/>
                  <a:gd name="T41" fmla="*/ 68 h 81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81"/>
                  <a:gd name="T64" fmla="*/ 0 h 81"/>
                  <a:gd name="T65" fmla="*/ 81 w 81"/>
                  <a:gd name="T66" fmla="*/ 81 h 81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81" h="81">
                    <a:moveTo>
                      <a:pt x="0" y="68"/>
                    </a:moveTo>
                    <a:lnTo>
                      <a:pt x="6" y="74"/>
                    </a:lnTo>
                    <a:lnTo>
                      <a:pt x="12" y="74"/>
                    </a:lnTo>
                    <a:lnTo>
                      <a:pt x="24" y="80"/>
                    </a:lnTo>
                    <a:lnTo>
                      <a:pt x="37" y="74"/>
                    </a:lnTo>
                    <a:lnTo>
                      <a:pt x="43" y="68"/>
                    </a:lnTo>
                    <a:lnTo>
                      <a:pt x="49" y="49"/>
                    </a:lnTo>
                    <a:lnTo>
                      <a:pt x="62" y="43"/>
                    </a:lnTo>
                    <a:lnTo>
                      <a:pt x="68" y="43"/>
                    </a:lnTo>
                    <a:lnTo>
                      <a:pt x="68" y="31"/>
                    </a:lnTo>
                    <a:lnTo>
                      <a:pt x="80" y="12"/>
                    </a:lnTo>
                    <a:lnTo>
                      <a:pt x="80" y="6"/>
                    </a:lnTo>
                    <a:lnTo>
                      <a:pt x="74" y="6"/>
                    </a:lnTo>
                    <a:lnTo>
                      <a:pt x="68" y="6"/>
                    </a:lnTo>
                    <a:lnTo>
                      <a:pt x="62" y="0"/>
                    </a:lnTo>
                    <a:lnTo>
                      <a:pt x="62" y="6"/>
                    </a:lnTo>
                    <a:lnTo>
                      <a:pt x="56" y="12"/>
                    </a:lnTo>
                    <a:lnTo>
                      <a:pt x="49" y="12"/>
                    </a:lnTo>
                    <a:lnTo>
                      <a:pt x="49" y="24"/>
                    </a:lnTo>
                    <a:lnTo>
                      <a:pt x="18" y="43"/>
                    </a:lnTo>
                    <a:lnTo>
                      <a:pt x="0" y="68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62" name="Freeform 243">
                <a:extLst>
                  <a:ext uri="{FF2B5EF4-FFF2-40B4-BE49-F238E27FC236}">
                    <a16:creationId xmlns:a16="http://schemas.microsoft.com/office/drawing/2014/main" id="{43ADCECE-2AFF-4B89-85D3-2BC505CAED4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344343" y="4725906"/>
                <a:ext cx="48404" cy="32882"/>
              </a:xfrm>
              <a:custGeom>
                <a:avLst/>
                <a:gdLst>
                  <a:gd name="T0" fmla="*/ 0 w 19"/>
                  <a:gd name="T1" fmla="*/ 18 h 19"/>
                  <a:gd name="T2" fmla="*/ 18 w 19"/>
                  <a:gd name="T3" fmla="*/ 9 h 19"/>
                  <a:gd name="T4" fmla="*/ 18 w 19"/>
                  <a:gd name="T5" fmla="*/ 0 h 19"/>
                  <a:gd name="T6" fmla="*/ 0 w 19"/>
                  <a:gd name="T7" fmla="*/ 18 h 1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"/>
                  <a:gd name="T13" fmla="*/ 0 h 19"/>
                  <a:gd name="T14" fmla="*/ 19 w 19"/>
                  <a:gd name="T15" fmla="*/ 19 h 1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9" h="19">
                    <a:moveTo>
                      <a:pt x="0" y="18"/>
                    </a:moveTo>
                    <a:lnTo>
                      <a:pt x="18" y="9"/>
                    </a:lnTo>
                    <a:lnTo>
                      <a:pt x="18" y="0"/>
                    </a:lnTo>
                    <a:lnTo>
                      <a:pt x="0" y="18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63" name="Freeform 244">
                <a:extLst>
                  <a:ext uri="{FF2B5EF4-FFF2-40B4-BE49-F238E27FC236}">
                    <a16:creationId xmlns:a16="http://schemas.microsoft.com/office/drawing/2014/main" id="{9E7B28D0-9A79-4AD4-A5C1-0704A861407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494702" y="3735995"/>
                <a:ext cx="285344" cy="193829"/>
              </a:xfrm>
              <a:custGeom>
                <a:avLst/>
                <a:gdLst>
                  <a:gd name="T0" fmla="*/ 0 w 112"/>
                  <a:gd name="T1" fmla="*/ 0 h 112"/>
                  <a:gd name="T2" fmla="*/ 6 w 112"/>
                  <a:gd name="T3" fmla="*/ 12 h 112"/>
                  <a:gd name="T4" fmla="*/ 18 w 112"/>
                  <a:gd name="T5" fmla="*/ 18 h 112"/>
                  <a:gd name="T6" fmla="*/ 24 w 112"/>
                  <a:gd name="T7" fmla="*/ 31 h 112"/>
                  <a:gd name="T8" fmla="*/ 37 w 112"/>
                  <a:gd name="T9" fmla="*/ 37 h 112"/>
                  <a:gd name="T10" fmla="*/ 43 w 112"/>
                  <a:gd name="T11" fmla="*/ 55 h 112"/>
                  <a:gd name="T12" fmla="*/ 55 w 112"/>
                  <a:gd name="T13" fmla="*/ 62 h 112"/>
                  <a:gd name="T14" fmla="*/ 68 w 112"/>
                  <a:gd name="T15" fmla="*/ 87 h 112"/>
                  <a:gd name="T16" fmla="*/ 93 w 112"/>
                  <a:gd name="T17" fmla="*/ 111 h 112"/>
                  <a:gd name="T18" fmla="*/ 105 w 112"/>
                  <a:gd name="T19" fmla="*/ 111 h 112"/>
                  <a:gd name="T20" fmla="*/ 111 w 112"/>
                  <a:gd name="T21" fmla="*/ 87 h 112"/>
                  <a:gd name="T22" fmla="*/ 105 w 112"/>
                  <a:gd name="T23" fmla="*/ 80 h 112"/>
                  <a:gd name="T24" fmla="*/ 99 w 112"/>
                  <a:gd name="T25" fmla="*/ 80 h 112"/>
                  <a:gd name="T26" fmla="*/ 93 w 112"/>
                  <a:gd name="T27" fmla="*/ 68 h 112"/>
                  <a:gd name="T28" fmla="*/ 80 w 112"/>
                  <a:gd name="T29" fmla="*/ 62 h 112"/>
                  <a:gd name="T30" fmla="*/ 87 w 112"/>
                  <a:gd name="T31" fmla="*/ 55 h 112"/>
                  <a:gd name="T32" fmla="*/ 80 w 112"/>
                  <a:gd name="T33" fmla="*/ 49 h 112"/>
                  <a:gd name="T34" fmla="*/ 80 w 112"/>
                  <a:gd name="T35" fmla="*/ 43 h 112"/>
                  <a:gd name="T36" fmla="*/ 62 w 112"/>
                  <a:gd name="T37" fmla="*/ 37 h 112"/>
                  <a:gd name="T38" fmla="*/ 55 w 112"/>
                  <a:gd name="T39" fmla="*/ 37 h 112"/>
                  <a:gd name="T40" fmla="*/ 24 w 112"/>
                  <a:gd name="T41" fmla="*/ 6 h 112"/>
                  <a:gd name="T42" fmla="*/ 0 w 112"/>
                  <a:gd name="T43" fmla="*/ 0 h 112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112"/>
                  <a:gd name="T67" fmla="*/ 0 h 112"/>
                  <a:gd name="T68" fmla="*/ 112 w 112"/>
                  <a:gd name="T69" fmla="*/ 112 h 112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112" h="112">
                    <a:moveTo>
                      <a:pt x="0" y="0"/>
                    </a:moveTo>
                    <a:lnTo>
                      <a:pt x="6" y="12"/>
                    </a:lnTo>
                    <a:lnTo>
                      <a:pt x="18" y="18"/>
                    </a:lnTo>
                    <a:lnTo>
                      <a:pt x="24" y="31"/>
                    </a:lnTo>
                    <a:lnTo>
                      <a:pt x="37" y="37"/>
                    </a:lnTo>
                    <a:lnTo>
                      <a:pt x="43" y="55"/>
                    </a:lnTo>
                    <a:lnTo>
                      <a:pt x="55" y="62"/>
                    </a:lnTo>
                    <a:lnTo>
                      <a:pt x="68" y="87"/>
                    </a:lnTo>
                    <a:lnTo>
                      <a:pt x="93" y="111"/>
                    </a:lnTo>
                    <a:lnTo>
                      <a:pt x="105" y="111"/>
                    </a:lnTo>
                    <a:lnTo>
                      <a:pt x="111" y="87"/>
                    </a:lnTo>
                    <a:lnTo>
                      <a:pt x="105" y="80"/>
                    </a:lnTo>
                    <a:lnTo>
                      <a:pt x="99" y="80"/>
                    </a:lnTo>
                    <a:lnTo>
                      <a:pt x="93" y="68"/>
                    </a:lnTo>
                    <a:lnTo>
                      <a:pt x="80" y="62"/>
                    </a:lnTo>
                    <a:lnTo>
                      <a:pt x="87" y="55"/>
                    </a:lnTo>
                    <a:lnTo>
                      <a:pt x="80" y="49"/>
                    </a:lnTo>
                    <a:lnTo>
                      <a:pt x="80" y="43"/>
                    </a:lnTo>
                    <a:lnTo>
                      <a:pt x="62" y="37"/>
                    </a:lnTo>
                    <a:lnTo>
                      <a:pt x="55" y="37"/>
                    </a:lnTo>
                    <a:lnTo>
                      <a:pt x="24" y="6"/>
                    </a:lnTo>
                    <a:lnTo>
                      <a:pt x="0" y="0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64" name="Freeform 245">
                <a:extLst>
                  <a:ext uri="{FF2B5EF4-FFF2-40B4-BE49-F238E27FC236}">
                    <a16:creationId xmlns:a16="http://schemas.microsoft.com/office/drawing/2014/main" id="{B2DAE54C-00FC-41C8-B714-66C144B103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762211" y="3929824"/>
                <a:ext cx="224199" cy="43264"/>
              </a:xfrm>
              <a:custGeom>
                <a:avLst/>
                <a:gdLst>
                  <a:gd name="T0" fmla="*/ 0 w 88"/>
                  <a:gd name="T1" fmla="*/ 6 h 25"/>
                  <a:gd name="T2" fmla="*/ 25 w 88"/>
                  <a:gd name="T3" fmla="*/ 18 h 25"/>
                  <a:gd name="T4" fmla="*/ 87 w 88"/>
                  <a:gd name="T5" fmla="*/ 24 h 25"/>
                  <a:gd name="T6" fmla="*/ 87 w 88"/>
                  <a:gd name="T7" fmla="*/ 18 h 25"/>
                  <a:gd name="T8" fmla="*/ 75 w 88"/>
                  <a:gd name="T9" fmla="*/ 18 h 25"/>
                  <a:gd name="T10" fmla="*/ 69 w 88"/>
                  <a:gd name="T11" fmla="*/ 12 h 25"/>
                  <a:gd name="T12" fmla="*/ 50 w 88"/>
                  <a:gd name="T13" fmla="*/ 6 h 25"/>
                  <a:gd name="T14" fmla="*/ 50 w 88"/>
                  <a:gd name="T15" fmla="*/ 12 h 25"/>
                  <a:gd name="T16" fmla="*/ 37 w 88"/>
                  <a:gd name="T17" fmla="*/ 12 h 25"/>
                  <a:gd name="T18" fmla="*/ 18 w 88"/>
                  <a:gd name="T19" fmla="*/ 0 h 25"/>
                  <a:gd name="T20" fmla="*/ 6 w 88"/>
                  <a:gd name="T21" fmla="*/ 0 h 25"/>
                  <a:gd name="T22" fmla="*/ 0 w 88"/>
                  <a:gd name="T23" fmla="*/ 6 h 25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88"/>
                  <a:gd name="T37" fmla="*/ 0 h 25"/>
                  <a:gd name="T38" fmla="*/ 88 w 88"/>
                  <a:gd name="T39" fmla="*/ 25 h 25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88" h="25">
                    <a:moveTo>
                      <a:pt x="0" y="6"/>
                    </a:moveTo>
                    <a:lnTo>
                      <a:pt x="25" y="18"/>
                    </a:lnTo>
                    <a:lnTo>
                      <a:pt x="87" y="24"/>
                    </a:lnTo>
                    <a:lnTo>
                      <a:pt x="87" y="18"/>
                    </a:lnTo>
                    <a:lnTo>
                      <a:pt x="75" y="18"/>
                    </a:lnTo>
                    <a:lnTo>
                      <a:pt x="69" y="12"/>
                    </a:lnTo>
                    <a:lnTo>
                      <a:pt x="50" y="6"/>
                    </a:lnTo>
                    <a:lnTo>
                      <a:pt x="50" y="12"/>
                    </a:lnTo>
                    <a:lnTo>
                      <a:pt x="37" y="12"/>
                    </a:lnTo>
                    <a:lnTo>
                      <a:pt x="18" y="0"/>
                    </a:lnTo>
                    <a:lnTo>
                      <a:pt x="6" y="0"/>
                    </a:lnTo>
                    <a:lnTo>
                      <a:pt x="0" y="6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65" name="Freeform 246">
                <a:extLst>
                  <a:ext uri="{FF2B5EF4-FFF2-40B4-BE49-F238E27FC236}">
                    <a16:creationId xmlns:a16="http://schemas.microsoft.com/office/drawing/2014/main" id="{4CB5923A-45EA-451E-A40D-4BE8FC57647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986410" y="3974819"/>
                <a:ext cx="45858" cy="32882"/>
              </a:xfrm>
              <a:custGeom>
                <a:avLst/>
                <a:gdLst>
                  <a:gd name="T0" fmla="*/ 0 w 18"/>
                  <a:gd name="T1" fmla="*/ 0 h 19"/>
                  <a:gd name="T2" fmla="*/ 8 w 18"/>
                  <a:gd name="T3" fmla="*/ 18 h 19"/>
                  <a:gd name="T4" fmla="*/ 17 w 18"/>
                  <a:gd name="T5" fmla="*/ 0 h 19"/>
                  <a:gd name="T6" fmla="*/ 0 w 18"/>
                  <a:gd name="T7" fmla="*/ 0 h 1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8"/>
                  <a:gd name="T13" fmla="*/ 0 h 19"/>
                  <a:gd name="T14" fmla="*/ 18 w 18"/>
                  <a:gd name="T15" fmla="*/ 19 h 1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8" h="19">
                    <a:moveTo>
                      <a:pt x="0" y="0"/>
                    </a:moveTo>
                    <a:lnTo>
                      <a:pt x="8" y="18"/>
                    </a:lnTo>
                    <a:lnTo>
                      <a:pt x="17" y="0"/>
                    </a:lnTo>
                    <a:lnTo>
                      <a:pt x="0" y="0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66" name="Freeform 247">
                <a:extLst>
                  <a:ext uri="{FF2B5EF4-FFF2-40B4-BE49-F238E27FC236}">
                    <a16:creationId xmlns:a16="http://schemas.microsoft.com/office/drawing/2014/main" id="{C832E4F4-1DB4-4A20-B1B5-E3ED83CA22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9032269" y="3974819"/>
                <a:ext cx="191079" cy="32882"/>
              </a:xfrm>
              <a:custGeom>
                <a:avLst/>
                <a:gdLst>
                  <a:gd name="T0" fmla="*/ 0 w 75"/>
                  <a:gd name="T1" fmla="*/ 18 h 19"/>
                  <a:gd name="T2" fmla="*/ 12 w 75"/>
                  <a:gd name="T3" fmla="*/ 18 h 19"/>
                  <a:gd name="T4" fmla="*/ 31 w 75"/>
                  <a:gd name="T5" fmla="*/ 18 h 19"/>
                  <a:gd name="T6" fmla="*/ 56 w 75"/>
                  <a:gd name="T7" fmla="*/ 18 h 19"/>
                  <a:gd name="T8" fmla="*/ 74 w 75"/>
                  <a:gd name="T9" fmla="*/ 0 h 19"/>
                  <a:gd name="T10" fmla="*/ 68 w 75"/>
                  <a:gd name="T11" fmla="*/ 0 h 19"/>
                  <a:gd name="T12" fmla="*/ 62 w 75"/>
                  <a:gd name="T13" fmla="*/ 18 h 19"/>
                  <a:gd name="T14" fmla="*/ 43 w 75"/>
                  <a:gd name="T15" fmla="*/ 0 h 19"/>
                  <a:gd name="T16" fmla="*/ 31 w 75"/>
                  <a:gd name="T17" fmla="*/ 18 h 19"/>
                  <a:gd name="T18" fmla="*/ 12 w 75"/>
                  <a:gd name="T19" fmla="*/ 0 h 19"/>
                  <a:gd name="T20" fmla="*/ 18 w 75"/>
                  <a:gd name="T21" fmla="*/ 0 h 19"/>
                  <a:gd name="T22" fmla="*/ 0 w 75"/>
                  <a:gd name="T23" fmla="*/ 0 h 19"/>
                  <a:gd name="T24" fmla="*/ 0 w 75"/>
                  <a:gd name="T25" fmla="*/ 18 h 19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75"/>
                  <a:gd name="T40" fmla="*/ 0 h 19"/>
                  <a:gd name="T41" fmla="*/ 75 w 75"/>
                  <a:gd name="T42" fmla="*/ 19 h 19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75" h="19">
                    <a:moveTo>
                      <a:pt x="0" y="18"/>
                    </a:moveTo>
                    <a:lnTo>
                      <a:pt x="12" y="18"/>
                    </a:lnTo>
                    <a:lnTo>
                      <a:pt x="31" y="18"/>
                    </a:lnTo>
                    <a:lnTo>
                      <a:pt x="56" y="18"/>
                    </a:lnTo>
                    <a:lnTo>
                      <a:pt x="74" y="0"/>
                    </a:lnTo>
                    <a:lnTo>
                      <a:pt x="68" y="0"/>
                    </a:lnTo>
                    <a:lnTo>
                      <a:pt x="62" y="18"/>
                    </a:lnTo>
                    <a:lnTo>
                      <a:pt x="43" y="0"/>
                    </a:lnTo>
                    <a:lnTo>
                      <a:pt x="31" y="18"/>
                    </a:lnTo>
                    <a:lnTo>
                      <a:pt x="12" y="0"/>
                    </a:lnTo>
                    <a:lnTo>
                      <a:pt x="18" y="0"/>
                    </a:lnTo>
                    <a:lnTo>
                      <a:pt x="0" y="0"/>
                    </a:lnTo>
                    <a:lnTo>
                      <a:pt x="0" y="18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67" name="Freeform 248">
                <a:extLst>
                  <a:ext uri="{FF2B5EF4-FFF2-40B4-BE49-F238E27FC236}">
                    <a16:creationId xmlns:a16="http://schemas.microsoft.com/office/drawing/2014/main" id="{30268311-103F-4EC3-880F-26414E160D4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9238634" y="3974819"/>
                <a:ext cx="48404" cy="1731"/>
              </a:xfrm>
              <a:custGeom>
                <a:avLst/>
                <a:gdLst>
                  <a:gd name="T0" fmla="*/ 0 w 19"/>
                  <a:gd name="T1" fmla="*/ 0 h 1"/>
                  <a:gd name="T2" fmla="*/ 18 w 19"/>
                  <a:gd name="T3" fmla="*/ 0 h 1"/>
                  <a:gd name="T4" fmla="*/ 0 w 19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9"/>
                  <a:gd name="T10" fmla="*/ 0 h 1"/>
                  <a:gd name="T11" fmla="*/ 19 w 19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" h="1">
                    <a:moveTo>
                      <a:pt x="0" y="0"/>
                    </a:moveTo>
                    <a:lnTo>
                      <a:pt x="18" y="0"/>
                    </a:lnTo>
                    <a:lnTo>
                      <a:pt x="0" y="0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68" name="Freeform 249">
                <a:extLst>
                  <a:ext uri="{FF2B5EF4-FFF2-40B4-BE49-F238E27FC236}">
                    <a16:creationId xmlns:a16="http://schemas.microsoft.com/office/drawing/2014/main" id="{C26B15DB-D881-4A40-8BE8-5E8E88E9348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9284493" y="3964436"/>
                <a:ext cx="48404" cy="1731"/>
              </a:xfrm>
              <a:custGeom>
                <a:avLst/>
                <a:gdLst>
                  <a:gd name="T0" fmla="*/ 0 w 19"/>
                  <a:gd name="T1" fmla="*/ 0 h 1"/>
                  <a:gd name="T2" fmla="*/ 18 w 19"/>
                  <a:gd name="T3" fmla="*/ 0 h 1"/>
                  <a:gd name="T4" fmla="*/ 0 w 19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9"/>
                  <a:gd name="T10" fmla="*/ 0 h 1"/>
                  <a:gd name="T11" fmla="*/ 19 w 19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" h="1">
                    <a:moveTo>
                      <a:pt x="0" y="0"/>
                    </a:moveTo>
                    <a:lnTo>
                      <a:pt x="18" y="0"/>
                    </a:lnTo>
                    <a:lnTo>
                      <a:pt x="0" y="0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69" name="Freeform 250">
                <a:extLst>
                  <a:ext uri="{FF2B5EF4-FFF2-40B4-BE49-F238E27FC236}">
                    <a16:creationId xmlns:a16="http://schemas.microsoft.com/office/drawing/2014/main" id="{7EB45C56-6099-4D46-BC6A-9274BDE047D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9095961" y="3995587"/>
                <a:ext cx="63693" cy="32882"/>
              </a:xfrm>
              <a:custGeom>
                <a:avLst/>
                <a:gdLst>
                  <a:gd name="T0" fmla="*/ 0 w 25"/>
                  <a:gd name="T1" fmla="*/ 0 h 19"/>
                  <a:gd name="T2" fmla="*/ 18 w 25"/>
                  <a:gd name="T3" fmla="*/ 18 h 19"/>
                  <a:gd name="T4" fmla="*/ 24 w 25"/>
                  <a:gd name="T5" fmla="*/ 18 h 19"/>
                  <a:gd name="T6" fmla="*/ 12 w 25"/>
                  <a:gd name="T7" fmla="*/ 0 h 19"/>
                  <a:gd name="T8" fmla="*/ 0 w 25"/>
                  <a:gd name="T9" fmla="*/ 0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"/>
                  <a:gd name="T16" fmla="*/ 0 h 19"/>
                  <a:gd name="T17" fmla="*/ 25 w 25"/>
                  <a:gd name="T18" fmla="*/ 19 h 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" h="19">
                    <a:moveTo>
                      <a:pt x="0" y="0"/>
                    </a:moveTo>
                    <a:lnTo>
                      <a:pt x="18" y="18"/>
                    </a:lnTo>
                    <a:lnTo>
                      <a:pt x="24" y="18"/>
                    </a:lnTo>
                    <a:lnTo>
                      <a:pt x="12" y="0"/>
                    </a:lnTo>
                    <a:lnTo>
                      <a:pt x="0" y="0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70" name="Freeform 251">
                <a:extLst>
                  <a:ext uri="{FF2B5EF4-FFF2-40B4-BE49-F238E27FC236}">
                    <a16:creationId xmlns:a16="http://schemas.microsoft.com/office/drawing/2014/main" id="{E32201DC-B878-4806-B958-3E4B26214C5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9223348" y="3974819"/>
                <a:ext cx="94265" cy="32882"/>
              </a:xfrm>
              <a:custGeom>
                <a:avLst/>
                <a:gdLst>
                  <a:gd name="T0" fmla="*/ 0 w 37"/>
                  <a:gd name="T1" fmla="*/ 18 h 19"/>
                  <a:gd name="T2" fmla="*/ 6 w 37"/>
                  <a:gd name="T3" fmla="*/ 18 h 19"/>
                  <a:gd name="T4" fmla="*/ 36 w 37"/>
                  <a:gd name="T5" fmla="*/ 0 h 19"/>
                  <a:gd name="T6" fmla="*/ 12 w 37"/>
                  <a:gd name="T7" fmla="*/ 6 h 19"/>
                  <a:gd name="T8" fmla="*/ 6 w 37"/>
                  <a:gd name="T9" fmla="*/ 12 h 19"/>
                  <a:gd name="T10" fmla="*/ 0 w 37"/>
                  <a:gd name="T11" fmla="*/ 18 h 1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7"/>
                  <a:gd name="T19" fmla="*/ 0 h 19"/>
                  <a:gd name="T20" fmla="*/ 37 w 37"/>
                  <a:gd name="T21" fmla="*/ 19 h 1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7" h="19">
                    <a:moveTo>
                      <a:pt x="0" y="18"/>
                    </a:moveTo>
                    <a:lnTo>
                      <a:pt x="6" y="18"/>
                    </a:lnTo>
                    <a:lnTo>
                      <a:pt x="36" y="0"/>
                    </a:lnTo>
                    <a:lnTo>
                      <a:pt x="12" y="6"/>
                    </a:lnTo>
                    <a:lnTo>
                      <a:pt x="6" y="12"/>
                    </a:lnTo>
                    <a:lnTo>
                      <a:pt x="0" y="18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71" name="Freeform 252">
                <a:extLst>
                  <a:ext uri="{FF2B5EF4-FFF2-40B4-BE49-F238E27FC236}">
                    <a16:creationId xmlns:a16="http://schemas.microsoft.com/office/drawing/2014/main" id="{5EA582F4-F39F-4BA4-A2A0-70A5D2DDAEC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9490857" y="3919439"/>
                <a:ext cx="48404" cy="32882"/>
              </a:xfrm>
              <a:custGeom>
                <a:avLst/>
                <a:gdLst>
                  <a:gd name="T0" fmla="*/ 0 w 19"/>
                  <a:gd name="T1" fmla="*/ 18 h 19"/>
                  <a:gd name="T2" fmla="*/ 18 w 19"/>
                  <a:gd name="T3" fmla="*/ 6 h 19"/>
                  <a:gd name="T4" fmla="*/ 18 w 19"/>
                  <a:gd name="T5" fmla="*/ 0 h 19"/>
                  <a:gd name="T6" fmla="*/ 0 w 19"/>
                  <a:gd name="T7" fmla="*/ 18 h 1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"/>
                  <a:gd name="T13" fmla="*/ 0 h 19"/>
                  <a:gd name="T14" fmla="*/ 19 w 19"/>
                  <a:gd name="T15" fmla="*/ 19 h 1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9" h="19">
                    <a:moveTo>
                      <a:pt x="0" y="18"/>
                    </a:moveTo>
                    <a:lnTo>
                      <a:pt x="18" y="6"/>
                    </a:lnTo>
                    <a:lnTo>
                      <a:pt x="18" y="0"/>
                    </a:lnTo>
                    <a:lnTo>
                      <a:pt x="0" y="18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72" name="Freeform 253">
                <a:extLst>
                  <a:ext uri="{FF2B5EF4-FFF2-40B4-BE49-F238E27FC236}">
                    <a16:creationId xmlns:a16="http://schemas.microsoft.com/office/drawing/2014/main" id="{345B345E-94D5-4201-B3F6-18A4A95EC3A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746925" y="3855406"/>
                <a:ext cx="48404" cy="32882"/>
              </a:xfrm>
              <a:custGeom>
                <a:avLst/>
                <a:gdLst>
                  <a:gd name="T0" fmla="*/ 0 w 19"/>
                  <a:gd name="T1" fmla="*/ 6 h 19"/>
                  <a:gd name="T2" fmla="*/ 6 w 19"/>
                  <a:gd name="T3" fmla="*/ 6 h 19"/>
                  <a:gd name="T4" fmla="*/ 6 w 19"/>
                  <a:gd name="T5" fmla="*/ 12 h 19"/>
                  <a:gd name="T6" fmla="*/ 18 w 19"/>
                  <a:gd name="T7" fmla="*/ 18 h 19"/>
                  <a:gd name="T8" fmla="*/ 18 w 19"/>
                  <a:gd name="T9" fmla="*/ 12 h 19"/>
                  <a:gd name="T10" fmla="*/ 12 w 19"/>
                  <a:gd name="T11" fmla="*/ 0 h 19"/>
                  <a:gd name="T12" fmla="*/ 0 w 19"/>
                  <a:gd name="T13" fmla="*/ 6 h 1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"/>
                  <a:gd name="T22" fmla="*/ 0 h 19"/>
                  <a:gd name="T23" fmla="*/ 19 w 19"/>
                  <a:gd name="T24" fmla="*/ 19 h 1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" h="19">
                    <a:moveTo>
                      <a:pt x="0" y="6"/>
                    </a:moveTo>
                    <a:lnTo>
                      <a:pt x="6" y="6"/>
                    </a:lnTo>
                    <a:lnTo>
                      <a:pt x="6" y="12"/>
                    </a:lnTo>
                    <a:lnTo>
                      <a:pt x="18" y="18"/>
                    </a:lnTo>
                    <a:lnTo>
                      <a:pt x="18" y="12"/>
                    </a:lnTo>
                    <a:lnTo>
                      <a:pt x="12" y="0"/>
                    </a:lnTo>
                    <a:lnTo>
                      <a:pt x="0" y="6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73" name="Freeform 254">
                <a:extLst>
                  <a:ext uri="{FF2B5EF4-FFF2-40B4-BE49-F238E27FC236}">
                    <a16:creationId xmlns:a16="http://schemas.microsoft.com/office/drawing/2014/main" id="{C4E560FE-EA71-49D7-8A7B-6C6E379034C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810617" y="3876175"/>
                <a:ext cx="45858" cy="32882"/>
              </a:xfrm>
              <a:custGeom>
                <a:avLst/>
                <a:gdLst>
                  <a:gd name="T0" fmla="*/ 0 w 18"/>
                  <a:gd name="T1" fmla="*/ 18 h 19"/>
                  <a:gd name="T2" fmla="*/ 17 w 18"/>
                  <a:gd name="T3" fmla="*/ 18 h 19"/>
                  <a:gd name="T4" fmla="*/ 17 w 18"/>
                  <a:gd name="T5" fmla="*/ 0 h 19"/>
                  <a:gd name="T6" fmla="*/ 0 w 18"/>
                  <a:gd name="T7" fmla="*/ 0 h 19"/>
                  <a:gd name="T8" fmla="*/ 0 w 18"/>
                  <a:gd name="T9" fmla="*/ 18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"/>
                  <a:gd name="T16" fmla="*/ 0 h 19"/>
                  <a:gd name="T17" fmla="*/ 18 w 18"/>
                  <a:gd name="T18" fmla="*/ 19 h 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" h="19">
                    <a:moveTo>
                      <a:pt x="0" y="18"/>
                    </a:moveTo>
                    <a:lnTo>
                      <a:pt x="17" y="18"/>
                    </a:lnTo>
                    <a:lnTo>
                      <a:pt x="17" y="0"/>
                    </a:lnTo>
                    <a:lnTo>
                      <a:pt x="0" y="0"/>
                    </a:lnTo>
                    <a:lnTo>
                      <a:pt x="0" y="18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74" name="Freeform 255">
                <a:extLst>
                  <a:ext uri="{FF2B5EF4-FFF2-40B4-BE49-F238E27FC236}">
                    <a16:creationId xmlns:a16="http://schemas.microsoft.com/office/drawing/2014/main" id="{9939C82F-0BAB-4F26-9ED6-C2E55EC9FEE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9095961" y="3803487"/>
                <a:ext cx="173244" cy="126336"/>
              </a:xfrm>
              <a:custGeom>
                <a:avLst/>
                <a:gdLst>
                  <a:gd name="T0" fmla="*/ 0 w 68"/>
                  <a:gd name="T1" fmla="*/ 48 h 73"/>
                  <a:gd name="T2" fmla="*/ 0 w 68"/>
                  <a:gd name="T3" fmla="*/ 54 h 73"/>
                  <a:gd name="T4" fmla="*/ 6 w 68"/>
                  <a:gd name="T5" fmla="*/ 54 h 73"/>
                  <a:gd name="T6" fmla="*/ 12 w 68"/>
                  <a:gd name="T7" fmla="*/ 54 h 73"/>
                  <a:gd name="T8" fmla="*/ 6 w 68"/>
                  <a:gd name="T9" fmla="*/ 72 h 73"/>
                  <a:gd name="T10" fmla="*/ 18 w 68"/>
                  <a:gd name="T11" fmla="*/ 72 h 73"/>
                  <a:gd name="T12" fmla="*/ 18 w 68"/>
                  <a:gd name="T13" fmla="*/ 48 h 73"/>
                  <a:gd name="T14" fmla="*/ 18 w 68"/>
                  <a:gd name="T15" fmla="*/ 42 h 73"/>
                  <a:gd name="T16" fmla="*/ 24 w 68"/>
                  <a:gd name="T17" fmla="*/ 42 h 73"/>
                  <a:gd name="T18" fmla="*/ 24 w 68"/>
                  <a:gd name="T19" fmla="*/ 48 h 73"/>
                  <a:gd name="T20" fmla="*/ 30 w 68"/>
                  <a:gd name="T21" fmla="*/ 54 h 73"/>
                  <a:gd name="T22" fmla="*/ 30 w 68"/>
                  <a:gd name="T23" fmla="*/ 60 h 73"/>
                  <a:gd name="T24" fmla="*/ 37 w 68"/>
                  <a:gd name="T25" fmla="*/ 60 h 73"/>
                  <a:gd name="T26" fmla="*/ 37 w 68"/>
                  <a:gd name="T27" fmla="*/ 72 h 73"/>
                  <a:gd name="T28" fmla="*/ 43 w 68"/>
                  <a:gd name="T29" fmla="*/ 72 h 73"/>
                  <a:gd name="T30" fmla="*/ 43 w 68"/>
                  <a:gd name="T31" fmla="*/ 66 h 73"/>
                  <a:gd name="T32" fmla="*/ 37 w 68"/>
                  <a:gd name="T33" fmla="*/ 54 h 73"/>
                  <a:gd name="T34" fmla="*/ 37 w 68"/>
                  <a:gd name="T35" fmla="*/ 48 h 73"/>
                  <a:gd name="T36" fmla="*/ 30 w 68"/>
                  <a:gd name="T37" fmla="*/ 36 h 73"/>
                  <a:gd name="T38" fmla="*/ 43 w 68"/>
                  <a:gd name="T39" fmla="*/ 24 h 73"/>
                  <a:gd name="T40" fmla="*/ 49 w 68"/>
                  <a:gd name="T41" fmla="*/ 24 h 73"/>
                  <a:gd name="T42" fmla="*/ 43 w 68"/>
                  <a:gd name="T43" fmla="*/ 24 h 73"/>
                  <a:gd name="T44" fmla="*/ 18 w 68"/>
                  <a:gd name="T45" fmla="*/ 30 h 73"/>
                  <a:gd name="T46" fmla="*/ 12 w 68"/>
                  <a:gd name="T47" fmla="*/ 24 h 73"/>
                  <a:gd name="T48" fmla="*/ 12 w 68"/>
                  <a:gd name="T49" fmla="*/ 18 h 73"/>
                  <a:gd name="T50" fmla="*/ 18 w 68"/>
                  <a:gd name="T51" fmla="*/ 12 h 73"/>
                  <a:gd name="T52" fmla="*/ 61 w 68"/>
                  <a:gd name="T53" fmla="*/ 12 h 73"/>
                  <a:gd name="T54" fmla="*/ 67 w 68"/>
                  <a:gd name="T55" fmla="*/ 6 h 73"/>
                  <a:gd name="T56" fmla="*/ 61 w 68"/>
                  <a:gd name="T57" fmla="*/ 0 h 73"/>
                  <a:gd name="T58" fmla="*/ 55 w 68"/>
                  <a:gd name="T59" fmla="*/ 12 h 73"/>
                  <a:gd name="T60" fmla="*/ 43 w 68"/>
                  <a:gd name="T61" fmla="*/ 12 h 73"/>
                  <a:gd name="T62" fmla="*/ 24 w 68"/>
                  <a:gd name="T63" fmla="*/ 6 h 73"/>
                  <a:gd name="T64" fmla="*/ 18 w 68"/>
                  <a:gd name="T65" fmla="*/ 12 h 73"/>
                  <a:gd name="T66" fmla="*/ 12 w 68"/>
                  <a:gd name="T67" fmla="*/ 12 h 73"/>
                  <a:gd name="T68" fmla="*/ 12 w 68"/>
                  <a:gd name="T69" fmla="*/ 24 h 73"/>
                  <a:gd name="T70" fmla="*/ 0 w 68"/>
                  <a:gd name="T71" fmla="*/ 48 h 73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68"/>
                  <a:gd name="T109" fmla="*/ 0 h 73"/>
                  <a:gd name="T110" fmla="*/ 68 w 68"/>
                  <a:gd name="T111" fmla="*/ 73 h 73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68" h="73">
                    <a:moveTo>
                      <a:pt x="0" y="48"/>
                    </a:moveTo>
                    <a:lnTo>
                      <a:pt x="0" y="54"/>
                    </a:lnTo>
                    <a:lnTo>
                      <a:pt x="6" y="54"/>
                    </a:lnTo>
                    <a:lnTo>
                      <a:pt x="12" y="54"/>
                    </a:lnTo>
                    <a:lnTo>
                      <a:pt x="6" y="72"/>
                    </a:lnTo>
                    <a:lnTo>
                      <a:pt x="18" y="72"/>
                    </a:lnTo>
                    <a:lnTo>
                      <a:pt x="18" y="48"/>
                    </a:lnTo>
                    <a:lnTo>
                      <a:pt x="18" y="42"/>
                    </a:lnTo>
                    <a:lnTo>
                      <a:pt x="24" y="42"/>
                    </a:lnTo>
                    <a:lnTo>
                      <a:pt x="24" y="48"/>
                    </a:lnTo>
                    <a:lnTo>
                      <a:pt x="30" y="54"/>
                    </a:lnTo>
                    <a:lnTo>
                      <a:pt x="30" y="60"/>
                    </a:lnTo>
                    <a:lnTo>
                      <a:pt x="37" y="60"/>
                    </a:lnTo>
                    <a:lnTo>
                      <a:pt x="37" y="72"/>
                    </a:lnTo>
                    <a:lnTo>
                      <a:pt x="43" y="72"/>
                    </a:lnTo>
                    <a:lnTo>
                      <a:pt x="43" y="66"/>
                    </a:lnTo>
                    <a:lnTo>
                      <a:pt x="37" y="54"/>
                    </a:lnTo>
                    <a:lnTo>
                      <a:pt x="37" y="48"/>
                    </a:lnTo>
                    <a:lnTo>
                      <a:pt x="30" y="36"/>
                    </a:lnTo>
                    <a:lnTo>
                      <a:pt x="43" y="24"/>
                    </a:lnTo>
                    <a:lnTo>
                      <a:pt x="49" y="24"/>
                    </a:lnTo>
                    <a:lnTo>
                      <a:pt x="43" y="24"/>
                    </a:lnTo>
                    <a:lnTo>
                      <a:pt x="18" y="30"/>
                    </a:lnTo>
                    <a:lnTo>
                      <a:pt x="12" y="24"/>
                    </a:lnTo>
                    <a:lnTo>
                      <a:pt x="12" y="18"/>
                    </a:lnTo>
                    <a:lnTo>
                      <a:pt x="18" y="12"/>
                    </a:lnTo>
                    <a:lnTo>
                      <a:pt x="61" y="12"/>
                    </a:lnTo>
                    <a:lnTo>
                      <a:pt x="67" y="6"/>
                    </a:lnTo>
                    <a:lnTo>
                      <a:pt x="61" y="0"/>
                    </a:lnTo>
                    <a:lnTo>
                      <a:pt x="55" y="12"/>
                    </a:lnTo>
                    <a:lnTo>
                      <a:pt x="43" y="12"/>
                    </a:lnTo>
                    <a:lnTo>
                      <a:pt x="24" y="6"/>
                    </a:lnTo>
                    <a:lnTo>
                      <a:pt x="18" y="12"/>
                    </a:lnTo>
                    <a:lnTo>
                      <a:pt x="12" y="12"/>
                    </a:lnTo>
                    <a:lnTo>
                      <a:pt x="12" y="24"/>
                    </a:lnTo>
                    <a:lnTo>
                      <a:pt x="0" y="48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75" name="Freeform 256">
                <a:extLst>
                  <a:ext uri="{FF2B5EF4-FFF2-40B4-BE49-F238E27FC236}">
                    <a16:creationId xmlns:a16="http://schemas.microsoft.com/office/drawing/2014/main" id="{D545A18E-9956-4738-8DFA-AEA1A6F1ED4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9317612" y="3803487"/>
                <a:ext cx="45858" cy="43264"/>
              </a:xfrm>
              <a:custGeom>
                <a:avLst/>
                <a:gdLst>
                  <a:gd name="T0" fmla="*/ 0 w 18"/>
                  <a:gd name="T1" fmla="*/ 6 h 25"/>
                  <a:gd name="T2" fmla="*/ 0 w 18"/>
                  <a:gd name="T3" fmla="*/ 18 h 25"/>
                  <a:gd name="T4" fmla="*/ 17 w 18"/>
                  <a:gd name="T5" fmla="*/ 24 h 25"/>
                  <a:gd name="T6" fmla="*/ 8 w 18"/>
                  <a:gd name="T7" fmla="*/ 18 h 25"/>
                  <a:gd name="T8" fmla="*/ 8 w 18"/>
                  <a:gd name="T9" fmla="*/ 12 h 25"/>
                  <a:gd name="T10" fmla="*/ 17 w 18"/>
                  <a:gd name="T11" fmla="*/ 12 h 25"/>
                  <a:gd name="T12" fmla="*/ 17 w 18"/>
                  <a:gd name="T13" fmla="*/ 6 h 25"/>
                  <a:gd name="T14" fmla="*/ 8 w 18"/>
                  <a:gd name="T15" fmla="*/ 6 h 25"/>
                  <a:gd name="T16" fmla="*/ 8 w 18"/>
                  <a:gd name="T17" fmla="*/ 0 h 25"/>
                  <a:gd name="T18" fmla="*/ 0 w 18"/>
                  <a:gd name="T19" fmla="*/ 6 h 2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8"/>
                  <a:gd name="T31" fmla="*/ 0 h 25"/>
                  <a:gd name="T32" fmla="*/ 18 w 18"/>
                  <a:gd name="T33" fmla="*/ 25 h 2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8" h="25">
                    <a:moveTo>
                      <a:pt x="0" y="6"/>
                    </a:moveTo>
                    <a:lnTo>
                      <a:pt x="0" y="18"/>
                    </a:lnTo>
                    <a:lnTo>
                      <a:pt x="17" y="24"/>
                    </a:lnTo>
                    <a:lnTo>
                      <a:pt x="8" y="18"/>
                    </a:lnTo>
                    <a:lnTo>
                      <a:pt x="8" y="12"/>
                    </a:lnTo>
                    <a:lnTo>
                      <a:pt x="17" y="12"/>
                    </a:lnTo>
                    <a:lnTo>
                      <a:pt x="17" y="6"/>
                    </a:lnTo>
                    <a:lnTo>
                      <a:pt x="8" y="6"/>
                    </a:lnTo>
                    <a:lnTo>
                      <a:pt x="8" y="0"/>
                    </a:lnTo>
                    <a:lnTo>
                      <a:pt x="0" y="6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76" name="Freeform 257">
                <a:extLst>
                  <a:ext uri="{FF2B5EF4-FFF2-40B4-BE49-F238E27FC236}">
                    <a16:creationId xmlns:a16="http://schemas.microsoft.com/office/drawing/2014/main" id="{B467EC9D-51C3-4E24-B9B6-9BD73DA493C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9284493" y="3888287"/>
                <a:ext cx="48404" cy="31151"/>
              </a:xfrm>
              <a:custGeom>
                <a:avLst/>
                <a:gdLst>
                  <a:gd name="T0" fmla="*/ 0 w 19"/>
                  <a:gd name="T1" fmla="*/ 0 h 18"/>
                  <a:gd name="T2" fmla="*/ 9 w 19"/>
                  <a:gd name="T3" fmla="*/ 17 h 18"/>
                  <a:gd name="T4" fmla="*/ 18 w 19"/>
                  <a:gd name="T5" fmla="*/ 17 h 18"/>
                  <a:gd name="T6" fmla="*/ 9 w 19"/>
                  <a:gd name="T7" fmla="*/ 0 h 18"/>
                  <a:gd name="T8" fmla="*/ 0 w 19"/>
                  <a:gd name="T9" fmla="*/ 0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"/>
                  <a:gd name="T16" fmla="*/ 0 h 18"/>
                  <a:gd name="T17" fmla="*/ 19 w 19"/>
                  <a:gd name="T18" fmla="*/ 18 h 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" h="18">
                    <a:moveTo>
                      <a:pt x="0" y="0"/>
                    </a:moveTo>
                    <a:lnTo>
                      <a:pt x="9" y="17"/>
                    </a:lnTo>
                    <a:lnTo>
                      <a:pt x="18" y="17"/>
                    </a:lnTo>
                    <a:lnTo>
                      <a:pt x="9" y="0"/>
                    </a:lnTo>
                    <a:lnTo>
                      <a:pt x="0" y="0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77" name="Freeform 258">
                <a:extLst>
                  <a:ext uri="{FF2B5EF4-FFF2-40B4-BE49-F238E27FC236}">
                    <a16:creationId xmlns:a16="http://schemas.microsoft.com/office/drawing/2014/main" id="{14A8468A-4868-4E98-837F-4201A131672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9332899" y="3876175"/>
                <a:ext cx="63693" cy="32882"/>
              </a:xfrm>
              <a:custGeom>
                <a:avLst/>
                <a:gdLst>
                  <a:gd name="T0" fmla="*/ 0 w 25"/>
                  <a:gd name="T1" fmla="*/ 9 h 19"/>
                  <a:gd name="T2" fmla="*/ 24 w 25"/>
                  <a:gd name="T3" fmla="*/ 18 h 19"/>
                  <a:gd name="T4" fmla="*/ 24 w 25"/>
                  <a:gd name="T5" fmla="*/ 9 h 19"/>
                  <a:gd name="T6" fmla="*/ 18 w 25"/>
                  <a:gd name="T7" fmla="*/ 0 h 19"/>
                  <a:gd name="T8" fmla="*/ 6 w 25"/>
                  <a:gd name="T9" fmla="*/ 0 h 19"/>
                  <a:gd name="T10" fmla="*/ 0 w 25"/>
                  <a:gd name="T11" fmla="*/ 9 h 1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"/>
                  <a:gd name="T19" fmla="*/ 0 h 19"/>
                  <a:gd name="T20" fmla="*/ 25 w 25"/>
                  <a:gd name="T21" fmla="*/ 19 h 1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" h="19">
                    <a:moveTo>
                      <a:pt x="0" y="9"/>
                    </a:moveTo>
                    <a:lnTo>
                      <a:pt x="24" y="18"/>
                    </a:lnTo>
                    <a:lnTo>
                      <a:pt x="24" y="9"/>
                    </a:lnTo>
                    <a:lnTo>
                      <a:pt x="18" y="0"/>
                    </a:lnTo>
                    <a:lnTo>
                      <a:pt x="6" y="0"/>
                    </a:lnTo>
                    <a:lnTo>
                      <a:pt x="0" y="9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78" name="Freeform 259">
                <a:extLst>
                  <a:ext uri="{FF2B5EF4-FFF2-40B4-BE49-F238E27FC236}">
                    <a16:creationId xmlns:a16="http://schemas.microsoft.com/office/drawing/2014/main" id="{08C6C0B6-24C3-446E-9AC7-260AE056FFE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9317612" y="3855406"/>
                <a:ext cx="45858" cy="32882"/>
              </a:xfrm>
              <a:custGeom>
                <a:avLst/>
                <a:gdLst>
                  <a:gd name="T0" fmla="*/ 0 w 18"/>
                  <a:gd name="T1" fmla="*/ 18 h 19"/>
                  <a:gd name="T2" fmla="*/ 17 w 18"/>
                  <a:gd name="T3" fmla="*/ 18 h 19"/>
                  <a:gd name="T4" fmla="*/ 0 w 18"/>
                  <a:gd name="T5" fmla="*/ 0 h 19"/>
                  <a:gd name="T6" fmla="*/ 0 w 18"/>
                  <a:gd name="T7" fmla="*/ 18 h 1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8"/>
                  <a:gd name="T13" fmla="*/ 0 h 19"/>
                  <a:gd name="T14" fmla="*/ 18 w 18"/>
                  <a:gd name="T15" fmla="*/ 19 h 1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8" h="19">
                    <a:moveTo>
                      <a:pt x="0" y="18"/>
                    </a:moveTo>
                    <a:lnTo>
                      <a:pt x="17" y="18"/>
                    </a:lnTo>
                    <a:lnTo>
                      <a:pt x="0" y="0"/>
                    </a:lnTo>
                    <a:lnTo>
                      <a:pt x="0" y="18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79" name="Freeform 260">
                <a:extLst>
                  <a:ext uri="{FF2B5EF4-FFF2-40B4-BE49-F238E27FC236}">
                    <a16:creationId xmlns:a16="http://schemas.microsoft.com/office/drawing/2014/main" id="{9ACC596F-33BA-42FF-8588-8863141445A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9523978" y="3845024"/>
                <a:ext cx="45858" cy="32882"/>
              </a:xfrm>
              <a:custGeom>
                <a:avLst/>
                <a:gdLst>
                  <a:gd name="T0" fmla="*/ 0 w 18"/>
                  <a:gd name="T1" fmla="*/ 0 h 19"/>
                  <a:gd name="T2" fmla="*/ 17 w 18"/>
                  <a:gd name="T3" fmla="*/ 18 h 19"/>
                  <a:gd name="T4" fmla="*/ 17 w 18"/>
                  <a:gd name="T5" fmla="*/ 0 h 19"/>
                  <a:gd name="T6" fmla="*/ 0 w 18"/>
                  <a:gd name="T7" fmla="*/ 0 h 1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8"/>
                  <a:gd name="T13" fmla="*/ 0 h 19"/>
                  <a:gd name="T14" fmla="*/ 18 w 18"/>
                  <a:gd name="T15" fmla="*/ 19 h 1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8" h="19">
                    <a:moveTo>
                      <a:pt x="0" y="0"/>
                    </a:moveTo>
                    <a:lnTo>
                      <a:pt x="17" y="18"/>
                    </a:lnTo>
                    <a:lnTo>
                      <a:pt x="17" y="0"/>
                    </a:lnTo>
                    <a:lnTo>
                      <a:pt x="0" y="0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80" name="Freeform 261">
                <a:extLst>
                  <a:ext uri="{FF2B5EF4-FFF2-40B4-BE49-F238E27FC236}">
                    <a16:creationId xmlns:a16="http://schemas.microsoft.com/office/drawing/2014/main" id="{602780F0-37AE-4C52-9C53-19891979343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9126535" y="3511013"/>
                <a:ext cx="112099" cy="107299"/>
              </a:xfrm>
              <a:custGeom>
                <a:avLst/>
                <a:gdLst>
                  <a:gd name="T0" fmla="*/ 0 w 44"/>
                  <a:gd name="T1" fmla="*/ 24 h 62"/>
                  <a:gd name="T2" fmla="*/ 0 w 44"/>
                  <a:gd name="T3" fmla="*/ 43 h 62"/>
                  <a:gd name="T4" fmla="*/ 12 w 44"/>
                  <a:gd name="T5" fmla="*/ 43 h 62"/>
                  <a:gd name="T6" fmla="*/ 6 w 44"/>
                  <a:gd name="T7" fmla="*/ 49 h 62"/>
                  <a:gd name="T8" fmla="*/ 12 w 44"/>
                  <a:gd name="T9" fmla="*/ 55 h 62"/>
                  <a:gd name="T10" fmla="*/ 18 w 44"/>
                  <a:gd name="T11" fmla="*/ 49 h 62"/>
                  <a:gd name="T12" fmla="*/ 31 w 44"/>
                  <a:gd name="T13" fmla="*/ 55 h 62"/>
                  <a:gd name="T14" fmla="*/ 25 w 44"/>
                  <a:gd name="T15" fmla="*/ 49 h 62"/>
                  <a:gd name="T16" fmla="*/ 37 w 44"/>
                  <a:gd name="T17" fmla="*/ 55 h 62"/>
                  <a:gd name="T18" fmla="*/ 43 w 44"/>
                  <a:gd name="T19" fmla="*/ 61 h 62"/>
                  <a:gd name="T20" fmla="*/ 37 w 44"/>
                  <a:gd name="T21" fmla="*/ 49 h 62"/>
                  <a:gd name="T22" fmla="*/ 43 w 44"/>
                  <a:gd name="T23" fmla="*/ 49 h 62"/>
                  <a:gd name="T24" fmla="*/ 31 w 44"/>
                  <a:gd name="T25" fmla="*/ 49 h 62"/>
                  <a:gd name="T26" fmla="*/ 18 w 44"/>
                  <a:gd name="T27" fmla="*/ 49 h 62"/>
                  <a:gd name="T28" fmla="*/ 12 w 44"/>
                  <a:gd name="T29" fmla="*/ 37 h 62"/>
                  <a:gd name="T30" fmla="*/ 25 w 44"/>
                  <a:gd name="T31" fmla="*/ 18 h 62"/>
                  <a:gd name="T32" fmla="*/ 25 w 44"/>
                  <a:gd name="T33" fmla="*/ 12 h 62"/>
                  <a:gd name="T34" fmla="*/ 25 w 44"/>
                  <a:gd name="T35" fmla="*/ 0 h 62"/>
                  <a:gd name="T36" fmla="*/ 18 w 44"/>
                  <a:gd name="T37" fmla="*/ 6 h 62"/>
                  <a:gd name="T38" fmla="*/ 6 w 44"/>
                  <a:gd name="T39" fmla="*/ 0 h 62"/>
                  <a:gd name="T40" fmla="*/ 6 w 44"/>
                  <a:gd name="T41" fmla="*/ 24 h 62"/>
                  <a:gd name="T42" fmla="*/ 0 w 44"/>
                  <a:gd name="T43" fmla="*/ 24 h 62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44"/>
                  <a:gd name="T67" fmla="*/ 0 h 62"/>
                  <a:gd name="T68" fmla="*/ 44 w 44"/>
                  <a:gd name="T69" fmla="*/ 62 h 62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44" h="62">
                    <a:moveTo>
                      <a:pt x="0" y="24"/>
                    </a:moveTo>
                    <a:lnTo>
                      <a:pt x="0" y="43"/>
                    </a:lnTo>
                    <a:lnTo>
                      <a:pt x="12" y="43"/>
                    </a:lnTo>
                    <a:lnTo>
                      <a:pt x="6" y="49"/>
                    </a:lnTo>
                    <a:lnTo>
                      <a:pt x="12" y="55"/>
                    </a:lnTo>
                    <a:lnTo>
                      <a:pt x="18" y="49"/>
                    </a:lnTo>
                    <a:lnTo>
                      <a:pt x="31" y="55"/>
                    </a:lnTo>
                    <a:lnTo>
                      <a:pt x="25" y="49"/>
                    </a:lnTo>
                    <a:lnTo>
                      <a:pt x="37" y="55"/>
                    </a:lnTo>
                    <a:lnTo>
                      <a:pt x="43" y="61"/>
                    </a:lnTo>
                    <a:lnTo>
                      <a:pt x="37" y="49"/>
                    </a:lnTo>
                    <a:lnTo>
                      <a:pt x="43" y="49"/>
                    </a:lnTo>
                    <a:lnTo>
                      <a:pt x="31" y="49"/>
                    </a:lnTo>
                    <a:lnTo>
                      <a:pt x="18" y="49"/>
                    </a:lnTo>
                    <a:lnTo>
                      <a:pt x="12" y="37"/>
                    </a:lnTo>
                    <a:lnTo>
                      <a:pt x="25" y="18"/>
                    </a:lnTo>
                    <a:lnTo>
                      <a:pt x="25" y="12"/>
                    </a:lnTo>
                    <a:lnTo>
                      <a:pt x="25" y="0"/>
                    </a:lnTo>
                    <a:lnTo>
                      <a:pt x="18" y="6"/>
                    </a:lnTo>
                    <a:lnTo>
                      <a:pt x="6" y="0"/>
                    </a:lnTo>
                    <a:lnTo>
                      <a:pt x="6" y="24"/>
                    </a:lnTo>
                    <a:lnTo>
                      <a:pt x="0" y="24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81" name="Freeform 262">
                <a:extLst>
                  <a:ext uri="{FF2B5EF4-FFF2-40B4-BE49-F238E27FC236}">
                    <a16:creationId xmlns:a16="http://schemas.microsoft.com/office/drawing/2014/main" id="{2ED392A5-CF4A-40AF-9C3F-5AE6D867259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9062841" y="3640810"/>
                <a:ext cx="48404" cy="53650"/>
              </a:xfrm>
              <a:custGeom>
                <a:avLst/>
                <a:gdLst>
                  <a:gd name="T0" fmla="*/ 0 w 19"/>
                  <a:gd name="T1" fmla="*/ 30 h 31"/>
                  <a:gd name="T2" fmla="*/ 18 w 19"/>
                  <a:gd name="T3" fmla="*/ 6 h 31"/>
                  <a:gd name="T4" fmla="*/ 18 w 19"/>
                  <a:gd name="T5" fmla="*/ 0 h 31"/>
                  <a:gd name="T6" fmla="*/ 0 w 19"/>
                  <a:gd name="T7" fmla="*/ 30 h 3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"/>
                  <a:gd name="T13" fmla="*/ 0 h 31"/>
                  <a:gd name="T14" fmla="*/ 19 w 19"/>
                  <a:gd name="T15" fmla="*/ 31 h 3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9" h="31">
                    <a:moveTo>
                      <a:pt x="0" y="30"/>
                    </a:moveTo>
                    <a:lnTo>
                      <a:pt x="18" y="6"/>
                    </a:lnTo>
                    <a:lnTo>
                      <a:pt x="18" y="0"/>
                    </a:lnTo>
                    <a:lnTo>
                      <a:pt x="0" y="30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82" name="Freeform 263">
                <a:extLst>
                  <a:ext uri="{FF2B5EF4-FFF2-40B4-BE49-F238E27FC236}">
                    <a16:creationId xmlns:a16="http://schemas.microsoft.com/office/drawing/2014/main" id="{0B0961D1-8AE1-4ADF-BAF5-26F13333A7F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9141819" y="3609660"/>
                <a:ext cx="48404" cy="32882"/>
              </a:xfrm>
              <a:custGeom>
                <a:avLst/>
                <a:gdLst>
                  <a:gd name="T0" fmla="*/ 0 w 19"/>
                  <a:gd name="T1" fmla="*/ 0 h 19"/>
                  <a:gd name="T2" fmla="*/ 9 w 19"/>
                  <a:gd name="T3" fmla="*/ 18 h 19"/>
                  <a:gd name="T4" fmla="*/ 18 w 19"/>
                  <a:gd name="T5" fmla="*/ 9 h 19"/>
                  <a:gd name="T6" fmla="*/ 9 w 19"/>
                  <a:gd name="T7" fmla="*/ 0 h 19"/>
                  <a:gd name="T8" fmla="*/ 0 w 19"/>
                  <a:gd name="T9" fmla="*/ 0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"/>
                  <a:gd name="T16" fmla="*/ 0 h 19"/>
                  <a:gd name="T17" fmla="*/ 19 w 19"/>
                  <a:gd name="T18" fmla="*/ 19 h 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" h="19">
                    <a:moveTo>
                      <a:pt x="0" y="0"/>
                    </a:moveTo>
                    <a:lnTo>
                      <a:pt x="9" y="18"/>
                    </a:lnTo>
                    <a:lnTo>
                      <a:pt x="18" y="9"/>
                    </a:lnTo>
                    <a:lnTo>
                      <a:pt x="9" y="0"/>
                    </a:lnTo>
                    <a:lnTo>
                      <a:pt x="0" y="0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83" name="Freeform 264">
                <a:extLst>
                  <a:ext uri="{FF2B5EF4-FFF2-40B4-BE49-F238E27FC236}">
                    <a16:creationId xmlns:a16="http://schemas.microsoft.com/office/drawing/2014/main" id="{A4490D9F-25F1-4EFF-8A10-49FE41C2E88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9238634" y="3620042"/>
                <a:ext cx="48404" cy="43264"/>
              </a:xfrm>
              <a:custGeom>
                <a:avLst/>
                <a:gdLst>
                  <a:gd name="T0" fmla="*/ 0 w 19"/>
                  <a:gd name="T1" fmla="*/ 0 h 25"/>
                  <a:gd name="T2" fmla="*/ 9 w 19"/>
                  <a:gd name="T3" fmla="*/ 6 h 25"/>
                  <a:gd name="T4" fmla="*/ 9 w 19"/>
                  <a:gd name="T5" fmla="*/ 12 h 25"/>
                  <a:gd name="T6" fmla="*/ 0 w 19"/>
                  <a:gd name="T7" fmla="*/ 12 h 25"/>
                  <a:gd name="T8" fmla="*/ 0 w 19"/>
                  <a:gd name="T9" fmla="*/ 18 h 25"/>
                  <a:gd name="T10" fmla="*/ 9 w 19"/>
                  <a:gd name="T11" fmla="*/ 18 h 25"/>
                  <a:gd name="T12" fmla="*/ 9 w 19"/>
                  <a:gd name="T13" fmla="*/ 24 h 25"/>
                  <a:gd name="T14" fmla="*/ 18 w 19"/>
                  <a:gd name="T15" fmla="*/ 24 h 25"/>
                  <a:gd name="T16" fmla="*/ 9 w 19"/>
                  <a:gd name="T17" fmla="*/ 18 h 25"/>
                  <a:gd name="T18" fmla="*/ 18 w 19"/>
                  <a:gd name="T19" fmla="*/ 18 h 25"/>
                  <a:gd name="T20" fmla="*/ 18 w 19"/>
                  <a:gd name="T21" fmla="*/ 6 h 25"/>
                  <a:gd name="T22" fmla="*/ 18 w 19"/>
                  <a:gd name="T23" fmla="*/ 0 h 25"/>
                  <a:gd name="T24" fmla="*/ 0 w 19"/>
                  <a:gd name="T25" fmla="*/ 0 h 2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9"/>
                  <a:gd name="T40" fmla="*/ 0 h 25"/>
                  <a:gd name="T41" fmla="*/ 19 w 19"/>
                  <a:gd name="T42" fmla="*/ 25 h 25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9" h="25">
                    <a:moveTo>
                      <a:pt x="0" y="0"/>
                    </a:moveTo>
                    <a:lnTo>
                      <a:pt x="9" y="6"/>
                    </a:lnTo>
                    <a:lnTo>
                      <a:pt x="9" y="12"/>
                    </a:lnTo>
                    <a:lnTo>
                      <a:pt x="0" y="12"/>
                    </a:lnTo>
                    <a:lnTo>
                      <a:pt x="0" y="18"/>
                    </a:lnTo>
                    <a:lnTo>
                      <a:pt x="9" y="18"/>
                    </a:lnTo>
                    <a:lnTo>
                      <a:pt x="9" y="24"/>
                    </a:lnTo>
                    <a:lnTo>
                      <a:pt x="18" y="24"/>
                    </a:lnTo>
                    <a:lnTo>
                      <a:pt x="9" y="18"/>
                    </a:lnTo>
                    <a:lnTo>
                      <a:pt x="18" y="18"/>
                    </a:lnTo>
                    <a:lnTo>
                      <a:pt x="18" y="6"/>
                    </a:lnTo>
                    <a:lnTo>
                      <a:pt x="18" y="0"/>
                    </a:lnTo>
                    <a:lnTo>
                      <a:pt x="0" y="0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84" name="Freeform 265">
                <a:extLst>
                  <a:ext uri="{FF2B5EF4-FFF2-40B4-BE49-F238E27FC236}">
                    <a16:creationId xmlns:a16="http://schemas.microsoft.com/office/drawing/2014/main" id="{FD3AF9FA-CCD9-41C6-A26E-95761E0B2F4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9174941" y="3630426"/>
                <a:ext cx="63693" cy="53650"/>
              </a:xfrm>
              <a:custGeom>
                <a:avLst/>
                <a:gdLst>
                  <a:gd name="T0" fmla="*/ 0 w 25"/>
                  <a:gd name="T1" fmla="*/ 12 h 31"/>
                  <a:gd name="T2" fmla="*/ 12 w 25"/>
                  <a:gd name="T3" fmla="*/ 18 h 31"/>
                  <a:gd name="T4" fmla="*/ 6 w 25"/>
                  <a:gd name="T5" fmla="*/ 24 h 31"/>
                  <a:gd name="T6" fmla="*/ 12 w 25"/>
                  <a:gd name="T7" fmla="*/ 30 h 31"/>
                  <a:gd name="T8" fmla="*/ 18 w 25"/>
                  <a:gd name="T9" fmla="*/ 24 h 31"/>
                  <a:gd name="T10" fmla="*/ 12 w 25"/>
                  <a:gd name="T11" fmla="*/ 24 h 31"/>
                  <a:gd name="T12" fmla="*/ 24 w 25"/>
                  <a:gd name="T13" fmla="*/ 24 h 31"/>
                  <a:gd name="T14" fmla="*/ 24 w 25"/>
                  <a:gd name="T15" fmla="*/ 18 h 31"/>
                  <a:gd name="T16" fmla="*/ 24 w 25"/>
                  <a:gd name="T17" fmla="*/ 12 h 31"/>
                  <a:gd name="T18" fmla="*/ 18 w 25"/>
                  <a:gd name="T19" fmla="*/ 18 h 31"/>
                  <a:gd name="T20" fmla="*/ 12 w 25"/>
                  <a:gd name="T21" fmla="*/ 6 h 31"/>
                  <a:gd name="T22" fmla="*/ 6 w 25"/>
                  <a:gd name="T23" fmla="*/ 0 h 31"/>
                  <a:gd name="T24" fmla="*/ 0 w 25"/>
                  <a:gd name="T25" fmla="*/ 0 h 31"/>
                  <a:gd name="T26" fmla="*/ 0 w 25"/>
                  <a:gd name="T27" fmla="*/ 12 h 31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25"/>
                  <a:gd name="T43" fmla="*/ 0 h 31"/>
                  <a:gd name="T44" fmla="*/ 25 w 25"/>
                  <a:gd name="T45" fmla="*/ 31 h 31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25" h="31">
                    <a:moveTo>
                      <a:pt x="0" y="12"/>
                    </a:moveTo>
                    <a:lnTo>
                      <a:pt x="12" y="18"/>
                    </a:lnTo>
                    <a:lnTo>
                      <a:pt x="6" y="24"/>
                    </a:lnTo>
                    <a:lnTo>
                      <a:pt x="12" y="30"/>
                    </a:lnTo>
                    <a:lnTo>
                      <a:pt x="18" y="24"/>
                    </a:lnTo>
                    <a:lnTo>
                      <a:pt x="12" y="24"/>
                    </a:lnTo>
                    <a:lnTo>
                      <a:pt x="24" y="24"/>
                    </a:lnTo>
                    <a:lnTo>
                      <a:pt x="24" y="18"/>
                    </a:lnTo>
                    <a:lnTo>
                      <a:pt x="24" y="12"/>
                    </a:lnTo>
                    <a:lnTo>
                      <a:pt x="18" y="18"/>
                    </a:lnTo>
                    <a:lnTo>
                      <a:pt x="12" y="6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12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85" name="Freeform 266">
                <a:extLst>
                  <a:ext uri="{FF2B5EF4-FFF2-40B4-BE49-F238E27FC236}">
                    <a16:creationId xmlns:a16="http://schemas.microsoft.com/office/drawing/2014/main" id="{B372F26E-D9B4-488F-8B14-822B0EEF49B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9174941" y="3673692"/>
                <a:ext cx="127386" cy="64032"/>
              </a:xfrm>
              <a:custGeom>
                <a:avLst/>
                <a:gdLst>
                  <a:gd name="T0" fmla="*/ 0 w 50"/>
                  <a:gd name="T1" fmla="*/ 24 h 37"/>
                  <a:gd name="T2" fmla="*/ 6 w 50"/>
                  <a:gd name="T3" fmla="*/ 24 h 37"/>
                  <a:gd name="T4" fmla="*/ 12 w 50"/>
                  <a:gd name="T5" fmla="*/ 18 h 37"/>
                  <a:gd name="T6" fmla="*/ 18 w 50"/>
                  <a:gd name="T7" fmla="*/ 18 h 37"/>
                  <a:gd name="T8" fmla="*/ 24 w 50"/>
                  <a:gd name="T9" fmla="*/ 18 h 37"/>
                  <a:gd name="T10" fmla="*/ 24 w 50"/>
                  <a:gd name="T11" fmla="*/ 30 h 37"/>
                  <a:gd name="T12" fmla="*/ 37 w 50"/>
                  <a:gd name="T13" fmla="*/ 36 h 37"/>
                  <a:gd name="T14" fmla="*/ 37 w 50"/>
                  <a:gd name="T15" fmla="*/ 30 h 37"/>
                  <a:gd name="T16" fmla="*/ 37 w 50"/>
                  <a:gd name="T17" fmla="*/ 24 h 37"/>
                  <a:gd name="T18" fmla="*/ 37 w 50"/>
                  <a:gd name="T19" fmla="*/ 18 h 37"/>
                  <a:gd name="T20" fmla="*/ 43 w 50"/>
                  <a:gd name="T21" fmla="*/ 30 h 37"/>
                  <a:gd name="T22" fmla="*/ 49 w 50"/>
                  <a:gd name="T23" fmla="*/ 24 h 37"/>
                  <a:gd name="T24" fmla="*/ 43 w 50"/>
                  <a:gd name="T25" fmla="*/ 6 h 37"/>
                  <a:gd name="T26" fmla="*/ 37 w 50"/>
                  <a:gd name="T27" fmla="*/ 0 h 37"/>
                  <a:gd name="T28" fmla="*/ 37 w 50"/>
                  <a:gd name="T29" fmla="*/ 6 h 37"/>
                  <a:gd name="T30" fmla="*/ 31 w 50"/>
                  <a:gd name="T31" fmla="*/ 6 h 37"/>
                  <a:gd name="T32" fmla="*/ 31 w 50"/>
                  <a:gd name="T33" fmla="*/ 12 h 37"/>
                  <a:gd name="T34" fmla="*/ 24 w 50"/>
                  <a:gd name="T35" fmla="*/ 12 h 37"/>
                  <a:gd name="T36" fmla="*/ 18 w 50"/>
                  <a:gd name="T37" fmla="*/ 6 h 37"/>
                  <a:gd name="T38" fmla="*/ 12 w 50"/>
                  <a:gd name="T39" fmla="*/ 12 h 37"/>
                  <a:gd name="T40" fmla="*/ 6 w 50"/>
                  <a:gd name="T41" fmla="*/ 18 h 37"/>
                  <a:gd name="T42" fmla="*/ 0 w 50"/>
                  <a:gd name="T43" fmla="*/ 24 h 37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50"/>
                  <a:gd name="T67" fmla="*/ 0 h 37"/>
                  <a:gd name="T68" fmla="*/ 50 w 50"/>
                  <a:gd name="T69" fmla="*/ 37 h 37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50" h="37">
                    <a:moveTo>
                      <a:pt x="0" y="24"/>
                    </a:moveTo>
                    <a:lnTo>
                      <a:pt x="6" y="24"/>
                    </a:lnTo>
                    <a:lnTo>
                      <a:pt x="12" y="18"/>
                    </a:lnTo>
                    <a:lnTo>
                      <a:pt x="18" y="18"/>
                    </a:lnTo>
                    <a:lnTo>
                      <a:pt x="24" y="18"/>
                    </a:lnTo>
                    <a:lnTo>
                      <a:pt x="24" y="30"/>
                    </a:lnTo>
                    <a:lnTo>
                      <a:pt x="37" y="36"/>
                    </a:lnTo>
                    <a:lnTo>
                      <a:pt x="37" y="30"/>
                    </a:lnTo>
                    <a:lnTo>
                      <a:pt x="37" y="24"/>
                    </a:lnTo>
                    <a:lnTo>
                      <a:pt x="37" y="18"/>
                    </a:lnTo>
                    <a:lnTo>
                      <a:pt x="43" y="30"/>
                    </a:lnTo>
                    <a:lnTo>
                      <a:pt x="49" y="24"/>
                    </a:lnTo>
                    <a:lnTo>
                      <a:pt x="43" y="6"/>
                    </a:lnTo>
                    <a:lnTo>
                      <a:pt x="37" y="0"/>
                    </a:lnTo>
                    <a:lnTo>
                      <a:pt x="37" y="6"/>
                    </a:lnTo>
                    <a:lnTo>
                      <a:pt x="31" y="6"/>
                    </a:lnTo>
                    <a:lnTo>
                      <a:pt x="31" y="12"/>
                    </a:lnTo>
                    <a:lnTo>
                      <a:pt x="24" y="12"/>
                    </a:lnTo>
                    <a:lnTo>
                      <a:pt x="18" y="6"/>
                    </a:lnTo>
                    <a:lnTo>
                      <a:pt x="12" y="12"/>
                    </a:lnTo>
                    <a:lnTo>
                      <a:pt x="6" y="18"/>
                    </a:lnTo>
                    <a:lnTo>
                      <a:pt x="0" y="24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86" name="Freeform 267">
                <a:extLst>
                  <a:ext uri="{FF2B5EF4-FFF2-40B4-BE49-F238E27FC236}">
                    <a16:creationId xmlns:a16="http://schemas.microsoft.com/office/drawing/2014/main" id="{806226A3-66C8-43F7-8DEB-056730929A1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9855180" y="3898673"/>
                <a:ext cx="94265" cy="43264"/>
              </a:xfrm>
              <a:custGeom>
                <a:avLst/>
                <a:gdLst>
                  <a:gd name="T0" fmla="*/ 0 w 37"/>
                  <a:gd name="T1" fmla="*/ 18 h 25"/>
                  <a:gd name="T2" fmla="*/ 6 w 37"/>
                  <a:gd name="T3" fmla="*/ 24 h 25"/>
                  <a:gd name="T4" fmla="*/ 24 w 37"/>
                  <a:gd name="T5" fmla="*/ 24 h 25"/>
                  <a:gd name="T6" fmla="*/ 36 w 37"/>
                  <a:gd name="T7" fmla="*/ 18 h 25"/>
                  <a:gd name="T8" fmla="*/ 36 w 37"/>
                  <a:gd name="T9" fmla="*/ 6 h 25"/>
                  <a:gd name="T10" fmla="*/ 36 w 37"/>
                  <a:gd name="T11" fmla="*/ 0 h 25"/>
                  <a:gd name="T12" fmla="*/ 30 w 37"/>
                  <a:gd name="T13" fmla="*/ 0 h 25"/>
                  <a:gd name="T14" fmla="*/ 30 w 37"/>
                  <a:gd name="T15" fmla="*/ 12 h 25"/>
                  <a:gd name="T16" fmla="*/ 24 w 37"/>
                  <a:gd name="T17" fmla="*/ 18 h 25"/>
                  <a:gd name="T18" fmla="*/ 0 w 37"/>
                  <a:gd name="T19" fmla="*/ 18 h 2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7"/>
                  <a:gd name="T31" fmla="*/ 0 h 25"/>
                  <a:gd name="T32" fmla="*/ 37 w 37"/>
                  <a:gd name="T33" fmla="*/ 25 h 2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7" h="25">
                    <a:moveTo>
                      <a:pt x="0" y="18"/>
                    </a:moveTo>
                    <a:lnTo>
                      <a:pt x="6" y="24"/>
                    </a:lnTo>
                    <a:lnTo>
                      <a:pt x="24" y="24"/>
                    </a:lnTo>
                    <a:lnTo>
                      <a:pt x="36" y="18"/>
                    </a:lnTo>
                    <a:lnTo>
                      <a:pt x="36" y="6"/>
                    </a:lnTo>
                    <a:lnTo>
                      <a:pt x="36" y="0"/>
                    </a:lnTo>
                    <a:lnTo>
                      <a:pt x="30" y="0"/>
                    </a:lnTo>
                    <a:lnTo>
                      <a:pt x="30" y="12"/>
                    </a:lnTo>
                    <a:lnTo>
                      <a:pt x="24" y="18"/>
                    </a:lnTo>
                    <a:lnTo>
                      <a:pt x="0" y="18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87" name="Freeform 268">
                <a:extLst>
                  <a:ext uri="{FF2B5EF4-FFF2-40B4-BE49-F238E27FC236}">
                    <a16:creationId xmlns:a16="http://schemas.microsoft.com/office/drawing/2014/main" id="{4D2FDBD5-0340-4523-A275-FD0BE87F468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9931612" y="3888287"/>
                <a:ext cx="48404" cy="32882"/>
              </a:xfrm>
              <a:custGeom>
                <a:avLst/>
                <a:gdLst>
                  <a:gd name="T0" fmla="*/ 0 w 19"/>
                  <a:gd name="T1" fmla="*/ 0 h 19"/>
                  <a:gd name="T2" fmla="*/ 9 w 19"/>
                  <a:gd name="T3" fmla="*/ 6 h 19"/>
                  <a:gd name="T4" fmla="*/ 18 w 19"/>
                  <a:gd name="T5" fmla="*/ 18 h 19"/>
                  <a:gd name="T6" fmla="*/ 18 w 19"/>
                  <a:gd name="T7" fmla="*/ 6 h 19"/>
                  <a:gd name="T8" fmla="*/ 0 w 19"/>
                  <a:gd name="T9" fmla="*/ 0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"/>
                  <a:gd name="T16" fmla="*/ 0 h 19"/>
                  <a:gd name="T17" fmla="*/ 19 w 19"/>
                  <a:gd name="T18" fmla="*/ 19 h 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" h="19">
                    <a:moveTo>
                      <a:pt x="0" y="0"/>
                    </a:moveTo>
                    <a:lnTo>
                      <a:pt x="9" y="6"/>
                    </a:lnTo>
                    <a:lnTo>
                      <a:pt x="18" y="18"/>
                    </a:lnTo>
                    <a:lnTo>
                      <a:pt x="18" y="6"/>
                    </a:lnTo>
                    <a:lnTo>
                      <a:pt x="0" y="0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88" name="Freeform 269">
                <a:extLst>
                  <a:ext uri="{FF2B5EF4-FFF2-40B4-BE49-F238E27FC236}">
                    <a16:creationId xmlns:a16="http://schemas.microsoft.com/office/drawing/2014/main" id="{E788EC11-1944-463D-9F58-DEDD51BC8B3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013138" y="3919439"/>
                <a:ext cx="48404" cy="32882"/>
              </a:xfrm>
              <a:custGeom>
                <a:avLst/>
                <a:gdLst>
                  <a:gd name="T0" fmla="*/ 0 w 19"/>
                  <a:gd name="T1" fmla="*/ 0 h 19"/>
                  <a:gd name="T2" fmla="*/ 9 w 19"/>
                  <a:gd name="T3" fmla="*/ 18 h 19"/>
                  <a:gd name="T4" fmla="*/ 18 w 19"/>
                  <a:gd name="T5" fmla="*/ 12 h 19"/>
                  <a:gd name="T6" fmla="*/ 0 w 19"/>
                  <a:gd name="T7" fmla="*/ 0 h 1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"/>
                  <a:gd name="T13" fmla="*/ 0 h 19"/>
                  <a:gd name="T14" fmla="*/ 19 w 19"/>
                  <a:gd name="T15" fmla="*/ 19 h 1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9" h="19">
                    <a:moveTo>
                      <a:pt x="0" y="0"/>
                    </a:moveTo>
                    <a:lnTo>
                      <a:pt x="9" y="18"/>
                    </a:lnTo>
                    <a:lnTo>
                      <a:pt x="18" y="12"/>
                    </a:lnTo>
                    <a:lnTo>
                      <a:pt x="0" y="0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89" name="Freeform 270">
                <a:extLst>
                  <a:ext uri="{FF2B5EF4-FFF2-40B4-BE49-F238E27FC236}">
                    <a16:creationId xmlns:a16="http://schemas.microsoft.com/office/drawing/2014/main" id="{5C6F1242-B552-429D-9C9C-9E222107E4A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752067" y="4339978"/>
                <a:ext cx="63693" cy="32882"/>
              </a:xfrm>
              <a:custGeom>
                <a:avLst/>
                <a:gdLst>
                  <a:gd name="T0" fmla="*/ 24 w 25"/>
                  <a:gd name="T1" fmla="*/ 6 h 19"/>
                  <a:gd name="T2" fmla="*/ 18 w 25"/>
                  <a:gd name="T3" fmla="*/ 12 h 19"/>
                  <a:gd name="T4" fmla="*/ 6 w 25"/>
                  <a:gd name="T5" fmla="*/ 18 h 19"/>
                  <a:gd name="T6" fmla="*/ 0 w 25"/>
                  <a:gd name="T7" fmla="*/ 12 h 19"/>
                  <a:gd name="T8" fmla="*/ 12 w 25"/>
                  <a:gd name="T9" fmla="*/ 0 h 19"/>
                  <a:gd name="T10" fmla="*/ 18 w 25"/>
                  <a:gd name="T11" fmla="*/ 0 h 19"/>
                  <a:gd name="T12" fmla="*/ 24 w 25"/>
                  <a:gd name="T13" fmla="*/ 6 h 1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5"/>
                  <a:gd name="T22" fmla="*/ 0 h 19"/>
                  <a:gd name="T23" fmla="*/ 25 w 25"/>
                  <a:gd name="T24" fmla="*/ 19 h 1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5" h="19">
                    <a:moveTo>
                      <a:pt x="24" y="6"/>
                    </a:moveTo>
                    <a:lnTo>
                      <a:pt x="18" y="12"/>
                    </a:lnTo>
                    <a:lnTo>
                      <a:pt x="6" y="1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18" y="0"/>
                    </a:lnTo>
                    <a:lnTo>
                      <a:pt x="24" y="6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90" name="Freeform 271">
                <a:extLst>
                  <a:ext uri="{FF2B5EF4-FFF2-40B4-BE49-F238E27FC236}">
                    <a16:creationId xmlns:a16="http://schemas.microsoft.com/office/drawing/2014/main" id="{43F6EBC7-1152-44D3-80EE-305BD4991C6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738169" y="2759928"/>
                <a:ext cx="48404" cy="32882"/>
              </a:xfrm>
              <a:custGeom>
                <a:avLst/>
                <a:gdLst>
                  <a:gd name="T0" fmla="*/ 0 w 19"/>
                  <a:gd name="T1" fmla="*/ 18 h 19"/>
                  <a:gd name="T2" fmla="*/ 18 w 19"/>
                  <a:gd name="T3" fmla="*/ 9 h 19"/>
                  <a:gd name="T4" fmla="*/ 18 w 19"/>
                  <a:gd name="T5" fmla="*/ 0 h 19"/>
                  <a:gd name="T6" fmla="*/ 9 w 19"/>
                  <a:gd name="T7" fmla="*/ 0 h 19"/>
                  <a:gd name="T8" fmla="*/ 0 w 19"/>
                  <a:gd name="T9" fmla="*/ 18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"/>
                  <a:gd name="T16" fmla="*/ 0 h 19"/>
                  <a:gd name="T17" fmla="*/ 19 w 19"/>
                  <a:gd name="T18" fmla="*/ 19 h 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" h="19">
                    <a:moveTo>
                      <a:pt x="0" y="18"/>
                    </a:moveTo>
                    <a:lnTo>
                      <a:pt x="18" y="9"/>
                    </a:lnTo>
                    <a:lnTo>
                      <a:pt x="18" y="0"/>
                    </a:lnTo>
                    <a:lnTo>
                      <a:pt x="9" y="0"/>
                    </a:lnTo>
                    <a:lnTo>
                      <a:pt x="0" y="18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91" name="Freeform 272">
                <a:extLst>
                  <a:ext uri="{FF2B5EF4-FFF2-40B4-BE49-F238E27FC236}">
                    <a16:creationId xmlns:a16="http://schemas.microsoft.com/office/drawing/2014/main" id="{AAD0DEA0-0CFE-40B2-8B5D-858BBDF91C9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768742" y="2749544"/>
                <a:ext cx="48404" cy="32882"/>
              </a:xfrm>
              <a:custGeom>
                <a:avLst/>
                <a:gdLst>
                  <a:gd name="T0" fmla="*/ 0 w 19"/>
                  <a:gd name="T1" fmla="*/ 18 h 19"/>
                  <a:gd name="T2" fmla="*/ 18 w 19"/>
                  <a:gd name="T3" fmla="*/ 18 h 19"/>
                  <a:gd name="T4" fmla="*/ 18 w 19"/>
                  <a:gd name="T5" fmla="*/ 0 h 19"/>
                  <a:gd name="T6" fmla="*/ 9 w 19"/>
                  <a:gd name="T7" fmla="*/ 0 h 19"/>
                  <a:gd name="T8" fmla="*/ 9 w 19"/>
                  <a:gd name="T9" fmla="*/ 18 h 19"/>
                  <a:gd name="T10" fmla="*/ 0 w 19"/>
                  <a:gd name="T11" fmla="*/ 18 h 1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9"/>
                  <a:gd name="T19" fmla="*/ 0 h 19"/>
                  <a:gd name="T20" fmla="*/ 19 w 19"/>
                  <a:gd name="T21" fmla="*/ 19 h 1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9" h="19">
                    <a:moveTo>
                      <a:pt x="0" y="18"/>
                    </a:moveTo>
                    <a:lnTo>
                      <a:pt x="18" y="18"/>
                    </a:lnTo>
                    <a:lnTo>
                      <a:pt x="18" y="0"/>
                    </a:lnTo>
                    <a:lnTo>
                      <a:pt x="9" y="0"/>
                    </a:lnTo>
                    <a:lnTo>
                      <a:pt x="9" y="18"/>
                    </a:lnTo>
                    <a:lnTo>
                      <a:pt x="0" y="18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92" name="Freeform 273">
                <a:extLst>
                  <a:ext uri="{FF2B5EF4-FFF2-40B4-BE49-F238E27FC236}">
                    <a16:creationId xmlns:a16="http://schemas.microsoft.com/office/drawing/2014/main" id="{41C567B5-834C-4DAE-B0DA-7A7E374AD8F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968577" y="3448712"/>
                <a:ext cx="48404" cy="1731"/>
              </a:xfrm>
              <a:custGeom>
                <a:avLst/>
                <a:gdLst>
                  <a:gd name="T0" fmla="*/ 0 w 19"/>
                  <a:gd name="T1" fmla="*/ 0 h 1"/>
                  <a:gd name="T2" fmla="*/ 18 w 19"/>
                  <a:gd name="T3" fmla="*/ 0 h 1"/>
                  <a:gd name="T4" fmla="*/ 0 w 19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9"/>
                  <a:gd name="T10" fmla="*/ 0 h 1"/>
                  <a:gd name="T11" fmla="*/ 19 w 19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" h="1">
                    <a:moveTo>
                      <a:pt x="0" y="0"/>
                    </a:moveTo>
                    <a:lnTo>
                      <a:pt x="18" y="0"/>
                    </a:lnTo>
                    <a:lnTo>
                      <a:pt x="0" y="0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93" name="Freeform 274">
                <a:extLst>
                  <a:ext uri="{FF2B5EF4-FFF2-40B4-BE49-F238E27FC236}">
                    <a16:creationId xmlns:a16="http://schemas.microsoft.com/office/drawing/2014/main" id="{B1DD4992-64EC-48D5-855A-1BB0A7C2F3C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545701" y="3038556"/>
                <a:ext cx="48404" cy="65763"/>
              </a:xfrm>
              <a:custGeom>
                <a:avLst/>
                <a:gdLst>
                  <a:gd name="T0" fmla="*/ 6 w 19"/>
                  <a:gd name="T1" fmla="*/ 0 h 38"/>
                  <a:gd name="T2" fmla="*/ 6 w 19"/>
                  <a:gd name="T3" fmla="*/ 0 h 38"/>
                  <a:gd name="T4" fmla="*/ 12 w 19"/>
                  <a:gd name="T5" fmla="*/ 0 h 38"/>
                  <a:gd name="T6" fmla="*/ 18 w 19"/>
                  <a:gd name="T7" fmla="*/ 6 h 38"/>
                  <a:gd name="T8" fmla="*/ 12 w 19"/>
                  <a:gd name="T9" fmla="*/ 18 h 38"/>
                  <a:gd name="T10" fmla="*/ 18 w 19"/>
                  <a:gd name="T11" fmla="*/ 25 h 38"/>
                  <a:gd name="T12" fmla="*/ 12 w 19"/>
                  <a:gd name="T13" fmla="*/ 37 h 38"/>
                  <a:gd name="T14" fmla="*/ 6 w 19"/>
                  <a:gd name="T15" fmla="*/ 31 h 38"/>
                  <a:gd name="T16" fmla="*/ 6 w 19"/>
                  <a:gd name="T17" fmla="*/ 12 h 38"/>
                  <a:gd name="T18" fmla="*/ 0 w 19"/>
                  <a:gd name="T19" fmla="*/ 6 h 38"/>
                  <a:gd name="T20" fmla="*/ 6 w 19"/>
                  <a:gd name="T21" fmla="*/ 0 h 3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9"/>
                  <a:gd name="T34" fmla="*/ 0 h 38"/>
                  <a:gd name="T35" fmla="*/ 19 w 19"/>
                  <a:gd name="T36" fmla="*/ 38 h 38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9" h="38">
                    <a:moveTo>
                      <a:pt x="6" y="0"/>
                    </a:moveTo>
                    <a:lnTo>
                      <a:pt x="6" y="0"/>
                    </a:lnTo>
                    <a:lnTo>
                      <a:pt x="12" y="0"/>
                    </a:lnTo>
                    <a:lnTo>
                      <a:pt x="18" y="6"/>
                    </a:lnTo>
                    <a:lnTo>
                      <a:pt x="12" y="18"/>
                    </a:lnTo>
                    <a:lnTo>
                      <a:pt x="18" y="25"/>
                    </a:lnTo>
                    <a:lnTo>
                      <a:pt x="12" y="37"/>
                    </a:lnTo>
                    <a:lnTo>
                      <a:pt x="6" y="31"/>
                    </a:lnTo>
                    <a:lnTo>
                      <a:pt x="6" y="12"/>
                    </a:lnTo>
                    <a:lnTo>
                      <a:pt x="0" y="6"/>
                    </a:lnTo>
                    <a:lnTo>
                      <a:pt x="6" y="0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94" name="Freeform 275">
                <a:extLst>
                  <a:ext uri="{FF2B5EF4-FFF2-40B4-BE49-F238E27FC236}">
                    <a16:creationId xmlns:a16="http://schemas.microsoft.com/office/drawing/2014/main" id="{01547355-1A39-4F2E-B0F1-7908A987297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627229" y="2995293"/>
                <a:ext cx="173244" cy="74415"/>
              </a:xfrm>
              <a:custGeom>
                <a:avLst/>
                <a:gdLst>
                  <a:gd name="T0" fmla="*/ 67 w 68"/>
                  <a:gd name="T1" fmla="*/ 6 h 43"/>
                  <a:gd name="T2" fmla="*/ 61 w 68"/>
                  <a:gd name="T3" fmla="*/ 12 h 43"/>
                  <a:gd name="T4" fmla="*/ 55 w 68"/>
                  <a:gd name="T5" fmla="*/ 24 h 43"/>
                  <a:gd name="T6" fmla="*/ 61 w 68"/>
                  <a:gd name="T7" fmla="*/ 30 h 43"/>
                  <a:gd name="T8" fmla="*/ 49 w 68"/>
                  <a:gd name="T9" fmla="*/ 30 h 43"/>
                  <a:gd name="T10" fmla="*/ 43 w 68"/>
                  <a:gd name="T11" fmla="*/ 36 h 43"/>
                  <a:gd name="T12" fmla="*/ 37 w 68"/>
                  <a:gd name="T13" fmla="*/ 42 h 43"/>
                  <a:gd name="T14" fmla="*/ 24 w 68"/>
                  <a:gd name="T15" fmla="*/ 36 h 43"/>
                  <a:gd name="T16" fmla="*/ 6 w 68"/>
                  <a:gd name="T17" fmla="*/ 36 h 43"/>
                  <a:gd name="T18" fmla="*/ 6 w 68"/>
                  <a:gd name="T19" fmla="*/ 30 h 43"/>
                  <a:gd name="T20" fmla="*/ 0 w 68"/>
                  <a:gd name="T21" fmla="*/ 30 h 43"/>
                  <a:gd name="T22" fmla="*/ 6 w 68"/>
                  <a:gd name="T23" fmla="*/ 24 h 43"/>
                  <a:gd name="T24" fmla="*/ 6 w 68"/>
                  <a:gd name="T25" fmla="*/ 18 h 43"/>
                  <a:gd name="T26" fmla="*/ 0 w 68"/>
                  <a:gd name="T27" fmla="*/ 6 h 43"/>
                  <a:gd name="T28" fmla="*/ 6 w 68"/>
                  <a:gd name="T29" fmla="*/ 0 h 43"/>
                  <a:gd name="T30" fmla="*/ 6 w 68"/>
                  <a:gd name="T31" fmla="*/ 6 h 43"/>
                  <a:gd name="T32" fmla="*/ 18 w 68"/>
                  <a:gd name="T33" fmla="*/ 6 h 43"/>
                  <a:gd name="T34" fmla="*/ 30 w 68"/>
                  <a:gd name="T35" fmla="*/ 12 h 43"/>
                  <a:gd name="T36" fmla="*/ 49 w 68"/>
                  <a:gd name="T37" fmla="*/ 6 h 43"/>
                  <a:gd name="T38" fmla="*/ 67 w 68"/>
                  <a:gd name="T39" fmla="*/ 6 h 43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68"/>
                  <a:gd name="T61" fmla="*/ 0 h 43"/>
                  <a:gd name="T62" fmla="*/ 68 w 68"/>
                  <a:gd name="T63" fmla="*/ 43 h 43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68" h="43">
                    <a:moveTo>
                      <a:pt x="67" y="6"/>
                    </a:moveTo>
                    <a:lnTo>
                      <a:pt x="61" y="12"/>
                    </a:lnTo>
                    <a:lnTo>
                      <a:pt x="55" y="24"/>
                    </a:lnTo>
                    <a:lnTo>
                      <a:pt x="61" y="30"/>
                    </a:lnTo>
                    <a:lnTo>
                      <a:pt x="49" y="30"/>
                    </a:lnTo>
                    <a:lnTo>
                      <a:pt x="43" y="36"/>
                    </a:lnTo>
                    <a:lnTo>
                      <a:pt x="37" y="42"/>
                    </a:lnTo>
                    <a:lnTo>
                      <a:pt x="24" y="36"/>
                    </a:lnTo>
                    <a:lnTo>
                      <a:pt x="6" y="36"/>
                    </a:lnTo>
                    <a:lnTo>
                      <a:pt x="6" y="30"/>
                    </a:lnTo>
                    <a:lnTo>
                      <a:pt x="0" y="30"/>
                    </a:lnTo>
                    <a:lnTo>
                      <a:pt x="6" y="24"/>
                    </a:lnTo>
                    <a:lnTo>
                      <a:pt x="6" y="18"/>
                    </a:lnTo>
                    <a:lnTo>
                      <a:pt x="0" y="6"/>
                    </a:lnTo>
                    <a:lnTo>
                      <a:pt x="6" y="0"/>
                    </a:lnTo>
                    <a:lnTo>
                      <a:pt x="6" y="6"/>
                    </a:lnTo>
                    <a:lnTo>
                      <a:pt x="18" y="6"/>
                    </a:lnTo>
                    <a:lnTo>
                      <a:pt x="30" y="12"/>
                    </a:lnTo>
                    <a:lnTo>
                      <a:pt x="49" y="6"/>
                    </a:lnTo>
                    <a:lnTo>
                      <a:pt x="67" y="6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95" name="Freeform 276">
                <a:extLst>
                  <a:ext uri="{FF2B5EF4-FFF2-40B4-BE49-F238E27FC236}">
                    <a16:creationId xmlns:a16="http://schemas.microsoft.com/office/drawing/2014/main" id="{C0532B18-865B-4A6B-8E99-58E4DF66A5B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469271" y="2887994"/>
                <a:ext cx="175793" cy="76147"/>
              </a:xfrm>
              <a:custGeom>
                <a:avLst/>
                <a:gdLst>
                  <a:gd name="T0" fmla="*/ 31 w 69"/>
                  <a:gd name="T1" fmla="*/ 43 h 44"/>
                  <a:gd name="T2" fmla="*/ 43 w 69"/>
                  <a:gd name="T3" fmla="*/ 37 h 44"/>
                  <a:gd name="T4" fmla="*/ 50 w 69"/>
                  <a:gd name="T5" fmla="*/ 37 h 44"/>
                  <a:gd name="T6" fmla="*/ 62 w 69"/>
                  <a:gd name="T7" fmla="*/ 12 h 44"/>
                  <a:gd name="T8" fmla="*/ 68 w 69"/>
                  <a:gd name="T9" fmla="*/ 12 h 44"/>
                  <a:gd name="T10" fmla="*/ 62 w 69"/>
                  <a:gd name="T11" fmla="*/ 6 h 44"/>
                  <a:gd name="T12" fmla="*/ 50 w 69"/>
                  <a:gd name="T13" fmla="*/ 0 h 44"/>
                  <a:gd name="T14" fmla="*/ 25 w 69"/>
                  <a:gd name="T15" fmla="*/ 12 h 44"/>
                  <a:gd name="T16" fmla="*/ 12 w 69"/>
                  <a:gd name="T17" fmla="*/ 12 h 44"/>
                  <a:gd name="T18" fmla="*/ 0 w 69"/>
                  <a:gd name="T19" fmla="*/ 25 h 44"/>
                  <a:gd name="T20" fmla="*/ 0 w 69"/>
                  <a:gd name="T21" fmla="*/ 31 h 44"/>
                  <a:gd name="T22" fmla="*/ 18 w 69"/>
                  <a:gd name="T23" fmla="*/ 43 h 44"/>
                  <a:gd name="T24" fmla="*/ 31 w 69"/>
                  <a:gd name="T25" fmla="*/ 43 h 4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69"/>
                  <a:gd name="T40" fmla="*/ 0 h 44"/>
                  <a:gd name="T41" fmla="*/ 69 w 69"/>
                  <a:gd name="T42" fmla="*/ 44 h 44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69" h="44">
                    <a:moveTo>
                      <a:pt x="31" y="43"/>
                    </a:moveTo>
                    <a:lnTo>
                      <a:pt x="43" y="37"/>
                    </a:lnTo>
                    <a:lnTo>
                      <a:pt x="50" y="37"/>
                    </a:lnTo>
                    <a:lnTo>
                      <a:pt x="62" y="12"/>
                    </a:lnTo>
                    <a:lnTo>
                      <a:pt x="68" y="12"/>
                    </a:lnTo>
                    <a:lnTo>
                      <a:pt x="62" y="6"/>
                    </a:lnTo>
                    <a:lnTo>
                      <a:pt x="50" y="0"/>
                    </a:lnTo>
                    <a:lnTo>
                      <a:pt x="25" y="12"/>
                    </a:lnTo>
                    <a:lnTo>
                      <a:pt x="12" y="12"/>
                    </a:lnTo>
                    <a:lnTo>
                      <a:pt x="0" y="25"/>
                    </a:lnTo>
                    <a:lnTo>
                      <a:pt x="0" y="31"/>
                    </a:lnTo>
                    <a:lnTo>
                      <a:pt x="18" y="43"/>
                    </a:lnTo>
                    <a:lnTo>
                      <a:pt x="31" y="43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96" name="Freeform 277">
                <a:extLst>
                  <a:ext uri="{FF2B5EF4-FFF2-40B4-BE49-F238E27FC236}">
                    <a16:creationId xmlns:a16="http://schemas.microsoft.com/office/drawing/2014/main" id="{2F9B1737-BDFD-4364-85B3-3F45D9F0045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405578" y="2932990"/>
                <a:ext cx="63693" cy="32882"/>
              </a:xfrm>
              <a:custGeom>
                <a:avLst/>
                <a:gdLst>
                  <a:gd name="T0" fmla="*/ 24 w 25"/>
                  <a:gd name="T1" fmla="*/ 6 h 19"/>
                  <a:gd name="T2" fmla="*/ 18 w 25"/>
                  <a:gd name="T3" fmla="*/ 6 h 19"/>
                  <a:gd name="T4" fmla="*/ 18 w 25"/>
                  <a:gd name="T5" fmla="*/ 18 h 19"/>
                  <a:gd name="T6" fmla="*/ 6 w 25"/>
                  <a:gd name="T7" fmla="*/ 18 h 19"/>
                  <a:gd name="T8" fmla="*/ 0 w 25"/>
                  <a:gd name="T9" fmla="*/ 12 h 19"/>
                  <a:gd name="T10" fmla="*/ 0 w 25"/>
                  <a:gd name="T11" fmla="*/ 6 h 19"/>
                  <a:gd name="T12" fmla="*/ 24 w 25"/>
                  <a:gd name="T13" fmla="*/ 0 h 19"/>
                  <a:gd name="T14" fmla="*/ 24 w 25"/>
                  <a:gd name="T15" fmla="*/ 6 h 1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25"/>
                  <a:gd name="T25" fmla="*/ 0 h 19"/>
                  <a:gd name="T26" fmla="*/ 25 w 25"/>
                  <a:gd name="T27" fmla="*/ 19 h 19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5" h="19">
                    <a:moveTo>
                      <a:pt x="24" y="6"/>
                    </a:moveTo>
                    <a:lnTo>
                      <a:pt x="18" y="6"/>
                    </a:lnTo>
                    <a:lnTo>
                      <a:pt x="18" y="18"/>
                    </a:lnTo>
                    <a:lnTo>
                      <a:pt x="6" y="18"/>
                    </a:lnTo>
                    <a:lnTo>
                      <a:pt x="0" y="12"/>
                    </a:lnTo>
                    <a:lnTo>
                      <a:pt x="0" y="6"/>
                    </a:lnTo>
                    <a:lnTo>
                      <a:pt x="24" y="0"/>
                    </a:lnTo>
                    <a:lnTo>
                      <a:pt x="24" y="6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97" name="Freeform 278">
                <a:extLst>
                  <a:ext uri="{FF2B5EF4-FFF2-40B4-BE49-F238E27FC236}">
                    <a16:creationId xmlns:a16="http://schemas.microsoft.com/office/drawing/2014/main" id="{F7C2F2CC-5A25-40BE-BA06-E7151125B00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405578" y="2943373"/>
                <a:ext cx="157957" cy="95185"/>
              </a:xfrm>
              <a:custGeom>
                <a:avLst/>
                <a:gdLst>
                  <a:gd name="T0" fmla="*/ 30 w 62"/>
                  <a:gd name="T1" fmla="*/ 0 h 55"/>
                  <a:gd name="T2" fmla="*/ 43 w 62"/>
                  <a:gd name="T3" fmla="*/ 12 h 55"/>
                  <a:gd name="T4" fmla="*/ 55 w 62"/>
                  <a:gd name="T5" fmla="*/ 12 h 55"/>
                  <a:gd name="T6" fmla="*/ 55 w 62"/>
                  <a:gd name="T7" fmla="*/ 18 h 55"/>
                  <a:gd name="T8" fmla="*/ 61 w 62"/>
                  <a:gd name="T9" fmla="*/ 18 h 55"/>
                  <a:gd name="T10" fmla="*/ 55 w 62"/>
                  <a:gd name="T11" fmla="*/ 18 h 55"/>
                  <a:gd name="T12" fmla="*/ 55 w 62"/>
                  <a:gd name="T13" fmla="*/ 24 h 55"/>
                  <a:gd name="T14" fmla="*/ 49 w 62"/>
                  <a:gd name="T15" fmla="*/ 18 h 55"/>
                  <a:gd name="T16" fmla="*/ 37 w 62"/>
                  <a:gd name="T17" fmla="*/ 18 h 55"/>
                  <a:gd name="T18" fmla="*/ 30 w 62"/>
                  <a:gd name="T19" fmla="*/ 18 h 55"/>
                  <a:gd name="T20" fmla="*/ 24 w 62"/>
                  <a:gd name="T21" fmla="*/ 18 h 55"/>
                  <a:gd name="T22" fmla="*/ 18 w 62"/>
                  <a:gd name="T23" fmla="*/ 18 h 55"/>
                  <a:gd name="T24" fmla="*/ 24 w 62"/>
                  <a:gd name="T25" fmla="*/ 24 h 55"/>
                  <a:gd name="T26" fmla="*/ 37 w 62"/>
                  <a:gd name="T27" fmla="*/ 42 h 55"/>
                  <a:gd name="T28" fmla="*/ 49 w 62"/>
                  <a:gd name="T29" fmla="*/ 54 h 55"/>
                  <a:gd name="T30" fmla="*/ 37 w 62"/>
                  <a:gd name="T31" fmla="*/ 42 h 55"/>
                  <a:gd name="T32" fmla="*/ 24 w 62"/>
                  <a:gd name="T33" fmla="*/ 42 h 55"/>
                  <a:gd name="T34" fmla="*/ 18 w 62"/>
                  <a:gd name="T35" fmla="*/ 30 h 55"/>
                  <a:gd name="T36" fmla="*/ 12 w 62"/>
                  <a:gd name="T37" fmla="*/ 18 h 55"/>
                  <a:gd name="T38" fmla="*/ 6 w 62"/>
                  <a:gd name="T39" fmla="*/ 18 h 55"/>
                  <a:gd name="T40" fmla="*/ 6 w 62"/>
                  <a:gd name="T41" fmla="*/ 24 h 55"/>
                  <a:gd name="T42" fmla="*/ 0 w 62"/>
                  <a:gd name="T43" fmla="*/ 18 h 55"/>
                  <a:gd name="T44" fmla="*/ 0 w 62"/>
                  <a:gd name="T45" fmla="*/ 12 h 55"/>
                  <a:gd name="T46" fmla="*/ 6 w 62"/>
                  <a:gd name="T47" fmla="*/ 12 h 55"/>
                  <a:gd name="T48" fmla="*/ 12 w 62"/>
                  <a:gd name="T49" fmla="*/ 12 h 55"/>
                  <a:gd name="T50" fmla="*/ 18 w 62"/>
                  <a:gd name="T51" fmla="*/ 12 h 55"/>
                  <a:gd name="T52" fmla="*/ 18 w 62"/>
                  <a:gd name="T53" fmla="*/ 6 h 55"/>
                  <a:gd name="T54" fmla="*/ 24 w 62"/>
                  <a:gd name="T55" fmla="*/ 0 h 55"/>
                  <a:gd name="T56" fmla="*/ 30 w 62"/>
                  <a:gd name="T57" fmla="*/ 0 h 55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62"/>
                  <a:gd name="T88" fmla="*/ 0 h 55"/>
                  <a:gd name="T89" fmla="*/ 62 w 62"/>
                  <a:gd name="T90" fmla="*/ 55 h 55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62" h="55">
                    <a:moveTo>
                      <a:pt x="30" y="0"/>
                    </a:moveTo>
                    <a:lnTo>
                      <a:pt x="43" y="12"/>
                    </a:lnTo>
                    <a:lnTo>
                      <a:pt x="55" y="12"/>
                    </a:lnTo>
                    <a:lnTo>
                      <a:pt x="55" y="18"/>
                    </a:lnTo>
                    <a:lnTo>
                      <a:pt x="61" y="18"/>
                    </a:lnTo>
                    <a:lnTo>
                      <a:pt x="55" y="18"/>
                    </a:lnTo>
                    <a:lnTo>
                      <a:pt x="55" y="24"/>
                    </a:lnTo>
                    <a:lnTo>
                      <a:pt x="49" y="18"/>
                    </a:lnTo>
                    <a:lnTo>
                      <a:pt x="37" y="18"/>
                    </a:lnTo>
                    <a:lnTo>
                      <a:pt x="30" y="18"/>
                    </a:lnTo>
                    <a:lnTo>
                      <a:pt x="24" y="18"/>
                    </a:lnTo>
                    <a:lnTo>
                      <a:pt x="18" y="18"/>
                    </a:lnTo>
                    <a:lnTo>
                      <a:pt x="24" y="24"/>
                    </a:lnTo>
                    <a:lnTo>
                      <a:pt x="37" y="42"/>
                    </a:lnTo>
                    <a:lnTo>
                      <a:pt x="49" y="54"/>
                    </a:lnTo>
                    <a:lnTo>
                      <a:pt x="37" y="42"/>
                    </a:lnTo>
                    <a:lnTo>
                      <a:pt x="24" y="42"/>
                    </a:lnTo>
                    <a:lnTo>
                      <a:pt x="18" y="30"/>
                    </a:lnTo>
                    <a:lnTo>
                      <a:pt x="12" y="18"/>
                    </a:lnTo>
                    <a:lnTo>
                      <a:pt x="6" y="18"/>
                    </a:lnTo>
                    <a:lnTo>
                      <a:pt x="6" y="24"/>
                    </a:lnTo>
                    <a:lnTo>
                      <a:pt x="0" y="18"/>
                    </a:lnTo>
                    <a:lnTo>
                      <a:pt x="0" y="12"/>
                    </a:lnTo>
                    <a:lnTo>
                      <a:pt x="6" y="12"/>
                    </a:lnTo>
                    <a:lnTo>
                      <a:pt x="12" y="12"/>
                    </a:lnTo>
                    <a:lnTo>
                      <a:pt x="18" y="12"/>
                    </a:lnTo>
                    <a:lnTo>
                      <a:pt x="18" y="6"/>
                    </a:lnTo>
                    <a:lnTo>
                      <a:pt x="24" y="0"/>
                    </a:lnTo>
                    <a:lnTo>
                      <a:pt x="30" y="0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98" name="Freeform 279">
                <a:extLst>
                  <a:ext uri="{FF2B5EF4-FFF2-40B4-BE49-F238E27FC236}">
                    <a16:creationId xmlns:a16="http://schemas.microsoft.com/office/drawing/2014/main" id="{B1518A50-D3F7-44F1-A74F-14A96D00196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530417" y="3017787"/>
                <a:ext cx="48404" cy="32882"/>
              </a:xfrm>
              <a:custGeom>
                <a:avLst/>
                <a:gdLst>
                  <a:gd name="T0" fmla="*/ 0 w 19"/>
                  <a:gd name="T1" fmla="*/ 12 h 19"/>
                  <a:gd name="T2" fmla="*/ 0 w 19"/>
                  <a:gd name="T3" fmla="*/ 12 h 19"/>
                  <a:gd name="T4" fmla="*/ 6 w 19"/>
                  <a:gd name="T5" fmla="*/ 18 h 19"/>
                  <a:gd name="T6" fmla="*/ 12 w 19"/>
                  <a:gd name="T7" fmla="*/ 12 h 19"/>
                  <a:gd name="T8" fmla="*/ 12 w 19"/>
                  <a:gd name="T9" fmla="*/ 6 h 19"/>
                  <a:gd name="T10" fmla="*/ 18 w 19"/>
                  <a:gd name="T11" fmla="*/ 12 h 19"/>
                  <a:gd name="T12" fmla="*/ 18 w 19"/>
                  <a:gd name="T13" fmla="*/ 6 h 19"/>
                  <a:gd name="T14" fmla="*/ 6 w 19"/>
                  <a:gd name="T15" fmla="*/ 0 h 19"/>
                  <a:gd name="T16" fmla="*/ 0 w 19"/>
                  <a:gd name="T17" fmla="*/ 0 h 19"/>
                  <a:gd name="T18" fmla="*/ 0 w 19"/>
                  <a:gd name="T19" fmla="*/ 6 h 19"/>
                  <a:gd name="T20" fmla="*/ 0 w 19"/>
                  <a:gd name="T21" fmla="*/ 12 h 1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9"/>
                  <a:gd name="T34" fmla="*/ 0 h 19"/>
                  <a:gd name="T35" fmla="*/ 19 w 19"/>
                  <a:gd name="T36" fmla="*/ 19 h 19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9" h="19">
                    <a:moveTo>
                      <a:pt x="0" y="12"/>
                    </a:moveTo>
                    <a:lnTo>
                      <a:pt x="0" y="12"/>
                    </a:lnTo>
                    <a:lnTo>
                      <a:pt x="6" y="18"/>
                    </a:lnTo>
                    <a:lnTo>
                      <a:pt x="12" y="12"/>
                    </a:lnTo>
                    <a:lnTo>
                      <a:pt x="12" y="6"/>
                    </a:lnTo>
                    <a:lnTo>
                      <a:pt x="18" y="12"/>
                    </a:lnTo>
                    <a:lnTo>
                      <a:pt x="18" y="6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2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99" name="Freeform 280">
                <a:extLst>
                  <a:ext uri="{FF2B5EF4-FFF2-40B4-BE49-F238E27FC236}">
                    <a16:creationId xmlns:a16="http://schemas.microsoft.com/office/drawing/2014/main" id="{B78C06F3-7542-46FB-956E-6C5D9F94A88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545701" y="2953757"/>
                <a:ext cx="99360" cy="95185"/>
              </a:xfrm>
              <a:custGeom>
                <a:avLst/>
                <a:gdLst>
                  <a:gd name="T0" fmla="*/ 0 w 39"/>
                  <a:gd name="T1" fmla="*/ 18 h 55"/>
                  <a:gd name="T2" fmla="*/ 0 w 39"/>
                  <a:gd name="T3" fmla="*/ 12 h 55"/>
                  <a:gd name="T4" fmla="*/ 6 w 39"/>
                  <a:gd name="T5" fmla="*/ 12 h 55"/>
                  <a:gd name="T6" fmla="*/ 0 w 39"/>
                  <a:gd name="T7" fmla="*/ 12 h 55"/>
                  <a:gd name="T8" fmla="*/ 0 w 39"/>
                  <a:gd name="T9" fmla="*/ 6 h 55"/>
                  <a:gd name="T10" fmla="*/ 12 w 39"/>
                  <a:gd name="T11" fmla="*/ 0 h 55"/>
                  <a:gd name="T12" fmla="*/ 25 w 39"/>
                  <a:gd name="T13" fmla="*/ 18 h 55"/>
                  <a:gd name="T14" fmla="*/ 38 w 39"/>
                  <a:gd name="T15" fmla="*/ 18 h 55"/>
                  <a:gd name="T16" fmla="*/ 38 w 39"/>
                  <a:gd name="T17" fmla="*/ 30 h 55"/>
                  <a:gd name="T18" fmla="*/ 32 w 39"/>
                  <a:gd name="T19" fmla="*/ 30 h 55"/>
                  <a:gd name="T20" fmla="*/ 38 w 39"/>
                  <a:gd name="T21" fmla="*/ 42 h 55"/>
                  <a:gd name="T22" fmla="*/ 38 w 39"/>
                  <a:gd name="T23" fmla="*/ 48 h 55"/>
                  <a:gd name="T24" fmla="*/ 25 w 39"/>
                  <a:gd name="T25" fmla="*/ 48 h 55"/>
                  <a:gd name="T26" fmla="*/ 19 w 39"/>
                  <a:gd name="T27" fmla="*/ 54 h 55"/>
                  <a:gd name="T28" fmla="*/ 12 w 39"/>
                  <a:gd name="T29" fmla="*/ 48 h 55"/>
                  <a:gd name="T30" fmla="*/ 6 w 39"/>
                  <a:gd name="T31" fmla="*/ 48 h 55"/>
                  <a:gd name="T32" fmla="*/ 6 w 39"/>
                  <a:gd name="T33" fmla="*/ 42 h 55"/>
                  <a:gd name="T34" fmla="*/ 12 w 39"/>
                  <a:gd name="T35" fmla="*/ 48 h 55"/>
                  <a:gd name="T36" fmla="*/ 12 w 39"/>
                  <a:gd name="T37" fmla="*/ 42 h 55"/>
                  <a:gd name="T38" fmla="*/ 0 w 39"/>
                  <a:gd name="T39" fmla="*/ 36 h 55"/>
                  <a:gd name="T40" fmla="*/ 6 w 39"/>
                  <a:gd name="T41" fmla="*/ 30 h 55"/>
                  <a:gd name="T42" fmla="*/ 0 w 39"/>
                  <a:gd name="T43" fmla="*/ 30 h 55"/>
                  <a:gd name="T44" fmla="*/ 6 w 39"/>
                  <a:gd name="T45" fmla="*/ 30 h 55"/>
                  <a:gd name="T46" fmla="*/ 0 w 39"/>
                  <a:gd name="T47" fmla="*/ 24 h 55"/>
                  <a:gd name="T48" fmla="*/ 6 w 39"/>
                  <a:gd name="T49" fmla="*/ 18 h 55"/>
                  <a:gd name="T50" fmla="*/ 0 w 39"/>
                  <a:gd name="T51" fmla="*/ 18 h 55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39"/>
                  <a:gd name="T79" fmla="*/ 0 h 55"/>
                  <a:gd name="T80" fmla="*/ 39 w 39"/>
                  <a:gd name="T81" fmla="*/ 55 h 55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39" h="55">
                    <a:moveTo>
                      <a:pt x="0" y="18"/>
                    </a:moveTo>
                    <a:lnTo>
                      <a:pt x="0" y="12"/>
                    </a:lnTo>
                    <a:lnTo>
                      <a:pt x="6" y="12"/>
                    </a:lnTo>
                    <a:lnTo>
                      <a:pt x="0" y="12"/>
                    </a:lnTo>
                    <a:lnTo>
                      <a:pt x="0" y="6"/>
                    </a:lnTo>
                    <a:lnTo>
                      <a:pt x="12" y="0"/>
                    </a:lnTo>
                    <a:lnTo>
                      <a:pt x="25" y="18"/>
                    </a:lnTo>
                    <a:lnTo>
                      <a:pt x="38" y="18"/>
                    </a:lnTo>
                    <a:lnTo>
                      <a:pt x="38" y="30"/>
                    </a:lnTo>
                    <a:lnTo>
                      <a:pt x="32" y="30"/>
                    </a:lnTo>
                    <a:lnTo>
                      <a:pt x="38" y="42"/>
                    </a:lnTo>
                    <a:lnTo>
                      <a:pt x="38" y="48"/>
                    </a:lnTo>
                    <a:lnTo>
                      <a:pt x="25" y="48"/>
                    </a:lnTo>
                    <a:lnTo>
                      <a:pt x="19" y="54"/>
                    </a:lnTo>
                    <a:lnTo>
                      <a:pt x="12" y="48"/>
                    </a:lnTo>
                    <a:lnTo>
                      <a:pt x="6" y="48"/>
                    </a:lnTo>
                    <a:lnTo>
                      <a:pt x="6" y="42"/>
                    </a:lnTo>
                    <a:lnTo>
                      <a:pt x="12" y="48"/>
                    </a:lnTo>
                    <a:lnTo>
                      <a:pt x="12" y="42"/>
                    </a:lnTo>
                    <a:lnTo>
                      <a:pt x="0" y="36"/>
                    </a:lnTo>
                    <a:lnTo>
                      <a:pt x="6" y="30"/>
                    </a:lnTo>
                    <a:lnTo>
                      <a:pt x="0" y="30"/>
                    </a:lnTo>
                    <a:lnTo>
                      <a:pt x="6" y="30"/>
                    </a:lnTo>
                    <a:lnTo>
                      <a:pt x="0" y="24"/>
                    </a:lnTo>
                    <a:lnTo>
                      <a:pt x="6" y="18"/>
                    </a:lnTo>
                    <a:lnTo>
                      <a:pt x="0" y="18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00" name="Freeform 281">
                <a:extLst>
                  <a:ext uri="{FF2B5EF4-FFF2-40B4-BE49-F238E27FC236}">
                    <a16:creationId xmlns:a16="http://schemas.microsoft.com/office/drawing/2014/main" id="{6793C35E-99D1-431F-A222-635EADD8DEA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581368" y="3038556"/>
                <a:ext cx="63693" cy="43264"/>
              </a:xfrm>
              <a:custGeom>
                <a:avLst/>
                <a:gdLst>
                  <a:gd name="T0" fmla="*/ 6 w 25"/>
                  <a:gd name="T1" fmla="*/ 24 h 25"/>
                  <a:gd name="T2" fmla="*/ 0 w 25"/>
                  <a:gd name="T3" fmla="*/ 18 h 25"/>
                  <a:gd name="T4" fmla="*/ 6 w 25"/>
                  <a:gd name="T5" fmla="*/ 6 h 25"/>
                  <a:gd name="T6" fmla="*/ 12 w 25"/>
                  <a:gd name="T7" fmla="*/ 0 h 25"/>
                  <a:gd name="T8" fmla="*/ 24 w 25"/>
                  <a:gd name="T9" fmla="*/ 0 h 25"/>
                  <a:gd name="T10" fmla="*/ 18 w 25"/>
                  <a:gd name="T11" fmla="*/ 6 h 25"/>
                  <a:gd name="T12" fmla="*/ 24 w 25"/>
                  <a:gd name="T13" fmla="*/ 6 h 25"/>
                  <a:gd name="T14" fmla="*/ 24 w 25"/>
                  <a:gd name="T15" fmla="*/ 18 h 25"/>
                  <a:gd name="T16" fmla="*/ 6 w 25"/>
                  <a:gd name="T17" fmla="*/ 24 h 2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5"/>
                  <a:gd name="T28" fmla="*/ 0 h 25"/>
                  <a:gd name="T29" fmla="*/ 25 w 25"/>
                  <a:gd name="T30" fmla="*/ 25 h 25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5" h="25">
                    <a:moveTo>
                      <a:pt x="6" y="24"/>
                    </a:moveTo>
                    <a:lnTo>
                      <a:pt x="0" y="18"/>
                    </a:lnTo>
                    <a:lnTo>
                      <a:pt x="6" y="6"/>
                    </a:lnTo>
                    <a:lnTo>
                      <a:pt x="12" y="0"/>
                    </a:lnTo>
                    <a:lnTo>
                      <a:pt x="24" y="0"/>
                    </a:lnTo>
                    <a:lnTo>
                      <a:pt x="18" y="6"/>
                    </a:lnTo>
                    <a:lnTo>
                      <a:pt x="24" y="6"/>
                    </a:lnTo>
                    <a:lnTo>
                      <a:pt x="24" y="18"/>
                    </a:lnTo>
                    <a:lnTo>
                      <a:pt x="6" y="24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01" name="Freeform 282">
                <a:extLst>
                  <a:ext uri="{FF2B5EF4-FFF2-40B4-BE49-F238E27FC236}">
                    <a16:creationId xmlns:a16="http://schemas.microsoft.com/office/drawing/2014/main" id="{8F08E2C1-EBFC-479D-9E44-7F27766C398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453984" y="2964139"/>
                <a:ext cx="109552" cy="64032"/>
              </a:xfrm>
              <a:custGeom>
                <a:avLst/>
                <a:gdLst>
                  <a:gd name="T0" fmla="*/ 6 w 43"/>
                  <a:gd name="T1" fmla="*/ 0 h 37"/>
                  <a:gd name="T2" fmla="*/ 6 w 43"/>
                  <a:gd name="T3" fmla="*/ 0 h 37"/>
                  <a:gd name="T4" fmla="*/ 0 w 43"/>
                  <a:gd name="T5" fmla="*/ 6 h 37"/>
                  <a:gd name="T6" fmla="*/ 6 w 43"/>
                  <a:gd name="T7" fmla="*/ 12 h 37"/>
                  <a:gd name="T8" fmla="*/ 18 w 43"/>
                  <a:gd name="T9" fmla="*/ 30 h 37"/>
                  <a:gd name="T10" fmla="*/ 30 w 43"/>
                  <a:gd name="T11" fmla="*/ 36 h 37"/>
                  <a:gd name="T12" fmla="*/ 30 w 43"/>
                  <a:gd name="T13" fmla="*/ 30 h 37"/>
                  <a:gd name="T14" fmla="*/ 36 w 43"/>
                  <a:gd name="T15" fmla="*/ 30 h 37"/>
                  <a:gd name="T16" fmla="*/ 42 w 43"/>
                  <a:gd name="T17" fmla="*/ 24 h 37"/>
                  <a:gd name="T18" fmla="*/ 36 w 43"/>
                  <a:gd name="T19" fmla="*/ 24 h 37"/>
                  <a:gd name="T20" fmla="*/ 42 w 43"/>
                  <a:gd name="T21" fmla="*/ 24 h 37"/>
                  <a:gd name="T22" fmla="*/ 36 w 43"/>
                  <a:gd name="T23" fmla="*/ 18 h 37"/>
                  <a:gd name="T24" fmla="*/ 42 w 43"/>
                  <a:gd name="T25" fmla="*/ 12 h 37"/>
                  <a:gd name="T26" fmla="*/ 36 w 43"/>
                  <a:gd name="T27" fmla="*/ 12 h 37"/>
                  <a:gd name="T28" fmla="*/ 30 w 43"/>
                  <a:gd name="T29" fmla="*/ 6 h 37"/>
                  <a:gd name="T30" fmla="*/ 18 w 43"/>
                  <a:gd name="T31" fmla="*/ 6 h 37"/>
                  <a:gd name="T32" fmla="*/ 12 w 43"/>
                  <a:gd name="T33" fmla="*/ 6 h 37"/>
                  <a:gd name="T34" fmla="*/ 6 w 43"/>
                  <a:gd name="T35" fmla="*/ 0 h 3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43"/>
                  <a:gd name="T55" fmla="*/ 0 h 37"/>
                  <a:gd name="T56" fmla="*/ 43 w 43"/>
                  <a:gd name="T57" fmla="*/ 37 h 37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43" h="37">
                    <a:moveTo>
                      <a:pt x="6" y="0"/>
                    </a:moveTo>
                    <a:lnTo>
                      <a:pt x="6" y="0"/>
                    </a:lnTo>
                    <a:lnTo>
                      <a:pt x="0" y="6"/>
                    </a:lnTo>
                    <a:lnTo>
                      <a:pt x="6" y="12"/>
                    </a:lnTo>
                    <a:lnTo>
                      <a:pt x="18" y="30"/>
                    </a:lnTo>
                    <a:lnTo>
                      <a:pt x="30" y="36"/>
                    </a:lnTo>
                    <a:lnTo>
                      <a:pt x="30" y="30"/>
                    </a:lnTo>
                    <a:lnTo>
                      <a:pt x="36" y="30"/>
                    </a:lnTo>
                    <a:lnTo>
                      <a:pt x="42" y="24"/>
                    </a:lnTo>
                    <a:lnTo>
                      <a:pt x="36" y="24"/>
                    </a:lnTo>
                    <a:lnTo>
                      <a:pt x="42" y="24"/>
                    </a:lnTo>
                    <a:lnTo>
                      <a:pt x="36" y="18"/>
                    </a:lnTo>
                    <a:lnTo>
                      <a:pt x="42" y="12"/>
                    </a:lnTo>
                    <a:lnTo>
                      <a:pt x="36" y="12"/>
                    </a:lnTo>
                    <a:lnTo>
                      <a:pt x="30" y="6"/>
                    </a:lnTo>
                    <a:lnTo>
                      <a:pt x="18" y="6"/>
                    </a:lnTo>
                    <a:lnTo>
                      <a:pt x="12" y="6"/>
                    </a:lnTo>
                    <a:lnTo>
                      <a:pt x="6" y="0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02" name="Freeform 283">
                <a:extLst>
                  <a:ext uri="{FF2B5EF4-FFF2-40B4-BE49-F238E27FC236}">
                    <a16:creationId xmlns:a16="http://schemas.microsoft.com/office/drawing/2014/main" id="{11152818-4F43-4539-A128-883A74A6764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390291" y="3597545"/>
                <a:ext cx="63693" cy="31151"/>
              </a:xfrm>
              <a:custGeom>
                <a:avLst/>
                <a:gdLst>
                  <a:gd name="T0" fmla="*/ 0 w 25"/>
                  <a:gd name="T1" fmla="*/ 0 h 18"/>
                  <a:gd name="T2" fmla="*/ 12 w 25"/>
                  <a:gd name="T3" fmla="*/ 17 h 18"/>
                  <a:gd name="T4" fmla="*/ 18 w 25"/>
                  <a:gd name="T5" fmla="*/ 17 h 18"/>
                  <a:gd name="T6" fmla="*/ 24 w 25"/>
                  <a:gd name="T7" fmla="*/ 8 h 18"/>
                  <a:gd name="T8" fmla="*/ 12 w 25"/>
                  <a:gd name="T9" fmla="*/ 8 h 18"/>
                  <a:gd name="T10" fmla="*/ 12 w 25"/>
                  <a:gd name="T11" fmla="*/ 0 h 18"/>
                  <a:gd name="T12" fmla="*/ 0 w 25"/>
                  <a:gd name="T13" fmla="*/ 0 h 1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5"/>
                  <a:gd name="T22" fmla="*/ 0 h 18"/>
                  <a:gd name="T23" fmla="*/ 25 w 25"/>
                  <a:gd name="T24" fmla="*/ 18 h 1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5" h="18">
                    <a:moveTo>
                      <a:pt x="0" y="0"/>
                    </a:moveTo>
                    <a:lnTo>
                      <a:pt x="12" y="17"/>
                    </a:lnTo>
                    <a:lnTo>
                      <a:pt x="18" y="17"/>
                    </a:lnTo>
                    <a:lnTo>
                      <a:pt x="24" y="8"/>
                    </a:lnTo>
                    <a:lnTo>
                      <a:pt x="12" y="8"/>
                    </a:lnTo>
                    <a:lnTo>
                      <a:pt x="12" y="0"/>
                    </a:lnTo>
                    <a:lnTo>
                      <a:pt x="0" y="0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03" name="Freeform 284">
                <a:extLst>
                  <a:ext uri="{FF2B5EF4-FFF2-40B4-BE49-F238E27FC236}">
                    <a16:creationId xmlns:a16="http://schemas.microsoft.com/office/drawing/2014/main" id="{6D104D9D-29A7-46CE-80AA-C1193B4CDC0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866713" y="3834640"/>
                <a:ext cx="78978" cy="43264"/>
              </a:xfrm>
              <a:custGeom>
                <a:avLst/>
                <a:gdLst>
                  <a:gd name="T0" fmla="*/ 0 w 31"/>
                  <a:gd name="T1" fmla="*/ 18 h 25"/>
                  <a:gd name="T2" fmla="*/ 6 w 31"/>
                  <a:gd name="T3" fmla="*/ 24 h 25"/>
                  <a:gd name="T4" fmla="*/ 18 w 31"/>
                  <a:gd name="T5" fmla="*/ 24 h 25"/>
                  <a:gd name="T6" fmla="*/ 24 w 31"/>
                  <a:gd name="T7" fmla="*/ 18 h 25"/>
                  <a:gd name="T8" fmla="*/ 18 w 31"/>
                  <a:gd name="T9" fmla="*/ 18 h 25"/>
                  <a:gd name="T10" fmla="*/ 30 w 31"/>
                  <a:gd name="T11" fmla="*/ 6 h 25"/>
                  <a:gd name="T12" fmla="*/ 24 w 31"/>
                  <a:gd name="T13" fmla="*/ 0 h 25"/>
                  <a:gd name="T14" fmla="*/ 18 w 31"/>
                  <a:gd name="T15" fmla="*/ 0 h 25"/>
                  <a:gd name="T16" fmla="*/ 6 w 31"/>
                  <a:gd name="T17" fmla="*/ 0 h 25"/>
                  <a:gd name="T18" fmla="*/ 0 w 31"/>
                  <a:gd name="T19" fmla="*/ 18 h 2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1"/>
                  <a:gd name="T31" fmla="*/ 0 h 25"/>
                  <a:gd name="T32" fmla="*/ 31 w 31"/>
                  <a:gd name="T33" fmla="*/ 25 h 2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1" h="25">
                    <a:moveTo>
                      <a:pt x="0" y="18"/>
                    </a:moveTo>
                    <a:lnTo>
                      <a:pt x="6" y="24"/>
                    </a:lnTo>
                    <a:lnTo>
                      <a:pt x="18" y="24"/>
                    </a:lnTo>
                    <a:lnTo>
                      <a:pt x="24" y="18"/>
                    </a:lnTo>
                    <a:lnTo>
                      <a:pt x="18" y="18"/>
                    </a:lnTo>
                    <a:lnTo>
                      <a:pt x="30" y="6"/>
                    </a:lnTo>
                    <a:lnTo>
                      <a:pt x="24" y="0"/>
                    </a:lnTo>
                    <a:lnTo>
                      <a:pt x="18" y="0"/>
                    </a:lnTo>
                    <a:lnTo>
                      <a:pt x="6" y="0"/>
                    </a:lnTo>
                    <a:lnTo>
                      <a:pt x="0" y="18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04" name="Freeform 285">
                <a:extLst>
                  <a:ext uri="{FF2B5EF4-FFF2-40B4-BE49-F238E27FC236}">
                    <a16:creationId xmlns:a16="http://schemas.microsoft.com/office/drawing/2014/main" id="{D66B6CCA-F765-4B21-BA51-03E928B4A8B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927858" y="3995586"/>
                <a:ext cx="48404" cy="84800"/>
              </a:xfrm>
              <a:custGeom>
                <a:avLst/>
                <a:gdLst>
                  <a:gd name="T0" fmla="*/ 0 w 19"/>
                  <a:gd name="T1" fmla="*/ 24 h 49"/>
                  <a:gd name="T2" fmla="*/ 9 w 19"/>
                  <a:gd name="T3" fmla="*/ 36 h 49"/>
                  <a:gd name="T4" fmla="*/ 18 w 19"/>
                  <a:gd name="T5" fmla="*/ 48 h 49"/>
                  <a:gd name="T6" fmla="*/ 9 w 19"/>
                  <a:gd name="T7" fmla="*/ 6 h 49"/>
                  <a:gd name="T8" fmla="*/ 0 w 19"/>
                  <a:gd name="T9" fmla="*/ 0 h 49"/>
                  <a:gd name="T10" fmla="*/ 0 w 19"/>
                  <a:gd name="T11" fmla="*/ 6 h 49"/>
                  <a:gd name="T12" fmla="*/ 9 w 19"/>
                  <a:gd name="T13" fmla="*/ 24 h 49"/>
                  <a:gd name="T14" fmla="*/ 0 w 19"/>
                  <a:gd name="T15" fmla="*/ 24 h 4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"/>
                  <a:gd name="T25" fmla="*/ 0 h 49"/>
                  <a:gd name="T26" fmla="*/ 19 w 19"/>
                  <a:gd name="T27" fmla="*/ 49 h 49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" h="49">
                    <a:moveTo>
                      <a:pt x="0" y="24"/>
                    </a:moveTo>
                    <a:lnTo>
                      <a:pt x="9" y="36"/>
                    </a:lnTo>
                    <a:lnTo>
                      <a:pt x="18" y="48"/>
                    </a:lnTo>
                    <a:lnTo>
                      <a:pt x="9" y="6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9" y="24"/>
                    </a:lnTo>
                    <a:lnTo>
                      <a:pt x="0" y="24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05" name="Freeform 286">
                <a:extLst>
                  <a:ext uri="{FF2B5EF4-FFF2-40B4-BE49-F238E27FC236}">
                    <a16:creationId xmlns:a16="http://schemas.microsoft.com/office/drawing/2014/main" id="{CCD232B3-E89F-4B38-A988-A7262B15714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800473" y="3888289"/>
                <a:ext cx="48404" cy="96914"/>
              </a:xfrm>
              <a:custGeom>
                <a:avLst/>
                <a:gdLst>
                  <a:gd name="T0" fmla="*/ 0 w 19"/>
                  <a:gd name="T1" fmla="*/ 24 h 56"/>
                  <a:gd name="T2" fmla="*/ 12 w 19"/>
                  <a:gd name="T3" fmla="*/ 43 h 56"/>
                  <a:gd name="T4" fmla="*/ 18 w 19"/>
                  <a:gd name="T5" fmla="*/ 55 h 56"/>
                  <a:gd name="T6" fmla="*/ 18 w 19"/>
                  <a:gd name="T7" fmla="*/ 37 h 56"/>
                  <a:gd name="T8" fmla="*/ 6 w 19"/>
                  <a:gd name="T9" fmla="*/ 31 h 56"/>
                  <a:gd name="T10" fmla="*/ 12 w 19"/>
                  <a:gd name="T11" fmla="*/ 24 h 56"/>
                  <a:gd name="T12" fmla="*/ 6 w 19"/>
                  <a:gd name="T13" fmla="*/ 0 h 56"/>
                  <a:gd name="T14" fmla="*/ 0 w 19"/>
                  <a:gd name="T15" fmla="*/ 6 h 56"/>
                  <a:gd name="T16" fmla="*/ 0 w 19"/>
                  <a:gd name="T17" fmla="*/ 24 h 5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9"/>
                  <a:gd name="T28" fmla="*/ 0 h 56"/>
                  <a:gd name="T29" fmla="*/ 19 w 19"/>
                  <a:gd name="T30" fmla="*/ 56 h 5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9" h="56">
                    <a:moveTo>
                      <a:pt x="0" y="24"/>
                    </a:moveTo>
                    <a:lnTo>
                      <a:pt x="12" y="43"/>
                    </a:lnTo>
                    <a:lnTo>
                      <a:pt x="18" y="55"/>
                    </a:lnTo>
                    <a:lnTo>
                      <a:pt x="18" y="37"/>
                    </a:lnTo>
                    <a:lnTo>
                      <a:pt x="6" y="31"/>
                    </a:lnTo>
                    <a:lnTo>
                      <a:pt x="12" y="24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0" y="24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06" name="Line 287">
                <a:extLst>
                  <a:ext uri="{FF2B5EF4-FFF2-40B4-BE49-F238E27FC236}">
                    <a16:creationId xmlns:a16="http://schemas.microsoft.com/office/drawing/2014/main" id="{6AED0709-1BDD-4684-A079-51F393FE43C6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977608" y="3768876"/>
                <a:ext cx="33120" cy="0"/>
              </a:xfrm>
              <a:prstGeom prst="line">
                <a:avLst/>
              </a:prstGeom>
              <a:grpFill/>
              <a:ln w="6350" cap="rnd">
                <a:solidFill>
                  <a:sysClr val="window" lastClr="FFFF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07" name="Line 288">
                <a:extLst>
                  <a:ext uri="{FF2B5EF4-FFF2-40B4-BE49-F238E27FC236}">
                    <a16:creationId xmlns:a16="http://schemas.microsoft.com/office/drawing/2014/main" id="{9565879B-E3D2-4690-A45B-3D14233943A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280785" y="3620042"/>
                <a:ext cx="30573" cy="0"/>
              </a:xfrm>
              <a:prstGeom prst="line">
                <a:avLst/>
              </a:prstGeom>
              <a:grpFill/>
              <a:ln w="6350" cap="rnd">
                <a:solidFill>
                  <a:sysClr val="window" lastClr="FFFF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08" name="Line 289">
                <a:extLst>
                  <a:ext uri="{FF2B5EF4-FFF2-40B4-BE49-F238E27FC236}">
                    <a16:creationId xmlns:a16="http://schemas.microsoft.com/office/drawing/2014/main" id="{022B1CA0-1CF1-41DE-8736-1918753B285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420909" y="3533512"/>
                <a:ext cx="33120" cy="0"/>
              </a:xfrm>
              <a:prstGeom prst="line">
                <a:avLst/>
              </a:prstGeom>
              <a:grpFill/>
              <a:ln w="6350" cap="rnd">
                <a:solidFill>
                  <a:sysClr val="window" lastClr="FFFF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09" name="Line 290">
                <a:extLst>
                  <a:ext uri="{FF2B5EF4-FFF2-40B4-BE49-F238E27FC236}">
                    <a16:creationId xmlns:a16="http://schemas.microsoft.com/office/drawing/2014/main" id="{A730C0EE-A6BE-48E0-B186-37A76BB7C0A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420909" y="3511013"/>
                <a:ext cx="33120" cy="0"/>
              </a:xfrm>
              <a:prstGeom prst="line">
                <a:avLst/>
              </a:prstGeom>
              <a:grpFill/>
              <a:ln w="6350" cap="rnd">
                <a:solidFill>
                  <a:sysClr val="window" lastClr="FFFF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10" name="Line 291">
                <a:extLst>
                  <a:ext uri="{FF2B5EF4-FFF2-40B4-BE49-F238E27FC236}">
                    <a16:creationId xmlns:a16="http://schemas.microsoft.com/office/drawing/2014/main" id="{CBA76EF4-2149-4B0F-A598-2A590693B78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454031" y="3511013"/>
                <a:ext cx="33120" cy="0"/>
              </a:xfrm>
              <a:prstGeom prst="line">
                <a:avLst/>
              </a:prstGeom>
              <a:grpFill/>
              <a:ln w="6350" cap="rnd">
                <a:solidFill>
                  <a:sysClr val="window" lastClr="FFFF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11" name="Line 292">
                <a:extLst>
                  <a:ext uri="{FF2B5EF4-FFF2-40B4-BE49-F238E27FC236}">
                    <a16:creationId xmlns:a16="http://schemas.microsoft.com/office/drawing/2014/main" id="{40BFD233-8ABF-435C-83F4-FBDDF07CF1F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454031" y="3523128"/>
                <a:ext cx="33120" cy="0"/>
              </a:xfrm>
              <a:prstGeom prst="line">
                <a:avLst/>
              </a:prstGeom>
              <a:grpFill/>
              <a:ln w="6350" cap="rnd">
                <a:solidFill>
                  <a:sysClr val="window" lastClr="FFFF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12" name="Line 293">
                <a:extLst>
                  <a:ext uri="{FF2B5EF4-FFF2-40B4-BE49-F238E27FC236}">
                    <a16:creationId xmlns:a16="http://schemas.microsoft.com/office/drawing/2014/main" id="{DA41F740-C3CF-4957-8B9D-2275D165AE00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459125" y="3540434"/>
                <a:ext cx="0" cy="3461"/>
              </a:xfrm>
              <a:prstGeom prst="line">
                <a:avLst/>
              </a:prstGeom>
              <a:grpFill/>
              <a:ln w="6350" cap="rnd">
                <a:solidFill>
                  <a:sysClr val="window" lastClr="FFFF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13" name="Line 294">
                <a:extLst>
                  <a:ext uri="{FF2B5EF4-FFF2-40B4-BE49-F238E27FC236}">
                    <a16:creationId xmlns:a16="http://schemas.microsoft.com/office/drawing/2014/main" id="{8F431B02-AEF2-4F60-A82C-860E15AE16B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484602" y="3543894"/>
                <a:ext cx="33120" cy="0"/>
              </a:xfrm>
              <a:prstGeom prst="line">
                <a:avLst/>
              </a:prstGeom>
              <a:grpFill/>
              <a:ln w="6350" cap="rnd">
                <a:solidFill>
                  <a:sysClr val="window" lastClr="FFFF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14" name="Line 295">
                <a:extLst>
                  <a:ext uri="{FF2B5EF4-FFF2-40B4-BE49-F238E27FC236}">
                    <a16:creationId xmlns:a16="http://schemas.microsoft.com/office/drawing/2014/main" id="{18BEC0F4-0693-4392-A60A-7DADCCBAFCE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492245" y="3571586"/>
                <a:ext cx="0" cy="3461"/>
              </a:xfrm>
              <a:prstGeom prst="line">
                <a:avLst/>
              </a:prstGeom>
              <a:grpFill/>
              <a:ln w="6350" cap="rnd">
                <a:solidFill>
                  <a:sysClr val="window" lastClr="FFFF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15" name="Line 296">
                <a:extLst>
                  <a:ext uri="{FF2B5EF4-FFF2-40B4-BE49-F238E27FC236}">
                    <a16:creationId xmlns:a16="http://schemas.microsoft.com/office/drawing/2014/main" id="{B1530A11-610B-43C2-9D8E-0989DF16D82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043849" y="3369103"/>
                <a:ext cx="20381" cy="1731"/>
              </a:xfrm>
              <a:prstGeom prst="line">
                <a:avLst/>
              </a:prstGeom>
              <a:grpFill/>
              <a:ln w="6350" cap="rnd">
                <a:solidFill>
                  <a:sysClr val="window" lastClr="FFFF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16" name="Freeform 297">
                <a:extLst>
                  <a:ext uri="{FF2B5EF4-FFF2-40B4-BE49-F238E27FC236}">
                    <a16:creationId xmlns:a16="http://schemas.microsoft.com/office/drawing/2014/main" id="{0CDDD56E-DBD1-405A-86FC-FC82D04F794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079518" y="3360451"/>
                <a:ext cx="48404" cy="32882"/>
              </a:xfrm>
              <a:custGeom>
                <a:avLst/>
                <a:gdLst>
                  <a:gd name="T0" fmla="*/ 0 w 19"/>
                  <a:gd name="T1" fmla="*/ 0 h 19"/>
                  <a:gd name="T2" fmla="*/ 18 w 19"/>
                  <a:gd name="T3" fmla="*/ 9 h 19"/>
                  <a:gd name="T4" fmla="*/ 0 w 19"/>
                  <a:gd name="T5" fmla="*/ 18 h 19"/>
                  <a:gd name="T6" fmla="*/ 0 w 19"/>
                  <a:gd name="T7" fmla="*/ 0 h 1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"/>
                  <a:gd name="T13" fmla="*/ 0 h 19"/>
                  <a:gd name="T14" fmla="*/ 19 w 19"/>
                  <a:gd name="T15" fmla="*/ 19 h 1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9" h="19">
                    <a:moveTo>
                      <a:pt x="0" y="0"/>
                    </a:moveTo>
                    <a:lnTo>
                      <a:pt x="18" y="9"/>
                    </a:lnTo>
                    <a:lnTo>
                      <a:pt x="0" y="18"/>
                    </a:lnTo>
                    <a:lnTo>
                      <a:pt x="0" y="0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17" name="Freeform 298">
                <a:extLst>
                  <a:ext uri="{FF2B5EF4-FFF2-40B4-BE49-F238E27FC236}">
                    <a16:creationId xmlns:a16="http://schemas.microsoft.com/office/drawing/2014/main" id="{2BEFD48A-C2DB-4530-A9C6-79D3384E920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079518" y="3360451"/>
                <a:ext cx="48404" cy="32882"/>
              </a:xfrm>
              <a:custGeom>
                <a:avLst/>
                <a:gdLst>
                  <a:gd name="T0" fmla="*/ 0 w 19"/>
                  <a:gd name="T1" fmla="*/ 0 h 19"/>
                  <a:gd name="T2" fmla="*/ 18 w 19"/>
                  <a:gd name="T3" fmla="*/ 9 h 19"/>
                  <a:gd name="T4" fmla="*/ 0 w 19"/>
                  <a:gd name="T5" fmla="*/ 18 h 19"/>
                  <a:gd name="T6" fmla="*/ 0 60000 65536"/>
                  <a:gd name="T7" fmla="*/ 0 60000 65536"/>
                  <a:gd name="T8" fmla="*/ 0 60000 65536"/>
                  <a:gd name="T9" fmla="*/ 0 w 19"/>
                  <a:gd name="T10" fmla="*/ 0 h 19"/>
                  <a:gd name="T11" fmla="*/ 19 w 19"/>
                  <a:gd name="T12" fmla="*/ 19 h 1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" h="19">
                    <a:moveTo>
                      <a:pt x="0" y="0"/>
                    </a:moveTo>
                    <a:lnTo>
                      <a:pt x="18" y="9"/>
                    </a:lnTo>
                    <a:lnTo>
                      <a:pt x="0" y="18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18" name="Freeform 299">
                <a:extLst>
                  <a:ext uri="{FF2B5EF4-FFF2-40B4-BE49-F238E27FC236}">
                    <a16:creationId xmlns:a16="http://schemas.microsoft.com/office/drawing/2014/main" id="{11CDBCF4-DC4A-483C-B669-DDE58241476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094802" y="3393332"/>
                <a:ext cx="48404" cy="31151"/>
              </a:xfrm>
              <a:custGeom>
                <a:avLst/>
                <a:gdLst>
                  <a:gd name="T0" fmla="*/ 0 w 19"/>
                  <a:gd name="T1" fmla="*/ 0 h 18"/>
                  <a:gd name="T2" fmla="*/ 18 w 19"/>
                  <a:gd name="T3" fmla="*/ 0 h 18"/>
                  <a:gd name="T4" fmla="*/ 18 w 19"/>
                  <a:gd name="T5" fmla="*/ 17 h 18"/>
                  <a:gd name="T6" fmla="*/ 0 w 19"/>
                  <a:gd name="T7" fmla="*/ 0 h 1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"/>
                  <a:gd name="T13" fmla="*/ 0 h 18"/>
                  <a:gd name="T14" fmla="*/ 19 w 19"/>
                  <a:gd name="T15" fmla="*/ 18 h 1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9" h="18">
                    <a:moveTo>
                      <a:pt x="0" y="0"/>
                    </a:moveTo>
                    <a:lnTo>
                      <a:pt x="18" y="0"/>
                    </a:lnTo>
                    <a:lnTo>
                      <a:pt x="18" y="17"/>
                    </a:lnTo>
                    <a:lnTo>
                      <a:pt x="0" y="0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19" name="Freeform 300">
                <a:extLst>
                  <a:ext uri="{FF2B5EF4-FFF2-40B4-BE49-F238E27FC236}">
                    <a16:creationId xmlns:a16="http://schemas.microsoft.com/office/drawing/2014/main" id="{6B198731-A0A2-4A3E-ABE4-BE03EE9E36C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094802" y="3393332"/>
                <a:ext cx="48404" cy="31151"/>
              </a:xfrm>
              <a:custGeom>
                <a:avLst/>
                <a:gdLst>
                  <a:gd name="T0" fmla="*/ 0 w 19"/>
                  <a:gd name="T1" fmla="*/ 0 h 18"/>
                  <a:gd name="T2" fmla="*/ 18 w 19"/>
                  <a:gd name="T3" fmla="*/ 0 h 18"/>
                  <a:gd name="T4" fmla="*/ 18 w 19"/>
                  <a:gd name="T5" fmla="*/ 17 h 18"/>
                  <a:gd name="T6" fmla="*/ 0 60000 65536"/>
                  <a:gd name="T7" fmla="*/ 0 60000 65536"/>
                  <a:gd name="T8" fmla="*/ 0 60000 65536"/>
                  <a:gd name="T9" fmla="*/ 0 w 19"/>
                  <a:gd name="T10" fmla="*/ 0 h 18"/>
                  <a:gd name="T11" fmla="*/ 19 w 19"/>
                  <a:gd name="T12" fmla="*/ 18 h 1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" h="18">
                    <a:moveTo>
                      <a:pt x="0" y="0"/>
                    </a:moveTo>
                    <a:lnTo>
                      <a:pt x="18" y="0"/>
                    </a:lnTo>
                    <a:lnTo>
                      <a:pt x="18" y="17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20" name="Line 301">
                <a:extLst>
                  <a:ext uri="{FF2B5EF4-FFF2-40B4-BE49-F238E27FC236}">
                    <a16:creationId xmlns:a16="http://schemas.microsoft.com/office/drawing/2014/main" id="{1D4FA7D2-DF03-4094-83BE-88F379FE649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168687" y="3414100"/>
                <a:ext cx="33120" cy="0"/>
              </a:xfrm>
              <a:prstGeom prst="line">
                <a:avLst/>
              </a:prstGeom>
              <a:grpFill/>
              <a:ln w="6350" cap="rnd">
                <a:solidFill>
                  <a:sysClr val="window" lastClr="FFFF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21" name="Line 302">
                <a:extLst>
                  <a:ext uri="{FF2B5EF4-FFF2-40B4-BE49-F238E27FC236}">
                    <a16:creationId xmlns:a16="http://schemas.microsoft.com/office/drawing/2014/main" id="{D19AD838-36F7-4F3D-AB2B-9B27F4ED0546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138114" y="3431406"/>
                <a:ext cx="5096" cy="6922"/>
              </a:xfrm>
              <a:prstGeom prst="line">
                <a:avLst/>
              </a:prstGeom>
              <a:grpFill/>
              <a:ln w="6350" cap="rnd">
                <a:solidFill>
                  <a:sysClr val="window" lastClr="FFFF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22" name="Freeform 303">
                <a:extLst>
                  <a:ext uri="{FF2B5EF4-FFF2-40B4-BE49-F238E27FC236}">
                    <a16:creationId xmlns:a16="http://schemas.microsoft.com/office/drawing/2014/main" id="{22595FFB-3F82-4467-850E-F9837BB1601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158498" y="3438329"/>
                <a:ext cx="45858" cy="31151"/>
              </a:xfrm>
              <a:custGeom>
                <a:avLst/>
                <a:gdLst>
                  <a:gd name="T0" fmla="*/ 0 w 18"/>
                  <a:gd name="T1" fmla="*/ 0 h 18"/>
                  <a:gd name="T2" fmla="*/ 17 w 18"/>
                  <a:gd name="T3" fmla="*/ 17 h 18"/>
                  <a:gd name="T4" fmla="*/ 0 w 18"/>
                  <a:gd name="T5" fmla="*/ 17 h 18"/>
                  <a:gd name="T6" fmla="*/ 0 w 18"/>
                  <a:gd name="T7" fmla="*/ 0 h 1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8"/>
                  <a:gd name="T13" fmla="*/ 0 h 18"/>
                  <a:gd name="T14" fmla="*/ 18 w 18"/>
                  <a:gd name="T15" fmla="*/ 18 h 1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8" h="18">
                    <a:moveTo>
                      <a:pt x="0" y="0"/>
                    </a:moveTo>
                    <a:lnTo>
                      <a:pt x="17" y="17"/>
                    </a:lnTo>
                    <a:lnTo>
                      <a:pt x="0" y="17"/>
                    </a:lnTo>
                    <a:lnTo>
                      <a:pt x="0" y="0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23" name="Freeform 304">
                <a:extLst>
                  <a:ext uri="{FF2B5EF4-FFF2-40B4-BE49-F238E27FC236}">
                    <a16:creationId xmlns:a16="http://schemas.microsoft.com/office/drawing/2014/main" id="{451C164B-47E0-4520-B87D-10D4DD2E382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158498" y="3438329"/>
                <a:ext cx="45858" cy="31151"/>
              </a:xfrm>
              <a:custGeom>
                <a:avLst/>
                <a:gdLst>
                  <a:gd name="T0" fmla="*/ 0 w 18"/>
                  <a:gd name="T1" fmla="*/ 0 h 18"/>
                  <a:gd name="T2" fmla="*/ 17 w 18"/>
                  <a:gd name="T3" fmla="*/ 17 h 18"/>
                  <a:gd name="T4" fmla="*/ 0 w 18"/>
                  <a:gd name="T5" fmla="*/ 17 h 18"/>
                  <a:gd name="T6" fmla="*/ 0 60000 65536"/>
                  <a:gd name="T7" fmla="*/ 0 60000 65536"/>
                  <a:gd name="T8" fmla="*/ 0 60000 65536"/>
                  <a:gd name="T9" fmla="*/ 0 w 18"/>
                  <a:gd name="T10" fmla="*/ 0 h 18"/>
                  <a:gd name="T11" fmla="*/ 18 w 18"/>
                  <a:gd name="T12" fmla="*/ 18 h 1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" h="18">
                    <a:moveTo>
                      <a:pt x="0" y="0"/>
                    </a:moveTo>
                    <a:lnTo>
                      <a:pt x="17" y="17"/>
                    </a:lnTo>
                    <a:lnTo>
                      <a:pt x="0" y="17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24" name="Line 305">
                <a:extLst>
                  <a:ext uri="{FF2B5EF4-FFF2-40B4-BE49-F238E27FC236}">
                    <a16:creationId xmlns:a16="http://schemas.microsoft.com/office/drawing/2014/main" id="{A29E2CCB-262A-44BE-9F9A-6341946B589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199258" y="3448712"/>
                <a:ext cx="5096" cy="0"/>
              </a:xfrm>
              <a:prstGeom prst="line">
                <a:avLst/>
              </a:prstGeom>
              <a:grpFill/>
              <a:ln w="6350" cap="rnd">
                <a:solidFill>
                  <a:sysClr val="window" lastClr="FFFF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25" name="Freeform 306">
                <a:extLst>
                  <a:ext uri="{FF2B5EF4-FFF2-40B4-BE49-F238E27FC236}">
                    <a16:creationId xmlns:a16="http://schemas.microsoft.com/office/drawing/2014/main" id="{3456BDC8-ECCB-4E8C-A232-B033739477A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204353" y="3459096"/>
                <a:ext cx="48404" cy="1731"/>
              </a:xfrm>
              <a:custGeom>
                <a:avLst/>
                <a:gdLst>
                  <a:gd name="T0" fmla="*/ 0 w 19"/>
                  <a:gd name="T1" fmla="*/ 0 h 1"/>
                  <a:gd name="T2" fmla="*/ 9 w 19"/>
                  <a:gd name="T3" fmla="*/ 0 h 1"/>
                  <a:gd name="T4" fmla="*/ 18 w 19"/>
                  <a:gd name="T5" fmla="*/ 0 h 1"/>
                  <a:gd name="T6" fmla="*/ 0 w 19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"/>
                  <a:gd name="T13" fmla="*/ 0 h 1"/>
                  <a:gd name="T14" fmla="*/ 19 w 19"/>
                  <a:gd name="T15" fmla="*/ 1 h 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9" h="1">
                    <a:moveTo>
                      <a:pt x="0" y="0"/>
                    </a:moveTo>
                    <a:lnTo>
                      <a:pt x="9" y="0"/>
                    </a:lnTo>
                    <a:lnTo>
                      <a:pt x="18" y="0"/>
                    </a:lnTo>
                    <a:lnTo>
                      <a:pt x="0" y="0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26" name="Freeform 307">
                <a:extLst>
                  <a:ext uri="{FF2B5EF4-FFF2-40B4-BE49-F238E27FC236}">
                    <a16:creationId xmlns:a16="http://schemas.microsoft.com/office/drawing/2014/main" id="{71FBEB9D-C4A9-4761-AD38-82E30BCA6DD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204353" y="3459096"/>
                <a:ext cx="48404" cy="1731"/>
              </a:xfrm>
              <a:custGeom>
                <a:avLst/>
                <a:gdLst>
                  <a:gd name="T0" fmla="*/ 0 w 19"/>
                  <a:gd name="T1" fmla="*/ 0 h 1"/>
                  <a:gd name="T2" fmla="*/ 9 w 19"/>
                  <a:gd name="T3" fmla="*/ 0 h 1"/>
                  <a:gd name="T4" fmla="*/ 18 w 19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9"/>
                  <a:gd name="T10" fmla="*/ 0 h 1"/>
                  <a:gd name="T11" fmla="*/ 19 w 19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" h="1">
                    <a:moveTo>
                      <a:pt x="0" y="0"/>
                    </a:moveTo>
                    <a:lnTo>
                      <a:pt x="9" y="0"/>
                    </a:lnTo>
                    <a:lnTo>
                      <a:pt x="18" y="0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27" name="Line 308">
                <a:extLst>
                  <a:ext uri="{FF2B5EF4-FFF2-40B4-BE49-F238E27FC236}">
                    <a16:creationId xmlns:a16="http://schemas.microsoft.com/office/drawing/2014/main" id="{901ACB64-D389-4AA0-BB70-3CA8E89277E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977608" y="3403716"/>
                <a:ext cx="7643" cy="0"/>
              </a:xfrm>
              <a:prstGeom prst="line">
                <a:avLst/>
              </a:prstGeom>
              <a:grpFill/>
              <a:ln w="6350" cap="rnd">
                <a:solidFill>
                  <a:sysClr val="window" lastClr="FFFF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28" name="Line 309">
                <a:extLst>
                  <a:ext uri="{FF2B5EF4-FFF2-40B4-BE49-F238E27FC236}">
                    <a16:creationId xmlns:a16="http://schemas.microsoft.com/office/drawing/2014/main" id="{F3144164-36BD-4756-AFEE-2BAFFEA540F0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0308670" y="2711470"/>
                <a:ext cx="5096" cy="17306"/>
              </a:xfrm>
              <a:prstGeom prst="line">
                <a:avLst/>
              </a:prstGeom>
              <a:grpFill/>
              <a:ln w="6350" cap="rnd">
                <a:solidFill>
                  <a:sysClr val="window" lastClr="FFFF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29" name="Line 310">
                <a:extLst>
                  <a:ext uri="{FF2B5EF4-FFF2-40B4-BE49-F238E27FC236}">
                    <a16:creationId xmlns:a16="http://schemas.microsoft.com/office/drawing/2014/main" id="{7BF38904-EE0B-4435-B738-8795E1B9908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748359" y="2434572"/>
                <a:ext cx="30573" cy="0"/>
              </a:xfrm>
              <a:prstGeom prst="line">
                <a:avLst/>
              </a:prstGeom>
              <a:grpFill/>
              <a:ln w="6350" cap="rnd">
                <a:solidFill>
                  <a:sysClr val="window" lastClr="FFFF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30" name="Line 311">
                <a:extLst>
                  <a:ext uri="{FF2B5EF4-FFF2-40B4-BE49-F238E27FC236}">
                    <a16:creationId xmlns:a16="http://schemas.microsoft.com/office/drawing/2014/main" id="{13504503-4E86-4FE3-86BC-8745246A80E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5842530" y="2095370"/>
                <a:ext cx="5096" cy="13845"/>
              </a:xfrm>
              <a:prstGeom prst="line">
                <a:avLst/>
              </a:prstGeom>
              <a:grpFill/>
              <a:ln w="6350" cap="rnd">
                <a:solidFill>
                  <a:sysClr val="window" lastClr="FFFF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31" name="Line 312">
                <a:extLst>
                  <a:ext uri="{FF2B5EF4-FFF2-40B4-BE49-F238E27FC236}">
                    <a16:creationId xmlns:a16="http://schemas.microsoft.com/office/drawing/2014/main" id="{C437799D-C613-47BD-BD11-63EBDF12D65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8431007" y="3614851"/>
                <a:ext cx="0" cy="15576"/>
              </a:xfrm>
              <a:prstGeom prst="line">
                <a:avLst/>
              </a:prstGeom>
              <a:grpFill/>
              <a:ln w="6350" cap="rnd">
                <a:solidFill>
                  <a:sysClr val="window" lastClr="FFFF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32" name="Line 314">
                <a:extLst>
                  <a:ext uri="{FF2B5EF4-FFF2-40B4-BE49-F238E27FC236}">
                    <a16:creationId xmlns:a16="http://schemas.microsoft.com/office/drawing/2014/main" id="{1EB06695-2DD8-4364-B535-CC2EB981A84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8474317" y="3715226"/>
                <a:ext cx="30573" cy="0"/>
              </a:xfrm>
              <a:prstGeom prst="line">
                <a:avLst/>
              </a:prstGeom>
              <a:grpFill/>
              <a:ln w="6350" cap="rnd">
                <a:solidFill>
                  <a:sysClr val="window" lastClr="FFFF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33" name="Line 315">
                <a:extLst>
                  <a:ext uri="{FF2B5EF4-FFF2-40B4-BE49-F238E27FC236}">
                    <a16:creationId xmlns:a16="http://schemas.microsoft.com/office/drawing/2014/main" id="{B69ED2B6-6B57-4DDB-B0F4-A88C1A0BFFE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8520175" y="3791374"/>
                <a:ext cx="5096" cy="0"/>
              </a:xfrm>
              <a:prstGeom prst="line">
                <a:avLst/>
              </a:prstGeom>
              <a:grpFill/>
              <a:ln w="6350" cap="rnd">
                <a:solidFill>
                  <a:sysClr val="window" lastClr="FFFF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34" name="Line 316">
                <a:extLst>
                  <a:ext uri="{FF2B5EF4-FFF2-40B4-BE49-F238E27FC236}">
                    <a16:creationId xmlns:a16="http://schemas.microsoft.com/office/drawing/2014/main" id="{9942D1DD-816E-41B3-84C2-703D9DA3E2B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8685777" y="3926361"/>
                <a:ext cx="0" cy="3461"/>
              </a:xfrm>
              <a:prstGeom prst="line">
                <a:avLst/>
              </a:prstGeom>
              <a:grpFill/>
              <a:ln w="6350" cap="rnd">
                <a:solidFill>
                  <a:sysClr val="window" lastClr="FFFF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35" name="Line 317">
                <a:extLst>
                  <a:ext uri="{FF2B5EF4-FFF2-40B4-BE49-F238E27FC236}">
                    <a16:creationId xmlns:a16="http://schemas.microsoft.com/office/drawing/2014/main" id="{E6D69D06-8BDC-419F-83A7-851766B054E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8762209" y="4014623"/>
                <a:ext cx="0" cy="1731"/>
              </a:xfrm>
              <a:prstGeom prst="line">
                <a:avLst/>
              </a:prstGeom>
              <a:grpFill/>
              <a:ln w="6350" cap="rnd">
                <a:solidFill>
                  <a:sysClr val="window" lastClr="FFFF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36" name="Line 318">
                <a:extLst>
                  <a:ext uri="{FF2B5EF4-FFF2-40B4-BE49-F238E27FC236}">
                    <a16:creationId xmlns:a16="http://schemas.microsoft.com/office/drawing/2014/main" id="{636DC045-33B6-4DA9-9D97-8F156597234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9233538" y="3414100"/>
                <a:ext cx="30573" cy="0"/>
              </a:xfrm>
              <a:prstGeom prst="line">
                <a:avLst/>
              </a:prstGeom>
              <a:grpFill/>
              <a:ln w="6350" cap="rnd">
                <a:solidFill>
                  <a:sysClr val="window" lastClr="FFFF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37" name="Line 319">
                <a:extLst>
                  <a:ext uri="{FF2B5EF4-FFF2-40B4-BE49-F238E27FC236}">
                    <a16:creationId xmlns:a16="http://schemas.microsoft.com/office/drawing/2014/main" id="{74E541B4-BDB4-43C3-A363-F30380E11C2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9279396" y="3403716"/>
                <a:ext cx="30573" cy="0"/>
              </a:xfrm>
              <a:prstGeom prst="line">
                <a:avLst/>
              </a:prstGeom>
              <a:grpFill/>
              <a:ln w="6350" cap="rnd">
                <a:solidFill>
                  <a:sysClr val="window" lastClr="FFFF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38" name="Line 320">
                <a:extLst>
                  <a:ext uri="{FF2B5EF4-FFF2-40B4-BE49-F238E27FC236}">
                    <a16:creationId xmlns:a16="http://schemas.microsoft.com/office/drawing/2014/main" id="{4F73136E-CEAA-4E33-A8FB-9D6248848BD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9332896" y="3365642"/>
                <a:ext cx="0" cy="13845"/>
              </a:xfrm>
              <a:prstGeom prst="line">
                <a:avLst/>
              </a:prstGeom>
              <a:grpFill/>
              <a:ln w="6350" cap="rnd">
                <a:solidFill>
                  <a:sysClr val="window" lastClr="FFFF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39" name="Line 321">
                <a:extLst>
                  <a:ext uri="{FF2B5EF4-FFF2-40B4-BE49-F238E27FC236}">
                    <a16:creationId xmlns:a16="http://schemas.microsoft.com/office/drawing/2014/main" id="{B3CF7624-E5CE-48D8-9DDE-7E58B21C022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9368565" y="3332760"/>
                <a:ext cx="5096" cy="3461"/>
              </a:xfrm>
              <a:prstGeom prst="line">
                <a:avLst/>
              </a:prstGeom>
              <a:grpFill/>
              <a:ln w="6350" cap="rnd">
                <a:solidFill>
                  <a:sysClr val="window" lastClr="FFFF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40" name="Line 322">
                <a:extLst>
                  <a:ext uri="{FF2B5EF4-FFF2-40B4-BE49-F238E27FC236}">
                    <a16:creationId xmlns:a16="http://schemas.microsoft.com/office/drawing/2014/main" id="{AB16C9B6-6DC9-4882-BBCE-26E9D6746E7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9406780" y="3298148"/>
                <a:ext cx="33120" cy="0"/>
              </a:xfrm>
              <a:prstGeom prst="line">
                <a:avLst/>
              </a:prstGeom>
              <a:grpFill/>
              <a:ln w="6350" cap="rnd">
                <a:solidFill>
                  <a:sysClr val="window" lastClr="FFFF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41" name="Line 323">
                <a:extLst>
                  <a:ext uri="{FF2B5EF4-FFF2-40B4-BE49-F238E27FC236}">
                    <a16:creationId xmlns:a16="http://schemas.microsoft.com/office/drawing/2014/main" id="{4CF2AE94-BF98-4717-AA80-8D4717D7282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9781295" y="3000483"/>
                <a:ext cx="5096" cy="1731"/>
              </a:xfrm>
              <a:prstGeom prst="line">
                <a:avLst/>
              </a:prstGeom>
              <a:grpFill/>
              <a:ln w="6350" cap="rnd">
                <a:solidFill>
                  <a:sysClr val="window" lastClr="FFFF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42" name="Freeform 324">
                <a:extLst>
                  <a:ext uri="{FF2B5EF4-FFF2-40B4-BE49-F238E27FC236}">
                    <a16:creationId xmlns:a16="http://schemas.microsoft.com/office/drawing/2014/main" id="{151DBE32-F1C2-4521-8378-9D0EDE57FE6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9885750" y="2953755"/>
                <a:ext cx="48404" cy="31151"/>
              </a:xfrm>
              <a:custGeom>
                <a:avLst/>
                <a:gdLst>
                  <a:gd name="T0" fmla="*/ 0 w 19"/>
                  <a:gd name="T1" fmla="*/ 17 h 18"/>
                  <a:gd name="T2" fmla="*/ 18 w 19"/>
                  <a:gd name="T3" fmla="*/ 0 h 18"/>
                  <a:gd name="T4" fmla="*/ 0 w 19"/>
                  <a:gd name="T5" fmla="*/ 17 h 18"/>
                  <a:gd name="T6" fmla="*/ 0 60000 65536"/>
                  <a:gd name="T7" fmla="*/ 0 60000 65536"/>
                  <a:gd name="T8" fmla="*/ 0 60000 65536"/>
                  <a:gd name="T9" fmla="*/ 0 w 19"/>
                  <a:gd name="T10" fmla="*/ 0 h 18"/>
                  <a:gd name="T11" fmla="*/ 19 w 19"/>
                  <a:gd name="T12" fmla="*/ 18 h 1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" h="18">
                    <a:moveTo>
                      <a:pt x="0" y="17"/>
                    </a:moveTo>
                    <a:lnTo>
                      <a:pt x="18" y="0"/>
                    </a:lnTo>
                    <a:lnTo>
                      <a:pt x="0" y="17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43" name="Line 325">
                <a:extLst>
                  <a:ext uri="{FF2B5EF4-FFF2-40B4-BE49-F238E27FC236}">
                    <a16:creationId xmlns:a16="http://schemas.microsoft.com/office/drawing/2014/main" id="{028E0D97-A1DF-4335-A331-2FF72C7595D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9944348" y="2932989"/>
                <a:ext cx="7643" cy="0"/>
              </a:xfrm>
              <a:prstGeom prst="line">
                <a:avLst/>
              </a:prstGeom>
              <a:grpFill/>
              <a:ln w="6350" cap="rnd">
                <a:solidFill>
                  <a:sysClr val="window" lastClr="FFFF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44" name="Line 326">
                <a:extLst>
                  <a:ext uri="{FF2B5EF4-FFF2-40B4-BE49-F238E27FC236}">
                    <a16:creationId xmlns:a16="http://schemas.microsoft.com/office/drawing/2014/main" id="{B1D15D41-8368-4F65-8FC7-37F684922BE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9982562" y="2905299"/>
                <a:ext cx="0" cy="5192"/>
              </a:xfrm>
              <a:prstGeom prst="line">
                <a:avLst/>
              </a:prstGeom>
              <a:grpFill/>
              <a:ln w="6350" cap="rnd">
                <a:solidFill>
                  <a:sysClr val="window" lastClr="FFFF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45" name="Line 327">
                <a:extLst>
                  <a:ext uri="{FF2B5EF4-FFF2-40B4-BE49-F238E27FC236}">
                    <a16:creationId xmlns:a16="http://schemas.microsoft.com/office/drawing/2014/main" id="{21E46DEE-C986-490E-AB11-99C7659F7FD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0025877" y="2865495"/>
                <a:ext cx="28025" cy="0"/>
              </a:xfrm>
              <a:prstGeom prst="line">
                <a:avLst/>
              </a:prstGeom>
              <a:grpFill/>
              <a:ln w="6350" cap="rnd">
                <a:solidFill>
                  <a:sysClr val="window" lastClr="FFFF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46" name="Line 328">
                <a:extLst>
                  <a:ext uri="{FF2B5EF4-FFF2-40B4-BE49-F238E27FC236}">
                    <a16:creationId xmlns:a16="http://schemas.microsoft.com/office/drawing/2014/main" id="{CE013762-025A-4EB0-A66A-EA9827F1666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5883295" y="2495142"/>
                <a:ext cx="0" cy="3461"/>
              </a:xfrm>
              <a:prstGeom prst="line">
                <a:avLst/>
              </a:prstGeom>
              <a:grpFill/>
              <a:ln w="6350" cap="rnd">
                <a:solidFill>
                  <a:sysClr val="window" lastClr="FFFF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47" name="Line 329">
                <a:extLst>
                  <a:ext uri="{FF2B5EF4-FFF2-40B4-BE49-F238E27FC236}">
                    <a16:creationId xmlns:a16="http://schemas.microsoft.com/office/drawing/2014/main" id="{CF62A14D-4469-4ED7-ABC0-7C0BCF40866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5883295" y="2505527"/>
                <a:ext cx="0" cy="3461"/>
              </a:xfrm>
              <a:prstGeom prst="line">
                <a:avLst/>
              </a:prstGeom>
              <a:grpFill/>
              <a:ln w="6350" cap="rnd">
                <a:solidFill>
                  <a:sysClr val="window" lastClr="FFFF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48" name="Line 330">
                <a:extLst>
                  <a:ext uri="{FF2B5EF4-FFF2-40B4-BE49-F238E27FC236}">
                    <a16:creationId xmlns:a16="http://schemas.microsoft.com/office/drawing/2014/main" id="{0B15D9A8-24AB-4AAE-9F9D-743F2FB3BE0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6023419" y="2545331"/>
                <a:ext cx="0" cy="5192"/>
              </a:xfrm>
              <a:prstGeom prst="line">
                <a:avLst/>
              </a:prstGeom>
              <a:grpFill/>
              <a:ln w="6350" cap="rnd">
                <a:solidFill>
                  <a:sysClr val="window" lastClr="FFFF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49" name="Freeform 331">
                <a:extLst>
                  <a:ext uri="{FF2B5EF4-FFF2-40B4-BE49-F238E27FC236}">
                    <a16:creationId xmlns:a16="http://schemas.microsoft.com/office/drawing/2014/main" id="{EB1AB79E-40CC-48D3-8023-5B693B0E62A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023419" y="2543601"/>
                <a:ext cx="2548" cy="32882"/>
              </a:xfrm>
              <a:custGeom>
                <a:avLst/>
                <a:gdLst>
                  <a:gd name="T0" fmla="*/ 0 w 1"/>
                  <a:gd name="T1" fmla="*/ 18 h 19"/>
                  <a:gd name="T2" fmla="*/ 0 w 1"/>
                  <a:gd name="T3" fmla="*/ 0 h 19"/>
                  <a:gd name="T4" fmla="*/ 0 w 1"/>
                  <a:gd name="T5" fmla="*/ 18 h 19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9"/>
                  <a:gd name="T11" fmla="*/ 1 w 1"/>
                  <a:gd name="T12" fmla="*/ 19 h 1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9">
                    <a:moveTo>
                      <a:pt x="0" y="18"/>
                    </a:moveTo>
                    <a:lnTo>
                      <a:pt x="0" y="0"/>
                    </a:lnTo>
                    <a:lnTo>
                      <a:pt x="0" y="18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50" name="Line 332">
                <a:extLst>
                  <a:ext uri="{FF2B5EF4-FFF2-40B4-BE49-F238E27FC236}">
                    <a16:creationId xmlns:a16="http://schemas.microsoft.com/office/drawing/2014/main" id="{3A611AB0-45AB-4DE9-84C9-842A6BC6DF1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6036156" y="2543601"/>
                <a:ext cx="33120" cy="0"/>
              </a:xfrm>
              <a:prstGeom prst="line">
                <a:avLst/>
              </a:prstGeom>
              <a:grpFill/>
              <a:ln w="6350" cap="rnd">
                <a:solidFill>
                  <a:sysClr val="window" lastClr="FFFF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51" name="Line 333">
                <a:extLst>
                  <a:ext uri="{FF2B5EF4-FFF2-40B4-BE49-F238E27FC236}">
                    <a16:creationId xmlns:a16="http://schemas.microsoft.com/office/drawing/2014/main" id="{BD69265B-E620-430C-8814-DCB709725E4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6036156" y="2538407"/>
                <a:ext cx="7643" cy="5192"/>
              </a:xfrm>
              <a:prstGeom prst="line">
                <a:avLst/>
              </a:prstGeom>
              <a:grpFill/>
              <a:ln w="6350" cap="rnd">
                <a:solidFill>
                  <a:sysClr val="window" lastClr="FFFF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52" name="Line 334">
                <a:extLst>
                  <a:ext uri="{FF2B5EF4-FFF2-40B4-BE49-F238E27FC236}">
                    <a16:creationId xmlns:a16="http://schemas.microsoft.com/office/drawing/2014/main" id="{4AC9A286-4C49-4A5A-A222-47AEA8E8EF9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5987752" y="2597250"/>
                <a:ext cx="33120" cy="0"/>
              </a:xfrm>
              <a:prstGeom prst="line">
                <a:avLst/>
              </a:prstGeom>
              <a:grpFill/>
              <a:ln w="6350" cap="rnd">
                <a:solidFill>
                  <a:sysClr val="window" lastClr="FFFF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53" name="Line 335">
                <a:extLst>
                  <a:ext uri="{FF2B5EF4-FFF2-40B4-BE49-F238E27FC236}">
                    <a16:creationId xmlns:a16="http://schemas.microsoft.com/office/drawing/2014/main" id="{79A02811-D69F-4F96-9671-9A09DABB7F4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5987752" y="2593789"/>
                <a:ext cx="5096" cy="3461"/>
              </a:xfrm>
              <a:prstGeom prst="line">
                <a:avLst/>
              </a:prstGeom>
              <a:grpFill/>
              <a:ln w="6350" cap="rnd">
                <a:solidFill>
                  <a:sysClr val="window" lastClr="FFFF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54" name="Line 336">
                <a:extLst>
                  <a:ext uri="{FF2B5EF4-FFF2-40B4-BE49-F238E27FC236}">
                    <a16:creationId xmlns:a16="http://schemas.microsoft.com/office/drawing/2014/main" id="{E15E1ECD-A391-4C41-9F85-6176118694C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6003037" y="2586865"/>
                <a:ext cx="33120" cy="0"/>
              </a:xfrm>
              <a:prstGeom prst="line">
                <a:avLst/>
              </a:prstGeom>
              <a:grpFill/>
              <a:ln w="6350" cap="rnd">
                <a:solidFill>
                  <a:sysClr val="window" lastClr="FFFF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55" name="Line 337">
                <a:extLst>
                  <a:ext uri="{FF2B5EF4-FFF2-40B4-BE49-F238E27FC236}">
                    <a16:creationId xmlns:a16="http://schemas.microsoft.com/office/drawing/2014/main" id="{BCFD09D2-E930-4EEF-B7C7-D6984374AE0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5878200" y="2652628"/>
                <a:ext cx="30573" cy="0"/>
              </a:xfrm>
              <a:prstGeom prst="line">
                <a:avLst/>
              </a:prstGeom>
              <a:grpFill/>
              <a:ln w="6350" cap="rnd">
                <a:solidFill>
                  <a:sysClr val="window" lastClr="FFFF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56" name="Line 338">
                <a:extLst>
                  <a:ext uri="{FF2B5EF4-FFF2-40B4-BE49-F238E27FC236}">
                    <a16:creationId xmlns:a16="http://schemas.microsoft.com/office/drawing/2014/main" id="{E8A6A591-56C2-4449-9616-CE7BEA1E311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6448888" y="2714933"/>
                <a:ext cx="33120" cy="0"/>
              </a:xfrm>
              <a:prstGeom prst="line">
                <a:avLst/>
              </a:prstGeom>
              <a:grpFill/>
              <a:ln w="6350" cap="rnd">
                <a:solidFill>
                  <a:sysClr val="window" lastClr="FFFF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57" name="Line 339">
                <a:extLst>
                  <a:ext uri="{FF2B5EF4-FFF2-40B4-BE49-F238E27FC236}">
                    <a16:creationId xmlns:a16="http://schemas.microsoft.com/office/drawing/2014/main" id="{F14D099E-C133-4D27-9701-31C80707523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6573724" y="2553983"/>
                <a:ext cx="33120" cy="0"/>
              </a:xfrm>
              <a:prstGeom prst="line">
                <a:avLst/>
              </a:prstGeom>
              <a:grpFill/>
              <a:ln w="6350" cap="rnd">
                <a:solidFill>
                  <a:sysClr val="window" lastClr="FFFF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58" name="Line 341">
                <a:extLst>
                  <a:ext uri="{FF2B5EF4-FFF2-40B4-BE49-F238E27FC236}">
                    <a16:creationId xmlns:a16="http://schemas.microsoft.com/office/drawing/2014/main" id="{E2359826-7A3E-449C-A71A-829CC30B770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6168638" y="3099128"/>
                <a:ext cx="0" cy="5192"/>
              </a:xfrm>
              <a:prstGeom prst="line">
                <a:avLst/>
              </a:prstGeom>
              <a:grpFill/>
              <a:ln w="6350" cap="rnd">
                <a:solidFill>
                  <a:sysClr val="window" lastClr="FFFF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59" name="Line 342">
                <a:extLst>
                  <a:ext uri="{FF2B5EF4-FFF2-40B4-BE49-F238E27FC236}">
                    <a16:creationId xmlns:a16="http://schemas.microsoft.com/office/drawing/2014/main" id="{7BBEC92C-0AE7-463D-804C-D42D4BE72B4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6334239" y="3038555"/>
                <a:ext cx="33120" cy="0"/>
              </a:xfrm>
              <a:prstGeom prst="line">
                <a:avLst/>
              </a:prstGeom>
              <a:grpFill/>
              <a:ln w="6350" cap="rnd">
                <a:solidFill>
                  <a:sysClr val="window" lastClr="FFFF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60" name="Line 346">
                <a:extLst>
                  <a:ext uri="{FF2B5EF4-FFF2-40B4-BE49-F238E27FC236}">
                    <a16:creationId xmlns:a16="http://schemas.microsoft.com/office/drawing/2014/main" id="{F7AB019C-B82C-4650-A717-5B2AA6C3215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6589009" y="3135470"/>
                <a:ext cx="7643" cy="0"/>
              </a:xfrm>
              <a:prstGeom prst="line">
                <a:avLst/>
              </a:prstGeom>
              <a:grpFill/>
              <a:ln w="6350" cap="rnd">
                <a:solidFill>
                  <a:sysClr val="window" lastClr="FFFF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61" name="Line 353">
                <a:extLst>
                  <a:ext uri="{FF2B5EF4-FFF2-40B4-BE49-F238E27FC236}">
                    <a16:creationId xmlns:a16="http://schemas.microsoft.com/office/drawing/2014/main" id="{D8A04D24-4555-45D1-A669-1D80417E4DA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6242520" y="3834639"/>
                <a:ext cx="33120" cy="0"/>
              </a:xfrm>
              <a:prstGeom prst="line">
                <a:avLst/>
              </a:prstGeom>
              <a:grpFill/>
              <a:ln w="6350" cap="rnd">
                <a:solidFill>
                  <a:sysClr val="window" lastClr="FFFF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62" name="Freeform 354">
                <a:extLst>
                  <a:ext uri="{FF2B5EF4-FFF2-40B4-BE49-F238E27FC236}">
                    <a16:creationId xmlns:a16="http://schemas.microsoft.com/office/drawing/2014/main" id="{03CAEDA4-1D95-419E-95A5-EBB90AA1A0F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9409328" y="3954050"/>
                <a:ext cx="48404" cy="31151"/>
              </a:xfrm>
              <a:custGeom>
                <a:avLst/>
                <a:gdLst>
                  <a:gd name="T0" fmla="*/ 0 w 19"/>
                  <a:gd name="T1" fmla="*/ 17 h 18"/>
                  <a:gd name="T2" fmla="*/ 18 w 19"/>
                  <a:gd name="T3" fmla="*/ 0 h 18"/>
                  <a:gd name="T4" fmla="*/ 0 w 19"/>
                  <a:gd name="T5" fmla="*/ 17 h 18"/>
                  <a:gd name="T6" fmla="*/ 0 60000 65536"/>
                  <a:gd name="T7" fmla="*/ 0 60000 65536"/>
                  <a:gd name="T8" fmla="*/ 0 60000 65536"/>
                  <a:gd name="T9" fmla="*/ 0 w 19"/>
                  <a:gd name="T10" fmla="*/ 0 h 18"/>
                  <a:gd name="T11" fmla="*/ 19 w 19"/>
                  <a:gd name="T12" fmla="*/ 18 h 1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" h="18">
                    <a:moveTo>
                      <a:pt x="0" y="17"/>
                    </a:moveTo>
                    <a:lnTo>
                      <a:pt x="18" y="0"/>
                    </a:lnTo>
                    <a:lnTo>
                      <a:pt x="0" y="17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63" name="Line 355">
                <a:extLst>
                  <a:ext uri="{FF2B5EF4-FFF2-40B4-BE49-F238E27FC236}">
                    <a16:creationId xmlns:a16="http://schemas.microsoft.com/office/drawing/2014/main" id="{5DF491F0-9009-4C5A-BBC3-02523F36145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8836095" y="3768877"/>
                <a:ext cx="33120" cy="0"/>
              </a:xfrm>
              <a:prstGeom prst="line">
                <a:avLst/>
              </a:prstGeom>
              <a:grpFill/>
              <a:ln w="6350" cap="rnd">
                <a:solidFill>
                  <a:sysClr val="window" lastClr="FFFF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64" name="Line 357">
                <a:extLst>
                  <a:ext uri="{FF2B5EF4-FFF2-40B4-BE49-F238E27FC236}">
                    <a16:creationId xmlns:a16="http://schemas.microsoft.com/office/drawing/2014/main" id="{DE4EDFF9-D633-49BB-89E3-9BD57E10CB2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8966027" y="3954050"/>
                <a:ext cx="2548" cy="0"/>
              </a:xfrm>
              <a:prstGeom prst="line">
                <a:avLst/>
              </a:prstGeom>
              <a:grpFill/>
              <a:ln w="6350" cap="rnd">
                <a:solidFill>
                  <a:sysClr val="window" lastClr="FFFF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65" name="Line 363">
                <a:extLst>
                  <a:ext uri="{FF2B5EF4-FFF2-40B4-BE49-F238E27FC236}">
                    <a16:creationId xmlns:a16="http://schemas.microsoft.com/office/drawing/2014/main" id="{A1959CB4-0751-4819-8943-3A7F72913E30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0071732" y="3948861"/>
                <a:ext cx="5096" cy="5192"/>
              </a:xfrm>
              <a:prstGeom prst="line">
                <a:avLst/>
              </a:prstGeom>
              <a:grpFill/>
              <a:ln w="6350" cap="rnd">
                <a:solidFill>
                  <a:sysClr val="window" lastClr="FFFF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66" name="Line 364">
                <a:extLst>
                  <a:ext uri="{FF2B5EF4-FFF2-40B4-BE49-F238E27FC236}">
                    <a16:creationId xmlns:a16="http://schemas.microsoft.com/office/drawing/2014/main" id="{7B465843-DBCD-4FA7-9E4C-CCDF3579944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0087019" y="3974819"/>
                <a:ext cx="5096" cy="0"/>
              </a:xfrm>
              <a:prstGeom prst="line">
                <a:avLst/>
              </a:prstGeom>
              <a:grpFill/>
              <a:ln w="6350" cap="rnd">
                <a:solidFill>
                  <a:sysClr val="window" lastClr="FFFF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67" name="Line 365">
                <a:extLst>
                  <a:ext uri="{FF2B5EF4-FFF2-40B4-BE49-F238E27FC236}">
                    <a16:creationId xmlns:a16="http://schemas.microsoft.com/office/drawing/2014/main" id="{EECC104D-9A07-4DE4-8C85-C8E42DEF99D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0117593" y="3969628"/>
                <a:ext cx="20381" cy="5192"/>
              </a:xfrm>
              <a:prstGeom prst="line">
                <a:avLst/>
              </a:prstGeom>
              <a:grpFill/>
              <a:ln w="6350" cap="rnd">
                <a:solidFill>
                  <a:sysClr val="window" lastClr="FFFF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68" name="Line 366">
                <a:extLst>
                  <a:ext uri="{FF2B5EF4-FFF2-40B4-BE49-F238E27FC236}">
                    <a16:creationId xmlns:a16="http://schemas.microsoft.com/office/drawing/2014/main" id="{B12BE7CD-027D-4ACB-ACCD-2FFEB81DBC6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079515" y="3400256"/>
                <a:ext cx="0" cy="3461"/>
              </a:xfrm>
              <a:prstGeom prst="line">
                <a:avLst/>
              </a:prstGeom>
              <a:grpFill/>
              <a:ln w="6350" cap="rnd">
                <a:solidFill>
                  <a:sysClr val="window" lastClr="FFFF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69" name="Line 367">
                <a:extLst>
                  <a:ext uri="{FF2B5EF4-FFF2-40B4-BE49-F238E27FC236}">
                    <a16:creationId xmlns:a16="http://schemas.microsoft.com/office/drawing/2014/main" id="{C703DBC0-28D3-4E73-87DA-7CF6B8BA95B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127921" y="3410639"/>
                <a:ext cx="0" cy="3461"/>
              </a:xfrm>
              <a:prstGeom prst="line">
                <a:avLst/>
              </a:prstGeom>
              <a:grpFill/>
              <a:ln w="6350" cap="rnd">
                <a:solidFill>
                  <a:sysClr val="window" lastClr="FFFF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70" name="Line 368">
                <a:extLst>
                  <a:ext uri="{FF2B5EF4-FFF2-40B4-BE49-F238E27FC236}">
                    <a16:creationId xmlns:a16="http://schemas.microsoft.com/office/drawing/2014/main" id="{3E891354-744C-4EC4-9376-2A9168FDBEA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247663" y="3459096"/>
                <a:ext cx="33120" cy="0"/>
              </a:xfrm>
              <a:prstGeom prst="line">
                <a:avLst/>
              </a:prstGeom>
              <a:grpFill/>
              <a:ln w="6350" cap="rnd">
                <a:solidFill>
                  <a:sysClr val="window" lastClr="FFFF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71" name="Line 369">
                <a:extLst>
                  <a:ext uri="{FF2B5EF4-FFF2-40B4-BE49-F238E27FC236}">
                    <a16:creationId xmlns:a16="http://schemas.microsoft.com/office/drawing/2014/main" id="{04C43D3D-9285-4F26-9FD8-830E3945EC9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9643720" y="3242768"/>
                <a:ext cx="33120" cy="0"/>
              </a:xfrm>
              <a:prstGeom prst="line">
                <a:avLst/>
              </a:prstGeom>
              <a:grpFill/>
              <a:ln w="6350" cap="rnd">
                <a:solidFill>
                  <a:sysClr val="window" lastClr="FFFF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72" name="Line 370">
                <a:extLst>
                  <a:ext uri="{FF2B5EF4-FFF2-40B4-BE49-F238E27FC236}">
                    <a16:creationId xmlns:a16="http://schemas.microsoft.com/office/drawing/2014/main" id="{C146A950-16B9-4C60-A0A1-90819095FFB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9643720" y="3254883"/>
                <a:ext cx="33120" cy="0"/>
              </a:xfrm>
              <a:prstGeom prst="line">
                <a:avLst/>
              </a:prstGeom>
              <a:grpFill/>
              <a:ln w="6350" cap="rnd">
                <a:solidFill>
                  <a:sysClr val="window" lastClr="FFFF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73" name="Line 371">
                <a:extLst>
                  <a:ext uri="{FF2B5EF4-FFF2-40B4-BE49-F238E27FC236}">
                    <a16:creationId xmlns:a16="http://schemas.microsoft.com/office/drawing/2014/main" id="{73CA54F4-91BE-4441-A20B-8EC4D0F8AAA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6604298" y="3145855"/>
                <a:ext cx="33120" cy="0"/>
              </a:xfrm>
              <a:prstGeom prst="line">
                <a:avLst/>
              </a:prstGeom>
              <a:grpFill/>
              <a:ln w="6350" cap="rnd">
                <a:solidFill>
                  <a:sysClr val="window" lastClr="FFFF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74" name="Line 375">
                <a:extLst>
                  <a:ext uri="{FF2B5EF4-FFF2-40B4-BE49-F238E27FC236}">
                    <a16:creationId xmlns:a16="http://schemas.microsoft.com/office/drawing/2014/main" id="{6B58888E-26E8-46B8-8E4C-E764089ACCD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4117730" y="3192580"/>
                <a:ext cx="5096" cy="3461"/>
              </a:xfrm>
              <a:prstGeom prst="line">
                <a:avLst/>
              </a:prstGeom>
              <a:grpFill/>
              <a:ln w="6350" cap="rnd">
                <a:solidFill>
                  <a:sysClr val="window" lastClr="FFFF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75" name="Freeform 376">
                <a:extLst>
                  <a:ext uri="{FF2B5EF4-FFF2-40B4-BE49-F238E27FC236}">
                    <a16:creationId xmlns:a16="http://schemas.microsoft.com/office/drawing/2014/main" id="{1CF05D8E-1D32-4870-9633-90C5FFD7792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861707" y="2284007"/>
                <a:ext cx="191079" cy="98645"/>
              </a:xfrm>
              <a:custGeom>
                <a:avLst/>
                <a:gdLst>
                  <a:gd name="T0" fmla="*/ 0 w 75"/>
                  <a:gd name="T1" fmla="*/ 25 h 57"/>
                  <a:gd name="T2" fmla="*/ 31 w 75"/>
                  <a:gd name="T3" fmla="*/ 25 h 57"/>
                  <a:gd name="T4" fmla="*/ 43 w 75"/>
                  <a:gd name="T5" fmla="*/ 31 h 57"/>
                  <a:gd name="T6" fmla="*/ 24 w 75"/>
                  <a:gd name="T7" fmla="*/ 37 h 57"/>
                  <a:gd name="T8" fmla="*/ 18 w 75"/>
                  <a:gd name="T9" fmla="*/ 50 h 57"/>
                  <a:gd name="T10" fmla="*/ 31 w 75"/>
                  <a:gd name="T11" fmla="*/ 50 h 57"/>
                  <a:gd name="T12" fmla="*/ 37 w 75"/>
                  <a:gd name="T13" fmla="*/ 44 h 57"/>
                  <a:gd name="T14" fmla="*/ 43 w 75"/>
                  <a:gd name="T15" fmla="*/ 37 h 57"/>
                  <a:gd name="T16" fmla="*/ 49 w 75"/>
                  <a:gd name="T17" fmla="*/ 44 h 57"/>
                  <a:gd name="T18" fmla="*/ 43 w 75"/>
                  <a:gd name="T19" fmla="*/ 56 h 57"/>
                  <a:gd name="T20" fmla="*/ 56 w 75"/>
                  <a:gd name="T21" fmla="*/ 44 h 57"/>
                  <a:gd name="T22" fmla="*/ 49 w 75"/>
                  <a:gd name="T23" fmla="*/ 31 h 57"/>
                  <a:gd name="T24" fmla="*/ 68 w 75"/>
                  <a:gd name="T25" fmla="*/ 37 h 57"/>
                  <a:gd name="T26" fmla="*/ 74 w 75"/>
                  <a:gd name="T27" fmla="*/ 18 h 57"/>
                  <a:gd name="T28" fmla="*/ 49 w 75"/>
                  <a:gd name="T29" fmla="*/ 18 h 57"/>
                  <a:gd name="T30" fmla="*/ 62 w 75"/>
                  <a:gd name="T31" fmla="*/ 6 h 57"/>
                  <a:gd name="T32" fmla="*/ 49 w 75"/>
                  <a:gd name="T33" fmla="*/ 0 h 57"/>
                  <a:gd name="T34" fmla="*/ 0 w 75"/>
                  <a:gd name="T35" fmla="*/ 25 h 5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75"/>
                  <a:gd name="T55" fmla="*/ 0 h 57"/>
                  <a:gd name="T56" fmla="*/ 75 w 75"/>
                  <a:gd name="T57" fmla="*/ 57 h 57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75" h="57">
                    <a:moveTo>
                      <a:pt x="0" y="25"/>
                    </a:moveTo>
                    <a:lnTo>
                      <a:pt x="31" y="25"/>
                    </a:lnTo>
                    <a:lnTo>
                      <a:pt x="43" y="31"/>
                    </a:lnTo>
                    <a:lnTo>
                      <a:pt x="24" y="37"/>
                    </a:lnTo>
                    <a:lnTo>
                      <a:pt x="18" y="50"/>
                    </a:lnTo>
                    <a:lnTo>
                      <a:pt x="31" y="50"/>
                    </a:lnTo>
                    <a:lnTo>
                      <a:pt x="37" y="44"/>
                    </a:lnTo>
                    <a:lnTo>
                      <a:pt x="43" y="37"/>
                    </a:lnTo>
                    <a:lnTo>
                      <a:pt x="49" y="44"/>
                    </a:lnTo>
                    <a:lnTo>
                      <a:pt x="43" y="56"/>
                    </a:lnTo>
                    <a:lnTo>
                      <a:pt x="56" y="44"/>
                    </a:lnTo>
                    <a:lnTo>
                      <a:pt x="49" y="31"/>
                    </a:lnTo>
                    <a:lnTo>
                      <a:pt x="68" y="37"/>
                    </a:lnTo>
                    <a:lnTo>
                      <a:pt x="74" y="18"/>
                    </a:lnTo>
                    <a:lnTo>
                      <a:pt x="49" y="18"/>
                    </a:lnTo>
                    <a:lnTo>
                      <a:pt x="62" y="6"/>
                    </a:lnTo>
                    <a:lnTo>
                      <a:pt x="49" y="0"/>
                    </a:lnTo>
                    <a:lnTo>
                      <a:pt x="0" y="25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76" name="Freeform 377">
                <a:extLst>
                  <a:ext uri="{FF2B5EF4-FFF2-40B4-BE49-F238E27FC236}">
                    <a16:creationId xmlns:a16="http://schemas.microsoft.com/office/drawing/2014/main" id="{B5D864A3-23BF-4201-86EB-0E3390A4D02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068074" y="2457069"/>
                <a:ext cx="206366" cy="74415"/>
              </a:xfrm>
              <a:custGeom>
                <a:avLst/>
                <a:gdLst>
                  <a:gd name="T0" fmla="*/ 0 w 81"/>
                  <a:gd name="T1" fmla="*/ 36 h 43"/>
                  <a:gd name="T2" fmla="*/ 12 w 81"/>
                  <a:gd name="T3" fmla="*/ 42 h 43"/>
                  <a:gd name="T4" fmla="*/ 31 w 81"/>
                  <a:gd name="T5" fmla="*/ 42 h 43"/>
                  <a:gd name="T6" fmla="*/ 31 w 81"/>
                  <a:gd name="T7" fmla="*/ 30 h 43"/>
                  <a:gd name="T8" fmla="*/ 49 w 81"/>
                  <a:gd name="T9" fmla="*/ 24 h 43"/>
                  <a:gd name="T10" fmla="*/ 56 w 81"/>
                  <a:gd name="T11" fmla="*/ 18 h 43"/>
                  <a:gd name="T12" fmla="*/ 74 w 81"/>
                  <a:gd name="T13" fmla="*/ 12 h 43"/>
                  <a:gd name="T14" fmla="*/ 68 w 81"/>
                  <a:gd name="T15" fmla="*/ 6 h 43"/>
                  <a:gd name="T16" fmla="*/ 80 w 81"/>
                  <a:gd name="T17" fmla="*/ 6 h 43"/>
                  <a:gd name="T18" fmla="*/ 62 w 81"/>
                  <a:gd name="T19" fmla="*/ 0 h 43"/>
                  <a:gd name="T20" fmla="*/ 56 w 81"/>
                  <a:gd name="T21" fmla="*/ 6 h 43"/>
                  <a:gd name="T22" fmla="*/ 49 w 81"/>
                  <a:gd name="T23" fmla="*/ 18 h 43"/>
                  <a:gd name="T24" fmla="*/ 43 w 81"/>
                  <a:gd name="T25" fmla="*/ 18 h 43"/>
                  <a:gd name="T26" fmla="*/ 31 w 81"/>
                  <a:gd name="T27" fmla="*/ 12 h 43"/>
                  <a:gd name="T28" fmla="*/ 18 w 81"/>
                  <a:gd name="T29" fmla="*/ 12 h 43"/>
                  <a:gd name="T30" fmla="*/ 24 w 81"/>
                  <a:gd name="T31" fmla="*/ 18 h 43"/>
                  <a:gd name="T32" fmla="*/ 18 w 81"/>
                  <a:gd name="T33" fmla="*/ 24 h 43"/>
                  <a:gd name="T34" fmla="*/ 12 w 81"/>
                  <a:gd name="T35" fmla="*/ 36 h 43"/>
                  <a:gd name="T36" fmla="*/ 0 w 81"/>
                  <a:gd name="T37" fmla="*/ 36 h 43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81"/>
                  <a:gd name="T58" fmla="*/ 0 h 43"/>
                  <a:gd name="T59" fmla="*/ 81 w 81"/>
                  <a:gd name="T60" fmla="*/ 43 h 43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81" h="43">
                    <a:moveTo>
                      <a:pt x="0" y="36"/>
                    </a:moveTo>
                    <a:lnTo>
                      <a:pt x="12" y="42"/>
                    </a:lnTo>
                    <a:lnTo>
                      <a:pt x="31" y="42"/>
                    </a:lnTo>
                    <a:lnTo>
                      <a:pt x="31" y="30"/>
                    </a:lnTo>
                    <a:lnTo>
                      <a:pt x="49" y="24"/>
                    </a:lnTo>
                    <a:lnTo>
                      <a:pt x="56" y="18"/>
                    </a:lnTo>
                    <a:lnTo>
                      <a:pt x="74" y="12"/>
                    </a:lnTo>
                    <a:lnTo>
                      <a:pt x="68" y="6"/>
                    </a:lnTo>
                    <a:lnTo>
                      <a:pt x="80" y="6"/>
                    </a:lnTo>
                    <a:lnTo>
                      <a:pt x="62" y="0"/>
                    </a:lnTo>
                    <a:lnTo>
                      <a:pt x="56" y="6"/>
                    </a:lnTo>
                    <a:lnTo>
                      <a:pt x="49" y="18"/>
                    </a:lnTo>
                    <a:lnTo>
                      <a:pt x="43" y="18"/>
                    </a:lnTo>
                    <a:lnTo>
                      <a:pt x="31" y="12"/>
                    </a:lnTo>
                    <a:lnTo>
                      <a:pt x="18" y="12"/>
                    </a:lnTo>
                    <a:lnTo>
                      <a:pt x="24" y="18"/>
                    </a:lnTo>
                    <a:lnTo>
                      <a:pt x="18" y="24"/>
                    </a:lnTo>
                    <a:lnTo>
                      <a:pt x="12" y="36"/>
                    </a:lnTo>
                    <a:lnTo>
                      <a:pt x="0" y="36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77" name="Freeform 378">
                <a:extLst>
                  <a:ext uri="{FF2B5EF4-FFF2-40B4-BE49-F238E27FC236}">
                    <a16:creationId xmlns:a16="http://schemas.microsoft.com/office/drawing/2014/main" id="{CB3724A6-EEB8-4C23-8651-53F8ED8FBE3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210745" y="2564368"/>
                <a:ext cx="109552" cy="43264"/>
              </a:xfrm>
              <a:custGeom>
                <a:avLst/>
                <a:gdLst>
                  <a:gd name="T0" fmla="*/ 0 w 43"/>
                  <a:gd name="T1" fmla="*/ 24 h 25"/>
                  <a:gd name="T2" fmla="*/ 12 w 43"/>
                  <a:gd name="T3" fmla="*/ 24 h 25"/>
                  <a:gd name="T4" fmla="*/ 18 w 43"/>
                  <a:gd name="T5" fmla="*/ 18 h 25"/>
                  <a:gd name="T6" fmla="*/ 42 w 43"/>
                  <a:gd name="T7" fmla="*/ 12 h 25"/>
                  <a:gd name="T8" fmla="*/ 18 w 43"/>
                  <a:gd name="T9" fmla="*/ 0 h 25"/>
                  <a:gd name="T10" fmla="*/ 0 w 43"/>
                  <a:gd name="T11" fmla="*/ 24 h 2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3"/>
                  <a:gd name="T19" fmla="*/ 0 h 25"/>
                  <a:gd name="T20" fmla="*/ 43 w 43"/>
                  <a:gd name="T21" fmla="*/ 25 h 2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3" h="25">
                    <a:moveTo>
                      <a:pt x="0" y="24"/>
                    </a:moveTo>
                    <a:lnTo>
                      <a:pt x="12" y="24"/>
                    </a:lnTo>
                    <a:lnTo>
                      <a:pt x="18" y="18"/>
                    </a:lnTo>
                    <a:lnTo>
                      <a:pt x="42" y="12"/>
                    </a:lnTo>
                    <a:lnTo>
                      <a:pt x="18" y="0"/>
                    </a:lnTo>
                    <a:lnTo>
                      <a:pt x="0" y="24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78" name="Freeform 379">
                <a:extLst>
                  <a:ext uri="{FF2B5EF4-FFF2-40B4-BE49-F238E27FC236}">
                    <a16:creationId xmlns:a16="http://schemas.microsoft.com/office/drawing/2014/main" id="{50C7F9F6-A924-40E1-8B4E-4D1939A4F00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429847" y="2618016"/>
                <a:ext cx="48404" cy="55380"/>
              </a:xfrm>
              <a:custGeom>
                <a:avLst/>
                <a:gdLst>
                  <a:gd name="T0" fmla="*/ 0 w 19"/>
                  <a:gd name="T1" fmla="*/ 31 h 32"/>
                  <a:gd name="T2" fmla="*/ 9 w 19"/>
                  <a:gd name="T3" fmla="*/ 31 h 32"/>
                  <a:gd name="T4" fmla="*/ 9 w 19"/>
                  <a:gd name="T5" fmla="*/ 12 h 32"/>
                  <a:gd name="T6" fmla="*/ 18 w 19"/>
                  <a:gd name="T7" fmla="*/ 12 h 32"/>
                  <a:gd name="T8" fmla="*/ 9 w 19"/>
                  <a:gd name="T9" fmla="*/ 0 h 32"/>
                  <a:gd name="T10" fmla="*/ 0 w 19"/>
                  <a:gd name="T11" fmla="*/ 12 h 32"/>
                  <a:gd name="T12" fmla="*/ 9 w 19"/>
                  <a:gd name="T13" fmla="*/ 25 h 32"/>
                  <a:gd name="T14" fmla="*/ 0 w 19"/>
                  <a:gd name="T15" fmla="*/ 31 h 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"/>
                  <a:gd name="T25" fmla="*/ 0 h 32"/>
                  <a:gd name="T26" fmla="*/ 19 w 19"/>
                  <a:gd name="T27" fmla="*/ 32 h 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" h="32">
                    <a:moveTo>
                      <a:pt x="0" y="31"/>
                    </a:moveTo>
                    <a:lnTo>
                      <a:pt x="9" y="31"/>
                    </a:lnTo>
                    <a:lnTo>
                      <a:pt x="9" y="12"/>
                    </a:lnTo>
                    <a:lnTo>
                      <a:pt x="18" y="12"/>
                    </a:lnTo>
                    <a:lnTo>
                      <a:pt x="9" y="0"/>
                    </a:lnTo>
                    <a:lnTo>
                      <a:pt x="0" y="12"/>
                    </a:lnTo>
                    <a:lnTo>
                      <a:pt x="9" y="25"/>
                    </a:lnTo>
                    <a:lnTo>
                      <a:pt x="0" y="31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79" name="Freeform 380">
                <a:extLst>
                  <a:ext uri="{FF2B5EF4-FFF2-40B4-BE49-F238E27FC236}">
                    <a16:creationId xmlns:a16="http://schemas.microsoft.com/office/drawing/2014/main" id="{59927B2F-C569-468C-8CDC-5080CE8D4BB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526662" y="2749543"/>
                <a:ext cx="78978" cy="95185"/>
              </a:xfrm>
              <a:custGeom>
                <a:avLst/>
                <a:gdLst>
                  <a:gd name="T0" fmla="*/ 0 w 31"/>
                  <a:gd name="T1" fmla="*/ 12 h 55"/>
                  <a:gd name="T2" fmla="*/ 12 w 31"/>
                  <a:gd name="T3" fmla="*/ 30 h 55"/>
                  <a:gd name="T4" fmla="*/ 18 w 31"/>
                  <a:gd name="T5" fmla="*/ 30 h 55"/>
                  <a:gd name="T6" fmla="*/ 18 w 31"/>
                  <a:gd name="T7" fmla="*/ 42 h 55"/>
                  <a:gd name="T8" fmla="*/ 24 w 31"/>
                  <a:gd name="T9" fmla="*/ 36 h 55"/>
                  <a:gd name="T10" fmla="*/ 24 w 31"/>
                  <a:gd name="T11" fmla="*/ 54 h 55"/>
                  <a:gd name="T12" fmla="*/ 30 w 31"/>
                  <a:gd name="T13" fmla="*/ 42 h 55"/>
                  <a:gd name="T14" fmla="*/ 12 w 31"/>
                  <a:gd name="T15" fmla="*/ 6 h 55"/>
                  <a:gd name="T16" fmla="*/ 0 w 31"/>
                  <a:gd name="T17" fmla="*/ 0 h 55"/>
                  <a:gd name="T18" fmla="*/ 0 w 31"/>
                  <a:gd name="T19" fmla="*/ 12 h 5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1"/>
                  <a:gd name="T31" fmla="*/ 0 h 55"/>
                  <a:gd name="T32" fmla="*/ 31 w 31"/>
                  <a:gd name="T33" fmla="*/ 55 h 5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1" h="55">
                    <a:moveTo>
                      <a:pt x="0" y="12"/>
                    </a:moveTo>
                    <a:lnTo>
                      <a:pt x="12" y="30"/>
                    </a:lnTo>
                    <a:lnTo>
                      <a:pt x="18" y="30"/>
                    </a:lnTo>
                    <a:lnTo>
                      <a:pt x="18" y="42"/>
                    </a:lnTo>
                    <a:lnTo>
                      <a:pt x="24" y="36"/>
                    </a:lnTo>
                    <a:lnTo>
                      <a:pt x="24" y="54"/>
                    </a:lnTo>
                    <a:lnTo>
                      <a:pt x="30" y="42"/>
                    </a:lnTo>
                    <a:lnTo>
                      <a:pt x="12" y="6"/>
                    </a:lnTo>
                    <a:lnTo>
                      <a:pt x="0" y="0"/>
                    </a:lnTo>
                    <a:lnTo>
                      <a:pt x="0" y="12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80" name="Freeform 381">
                <a:extLst>
                  <a:ext uri="{FF2B5EF4-FFF2-40B4-BE49-F238E27FC236}">
                    <a16:creationId xmlns:a16="http://schemas.microsoft.com/office/drawing/2014/main" id="{FFEE6A2D-78CF-4987-A7DC-9672259F956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480801" y="2770310"/>
                <a:ext cx="78978" cy="86531"/>
              </a:xfrm>
              <a:custGeom>
                <a:avLst/>
                <a:gdLst>
                  <a:gd name="T0" fmla="*/ 0 w 31"/>
                  <a:gd name="T1" fmla="*/ 0 h 50"/>
                  <a:gd name="T2" fmla="*/ 0 w 31"/>
                  <a:gd name="T3" fmla="*/ 12 h 50"/>
                  <a:gd name="T4" fmla="*/ 6 w 31"/>
                  <a:gd name="T5" fmla="*/ 6 h 50"/>
                  <a:gd name="T6" fmla="*/ 12 w 31"/>
                  <a:gd name="T7" fmla="*/ 12 h 50"/>
                  <a:gd name="T8" fmla="*/ 6 w 31"/>
                  <a:gd name="T9" fmla="*/ 24 h 50"/>
                  <a:gd name="T10" fmla="*/ 18 w 31"/>
                  <a:gd name="T11" fmla="*/ 31 h 50"/>
                  <a:gd name="T12" fmla="*/ 24 w 31"/>
                  <a:gd name="T13" fmla="*/ 49 h 50"/>
                  <a:gd name="T14" fmla="*/ 30 w 31"/>
                  <a:gd name="T15" fmla="*/ 43 h 50"/>
                  <a:gd name="T16" fmla="*/ 24 w 31"/>
                  <a:gd name="T17" fmla="*/ 31 h 50"/>
                  <a:gd name="T18" fmla="*/ 24 w 31"/>
                  <a:gd name="T19" fmla="*/ 24 h 50"/>
                  <a:gd name="T20" fmla="*/ 12 w 31"/>
                  <a:gd name="T21" fmla="*/ 24 h 50"/>
                  <a:gd name="T22" fmla="*/ 12 w 31"/>
                  <a:gd name="T23" fmla="*/ 6 h 50"/>
                  <a:gd name="T24" fmla="*/ 6 w 31"/>
                  <a:gd name="T25" fmla="*/ 0 h 50"/>
                  <a:gd name="T26" fmla="*/ 0 w 31"/>
                  <a:gd name="T27" fmla="*/ 0 h 5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31"/>
                  <a:gd name="T43" fmla="*/ 0 h 50"/>
                  <a:gd name="T44" fmla="*/ 31 w 31"/>
                  <a:gd name="T45" fmla="*/ 50 h 50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31" h="50">
                    <a:moveTo>
                      <a:pt x="0" y="0"/>
                    </a:moveTo>
                    <a:lnTo>
                      <a:pt x="0" y="12"/>
                    </a:lnTo>
                    <a:lnTo>
                      <a:pt x="6" y="6"/>
                    </a:lnTo>
                    <a:lnTo>
                      <a:pt x="12" y="12"/>
                    </a:lnTo>
                    <a:lnTo>
                      <a:pt x="6" y="24"/>
                    </a:lnTo>
                    <a:lnTo>
                      <a:pt x="18" y="31"/>
                    </a:lnTo>
                    <a:lnTo>
                      <a:pt x="24" y="49"/>
                    </a:lnTo>
                    <a:lnTo>
                      <a:pt x="30" y="43"/>
                    </a:lnTo>
                    <a:lnTo>
                      <a:pt x="24" y="31"/>
                    </a:lnTo>
                    <a:lnTo>
                      <a:pt x="24" y="24"/>
                    </a:lnTo>
                    <a:lnTo>
                      <a:pt x="12" y="24"/>
                    </a:lnTo>
                    <a:lnTo>
                      <a:pt x="12" y="6"/>
                    </a:lnTo>
                    <a:lnTo>
                      <a:pt x="6" y="0"/>
                    </a:lnTo>
                    <a:lnTo>
                      <a:pt x="0" y="0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81" name="Freeform 382">
                <a:extLst>
                  <a:ext uri="{FF2B5EF4-FFF2-40B4-BE49-F238E27FC236}">
                    <a16:creationId xmlns:a16="http://schemas.microsoft.com/office/drawing/2014/main" id="{F1D39DEB-7028-4A59-8521-B492D16CD4D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7544405" y="2943372"/>
                <a:ext cx="94265" cy="74415"/>
              </a:xfrm>
              <a:custGeom>
                <a:avLst/>
                <a:gdLst>
                  <a:gd name="T0" fmla="*/ 0 w 37"/>
                  <a:gd name="T1" fmla="*/ 24 h 43"/>
                  <a:gd name="T2" fmla="*/ 6 w 37"/>
                  <a:gd name="T3" fmla="*/ 42 h 43"/>
                  <a:gd name="T4" fmla="*/ 18 w 37"/>
                  <a:gd name="T5" fmla="*/ 42 h 43"/>
                  <a:gd name="T6" fmla="*/ 24 w 37"/>
                  <a:gd name="T7" fmla="*/ 42 h 43"/>
                  <a:gd name="T8" fmla="*/ 30 w 37"/>
                  <a:gd name="T9" fmla="*/ 36 h 43"/>
                  <a:gd name="T10" fmla="*/ 30 w 37"/>
                  <a:gd name="T11" fmla="*/ 24 h 43"/>
                  <a:gd name="T12" fmla="*/ 36 w 37"/>
                  <a:gd name="T13" fmla="*/ 24 h 43"/>
                  <a:gd name="T14" fmla="*/ 30 w 37"/>
                  <a:gd name="T15" fmla="*/ 12 h 43"/>
                  <a:gd name="T16" fmla="*/ 36 w 37"/>
                  <a:gd name="T17" fmla="*/ 0 h 43"/>
                  <a:gd name="T18" fmla="*/ 18 w 37"/>
                  <a:gd name="T19" fmla="*/ 0 h 43"/>
                  <a:gd name="T20" fmla="*/ 18 w 37"/>
                  <a:gd name="T21" fmla="*/ 6 h 43"/>
                  <a:gd name="T22" fmla="*/ 12 w 37"/>
                  <a:gd name="T23" fmla="*/ 12 h 43"/>
                  <a:gd name="T24" fmla="*/ 6 w 37"/>
                  <a:gd name="T25" fmla="*/ 12 h 43"/>
                  <a:gd name="T26" fmla="*/ 0 w 37"/>
                  <a:gd name="T27" fmla="*/ 24 h 43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37"/>
                  <a:gd name="T43" fmla="*/ 0 h 43"/>
                  <a:gd name="T44" fmla="*/ 37 w 37"/>
                  <a:gd name="T45" fmla="*/ 43 h 43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37" h="43">
                    <a:moveTo>
                      <a:pt x="0" y="24"/>
                    </a:moveTo>
                    <a:lnTo>
                      <a:pt x="6" y="42"/>
                    </a:lnTo>
                    <a:lnTo>
                      <a:pt x="18" y="42"/>
                    </a:lnTo>
                    <a:lnTo>
                      <a:pt x="24" y="42"/>
                    </a:lnTo>
                    <a:lnTo>
                      <a:pt x="30" y="36"/>
                    </a:lnTo>
                    <a:lnTo>
                      <a:pt x="30" y="24"/>
                    </a:lnTo>
                    <a:lnTo>
                      <a:pt x="36" y="24"/>
                    </a:lnTo>
                    <a:lnTo>
                      <a:pt x="30" y="12"/>
                    </a:lnTo>
                    <a:lnTo>
                      <a:pt x="36" y="0"/>
                    </a:lnTo>
                    <a:lnTo>
                      <a:pt x="18" y="0"/>
                    </a:lnTo>
                    <a:lnTo>
                      <a:pt x="18" y="6"/>
                    </a:lnTo>
                    <a:lnTo>
                      <a:pt x="12" y="12"/>
                    </a:lnTo>
                    <a:lnTo>
                      <a:pt x="6" y="12"/>
                    </a:lnTo>
                    <a:lnTo>
                      <a:pt x="0" y="24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82" name="Freeform 383">
                <a:extLst>
                  <a:ext uri="{FF2B5EF4-FFF2-40B4-BE49-F238E27FC236}">
                    <a16:creationId xmlns:a16="http://schemas.microsoft.com/office/drawing/2014/main" id="{6644385E-1632-4DAA-8EFF-0FF3A40BDC2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769899" y="2920874"/>
                <a:ext cx="364321" cy="148833"/>
              </a:xfrm>
              <a:custGeom>
                <a:avLst/>
                <a:gdLst>
                  <a:gd name="T0" fmla="*/ 87 w 143"/>
                  <a:gd name="T1" fmla="*/ 30 h 86"/>
                  <a:gd name="T2" fmla="*/ 80 w 143"/>
                  <a:gd name="T3" fmla="*/ 30 h 86"/>
                  <a:gd name="T4" fmla="*/ 68 w 143"/>
                  <a:gd name="T5" fmla="*/ 24 h 86"/>
                  <a:gd name="T6" fmla="*/ 99 w 143"/>
                  <a:gd name="T7" fmla="*/ 6 h 86"/>
                  <a:gd name="T8" fmla="*/ 111 w 143"/>
                  <a:gd name="T9" fmla="*/ 0 h 86"/>
                  <a:gd name="T10" fmla="*/ 118 w 143"/>
                  <a:gd name="T11" fmla="*/ 6 h 86"/>
                  <a:gd name="T12" fmla="*/ 99 w 143"/>
                  <a:gd name="T13" fmla="*/ 12 h 86"/>
                  <a:gd name="T14" fmla="*/ 105 w 143"/>
                  <a:gd name="T15" fmla="*/ 18 h 86"/>
                  <a:gd name="T16" fmla="*/ 99 w 143"/>
                  <a:gd name="T17" fmla="*/ 30 h 86"/>
                  <a:gd name="T18" fmla="*/ 87 w 143"/>
                  <a:gd name="T19" fmla="*/ 30 h 86"/>
                  <a:gd name="T20" fmla="*/ 87 w 143"/>
                  <a:gd name="T21" fmla="*/ 36 h 86"/>
                  <a:gd name="T22" fmla="*/ 93 w 143"/>
                  <a:gd name="T23" fmla="*/ 36 h 86"/>
                  <a:gd name="T24" fmla="*/ 136 w 143"/>
                  <a:gd name="T25" fmla="*/ 67 h 86"/>
                  <a:gd name="T26" fmla="*/ 142 w 143"/>
                  <a:gd name="T27" fmla="*/ 73 h 86"/>
                  <a:gd name="T28" fmla="*/ 136 w 143"/>
                  <a:gd name="T29" fmla="*/ 79 h 86"/>
                  <a:gd name="T30" fmla="*/ 124 w 143"/>
                  <a:gd name="T31" fmla="*/ 85 h 86"/>
                  <a:gd name="T32" fmla="*/ 93 w 143"/>
                  <a:gd name="T33" fmla="*/ 85 h 86"/>
                  <a:gd name="T34" fmla="*/ 74 w 143"/>
                  <a:gd name="T35" fmla="*/ 73 h 86"/>
                  <a:gd name="T36" fmla="*/ 55 w 143"/>
                  <a:gd name="T37" fmla="*/ 73 h 86"/>
                  <a:gd name="T38" fmla="*/ 37 w 143"/>
                  <a:gd name="T39" fmla="*/ 85 h 86"/>
                  <a:gd name="T40" fmla="*/ 24 w 143"/>
                  <a:gd name="T41" fmla="*/ 85 h 86"/>
                  <a:gd name="T42" fmla="*/ 6 w 143"/>
                  <a:gd name="T43" fmla="*/ 85 h 86"/>
                  <a:gd name="T44" fmla="*/ 6 w 143"/>
                  <a:gd name="T45" fmla="*/ 73 h 86"/>
                  <a:gd name="T46" fmla="*/ 0 w 143"/>
                  <a:gd name="T47" fmla="*/ 67 h 86"/>
                  <a:gd name="T48" fmla="*/ 6 w 143"/>
                  <a:gd name="T49" fmla="*/ 55 h 86"/>
                  <a:gd name="T50" fmla="*/ 12 w 143"/>
                  <a:gd name="T51" fmla="*/ 49 h 86"/>
                  <a:gd name="T52" fmla="*/ 12 w 143"/>
                  <a:gd name="T53" fmla="*/ 42 h 86"/>
                  <a:gd name="T54" fmla="*/ 18 w 143"/>
                  <a:gd name="T55" fmla="*/ 36 h 86"/>
                  <a:gd name="T56" fmla="*/ 18 w 143"/>
                  <a:gd name="T57" fmla="*/ 30 h 86"/>
                  <a:gd name="T58" fmla="*/ 18 w 143"/>
                  <a:gd name="T59" fmla="*/ 24 h 86"/>
                  <a:gd name="T60" fmla="*/ 24 w 143"/>
                  <a:gd name="T61" fmla="*/ 24 h 86"/>
                  <a:gd name="T62" fmla="*/ 31 w 143"/>
                  <a:gd name="T63" fmla="*/ 12 h 86"/>
                  <a:gd name="T64" fmla="*/ 43 w 143"/>
                  <a:gd name="T65" fmla="*/ 12 h 86"/>
                  <a:gd name="T66" fmla="*/ 43 w 143"/>
                  <a:gd name="T67" fmla="*/ 18 h 86"/>
                  <a:gd name="T68" fmla="*/ 62 w 143"/>
                  <a:gd name="T69" fmla="*/ 24 h 86"/>
                  <a:gd name="T70" fmla="*/ 49 w 143"/>
                  <a:gd name="T71" fmla="*/ 30 h 86"/>
                  <a:gd name="T72" fmla="*/ 62 w 143"/>
                  <a:gd name="T73" fmla="*/ 36 h 86"/>
                  <a:gd name="T74" fmla="*/ 55 w 143"/>
                  <a:gd name="T75" fmla="*/ 42 h 86"/>
                  <a:gd name="T76" fmla="*/ 62 w 143"/>
                  <a:gd name="T77" fmla="*/ 42 h 86"/>
                  <a:gd name="T78" fmla="*/ 80 w 143"/>
                  <a:gd name="T79" fmla="*/ 36 h 86"/>
                  <a:gd name="T80" fmla="*/ 87 w 143"/>
                  <a:gd name="T81" fmla="*/ 36 h 86"/>
                  <a:gd name="T82" fmla="*/ 87 w 143"/>
                  <a:gd name="T83" fmla="*/ 30 h 8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143"/>
                  <a:gd name="T127" fmla="*/ 0 h 86"/>
                  <a:gd name="T128" fmla="*/ 143 w 143"/>
                  <a:gd name="T129" fmla="*/ 86 h 8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143" h="86">
                    <a:moveTo>
                      <a:pt x="87" y="30"/>
                    </a:moveTo>
                    <a:lnTo>
                      <a:pt x="80" y="30"/>
                    </a:lnTo>
                    <a:lnTo>
                      <a:pt x="68" y="24"/>
                    </a:lnTo>
                    <a:lnTo>
                      <a:pt x="99" y="6"/>
                    </a:lnTo>
                    <a:lnTo>
                      <a:pt x="111" y="0"/>
                    </a:lnTo>
                    <a:lnTo>
                      <a:pt x="118" y="6"/>
                    </a:lnTo>
                    <a:lnTo>
                      <a:pt x="99" y="12"/>
                    </a:lnTo>
                    <a:lnTo>
                      <a:pt x="105" y="18"/>
                    </a:lnTo>
                    <a:lnTo>
                      <a:pt x="99" y="30"/>
                    </a:lnTo>
                    <a:lnTo>
                      <a:pt x="87" y="30"/>
                    </a:lnTo>
                    <a:lnTo>
                      <a:pt x="87" y="36"/>
                    </a:lnTo>
                    <a:lnTo>
                      <a:pt x="93" y="36"/>
                    </a:lnTo>
                    <a:lnTo>
                      <a:pt x="136" y="67"/>
                    </a:lnTo>
                    <a:lnTo>
                      <a:pt x="142" y="73"/>
                    </a:lnTo>
                    <a:lnTo>
                      <a:pt x="136" y="79"/>
                    </a:lnTo>
                    <a:lnTo>
                      <a:pt x="124" y="85"/>
                    </a:lnTo>
                    <a:lnTo>
                      <a:pt x="93" y="85"/>
                    </a:lnTo>
                    <a:lnTo>
                      <a:pt x="74" y="73"/>
                    </a:lnTo>
                    <a:lnTo>
                      <a:pt x="55" y="73"/>
                    </a:lnTo>
                    <a:lnTo>
                      <a:pt x="37" y="85"/>
                    </a:lnTo>
                    <a:lnTo>
                      <a:pt x="24" y="85"/>
                    </a:lnTo>
                    <a:lnTo>
                      <a:pt x="6" y="85"/>
                    </a:lnTo>
                    <a:lnTo>
                      <a:pt x="6" y="73"/>
                    </a:lnTo>
                    <a:lnTo>
                      <a:pt x="0" y="67"/>
                    </a:lnTo>
                    <a:lnTo>
                      <a:pt x="6" y="55"/>
                    </a:lnTo>
                    <a:lnTo>
                      <a:pt x="12" y="49"/>
                    </a:lnTo>
                    <a:lnTo>
                      <a:pt x="12" y="42"/>
                    </a:lnTo>
                    <a:lnTo>
                      <a:pt x="18" y="36"/>
                    </a:lnTo>
                    <a:lnTo>
                      <a:pt x="18" y="30"/>
                    </a:lnTo>
                    <a:lnTo>
                      <a:pt x="18" y="24"/>
                    </a:lnTo>
                    <a:lnTo>
                      <a:pt x="24" y="24"/>
                    </a:lnTo>
                    <a:lnTo>
                      <a:pt x="31" y="12"/>
                    </a:lnTo>
                    <a:lnTo>
                      <a:pt x="43" y="12"/>
                    </a:lnTo>
                    <a:lnTo>
                      <a:pt x="43" y="18"/>
                    </a:lnTo>
                    <a:lnTo>
                      <a:pt x="62" y="24"/>
                    </a:lnTo>
                    <a:lnTo>
                      <a:pt x="49" y="30"/>
                    </a:lnTo>
                    <a:lnTo>
                      <a:pt x="62" y="36"/>
                    </a:lnTo>
                    <a:lnTo>
                      <a:pt x="55" y="42"/>
                    </a:lnTo>
                    <a:lnTo>
                      <a:pt x="62" y="42"/>
                    </a:lnTo>
                    <a:lnTo>
                      <a:pt x="80" y="36"/>
                    </a:lnTo>
                    <a:lnTo>
                      <a:pt x="87" y="36"/>
                    </a:lnTo>
                    <a:lnTo>
                      <a:pt x="87" y="30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83" name="Freeform 384">
                <a:extLst>
                  <a:ext uri="{FF2B5EF4-FFF2-40B4-BE49-F238E27FC236}">
                    <a16:creationId xmlns:a16="http://schemas.microsoft.com/office/drawing/2014/main" id="{1D7C7559-E030-4643-9FB7-5920F197383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7941849" y="2943373"/>
                <a:ext cx="140123" cy="43264"/>
              </a:xfrm>
              <a:custGeom>
                <a:avLst/>
                <a:gdLst>
                  <a:gd name="T0" fmla="*/ 0 w 55"/>
                  <a:gd name="T1" fmla="*/ 12 h 25"/>
                  <a:gd name="T2" fmla="*/ 6 w 55"/>
                  <a:gd name="T3" fmla="*/ 24 h 25"/>
                  <a:gd name="T4" fmla="*/ 6 w 55"/>
                  <a:gd name="T5" fmla="*/ 12 h 25"/>
                  <a:gd name="T6" fmla="*/ 18 w 55"/>
                  <a:gd name="T7" fmla="*/ 6 h 25"/>
                  <a:gd name="T8" fmla="*/ 36 w 55"/>
                  <a:gd name="T9" fmla="*/ 0 h 25"/>
                  <a:gd name="T10" fmla="*/ 42 w 55"/>
                  <a:gd name="T11" fmla="*/ 6 h 25"/>
                  <a:gd name="T12" fmla="*/ 54 w 55"/>
                  <a:gd name="T13" fmla="*/ 0 h 25"/>
                  <a:gd name="T14" fmla="*/ 36 w 55"/>
                  <a:gd name="T15" fmla="*/ 0 h 25"/>
                  <a:gd name="T16" fmla="*/ 12 w 55"/>
                  <a:gd name="T17" fmla="*/ 0 h 25"/>
                  <a:gd name="T18" fmla="*/ 0 w 55"/>
                  <a:gd name="T19" fmla="*/ 6 h 25"/>
                  <a:gd name="T20" fmla="*/ 0 w 55"/>
                  <a:gd name="T21" fmla="*/ 12 h 2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55"/>
                  <a:gd name="T34" fmla="*/ 0 h 25"/>
                  <a:gd name="T35" fmla="*/ 55 w 55"/>
                  <a:gd name="T36" fmla="*/ 25 h 25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55" h="25">
                    <a:moveTo>
                      <a:pt x="0" y="12"/>
                    </a:moveTo>
                    <a:lnTo>
                      <a:pt x="6" y="24"/>
                    </a:lnTo>
                    <a:lnTo>
                      <a:pt x="6" y="12"/>
                    </a:lnTo>
                    <a:lnTo>
                      <a:pt x="18" y="6"/>
                    </a:lnTo>
                    <a:lnTo>
                      <a:pt x="36" y="0"/>
                    </a:lnTo>
                    <a:lnTo>
                      <a:pt x="42" y="6"/>
                    </a:lnTo>
                    <a:lnTo>
                      <a:pt x="54" y="0"/>
                    </a:lnTo>
                    <a:lnTo>
                      <a:pt x="36" y="0"/>
                    </a:lnTo>
                    <a:lnTo>
                      <a:pt x="12" y="0"/>
                    </a:lnTo>
                    <a:lnTo>
                      <a:pt x="0" y="6"/>
                    </a:lnTo>
                    <a:lnTo>
                      <a:pt x="0" y="12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84" name="Freeform 385">
                <a:extLst>
                  <a:ext uri="{FF2B5EF4-FFF2-40B4-BE49-F238E27FC236}">
                    <a16:creationId xmlns:a16="http://schemas.microsoft.com/office/drawing/2014/main" id="{3F9CEBDA-CC29-403C-B54C-A38F5853A48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716353" y="2694163"/>
                <a:ext cx="157957" cy="129797"/>
              </a:xfrm>
              <a:custGeom>
                <a:avLst/>
                <a:gdLst>
                  <a:gd name="T0" fmla="*/ 0 w 62"/>
                  <a:gd name="T1" fmla="*/ 68 h 75"/>
                  <a:gd name="T2" fmla="*/ 6 w 62"/>
                  <a:gd name="T3" fmla="*/ 74 h 75"/>
                  <a:gd name="T4" fmla="*/ 18 w 62"/>
                  <a:gd name="T5" fmla="*/ 68 h 75"/>
                  <a:gd name="T6" fmla="*/ 24 w 62"/>
                  <a:gd name="T7" fmla="*/ 62 h 75"/>
                  <a:gd name="T8" fmla="*/ 37 w 62"/>
                  <a:gd name="T9" fmla="*/ 49 h 75"/>
                  <a:gd name="T10" fmla="*/ 55 w 62"/>
                  <a:gd name="T11" fmla="*/ 31 h 75"/>
                  <a:gd name="T12" fmla="*/ 61 w 62"/>
                  <a:gd name="T13" fmla="*/ 0 h 75"/>
                  <a:gd name="T14" fmla="*/ 55 w 62"/>
                  <a:gd name="T15" fmla="*/ 0 h 75"/>
                  <a:gd name="T16" fmla="*/ 43 w 62"/>
                  <a:gd name="T17" fmla="*/ 31 h 75"/>
                  <a:gd name="T18" fmla="*/ 12 w 62"/>
                  <a:gd name="T19" fmla="*/ 68 h 75"/>
                  <a:gd name="T20" fmla="*/ 0 w 62"/>
                  <a:gd name="T21" fmla="*/ 68 h 7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62"/>
                  <a:gd name="T34" fmla="*/ 0 h 75"/>
                  <a:gd name="T35" fmla="*/ 62 w 62"/>
                  <a:gd name="T36" fmla="*/ 75 h 75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62" h="75">
                    <a:moveTo>
                      <a:pt x="0" y="68"/>
                    </a:moveTo>
                    <a:lnTo>
                      <a:pt x="6" y="74"/>
                    </a:lnTo>
                    <a:lnTo>
                      <a:pt x="18" y="68"/>
                    </a:lnTo>
                    <a:lnTo>
                      <a:pt x="24" y="62"/>
                    </a:lnTo>
                    <a:lnTo>
                      <a:pt x="37" y="49"/>
                    </a:lnTo>
                    <a:lnTo>
                      <a:pt x="55" y="31"/>
                    </a:lnTo>
                    <a:lnTo>
                      <a:pt x="61" y="0"/>
                    </a:lnTo>
                    <a:lnTo>
                      <a:pt x="55" y="0"/>
                    </a:lnTo>
                    <a:lnTo>
                      <a:pt x="43" y="31"/>
                    </a:lnTo>
                    <a:lnTo>
                      <a:pt x="12" y="68"/>
                    </a:lnTo>
                    <a:lnTo>
                      <a:pt x="0" y="68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85" name="Freeform 386">
                <a:extLst>
                  <a:ext uri="{FF2B5EF4-FFF2-40B4-BE49-F238E27FC236}">
                    <a16:creationId xmlns:a16="http://schemas.microsoft.com/office/drawing/2014/main" id="{0B824C73-74EF-4428-B901-30096F3FEAA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833593" y="2498603"/>
                <a:ext cx="63693" cy="65763"/>
              </a:xfrm>
              <a:custGeom>
                <a:avLst/>
                <a:gdLst>
                  <a:gd name="T0" fmla="*/ 0 w 25"/>
                  <a:gd name="T1" fmla="*/ 12 h 38"/>
                  <a:gd name="T2" fmla="*/ 6 w 25"/>
                  <a:gd name="T3" fmla="*/ 18 h 38"/>
                  <a:gd name="T4" fmla="*/ 6 w 25"/>
                  <a:gd name="T5" fmla="*/ 37 h 38"/>
                  <a:gd name="T6" fmla="*/ 12 w 25"/>
                  <a:gd name="T7" fmla="*/ 37 h 38"/>
                  <a:gd name="T8" fmla="*/ 18 w 25"/>
                  <a:gd name="T9" fmla="*/ 31 h 38"/>
                  <a:gd name="T10" fmla="*/ 24 w 25"/>
                  <a:gd name="T11" fmla="*/ 31 h 38"/>
                  <a:gd name="T12" fmla="*/ 24 w 25"/>
                  <a:gd name="T13" fmla="*/ 18 h 38"/>
                  <a:gd name="T14" fmla="*/ 12 w 25"/>
                  <a:gd name="T15" fmla="*/ 0 h 38"/>
                  <a:gd name="T16" fmla="*/ 6 w 25"/>
                  <a:gd name="T17" fmla="*/ 0 h 38"/>
                  <a:gd name="T18" fmla="*/ 0 w 25"/>
                  <a:gd name="T19" fmla="*/ 12 h 3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5"/>
                  <a:gd name="T31" fmla="*/ 0 h 38"/>
                  <a:gd name="T32" fmla="*/ 25 w 25"/>
                  <a:gd name="T33" fmla="*/ 38 h 3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5" h="38">
                    <a:moveTo>
                      <a:pt x="0" y="12"/>
                    </a:moveTo>
                    <a:lnTo>
                      <a:pt x="6" y="18"/>
                    </a:lnTo>
                    <a:lnTo>
                      <a:pt x="6" y="37"/>
                    </a:lnTo>
                    <a:lnTo>
                      <a:pt x="12" y="37"/>
                    </a:lnTo>
                    <a:lnTo>
                      <a:pt x="18" y="31"/>
                    </a:lnTo>
                    <a:lnTo>
                      <a:pt x="24" y="31"/>
                    </a:lnTo>
                    <a:lnTo>
                      <a:pt x="24" y="18"/>
                    </a:lnTo>
                    <a:lnTo>
                      <a:pt x="12" y="0"/>
                    </a:lnTo>
                    <a:lnTo>
                      <a:pt x="6" y="0"/>
                    </a:lnTo>
                    <a:lnTo>
                      <a:pt x="0" y="12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86" name="Freeform 387">
                <a:extLst>
                  <a:ext uri="{FF2B5EF4-FFF2-40B4-BE49-F238E27FC236}">
                    <a16:creationId xmlns:a16="http://schemas.microsoft.com/office/drawing/2014/main" id="{12FEFE1D-527A-4559-9370-78DF5BA05AC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943146" y="2457069"/>
                <a:ext cx="48404" cy="64032"/>
              </a:xfrm>
              <a:custGeom>
                <a:avLst/>
                <a:gdLst>
                  <a:gd name="T0" fmla="*/ 0 w 19"/>
                  <a:gd name="T1" fmla="*/ 24 h 37"/>
                  <a:gd name="T2" fmla="*/ 12 w 19"/>
                  <a:gd name="T3" fmla="*/ 30 h 37"/>
                  <a:gd name="T4" fmla="*/ 12 w 19"/>
                  <a:gd name="T5" fmla="*/ 36 h 37"/>
                  <a:gd name="T6" fmla="*/ 18 w 19"/>
                  <a:gd name="T7" fmla="*/ 36 h 37"/>
                  <a:gd name="T8" fmla="*/ 12 w 19"/>
                  <a:gd name="T9" fmla="*/ 18 h 37"/>
                  <a:gd name="T10" fmla="*/ 12 w 19"/>
                  <a:gd name="T11" fmla="*/ 12 h 37"/>
                  <a:gd name="T12" fmla="*/ 6 w 19"/>
                  <a:gd name="T13" fmla="*/ 6 h 37"/>
                  <a:gd name="T14" fmla="*/ 0 w 19"/>
                  <a:gd name="T15" fmla="*/ 0 h 37"/>
                  <a:gd name="T16" fmla="*/ 6 w 19"/>
                  <a:gd name="T17" fmla="*/ 6 h 37"/>
                  <a:gd name="T18" fmla="*/ 6 w 19"/>
                  <a:gd name="T19" fmla="*/ 12 h 37"/>
                  <a:gd name="T20" fmla="*/ 0 w 19"/>
                  <a:gd name="T21" fmla="*/ 12 h 37"/>
                  <a:gd name="T22" fmla="*/ 0 w 19"/>
                  <a:gd name="T23" fmla="*/ 24 h 3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9"/>
                  <a:gd name="T37" fmla="*/ 0 h 37"/>
                  <a:gd name="T38" fmla="*/ 19 w 19"/>
                  <a:gd name="T39" fmla="*/ 37 h 37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9" h="37">
                    <a:moveTo>
                      <a:pt x="0" y="24"/>
                    </a:moveTo>
                    <a:lnTo>
                      <a:pt x="12" y="30"/>
                    </a:lnTo>
                    <a:lnTo>
                      <a:pt x="12" y="36"/>
                    </a:lnTo>
                    <a:lnTo>
                      <a:pt x="18" y="36"/>
                    </a:lnTo>
                    <a:lnTo>
                      <a:pt x="12" y="18"/>
                    </a:lnTo>
                    <a:lnTo>
                      <a:pt x="12" y="12"/>
                    </a:lnTo>
                    <a:lnTo>
                      <a:pt x="6" y="6"/>
                    </a:lnTo>
                    <a:lnTo>
                      <a:pt x="0" y="0"/>
                    </a:lnTo>
                    <a:lnTo>
                      <a:pt x="6" y="6"/>
                    </a:lnTo>
                    <a:lnTo>
                      <a:pt x="6" y="12"/>
                    </a:lnTo>
                    <a:lnTo>
                      <a:pt x="0" y="12"/>
                    </a:lnTo>
                    <a:lnTo>
                      <a:pt x="0" y="24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87" name="Freeform 388">
                <a:extLst>
                  <a:ext uri="{FF2B5EF4-FFF2-40B4-BE49-F238E27FC236}">
                    <a16:creationId xmlns:a16="http://schemas.microsoft.com/office/drawing/2014/main" id="{0379ABBA-44D9-4478-A70D-C3AA71B18A8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921554" y="3028172"/>
                <a:ext cx="127386" cy="32882"/>
              </a:xfrm>
              <a:custGeom>
                <a:avLst/>
                <a:gdLst>
                  <a:gd name="T0" fmla="*/ 0 w 50"/>
                  <a:gd name="T1" fmla="*/ 18 h 19"/>
                  <a:gd name="T2" fmla="*/ 18 w 50"/>
                  <a:gd name="T3" fmla="*/ 12 h 19"/>
                  <a:gd name="T4" fmla="*/ 24 w 50"/>
                  <a:gd name="T5" fmla="*/ 6 h 19"/>
                  <a:gd name="T6" fmla="*/ 49 w 50"/>
                  <a:gd name="T7" fmla="*/ 0 h 19"/>
                  <a:gd name="T8" fmla="*/ 18 w 50"/>
                  <a:gd name="T9" fmla="*/ 18 h 19"/>
                  <a:gd name="T10" fmla="*/ 6 w 50"/>
                  <a:gd name="T11" fmla="*/ 18 h 19"/>
                  <a:gd name="T12" fmla="*/ 0 w 50"/>
                  <a:gd name="T13" fmla="*/ 18 h 1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0"/>
                  <a:gd name="T22" fmla="*/ 0 h 19"/>
                  <a:gd name="T23" fmla="*/ 50 w 50"/>
                  <a:gd name="T24" fmla="*/ 19 h 1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0" h="19">
                    <a:moveTo>
                      <a:pt x="0" y="18"/>
                    </a:moveTo>
                    <a:lnTo>
                      <a:pt x="18" y="12"/>
                    </a:lnTo>
                    <a:lnTo>
                      <a:pt x="24" y="6"/>
                    </a:lnTo>
                    <a:lnTo>
                      <a:pt x="49" y="0"/>
                    </a:lnTo>
                    <a:lnTo>
                      <a:pt x="18" y="18"/>
                    </a:lnTo>
                    <a:lnTo>
                      <a:pt x="6" y="18"/>
                    </a:lnTo>
                    <a:lnTo>
                      <a:pt x="0" y="18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88" name="Freeform 389">
                <a:extLst>
                  <a:ext uri="{FF2B5EF4-FFF2-40B4-BE49-F238E27FC236}">
                    <a16:creationId xmlns:a16="http://schemas.microsoft.com/office/drawing/2014/main" id="{A52EB978-F2A5-4486-9A40-8B482773325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018369" y="2995291"/>
                <a:ext cx="94265" cy="32882"/>
              </a:xfrm>
              <a:custGeom>
                <a:avLst/>
                <a:gdLst>
                  <a:gd name="T0" fmla="*/ 6 w 37"/>
                  <a:gd name="T1" fmla="*/ 18 h 19"/>
                  <a:gd name="T2" fmla="*/ 0 w 37"/>
                  <a:gd name="T3" fmla="*/ 18 h 19"/>
                  <a:gd name="T4" fmla="*/ 6 w 37"/>
                  <a:gd name="T5" fmla="*/ 12 h 19"/>
                  <a:gd name="T6" fmla="*/ 30 w 37"/>
                  <a:gd name="T7" fmla="*/ 6 h 19"/>
                  <a:gd name="T8" fmla="*/ 36 w 37"/>
                  <a:gd name="T9" fmla="*/ 0 h 19"/>
                  <a:gd name="T10" fmla="*/ 36 w 37"/>
                  <a:gd name="T11" fmla="*/ 12 h 19"/>
                  <a:gd name="T12" fmla="*/ 6 w 37"/>
                  <a:gd name="T13" fmla="*/ 18 h 1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7"/>
                  <a:gd name="T22" fmla="*/ 0 h 19"/>
                  <a:gd name="T23" fmla="*/ 37 w 37"/>
                  <a:gd name="T24" fmla="*/ 19 h 1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7" h="19">
                    <a:moveTo>
                      <a:pt x="6" y="18"/>
                    </a:moveTo>
                    <a:lnTo>
                      <a:pt x="0" y="18"/>
                    </a:lnTo>
                    <a:lnTo>
                      <a:pt x="6" y="12"/>
                    </a:lnTo>
                    <a:lnTo>
                      <a:pt x="30" y="6"/>
                    </a:lnTo>
                    <a:lnTo>
                      <a:pt x="36" y="0"/>
                    </a:lnTo>
                    <a:lnTo>
                      <a:pt x="36" y="12"/>
                    </a:lnTo>
                    <a:lnTo>
                      <a:pt x="6" y="18"/>
                    </a:lnTo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89" name="Freeform 391">
                <a:extLst>
                  <a:ext uri="{FF2B5EF4-FFF2-40B4-BE49-F238E27FC236}">
                    <a16:creationId xmlns:a16="http://schemas.microsoft.com/office/drawing/2014/main" id="{9492CA98-968B-4239-974E-701BEB03DB7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400481" y="1650607"/>
                <a:ext cx="142671" cy="115952"/>
              </a:xfrm>
              <a:custGeom>
                <a:avLst/>
                <a:gdLst>
                  <a:gd name="T0" fmla="*/ 0 w 56"/>
                  <a:gd name="T1" fmla="*/ 0 h 67"/>
                  <a:gd name="T2" fmla="*/ 8 w 56"/>
                  <a:gd name="T3" fmla="*/ 25 h 67"/>
                  <a:gd name="T4" fmla="*/ 39 w 56"/>
                  <a:gd name="T5" fmla="*/ 67 h 67"/>
                  <a:gd name="T6" fmla="*/ 56 w 56"/>
                  <a:gd name="T7" fmla="*/ 0 h 67"/>
                  <a:gd name="T8" fmla="*/ 0 w 56"/>
                  <a:gd name="T9" fmla="*/ 0 h 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6"/>
                  <a:gd name="T16" fmla="*/ 0 h 67"/>
                  <a:gd name="T17" fmla="*/ 56 w 56"/>
                  <a:gd name="T18" fmla="*/ 67 h 6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6" h="67">
                    <a:moveTo>
                      <a:pt x="0" y="0"/>
                    </a:moveTo>
                    <a:lnTo>
                      <a:pt x="8" y="25"/>
                    </a:lnTo>
                    <a:lnTo>
                      <a:pt x="39" y="67"/>
                    </a:lnTo>
                    <a:lnTo>
                      <a:pt x="56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90" name="Freeform 392">
                <a:extLst>
                  <a:ext uri="{FF2B5EF4-FFF2-40B4-BE49-F238E27FC236}">
                    <a16:creationId xmlns:a16="http://schemas.microsoft.com/office/drawing/2014/main" id="{B0744A38-45DD-43E3-A1B8-CBFE8D81FB7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596652" y="1655797"/>
                <a:ext cx="99360" cy="51918"/>
              </a:xfrm>
              <a:custGeom>
                <a:avLst/>
                <a:gdLst>
                  <a:gd name="T0" fmla="*/ 3 w 39"/>
                  <a:gd name="T1" fmla="*/ 0 h 30"/>
                  <a:gd name="T2" fmla="*/ 0 w 39"/>
                  <a:gd name="T3" fmla="*/ 24 h 30"/>
                  <a:gd name="T4" fmla="*/ 15 w 39"/>
                  <a:gd name="T5" fmla="*/ 30 h 30"/>
                  <a:gd name="T6" fmla="*/ 39 w 39"/>
                  <a:gd name="T7" fmla="*/ 9 h 30"/>
                  <a:gd name="T8" fmla="*/ 33 w 39"/>
                  <a:gd name="T9" fmla="*/ 0 h 30"/>
                  <a:gd name="T10" fmla="*/ 3 w 39"/>
                  <a:gd name="T11" fmla="*/ 0 h 3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9"/>
                  <a:gd name="T19" fmla="*/ 0 h 30"/>
                  <a:gd name="T20" fmla="*/ 39 w 39"/>
                  <a:gd name="T21" fmla="*/ 30 h 3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9" h="30">
                    <a:moveTo>
                      <a:pt x="3" y="0"/>
                    </a:moveTo>
                    <a:lnTo>
                      <a:pt x="0" y="24"/>
                    </a:lnTo>
                    <a:lnTo>
                      <a:pt x="15" y="30"/>
                    </a:lnTo>
                    <a:lnTo>
                      <a:pt x="39" y="9"/>
                    </a:lnTo>
                    <a:lnTo>
                      <a:pt x="33" y="0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91" name="Freeform 393">
                <a:extLst>
                  <a:ext uri="{FF2B5EF4-FFF2-40B4-BE49-F238E27FC236}">
                    <a16:creationId xmlns:a16="http://schemas.microsoft.com/office/drawing/2014/main" id="{E3DC4CF9-0479-4181-B9F8-7F772004C77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776319" y="1652336"/>
                <a:ext cx="308273" cy="140180"/>
              </a:xfrm>
              <a:custGeom>
                <a:avLst/>
                <a:gdLst>
                  <a:gd name="T0" fmla="*/ 111 w 121"/>
                  <a:gd name="T1" fmla="*/ 0 h 81"/>
                  <a:gd name="T2" fmla="*/ 121 w 121"/>
                  <a:gd name="T3" fmla="*/ 18 h 81"/>
                  <a:gd name="T4" fmla="*/ 102 w 121"/>
                  <a:gd name="T5" fmla="*/ 32 h 81"/>
                  <a:gd name="T6" fmla="*/ 121 w 121"/>
                  <a:gd name="T7" fmla="*/ 47 h 81"/>
                  <a:gd name="T8" fmla="*/ 109 w 121"/>
                  <a:gd name="T9" fmla="*/ 69 h 81"/>
                  <a:gd name="T10" fmla="*/ 82 w 121"/>
                  <a:gd name="T11" fmla="*/ 81 h 81"/>
                  <a:gd name="T12" fmla="*/ 76 w 121"/>
                  <a:gd name="T13" fmla="*/ 63 h 81"/>
                  <a:gd name="T14" fmla="*/ 70 w 121"/>
                  <a:gd name="T15" fmla="*/ 74 h 81"/>
                  <a:gd name="T16" fmla="*/ 57 w 121"/>
                  <a:gd name="T17" fmla="*/ 65 h 81"/>
                  <a:gd name="T18" fmla="*/ 40 w 121"/>
                  <a:gd name="T19" fmla="*/ 74 h 81"/>
                  <a:gd name="T20" fmla="*/ 0 w 121"/>
                  <a:gd name="T21" fmla="*/ 68 h 81"/>
                  <a:gd name="T22" fmla="*/ 0 w 121"/>
                  <a:gd name="T23" fmla="*/ 47 h 81"/>
                  <a:gd name="T24" fmla="*/ 27 w 121"/>
                  <a:gd name="T25" fmla="*/ 30 h 81"/>
                  <a:gd name="T26" fmla="*/ 9 w 121"/>
                  <a:gd name="T27" fmla="*/ 21 h 81"/>
                  <a:gd name="T28" fmla="*/ 10 w 121"/>
                  <a:gd name="T29" fmla="*/ 0 h 81"/>
                  <a:gd name="T30" fmla="*/ 111 w 121"/>
                  <a:gd name="T31" fmla="*/ 0 h 81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121"/>
                  <a:gd name="T49" fmla="*/ 0 h 81"/>
                  <a:gd name="T50" fmla="*/ 121 w 121"/>
                  <a:gd name="T51" fmla="*/ 81 h 81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121" h="81">
                    <a:moveTo>
                      <a:pt x="111" y="0"/>
                    </a:moveTo>
                    <a:lnTo>
                      <a:pt x="121" y="18"/>
                    </a:lnTo>
                    <a:lnTo>
                      <a:pt x="102" y="32"/>
                    </a:lnTo>
                    <a:lnTo>
                      <a:pt x="121" y="47"/>
                    </a:lnTo>
                    <a:lnTo>
                      <a:pt x="109" y="69"/>
                    </a:lnTo>
                    <a:lnTo>
                      <a:pt x="82" y="81"/>
                    </a:lnTo>
                    <a:lnTo>
                      <a:pt x="76" y="63"/>
                    </a:lnTo>
                    <a:lnTo>
                      <a:pt x="70" y="74"/>
                    </a:lnTo>
                    <a:lnTo>
                      <a:pt x="57" y="65"/>
                    </a:lnTo>
                    <a:lnTo>
                      <a:pt x="40" y="74"/>
                    </a:lnTo>
                    <a:lnTo>
                      <a:pt x="0" y="68"/>
                    </a:lnTo>
                    <a:lnTo>
                      <a:pt x="0" y="47"/>
                    </a:lnTo>
                    <a:lnTo>
                      <a:pt x="27" y="30"/>
                    </a:lnTo>
                    <a:lnTo>
                      <a:pt x="9" y="21"/>
                    </a:lnTo>
                    <a:lnTo>
                      <a:pt x="10" y="0"/>
                    </a:lnTo>
                    <a:lnTo>
                      <a:pt x="111" y="0"/>
                    </a:lnTo>
                    <a:close/>
                  </a:path>
                </a:pathLst>
              </a:custGeom>
              <a:grpFill/>
              <a:ln w="6350" cap="rnd" cmpd="sng">
                <a:solidFill>
                  <a:sysClr val="window" lastClr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761880">
                  <a:defRPr/>
                </a:pPr>
                <a:endParaRPr lang="en-US" sz="1333" kern="0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505" name="Oval 29">
              <a:extLst>
                <a:ext uri="{FF2B5EF4-FFF2-40B4-BE49-F238E27FC236}">
                  <a16:creationId xmlns:a16="http://schemas.microsoft.com/office/drawing/2014/main" id="{371343AD-74ED-430F-A4EA-2E0BB16A5BD8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 bwMode="auto">
            <a:xfrm>
              <a:off x="8508786" y="5462590"/>
              <a:ext cx="137160" cy="13716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 defTabSz="1462864">
                <a:defRPr/>
              </a:pPr>
              <a:endParaRPr 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06" name="Oval 31">
              <a:extLst>
                <a:ext uri="{FF2B5EF4-FFF2-40B4-BE49-F238E27FC236}">
                  <a16:creationId xmlns:a16="http://schemas.microsoft.com/office/drawing/2014/main" id="{62AEB7AD-DBD5-42F2-A6C2-D69CA920604E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 bwMode="auto">
            <a:xfrm>
              <a:off x="8588950" y="5727449"/>
              <a:ext cx="137160" cy="13716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 defTabSz="1462864">
                <a:defRPr/>
              </a:pPr>
              <a:endParaRPr 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07" name="Oval 32">
              <a:extLst>
                <a:ext uri="{FF2B5EF4-FFF2-40B4-BE49-F238E27FC236}">
                  <a16:creationId xmlns:a16="http://schemas.microsoft.com/office/drawing/2014/main" id="{E548E10E-6B9D-4732-8408-5BE886065163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 bwMode="auto">
            <a:xfrm>
              <a:off x="8415691" y="5933195"/>
              <a:ext cx="137160" cy="13716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 defTabSz="1462864">
                <a:defRPr/>
              </a:pPr>
              <a:endParaRPr 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08" name="Oval 33">
              <a:extLst>
                <a:ext uri="{FF2B5EF4-FFF2-40B4-BE49-F238E27FC236}">
                  <a16:creationId xmlns:a16="http://schemas.microsoft.com/office/drawing/2014/main" id="{3F7C6082-1095-405E-8CCF-27E2B17B9654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 bwMode="auto">
            <a:xfrm>
              <a:off x="8954516" y="6739071"/>
              <a:ext cx="137160" cy="13716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 defTabSz="1462864">
                <a:defRPr/>
              </a:pPr>
              <a:endParaRPr 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09" name="Oval 34">
              <a:extLst>
                <a:ext uri="{FF2B5EF4-FFF2-40B4-BE49-F238E27FC236}">
                  <a16:creationId xmlns:a16="http://schemas.microsoft.com/office/drawing/2014/main" id="{E0197051-C725-4CC2-91EC-F05C36E2980F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 bwMode="auto">
            <a:xfrm>
              <a:off x="10155714" y="5441154"/>
              <a:ext cx="137160" cy="13716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 defTabSz="1462864">
                <a:defRPr/>
              </a:pPr>
              <a:endParaRPr 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10" name="Oval 35">
              <a:extLst>
                <a:ext uri="{FF2B5EF4-FFF2-40B4-BE49-F238E27FC236}">
                  <a16:creationId xmlns:a16="http://schemas.microsoft.com/office/drawing/2014/main" id="{0154434D-3FCB-4A46-BC9C-96C9CDA496A9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10946633" y="5315958"/>
              <a:ext cx="137160" cy="13716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 defTabSz="1462864">
                <a:defRPr/>
              </a:pPr>
              <a:endParaRPr 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11" name="Oval 36">
              <a:extLst>
                <a:ext uri="{FF2B5EF4-FFF2-40B4-BE49-F238E27FC236}">
                  <a16:creationId xmlns:a16="http://schemas.microsoft.com/office/drawing/2014/main" id="{291AC21C-B195-443C-B72F-FD4AFECDC7A9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12606821" y="6801897"/>
              <a:ext cx="137160" cy="13716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 defTabSz="1462864">
                <a:defRPr/>
              </a:pPr>
              <a:endParaRPr 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12" name="Oval 37">
              <a:extLst>
                <a:ext uri="{FF2B5EF4-FFF2-40B4-BE49-F238E27FC236}">
                  <a16:creationId xmlns:a16="http://schemas.microsoft.com/office/drawing/2014/main" id="{9364E355-E74A-4795-8C8B-3B0F982A8657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 bwMode="auto">
            <a:xfrm>
              <a:off x="13142030" y="7021698"/>
              <a:ext cx="137160" cy="13716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 defTabSz="1462864">
                <a:defRPr/>
              </a:pPr>
              <a:endParaRPr 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13" name="Oval 35">
              <a:extLst>
                <a:ext uri="{FF2B5EF4-FFF2-40B4-BE49-F238E27FC236}">
                  <a16:creationId xmlns:a16="http://schemas.microsoft.com/office/drawing/2014/main" id="{89A18B7F-0320-45EE-ACEE-9BEB94D22C1A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 bwMode="auto">
            <a:xfrm>
              <a:off x="10607144" y="5864615"/>
              <a:ext cx="137160" cy="137160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 defTabSz="1462864">
                <a:defRPr/>
              </a:pPr>
              <a:endParaRPr 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14" name="Oval 35">
              <a:extLst>
                <a:ext uri="{FF2B5EF4-FFF2-40B4-BE49-F238E27FC236}">
                  <a16:creationId xmlns:a16="http://schemas.microsoft.com/office/drawing/2014/main" id="{CE81B58E-E5F8-4DF6-A3F2-746C7DBF7A80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 bwMode="auto">
            <a:xfrm>
              <a:off x="11516526" y="5986904"/>
              <a:ext cx="137160" cy="137160"/>
            </a:xfrm>
            <a:prstGeom prst="ellipse">
              <a:avLst/>
            </a:prstGeom>
            <a:solidFill>
              <a:schemeClr val="accent6"/>
            </a:solidFill>
            <a:ln w="95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 defTabSz="1462864">
                <a:defRPr/>
              </a:pPr>
              <a:endParaRPr 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15" name="Oval 35">
              <a:extLst>
                <a:ext uri="{FF2B5EF4-FFF2-40B4-BE49-F238E27FC236}">
                  <a16:creationId xmlns:a16="http://schemas.microsoft.com/office/drawing/2014/main" id="{E4F99016-601D-471D-AF89-EAE046505049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 bwMode="auto">
            <a:xfrm>
              <a:off x="11901069" y="6313721"/>
              <a:ext cx="137160" cy="137160"/>
            </a:xfrm>
            <a:prstGeom prst="ellipse">
              <a:avLst/>
            </a:prstGeom>
            <a:solidFill>
              <a:schemeClr val="accent6"/>
            </a:solidFill>
            <a:ln w="95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 defTabSz="1462864">
                <a:defRPr/>
              </a:pPr>
              <a:endParaRPr 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16" name="Oval 35">
              <a:extLst>
                <a:ext uri="{FF2B5EF4-FFF2-40B4-BE49-F238E27FC236}">
                  <a16:creationId xmlns:a16="http://schemas.microsoft.com/office/drawing/2014/main" id="{923E331C-399A-474A-955A-8E15B2888BD7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 bwMode="auto">
            <a:xfrm>
              <a:off x="10546027" y="5342628"/>
              <a:ext cx="137160" cy="137160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 defTabSz="1462864">
                <a:defRPr/>
              </a:pPr>
              <a:endParaRPr 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17" name="Oval 35">
              <a:extLst>
                <a:ext uri="{FF2B5EF4-FFF2-40B4-BE49-F238E27FC236}">
                  <a16:creationId xmlns:a16="http://schemas.microsoft.com/office/drawing/2014/main" id="{03E18787-FB18-477B-9298-53ED0E00B80E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 bwMode="auto">
            <a:xfrm>
              <a:off x="10572697" y="5441154"/>
              <a:ext cx="137160" cy="137160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 defTabSz="1462864">
                <a:defRPr/>
              </a:pPr>
              <a:endParaRPr 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18" name="Oval 35">
              <a:extLst>
                <a:ext uri="{FF2B5EF4-FFF2-40B4-BE49-F238E27FC236}">
                  <a16:creationId xmlns:a16="http://schemas.microsoft.com/office/drawing/2014/main" id="{A7AA5C13-5841-4B66-A443-917FEF64AD87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 bwMode="auto">
            <a:xfrm>
              <a:off x="10518478" y="5540094"/>
              <a:ext cx="137160" cy="137160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 defTabSz="1462864">
                <a:defRPr/>
              </a:pPr>
              <a:endParaRPr 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19" name="Oval 35">
              <a:extLst>
                <a:ext uri="{FF2B5EF4-FFF2-40B4-BE49-F238E27FC236}">
                  <a16:creationId xmlns:a16="http://schemas.microsoft.com/office/drawing/2014/main" id="{A52EDE62-30DB-442C-BF26-48E4E833128B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 bwMode="auto">
            <a:xfrm>
              <a:off x="10003521" y="5438159"/>
              <a:ext cx="137160" cy="137160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 defTabSz="1462864">
                <a:defRPr/>
              </a:pPr>
              <a:endParaRPr 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27" name="Oval 35">
              <a:extLst>
                <a:ext uri="{FF2B5EF4-FFF2-40B4-BE49-F238E27FC236}">
                  <a16:creationId xmlns:a16="http://schemas.microsoft.com/office/drawing/2014/main" id="{F38104A8-A1DE-4EB7-90B8-5DD501895FE1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 bwMode="auto">
            <a:xfrm>
              <a:off x="10174723" y="5827740"/>
              <a:ext cx="137160" cy="137160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 defTabSz="1462864">
                <a:defRPr/>
              </a:pPr>
              <a:endParaRPr 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36" name="Oval 35">
              <a:extLst>
                <a:ext uri="{FF2B5EF4-FFF2-40B4-BE49-F238E27FC236}">
                  <a16:creationId xmlns:a16="http://schemas.microsoft.com/office/drawing/2014/main" id="{49D2BB06-0AF3-4F4E-9DA0-CEFCB6047A9D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 bwMode="auto">
            <a:xfrm>
              <a:off x="9989574" y="5884196"/>
              <a:ext cx="137160" cy="137160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 defTabSz="1462864">
                <a:defRPr/>
              </a:pPr>
              <a:endParaRPr 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37" name="Oval 35">
              <a:extLst>
                <a:ext uri="{FF2B5EF4-FFF2-40B4-BE49-F238E27FC236}">
                  <a16:creationId xmlns:a16="http://schemas.microsoft.com/office/drawing/2014/main" id="{FCDB3AF0-1C62-4521-A996-5EC55E90CEC7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 bwMode="auto">
            <a:xfrm>
              <a:off x="8718987" y="6031905"/>
              <a:ext cx="137160" cy="137160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 defTabSz="1462864">
                <a:defRPr/>
              </a:pPr>
              <a:endParaRPr 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38" name="Oval 35">
              <a:extLst>
                <a:ext uri="{FF2B5EF4-FFF2-40B4-BE49-F238E27FC236}">
                  <a16:creationId xmlns:a16="http://schemas.microsoft.com/office/drawing/2014/main" id="{B8D87CD5-0104-44D3-A96D-C4C7C4250239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 bwMode="auto">
            <a:xfrm>
              <a:off x="9397827" y="6522914"/>
              <a:ext cx="137160" cy="137160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 defTabSz="1462864">
                <a:defRPr/>
              </a:pPr>
              <a:endParaRPr 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39" name="Oval 35">
              <a:extLst>
                <a:ext uri="{FF2B5EF4-FFF2-40B4-BE49-F238E27FC236}">
                  <a16:creationId xmlns:a16="http://schemas.microsoft.com/office/drawing/2014/main" id="{ECF25924-17FA-4753-A054-0BB8274AB9FA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 bwMode="auto">
            <a:xfrm>
              <a:off x="9051888" y="6955769"/>
              <a:ext cx="137160" cy="137160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 defTabSz="1462864">
                <a:defRPr/>
              </a:pPr>
              <a:endParaRPr lang="en-US" sz="18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40" name="Oval 35">
              <a:extLst>
                <a:ext uri="{FF2B5EF4-FFF2-40B4-BE49-F238E27FC236}">
                  <a16:creationId xmlns:a16="http://schemas.microsoft.com/office/drawing/2014/main" id="{A3FDF42B-4CCE-4AB5-B847-80EA2027F7D3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 bwMode="auto">
            <a:xfrm>
              <a:off x="10607144" y="5608674"/>
              <a:ext cx="137160" cy="137160"/>
            </a:xfrm>
            <a:prstGeom prst="ellipse">
              <a:avLst/>
            </a:prstGeom>
            <a:solidFill>
              <a:schemeClr val="accent6"/>
            </a:solidFill>
            <a:ln w="95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 defTabSz="1462864">
                <a:defRPr/>
              </a:pPr>
              <a:endParaRPr lang="en-US" sz="180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292" name="Group 1291">
            <a:extLst>
              <a:ext uri="{FF2B5EF4-FFF2-40B4-BE49-F238E27FC236}">
                <a16:creationId xmlns:a16="http://schemas.microsoft.com/office/drawing/2014/main" id="{A4B7C598-500F-430E-9226-30485253B2CB}"/>
              </a:ext>
            </a:extLst>
          </p:cNvPr>
          <p:cNvGrpSpPr/>
          <p:nvPr/>
        </p:nvGrpSpPr>
        <p:grpSpPr>
          <a:xfrm>
            <a:off x="7144227" y="6921078"/>
            <a:ext cx="1665851" cy="620767"/>
            <a:chOff x="13949287" y="3070345"/>
            <a:chExt cx="2073134" cy="772538"/>
          </a:xfrm>
        </p:grpSpPr>
        <p:sp>
          <p:nvSpPr>
            <p:cNvPr id="1293" name="Rectangle 1292">
              <a:extLst>
                <a:ext uri="{FF2B5EF4-FFF2-40B4-BE49-F238E27FC236}">
                  <a16:creationId xmlns:a16="http://schemas.microsoft.com/office/drawing/2014/main" id="{0D9D96EE-7562-4A5A-B1C1-D2301F2F6524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 bwMode="auto">
            <a:xfrm>
              <a:off x="14206270" y="3143519"/>
              <a:ext cx="1816149" cy="187479"/>
            </a:xfrm>
            <a:prstGeom prst="rect">
              <a:avLst/>
            </a:prstGeom>
            <a:noFill/>
            <a:ln w="95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60960" anchor="ctr"/>
            <a:lstStyle/>
            <a:p>
              <a:pPr defTabSz="1462864">
                <a:defRPr/>
              </a:pPr>
              <a:r>
                <a:rPr lang="en-US" sz="1000">
                  <a:solidFill>
                    <a:srgbClr val="000000"/>
                  </a:solidFill>
                  <a:latin typeface="Arial"/>
                </a:rPr>
                <a:t>Global Delivery Hubs </a:t>
              </a:r>
            </a:p>
          </p:txBody>
        </p:sp>
        <p:sp>
          <p:nvSpPr>
            <p:cNvPr id="1294" name="Rectangle 1293">
              <a:extLst>
                <a:ext uri="{FF2B5EF4-FFF2-40B4-BE49-F238E27FC236}">
                  <a16:creationId xmlns:a16="http://schemas.microsoft.com/office/drawing/2014/main" id="{0516A675-9F37-4E49-AEC4-2702B71DBB20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 bwMode="auto">
            <a:xfrm>
              <a:off x="14206271" y="3349037"/>
              <a:ext cx="1816150" cy="187478"/>
            </a:xfrm>
            <a:prstGeom prst="rect">
              <a:avLst/>
            </a:prstGeom>
            <a:noFill/>
            <a:ln w="95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60960" anchor="ctr"/>
            <a:lstStyle/>
            <a:p>
              <a:pPr defTabSz="1462864">
                <a:defRPr/>
              </a:pPr>
              <a:r>
                <a:rPr lang="en-US" sz="1000">
                  <a:solidFill>
                    <a:srgbClr val="000000"/>
                  </a:solidFill>
                  <a:latin typeface="Arial"/>
                </a:rPr>
                <a:t>Regional Centers </a:t>
              </a:r>
            </a:p>
          </p:txBody>
        </p:sp>
        <p:sp>
          <p:nvSpPr>
            <p:cNvPr id="1295" name="Rectangle 1294">
              <a:extLst>
                <a:ext uri="{FF2B5EF4-FFF2-40B4-BE49-F238E27FC236}">
                  <a16:creationId xmlns:a16="http://schemas.microsoft.com/office/drawing/2014/main" id="{B907750D-001E-46E0-99B5-695CA26BF190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 bwMode="auto">
            <a:xfrm>
              <a:off x="14206271" y="3554554"/>
              <a:ext cx="1816150" cy="187478"/>
            </a:xfrm>
            <a:prstGeom prst="rect">
              <a:avLst/>
            </a:prstGeom>
            <a:noFill/>
            <a:ln w="95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60960" anchor="ctr"/>
            <a:lstStyle/>
            <a:p>
              <a:pPr defTabSz="1462864">
                <a:defRPr/>
              </a:pPr>
              <a:r>
                <a:rPr lang="en-US" sz="1000">
                  <a:solidFill>
                    <a:srgbClr val="000000"/>
                  </a:solidFill>
                  <a:latin typeface="Arial"/>
                </a:rPr>
                <a:t>Leveraged Centers </a:t>
              </a:r>
            </a:p>
          </p:txBody>
        </p:sp>
        <p:grpSp>
          <p:nvGrpSpPr>
            <p:cNvPr id="1296" name="Group 1295">
              <a:extLst>
                <a:ext uri="{FF2B5EF4-FFF2-40B4-BE49-F238E27FC236}">
                  <a16:creationId xmlns:a16="http://schemas.microsoft.com/office/drawing/2014/main" id="{ED3C530D-C00A-4468-8D58-E205164B3E80}"/>
                </a:ext>
              </a:extLst>
            </p:cNvPr>
            <p:cNvGrpSpPr/>
            <p:nvPr/>
          </p:nvGrpSpPr>
          <p:grpSpPr>
            <a:xfrm>
              <a:off x="13949287" y="3070345"/>
              <a:ext cx="1869427" cy="772538"/>
              <a:chOff x="13949287" y="3070345"/>
              <a:chExt cx="1869427" cy="772538"/>
            </a:xfrm>
          </p:grpSpPr>
          <p:sp>
            <p:nvSpPr>
              <p:cNvPr id="1297" name="Oval 35">
                <a:extLst>
                  <a:ext uri="{FF2B5EF4-FFF2-40B4-BE49-F238E27FC236}">
                    <a16:creationId xmlns:a16="http://schemas.microsoft.com/office/drawing/2014/main" id="{04332F3B-B0AC-425D-97DC-9F27E21B5AB4}"/>
                  </a:ext>
                </a:extLst>
              </p:cNvPr>
              <p:cNvSpPr/>
              <p:nvPr>
                <p:custDataLst>
                  <p:tags r:id="rId5"/>
                </p:custDataLst>
              </p:nvPr>
            </p:nvSpPr>
            <p:spPr bwMode="auto">
              <a:xfrm>
                <a:off x="14018735" y="3176254"/>
                <a:ext cx="137160" cy="137160"/>
              </a:xfrm>
              <a:prstGeom prst="ellipse">
                <a:avLst/>
              </a:prstGeom>
              <a:solidFill>
                <a:schemeClr val="accent6"/>
              </a:solidFill>
              <a:ln w="9525">
                <a:solidFill>
                  <a:schemeClr val="bg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pPr algn="ctr" defTabSz="1462864">
                  <a:defRPr/>
                </a:pPr>
                <a:endParaRPr lang="en-US" sz="1000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298" name="Oval 35">
                <a:extLst>
                  <a:ext uri="{FF2B5EF4-FFF2-40B4-BE49-F238E27FC236}">
                    <a16:creationId xmlns:a16="http://schemas.microsoft.com/office/drawing/2014/main" id="{75AEB7E5-DE46-4E6D-BBD7-5690FD9E0D0A}"/>
                  </a:ext>
                </a:extLst>
              </p:cNvPr>
              <p:cNvSpPr/>
              <p:nvPr>
                <p:custDataLst>
                  <p:tags r:id="rId6"/>
                </p:custDataLst>
              </p:nvPr>
            </p:nvSpPr>
            <p:spPr bwMode="auto">
              <a:xfrm>
                <a:off x="14018735" y="3365487"/>
                <a:ext cx="137160" cy="137160"/>
              </a:xfrm>
              <a:prstGeom prst="ellipse">
                <a:avLst/>
              </a:prstGeom>
              <a:solidFill>
                <a:schemeClr val="accent5"/>
              </a:solidFill>
              <a:ln w="9525">
                <a:solidFill>
                  <a:schemeClr val="bg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pPr algn="ctr" defTabSz="1462864">
                  <a:defRPr/>
                </a:pPr>
                <a:endParaRPr lang="en-US" sz="1000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299" name="Oval 35">
                <a:extLst>
                  <a:ext uri="{FF2B5EF4-FFF2-40B4-BE49-F238E27FC236}">
                    <a16:creationId xmlns:a16="http://schemas.microsoft.com/office/drawing/2014/main" id="{A70C3DC2-D9DE-480A-9746-46D695D2FD2C}"/>
                  </a:ext>
                </a:extLst>
              </p:cNvPr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14018735" y="3572261"/>
                <a:ext cx="137160" cy="137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pPr algn="ctr" defTabSz="1462864">
                  <a:defRPr/>
                </a:pPr>
                <a:endParaRPr lang="en-US" sz="1000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300" name="Rectangle 1299">
                <a:extLst>
                  <a:ext uri="{FF2B5EF4-FFF2-40B4-BE49-F238E27FC236}">
                    <a16:creationId xmlns:a16="http://schemas.microsoft.com/office/drawing/2014/main" id="{3ACE2380-90F6-44EC-AA2A-233B471BEDFA}"/>
                  </a:ext>
                </a:extLst>
              </p:cNvPr>
              <p:cNvSpPr/>
              <p:nvPr/>
            </p:nvSpPr>
            <p:spPr>
              <a:xfrm>
                <a:off x="13949287" y="3070345"/>
                <a:ext cx="1869427" cy="772538"/>
              </a:xfrm>
              <a:prstGeom prst="rect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0">
                <a:schemeClr val="accent1"/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462864">
                  <a:defRPr/>
                </a:pPr>
                <a:endParaRPr lang="en-US" sz="1000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</p:grpSp>
      <p:sp>
        <p:nvSpPr>
          <p:cNvPr id="1301" name="Rectangle 1300">
            <a:extLst>
              <a:ext uri="{FF2B5EF4-FFF2-40B4-BE49-F238E27FC236}">
                <a16:creationId xmlns:a16="http://schemas.microsoft.com/office/drawing/2014/main" id="{6A9FFDD4-AABC-4283-AD4E-94C50B61DD44}"/>
              </a:ext>
            </a:extLst>
          </p:cNvPr>
          <p:cNvSpPr/>
          <p:nvPr/>
        </p:nvSpPr>
        <p:spPr>
          <a:xfrm>
            <a:off x="561111" y="2130807"/>
            <a:ext cx="4114798" cy="436798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462864">
              <a:defRPr/>
            </a:pPr>
            <a:r>
              <a:rPr lang="en-US" sz="1600" b="1">
                <a:solidFill>
                  <a:srgbClr val="000000"/>
                </a:solidFill>
                <a:latin typeface="Arial"/>
              </a:rPr>
              <a:t>Fast facts</a:t>
            </a:r>
          </a:p>
        </p:txBody>
      </p:sp>
      <p:sp>
        <p:nvSpPr>
          <p:cNvPr id="1302" name="Rectangle 1301">
            <a:extLst>
              <a:ext uri="{FF2B5EF4-FFF2-40B4-BE49-F238E27FC236}">
                <a16:creationId xmlns:a16="http://schemas.microsoft.com/office/drawing/2014/main" id="{B5E69B90-A8B7-4CF6-8DE2-448D03A62DD0}"/>
              </a:ext>
            </a:extLst>
          </p:cNvPr>
          <p:cNvSpPr/>
          <p:nvPr/>
        </p:nvSpPr>
        <p:spPr>
          <a:xfrm>
            <a:off x="1249123" y="2823048"/>
            <a:ext cx="1026954" cy="738664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t">
            <a:spAutoFit/>
          </a:bodyPr>
          <a:lstStyle/>
          <a:p>
            <a:pPr defTabSz="1462864">
              <a:tabLst>
                <a:tab pos="171418" algn="l"/>
              </a:tabLst>
              <a:defRPr/>
            </a:pPr>
            <a:r>
              <a:rPr lang="en-US" sz="1400">
                <a:solidFill>
                  <a:srgbClr val="000000"/>
                </a:solidFill>
                <a:latin typeface="Arial"/>
              </a:rPr>
              <a:t>1,000+ Integration skills</a:t>
            </a:r>
          </a:p>
        </p:txBody>
      </p:sp>
      <p:sp>
        <p:nvSpPr>
          <p:cNvPr id="1303" name="Rectangle 1302">
            <a:extLst>
              <a:ext uri="{FF2B5EF4-FFF2-40B4-BE49-F238E27FC236}">
                <a16:creationId xmlns:a16="http://schemas.microsoft.com/office/drawing/2014/main" id="{B3DB7B01-6726-42C7-A673-3C10D9D17720}"/>
              </a:ext>
            </a:extLst>
          </p:cNvPr>
          <p:cNvSpPr/>
          <p:nvPr/>
        </p:nvSpPr>
        <p:spPr>
          <a:xfrm>
            <a:off x="3051433" y="2823048"/>
            <a:ext cx="1819049" cy="1169551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t">
            <a:spAutoFit/>
          </a:bodyPr>
          <a:lstStyle/>
          <a:p>
            <a:pPr defTabSz="1462864">
              <a:tabLst>
                <a:tab pos="171418" algn="l"/>
              </a:tabLst>
              <a:defRPr/>
            </a:pPr>
            <a:r>
              <a:rPr lang="en-US" sz="1400">
                <a:solidFill>
                  <a:srgbClr val="000000"/>
                </a:solidFill>
                <a:latin typeface="Arial"/>
              </a:rPr>
              <a:t>200+ B2B integration specialists working in emerging and traditional </a:t>
            </a:r>
          </a:p>
          <a:p>
            <a:pPr defTabSz="1462864">
              <a:tabLst>
                <a:tab pos="171418" algn="l"/>
              </a:tabLst>
              <a:defRPr/>
            </a:pPr>
            <a:r>
              <a:rPr lang="en-US" sz="1400">
                <a:solidFill>
                  <a:srgbClr val="000000"/>
                </a:solidFill>
                <a:latin typeface="Arial"/>
              </a:rPr>
              <a:t>technologies</a:t>
            </a:r>
          </a:p>
        </p:txBody>
      </p:sp>
      <p:sp>
        <p:nvSpPr>
          <p:cNvPr id="1304" name="Rectangle 1303">
            <a:extLst>
              <a:ext uri="{FF2B5EF4-FFF2-40B4-BE49-F238E27FC236}">
                <a16:creationId xmlns:a16="http://schemas.microsoft.com/office/drawing/2014/main" id="{9F188858-E808-4094-A269-01D19FC2BE47}"/>
              </a:ext>
            </a:extLst>
          </p:cNvPr>
          <p:cNvSpPr/>
          <p:nvPr/>
        </p:nvSpPr>
        <p:spPr>
          <a:xfrm>
            <a:off x="1249121" y="4172662"/>
            <a:ext cx="1298098" cy="52322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t">
            <a:spAutoFit/>
          </a:bodyPr>
          <a:lstStyle/>
          <a:p>
            <a:pPr defTabSz="1462864">
              <a:defRPr/>
            </a:pPr>
            <a:r>
              <a:rPr lang="en-US" sz="1400">
                <a:solidFill>
                  <a:srgbClr val="000000"/>
                </a:solidFill>
                <a:latin typeface="Arial"/>
              </a:rPr>
              <a:t>1,750 customers</a:t>
            </a:r>
          </a:p>
        </p:txBody>
      </p:sp>
      <p:sp>
        <p:nvSpPr>
          <p:cNvPr id="1305" name="Rectangle 1304">
            <a:extLst>
              <a:ext uri="{FF2B5EF4-FFF2-40B4-BE49-F238E27FC236}">
                <a16:creationId xmlns:a16="http://schemas.microsoft.com/office/drawing/2014/main" id="{3F53942B-B8CD-4B39-8704-DF9F887D242B}"/>
              </a:ext>
            </a:extLst>
          </p:cNvPr>
          <p:cNvSpPr/>
          <p:nvPr/>
        </p:nvSpPr>
        <p:spPr>
          <a:xfrm>
            <a:off x="3051432" y="4172662"/>
            <a:ext cx="1359430" cy="954107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t">
            <a:spAutoFit/>
          </a:bodyPr>
          <a:lstStyle/>
          <a:p>
            <a:pPr defTabSz="1462864">
              <a:tabLst>
                <a:tab pos="171418" algn="l"/>
              </a:tabLst>
              <a:defRPr/>
            </a:pPr>
            <a:r>
              <a:rPr lang="en-US" sz="1400">
                <a:solidFill>
                  <a:srgbClr val="000000"/>
                </a:solidFill>
                <a:latin typeface="Arial"/>
              </a:rPr>
              <a:t>Global Reach - Deep technical &amp; client facing skills </a:t>
            </a:r>
          </a:p>
        </p:txBody>
      </p:sp>
      <p:sp>
        <p:nvSpPr>
          <p:cNvPr id="1306" name="Rectangle 1305">
            <a:extLst>
              <a:ext uri="{FF2B5EF4-FFF2-40B4-BE49-F238E27FC236}">
                <a16:creationId xmlns:a16="http://schemas.microsoft.com/office/drawing/2014/main" id="{27DDBA61-8B93-4F34-A232-2412584D4FDE}"/>
              </a:ext>
            </a:extLst>
          </p:cNvPr>
          <p:cNvSpPr/>
          <p:nvPr/>
        </p:nvSpPr>
        <p:spPr>
          <a:xfrm>
            <a:off x="1201283" y="5358236"/>
            <a:ext cx="1341545" cy="738664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t">
            <a:spAutoFit/>
          </a:bodyPr>
          <a:lstStyle/>
          <a:p>
            <a:pPr defTabSz="1462864">
              <a:defRPr/>
            </a:pPr>
            <a:r>
              <a:rPr lang="en-US" sz="1400">
                <a:solidFill>
                  <a:srgbClr val="000000"/>
                </a:solidFill>
                <a:latin typeface="Arial"/>
              </a:rPr>
              <a:t>Connecting 160,000+ enterprises</a:t>
            </a:r>
          </a:p>
        </p:txBody>
      </p:sp>
      <p:sp>
        <p:nvSpPr>
          <p:cNvPr id="1307" name="Rectangle 1306">
            <a:extLst>
              <a:ext uri="{FF2B5EF4-FFF2-40B4-BE49-F238E27FC236}">
                <a16:creationId xmlns:a16="http://schemas.microsoft.com/office/drawing/2014/main" id="{A0C95311-1F6B-4B6C-B02F-CD3FDFCA7469}"/>
              </a:ext>
            </a:extLst>
          </p:cNvPr>
          <p:cNvSpPr/>
          <p:nvPr/>
        </p:nvSpPr>
        <p:spPr>
          <a:xfrm>
            <a:off x="3051434" y="5358236"/>
            <a:ext cx="1269079" cy="738664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t">
            <a:spAutoFit/>
          </a:bodyPr>
          <a:lstStyle/>
          <a:p>
            <a:pPr defTabSz="1462864">
              <a:tabLst>
                <a:tab pos="171418" algn="l"/>
              </a:tabLst>
              <a:defRPr/>
            </a:pPr>
            <a:r>
              <a:rPr lang="en-US" sz="1400">
                <a:solidFill>
                  <a:srgbClr val="000000"/>
                </a:solidFill>
                <a:latin typeface="Arial"/>
              </a:rPr>
              <a:t>Processing billions of transactions </a:t>
            </a:r>
          </a:p>
        </p:txBody>
      </p:sp>
      <p:sp>
        <p:nvSpPr>
          <p:cNvPr id="1308" name="Freeform: Shape 1307">
            <a:extLst>
              <a:ext uri="{FF2B5EF4-FFF2-40B4-BE49-F238E27FC236}">
                <a16:creationId xmlns:a16="http://schemas.microsoft.com/office/drawing/2014/main" id="{DB5E1A85-6417-4D05-9644-EF8E2B3A7A6E}"/>
              </a:ext>
            </a:extLst>
          </p:cNvPr>
          <p:cNvSpPr/>
          <p:nvPr/>
        </p:nvSpPr>
        <p:spPr>
          <a:xfrm>
            <a:off x="630954" y="4057629"/>
            <a:ext cx="4044461" cy="0"/>
          </a:xfrm>
          <a:custGeom>
            <a:avLst/>
            <a:gdLst>
              <a:gd name="connsiteX0" fmla="*/ 0 w 4044461"/>
              <a:gd name="connsiteY0" fmla="*/ 0 h 0"/>
              <a:gd name="connsiteX1" fmla="*/ 4044461 w 404446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044461">
                <a:moveTo>
                  <a:pt x="0" y="0"/>
                </a:moveTo>
                <a:lnTo>
                  <a:pt x="4044461" y="0"/>
                </a:lnTo>
              </a:path>
            </a:pathLst>
          </a:custGeom>
          <a:noFill/>
          <a:ln>
            <a:solidFill>
              <a:schemeClr val="accent3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462864">
              <a:defRPr/>
            </a:pPr>
            <a:endParaRPr lang="en-US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9" name="Freeform: Shape 1308">
            <a:extLst>
              <a:ext uri="{FF2B5EF4-FFF2-40B4-BE49-F238E27FC236}">
                <a16:creationId xmlns:a16="http://schemas.microsoft.com/office/drawing/2014/main" id="{16099A6C-F7C6-4FC6-97C1-AF807BA72480}"/>
              </a:ext>
            </a:extLst>
          </p:cNvPr>
          <p:cNvSpPr/>
          <p:nvPr/>
        </p:nvSpPr>
        <p:spPr>
          <a:xfrm>
            <a:off x="595169" y="5219241"/>
            <a:ext cx="4044461" cy="0"/>
          </a:xfrm>
          <a:custGeom>
            <a:avLst/>
            <a:gdLst>
              <a:gd name="connsiteX0" fmla="*/ 0 w 4044461"/>
              <a:gd name="connsiteY0" fmla="*/ 0 h 0"/>
              <a:gd name="connsiteX1" fmla="*/ 4044461 w 404446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044461">
                <a:moveTo>
                  <a:pt x="0" y="0"/>
                </a:moveTo>
                <a:lnTo>
                  <a:pt x="4044461" y="0"/>
                </a:lnTo>
              </a:path>
            </a:pathLst>
          </a:custGeom>
          <a:noFill/>
          <a:ln>
            <a:solidFill>
              <a:schemeClr val="accent3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462864">
              <a:defRPr/>
            </a:pPr>
            <a:endParaRPr lang="en-US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0" name="Freeform 137">
            <a:extLst>
              <a:ext uri="{FF2B5EF4-FFF2-40B4-BE49-F238E27FC236}">
                <a16:creationId xmlns:a16="http://schemas.microsoft.com/office/drawing/2014/main" id="{65CA68BE-2D88-42E2-BB01-3AD07D173BC5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3546681" y="4584469"/>
            <a:ext cx="468766" cy="448850"/>
          </a:xfrm>
          <a:custGeom>
            <a:avLst/>
            <a:gdLst>
              <a:gd name="T0" fmla="*/ 285 w 427"/>
              <a:gd name="T1" fmla="*/ 284 h 426"/>
              <a:gd name="T2" fmla="*/ 285 w 427"/>
              <a:gd name="T3" fmla="*/ 426 h 426"/>
              <a:gd name="T4" fmla="*/ 0 w 427"/>
              <a:gd name="T5" fmla="*/ 426 h 426"/>
              <a:gd name="T6" fmla="*/ 0 w 427"/>
              <a:gd name="T7" fmla="*/ 142 h 426"/>
              <a:gd name="T8" fmla="*/ 142 w 427"/>
              <a:gd name="T9" fmla="*/ 142 h 426"/>
              <a:gd name="T10" fmla="*/ 142 w 427"/>
              <a:gd name="T11" fmla="*/ 213 h 426"/>
              <a:gd name="T12" fmla="*/ 213 w 427"/>
              <a:gd name="T13" fmla="*/ 213 h 426"/>
              <a:gd name="T14" fmla="*/ 213 w 427"/>
              <a:gd name="T15" fmla="*/ 284 h 426"/>
              <a:gd name="T16" fmla="*/ 285 w 427"/>
              <a:gd name="T17" fmla="*/ 284 h 426"/>
              <a:gd name="T18" fmla="*/ 285 w 427"/>
              <a:gd name="T19" fmla="*/ 0 h 426"/>
              <a:gd name="T20" fmla="*/ 213 w 427"/>
              <a:gd name="T21" fmla="*/ 0 h 426"/>
              <a:gd name="T22" fmla="*/ 213 w 427"/>
              <a:gd name="T23" fmla="*/ 71 h 426"/>
              <a:gd name="T24" fmla="*/ 285 w 427"/>
              <a:gd name="T25" fmla="*/ 71 h 426"/>
              <a:gd name="T26" fmla="*/ 285 w 427"/>
              <a:gd name="T27" fmla="*/ 0 h 426"/>
              <a:gd name="T28" fmla="*/ 285 w 427"/>
              <a:gd name="T29" fmla="*/ 142 h 426"/>
              <a:gd name="T30" fmla="*/ 213 w 427"/>
              <a:gd name="T31" fmla="*/ 142 h 426"/>
              <a:gd name="T32" fmla="*/ 213 w 427"/>
              <a:gd name="T33" fmla="*/ 213 h 426"/>
              <a:gd name="T34" fmla="*/ 285 w 427"/>
              <a:gd name="T35" fmla="*/ 213 h 426"/>
              <a:gd name="T36" fmla="*/ 285 w 427"/>
              <a:gd name="T37" fmla="*/ 142 h 426"/>
              <a:gd name="T38" fmla="*/ 356 w 427"/>
              <a:gd name="T39" fmla="*/ 213 h 426"/>
              <a:gd name="T40" fmla="*/ 285 w 427"/>
              <a:gd name="T41" fmla="*/ 213 h 426"/>
              <a:gd name="T42" fmla="*/ 285 w 427"/>
              <a:gd name="T43" fmla="*/ 284 h 426"/>
              <a:gd name="T44" fmla="*/ 356 w 427"/>
              <a:gd name="T45" fmla="*/ 284 h 426"/>
              <a:gd name="T46" fmla="*/ 356 w 427"/>
              <a:gd name="T47" fmla="*/ 213 h 426"/>
              <a:gd name="T48" fmla="*/ 427 w 427"/>
              <a:gd name="T49" fmla="*/ 71 h 426"/>
              <a:gd name="T50" fmla="*/ 356 w 427"/>
              <a:gd name="T51" fmla="*/ 71 h 426"/>
              <a:gd name="T52" fmla="*/ 356 w 427"/>
              <a:gd name="T53" fmla="*/ 142 h 426"/>
              <a:gd name="T54" fmla="*/ 427 w 427"/>
              <a:gd name="T55" fmla="*/ 142 h 426"/>
              <a:gd name="T56" fmla="*/ 427 w 427"/>
              <a:gd name="T57" fmla="*/ 71 h 4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427" h="426">
                <a:moveTo>
                  <a:pt x="285" y="284"/>
                </a:moveTo>
                <a:lnTo>
                  <a:pt x="285" y="426"/>
                </a:lnTo>
                <a:lnTo>
                  <a:pt x="0" y="426"/>
                </a:lnTo>
                <a:lnTo>
                  <a:pt x="0" y="142"/>
                </a:lnTo>
                <a:lnTo>
                  <a:pt x="142" y="142"/>
                </a:lnTo>
                <a:lnTo>
                  <a:pt x="142" y="213"/>
                </a:lnTo>
                <a:lnTo>
                  <a:pt x="213" y="213"/>
                </a:lnTo>
                <a:lnTo>
                  <a:pt x="213" y="284"/>
                </a:lnTo>
                <a:lnTo>
                  <a:pt x="285" y="284"/>
                </a:lnTo>
                <a:close/>
                <a:moveTo>
                  <a:pt x="285" y="0"/>
                </a:moveTo>
                <a:lnTo>
                  <a:pt x="213" y="0"/>
                </a:lnTo>
                <a:lnTo>
                  <a:pt x="213" y="71"/>
                </a:lnTo>
                <a:lnTo>
                  <a:pt x="285" y="71"/>
                </a:lnTo>
                <a:lnTo>
                  <a:pt x="285" y="0"/>
                </a:lnTo>
                <a:close/>
                <a:moveTo>
                  <a:pt x="285" y="142"/>
                </a:moveTo>
                <a:lnTo>
                  <a:pt x="213" y="142"/>
                </a:lnTo>
                <a:lnTo>
                  <a:pt x="213" y="213"/>
                </a:lnTo>
                <a:lnTo>
                  <a:pt x="285" y="213"/>
                </a:lnTo>
                <a:lnTo>
                  <a:pt x="285" y="142"/>
                </a:lnTo>
                <a:close/>
                <a:moveTo>
                  <a:pt x="356" y="213"/>
                </a:moveTo>
                <a:lnTo>
                  <a:pt x="285" y="213"/>
                </a:lnTo>
                <a:lnTo>
                  <a:pt x="285" y="284"/>
                </a:lnTo>
                <a:lnTo>
                  <a:pt x="356" y="284"/>
                </a:lnTo>
                <a:lnTo>
                  <a:pt x="356" y="213"/>
                </a:lnTo>
                <a:close/>
                <a:moveTo>
                  <a:pt x="427" y="71"/>
                </a:moveTo>
                <a:lnTo>
                  <a:pt x="356" y="71"/>
                </a:lnTo>
                <a:lnTo>
                  <a:pt x="356" y="142"/>
                </a:lnTo>
                <a:lnTo>
                  <a:pt x="427" y="142"/>
                </a:lnTo>
                <a:lnTo>
                  <a:pt x="427" y="7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1462864">
              <a:defRPr/>
            </a:pPr>
            <a:endParaRPr lang="en-GB" sz="14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1" name="TextBox 1310">
            <a:hlinkClick r:id="" action="ppaction://noaction"/>
            <a:extLst>
              <a:ext uri="{FF2B5EF4-FFF2-40B4-BE49-F238E27FC236}">
                <a16:creationId xmlns:a16="http://schemas.microsoft.com/office/drawing/2014/main" id="{12265C59-2A80-49BE-9612-CEF747A5B81E}"/>
              </a:ext>
            </a:extLst>
          </p:cNvPr>
          <p:cNvSpPr txBox="1"/>
          <p:nvPr/>
        </p:nvSpPr>
        <p:spPr>
          <a:xfrm>
            <a:off x="10859349" y="5477752"/>
            <a:ext cx="3244655" cy="338554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defTabSz="1462864">
              <a:defRPr/>
            </a:pPr>
            <a:r>
              <a:rPr lang="en-US" sz="1600" b="1">
                <a:solidFill>
                  <a:srgbClr val="000000"/>
                </a:solidFill>
                <a:latin typeface="Arial"/>
              </a:rPr>
              <a:t>Key Technology Platforms</a:t>
            </a:r>
          </a:p>
        </p:txBody>
      </p:sp>
      <p:sp>
        <p:nvSpPr>
          <p:cNvPr id="1312" name="Rectangle 1311">
            <a:extLst>
              <a:ext uri="{FF2B5EF4-FFF2-40B4-BE49-F238E27FC236}">
                <a16:creationId xmlns:a16="http://schemas.microsoft.com/office/drawing/2014/main" id="{EA9E38FC-C218-429B-BE92-1D02A738EDC2}"/>
              </a:ext>
            </a:extLst>
          </p:cNvPr>
          <p:cNvSpPr/>
          <p:nvPr/>
        </p:nvSpPr>
        <p:spPr>
          <a:xfrm>
            <a:off x="10837188" y="2400917"/>
            <a:ext cx="3244654" cy="584776"/>
          </a:xfrm>
          <a:prstGeom prst="rect">
            <a:avLst/>
          </a:prstGeom>
          <a:solidFill>
            <a:schemeClr val="accent1"/>
          </a:solidFill>
        </p:spPr>
        <p:txBody>
          <a:bodyPr wrap="square" lIns="731520" tIns="45720" rIns="45720" bIns="45720" anchor="ctr">
            <a:noAutofit/>
          </a:bodyPr>
          <a:lstStyle/>
          <a:p>
            <a:pPr defTabSz="1462864">
              <a:defRPr/>
            </a:pPr>
            <a:r>
              <a:rPr lang="en-GB" sz="1400" b="1">
                <a:solidFill>
                  <a:srgbClr val="FFFFFF"/>
                </a:solidFill>
                <a:latin typeface="Arial"/>
              </a:rPr>
              <a:t>Silent Operations &amp; </a:t>
            </a:r>
          </a:p>
          <a:p>
            <a:pPr defTabSz="1462864">
              <a:defRPr/>
            </a:pPr>
            <a:r>
              <a:rPr lang="en-GB" sz="1400" b="1">
                <a:solidFill>
                  <a:srgbClr val="FFFFFF"/>
                </a:solidFill>
                <a:latin typeface="Arial"/>
              </a:rPr>
              <a:t>Support</a:t>
            </a:r>
          </a:p>
        </p:txBody>
      </p:sp>
      <p:sp>
        <p:nvSpPr>
          <p:cNvPr id="1313" name="Oval 1312">
            <a:extLst>
              <a:ext uri="{FF2B5EF4-FFF2-40B4-BE49-F238E27FC236}">
                <a16:creationId xmlns:a16="http://schemas.microsoft.com/office/drawing/2014/main" id="{C4E8F72A-1F6D-4288-8A88-B25558A979AF}"/>
              </a:ext>
            </a:extLst>
          </p:cNvPr>
          <p:cNvSpPr/>
          <p:nvPr/>
        </p:nvSpPr>
        <p:spPr>
          <a:xfrm>
            <a:off x="11019316" y="2510424"/>
            <a:ext cx="365760" cy="365761"/>
          </a:xfrm>
          <a:prstGeom prst="ellipse">
            <a:avLst/>
          </a:prstGeom>
          <a:solidFill>
            <a:srgbClr val="ED9B33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462864">
              <a:defRPr/>
            </a:pPr>
            <a:r>
              <a:rPr lang="en-GB" sz="1400" b="1">
                <a:solidFill>
                  <a:schemeClr val="bg1"/>
                </a:solidFill>
                <a:latin typeface="Arial"/>
              </a:rPr>
              <a:t>1</a:t>
            </a:r>
            <a:endParaRPr lang="en-US" sz="1400" b="1">
              <a:solidFill>
                <a:schemeClr val="bg1"/>
              </a:solidFill>
              <a:latin typeface="Arial"/>
            </a:endParaRPr>
          </a:p>
        </p:txBody>
      </p:sp>
      <p:sp>
        <p:nvSpPr>
          <p:cNvPr id="1314" name="Rectangle 1313">
            <a:extLst>
              <a:ext uri="{FF2B5EF4-FFF2-40B4-BE49-F238E27FC236}">
                <a16:creationId xmlns:a16="http://schemas.microsoft.com/office/drawing/2014/main" id="{76FCC727-09A2-431A-8D81-7D566C9755AB}"/>
              </a:ext>
            </a:extLst>
          </p:cNvPr>
          <p:cNvSpPr/>
          <p:nvPr/>
        </p:nvSpPr>
        <p:spPr>
          <a:xfrm>
            <a:off x="10837188" y="4514146"/>
            <a:ext cx="3244654" cy="584776"/>
          </a:xfrm>
          <a:prstGeom prst="rect">
            <a:avLst/>
          </a:prstGeom>
          <a:solidFill>
            <a:schemeClr val="accent1"/>
          </a:solidFill>
        </p:spPr>
        <p:txBody>
          <a:bodyPr wrap="square" lIns="731520" tIns="45720" rIns="45720" bIns="45720" anchor="ctr">
            <a:noAutofit/>
          </a:bodyPr>
          <a:lstStyle/>
          <a:p>
            <a:pPr defTabSz="1462864">
              <a:defRPr/>
            </a:pPr>
            <a:r>
              <a:rPr lang="en-GB" sz="1400" b="1">
                <a:solidFill>
                  <a:srgbClr val="FFFFFF"/>
                </a:solidFill>
                <a:latin typeface="Arial"/>
              </a:rPr>
              <a:t>Innovation &amp; </a:t>
            </a:r>
          </a:p>
          <a:p>
            <a:pPr defTabSz="1462864">
              <a:defRPr/>
            </a:pPr>
            <a:r>
              <a:rPr lang="en-GB" sz="1400" b="1">
                <a:solidFill>
                  <a:srgbClr val="FFFFFF"/>
                </a:solidFill>
                <a:latin typeface="Arial"/>
              </a:rPr>
              <a:t>Integration </a:t>
            </a:r>
          </a:p>
        </p:txBody>
      </p:sp>
      <p:sp>
        <p:nvSpPr>
          <p:cNvPr id="1315" name="Oval 1314">
            <a:extLst>
              <a:ext uri="{FF2B5EF4-FFF2-40B4-BE49-F238E27FC236}">
                <a16:creationId xmlns:a16="http://schemas.microsoft.com/office/drawing/2014/main" id="{3A9BBB8D-EC7F-4DFF-97CC-B8619E537CD8}"/>
              </a:ext>
            </a:extLst>
          </p:cNvPr>
          <p:cNvSpPr/>
          <p:nvPr/>
        </p:nvSpPr>
        <p:spPr>
          <a:xfrm>
            <a:off x="11019315" y="4623653"/>
            <a:ext cx="365760" cy="365761"/>
          </a:xfrm>
          <a:prstGeom prst="ellipse">
            <a:avLst/>
          </a:prstGeom>
          <a:solidFill>
            <a:srgbClr val="ED9B33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462864">
              <a:defRPr/>
            </a:pPr>
            <a:r>
              <a:rPr lang="en-US" sz="1400" b="1">
                <a:solidFill>
                  <a:schemeClr val="bg1"/>
                </a:solidFill>
                <a:latin typeface="Arial"/>
              </a:rPr>
              <a:t>4</a:t>
            </a:r>
          </a:p>
        </p:txBody>
      </p:sp>
      <p:cxnSp>
        <p:nvCxnSpPr>
          <p:cNvPr id="1316" name="Straight Connector 1315">
            <a:extLst>
              <a:ext uri="{FF2B5EF4-FFF2-40B4-BE49-F238E27FC236}">
                <a16:creationId xmlns:a16="http://schemas.microsoft.com/office/drawing/2014/main" id="{F16DED5E-1805-487A-BAFB-73AF74BDBB12}"/>
              </a:ext>
            </a:extLst>
          </p:cNvPr>
          <p:cNvCxnSpPr/>
          <p:nvPr/>
        </p:nvCxnSpPr>
        <p:spPr>
          <a:xfrm>
            <a:off x="5146665" y="2565335"/>
            <a:ext cx="4957304" cy="0"/>
          </a:xfrm>
          <a:prstGeom prst="line">
            <a:avLst/>
          </a:prstGeom>
          <a:ln w="76200" cap="sq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17" name="Straight Connector 1316">
            <a:extLst>
              <a:ext uri="{FF2B5EF4-FFF2-40B4-BE49-F238E27FC236}">
                <a16:creationId xmlns:a16="http://schemas.microsoft.com/office/drawing/2014/main" id="{28D1346C-FC51-46A4-BA95-27F7F250E1E5}"/>
              </a:ext>
            </a:extLst>
          </p:cNvPr>
          <p:cNvCxnSpPr/>
          <p:nvPr/>
        </p:nvCxnSpPr>
        <p:spPr>
          <a:xfrm>
            <a:off x="5172232" y="4908025"/>
            <a:ext cx="4957304" cy="0"/>
          </a:xfrm>
          <a:prstGeom prst="line">
            <a:avLst/>
          </a:prstGeom>
          <a:ln w="76200" cap="sq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18" name="Straight Connector 1317">
            <a:extLst>
              <a:ext uri="{FF2B5EF4-FFF2-40B4-BE49-F238E27FC236}">
                <a16:creationId xmlns:a16="http://schemas.microsoft.com/office/drawing/2014/main" id="{2705253B-81EB-43DC-8BA8-0FCE90FC9496}"/>
              </a:ext>
            </a:extLst>
          </p:cNvPr>
          <p:cNvCxnSpPr/>
          <p:nvPr/>
        </p:nvCxnSpPr>
        <p:spPr>
          <a:xfrm>
            <a:off x="574601" y="2565335"/>
            <a:ext cx="4114800" cy="0"/>
          </a:xfrm>
          <a:prstGeom prst="line">
            <a:avLst/>
          </a:prstGeom>
          <a:ln w="76200" cap="sq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19" name="Straight Connector 1318">
            <a:extLst>
              <a:ext uri="{FF2B5EF4-FFF2-40B4-BE49-F238E27FC236}">
                <a16:creationId xmlns:a16="http://schemas.microsoft.com/office/drawing/2014/main" id="{48C464E7-A63D-4277-A35E-E3C76DC1491E}"/>
              </a:ext>
            </a:extLst>
          </p:cNvPr>
          <p:cNvCxnSpPr>
            <a:cxnSpLocks/>
          </p:cNvCxnSpPr>
          <p:nvPr/>
        </p:nvCxnSpPr>
        <p:spPr>
          <a:xfrm flipV="1">
            <a:off x="10910455" y="5890955"/>
            <a:ext cx="3171387" cy="23298"/>
          </a:xfrm>
          <a:prstGeom prst="line">
            <a:avLst/>
          </a:prstGeom>
          <a:ln w="76200" cap="sq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20" name="Rectangle 1319">
            <a:extLst>
              <a:ext uri="{FF2B5EF4-FFF2-40B4-BE49-F238E27FC236}">
                <a16:creationId xmlns:a16="http://schemas.microsoft.com/office/drawing/2014/main" id="{3CB9B386-E29C-4CF5-840C-9CB2D1F94589}"/>
              </a:ext>
            </a:extLst>
          </p:cNvPr>
          <p:cNvSpPr/>
          <p:nvPr/>
        </p:nvSpPr>
        <p:spPr>
          <a:xfrm>
            <a:off x="10837188" y="3108302"/>
            <a:ext cx="3244654" cy="584776"/>
          </a:xfrm>
          <a:prstGeom prst="rect">
            <a:avLst/>
          </a:prstGeom>
          <a:solidFill>
            <a:schemeClr val="accent1"/>
          </a:solidFill>
        </p:spPr>
        <p:txBody>
          <a:bodyPr wrap="square" lIns="731520" tIns="45720" rIns="45720" bIns="45720" anchor="ctr">
            <a:noAutofit/>
          </a:bodyPr>
          <a:lstStyle/>
          <a:p>
            <a:pPr defTabSz="1462864">
              <a:defRPr/>
            </a:pPr>
            <a:r>
              <a:rPr lang="en-GB" sz="1400" b="1">
                <a:solidFill>
                  <a:srgbClr val="FFFFFF"/>
                </a:solidFill>
                <a:latin typeface="Arial"/>
              </a:rPr>
              <a:t>Advisory &amp; </a:t>
            </a:r>
          </a:p>
          <a:p>
            <a:pPr defTabSz="1462864">
              <a:defRPr/>
            </a:pPr>
            <a:r>
              <a:rPr lang="en-GB" sz="1400" b="1">
                <a:solidFill>
                  <a:srgbClr val="FFFFFF"/>
                </a:solidFill>
                <a:latin typeface="Arial"/>
              </a:rPr>
              <a:t>Service Roadmaps </a:t>
            </a:r>
          </a:p>
        </p:txBody>
      </p:sp>
      <p:sp>
        <p:nvSpPr>
          <p:cNvPr id="1321" name="Oval 1320">
            <a:extLst>
              <a:ext uri="{FF2B5EF4-FFF2-40B4-BE49-F238E27FC236}">
                <a16:creationId xmlns:a16="http://schemas.microsoft.com/office/drawing/2014/main" id="{A64D7A73-3F4C-4E4A-B2F2-85BC4B7E1549}"/>
              </a:ext>
            </a:extLst>
          </p:cNvPr>
          <p:cNvSpPr/>
          <p:nvPr/>
        </p:nvSpPr>
        <p:spPr>
          <a:xfrm>
            <a:off x="11019316" y="3217809"/>
            <a:ext cx="365760" cy="365761"/>
          </a:xfrm>
          <a:prstGeom prst="ellipse">
            <a:avLst/>
          </a:prstGeom>
          <a:solidFill>
            <a:srgbClr val="ED9B33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462864">
              <a:defRPr/>
            </a:pPr>
            <a:r>
              <a:rPr lang="en-GB" sz="1400" b="1">
                <a:solidFill>
                  <a:schemeClr val="bg1"/>
                </a:solidFill>
                <a:latin typeface="Arial"/>
              </a:rPr>
              <a:t>2</a:t>
            </a:r>
            <a:endParaRPr lang="en-US" sz="1400" b="1">
              <a:solidFill>
                <a:schemeClr val="bg1"/>
              </a:solidFill>
              <a:latin typeface="Arial"/>
            </a:endParaRPr>
          </a:p>
        </p:txBody>
      </p:sp>
      <p:sp>
        <p:nvSpPr>
          <p:cNvPr id="1323" name="Rectangle 1322">
            <a:extLst>
              <a:ext uri="{FF2B5EF4-FFF2-40B4-BE49-F238E27FC236}">
                <a16:creationId xmlns:a16="http://schemas.microsoft.com/office/drawing/2014/main" id="{B93D677A-78F4-43EA-B3B9-8E6E9A7DFE60}"/>
              </a:ext>
            </a:extLst>
          </p:cNvPr>
          <p:cNvSpPr/>
          <p:nvPr/>
        </p:nvSpPr>
        <p:spPr>
          <a:xfrm>
            <a:off x="10837188" y="3815685"/>
            <a:ext cx="3244654" cy="584776"/>
          </a:xfrm>
          <a:prstGeom prst="rect">
            <a:avLst/>
          </a:prstGeom>
          <a:solidFill>
            <a:schemeClr val="accent1"/>
          </a:solidFill>
        </p:spPr>
        <p:txBody>
          <a:bodyPr wrap="square" lIns="731520" tIns="45720" rIns="45720" bIns="45720" anchor="ctr">
            <a:noAutofit/>
          </a:bodyPr>
          <a:lstStyle/>
          <a:p>
            <a:pPr defTabSz="1462864">
              <a:defRPr/>
            </a:pPr>
            <a:r>
              <a:rPr lang="en-GB" sz="1400" b="1">
                <a:solidFill>
                  <a:srgbClr val="FFFFFF"/>
                </a:solidFill>
                <a:latin typeface="Arial"/>
              </a:rPr>
              <a:t>Modernization &amp; </a:t>
            </a:r>
          </a:p>
          <a:p>
            <a:pPr defTabSz="1462864">
              <a:defRPr/>
            </a:pPr>
            <a:r>
              <a:rPr lang="en-GB" sz="1400" b="1">
                <a:solidFill>
                  <a:srgbClr val="FFFFFF"/>
                </a:solidFill>
                <a:latin typeface="Arial"/>
              </a:rPr>
              <a:t>Migration</a:t>
            </a:r>
          </a:p>
        </p:txBody>
      </p:sp>
      <p:sp>
        <p:nvSpPr>
          <p:cNvPr id="1324" name="Oval 1323">
            <a:extLst>
              <a:ext uri="{FF2B5EF4-FFF2-40B4-BE49-F238E27FC236}">
                <a16:creationId xmlns:a16="http://schemas.microsoft.com/office/drawing/2014/main" id="{DF686921-8D42-4BC6-A4CE-1975DF395DA0}"/>
              </a:ext>
            </a:extLst>
          </p:cNvPr>
          <p:cNvSpPr/>
          <p:nvPr/>
        </p:nvSpPr>
        <p:spPr>
          <a:xfrm>
            <a:off x="11019316" y="3925192"/>
            <a:ext cx="365760" cy="365761"/>
          </a:xfrm>
          <a:prstGeom prst="ellipse">
            <a:avLst/>
          </a:prstGeom>
          <a:solidFill>
            <a:srgbClr val="ED9B33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462864">
              <a:defRPr/>
            </a:pPr>
            <a:r>
              <a:rPr lang="en-GB" sz="1400" b="1">
                <a:solidFill>
                  <a:schemeClr val="bg1"/>
                </a:solidFill>
                <a:latin typeface="Arial"/>
              </a:rPr>
              <a:t>3</a:t>
            </a:r>
            <a:endParaRPr lang="en-US" sz="1400" b="1">
              <a:solidFill>
                <a:schemeClr val="bg1"/>
              </a:solidFill>
              <a:latin typeface="Arial"/>
            </a:endParaRPr>
          </a:p>
        </p:txBody>
      </p:sp>
      <p:sp>
        <p:nvSpPr>
          <p:cNvPr id="1325" name="Title 28">
            <a:extLst>
              <a:ext uri="{FF2B5EF4-FFF2-40B4-BE49-F238E27FC236}">
                <a16:creationId xmlns:a16="http://schemas.microsoft.com/office/drawing/2014/main" id="{B14775BC-E4F1-463D-B3B1-800B24CC3498}"/>
              </a:ext>
            </a:extLst>
          </p:cNvPr>
          <p:cNvSpPr txBox="1">
            <a:spLocks/>
          </p:cNvSpPr>
          <p:nvPr/>
        </p:nvSpPr>
        <p:spPr>
          <a:xfrm>
            <a:off x="828310" y="320184"/>
            <a:ext cx="13258800" cy="141763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146304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6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DXC Business Exchange Services (BES) </a:t>
            </a:r>
          </a:p>
        </p:txBody>
      </p:sp>
      <p:pic>
        <p:nvPicPr>
          <p:cNvPr id="1326" name="Graphic 1325">
            <a:extLst>
              <a:ext uri="{FF2B5EF4-FFF2-40B4-BE49-F238E27FC236}">
                <a16:creationId xmlns:a16="http://schemas.microsoft.com/office/drawing/2014/main" id="{F5DA6258-65E7-4C83-9716-94AF1FB003B3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3585157" y="2524608"/>
            <a:ext cx="391814" cy="337395"/>
          </a:xfrm>
          <a:prstGeom prst="rect">
            <a:avLst/>
          </a:prstGeom>
        </p:spPr>
      </p:pic>
      <p:grpSp>
        <p:nvGrpSpPr>
          <p:cNvPr id="1327" name="Graphic 7">
            <a:extLst>
              <a:ext uri="{FF2B5EF4-FFF2-40B4-BE49-F238E27FC236}">
                <a16:creationId xmlns:a16="http://schemas.microsoft.com/office/drawing/2014/main" id="{4E19CB9E-6ADC-45DE-90B1-771D16C7A181}"/>
              </a:ext>
            </a:extLst>
          </p:cNvPr>
          <p:cNvGrpSpPr/>
          <p:nvPr/>
        </p:nvGrpSpPr>
        <p:grpSpPr>
          <a:xfrm>
            <a:off x="13541161" y="3881569"/>
            <a:ext cx="440467" cy="453005"/>
            <a:chOff x="4950461" y="1682750"/>
            <a:chExt cx="4729468" cy="4864100"/>
          </a:xfrm>
          <a:solidFill>
            <a:schemeClr val="bg1"/>
          </a:solidFill>
        </p:grpSpPr>
        <p:sp>
          <p:nvSpPr>
            <p:cNvPr id="1328" name="Freeform 9">
              <a:extLst>
                <a:ext uri="{FF2B5EF4-FFF2-40B4-BE49-F238E27FC236}">
                  <a16:creationId xmlns:a16="http://schemas.microsoft.com/office/drawing/2014/main" id="{369A96B9-FA1B-493E-9696-CEE21098CAF9}"/>
                </a:ext>
              </a:extLst>
            </p:cNvPr>
            <p:cNvSpPr/>
            <p:nvPr/>
          </p:nvSpPr>
          <p:spPr>
            <a:xfrm>
              <a:off x="4950461" y="1682750"/>
              <a:ext cx="4729468" cy="4864100"/>
            </a:xfrm>
            <a:custGeom>
              <a:avLst/>
              <a:gdLst>
                <a:gd name="connsiteX0" fmla="*/ 4617531 w 4729468"/>
                <a:gd name="connsiteY0" fmla="*/ 2946817 h 4864100"/>
                <a:gd name="connsiteX1" fmla="*/ 4449753 w 4729468"/>
                <a:gd name="connsiteY1" fmla="*/ 2849944 h 4864100"/>
                <a:gd name="connsiteX2" fmla="*/ 4492188 w 4729468"/>
                <a:gd name="connsiteY2" fmla="*/ 2432050 h 4864100"/>
                <a:gd name="connsiteX3" fmla="*/ 4450457 w 4729468"/>
                <a:gd name="connsiteY3" fmla="*/ 2013737 h 4864100"/>
                <a:gd name="connsiteX4" fmla="*/ 4617531 w 4729468"/>
                <a:gd name="connsiteY4" fmla="*/ 1917274 h 4864100"/>
                <a:gd name="connsiteX5" fmla="*/ 4721753 w 4729468"/>
                <a:gd name="connsiteY5" fmla="*/ 1781451 h 4864100"/>
                <a:gd name="connsiteX6" fmla="*/ 4699402 w 4729468"/>
                <a:gd name="connsiteY6" fmla="*/ 1611712 h 4864100"/>
                <a:gd name="connsiteX7" fmla="*/ 4242501 w 4729468"/>
                <a:gd name="connsiteY7" fmla="*/ 820329 h 4864100"/>
                <a:gd name="connsiteX8" fmla="*/ 4106677 w 4729468"/>
                <a:gd name="connsiteY8" fmla="*/ 716108 h 4864100"/>
                <a:gd name="connsiteX9" fmla="*/ 3936928 w 4729468"/>
                <a:gd name="connsiteY9" fmla="*/ 738458 h 4864100"/>
                <a:gd name="connsiteX10" fmla="*/ 3769721 w 4729468"/>
                <a:gd name="connsiteY10" fmla="*/ 834998 h 4864100"/>
                <a:gd name="connsiteX11" fmla="*/ 3045332 w 4729468"/>
                <a:gd name="connsiteY11" fmla="*/ 415895 h 4864100"/>
                <a:gd name="connsiteX12" fmla="*/ 3045332 w 4729468"/>
                <a:gd name="connsiteY12" fmla="*/ 223691 h 4864100"/>
                <a:gd name="connsiteX13" fmla="*/ 2821641 w 4729468"/>
                <a:gd name="connsiteY13" fmla="*/ 0 h 4864100"/>
                <a:gd name="connsiteX14" fmla="*/ 1907837 w 4729468"/>
                <a:gd name="connsiteY14" fmla="*/ 0 h 4864100"/>
                <a:gd name="connsiteX15" fmla="*/ 1684146 w 4729468"/>
                <a:gd name="connsiteY15" fmla="*/ 223691 h 4864100"/>
                <a:gd name="connsiteX16" fmla="*/ 1684146 w 4729468"/>
                <a:gd name="connsiteY16" fmla="*/ 415904 h 4864100"/>
                <a:gd name="connsiteX17" fmla="*/ 960727 w 4729468"/>
                <a:gd name="connsiteY17" fmla="*/ 835569 h 4864100"/>
                <a:gd name="connsiteX18" fmla="*/ 792540 w 4729468"/>
                <a:gd name="connsiteY18" fmla="*/ 738458 h 4864100"/>
                <a:gd name="connsiteX19" fmla="*/ 622791 w 4729468"/>
                <a:gd name="connsiteY19" fmla="*/ 716108 h 4864100"/>
                <a:gd name="connsiteX20" fmla="*/ 486968 w 4729468"/>
                <a:gd name="connsiteY20" fmla="*/ 820329 h 4864100"/>
                <a:gd name="connsiteX21" fmla="*/ 30066 w 4729468"/>
                <a:gd name="connsiteY21" fmla="*/ 1611712 h 4864100"/>
                <a:gd name="connsiteX22" fmla="*/ 7716 w 4729468"/>
                <a:gd name="connsiteY22" fmla="*/ 1781451 h 4864100"/>
                <a:gd name="connsiteX23" fmla="*/ 111937 w 4729468"/>
                <a:gd name="connsiteY23" fmla="*/ 1917274 h 4864100"/>
                <a:gd name="connsiteX24" fmla="*/ 279715 w 4729468"/>
                <a:gd name="connsiteY24" fmla="*/ 2014147 h 4864100"/>
                <a:gd name="connsiteX25" fmla="*/ 237290 w 4729468"/>
                <a:gd name="connsiteY25" fmla="*/ 2432050 h 4864100"/>
                <a:gd name="connsiteX26" fmla="*/ 279020 w 4729468"/>
                <a:gd name="connsiteY26" fmla="*/ 2850353 h 4864100"/>
                <a:gd name="connsiteX27" fmla="*/ 111947 w 4729468"/>
                <a:gd name="connsiteY27" fmla="*/ 2946817 h 4864100"/>
                <a:gd name="connsiteX28" fmla="*/ 30066 w 4729468"/>
                <a:gd name="connsiteY28" fmla="*/ 3252389 h 4864100"/>
                <a:gd name="connsiteX29" fmla="*/ 486968 w 4729468"/>
                <a:gd name="connsiteY29" fmla="*/ 4043771 h 4864100"/>
                <a:gd name="connsiteX30" fmla="*/ 792540 w 4729468"/>
                <a:gd name="connsiteY30" fmla="*/ 4125642 h 4864100"/>
                <a:gd name="connsiteX31" fmla="*/ 959737 w 4729468"/>
                <a:gd name="connsiteY31" fmla="*/ 4029103 h 4864100"/>
                <a:gd name="connsiteX32" fmla="*/ 1684146 w 4729468"/>
                <a:gd name="connsiteY32" fmla="*/ 4448215 h 4864100"/>
                <a:gd name="connsiteX33" fmla="*/ 1684146 w 4729468"/>
                <a:gd name="connsiteY33" fmla="*/ 4640409 h 4864100"/>
                <a:gd name="connsiteX34" fmla="*/ 1907837 w 4729468"/>
                <a:gd name="connsiteY34" fmla="*/ 4864100 h 4864100"/>
                <a:gd name="connsiteX35" fmla="*/ 2821641 w 4729468"/>
                <a:gd name="connsiteY35" fmla="*/ 4864100 h 4864100"/>
                <a:gd name="connsiteX36" fmla="*/ 3045332 w 4729468"/>
                <a:gd name="connsiteY36" fmla="*/ 4640409 h 4864100"/>
                <a:gd name="connsiteX37" fmla="*/ 3045332 w 4729468"/>
                <a:gd name="connsiteY37" fmla="*/ 4448196 h 4864100"/>
                <a:gd name="connsiteX38" fmla="*/ 3768760 w 4729468"/>
                <a:gd name="connsiteY38" fmla="*/ 4028541 h 4864100"/>
                <a:gd name="connsiteX39" fmla="*/ 3936938 w 4729468"/>
                <a:gd name="connsiteY39" fmla="*/ 4125642 h 4864100"/>
                <a:gd name="connsiteX40" fmla="*/ 4242510 w 4729468"/>
                <a:gd name="connsiteY40" fmla="*/ 4043771 h 4864100"/>
                <a:gd name="connsiteX41" fmla="*/ 4699412 w 4729468"/>
                <a:gd name="connsiteY41" fmla="*/ 3252389 h 4864100"/>
                <a:gd name="connsiteX42" fmla="*/ 4617531 w 4729468"/>
                <a:gd name="connsiteY42" fmla="*/ 2946817 h 4864100"/>
                <a:gd name="connsiteX43" fmla="*/ 4575753 w 4729468"/>
                <a:gd name="connsiteY43" fmla="*/ 3180998 h 4864100"/>
                <a:gd name="connsiteX44" fmla="*/ 4118851 w 4729468"/>
                <a:gd name="connsiteY44" fmla="*/ 3972371 h 4864100"/>
                <a:gd name="connsiteX45" fmla="*/ 4008329 w 4729468"/>
                <a:gd name="connsiteY45" fmla="*/ 4001984 h 4864100"/>
                <a:gd name="connsiteX46" fmla="*/ 3795184 w 4729468"/>
                <a:gd name="connsiteY46" fmla="*/ 3878925 h 4864100"/>
                <a:gd name="connsiteX47" fmla="*/ 3711019 w 4729468"/>
                <a:gd name="connsiteY47" fmla="*/ 3888339 h 4864100"/>
                <a:gd name="connsiteX48" fmla="*/ 2952819 w 4729468"/>
                <a:gd name="connsiteY48" fmla="*/ 4328097 h 4864100"/>
                <a:gd name="connsiteX49" fmla="*/ 2902550 w 4729468"/>
                <a:gd name="connsiteY49" fmla="*/ 4396290 h 4864100"/>
                <a:gd name="connsiteX50" fmla="*/ 2902550 w 4729468"/>
                <a:gd name="connsiteY50" fmla="*/ 4640409 h 4864100"/>
                <a:gd name="connsiteX51" fmla="*/ 2821641 w 4729468"/>
                <a:gd name="connsiteY51" fmla="*/ 4721318 h 4864100"/>
                <a:gd name="connsiteX52" fmla="*/ 1907837 w 4729468"/>
                <a:gd name="connsiteY52" fmla="*/ 4721318 h 4864100"/>
                <a:gd name="connsiteX53" fmla="*/ 1826927 w 4729468"/>
                <a:gd name="connsiteY53" fmla="*/ 4640409 h 4864100"/>
                <a:gd name="connsiteX54" fmla="*/ 1826927 w 4729468"/>
                <a:gd name="connsiteY54" fmla="*/ 4396300 h 4864100"/>
                <a:gd name="connsiteX55" fmla="*/ 1776668 w 4729468"/>
                <a:gd name="connsiteY55" fmla="*/ 4328107 h 4864100"/>
                <a:gd name="connsiteX56" fmla="*/ 1017497 w 4729468"/>
                <a:gd name="connsiteY56" fmla="*/ 3888919 h 4864100"/>
                <a:gd name="connsiteX57" fmla="*/ 968999 w 4729468"/>
                <a:gd name="connsiteY57" fmla="*/ 3869930 h 4864100"/>
                <a:gd name="connsiteX58" fmla="*/ 933323 w 4729468"/>
                <a:gd name="connsiteY58" fmla="*/ 3879496 h 4864100"/>
                <a:gd name="connsiteX59" fmla="*/ 721149 w 4729468"/>
                <a:gd name="connsiteY59" fmla="*/ 4001984 h 4864100"/>
                <a:gd name="connsiteX60" fmla="*/ 610626 w 4729468"/>
                <a:gd name="connsiteY60" fmla="*/ 3972371 h 4864100"/>
                <a:gd name="connsiteX61" fmla="*/ 153725 w 4729468"/>
                <a:gd name="connsiteY61" fmla="*/ 3180998 h 4864100"/>
                <a:gd name="connsiteX62" fmla="*/ 183338 w 4729468"/>
                <a:gd name="connsiteY62" fmla="*/ 3070466 h 4864100"/>
                <a:gd name="connsiteX63" fmla="*/ 395340 w 4729468"/>
                <a:gd name="connsiteY63" fmla="*/ 2948063 h 4864100"/>
                <a:gd name="connsiteX64" fmla="*/ 429284 w 4729468"/>
                <a:gd name="connsiteY64" fmla="*/ 2870523 h 4864100"/>
                <a:gd name="connsiteX65" fmla="*/ 380072 w 4729468"/>
                <a:gd name="connsiteY65" fmla="*/ 2432050 h 4864100"/>
                <a:gd name="connsiteX66" fmla="*/ 430017 w 4729468"/>
                <a:gd name="connsiteY66" fmla="*/ 1993976 h 4864100"/>
                <a:gd name="connsiteX67" fmla="*/ 396073 w 4729468"/>
                <a:gd name="connsiteY67" fmla="*/ 1916446 h 4864100"/>
                <a:gd name="connsiteX68" fmla="*/ 183338 w 4729468"/>
                <a:gd name="connsiteY68" fmla="*/ 1793625 h 4864100"/>
                <a:gd name="connsiteX69" fmla="*/ 145643 w 4729468"/>
                <a:gd name="connsiteY69" fmla="*/ 1744499 h 4864100"/>
                <a:gd name="connsiteX70" fmla="*/ 153725 w 4729468"/>
                <a:gd name="connsiteY70" fmla="*/ 1683102 h 4864100"/>
                <a:gd name="connsiteX71" fmla="*/ 610626 w 4729468"/>
                <a:gd name="connsiteY71" fmla="*/ 891720 h 4864100"/>
                <a:gd name="connsiteX72" fmla="*/ 659762 w 4729468"/>
                <a:gd name="connsiteY72" fmla="*/ 854026 h 4864100"/>
                <a:gd name="connsiteX73" fmla="*/ 721158 w 4729468"/>
                <a:gd name="connsiteY73" fmla="*/ 862107 h 4864100"/>
                <a:gd name="connsiteX74" fmla="*/ 934303 w 4729468"/>
                <a:gd name="connsiteY74" fmla="*/ 985166 h 4864100"/>
                <a:gd name="connsiteX75" fmla="*/ 1018468 w 4729468"/>
                <a:gd name="connsiteY75" fmla="*/ 975752 h 4864100"/>
                <a:gd name="connsiteX76" fmla="*/ 1776668 w 4729468"/>
                <a:gd name="connsiteY76" fmla="*/ 535993 h 4864100"/>
                <a:gd name="connsiteX77" fmla="*/ 1826937 w 4729468"/>
                <a:gd name="connsiteY77" fmla="*/ 467801 h 4864100"/>
                <a:gd name="connsiteX78" fmla="*/ 1826937 w 4729468"/>
                <a:gd name="connsiteY78" fmla="*/ 223691 h 4864100"/>
                <a:gd name="connsiteX79" fmla="*/ 1907847 w 4729468"/>
                <a:gd name="connsiteY79" fmla="*/ 142782 h 4864100"/>
                <a:gd name="connsiteX80" fmla="*/ 2821650 w 4729468"/>
                <a:gd name="connsiteY80" fmla="*/ 142782 h 4864100"/>
                <a:gd name="connsiteX81" fmla="*/ 2902560 w 4729468"/>
                <a:gd name="connsiteY81" fmla="*/ 223691 h 4864100"/>
                <a:gd name="connsiteX82" fmla="*/ 2902560 w 4729468"/>
                <a:gd name="connsiteY82" fmla="*/ 467801 h 4864100"/>
                <a:gd name="connsiteX83" fmla="*/ 2952819 w 4729468"/>
                <a:gd name="connsiteY83" fmla="*/ 535993 h 4864100"/>
                <a:gd name="connsiteX84" fmla="*/ 3711990 w 4729468"/>
                <a:gd name="connsiteY84" fmla="*/ 975181 h 4864100"/>
                <a:gd name="connsiteX85" fmla="*/ 3796165 w 4729468"/>
                <a:gd name="connsiteY85" fmla="*/ 984604 h 4864100"/>
                <a:gd name="connsiteX86" fmla="*/ 4008338 w 4729468"/>
                <a:gd name="connsiteY86" fmla="*/ 862107 h 4864100"/>
                <a:gd name="connsiteX87" fmla="*/ 4069734 w 4729468"/>
                <a:gd name="connsiteY87" fmla="*/ 854026 h 4864100"/>
                <a:gd name="connsiteX88" fmla="*/ 4118871 w 4729468"/>
                <a:gd name="connsiteY88" fmla="*/ 891720 h 4864100"/>
                <a:gd name="connsiteX89" fmla="*/ 4575772 w 4729468"/>
                <a:gd name="connsiteY89" fmla="*/ 1683102 h 4864100"/>
                <a:gd name="connsiteX90" fmla="*/ 4583854 w 4729468"/>
                <a:gd name="connsiteY90" fmla="*/ 1744499 h 4864100"/>
                <a:gd name="connsiteX91" fmla="*/ 4546160 w 4729468"/>
                <a:gd name="connsiteY91" fmla="*/ 1793625 h 4864100"/>
                <a:gd name="connsiteX92" fmla="*/ 4334157 w 4729468"/>
                <a:gd name="connsiteY92" fmla="*/ 1916027 h 4864100"/>
                <a:gd name="connsiteX93" fmla="*/ 4300213 w 4729468"/>
                <a:gd name="connsiteY93" fmla="*/ 1993567 h 4864100"/>
                <a:gd name="connsiteX94" fmla="*/ 4349425 w 4729468"/>
                <a:gd name="connsiteY94" fmla="*/ 2432050 h 4864100"/>
                <a:gd name="connsiteX95" fmla="*/ 4299480 w 4729468"/>
                <a:gd name="connsiteY95" fmla="*/ 2870114 h 4864100"/>
                <a:gd name="connsiteX96" fmla="*/ 4333424 w 4729468"/>
                <a:gd name="connsiteY96" fmla="*/ 2947645 h 4864100"/>
                <a:gd name="connsiteX97" fmla="*/ 4546160 w 4729468"/>
                <a:gd name="connsiteY97" fmla="*/ 3070466 h 4864100"/>
                <a:gd name="connsiteX98" fmla="*/ 4575753 w 4729468"/>
                <a:gd name="connsiteY98" fmla="*/ 3180998 h 4864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</a:cxnLst>
              <a:rect l="l" t="t" r="r" b="b"/>
              <a:pathLst>
                <a:path w="4729468" h="4864100">
                  <a:moveTo>
                    <a:pt x="4617531" y="2946817"/>
                  </a:moveTo>
                  <a:lnTo>
                    <a:pt x="4449753" y="2849944"/>
                  </a:lnTo>
                  <a:cubicBezTo>
                    <a:pt x="4477929" y="2709799"/>
                    <a:pt x="4492188" y="2569463"/>
                    <a:pt x="4492188" y="2432050"/>
                  </a:cubicBezTo>
                  <a:cubicBezTo>
                    <a:pt x="4492188" y="2292638"/>
                    <a:pt x="4478157" y="2152169"/>
                    <a:pt x="4450457" y="2013737"/>
                  </a:cubicBezTo>
                  <a:lnTo>
                    <a:pt x="4617531" y="1917274"/>
                  </a:lnTo>
                  <a:cubicBezTo>
                    <a:pt x="4669275" y="1887404"/>
                    <a:pt x="4706294" y="1839163"/>
                    <a:pt x="4721753" y="1781451"/>
                  </a:cubicBezTo>
                  <a:cubicBezTo>
                    <a:pt x="4737211" y="1723738"/>
                    <a:pt x="4729282" y="1663456"/>
                    <a:pt x="4699402" y="1611712"/>
                  </a:cubicBezTo>
                  <a:lnTo>
                    <a:pt x="4242501" y="820329"/>
                  </a:lnTo>
                  <a:cubicBezTo>
                    <a:pt x="4212621" y="768585"/>
                    <a:pt x="4164389" y="731566"/>
                    <a:pt x="4106677" y="716108"/>
                  </a:cubicBezTo>
                  <a:cubicBezTo>
                    <a:pt x="4048955" y="700649"/>
                    <a:pt x="3988682" y="708579"/>
                    <a:pt x="3936928" y="738458"/>
                  </a:cubicBezTo>
                  <a:lnTo>
                    <a:pt x="3769721" y="834998"/>
                  </a:lnTo>
                  <a:cubicBezTo>
                    <a:pt x="3558509" y="649181"/>
                    <a:pt x="3309935" y="505371"/>
                    <a:pt x="3045332" y="415895"/>
                  </a:cubicBezTo>
                  <a:lnTo>
                    <a:pt x="3045332" y="223691"/>
                  </a:lnTo>
                  <a:cubicBezTo>
                    <a:pt x="3045332" y="100347"/>
                    <a:pt x="2944985" y="0"/>
                    <a:pt x="2821641" y="0"/>
                  </a:cubicBezTo>
                  <a:lnTo>
                    <a:pt x="1907837" y="0"/>
                  </a:lnTo>
                  <a:cubicBezTo>
                    <a:pt x="1784493" y="0"/>
                    <a:pt x="1684146" y="100347"/>
                    <a:pt x="1684146" y="223691"/>
                  </a:cubicBezTo>
                  <a:lnTo>
                    <a:pt x="1684146" y="415904"/>
                  </a:lnTo>
                  <a:cubicBezTo>
                    <a:pt x="1420951" y="505019"/>
                    <a:pt x="1172720" y="649019"/>
                    <a:pt x="960727" y="835569"/>
                  </a:cubicBezTo>
                  <a:lnTo>
                    <a:pt x="792540" y="738458"/>
                  </a:lnTo>
                  <a:cubicBezTo>
                    <a:pt x="740786" y="708579"/>
                    <a:pt x="680504" y="700640"/>
                    <a:pt x="622791" y="716108"/>
                  </a:cubicBezTo>
                  <a:cubicBezTo>
                    <a:pt x="565079" y="731576"/>
                    <a:pt x="516847" y="768585"/>
                    <a:pt x="486968" y="820329"/>
                  </a:cubicBezTo>
                  <a:lnTo>
                    <a:pt x="30066" y="1611712"/>
                  </a:lnTo>
                  <a:cubicBezTo>
                    <a:pt x="187" y="1663456"/>
                    <a:pt x="-7743" y="1723738"/>
                    <a:pt x="7716" y="1781451"/>
                  </a:cubicBezTo>
                  <a:cubicBezTo>
                    <a:pt x="23174" y="1839163"/>
                    <a:pt x="60193" y="1887404"/>
                    <a:pt x="111937" y="1917274"/>
                  </a:cubicBezTo>
                  <a:lnTo>
                    <a:pt x="279715" y="2014147"/>
                  </a:lnTo>
                  <a:cubicBezTo>
                    <a:pt x="251559" y="2154292"/>
                    <a:pt x="237290" y="2294627"/>
                    <a:pt x="237290" y="2432050"/>
                  </a:cubicBezTo>
                  <a:cubicBezTo>
                    <a:pt x="237290" y="2571443"/>
                    <a:pt x="251321" y="2711912"/>
                    <a:pt x="279020" y="2850353"/>
                  </a:cubicBezTo>
                  <a:lnTo>
                    <a:pt x="111947" y="2946817"/>
                  </a:lnTo>
                  <a:cubicBezTo>
                    <a:pt x="5127" y="3008489"/>
                    <a:pt x="-31597" y="3145559"/>
                    <a:pt x="30066" y="3252389"/>
                  </a:cubicBezTo>
                  <a:lnTo>
                    <a:pt x="486968" y="4043771"/>
                  </a:lnTo>
                  <a:cubicBezTo>
                    <a:pt x="548640" y="4150581"/>
                    <a:pt x="685711" y="4187314"/>
                    <a:pt x="792540" y="4125642"/>
                  </a:cubicBezTo>
                  <a:lnTo>
                    <a:pt x="959737" y="4029103"/>
                  </a:lnTo>
                  <a:cubicBezTo>
                    <a:pt x="1170959" y="4214919"/>
                    <a:pt x="1419523" y="4358729"/>
                    <a:pt x="1684146" y="4448215"/>
                  </a:cubicBezTo>
                  <a:lnTo>
                    <a:pt x="1684146" y="4640409"/>
                  </a:lnTo>
                  <a:cubicBezTo>
                    <a:pt x="1684146" y="4763753"/>
                    <a:pt x="1784493" y="4864100"/>
                    <a:pt x="1907837" y="4864100"/>
                  </a:cubicBezTo>
                  <a:lnTo>
                    <a:pt x="2821641" y="4864100"/>
                  </a:lnTo>
                  <a:cubicBezTo>
                    <a:pt x="2944985" y="4864100"/>
                    <a:pt x="3045332" y="4763753"/>
                    <a:pt x="3045332" y="4640409"/>
                  </a:cubicBezTo>
                  <a:lnTo>
                    <a:pt x="3045332" y="4448196"/>
                  </a:lnTo>
                  <a:cubicBezTo>
                    <a:pt x="3308536" y="4359081"/>
                    <a:pt x="3556767" y="4215081"/>
                    <a:pt x="3768760" y="4028541"/>
                  </a:cubicBezTo>
                  <a:lnTo>
                    <a:pt x="3936938" y="4125642"/>
                  </a:lnTo>
                  <a:cubicBezTo>
                    <a:pt x="4043748" y="4187314"/>
                    <a:pt x="4180838" y="4150581"/>
                    <a:pt x="4242510" y="4043771"/>
                  </a:cubicBezTo>
                  <a:lnTo>
                    <a:pt x="4699412" y="3252389"/>
                  </a:lnTo>
                  <a:cubicBezTo>
                    <a:pt x="4761074" y="3145559"/>
                    <a:pt x="4724351" y="3008489"/>
                    <a:pt x="4617531" y="2946817"/>
                  </a:cubicBezTo>
                  <a:close/>
                  <a:moveTo>
                    <a:pt x="4575753" y="3180998"/>
                  </a:moveTo>
                  <a:lnTo>
                    <a:pt x="4118851" y="3972371"/>
                  </a:lnTo>
                  <a:cubicBezTo>
                    <a:pt x="4096549" y="4011017"/>
                    <a:pt x="4046965" y="4024296"/>
                    <a:pt x="4008329" y="4001984"/>
                  </a:cubicBezTo>
                  <a:lnTo>
                    <a:pt x="3795184" y="3878925"/>
                  </a:lnTo>
                  <a:cubicBezTo>
                    <a:pt x="3768103" y="3863285"/>
                    <a:pt x="3733978" y="3867102"/>
                    <a:pt x="3711019" y="3888339"/>
                  </a:cubicBezTo>
                  <a:cubicBezTo>
                    <a:pt x="3493105" y="4089880"/>
                    <a:pt x="3230920" y="4241943"/>
                    <a:pt x="2952819" y="4328097"/>
                  </a:cubicBezTo>
                  <a:cubicBezTo>
                    <a:pt x="2922930" y="4337359"/>
                    <a:pt x="2902550" y="4365002"/>
                    <a:pt x="2902550" y="4396290"/>
                  </a:cubicBezTo>
                  <a:lnTo>
                    <a:pt x="2902550" y="4640409"/>
                  </a:lnTo>
                  <a:cubicBezTo>
                    <a:pt x="2902550" y="4685023"/>
                    <a:pt x="2866255" y="4721318"/>
                    <a:pt x="2821641" y="4721318"/>
                  </a:cubicBezTo>
                  <a:lnTo>
                    <a:pt x="1907837" y="4721318"/>
                  </a:lnTo>
                  <a:cubicBezTo>
                    <a:pt x="1863223" y="4721318"/>
                    <a:pt x="1826927" y="4685023"/>
                    <a:pt x="1826927" y="4640409"/>
                  </a:cubicBezTo>
                  <a:lnTo>
                    <a:pt x="1826927" y="4396300"/>
                  </a:lnTo>
                  <a:cubicBezTo>
                    <a:pt x="1826927" y="4365011"/>
                    <a:pt x="1806548" y="4337369"/>
                    <a:pt x="1776668" y="4328107"/>
                  </a:cubicBezTo>
                  <a:cubicBezTo>
                    <a:pt x="1496854" y="4241419"/>
                    <a:pt x="1234345" y="4089547"/>
                    <a:pt x="1017497" y="3888919"/>
                  </a:cubicBezTo>
                  <a:cubicBezTo>
                    <a:pt x="1003971" y="3876402"/>
                    <a:pt x="986561" y="3869930"/>
                    <a:pt x="968999" y="3869930"/>
                  </a:cubicBezTo>
                  <a:cubicBezTo>
                    <a:pt x="956758" y="3869930"/>
                    <a:pt x="944450" y="3873071"/>
                    <a:pt x="933323" y="3879496"/>
                  </a:cubicBezTo>
                  <a:lnTo>
                    <a:pt x="721149" y="4001984"/>
                  </a:lnTo>
                  <a:cubicBezTo>
                    <a:pt x="682503" y="4024286"/>
                    <a:pt x="632929" y="4011007"/>
                    <a:pt x="610626" y="3972371"/>
                  </a:cubicBezTo>
                  <a:lnTo>
                    <a:pt x="153725" y="3180998"/>
                  </a:lnTo>
                  <a:cubicBezTo>
                    <a:pt x="131422" y="3142361"/>
                    <a:pt x="144710" y="3092778"/>
                    <a:pt x="183338" y="3070466"/>
                  </a:cubicBezTo>
                  <a:lnTo>
                    <a:pt x="395340" y="2948063"/>
                  </a:lnTo>
                  <a:cubicBezTo>
                    <a:pt x="422411" y="2932434"/>
                    <a:pt x="436166" y="2901022"/>
                    <a:pt x="429284" y="2870523"/>
                  </a:cubicBezTo>
                  <a:cubicBezTo>
                    <a:pt x="396625" y="2725771"/>
                    <a:pt x="380072" y="2578240"/>
                    <a:pt x="380072" y="2432050"/>
                  </a:cubicBezTo>
                  <a:cubicBezTo>
                    <a:pt x="380072" y="2288316"/>
                    <a:pt x="396872" y="2140928"/>
                    <a:pt x="430017" y="1993976"/>
                  </a:cubicBezTo>
                  <a:cubicBezTo>
                    <a:pt x="436889" y="1963488"/>
                    <a:pt x="423135" y="1932066"/>
                    <a:pt x="396073" y="1916446"/>
                  </a:cubicBezTo>
                  <a:lnTo>
                    <a:pt x="183338" y="1793625"/>
                  </a:lnTo>
                  <a:cubicBezTo>
                    <a:pt x="164624" y="1782821"/>
                    <a:pt x="151240" y="1765373"/>
                    <a:pt x="145643" y="1744499"/>
                  </a:cubicBezTo>
                  <a:cubicBezTo>
                    <a:pt x="140056" y="1723624"/>
                    <a:pt x="142921" y="1701816"/>
                    <a:pt x="153725" y="1683102"/>
                  </a:cubicBezTo>
                  <a:lnTo>
                    <a:pt x="610626" y="891720"/>
                  </a:lnTo>
                  <a:cubicBezTo>
                    <a:pt x="621430" y="873006"/>
                    <a:pt x="638878" y="859613"/>
                    <a:pt x="659762" y="854026"/>
                  </a:cubicBezTo>
                  <a:cubicBezTo>
                    <a:pt x="680627" y="848429"/>
                    <a:pt x="702445" y="851303"/>
                    <a:pt x="721158" y="862107"/>
                  </a:cubicBezTo>
                  <a:lnTo>
                    <a:pt x="934303" y="985166"/>
                  </a:lnTo>
                  <a:cubicBezTo>
                    <a:pt x="961394" y="1000815"/>
                    <a:pt x="995509" y="996988"/>
                    <a:pt x="1018468" y="975752"/>
                  </a:cubicBezTo>
                  <a:cubicBezTo>
                    <a:pt x="1236391" y="774211"/>
                    <a:pt x="1498567" y="622148"/>
                    <a:pt x="1776668" y="535993"/>
                  </a:cubicBezTo>
                  <a:cubicBezTo>
                    <a:pt x="1806557" y="526732"/>
                    <a:pt x="1826937" y="499089"/>
                    <a:pt x="1826937" y="467801"/>
                  </a:cubicBezTo>
                  <a:lnTo>
                    <a:pt x="1826937" y="223691"/>
                  </a:lnTo>
                  <a:cubicBezTo>
                    <a:pt x="1826937" y="179077"/>
                    <a:pt x="1863232" y="142782"/>
                    <a:pt x="1907847" y="142782"/>
                  </a:cubicBezTo>
                  <a:lnTo>
                    <a:pt x="2821650" y="142782"/>
                  </a:lnTo>
                  <a:cubicBezTo>
                    <a:pt x="2866265" y="142782"/>
                    <a:pt x="2902560" y="179077"/>
                    <a:pt x="2902560" y="223691"/>
                  </a:cubicBezTo>
                  <a:lnTo>
                    <a:pt x="2902560" y="467801"/>
                  </a:lnTo>
                  <a:cubicBezTo>
                    <a:pt x="2902560" y="499089"/>
                    <a:pt x="2922940" y="526732"/>
                    <a:pt x="2952819" y="535993"/>
                  </a:cubicBezTo>
                  <a:cubicBezTo>
                    <a:pt x="3232624" y="622671"/>
                    <a:pt x="3495133" y="774544"/>
                    <a:pt x="3711990" y="975181"/>
                  </a:cubicBezTo>
                  <a:cubicBezTo>
                    <a:pt x="3734949" y="996427"/>
                    <a:pt x="3769074" y="1000244"/>
                    <a:pt x="3796165" y="984604"/>
                  </a:cubicBezTo>
                  <a:lnTo>
                    <a:pt x="4008338" y="862107"/>
                  </a:lnTo>
                  <a:cubicBezTo>
                    <a:pt x="4027062" y="851303"/>
                    <a:pt x="4048869" y="848429"/>
                    <a:pt x="4069734" y="854026"/>
                  </a:cubicBezTo>
                  <a:cubicBezTo>
                    <a:pt x="4090609" y="859623"/>
                    <a:pt x="4108057" y="873006"/>
                    <a:pt x="4118871" y="891720"/>
                  </a:cubicBezTo>
                  <a:lnTo>
                    <a:pt x="4575772" y="1683102"/>
                  </a:lnTo>
                  <a:cubicBezTo>
                    <a:pt x="4586576" y="1701816"/>
                    <a:pt x="4589451" y="1723624"/>
                    <a:pt x="4583854" y="1744499"/>
                  </a:cubicBezTo>
                  <a:cubicBezTo>
                    <a:pt x="4578257" y="1765373"/>
                    <a:pt x="4564873" y="1782821"/>
                    <a:pt x="4546160" y="1793625"/>
                  </a:cubicBezTo>
                  <a:lnTo>
                    <a:pt x="4334157" y="1916027"/>
                  </a:lnTo>
                  <a:cubicBezTo>
                    <a:pt x="4307085" y="1931657"/>
                    <a:pt x="4293331" y="1963078"/>
                    <a:pt x="4300213" y="1993567"/>
                  </a:cubicBezTo>
                  <a:cubicBezTo>
                    <a:pt x="4332872" y="2138310"/>
                    <a:pt x="4349425" y="2285832"/>
                    <a:pt x="4349425" y="2432050"/>
                  </a:cubicBezTo>
                  <a:cubicBezTo>
                    <a:pt x="4349425" y="2575784"/>
                    <a:pt x="4332624" y="2723173"/>
                    <a:pt x="4299480" y="2870114"/>
                  </a:cubicBezTo>
                  <a:cubicBezTo>
                    <a:pt x="4292607" y="2900603"/>
                    <a:pt x="4306362" y="2932015"/>
                    <a:pt x="4333424" y="2947645"/>
                  </a:cubicBezTo>
                  <a:lnTo>
                    <a:pt x="4546160" y="3070466"/>
                  </a:lnTo>
                  <a:cubicBezTo>
                    <a:pt x="4584777" y="3092778"/>
                    <a:pt x="4598065" y="3142361"/>
                    <a:pt x="4575753" y="3180998"/>
                  </a:cubicBezTo>
                  <a:close/>
                </a:path>
              </a:pathLst>
            </a:custGeom>
            <a:grpFill/>
            <a:ln w="9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29" name="Freeform 10">
              <a:extLst>
                <a:ext uri="{FF2B5EF4-FFF2-40B4-BE49-F238E27FC236}">
                  <a16:creationId xmlns:a16="http://schemas.microsoft.com/office/drawing/2014/main" id="{2DF8A3FB-2225-43B7-AF6C-C840EA398AD9}"/>
                </a:ext>
              </a:extLst>
            </p:cNvPr>
            <p:cNvSpPr/>
            <p:nvPr/>
          </p:nvSpPr>
          <p:spPr>
            <a:xfrm>
              <a:off x="5873103" y="2672703"/>
              <a:ext cx="2884192" cy="2884192"/>
            </a:xfrm>
            <a:custGeom>
              <a:avLst/>
              <a:gdLst>
                <a:gd name="connsiteX0" fmla="*/ 1442096 w 2884192"/>
                <a:gd name="connsiteY0" fmla="*/ 0 h 2884192"/>
                <a:gd name="connsiteX1" fmla="*/ 0 w 2884192"/>
                <a:gd name="connsiteY1" fmla="*/ 1442096 h 2884192"/>
                <a:gd name="connsiteX2" fmla="*/ 1442096 w 2884192"/>
                <a:gd name="connsiteY2" fmla="*/ 2884192 h 2884192"/>
                <a:gd name="connsiteX3" fmla="*/ 2884192 w 2884192"/>
                <a:gd name="connsiteY3" fmla="*/ 1442096 h 2884192"/>
                <a:gd name="connsiteX4" fmla="*/ 1442096 w 2884192"/>
                <a:gd name="connsiteY4" fmla="*/ 0 h 2884192"/>
                <a:gd name="connsiteX5" fmla="*/ 1442096 w 2884192"/>
                <a:gd name="connsiteY5" fmla="*/ 2741411 h 2884192"/>
                <a:gd name="connsiteX6" fmla="*/ 142782 w 2884192"/>
                <a:gd name="connsiteY6" fmla="*/ 1442096 h 2884192"/>
                <a:gd name="connsiteX7" fmla="*/ 1442096 w 2884192"/>
                <a:gd name="connsiteY7" fmla="*/ 142782 h 2884192"/>
                <a:gd name="connsiteX8" fmla="*/ 2741411 w 2884192"/>
                <a:gd name="connsiteY8" fmla="*/ 1442096 h 2884192"/>
                <a:gd name="connsiteX9" fmla="*/ 1442096 w 2884192"/>
                <a:gd name="connsiteY9" fmla="*/ 2741411 h 2884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884192" h="2884192">
                  <a:moveTo>
                    <a:pt x="1442096" y="0"/>
                  </a:moveTo>
                  <a:cubicBezTo>
                    <a:pt x="646916" y="0"/>
                    <a:pt x="0" y="646925"/>
                    <a:pt x="0" y="1442096"/>
                  </a:cubicBezTo>
                  <a:cubicBezTo>
                    <a:pt x="0" y="2237267"/>
                    <a:pt x="646916" y="2884192"/>
                    <a:pt x="1442096" y="2884192"/>
                  </a:cubicBezTo>
                  <a:cubicBezTo>
                    <a:pt x="2237277" y="2884192"/>
                    <a:pt x="2884192" y="2237267"/>
                    <a:pt x="2884192" y="1442096"/>
                  </a:cubicBezTo>
                  <a:cubicBezTo>
                    <a:pt x="2884192" y="646925"/>
                    <a:pt x="2237277" y="0"/>
                    <a:pt x="1442096" y="0"/>
                  </a:cubicBezTo>
                  <a:close/>
                  <a:moveTo>
                    <a:pt x="1442096" y="2741411"/>
                  </a:moveTo>
                  <a:cubicBezTo>
                    <a:pt x="725655" y="2741411"/>
                    <a:pt x="142782" y="2158537"/>
                    <a:pt x="142782" y="1442096"/>
                  </a:cubicBezTo>
                  <a:cubicBezTo>
                    <a:pt x="142782" y="725655"/>
                    <a:pt x="725655" y="142782"/>
                    <a:pt x="1442096" y="142782"/>
                  </a:cubicBezTo>
                  <a:cubicBezTo>
                    <a:pt x="2158537" y="142782"/>
                    <a:pt x="2741411" y="725655"/>
                    <a:pt x="2741411" y="1442096"/>
                  </a:cubicBezTo>
                  <a:cubicBezTo>
                    <a:pt x="2741411" y="2158537"/>
                    <a:pt x="2158537" y="2741411"/>
                    <a:pt x="1442096" y="2741411"/>
                  </a:cubicBezTo>
                  <a:close/>
                </a:path>
              </a:pathLst>
            </a:custGeom>
            <a:grpFill/>
            <a:ln w="9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30" name="Freeform 11">
              <a:extLst>
                <a:ext uri="{FF2B5EF4-FFF2-40B4-BE49-F238E27FC236}">
                  <a16:creationId xmlns:a16="http://schemas.microsoft.com/office/drawing/2014/main" id="{9BFDEF3C-7D90-4E7E-B3CA-DE0CBE8CDF8B}"/>
                </a:ext>
              </a:extLst>
            </p:cNvPr>
            <p:cNvSpPr/>
            <p:nvPr/>
          </p:nvSpPr>
          <p:spPr>
            <a:xfrm>
              <a:off x="7243809" y="3738807"/>
              <a:ext cx="599683" cy="751984"/>
            </a:xfrm>
            <a:custGeom>
              <a:avLst/>
              <a:gdLst>
                <a:gd name="connsiteX0" fmla="*/ 337917 w 599683"/>
                <a:gd name="connsiteY0" fmla="*/ 0 h 751984"/>
                <a:gd name="connsiteX1" fmla="*/ 71391 w 599683"/>
                <a:gd name="connsiteY1" fmla="*/ 0 h 751984"/>
                <a:gd name="connsiteX2" fmla="*/ 0 w 599683"/>
                <a:gd name="connsiteY2" fmla="*/ 71391 h 751984"/>
                <a:gd name="connsiteX3" fmla="*/ 0 w 599683"/>
                <a:gd name="connsiteY3" fmla="*/ 680593 h 751984"/>
                <a:gd name="connsiteX4" fmla="*/ 71391 w 599683"/>
                <a:gd name="connsiteY4" fmla="*/ 751984 h 751984"/>
                <a:gd name="connsiteX5" fmla="*/ 142782 w 599683"/>
                <a:gd name="connsiteY5" fmla="*/ 680593 h 751984"/>
                <a:gd name="connsiteX6" fmla="*/ 142782 w 599683"/>
                <a:gd name="connsiteY6" fmla="*/ 523533 h 751984"/>
                <a:gd name="connsiteX7" fmla="*/ 337917 w 599683"/>
                <a:gd name="connsiteY7" fmla="*/ 523533 h 751984"/>
                <a:gd name="connsiteX8" fmla="*/ 599684 w 599683"/>
                <a:gd name="connsiteY8" fmla="*/ 261767 h 751984"/>
                <a:gd name="connsiteX9" fmla="*/ 337917 w 599683"/>
                <a:gd name="connsiteY9" fmla="*/ 0 h 751984"/>
                <a:gd name="connsiteX10" fmla="*/ 337917 w 599683"/>
                <a:gd name="connsiteY10" fmla="*/ 380751 h 751984"/>
                <a:gd name="connsiteX11" fmla="*/ 142782 w 599683"/>
                <a:gd name="connsiteY11" fmla="*/ 380751 h 751984"/>
                <a:gd name="connsiteX12" fmla="*/ 142782 w 599683"/>
                <a:gd name="connsiteY12" fmla="*/ 142782 h 751984"/>
                <a:gd name="connsiteX13" fmla="*/ 337917 w 599683"/>
                <a:gd name="connsiteY13" fmla="*/ 142782 h 751984"/>
                <a:gd name="connsiteX14" fmla="*/ 456902 w 599683"/>
                <a:gd name="connsiteY14" fmla="*/ 261767 h 751984"/>
                <a:gd name="connsiteX15" fmla="*/ 337917 w 599683"/>
                <a:gd name="connsiteY15" fmla="*/ 380751 h 751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99683" h="751984">
                  <a:moveTo>
                    <a:pt x="337917" y="0"/>
                  </a:moveTo>
                  <a:lnTo>
                    <a:pt x="71391" y="0"/>
                  </a:lnTo>
                  <a:cubicBezTo>
                    <a:pt x="31964" y="0"/>
                    <a:pt x="0" y="31964"/>
                    <a:pt x="0" y="71391"/>
                  </a:cubicBezTo>
                  <a:lnTo>
                    <a:pt x="0" y="680593"/>
                  </a:lnTo>
                  <a:cubicBezTo>
                    <a:pt x="0" y="720020"/>
                    <a:pt x="31964" y="751984"/>
                    <a:pt x="71391" y="751984"/>
                  </a:cubicBezTo>
                  <a:cubicBezTo>
                    <a:pt x="110818" y="751984"/>
                    <a:pt x="142782" y="720020"/>
                    <a:pt x="142782" y="680593"/>
                  </a:cubicBezTo>
                  <a:lnTo>
                    <a:pt x="142782" y="523533"/>
                  </a:lnTo>
                  <a:lnTo>
                    <a:pt x="337917" y="523533"/>
                  </a:lnTo>
                  <a:cubicBezTo>
                    <a:pt x="482260" y="523533"/>
                    <a:pt x="599684" y="406110"/>
                    <a:pt x="599684" y="261767"/>
                  </a:cubicBezTo>
                  <a:cubicBezTo>
                    <a:pt x="599684" y="117424"/>
                    <a:pt x="482260" y="0"/>
                    <a:pt x="337917" y="0"/>
                  </a:cubicBezTo>
                  <a:close/>
                  <a:moveTo>
                    <a:pt x="337917" y="380751"/>
                  </a:moveTo>
                  <a:lnTo>
                    <a:pt x="142782" y="380751"/>
                  </a:lnTo>
                  <a:lnTo>
                    <a:pt x="142782" y="142782"/>
                  </a:lnTo>
                  <a:lnTo>
                    <a:pt x="337917" y="142782"/>
                  </a:lnTo>
                  <a:cubicBezTo>
                    <a:pt x="403530" y="142782"/>
                    <a:pt x="456902" y="196154"/>
                    <a:pt x="456902" y="261767"/>
                  </a:cubicBezTo>
                  <a:cubicBezTo>
                    <a:pt x="456902" y="327380"/>
                    <a:pt x="403530" y="380751"/>
                    <a:pt x="337917" y="380751"/>
                  </a:cubicBezTo>
                  <a:close/>
                </a:path>
              </a:pathLst>
            </a:custGeom>
            <a:grpFill/>
            <a:ln w="9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31" name="Freeform 12">
              <a:extLst>
                <a:ext uri="{FF2B5EF4-FFF2-40B4-BE49-F238E27FC236}">
                  <a16:creationId xmlns:a16="http://schemas.microsoft.com/office/drawing/2014/main" id="{66582011-F33A-483D-843D-AB021B8C93E0}"/>
                </a:ext>
              </a:extLst>
            </p:cNvPr>
            <p:cNvSpPr/>
            <p:nvPr/>
          </p:nvSpPr>
          <p:spPr>
            <a:xfrm>
              <a:off x="6482289" y="3738807"/>
              <a:ext cx="675857" cy="752010"/>
            </a:xfrm>
            <a:custGeom>
              <a:avLst/>
              <a:gdLst>
                <a:gd name="connsiteX0" fmla="*/ 442850 w 675857"/>
                <a:gd name="connsiteY0" fmla="*/ 46328 h 752010"/>
                <a:gd name="connsiteX1" fmla="*/ 376009 w 675857"/>
                <a:gd name="connsiteY1" fmla="*/ 0 h 752010"/>
                <a:gd name="connsiteX2" fmla="*/ 299859 w 675857"/>
                <a:gd name="connsiteY2" fmla="*/ 0 h 752010"/>
                <a:gd name="connsiteX3" fmla="*/ 233018 w 675857"/>
                <a:gd name="connsiteY3" fmla="*/ 46328 h 752010"/>
                <a:gd name="connsiteX4" fmla="*/ 4567 w 675857"/>
                <a:gd name="connsiteY4" fmla="*/ 655530 h 752010"/>
                <a:gd name="connsiteX5" fmla="*/ 46345 w 675857"/>
                <a:gd name="connsiteY5" fmla="*/ 747444 h 752010"/>
                <a:gd name="connsiteX6" fmla="*/ 138258 w 675857"/>
                <a:gd name="connsiteY6" fmla="*/ 705666 h 752010"/>
                <a:gd name="connsiteX7" fmla="*/ 177990 w 675857"/>
                <a:gd name="connsiteY7" fmla="*/ 599684 h 752010"/>
                <a:gd name="connsiteX8" fmla="*/ 497868 w 675857"/>
                <a:gd name="connsiteY8" fmla="*/ 599684 h 752010"/>
                <a:gd name="connsiteX9" fmla="*/ 537609 w 675857"/>
                <a:gd name="connsiteY9" fmla="*/ 705656 h 752010"/>
                <a:gd name="connsiteX10" fmla="*/ 604460 w 675857"/>
                <a:gd name="connsiteY10" fmla="*/ 752003 h 752010"/>
                <a:gd name="connsiteX11" fmla="*/ 629513 w 675857"/>
                <a:gd name="connsiteY11" fmla="*/ 747444 h 752010"/>
                <a:gd name="connsiteX12" fmla="*/ 671291 w 675857"/>
                <a:gd name="connsiteY12" fmla="*/ 655530 h 752010"/>
                <a:gd name="connsiteX13" fmla="*/ 442850 w 675857"/>
                <a:gd name="connsiteY13" fmla="*/ 46328 h 752010"/>
                <a:gd name="connsiteX14" fmla="*/ 231533 w 675857"/>
                <a:gd name="connsiteY14" fmla="*/ 456902 h 752010"/>
                <a:gd name="connsiteX15" fmla="*/ 337934 w 675857"/>
                <a:gd name="connsiteY15" fmla="*/ 173175 h 752010"/>
                <a:gd name="connsiteX16" fmla="*/ 444335 w 675857"/>
                <a:gd name="connsiteY16" fmla="*/ 456902 h 752010"/>
                <a:gd name="connsiteX17" fmla="*/ 231533 w 675857"/>
                <a:gd name="connsiteY17" fmla="*/ 456902 h 75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75857" h="752010">
                  <a:moveTo>
                    <a:pt x="442850" y="46328"/>
                  </a:moveTo>
                  <a:cubicBezTo>
                    <a:pt x="432398" y="18466"/>
                    <a:pt x="405765" y="0"/>
                    <a:pt x="376009" y="0"/>
                  </a:cubicBezTo>
                  <a:lnTo>
                    <a:pt x="299859" y="0"/>
                  </a:lnTo>
                  <a:cubicBezTo>
                    <a:pt x="270103" y="0"/>
                    <a:pt x="243460" y="18457"/>
                    <a:pt x="233018" y="46328"/>
                  </a:cubicBezTo>
                  <a:lnTo>
                    <a:pt x="4567" y="655530"/>
                  </a:lnTo>
                  <a:cubicBezTo>
                    <a:pt x="-9283" y="692444"/>
                    <a:pt x="9431" y="733594"/>
                    <a:pt x="46345" y="747444"/>
                  </a:cubicBezTo>
                  <a:cubicBezTo>
                    <a:pt x="83259" y="761294"/>
                    <a:pt x="124408" y="742580"/>
                    <a:pt x="138258" y="705666"/>
                  </a:cubicBezTo>
                  <a:lnTo>
                    <a:pt x="177990" y="599684"/>
                  </a:lnTo>
                  <a:lnTo>
                    <a:pt x="497868" y="599684"/>
                  </a:lnTo>
                  <a:lnTo>
                    <a:pt x="537609" y="705656"/>
                  </a:lnTo>
                  <a:cubicBezTo>
                    <a:pt x="548356" y="734317"/>
                    <a:pt x="575561" y="752003"/>
                    <a:pt x="604460" y="752003"/>
                  </a:cubicBezTo>
                  <a:cubicBezTo>
                    <a:pt x="612789" y="752003"/>
                    <a:pt x="621260" y="750537"/>
                    <a:pt x="629513" y="747444"/>
                  </a:cubicBezTo>
                  <a:cubicBezTo>
                    <a:pt x="666427" y="733603"/>
                    <a:pt x="685141" y="692444"/>
                    <a:pt x="671291" y="655530"/>
                  </a:cubicBezTo>
                  <a:lnTo>
                    <a:pt x="442850" y="46328"/>
                  </a:lnTo>
                  <a:close/>
                  <a:moveTo>
                    <a:pt x="231533" y="456902"/>
                  </a:moveTo>
                  <a:lnTo>
                    <a:pt x="337934" y="173175"/>
                  </a:lnTo>
                  <a:lnTo>
                    <a:pt x="444335" y="456902"/>
                  </a:lnTo>
                  <a:lnTo>
                    <a:pt x="231533" y="456902"/>
                  </a:lnTo>
                  <a:close/>
                </a:path>
              </a:pathLst>
            </a:custGeom>
            <a:grpFill/>
            <a:ln w="9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32" name="Freeform 13">
              <a:extLst>
                <a:ext uri="{FF2B5EF4-FFF2-40B4-BE49-F238E27FC236}">
                  <a16:creationId xmlns:a16="http://schemas.microsoft.com/office/drawing/2014/main" id="{AE8C7B52-BB67-4DB2-8CDD-FA711ED46CC5}"/>
                </a:ext>
              </a:extLst>
            </p:cNvPr>
            <p:cNvSpPr/>
            <p:nvPr/>
          </p:nvSpPr>
          <p:spPr>
            <a:xfrm>
              <a:off x="7929161" y="3738807"/>
              <a:ext cx="142781" cy="751984"/>
            </a:xfrm>
            <a:custGeom>
              <a:avLst/>
              <a:gdLst>
                <a:gd name="connsiteX0" fmla="*/ 71391 w 142781"/>
                <a:gd name="connsiteY0" fmla="*/ 0 h 751984"/>
                <a:gd name="connsiteX1" fmla="*/ 0 w 142781"/>
                <a:gd name="connsiteY1" fmla="*/ 71391 h 751984"/>
                <a:gd name="connsiteX2" fmla="*/ 0 w 142781"/>
                <a:gd name="connsiteY2" fmla="*/ 680593 h 751984"/>
                <a:gd name="connsiteX3" fmla="*/ 71391 w 142781"/>
                <a:gd name="connsiteY3" fmla="*/ 751984 h 751984"/>
                <a:gd name="connsiteX4" fmla="*/ 142782 w 142781"/>
                <a:gd name="connsiteY4" fmla="*/ 680593 h 751984"/>
                <a:gd name="connsiteX5" fmla="*/ 142782 w 142781"/>
                <a:gd name="connsiteY5" fmla="*/ 71391 h 751984"/>
                <a:gd name="connsiteX6" fmla="*/ 71391 w 142781"/>
                <a:gd name="connsiteY6" fmla="*/ 0 h 751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2781" h="751984">
                  <a:moveTo>
                    <a:pt x="71391" y="0"/>
                  </a:moveTo>
                  <a:cubicBezTo>
                    <a:pt x="31964" y="0"/>
                    <a:pt x="0" y="31964"/>
                    <a:pt x="0" y="71391"/>
                  </a:cubicBezTo>
                  <a:lnTo>
                    <a:pt x="0" y="680593"/>
                  </a:lnTo>
                  <a:cubicBezTo>
                    <a:pt x="0" y="720020"/>
                    <a:pt x="31964" y="751984"/>
                    <a:pt x="71391" y="751984"/>
                  </a:cubicBezTo>
                  <a:cubicBezTo>
                    <a:pt x="110818" y="751984"/>
                    <a:pt x="142782" y="720020"/>
                    <a:pt x="142782" y="680593"/>
                  </a:cubicBezTo>
                  <a:lnTo>
                    <a:pt x="142782" y="71391"/>
                  </a:lnTo>
                  <a:cubicBezTo>
                    <a:pt x="142782" y="31964"/>
                    <a:pt x="110818" y="0"/>
                    <a:pt x="71391" y="0"/>
                  </a:cubicBezTo>
                  <a:close/>
                </a:path>
              </a:pathLst>
            </a:custGeom>
            <a:grpFill/>
            <a:ln w="9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33" name="Freeform 14">
              <a:extLst>
                <a:ext uri="{FF2B5EF4-FFF2-40B4-BE49-F238E27FC236}">
                  <a16:creationId xmlns:a16="http://schemas.microsoft.com/office/drawing/2014/main" id="{80026536-7796-4662-AF58-B19EB43A2F09}"/>
                </a:ext>
              </a:extLst>
            </p:cNvPr>
            <p:cNvSpPr/>
            <p:nvPr/>
          </p:nvSpPr>
          <p:spPr>
            <a:xfrm>
              <a:off x="7776168" y="2374316"/>
              <a:ext cx="295889" cy="199649"/>
            </a:xfrm>
            <a:custGeom>
              <a:avLst/>
              <a:gdLst>
                <a:gd name="connsiteX0" fmla="*/ 49733 w 295889"/>
                <a:gd name="connsiteY0" fmla="*/ 139424 h 199649"/>
                <a:gd name="connsiteX1" fmla="*/ 196523 w 295889"/>
                <a:gd name="connsiteY1" fmla="*/ 193928 h 199649"/>
                <a:gd name="connsiteX2" fmla="*/ 224451 w 295889"/>
                <a:gd name="connsiteY2" fmla="*/ 199649 h 199649"/>
                <a:gd name="connsiteX3" fmla="*/ 290169 w 295889"/>
                <a:gd name="connsiteY3" fmla="*/ 156205 h 199649"/>
                <a:gd name="connsiteX4" fmla="*/ 252445 w 295889"/>
                <a:gd name="connsiteY4" fmla="*/ 62560 h 199649"/>
                <a:gd name="connsiteX5" fmla="*/ 93082 w 295889"/>
                <a:gd name="connsiteY5" fmla="*/ 3391 h 199649"/>
                <a:gd name="connsiteX6" fmla="*/ 3386 w 295889"/>
                <a:gd name="connsiteY6" fmla="*/ 49728 h 199649"/>
                <a:gd name="connsiteX7" fmla="*/ 49733 w 295889"/>
                <a:gd name="connsiteY7" fmla="*/ 139424 h 199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95889" h="199649">
                  <a:moveTo>
                    <a:pt x="49733" y="139424"/>
                  </a:moveTo>
                  <a:cubicBezTo>
                    <a:pt x="99279" y="155215"/>
                    <a:pt x="148672" y="173558"/>
                    <a:pt x="196523" y="193928"/>
                  </a:cubicBezTo>
                  <a:cubicBezTo>
                    <a:pt x="205642" y="197812"/>
                    <a:pt x="215122" y="199649"/>
                    <a:pt x="224451" y="199649"/>
                  </a:cubicBezTo>
                  <a:cubicBezTo>
                    <a:pt x="252208" y="199649"/>
                    <a:pt x="278613" y="183353"/>
                    <a:pt x="290169" y="156205"/>
                  </a:cubicBezTo>
                  <a:cubicBezTo>
                    <a:pt x="305608" y="119929"/>
                    <a:pt x="288722" y="77999"/>
                    <a:pt x="252445" y="62560"/>
                  </a:cubicBezTo>
                  <a:cubicBezTo>
                    <a:pt x="200492" y="40447"/>
                    <a:pt x="146882" y="20534"/>
                    <a:pt x="93082" y="3391"/>
                  </a:cubicBezTo>
                  <a:cubicBezTo>
                    <a:pt x="55530" y="-8584"/>
                    <a:pt x="15361" y="12167"/>
                    <a:pt x="3386" y="49728"/>
                  </a:cubicBezTo>
                  <a:cubicBezTo>
                    <a:pt x="-8579" y="87289"/>
                    <a:pt x="12172" y="127449"/>
                    <a:pt x="49733" y="139424"/>
                  </a:cubicBezTo>
                  <a:close/>
                </a:path>
              </a:pathLst>
            </a:custGeom>
            <a:grpFill/>
            <a:ln w="9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34" name="Freeform 15">
              <a:extLst>
                <a:ext uri="{FF2B5EF4-FFF2-40B4-BE49-F238E27FC236}">
                  <a16:creationId xmlns:a16="http://schemas.microsoft.com/office/drawing/2014/main" id="{D38C6267-BBE3-4437-B2A2-9614A8502AF0}"/>
                </a:ext>
              </a:extLst>
            </p:cNvPr>
            <p:cNvSpPr/>
            <p:nvPr/>
          </p:nvSpPr>
          <p:spPr>
            <a:xfrm>
              <a:off x="5705234" y="4881009"/>
              <a:ext cx="236445" cy="295325"/>
            </a:xfrm>
            <a:custGeom>
              <a:avLst/>
              <a:gdLst>
                <a:gd name="connsiteX0" fmla="*/ 134077 w 236445"/>
                <a:gd name="connsiteY0" fmla="*/ 37214 h 295325"/>
                <a:gd name="connsiteX1" fmla="*/ 37214 w 236445"/>
                <a:gd name="connsiteY1" fmla="*/ 8734 h 295325"/>
                <a:gd name="connsiteX2" fmla="*/ 8734 w 236445"/>
                <a:gd name="connsiteY2" fmla="*/ 105597 h 295325"/>
                <a:gd name="connsiteX3" fmla="*/ 106197 w 236445"/>
                <a:gd name="connsiteY3" fmla="*/ 264342 h 295325"/>
                <a:gd name="connsiteX4" fmla="*/ 165109 w 236445"/>
                <a:gd name="connsiteY4" fmla="*/ 295326 h 295325"/>
                <a:gd name="connsiteX5" fmla="*/ 205459 w 236445"/>
                <a:gd name="connsiteY5" fmla="*/ 282780 h 295325"/>
                <a:gd name="connsiteX6" fmla="*/ 223897 w 236445"/>
                <a:gd name="connsiteY6" fmla="*/ 183518 h 295325"/>
                <a:gd name="connsiteX7" fmla="*/ 134077 w 236445"/>
                <a:gd name="connsiteY7" fmla="*/ 37214 h 29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6445" h="295325">
                  <a:moveTo>
                    <a:pt x="134077" y="37214"/>
                  </a:moveTo>
                  <a:cubicBezTo>
                    <a:pt x="115192" y="2604"/>
                    <a:pt x="71815" y="-10151"/>
                    <a:pt x="37214" y="8734"/>
                  </a:cubicBezTo>
                  <a:cubicBezTo>
                    <a:pt x="2604" y="27619"/>
                    <a:pt x="-10151" y="70987"/>
                    <a:pt x="8734" y="105597"/>
                  </a:cubicBezTo>
                  <a:cubicBezTo>
                    <a:pt x="38356" y="159892"/>
                    <a:pt x="71149" y="213302"/>
                    <a:pt x="106197" y="264342"/>
                  </a:cubicBezTo>
                  <a:cubicBezTo>
                    <a:pt x="120037" y="284493"/>
                    <a:pt x="142378" y="295326"/>
                    <a:pt x="165109" y="295326"/>
                  </a:cubicBezTo>
                  <a:cubicBezTo>
                    <a:pt x="179035" y="295326"/>
                    <a:pt x="193103" y="291261"/>
                    <a:pt x="205459" y="282780"/>
                  </a:cubicBezTo>
                  <a:cubicBezTo>
                    <a:pt x="237965" y="260458"/>
                    <a:pt x="246218" y="216015"/>
                    <a:pt x="223897" y="183518"/>
                  </a:cubicBezTo>
                  <a:cubicBezTo>
                    <a:pt x="191599" y="136476"/>
                    <a:pt x="161377" y="87255"/>
                    <a:pt x="134077" y="37214"/>
                  </a:cubicBezTo>
                  <a:close/>
                </a:path>
              </a:pathLst>
            </a:custGeom>
            <a:grpFill/>
            <a:ln w="9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35" name="Freeform 19">
              <a:extLst>
                <a:ext uri="{FF2B5EF4-FFF2-40B4-BE49-F238E27FC236}">
                  <a16:creationId xmlns:a16="http://schemas.microsoft.com/office/drawing/2014/main" id="{887CC60E-CAA4-40F9-A2E4-856595E7C2C7}"/>
                </a:ext>
              </a:extLst>
            </p:cNvPr>
            <p:cNvSpPr/>
            <p:nvPr/>
          </p:nvSpPr>
          <p:spPr>
            <a:xfrm>
              <a:off x="6025467" y="5301675"/>
              <a:ext cx="1208784" cy="629433"/>
            </a:xfrm>
            <a:custGeom>
              <a:avLst/>
              <a:gdLst>
                <a:gd name="connsiteX0" fmla="*/ 1143524 w 1208784"/>
                <a:gd name="connsiteY0" fmla="*/ 486918 h 629433"/>
                <a:gd name="connsiteX1" fmla="*/ 121054 w 1208784"/>
                <a:gd name="connsiteY1" fmla="*/ 20107 h 629433"/>
                <a:gd name="connsiteX2" fmla="*/ 20107 w 1208784"/>
                <a:gd name="connsiteY2" fmla="*/ 21725 h 629433"/>
                <a:gd name="connsiteX3" fmla="*/ 21725 w 1208784"/>
                <a:gd name="connsiteY3" fmla="*/ 122672 h 629433"/>
                <a:gd name="connsiteX4" fmla="*/ 1131263 w 1208784"/>
                <a:gd name="connsiteY4" fmla="*/ 629167 h 629433"/>
                <a:gd name="connsiteX5" fmla="*/ 1137470 w 1208784"/>
                <a:gd name="connsiteY5" fmla="*/ 629433 h 629433"/>
                <a:gd name="connsiteX6" fmla="*/ 1208518 w 1208784"/>
                <a:gd name="connsiteY6" fmla="*/ 564172 h 629433"/>
                <a:gd name="connsiteX7" fmla="*/ 1143524 w 1208784"/>
                <a:gd name="connsiteY7" fmla="*/ 486918 h 629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08784" h="629433">
                  <a:moveTo>
                    <a:pt x="1143524" y="486918"/>
                  </a:moveTo>
                  <a:cubicBezTo>
                    <a:pt x="760973" y="453954"/>
                    <a:pt x="397850" y="288175"/>
                    <a:pt x="121054" y="20107"/>
                  </a:cubicBezTo>
                  <a:cubicBezTo>
                    <a:pt x="92726" y="-7326"/>
                    <a:pt x="47530" y="-6593"/>
                    <a:pt x="20107" y="21725"/>
                  </a:cubicBezTo>
                  <a:cubicBezTo>
                    <a:pt x="-7317" y="50053"/>
                    <a:pt x="-6603" y="95248"/>
                    <a:pt x="21725" y="122672"/>
                  </a:cubicBezTo>
                  <a:cubicBezTo>
                    <a:pt x="322043" y="413519"/>
                    <a:pt x="716092" y="593395"/>
                    <a:pt x="1131263" y="629167"/>
                  </a:cubicBezTo>
                  <a:cubicBezTo>
                    <a:pt x="1133348" y="629347"/>
                    <a:pt x="1135414" y="629433"/>
                    <a:pt x="1137470" y="629433"/>
                  </a:cubicBezTo>
                  <a:cubicBezTo>
                    <a:pt x="1174127" y="629433"/>
                    <a:pt x="1205310" y="601362"/>
                    <a:pt x="1208518" y="564172"/>
                  </a:cubicBezTo>
                  <a:cubicBezTo>
                    <a:pt x="1211897" y="524898"/>
                    <a:pt x="1182798" y="490306"/>
                    <a:pt x="1143524" y="486918"/>
                  </a:cubicBezTo>
                  <a:close/>
                </a:path>
              </a:pathLst>
            </a:custGeom>
            <a:grpFill/>
            <a:ln w="9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36" name="Freeform 20">
              <a:extLst>
                <a:ext uri="{FF2B5EF4-FFF2-40B4-BE49-F238E27FC236}">
                  <a16:creationId xmlns:a16="http://schemas.microsoft.com/office/drawing/2014/main" id="{ABD44E91-5C1E-4BFD-9961-9EF3CB8B40B4}"/>
                </a:ext>
              </a:extLst>
            </p:cNvPr>
            <p:cNvSpPr/>
            <p:nvPr/>
          </p:nvSpPr>
          <p:spPr>
            <a:xfrm>
              <a:off x="8230836" y="2596349"/>
              <a:ext cx="847017" cy="1132911"/>
            </a:xfrm>
            <a:custGeom>
              <a:avLst/>
              <a:gdLst>
                <a:gd name="connsiteX0" fmla="*/ 111679 w 847017"/>
                <a:gd name="connsiteY0" fmla="*/ 12455 h 1132911"/>
                <a:gd name="connsiteX1" fmla="*/ 12455 w 847017"/>
                <a:gd name="connsiteY1" fmla="*/ 31112 h 1132911"/>
                <a:gd name="connsiteX2" fmla="*/ 31112 w 847017"/>
                <a:gd name="connsiteY2" fmla="*/ 130335 h 1132911"/>
                <a:gd name="connsiteX3" fmla="*/ 706679 w 847017"/>
                <a:gd name="connsiteY3" fmla="*/ 1080082 h 1132911"/>
                <a:gd name="connsiteX4" fmla="*/ 775567 w 847017"/>
                <a:gd name="connsiteY4" fmla="*/ 1132911 h 1132911"/>
                <a:gd name="connsiteX5" fmla="*/ 794185 w 847017"/>
                <a:gd name="connsiteY5" fmla="*/ 1130436 h 1132911"/>
                <a:gd name="connsiteX6" fmla="*/ 844539 w 847017"/>
                <a:gd name="connsiteY6" fmla="*/ 1042930 h 1132911"/>
                <a:gd name="connsiteX7" fmla="*/ 111679 w 847017"/>
                <a:gd name="connsiteY7" fmla="*/ 12455 h 1132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47017" h="1132911">
                  <a:moveTo>
                    <a:pt x="111679" y="12455"/>
                  </a:moveTo>
                  <a:cubicBezTo>
                    <a:pt x="79124" y="-9791"/>
                    <a:pt x="34700" y="-1433"/>
                    <a:pt x="12455" y="31112"/>
                  </a:cubicBezTo>
                  <a:cubicBezTo>
                    <a:pt x="-9791" y="63666"/>
                    <a:pt x="-1433" y="108090"/>
                    <a:pt x="31112" y="130335"/>
                  </a:cubicBezTo>
                  <a:cubicBezTo>
                    <a:pt x="362784" y="357006"/>
                    <a:pt x="602705" y="694305"/>
                    <a:pt x="706679" y="1080082"/>
                  </a:cubicBezTo>
                  <a:cubicBezTo>
                    <a:pt x="715265" y="1111932"/>
                    <a:pt x="744088" y="1132911"/>
                    <a:pt x="775567" y="1132911"/>
                  </a:cubicBezTo>
                  <a:cubicBezTo>
                    <a:pt x="781716" y="1132911"/>
                    <a:pt x="787969" y="1132112"/>
                    <a:pt x="794185" y="1130436"/>
                  </a:cubicBezTo>
                  <a:cubicBezTo>
                    <a:pt x="832260" y="1120175"/>
                    <a:pt x="854801" y="1080996"/>
                    <a:pt x="844539" y="1042930"/>
                  </a:cubicBezTo>
                  <a:cubicBezTo>
                    <a:pt x="731723" y="624294"/>
                    <a:pt x="471451" y="258335"/>
                    <a:pt x="111679" y="12455"/>
                  </a:cubicBezTo>
                  <a:close/>
                </a:path>
              </a:pathLst>
            </a:custGeom>
            <a:grpFill/>
            <a:ln w="9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337" name="Grupa 433">
            <a:extLst>
              <a:ext uri="{FF2B5EF4-FFF2-40B4-BE49-F238E27FC236}">
                <a16:creationId xmlns:a16="http://schemas.microsoft.com/office/drawing/2014/main" id="{32CE3269-539D-4957-A95E-3674D10BD542}"/>
              </a:ext>
            </a:extLst>
          </p:cNvPr>
          <p:cNvGrpSpPr/>
          <p:nvPr/>
        </p:nvGrpSpPr>
        <p:grpSpPr>
          <a:xfrm>
            <a:off x="13579071" y="3208091"/>
            <a:ext cx="364645" cy="380958"/>
            <a:chOff x="8047038" y="2527300"/>
            <a:chExt cx="603250" cy="630238"/>
          </a:xfrm>
        </p:grpSpPr>
        <p:sp>
          <p:nvSpPr>
            <p:cNvPr id="1338" name="Freeform 111">
              <a:extLst>
                <a:ext uri="{FF2B5EF4-FFF2-40B4-BE49-F238E27FC236}">
                  <a16:creationId xmlns:a16="http://schemas.microsoft.com/office/drawing/2014/main" id="{08C97296-036B-4E69-A005-B08681561CE0}"/>
                </a:ext>
              </a:extLst>
            </p:cNvPr>
            <p:cNvSpPr>
              <a:spLocks/>
            </p:cNvSpPr>
            <p:nvPr/>
          </p:nvSpPr>
          <p:spPr bwMode="auto">
            <a:xfrm>
              <a:off x="8047038" y="2527300"/>
              <a:ext cx="603250" cy="630238"/>
            </a:xfrm>
            <a:custGeom>
              <a:avLst/>
              <a:gdLst>
                <a:gd name="T0" fmla="*/ 31 w 380"/>
                <a:gd name="T1" fmla="*/ 185 h 397"/>
                <a:gd name="T2" fmla="*/ 0 w 380"/>
                <a:gd name="T3" fmla="*/ 164 h 397"/>
                <a:gd name="T4" fmla="*/ 9 w 380"/>
                <a:gd name="T5" fmla="*/ 129 h 397"/>
                <a:gd name="T6" fmla="*/ 49 w 380"/>
                <a:gd name="T7" fmla="*/ 129 h 397"/>
                <a:gd name="T8" fmla="*/ 62 w 380"/>
                <a:gd name="T9" fmla="*/ 104 h 397"/>
                <a:gd name="T10" fmla="*/ 42 w 380"/>
                <a:gd name="T11" fmla="*/ 69 h 397"/>
                <a:gd name="T12" fmla="*/ 66 w 380"/>
                <a:gd name="T13" fmla="*/ 44 h 397"/>
                <a:gd name="T14" fmla="*/ 100 w 380"/>
                <a:gd name="T15" fmla="*/ 65 h 397"/>
                <a:gd name="T16" fmla="*/ 124 w 380"/>
                <a:gd name="T17" fmla="*/ 51 h 397"/>
                <a:gd name="T18" fmla="*/ 124 w 380"/>
                <a:gd name="T19" fmla="*/ 9 h 397"/>
                <a:gd name="T20" fmla="*/ 157 w 380"/>
                <a:gd name="T21" fmla="*/ 0 h 397"/>
                <a:gd name="T22" fmla="*/ 177 w 380"/>
                <a:gd name="T23" fmla="*/ 32 h 397"/>
                <a:gd name="T24" fmla="*/ 203 w 380"/>
                <a:gd name="T25" fmla="*/ 32 h 397"/>
                <a:gd name="T26" fmla="*/ 223 w 380"/>
                <a:gd name="T27" fmla="*/ 0 h 397"/>
                <a:gd name="T28" fmla="*/ 256 w 380"/>
                <a:gd name="T29" fmla="*/ 9 h 397"/>
                <a:gd name="T30" fmla="*/ 256 w 380"/>
                <a:gd name="T31" fmla="*/ 51 h 397"/>
                <a:gd name="T32" fmla="*/ 281 w 380"/>
                <a:gd name="T33" fmla="*/ 65 h 397"/>
                <a:gd name="T34" fmla="*/ 314 w 380"/>
                <a:gd name="T35" fmla="*/ 44 h 397"/>
                <a:gd name="T36" fmla="*/ 338 w 380"/>
                <a:gd name="T37" fmla="*/ 69 h 397"/>
                <a:gd name="T38" fmla="*/ 318 w 380"/>
                <a:gd name="T39" fmla="*/ 104 h 397"/>
                <a:gd name="T40" fmla="*/ 331 w 380"/>
                <a:gd name="T41" fmla="*/ 129 h 397"/>
                <a:gd name="T42" fmla="*/ 371 w 380"/>
                <a:gd name="T43" fmla="*/ 129 h 397"/>
                <a:gd name="T44" fmla="*/ 380 w 380"/>
                <a:gd name="T45" fmla="*/ 164 h 397"/>
                <a:gd name="T46" fmla="*/ 349 w 380"/>
                <a:gd name="T47" fmla="*/ 185 h 397"/>
                <a:gd name="T48" fmla="*/ 349 w 380"/>
                <a:gd name="T49" fmla="*/ 212 h 397"/>
                <a:gd name="T50" fmla="*/ 380 w 380"/>
                <a:gd name="T51" fmla="*/ 233 h 397"/>
                <a:gd name="T52" fmla="*/ 371 w 380"/>
                <a:gd name="T53" fmla="*/ 268 h 397"/>
                <a:gd name="T54" fmla="*/ 331 w 380"/>
                <a:gd name="T55" fmla="*/ 268 h 397"/>
                <a:gd name="T56" fmla="*/ 318 w 380"/>
                <a:gd name="T57" fmla="*/ 293 h 397"/>
                <a:gd name="T58" fmla="*/ 338 w 380"/>
                <a:gd name="T59" fmla="*/ 328 h 397"/>
                <a:gd name="T60" fmla="*/ 314 w 380"/>
                <a:gd name="T61" fmla="*/ 353 h 397"/>
                <a:gd name="T62" fmla="*/ 281 w 380"/>
                <a:gd name="T63" fmla="*/ 332 h 397"/>
                <a:gd name="T64" fmla="*/ 256 w 380"/>
                <a:gd name="T65" fmla="*/ 346 h 397"/>
                <a:gd name="T66" fmla="*/ 256 w 380"/>
                <a:gd name="T67" fmla="*/ 388 h 397"/>
                <a:gd name="T68" fmla="*/ 223 w 380"/>
                <a:gd name="T69" fmla="*/ 397 h 397"/>
                <a:gd name="T70" fmla="*/ 203 w 380"/>
                <a:gd name="T71" fmla="*/ 365 h 397"/>
                <a:gd name="T72" fmla="*/ 177 w 380"/>
                <a:gd name="T73" fmla="*/ 365 h 397"/>
                <a:gd name="T74" fmla="*/ 157 w 380"/>
                <a:gd name="T75" fmla="*/ 397 h 397"/>
                <a:gd name="T76" fmla="*/ 124 w 380"/>
                <a:gd name="T77" fmla="*/ 388 h 397"/>
                <a:gd name="T78" fmla="*/ 124 w 380"/>
                <a:gd name="T79" fmla="*/ 346 h 397"/>
                <a:gd name="T80" fmla="*/ 100 w 380"/>
                <a:gd name="T81" fmla="*/ 332 h 397"/>
                <a:gd name="T82" fmla="*/ 66 w 380"/>
                <a:gd name="T83" fmla="*/ 353 h 397"/>
                <a:gd name="T84" fmla="*/ 42 w 380"/>
                <a:gd name="T85" fmla="*/ 328 h 397"/>
                <a:gd name="T86" fmla="*/ 62 w 380"/>
                <a:gd name="T87" fmla="*/ 293 h 397"/>
                <a:gd name="T88" fmla="*/ 49 w 380"/>
                <a:gd name="T89" fmla="*/ 268 h 397"/>
                <a:gd name="T90" fmla="*/ 9 w 380"/>
                <a:gd name="T91" fmla="*/ 268 h 397"/>
                <a:gd name="T92" fmla="*/ 0 w 380"/>
                <a:gd name="T93" fmla="*/ 233 h 397"/>
                <a:gd name="T94" fmla="*/ 31 w 380"/>
                <a:gd name="T95" fmla="*/ 212 h 397"/>
                <a:gd name="T96" fmla="*/ 31 w 380"/>
                <a:gd name="T97" fmla="*/ 185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0" h="397">
                  <a:moveTo>
                    <a:pt x="31" y="185"/>
                  </a:moveTo>
                  <a:lnTo>
                    <a:pt x="0" y="164"/>
                  </a:lnTo>
                  <a:lnTo>
                    <a:pt x="9" y="129"/>
                  </a:lnTo>
                  <a:lnTo>
                    <a:pt x="49" y="129"/>
                  </a:lnTo>
                  <a:lnTo>
                    <a:pt x="62" y="104"/>
                  </a:lnTo>
                  <a:lnTo>
                    <a:pt x="42" y="69"/>
                  </a:lnTo>
                  <a:lnTo>
                    <a:pt x="66" y="44"/>
                  </a:lnTo>
                  <a:lnTo>
                    <a:pt x="100" y="65"/>
                  </a:lnTo>
                  <a:lnTo>
                    <a:pt x="124" y="51"/>
                  </a:lnTo>
                  <a:lnTo>
                    <a:pt x="124" y="9"/>
                  </a:lnTo>
                  <a:lnTo>
                    <a:pt x="157" y="0"/>
                  </a:lnTo>
                  <a:lnTo>
                    <a:pt x="177" y="32"/>
                  </a:lnTo>
                  <a:lnTo>
                    <a:pt x="203" y="32"/>
                  </a:lnTo>
                  <a:lnTo>
                    <a:pt x="223" y="0"/>
                  </a:lnTo>
                  <a:lnTo>
                    <a:pt x="256" y="9"/>
                  </a:lnTo>
                  <a:lnTo>
                    <a:pt x="256" y="51"/>
                  </a:lnTo>
                  <a:lnTo>
                    <a:pt x="281" y="65"/>
                  </a:lnTo>
                  <a:lnTo>
                    <a:pt x="314" y="44"/>
                  </a:lnTo>
                  <a:lnTo>
                    <a:pt x="338" y="69"/>
                  </a:lnTo>
                  <a:lnTo>
                    <a:pt x="318" y="104"/>
                  </a:lnTo>
                  <a:lnTo>
                    <a:pt x="331" y="129"/>
                  </a:lnTo>
                  <a:lnTo>
                    <a:pt x="371" y="129"/>
                  </a:lnTo>
                  <a:lnTo>
                    <a:pt x="380" y="164"/>
                  </a:lnTo>
                  <a:lnTo>
                    <a:pt x="349" y="185"/>
                  </a:lnTo>
                  <a:lnTo>
                    <a:pt x="349" y="212"/>
                  </a:lnTo>
                  <a:lnTo>
                    <a:pt x="380" y="233"/>
                  </a:lnTo>
                  <a:lnTo>
                    <a:pt x="371" y="268"/>
                  </a:lnTo>
                  <a:lnTo>
                    <a:pt x="331" y="268"/>
                  </a:lnTo>
                  <a:lnTo>
                    <a:pt x="318" y="293"/>
                  </a:lnTo>
                  <a:lnTo>
                    <a:pt x="338" y="328"/>
                  </a:lnTo>
                  <a:lnTo>
                    <a:pt x="314" y="353"/>
                  </a:lnTo>
                  <a:lnTo>
                    <a:pt x="281" y="332"/>
                  </a:lnTo>
                  <a:lnTo>
                    <a:pt x="256" y="346"/>
                  </a:lnTo>
                  <a:lnTo>
                    <a:pt x="256" y="388"/>
                  </a:lnTo>
                  <a:lnTo>
                    <a:pt x="223" y="397"/>
                  </a:lnTo>
                  <a:lnTo>
                    <a:pt x="203" y="365"/>
                  </a:lnTo>
                  <a:lnTo>
                    <a:pt x="177" y="365"/>
                  </a:lnTo>
                  <a:lnTo>
                    <a:pt x="157" y="397"/>
                  </a:lnTo>
                  <a:lnTo>
                    <a:pt x="124" y="388"/>
                  </a:lnTo>
                  <a:lnTo>
                    <a:pt x="124" y="346"/>
                  </a:lnTo>
                  <a:lnTo>
                    <a:pt x="100" y="332"/>
                  </a:lnTo>
                  <a:lnTo>
                    <a:pt x="66" y="353"/>
                  </a:lnTo>
                  <a:lnTo>
                    <a:pt x="42" y="328"/>
                  </a:lnTo>
                  <a:lnTo>
                    <a:pt x="62" y="293"/>
                  </a:lnTo>
                  <a:lnTo>
                    <a:pt x="49" y="268"/>
                  </a:lnTo>
                  <a:lnTo>
                    <a:pt x="9" y="268"/>
                  </a:lnTo>
                  <a:lnTo>
                    <a:pt x="0" y="233"/>
                  </a:lnTo>
                  <a:lnTo>
                    <a:pt x="31" y="212"/>
                  </a:lnTo>
                  <a:lnTo>
                    <a:pt x="31" y="185"/>
                  </a:lnTo>
                  <a:close/>
                </a:path>
              </a:pathLst>
            </a:custGeom>
            <a:noFill/>
            <a:ln w="12700" cap="flat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39" name="Oval 112">
              <a:extLst>
                <a:ext uri="{FF2B5EF4-FFF2-40B4-BE49-F238E27FC236}">
                  <a16:creationId xmlns:a16="http://schemas.microsoft.com/office/drawing/2014/main" id="{1FF6C3F3-EE63-4631-9956-CEAB253466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48663" y="2959100"/>
              <a:ext cx="84138" cy="88900"/>
            </a:xfrm>
            <a:prstGeom prst="ellipse">
              <a:avLst/>
            </a:prstGeom>
            <a:noFill/>
            <a:ln w="12700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40" name="Oval 113">
              <a:extLst>
                <a:ext uri="{FF2B5EF4-FFF2-40B4-BE49-F238E27FC236}">
                  <a16:creationId xmlns:a16="http://schemas.microsoft.com/office/drawing/2014/main" id="{C9F3F0DB-A530-4D04-9B2C-556C39A36E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91526" y="2667000"/>
              <a:ext cx="84138" cy="87313"/>
            </a:xfrm>
            <a:prstGeom prst="ellipse">
              <a:avLst/>
            </a:prstGeom>
            <a:noFill/>
            <a:ln w="12700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41" name="Oval 114">
              <a:extLst>
                <a:ext uri="{FF2B5EF4-FFF2-40B4-BE49-F238E27FC236}">
                  <a16:creationId xmlns:a16="http://schemas.microsoft.com/office/drawing/2014/main" id="{DAACA261-DB4E-4A65-8916-909C1F9A62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47088" y="2813050"/>
              <a:ext cx="84138" cy="88900"/>
            </a:xfrm>
            <a:prstGeom prst="ellipse">
              <a:avLst/>
            </a:prstGeom>
            <a:noFill/>
            <a:ln w="12700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42" name="Line 115">
              <a:extLst>
                <a:ext uri="{FF2B5EF4-FFF2-40B4-BE49-F238E27FC236}">
                  <a16:creationId xmlns:a16="http://schemas.microsoft.com/office/drawing/2014/main" id="{FA891201-CEAA-40DA-B508-33FE7E7981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39113" y="2857500"/>
              <a:ext cx="307975" cy="0"/>
            </a:xfrm>
            <a:prstGeom prst="line">
              <a:avLst/>
            </a:prstGeom>
            <a:noFill/>
            <a:ln w="12700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43" name="Freeform 116">
              <a:extLst>
                <a:ext uri="{FF2B5EF4-FFF2-40B4-BE49-F238E27FC236}">
                  <a16:creationId xmlns:a16="http://schemas.microsoft.com/office/drawing/2014/main" id="{90DE76CA-6DD4-406B-ACDE-D19AE0316A0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64526" y="2740025"/>
              <a:ext cx="139700" cy="58738"/>
            </a:xfrm>
            <a:custGeom>
              <a:avLst/>
              <a:gdLst>
                <a:gd name="T0" fmla="*/ 88 w 88"/>
                <a:gd name="T1" fmla="*/ 0 h 37"/>
                <a:gd name="T2" fmla="*/ 53 w 88"/>
                <a:gd name="T3" fmla="*/ 37 h 37"/>
                <a:gd name="T4" fmla="*/ 0 w 88"/>
                <a:gd name="T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8" h="37">
                  <a:moveTo>
                    <a:pt x="88" y="0"/>
                  </a:moveTo>
                  <a:lnTo>
                    <a:pt x="53" y="37"/>
                  </a:lnTo>
                  <a:lnTo>
                    <a:pt x="0" y="37"/>
                  </a:lnTo>
                </a:path>
              </a:pathLst>
            </a:custGeom>
            <a:noFill/>
            <a:ln w="12700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44" name="Oval 117">
              <a:extLst>
                <a:ext uri="{FF2B5EF4-FFF2-40B4-BE49-F238E27FC236}">
                  <a16:creationId xmlns:a16="http://schemas.microsoft.com/office/drawing/2014/main" id="{813775B5-7F74-4750-B69C-A2D085ABD7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50238" y="2652713"/>
              <a:ext cx="84138" cy="87313"/>
            </a:xfrm>
            <a:prstGeom prst="ellipse">
              <a:avLst/>
            </a:prstGeom>
            <a:noFill/>
            <a:ln w="12700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45" name="Freeform 118">
              <a:extLst>
                <a:ext uri="{FF2B5EF4-FFF2-40B4-BE49-F238E27FC236}">
                  <a16:creationId xmlns:a16="http://schemas.microsoft.com/office/drawing/2014/main" id="{20A6D24F-0985-4250-8F45-8B7A403A5BDC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6101" y="2916238"/>
              <a:ext cx="196850" cy="58738"/>
            </a:xfrm>
            <a:custGeom>
              <a:avLst/>
              <a:gdLst>
                <a:gd name="T0" fmla="*/ 124 w 124"/>
                <a:gd name="T1" fmla="*/ 37 h 37"/>
                <a:gd name="T2" fmla="*/ 89 w 124"/>
                <a:gd name="T3" fmla="*/ 0 h 37"/>
                <a:gd name="T4" fmla="*/ 0 w 124"/>
                <a:gd name="T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4" h="37">
                  <a:moveTo>
                    <a:pt x="124" y="37"/>
                  </a:moveTo>
                  <a:lnTo>
                    <a:pt x="89" y="0"/>
                  </a:lnTo>
                  <a:lnTo>
                    <a:pt x="0" y="0"/>
                  </a:lnTo>
                </a:path>
              </a:pathLst>
            </a:custGeom>
            <a:noFill/>
            <a:ln w="12700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46" name="Freeform 119">
              <a:extLst>
                <a:ext uri="{FF2B5EF4-FFF2-40B4-BE49-F238E27FC236}">
                  <a16:creationId xmlns:a16="http://schemas.microsoft.com/office/drawing/2014/main" id="{43298F08-6A84-4ACC-8E76-DD2EA052982D}"/>
                </a:ext>
              </a:extLst>
            </p:cNvPr>
            <p:cNvSpPr>
              <a:spLocks/>
            </p:cNvSpPr>
            <p:nvPr/>
          </p:nvSpPr>
          <p:spPr bwMode="auto">
            <a:xfrm>
              <a:off x="8139113" y="2725738"/>
              <a:ext cx="125413" cy="73025"/>
            </a:xfrm>
            <a:custGeom>
              <a:avLst/>
              <a:gdLst>
                <a:gd name="T0" fmla="*/ 79 w 79"/>
                <a:gd name="T1" fmla="*/ 0 h 46"/>
                <a:gd name="T2" fmla="*/ 35 w 79"/>
                <a:gd name="T3" fmla="*/ 46 h 46"/>
                <a:gd name="T4" fmla="*/ 0 w 79"/>
                <a:gd name="T5" fmla="*/ 4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9" h="46">
                  <a:moveTo>
                    <a:pt x="79" y="0"/>
                  </a:moveTo>
                  <a:lnTo>
                    <a:pt x="35" y="46"/>
                  </a:lnTo>
                  <a:lnTo>
                    <a:pt x="0" y="46"/>
                  </a:lnTo>
                </a:path>
              </a:pathLst>
            </a:custGeom>
            <a:noFill/>
            <a:ln w="12700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</p:grpSp>
      <p:pic>
        <p:nvPicPr>
          <p:cNvPr id="1348" name="Graphic 1347">
            <a:extLst>
              <a:ext uri="{FF2B5EF4-FFF2-40B4-BE49-F238E27FC236}">
                <a16:creationId xmlns:a16="http://schemas.microsoft.com/office/drawing/2014/main" id="{185C9833-45F3-4F11-9285-293214542D06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615899" y="2823048"/>
            <a:ext cx="457200" cy="342900"/>
          </a:xfrm>
          <a:prstGeom prst="rect">
            <a:avLst/>
          </a:prstGeom>
        </p:spPr>
      </p:pic>
      <p:pic>
        <p:nvPicPr>
          <p:cNvPr id="1349" name="Graphic 1348">
            <a:extLst>
              <a:ext uri="{FF2B5EF4-FFF2-40B4-BE49-F238E27FC236}">
                <a16:creationId xmlns:a16="http://schemas.microsoft.com/office/drawing/2014/main" id="{2D2113BF-D8F5-489B-9594-FA13F5E6274D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2521433" y="2823048"/>
            <a:ext cx="406400" cy="406400"/>
          </a:xfrm>
          <a:prstGeom prst="rect">
            <a:avLst/>
          </a:prstGeom>
        </p:spPr>
      </p:pic>
      <p:pic>
        <p:nvPicPr>
          <p:cNvPr id="1350" name="Graphic 1349">
            <a:extLst>
              <a:ext uri="{FF2B5EF4-FFF2-40B4-BE49-F238E27FC236}">
                <a16:creationId xmlns:a16="http://schemas.microsoft.com/office/drawing/2014/main" id="{EDDD6650-B4B2-4570-AE72-6B8BE518A80B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615899" y="4172662"/>
            <a:ext cx="381000" cy="457200"/>
          </a:xfrm>
          <a:prstGeom prst="rect">
            <a:avLst/>
          </a:prstGeom>
        </p:spPr>
      </p:pic>
      <p:pic>
        <p:nvPicPr>
          <p:cNvPr id="1351" name="Graphic 1350">
            <a:extLst>
              <a:ext uri="{FF2B5EF4-FFF2-40B4-BE49-F238E27FC236}">
                <a16:creationId xmlns:a16="http://schemas.microsoft.com/office/drawing/2014/main" id="{29B4F7CA-5B8C-407B-8D80-28F4AB18529F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568060" y="5358236"/>
            <a:ext cx="444500" cy="444500"/>
          </a:xfrm>
          <a:prstGeom prst="rect">
            <a:avLst/>
          </a:prstGeom>
        </p:spPr>
      </p:pic>
      <p:pic>
        <p:nvPicPr>
          <p:cNvPr id="1352" name="Graphic 1351">
            <a:extLst>
              <a:ext uri="{FF2B5EF4-FFF2-40B4-BE49-F238E27FC236}">
                <a16:creationId xmlns:a16="http://schemas.microsoft.com/office/drawing/2014/main" id="{E641101B-6825-45A5-9938-110A9D71ADB6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2473594" y="5358236"/>
            <a:ext cx="444500" cy="457200"/>
          </a:xfrm>
          <a:prstGeom prst="rect">
            <a:avLst/>
          </a:prstGeom>
        </p:spPr>
      </p:pic>
      <p:pic>
        <p:nvPicPr>
          <p:cNvPr id="1353" name="Graphic 1352">
            <a:extLst>
              <a:ext uri="{FF2B5EF4-FFF2-40B4-BE49-F238E27FC236}">
                <a16:creationId xmlns:a16="http://schemas.microsoft.com/office/drawing/2014/main" id="{BA463EC0-BD9C-480A-8C0F-A0E30467C3B7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2521433" y="4172662"/>
            <a:ext cx="428625" cy="447675"/>
          </a:xfrm>
          <a:prstGeom prst="rect">
            <a:avLst/>
          </a:prstGeom>
        </p:spPr>
      </p:pic>
      <p:pic>
        <p:nvPicPr>
          <p:cNvPr id="1354" name="Picture 1353">
            <a:extLst>
              <a:ext uri="{FF2B5EF4-FFF2-40B4-BE49-F238E27FC236}">
                <a16:creationId xmlns:a16="http://schemas.microsoft.com/office/drawing/2014/main" id="{5324A8A5-9055-469E-83FA-EDC02F4BC71F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1758987" y="6180978"/>
            <a:ext cx="1401055" cy="515438"/>
          </a:xfrm>
          <a:prstGeom prst="rect">
            <a:avLst/>
          </a:prstGeom>
        </p:spPr>
      </p:pic>
      <p:pic>
        <p:nvPicPr>
          <p:cNvPr id="1355" name="Picture 1354">
            <a:extLst>
              <a:ext uri="{FF2B5EF4-FFF2-40B4-BE49-F238E27FC236}">
                <a16:creationId xmlns:a16="http://schemas.microsoft.com/office/drawing/2014/main" id="{6A7FD689-9189-44E4-871F-1335155E542E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11578966" y="6819423"/>
            <a:ext cx="1081393" cy="226109"/>
          </a:xfrm>
          <a:prstGeom prst="rect">
            <a:avLst/>
          </a:prstGeom>
        </p:spPr>
      </p:pic>
      <p:pic>
        <p:nvPicPr>
          <p:cNvPr id="1357" name="Picture 1356">
            <a:extLst>
              <a:ext uri="{FF2B5EF4-FFF2-40B4-BE49-F238E27FC236}">
                <a16:creationId xmlns:a16="http://schemas.microsoft.com/office/drawing/2014/main" id="{8BC4A2BB-92E8-4546-99C2-A6977309B18B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2732712" y="6749128"/>
            <a:ext cx="576243" cy="344318"/>
          </a:xfrm>
          <a:prstGeom prst="rect">
            <a:avLst/>
          </a:prstGeom>
        </p:spPr>
      </p:pic>
      <p:pic>
        <p:nvPicPr>
          <p:cNvPr id="465" name="Graphic 464" descr="Lightbulb and gear with solid fill">
            <a:extLst>
              <a:ext uri="{FF2B5EF4-FFF2-40B4-BE49-F238E27FC236}">
                <a16:creationId xmlns:a16="http://schemas.microsoft.com/office/drawing/2014/main" id="{D4B0849E-66E5-429A-B4CD-6A4F945DB467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13547140" y="4572238"/>
            <a:ext cx="477336" cy="477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8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object 33">
            <a:extLst>
              <a:ext uri="{FF2B5EF4-FFF2-40B4-BE49-F238E27FC236}">
                <a16:creationId xmlns:a16="http://schemas.microsoft.com/office/drawing/2014/main" id="{F2373526-9B57-4C19-9471-E154339059F4}"/>
              </a:ext>
            </a:extLst>
          </p:cNvPr>
          <p:cNvSpPr/>
          <p:nvPr/>
        </p:nvSpPr>
        <p:spPr>
          <a:xfrm>
            <a:off x="7344291" y="2392952"/>
            <a:ext cx="193225" cy="994334"/>
          </a:xfrm>
          <a:custGeom>
            <a:avLst/>
            <a:gdLst/>
            <a:ahLst/>
            <a:cxnLst/>
            <a:rect l="l" t="t" r="r" b="b"/>
            <a:pathLst>
              <a:path w="130810" h="720725">
                <a:moveTo>
                  <a:pt x="130378" y="0"/>
                </a:moveTo>
                <a:lnTo>
                  <a:pt x="0" y="0"/>
                </a:lnTo>
                <a:lnTo>
                  <a:pt x="0" y="720293"/>
                </a:lnTo>
              </a:path>
            </a:pathLst>
          </a:custGeom>
          <a:ln w="28575">
            <a:solidFill>
              <a:schemeClr val="tx2">
                <a:lumMod val="90000"/>
              </a:schemeClr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9" name="object 34">
            <a:extLst>
              <a:ext uri="{FF2B5EF4-FFF2-40B4-BE49-F238E27FC236}">
                <a16:creationId xmlns:a16="http://schemas.microsoft.com/office/drawing/2014/main" id="{6B4DEB29-2F99-4C31-85C8-29DB7DB487FA}"/>
              </a:ext>
            </a:extLst>
          </p:cNvPr>
          <p:cNvSpPr/>
          <p:nvPr/>
        </p:nvSpPr>
        <p:spPr>
          <a:xfrm>
            <a:off x="5647832" y="3231522"/>
            <a:ext cx="778527" cy="326771"/>
          </a:xfrm>
          <a:custGeom>
            <a:avLst/>
            <a:gdLst/>
            <a:ahLst/>
            <a:cxnLst/>
            <a:rect l="l" t="t" r="r" b="b"/>
            <a:pathLst>
              <a:path w="527050" h="236854">
                <a:moveTo>
                  <a:pt x="0" y="0"/>
                </a:moveTo>
                <a:lnTo>
                  <a:pt x="526554" y="0"/>
                </a:lnTo>
                <a:lnTo>
                  <a:pt x="526554" y="236372"/>
                </a:lnTo>
              </a:path>
            </a:pathLst>
          </a:custGeom>
          <a:ln w="28575">
            <a:solidFill>
              <a:srgbClr val="63666A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3" name="object 35">
            <a:extLst>
              <a:ext uri="{FF2B5EF4-FFF2-40B4-BE49-F238E27FC236}">
                <a16:creationId xmlns:a16="http://schemas.microsoft.com/office/drawing/2014/main" id="{550CE6BF-CEF9-45AE-9075-EFFAD90E18F1}"/>
              </a:ext>
            </a:extLst>
          </p:cNvPr>
          <p:cNvSpPr/>
          <p:nvPr/>
        </p:nvSpPr>
        <p:spPr>
          <a:xfrm>
            <a:off x="7834429" y="3231522"/>
            <a:ext cx="778527" cy="326771"/>
          </a:xfrm>
          <a:custGeom>
            <a:avLst/>
            <a:gdLst/>
            <a:ahLst/>
            <a:cxnLst/>
            <a:rect l="l" t="t" r="r" b="b"/>
            <a:pathLst>
              <a:path w="527050" h="236854">
                <a:moveTo>
                  <a:pt x="526554" y="0"/>
                </a:moveTo>
                <a:lnTo>
                  <a:pt x="0" y="0"/>
                </a:lnTo>
                <a:lnTo>
                  <a:pt x="0" y="236372"/>
                </a:lnTo>
              </a:path>
            </a:pathLst>
          </a:custGeom>
          <a:ln w="28575">
            <a:solidFill>
              <a:schemeClr val="tx2">
                <a:lumMod val="90000"/>
              </a:schemeClr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5" name="object 36">
            <a:extLst>
              <a:ext uri="{FF2B5EF4-FFF2-40B4-BE49-F238E27FC236}">
                <a16:creationId xmlns:a16="http://schemas.microsoft.com/office/drawing/2014/main" id="{695F453A-10EA-44D0-BBDA-4FA259E6D848}"/>
              </a:ext>
            </a:extLst>
          </p:cNvPr>
          <p:cNvSpPr/>
          <p:nvPr/>
        </p:nvSpPr>
        <p:spPr>
          <a:xfrm>
            <a:off x="6739631" y="5537517"/>
            <a:ext cx="193225" cy="1120487"/>
          </a:xfrm>
          <a:custGeom>
            <a:avLst/>
            <a:gdLst/>
            <a:ahLst/>
            <a:cxnLst/>
            <a:rect l="l" t="t" r="r" b="b"/>
            <a:pathLst>
              <a:path w="130810" h="812165">
                <a:moveTo>
                  <a:pt x="0" y="811580"/>
                </a:moveTo>
                <a:lnTo>
                  <a:pt x="130378" y="811580"/>
                </a:lnTo>
                <a:lnTo>
                  <a:pt x="130378" y="0"/>
                </a:lnTo>
              </a:path>
            </a:pathLst>
          </a:custGeom>
          <a:ln w="28575">
            <a:solidFill>
              <a:srgbClr val="63666A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6" name="object 37">
            <a:extLst>
              <a:ext uri="{FF2B5EF4-FFF2-40B4-BE49-F238E27FC236}">
                <a16:creationId xmlns:a16="http://schemas.microsoft.com/office/drawing/2014/main" id="{6E7F5BC3-16B3-41A5-9A1C-F4E06D2E692D}"/>
              </a:ext>
            </a:extLst>
          </p:cNvPr>
          <p:cNvSpPr/>
          <p:nvPr/>
        </p:nvSpPr>
        <p:spPr>
          <a:xfrm>
            <a:off x="7652115" y="5387978"/>
            <a:ext cx="193225" cy="1165167"/>
          </a:xfrm>
          <a:custGeom>
            <a:avLst/>
            <a:gdLst/>
            <a:ahLst/>
            <a:cxnLst/>
            <a:rect l="l" t="t" r="r" b="b"/>
            <a:pathLst>
              <a:path w="130810" h="844550">
                <a:moveTo>
                  <a:pt x="130378" y="844194"/>
                </a:moveTo>
                <a:lnTo>
                  <a:pt x="0" y="844194"/>
                </a:lnTo>
                <a:lnTo>
                  <a:pt x="0" y="0"/>
                </a:lnTo>
              </a:path>
            </a:pathLst>
          </a:custGeom>
          <a:ln w="28575">
            <a:solidFill>
              <a:schemeClr val="accent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8" name="object 38">
            <a:extLst>
              <a:ext uri="{FF2B5EF4-FFF2-40B4-BE49-F238E27FC236}">
                <a16:creationId xmlns:a16="http://schemas.microsoft.com/office/drawing/2014/main" id="{B0802370-F745-4FA2-931B-71F7A1CD11F2}"/>
              </a:ext>
            </a:extLst>
          </p:cNvPr>
          <p:cNvSpPr/>
          <p:nvPr/>
        </p:nvSpPr>
        <p:spPr>
          <a:xfrm>
            <a:off x="5676624" y="5349924"/>
            <a:ext cx="778527" cy="469571"/>
          </a:xfrm>
          <a:custGeom>
            <a:avLst/>
            <a:gdLst/>
            <a:ahLst/>
            <a:cxnLst/>
            <a:rect l="l" t="t" r="r" b="b"/>
            <a:pathLst>
              <a:path w="527050" h="340359">
                <a:moveTo>
                  <a:pt x="0" y="339737"/>
                </a:moveTo>
                <a:lnTo>
                  <a:pt x="526554" y="339737"/>
                </a:lnTo>
                <a:lnTo>
                  <a:pt x="526554" y="0"/>
                </a:lnTo>
              </a:path>
            </a:pathLst>
          </a:custGeom>
          <a:ln w="28575">
            <a:solidFill>
              <a:srgbClr val="63666A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0" name="object 53">
            <a:extLst>
              <a:ext uri="{FF2B5EF4-FFF2-40B4-BE49-F238E27FC236}">
                <a16:creationId xmlns:a16="http://schemas.microsoft.com/office/drawing/2014/main" id="{BB5AA83A-50A6-46E2-8464-C94852CE1559}"/>
              </a:ext>
            </a:extLst>
          </p:cNvPr>
          <p:cNvSpPr/>
          <p:nvPr/>
        </p:nvSpPr>
        <p:spPr>
          <a:xfrm>
            <a:off x="8354751" y="4326978"/>
            <a:ext cx="915472" cy="0"/>
          </a:xfrm>
          <a:custGeom>
            <a:avLst/>
            <a:gdLst/>
            <a:ahLst/>
            <a:cxnLst/>
            <a:rect l="l" t="t" r="r" b="b"/>
            <a:pathLst>
              <a:path w="619760">
                <a:moveTo>
                  <a:pt x="619277" y="0"/>
                </a:moveTo>
                <a:lnTo>
                  <a:pt x="0" y="0"/>
                </a:lnTo>
              </a:path>
            </a:pathLst>
          </a:custGeom>
          <a:ln w="28575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1" name="object 54">
            <a:extLst>
              <a:ext uri="{FF2B5EF4-FFF2-40B4-BE49-F238E27FC236}">
                <a16:creationId xmlns:a16="http://schemas.microsoft.com/office/drawing/2014/main" id="{DD0B740F-2442-41C3-9E86-2FDC25F0AE0C}"/>
              </a:ext>
            </a:extLst>
          </p:cNvPr>
          <p:cNvSpPr/>
          <p:nvPr/>
        </p:nvSpPr>
        <p:spPr>
          <a:xfrm>
            <a:off x="4998873" y="4326978"/>
            <a:ext cx="1005840" cy="0"/>
          </a:xfrm>
          <a:custGeom>
            <a:avLst/>
            <a:gdLst/>
            <a:ahLst/>
            <a:cxnLst/>
            <a:rect l="l" t="t" r="r" b="b"/>
            <a:pathLst>
              <a:path w="537844">
                <a:moveTo>
                  <a:pt x="537844" y="0"/>
                </a:moveTo>
                <a:lnTo>
                  <a:pt x="0" y="0"/>
                </a:lnTo>
              </a:path>
            </a:pathLst>
          </a:custGeom>
          <a:ln w="28575">
            <a:solidFill>
              <a:schemeClr val="accent3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2" name="object 33">
            <a:extLst>
              <a:ext uri="{FF2B5EF4-FFF2-40B4-BE49-F238E27FC236}">
                <a16:creationId xmlns:a16="http://schemas.microsoft.com/office/drawing/2014/main" id="{B4388056-8940-4ACA-9753-018DD4C0E791}"/>
              </a:ext>
            </a:extLst>
          </p:cNvPr>
          <p:cNvSpPr/>
          <p:nvPr/>
        </p:nvSpPr>
        <p:spPr>
          <a:xfrm flipH="1">
            <a:off x="6706151" y="2392952"/>
            <a:ext cx="193225" cy="994334"/>
          </a:xfrm>
          <a:custGeom>
            <a:avLst/>
            <a:gdLst/>
            <a:ahLst/>
            <a:cxnLst/>
            <a:rect l="l" t="t" r="r" b="b"/>
            <a:pathLst>
              <a:path w="130810" h="720725">
                <a:moveTo>
                  <a:pt x="130378" y="0"/>
                </a:moveTo>
                <a:lnTo>
                  <a:pt x="0" y="0"/>
                </a:lnTo>
                <a:lnTo>
                  <a:pt x="0" y="720293"/>
                </a:lnTo>
              </a:path>
            </a:pathLst>
          </a:custGeom>
          <a:ln w="28575">
            <a:solidFill>
              <a:srgbClr val="63666A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3" name="Title 1">
            <a:extLst>
              <a:ext uri="{FF2B5EF4-FFF2-40B4-BE49-F238E27FC236}">
                <a16:creationId xmlns:a16="http://schemas.microsoft.com/office/drawing/2014/main" id="{C26D79BB-04A1-4D7D-BB88-B21E941B1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39763"/>
            <a:ext cx="13258800" cy="1417635"/>
          </a:xfrm>
        </p:spPr>
        <p:txBody>
          <a:bodyPr>
            <a:normAutofit/>
          </a:bodyPr>
          <a:lstStyle/>
          <a:p>
            <a:r>
              <a:rPr lang="en-US"/>
              <a:t>DXC Business Exchange Services (BES) </a:t>
            </a:r>
            <a:endParaRPr lang="en-AU"/>
          </a:p>
        </p:txBody>
      </p:sp>
      <p:sp>
        <p:nvSpPr>
          <p:cNvPr id="74" name="object 8">
            <a:extLst>
              <a:ext uri="{FF2B5EF4-FFF2-40B4-BE49-F238E27FC236}">
                <a16:creationId xmlns:a16="http://schemas.microsoft.com/office/drawing/2014/main" id="{66BD6AE9-8B6A-45A8-9EA8-A3602F66BA2D}"/>
              </a:ext>
            </a:extLst>
          </p:cNvPr>
          <p:cNvSpPr>
            <a:spLocks noChangeAspect="1"/>
          </p:cNvSpPr>
          <p:nvPr/>
        </p:nvSpPr>
        <p:spPr>
          <a:xfrm>
            <a:off x="5890577" y="3248484"/>
            <a:ext cx="2468880" cy="2468880"/>
          </a:xfrm>
          <a:custGeom>
            <a:avLst/>
            <a:gdLst/>
            <a:ahLst/>
            <a:cxnLst/>
            <a:rect l="l" t="t" r="r" b="b"/>
            <a:pathLst>
              <a:path w="1660525" h="1660525">
                <a:moveTo>
                  <a:pt x="830249" y="1660486"/>
                </a:moveTo>
                <a:lnTo>
                  <a:pt x="879033" y="1659077"/>
                </a:lnTo>
                <a:lnTo>
                  <a:pt x="927074" y="1654901"/>
                </a:lnTo>
                <a:lnTo>
                  <a:pt x="974295" y="1648035"/>
                </a:lnTo>
                <a:lnTo>
                  <a:pt x="1020618" y="1638559"/>
                </a:lnTo>
                <a:lnTo>
                  <a:pt x="1065965" y="1626549"/>
                </a:lnTo>
                <a:lnTo>
                  <a:pt x="1110258" y="1612084"/>
                </a:lnTo>
                <a:lnTo>
                  <a:pt x="1153420" y="1595241"/>
                </a:lnTo>
                <a:lnTo>
                  <a:pt x="1195372" y="1576099"/>
                </a:lnTo>
                <a:lnTo>
                  <a:pt x="1236037" y="1554734"/>
                </a:lnTo>
                <a:lnTo>
                  <a:pt x="1275336" y="1531226"/>
                </a:lnTo>
                <a:lnTo>
                  <a:pt x="1313192" y="1505652"/>
                </a:lnTo>
                <a:lnTo>
                  <a:pt x="1349528" y="1478090"/>
                </a:lnTo>
                <a:lnTo>
                  <a:pt x="1384264" y="1448617"/>
                </a:lnTo>
                <a:lnTo>
                  <a:pt x="1417324" y="1417312"/>
                </a:lnTo>
                <a:lnTo>
                  <a:pt x="1448630" y="1384252"/>
                </a:lnTo>
                <a:lnTo>
                  <a:pt x="1478102" y="1349515"/>
                </a:lnTo>
                <a:lnTo>
                  <a:pt x="1505665" y="1313180"/>
                </a:lnTo>
                <a:lnTo>
                  <a:pt x="1531239" y="1275323"/>
                </a:lnTo>
                <a:lnTo>
                  <a:pt x="1554747" y="1236024"/>
                </a:lnTo>
                <a:lnTo>
                  <a:pt x="1576111" y="1195359"/>
                </a:lnTo>
                <a:lnTo>
                  <a:pt x="1595254" y="1153407"/>
                </a:lnTo>
                <a:lnTo>
                  <a:pt x="1612097" y="1110245"/>
                </a:lnTo>
                <a:lnTo>
                  <a:pt x="1626562" y="1065952"/>
                </a:lnTo>
                <a:lnTo>
                  <a:pt x="1638572" y="1020605"/>
                </a:lnTo>
                <a:lnTo>
                  <a:pt x="1648048" y="974282"/>
                </a:lnTo>
                <a:lnTo>
                  <a:pt x="1654913" y="927061"/>
                </a:lnTo>
                <a:lnTo>
                  <a:pt x="1659090" y="879020"/>
                </a:lnTo>
                <a:lnTo>
                  <a:pt x="1660499" y="830237"/>
                </a:lnTo>
                <a:lnTo>
                  <a:pt x="1659090" y="781455"/>
                </a:lnTo>
                <a:lnTo>
                  <a:pt x="1654913" y="733415"/>
                </a:lnTo>
                <a:lnTo>
                  <a:pt x="1648048" y="686195"/>
                </a:lnTo>
                <a:lnTo>
                  <a:pt x="1638572" y="639873"/>
                </a:lnTo>
                <a:lnTo>
                  <a:pt x="1626562" y="594527"/>
                </a:lnTo>
                <a:lnTo>
                  <a:pt x="1612097" y="550234"/>
                </a:lnTo>
                <a:lnTo>
                  <a:pt x="1595254" y="507074"/>
                </a:lnTo>
                <a:lnTo>
                  <a:pt x="1576111" y="465122"/>
                </a:lnTo>
                <a:lnTo>
                  <a:pt x="1554747" y="424458"/>
                </a:lnTo>
                <a:lnTo>
                  <a:pt x="1531239" y="385159"/>
                </a:lnTo>
                <a:lnTo>
                  <a:pt x="1505665" y="347303"/>
                </a:lnTo>
                <a:lnTo>
                  <a:pt x="1478102" y="310968"/>
                </a:lnTo>
                <a:lnTo>
                  <a:pt x="1448630" y="276232"/>
                </a:lnTo>
                <a:lnTo>
                  <a:pt x="1417324" y="243173"/>
                </a:lnTo>
                <a:lnTo>
                  <a:pt x="1384264" y="211868"/>
                </a:lnTo>
                <a:lnTo>
                  <a:pt x="1349528" y="182395"/>
                </a:lnTo>
                <a:lnTo>
                  <a:pt x="1313192" y="154833"/>
                </a:lnTo>
                <a:lnTo>
                  <a:pt x="1275336" y="129259"/>
                </a:lnTo>
                <a:lnTo>
                  <a:pt x="1236037" y="105751"/>
                </a:lnTo>
                <a:lnTo>
                  <a:pt x="1195372" y="84387"/>
                </a:lnTo>
                <a:lnTo>
                  <a:pt x="1153420" y="65245"/>
                </a:lnTo>
                <a:lnTo>
                  <a:pt x="1110258" y="48402"/>
                </a:lnTo>
                <a:lnTo>
                  <a:pt x="1065965" y="33937"/>
                </a:lnTo>
                <a:lnTo>
                  <a:pt x="1020618" y="21927"/>
                </a:lnTo>
                <a:lnTo>
                  <a:pt x="974295" y="12451"/>
                </a:lnTo>
                <a:lnTo>
                  <a:pt x="927074" y="5585"/>
                </a:lnTo>
                <a:lnTo>
                  <a:pt x="879033" y="1409"/>
                </a:lnTo>
                <a:lnTo>
                  <a:pt x="830249" y="0"/>
                </a:lnTo>
                <a:lnTo>
                  <a:pt x="781465" y="1409"/>
                </a:lnTo>
                <a:lnTo>
                  <a:pt x="733422" y="5585"/>
                </a:lnTo>
                <a:lnTo>
                  <a:pt x="686201" y="12451"/>
                </a:lnTo>
                <a:lnTo>
                  <a:pt x="639877" y="21927"/>
                </a:lnTo>
                <a:lnTo>
                  <a:pt x="594529" y="33937"/>
                </a:lnTo>
                <a:lnTo>
                  <a:pt x="550236" y="48402"/>
                </a:lnTo>
                <a:lnTo>
                  <a:pt x="507074" y="65245"/>
                </a:lnTo>
                <a:lnTo>
                  <a:pt x="465121" y="84387"/>
                </a:lnTo>
                <a:lnTo>
                  <a:pt x="424456" y="105751"/>
                </a:lnTo>
                <a:lnTo>
                  <a:pt x="385157" y="129259"/>
                </a:lnTo>
                <a:lnTo>
                  <a:pt x="347301" y="154833"/>
                </a:lnTo>
                <a:lnTo>
                  <a:pt x="310965" y="182395"/>
                </a:lnTo>
                <a:lnTo>
                  <a:pt x="276229" y="211868"/>
                </a:lnTo>
                <a:lnTo>
                  <a:pt x="243170" y="243173"/>
                </a:lnTo>
                <a:lnTo>
                  <a:pt x="211865" y="276232"/>
                </a:lnTo>
                <a:lnTo>
                  <a:pt x="182392" y="310968"/>
                </a:lnTo>
                <a:lnTo>
                  <a:pt x="154830" y="347303"/>
                </a:lnTo>
                <a:lnTo>
                  <a:pt x="129256" y="385159"/>
                </a:lnTo>
                <a:lnTo>
                  <a:pt x="105749" y="424458"/>
                </a:lnTo>
                <a:lnTo>
                  <a:pt x="84385" y="465122"/>
                </a:lnTo>
                <a:lnTo>
                  <a:pt x="65243" y="507074"/>
                </a:lnTo>
                <a:lnTo>
                  <a:pt x="48401" y="550234"/>
                </a:lnTo>
                <a:lnTo>
                  <a:pt x="33936" y="594527"/>
                </a:lnTo>
                <a:lnTo>
                  <a:pt x="21926" y="639873"/>
                </a:lnTo>
                <a:lnTo>
                  <a:pt x="12450" y="686195"/>
                </a:lnTo>
                <a:lnTo>
                  <a:pt x="5585" y="733415"/>
                </a:lnTo>
                <a:lnTo>
                  <a:pt x="1409" y="781455"/>
                </a:lnTo>
                <a:lnTo>
                  <a:pt x="0" y="830237"/>
                </a:lnTo>
                <a:lnTo>
                  <a:pt x="1409" y="879020"/>
                </a:lnTo>
                <a:lnTo>
                  <a:pt x="5585" y="927061"/>
                </a:lnTo>
                <a:lnTo>
                  <a:pt x="12450" y="974282"/>
                </a:lnTo>
                <a:lnTo>
                  <a:pt x="21926" y="1020605"/>
                </a:lnTo>
                <a:lnTo>
                  <a:pt x="33936" y="1065952"/>
                </a:lnTo>
                <a:lnTo>
                  <a:pt x="48401" y="1110245"/>
                </a:lnTo>
                <a:lnTo>
                  <a:pt x="65243" y="1153407"/>
                </a:lnTo>
                <a:lnTo>
                  <a:pt x="84385" y="1195359"/>
                </a:lnTo>
                <a:lnTo>
                  <a:pt x="105749" y="1236024"/>
                </a:lnTo>
                <a:lnTo>
                  <a:pt x="129256" y="1275323"/>
                </a:lnTo>
                <a:lnTo>
                  <a:pt x="154830" y="1313180"/>
                </a:lnTo>
                <a:lnTo>
                  <a:pt x="182392" y="1349515"/>
                </a:lnTo>
                <a:lnTo>
                  <a:pt x="211865" y="1384252"/>
                </a:lnTo>
                <a:lnTo>
                  <a:pt x="243170" y="1417312"/>
                </a:lnTo>
                <a:lnTo>
                  <a:pt x="276229" y="1448617"/>
                </a:lnTo>
                <a:lnTo>
                  <a:pt x="310965" y="1478090"/>
                </a:lnTo>
                <a:lnTo>
                  <a:pt x="347301" y="1505652"/>
                </a:lnTo>
                <a:lnTo>
                  <a:pt x="385157" y="1531226"/>
                </a:lnTo>
                <a:lnTo>
                  <a:pt x="424456" y="1554734"/>
                </a:lnTo>
                <a:lnTo>
                  <a:pt x="465121" y="1576099"/>
                </a:lnTo>
                <a:lnTo>
                  <a:pt x="507074" y="1595241"/>
                </a:lnTo>
                <a:lnTo>
                  <a:pt x="550236" y="1612084"/>
                </a:lnTo>
                <a:lnTo>
                  <a:pt x="594529" y="1626549"/>
                </a:lnTo>
                <a:lnTo>
                  <a:pt x="639877" y="1638559"/>
                </a:lnTo>
                <a:lnTo>
                  <a:pt x="686201" y="1648035"/>
                </a:lnTo>
                <a:lnTo>
                  <a:pt x="733422" y="1654901"/>
                </a:lnTo>
                <a:lnTo>
                  <a:pt x="781465" y="1659077"/>
                </a:lnTo>
                <a:lnTo>
                  <a:pt x="830249" y="166048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 w="41795">
            <a:solidFill>
              <a:schemeClr val="tx2">
                <a:lumMod val="90000"/>
              </a:schemeClr>
            </a:solidFill>
          </a:ln>
        </p:spPr>
        <p:txBody>
          <a:bodyPr wrap="square" lIns="0" tIns="0" rIns="0" bIns="0" rtlCol="0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>
                <a:solidFill>
                  <a:schemeClr val="bg1"/>
                </a:solidFill>
                <a:latin typeface="Arial"/>
              </a:rPr>
              <a:t>Business Exchange Services</a:t>
            </a:r>
            <a:endParaRPr kumimoji="0" sz="2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6" name="object 10">
            <a:extLst>
              <a:ext uri="{FF2B5EF4-FFF2-40B4-BE49-F238E27FC236}">
                <a16:creationId xmlns:a16="http://schemas.microsoft.com/office/drawing/2014/main" id="{6B8598F6-4BC1-4EB6-B920-C3C7B1C2C50A}"/>
              </a:ext>
            </a:extLst>
          </p:cNvPr>
          <p:cNvSpPr txBox="1"/>
          <p:nvPr/>
        </p:nvSpPr>
        <p:spPr>
          <a:xfrm>
            <a:off x="4480303" y="2322756"/>
            <a:ext cx="1369457" cy="2201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 lvl="0" indent="0" algn="r" defTabSz="914400" rtl="0" eaLnBrk="1" fontAlgn="auto" latinLnBrk="0" hangingPunct="1">
              <a:lnSpc>
                <a:spcPct val="101099"/>
              </a:lnSpc>
              <a:spcBef>
                <a:spcPts val="1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2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Calibri"/>
              </a:rPr>
              <a:t>Advise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Calibri"/>
            </a:endParaRPr>
          </a:p>
        </p:txBody>
      </p:sp>
      <p:sp>
        <p:nvSpPr>
          <p:cNvPr id="78" name="object 11">
            <a:extLst>
              <a:ext uri="{FF2B5EF4-FFF2-40B4-BE49-F238E27FC236}">
                <a16:creationId xmlns:a16="http://schemas.microsoft.com/office/drawing/2014/main" id="{244D3F56-777E-4CE2-952B-364451F225E7}"/>
              </a:ext>
            </a:extLst>
          </p:cNvPr>
          <p:cNvSpPr txBox="1"/>
          <p:nvPr/>
        </p:nvSpPr>
        <p:spPr>
          <a:xfrm>
            <a:off x="4638330" y="6547941"/>
            <a:ext cx="1242829" cy="2201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 lvl="0" indent="0" algn="r" defTabSz="914400" rtl="0" eaLnBrk="1" fontAlgn="auto" latinLnBrk="0" hangingPunct="1">
              <a:lnSpc>
                <a:spcPct val="101099"/>
              </a:lnSpc>
              <a:spcBef>
                <a:spcPts val="1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7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Calibri"/>
              </a:rPr>
              <a:t>Manage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Calibri"/>
            </a:endParaRPr>
          </a:p>
        </p:txBody>
      </p:sp>
      <p:sp>
        <p:nvSpPr>
          <p:cNvPr id="79" name="object 12">
            <a:extLst>
              <a:ext uri="{FF2B5EF4-FFF2-40B4-BE49-F238E27FC236}">
                <a16:creationId xmlns:a16="http://schemas.microsoft.com/office/drawing/2014/main" id="{13571F8C-3FCE-41B3-A0DA-12B644B2EC5D}"/>
              </a:ext>
            </a:extLst>
          </p:cNvPr>
          <p:cNvSpPr txBox="1"/>
          <p:nvPr/>
        </p:nvSpPr>
        <p:spPr>
          <a:xfrm>
            <a:off x="8442395" y="2298383"/>
            <a:ext cx="1450123" cy="2201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ct val="101099"/>
              </a:lnSpc>
              <a:spcBef>
                <a:spcPts val="1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2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Calibri"/>
              </a:rPr>
              <a:t>Partners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Calibri"/>
            </a:endParaRPr>
          </a:p>
        </p:txBody>
      </p:sp>
      <p:sp>
        <p:nvSpPr>
          <p:cNvPr id="80" name="object 13">
            <a:extLst>
              <a:ext uri="{FF2B5EF4-FFF2-40B4-BE49-F238E27FC236}">
                <a16:creationId xmlns:a16="http://schemas.microsoft.com/office/drawing/2014/main" id="{565C75E3-8F6A-42BC-B6BE-907C0F39CCDD}"/>
              </a:ext>
            </a:extLst>
          </p:cNvPr>
          <p:cNvSpPr txBox="1"/>
          <p:nvPr/>
        </p:nvSpPr>
        <p:spPr>
          <a:xfrm>
            <a:off x="3668055" y="4790617"/>
            <a:ext cx="2016769" cy="257763"/>
          </a:xfrm>
          <a:prstGeom prst="rect">
            <a:avLst/>
          </a:prstGeom>
        </p:spPr>
        <p:txBody>
          <a:bodyPr vert="horz" wrap="square" lIns="0" tIns="41910" rIns="0" bIns="0" rtlCol="0" anchor="ctr">
            <a:spAutoFit/>
          </a:bodyPr>
          <a:lstStyle/>
          <a:p>
            <a:pPr marL="12700" marR="5080" lvl="0" indent="0" algn="ctr" defTabSz="914400" rtl="0" eaLnBrk="1" fontAlgn="auto" latinLnBrk="0" hangingPunct="1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-7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Treatment Options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1" name="object 14">
            <a:extLst>
              <a:ext uri="{FF2B5EF4-FFF2-40B4-BE49-F238E27FC236}">
                <a16:creationId xmlns:a16="http://schemas.microsoft.com/office/drawing/2014/main" id="{A56E6D4A-A7A3-46EB-B239-CECFE5D2240E}"/>
              </a:ext>
            </a:extLst>
          </p:cNvPr>
          <p:cNvSpPr txBox="1"/>
          <p:nvPr/>
        </p:nvSpPr>
        <p:spPr>
          <a:xfrm>
            <a:off x="8178920" y="4722899"/>
            <a:ext cx="2836135" cy="443711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-1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DXC ENTERPRISE </a:t>
            </a:r>
            <a:br>
              <a:rPr kumimoji="0" lang="en-US" sz="1400" b="1" i="0" u="none" strike="noStrike" kern="1200" cap="none" spc="-1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</a:br>
            <a:r>
              <a:rPr kumimoji="0" lang="en-US" sz="1400" b="1" i="0" u="none" strike="noStrike" kern="1200" cap="none" spc="-1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TECHNOLOGY STACK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2" name="object 15">
            <a:extLst>
              <a:ext uri="{FF2B5EF4-FFF2-40B4-BE49-F238E27FC236}">
                <a16:creationId xmlns:a16="http://schemas.microsoft.com/office/drawing/2014/main" id="{302BE66F-EE8F-4339-ABAF-FF4D869EFF3A}"/>
              </a:ext>
            </a:extLst>
          </p:cNvPr>
          <p:cNvSpPr txBox="1"/>
          <p:nvPr/>
        </p:nvSpPr>
        <p:spPr>
          <a:xfrm>
            <a:off x="8800184" y="6007635"/>
            <a:ext cx="3594544" cy="134972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66688" marR="5080" lvl="0" indent="-165100" algn="l" defTabSz="914400" rtl="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spc="75">
                <a:solidFill>
                  <a:srgbClr val="000000"/>
                </a:solidFill>
                <a:latin typeface="Arial"/>
                <a:cs typeface="Calibri"/>
              </a:rPr>
              <a:t>Applications </a:t>
            </a:r>
            <a:r>
              <a:rPr kumimoji="0" lang="en-US" sz="1400" b="0" i="0" u="none" strike="noStrike" kern="1200" cap="none" spc="7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Calibri"/>
              </a:rPr>
              <a:t>Modernization</a:t>
            </a:r>
          </a:p>
          <a:p>
            <a:pPr marL="166688" marR="5080" lvl="0" indent="-165100" algn="l" defTabSz="914400" rtl="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7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Calibri"/>
              </a:rPr>
              <a:t>Enterprise Applications and SaaS</a:t>
            </a:r>
          </a:p>
          <a:p>
            <a:pPr marL="166688" marR="5080" lvl="0" indent="-165100" algn="l" defTabSz="914400" rtl="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spc="60">
                <a:solidFill>
                  <a:srgbClr val="000000"/>
                </a:solidFill>
                <a:latin typeface="Arial"/>
                <a:cs typeface="Calibri"/>
              </a:rPr>
              <a:t>Managed Applications</a:t>
            </a:r>
          </a:p>
          <a:p>
            <a:pPr marL="166688" marR="5080" lvl="0" indent="-165100" algn="l" defTabSz="914400" rtl="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6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Calibri"/>
              </a:rPr>
              <a:t>Modern Applications Development</a:t>
            </a:r>
          </a:p>
          <a:p>
            <a:pPr marL="166688" marR="5080" lvl="0" indent="-165100" algn="l" defTabSz="914400" rtl="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7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Calibri"/>
              </a:rPr>
              <a:t>Testing and Digital Assurance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Calibri"/>
            </a:endParaRPr>
          </a:p>
        </p:txBody>
      </p:sp>
      <p:sp>
        <p:nvSpPr>
          <p:cNvPr id="83" name="object 16">
            <a:extLst>
              <a:ext uri="{FF2B5EF4-FFF2-40B4-BE49-F238E27FC236}">
                <a16:creationId xmlns:a16="http://schemas.microsoft.com/office/drawing/2014/main" id="{9209AB18-6534-4D21-BB52-BB4FF5A02266}"/>
              </a:ext>
            </a:extLst>
          </p:cNvPr>
          <p:cNvSpPr txBox="1"/>
          <p:nvPr/>
        </p:nvSpPr>
        <p:spPr>
          <a:xfrm>
            <a:off x="3607360" y="3128757"/>
            <a:ext cx="1165357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0" lvl="0" indent="0" algn="r" defTabSz="914400" rtl="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2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Calibri"/>
              </a:rPr>
              <a:t>Build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Calibri"/>
            </a:endParaRPr>
          </a:p>
        </p:txBody>
      </p:sp>
      <p:sp>
        <p:nvSpPr>
          <p:cNvPr id="84" name="object 17">
            <a:extLst>
              <a:ext uri="{FF2B5EF4-FFF2-40B4-BE49-F238E27FC236}">
                <a16:creationId xmlns:a16="http://schemas.microsoft.com/office/drawing/2014/main" id="{72AFA49F-1C83-448D-B5C8-25920D84A02C}"/>
              </a:ext>
            </a:extLst>
          </p:cNvPr>
          <p:cNvSpPr txBox="1"/>
          <p:nvPr/>
        </p:nvSpPr>
        <p:spPr>
          <a:xfrm>
            <a:off x="3605578" y="5686649"/>
            <a:ext cx="1168920" cy="2201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 lvl="0" indent="0" algn="r" defTabSz="914400" rtl="0" eaLnBrk="1" fontAlgn="auto" latinLnBrk="0" hangingPunct="1">
              <a:lnSpc>
                <a:spcPct val="101099"/>
              </a:lnSpc>
              <a:spcBef>
                <a:spcPts val="1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5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Calibri"/>
              </a:rPr>
              <a:t>Transform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Calibri"/>
            </a:endParaRPr>
          </a:p>
        </p:txBody>
      </p:sp>
      <p:sp>
        <p:nvSpPr>
          <p:cNvPr id="85" name="object 18">
            <a:extLst>
              <a:ext uri="{FF2B5EF4-FFF2-40B4-BE49-F238E27FC236}">
                <a16:creationId xmlns:a16="http://schemas.microsoft.com/office/drawing/2014/main" id="{F05528D8-547E-4EA7-9E04-A6EAE444678B}"/>
              </a:ext>
            </a:extLst>
          </p:cNvPr>
          <p:cNvSpPr txBox="1"/>
          <p:nvPr/>
        </p:nvSpPr>
        <p:spPr>
          <a:xfrm>
            <a:off x="9464366" y="3023405"/>
            <a:ext cx="1299757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2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Calibri"/>
              </a:rPr>
              <a:t>Global Scale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Calibri"/>
            </a:endParaRPr>
          </a:p>
        </p:txBody>
      </p:sp>
      <p:sp>
        <p:nvSpPr>
          <p:cNvPr id="86" name="object 22">
            <a:extLst>
              <a:ext uri="{FF2B5EF4-FFF2-40B4-BE49-F238E27FC236}">
                <a16:creationId xmlns:a16="http://schemas.microsoft.com/office/drawing/2014/main" id="{342B64CA-7F4B-4012-875B-E0560B7C3EE7}"/>
              </a:ext>
            </a:extLst>
          </p:cNvPr>
          <p:cNvSpPr txBox="1"/>
          <p:nvPr/>
        </p:nvSpPr>
        <p:spPr>
          <a:xfrm>
            <a:off x="11244711" y="3356556"/>
            <a:ext cx="2444200" cy="1904367"/>
          </a:xfrm>
          <a:prstGeom prst="rect">
            <a:avLst/>
          </a:prstGeom>
        </p:spPr>
        <p:txBody>
          <a:bodyPr vert="horz" wrap="square" lIns="0" tIns="11430" rIns="0" bIns="0" rtlCol="0" anchor="t">
            <a:spAutoFit/>
          </a:bodyPr>
          <a:lstStyle/>
          <a:p>
            <a:pPr marL="166688" marR="0" lvl="0" indent="-155575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66688" algn="l"/>
              </a:tabLst>
              <a:defRPr/>
            </a:pPr>
            <a:r>
              <a:rPr kumimoji="0" lang="en-US" sz="1400" b="0" i="0" u="none" strike="noStrike" kern="1200" cap="none" spc="3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Calibri"/>
              </a:rPr>
              <a:t>BPO and BPaaS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Calibri"/>
            </a:endParaRPr>
          </a:p>
          <a:p>
            <a:pPr marL="166688" marR="0" lvl="0" indent="-155575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66688" algn="l"/>
              </a:tabLst>
              <a:defRPr/>
            </a:pPr>
            <a:r>
              <a:rPr kumimoji="0" lang="en-US" sz="1400" b="0" i="0" u="none" strike="noStrike" kern="1200" cap="none" spc="2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Calibri"/>
              </a:rPr>
              <a:t>Analytics and Engineering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Calibri"/>
            </a:endParaRPr>
          </a:p>
          <a:p>
            <a:pPr marL="166688" marR="0" lvl="0" indent="-155575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66688" algn="l"/>
              </a:tabLst>
              <a:defRPr/>
            </a:pPr>
            <a:r>
              <a:rPr kumimoji="0" lang="en-US" sz="1400" b="1" i="0" u="none" strike="noStrike" kern="1200" cap="none" spc="35" normalizeH="0" baseline="0" noProof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/>
                <a:ea typeface="+mn-ea"/>
                <a:cs typeface="Calibri"/>
              </a:rPr>
              <a:t>Applications</a:t>
            </a:r>
          </a:p>
          <a:p>
            <a:pPr marL="166688" marR="0" lvl="0" indent="-155575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66688" algn="l"/>
              </a:tabLst>
              <a:defRPr/>
            </a:pPr>
            <a:r>
              <a:rPr kumimoji="0" lang="en-US" sz="1400" b="0" i="0" u="none" strike="noStrike" kern="1200" cap="none" spc="3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Calibri"/>
              </a:rPr>
              <a:t>Security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Calibri"/>
            </a:endParaRPr>
          </a:p>
          <a:p>
            <a:pPr marL="166688" marR="0" lvl="0" indent="-155575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66688" algn="l"/>
              </a:tabLst>
              <a:defRPr/>
            </a:pPr>
            <a:r>
              <a:rPr kumimoji="0" lang="en-US" sz="1400" b="0" i="0" u="none" strike="noStrike" kern="1200" cap="none" spc="1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Calibri"/>
              </a:rPr>
              <a:t>Cloud Platform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Calibri"/>
            </a:endParaRPr>
          </a:p>
          <a:p>
            <a:pPr marL="166688" marR="0" lvl="0" indent="-155575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66688" algn="l"/>
              </a:tabLst>
              <a:defRPr/>
            </a:pPr>
            <a:r>
              <a:rPr kumimoji="0" lang="en-US" sz="1400" b="0" i="0" u="none" strike="noStrike" kern="1200" cap="none" spc="2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Calibri"/>
              </a:rPr>
              <a:t>IT Outsourcing</a:t>
            </a:r>
          </a:p>
          <a:p>
            <a:pPr marL="166688" marR="0" lvl="0" indent="-155575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66688" algn="l"/>
              </a:tabLst>
              <a:defRPr/>
            </a:pPr>
            <a:r>
              <a:rPr kumimoji="0" lang="en-US" sz="1400" b="0" i="0" u="none" strike="noStrike" kern="1200" cap="none" spc="1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Calibri"/>
              </a:rPr>
              <a:t>Modern Workplace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Calibri"/>
            </a:endParaRPr>
          </a:p>
        </p:txBody>
      </p:sp>
      <p:sp>
        <p:nvSpPr>
          <p:cNvPr id="87" name="object 23">
            <a:extLst>
              <a:ext uri="{FF2B5EF4-FFF2-40B4-BE49-F238E27FC236}">
                <a16:creationId xmlns:a16="http://schemas.microsoft.com/office/drawing/2014/main" id="{F0A1DD83-4B0E-4E6D-91AD-820DCF637F62}"/>
              </a:ext>
            </a:extLst>
          </p:cNvPr>
          <p:cNvSpPr txBox="1"/>
          <p:nvPr/>
        </p:nvSpPr>
        <p:spPr>
          <a:xfrm>
            <a:off x="1230806" y="2452448"/>
            <a:ext cx="2057373" cy="382797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66688" marR="0" lvl="0" indent="-155575" algn="l" defTabSz="914400" rtl="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66688" algn="l"/>
              </a:tabLst>
              <a:defRPr/>
            </a:pPr>
            <a:r>
              <a:rPr kumimoji="0" lang="en-AU" sz="1400" b="0" i="0" u="none" strike="noStrike" kern="1200" cap="none" spc="4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Calibri"/>
              </a:rPr>
              <a:t>B2B Managed Service</a:t>
            </a:r>
          </a:p>
          <a:p>
            <a:pPr marL="166688" marR="0" lvl="0" indent="-155575" algn="l" defTabSz="914400" rtl="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66688" algn="l"/>
              </a:tabLst>
              <a:defRPr/>
            </a:pPr>
            <a:endParaRPr lang="en-AU" sz="1400" spc="40">
              <a:solidFill>
                <a:srgbClr val="000000"/>
              </a:solidFill>
              <a:latin typeface="Arial"/>
              <a:cs typeface="Calibri"/>
            </a:endParaRPr>
          </a:p>
          <a:p>
            <a:pPr marL="166688" marR="0" lvl="0" indent="-155575" algn="l" defTabSz="914400" rtl="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66688" algn="l"/>
              </a:tabLst>
              <a:defRPr/>
            </a:pPr>
            <a:r>
              <a:rPr lang="en-AU" sz="1400" spc="40">
                <a:solidFill>
                  <a:srgbClr val="000000"/>
                </a:solidFill>
                <a:latin typeface="Arial"/>
                <a:cs typeface="Calibri"/>
              </a:rPr>
              <a:t>Managed File Transfer (MFT) </a:t>
            </a:r>
          </a:p>
          <a:p>
            <a:pPr marL="166688" marR="0" lvl="0" indent="-155575" algn="l" defTabSz="914400" rtl="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66688" algn="l"/>
              </a:tabLst>
              <a:defRPr/>
            </a:pPr>
            <a:endParaRPr kumimoji="0" lang="en-AU" sz="1400" b="0" i="0" u="none" strike="noStrike" kern="1200" cap="none" spc="4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Calibri"/>
            </a:endParaRPr>
          </a:p>
          <a:p>
            <a:pPr marL="166688" marR="0" lvl="0" indent="-155575" algn="l" defTabSz="914400" rtl="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66688" algn="l"/>
              </a:tabLst>
              <a:defRPr/>
            </a:pPr>
            <a:r>
              <a:rPr kumimoji="0" lang="en-AU" sz="1400" b="0" i="0" u="none" strike="noStrike" kern="1200" cap="none" spc="4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Calibri"/>
              </a:rPr>
              <a:t>Trading Partner Onboarding &amp; Management </a:t>
            </a:r>
          </a:p>
          <a:p>
            <a:pPr marL="166688" marR="0" lvl="0" indent="-155575" algn="l" defTabSz="914400" rtl="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66688" algn="l"/>
              </a:tabLst>
              <a:defRPr/>
            </a:pPr>
            <a:endParaRPr lang="en-AU" sz="1400" spc="40">
              <a:solidFill>
                <a:srgbClr val="000000"/>
              </a:solidFill>
              <a:latin typeface="Arial"/>
              <a:cs typeface="Calibri"/>
            </a:endParaRPr>
          </a:p>
          <a:p>
            <a:pPr marL="166688" marR="0" lvl="0" indent="-155575" algn="l" defTabSz="914400" rtl="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66688" algn="l"/>
              </a:tabLst>
              <a:defRPr/>
            </a:pPr>
            <a:r>
              <a:rPr lang="en-AU" sz="1400" spc="40">
                <a:solidFill>
                  <a:srgbClr val="000000"/>
                </a:solidFill>
                <a:latin typeface="Arial"/>
                <a:cs typeface="Calibri"/>
              </a:rPr>
              <a:t>B2B On-Premise </a:t>
            </a:r>
          </a:p>
          <a:p>
            <a:pPr marL="166688" marR="0" lvl="0" indent="-155575" algn="l" defTabSz="914400" rtl="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66688" algn="l"/>
              </a:tabLst>
              <a:defRPr/>
            </a:pPr>
            <a:endParaRPr kumimoji="0" lang="en-AU" sz="1400" b="0" i="0" u="none" strike="noStrike" kern="1200" cap="none" spc="4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Calibri"/>
            </a:endParaRPr>
          </a:p>
          <a:p>
            <a:pPr marL="166688" marR="0" lvl="0" indent="-155575" algn="l" defTabSz="914400" rtl="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66688" algn="l"/>
              </a:tabLst>
              <a:defRPr/>
            </a:pPr>
            <a:r>
              <a:rPr kumimoji="0" lang="en-AU" sz="1400" b="0" i="0" u="none" strike="noStrike" kern="1200" cap="none" spc="4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Calibri"/>
              </a:rPr>
              <a:t>B2B </a:t>
            </a:r>
            <a:r>
              <a:rPr kumimoji="0" lang="en-AU" sz="1400" b="0" i="0" u="none" strike="noStrike" kern="1200" cap="none" spc="4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Calibri"/>
              </a:rPr>
              <a:t>Visi</a:t>
            </a:r>
            <a:r>
              <a:rPr lang="en-AU" sz="1400" spc="40" err="1">
                <a:solidFill>
                  <a:srgbClr val="000000"/>
                </a:solidFill>
                <a:latin typeface="Arial"/>
                <a:cs typeface="Calibri"/>
              </a:rPr>
              <a:t>bility</a:t>
            </a:r>
            <a:endParaRPr kumimoji="0" lang="en-AU" sz="1400" b="0" i="0" u="none" strike="noStrike" kern="1200" cap="none" spc="4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Calibri"/>
            </a:endParaRPr>
          </a:p>
          <a:p>
            <a:pPr marL="166688" marR="0" lvl="0" indent="-155575" algn="l" defTabSz="914400" rtl="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66688" algn="l"/>
              </a:tabLst>
              <a:defRPr/>
            </a:pPr>
            <a:endParaRPr lang="en-AU" sz="1400" spc="40">
              <a:solidFill>
                <a:srgbClr val="000000"/>
              </a:solidFill>
              <a:latin typeface="Arial"/>
              <a:cs typeface="Calibri"/>
            </a:endParaRPr>
          </a:p>
          <a:p>
            <a:pPr marL="166688" marR="0" lvl="0" indent="-155575" algn="l" defTabSz="914400" rtl="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66688" algn="l"/>
              </a:tabLst>
              <a:defRPr/>
            </a:pPr>
            <a:r>
              <a:rPr lang="en-AU" sz="1400" spc="40">
                <a:solidFill>
                  <a:srgbClr val="000000"/>
                </a:solidFill>
                <a:latin typeface="Arial"/>
                <a:cs typeface="Calibri"/>
              </a:rPr>
              <a:t>Small Partner Enablement </a:t>
            </a:r>
          </a:p>
          <a:p>
            <a:pPr marL="166688" marR="0" lvl="0" indent="-155575" algn="l" defTabSz="914400" rtl="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66688" algn="l"/>
              </a:tabLst>
              <a:defRPr/>
            </a:pPr>
            <a:endParaRPr kumimoji="0" lang="en-AU" sz="1400" b="0" i="0" u="none" strike="noStrike" kern="1200" cap="none" spc="4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Calibri"/>
            </a:endParaRPr>
          </a:p>
          <a:p>
            <a:pPr marL="166688" marR="0" lvl="0" indent="-155575" algn="l" defTabSz="914400" rtl="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66688" algn="l"/>
              </a:tabLst>
              <a:defRPr/>
            </a:pPr>
            <a:r>
              <a:rPr lang="en-AU" sz="1400" spc="40">
                <a:solidFill>
                  <a:srgbClr val="000000"/>
                </a:solidFill>
                <a:latin typeface="Arial"/>
                <a:cs typeface="Calibri"/>
              </a:rPr>
              <a:t>e-Invoicing </a:t>
            </a:r>
            <a:endParaRPr kumimoji="0" lang="en-AU" sz="1400" b="0" i="0" u="none" strike="noStrike" kern="1200" cap="none" spc="4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Calibri"/>
            </a:endParaRPr>
          </a:p>
        </p:txBody>
      </p:sp>
      <p:sp>
        <p:nvSpPr>
          <p:cNvPr id="88" name="object 25">
            <a:extLst>
              <a:ext uri="{FF2B5EF4-FFF2-40B4-BE49-F238E27FC236}">
                <a16:creationId xmlns:a16="http://schemas.microsoft.com/office/drawing/2014/main" id="{25F6D227-8994-475D-8CE9-2C06C02AB92E}"/>
              </a:ext>
            </a:extLst>
          </p:cNvPr>
          <p:cNvSpPr>
            <a:spLocks noChangeAspect="1"/>
          </p:cNvSpPr>
          <p:nvPr/>
        </p:nvSpPr>
        <p:spPr>
          <a:xfrm>
            <a:off x="4939705" y="2924020"/>
            <a:ext cx="640080" cy="640402"/>
          </a:xfrm>
          <a:custGeom>
            <a:avLst/>
            <a:gdLst/>
            <a:ahLst/>
            <a:cxnLst/>
            <a:rect l="l" t="t" r="r" b="b"/>
            <a:pathLst>
              <a:path w="483235" h="464184">
                <a:moveTo>
                  <a:pt x="241388" y="463918"/>
                </a:moveTo>
                <a:lnTo>
                  <a:pt x="290039" y="459205"/>
                </a:lnTo>
                <a:lnTo>
                  <a:pt x="335352" y="445690"/>
                </a:lnTo>
                <a:lnTo>
                  <a:pt x="376355" y="424304"/>
                </a:lnTo>
                <a:lnTo>
                  <a:pt x="412080" y="395981"/>
                </a:lnTo>
                <a:lnTo>
                  <a:pt x="441554" y="361652"/>
                </a:lnTo>
                <a:lnTo>
                  <a:pt x="463809" y="322252"/>
                </a:lnTo>
                <a:lnTo>
                  <a:pt x="477874" y="278712"/>
                </a:lnTo>
                <a:lnTo>
                  <a:pt x="482777" y="231965"/>
                </a:lnTo>
                <a:lnTo>
                  <a:pt x="477874" y="185214"/>
                </a:lnTo>
                <a:lnTo>
                  <a:pt x="463809" y="141671"/>
                </a:lnTo>
                <a:lnTo>
                  <a:pt x="441554" y="102268"/>
                </a:lnTo>
                <a:lnTo>
                  <a:pt x="412080" y="67938"/>
                </a:lnTo>
                <a:lnTo>
                  <a:pt x="376355" y="39614"/>
                </a:lnTo>
                <a:lnTo>
                  <a:pt x="335352" y="18228"/>
                </a:lnTo>
                <a:lnTo>
                  <a:pt x="290039" y="4712"/>
                </a:lnTo>
                <a:lnTo>
                  <a:pt x="241388" y="0"/>
                </a:lnTo>
                <a:lnTo>
                  <a:pt x="192737" y="4712"/>
                </a:lnTo>
                <a:lnTo>
                  <a:pt x="147425" y="18228"/>
                </a:lnTo>
                <a:lnTo>
                  <a:pt x="106422" y="39614"/>
                </a:lnTo>
                <a:lnTo>
                  <a:pt x="70697" y="67938"/>
                </a:lnTo>
                <a:lnTo>
                  <a:pt x="41223" y="102268"/>
                </a:lnTo>
                <a:lnTo>
                  <a:pt x="18968" y="141671"/>
                </a:lnTo>
                <a:lnTo>
                  <a:pt x="4903" y="185214"/>
                </a:lnTo>
                <a:lnTo>
                  <a:pt x="0" y="231965"/>
                </a:lnTo>
                <a:lnTo>
                  <a:pt x="4903" y="278712"/>
                </a:lnTo>
                <a:lnTo>
                  <a:pt x="18968" y="322252"/>
                </a:lnTo>
                <a:lnTo>
                  <a:pt x="41223" y="361652"/>
                </a:lnTo>
                <a:lnTo>
                  <a:pt x="70697" y="395981"/>
                </a:lnTo>
                <a:lnTo>
                  <a:pt x="106422" y="424304"/>
                </a:lnTo>
                <a:lnTo>
                  <a:pt x="147425" y="445690"/>
                </a:lnTo>
                <a:lnTo>
                  <a:pt x="192737" y="459205"/>
                </a:lnTo>
                <a:lnTo>
                  <a:pt x="241388" y="463918"/>
                </a:lnTo>
                <a:close/>
              </a:path>
            </a:pathLst>
          </a:custGeom>
          <a:solidFill>
            <a:srgbClr val="63666A"/>
          </a:solidFill>
          <a:ln w="20891">
            <a:solidFill>
              <a:schemeClr val="tx2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9" name="object 26">
            <a:extLst>
              <a:ext uri="{FF2B5EF4-FFF2-40B4-BE49-F238E27FC236}">
                <a16:creationId xmlns:a16="http://schemas.microsoft.com/office/drawing/2014/main" id="{CCC522FA-80E7-49F9-AB34-61FB877245DB}"/>
              </a:ext>
            </a:extLst>
          </p:cNvPr>
          <p:cNvSpPr>
            <a:spLocks noChangeAspect="1"/>
          </p:cNvSpPr>
          <p:nvPr/>
        </p:nvSpPr>
        <p:spPr>
          <a:xfrm>
            <a:off x="8652122" y="2924020"/>
            <a:ext cx="640080" cy="640402"/>
          </a:xfrm>
          <a:custGeom>
            <a:avLst/>
            <a:gdLst/>
            <a:ahLst/>
            <a:cxnLst/>
            <a:rect l="l" t="t" r="r" b="b"/>
            <a:pathLst>
              <a:path w="483235" h="464184">
                <a:moveTo>
                  <a:pt x="241376" y="463918"/>
                </a:moveTo>
                <a:lnTo>
                  <a:pt x="290030" y="459205"/>
                </a:lnTo>
                <a:lnTo>
                  <a:pt x="335344" y="445690"/>
                </a:lnTo>
                <a:lnTo>
                  <a:pt x="376348" y="424304"/>
                </a:lnTo>
                <a:lnTo>
                  <a:pt x="412072" y="395981"/>
                </a:lnTo>
                <a:lnTo>
                  <a:pt x="441545" y="361652"/>
                </a:lnTo>
                <a:lnTo>
                  <a:pt x="463798" y="322252"/>
                </a:lnTo>
                <a:lnTo>
                  <a:pt x="477861" y="278712"/>
                </a:lnTo>
                <a:lnTo>
                  <a:pt x="482765" y="231965"/>
                </a:lnTo>
                <a:lnTo>
                  <a:pt x="477861" y="185214"/>
                </a:lnTo>
                <a:lnTo>
                  <a:pt x="463798" y="141671"/>
                </a:lnTo>
                <a:lnTo>
                  <a:pt x="441545" y="102268"/>
                </a:lnTo>
                <a:lnTo>
                  <a:pt x="412072" y="67938"/>
                </a:lnTo>
                <a:lnTo>
                  <a:pt x="376348" y="39614"/>
                </a:lnTo>
                <a:lnTo>
                  <a:pt x="335344" y="18228"/>
                </a:lnTo>
                <a:lnTo>
                  <a:pt x="290030" y="4712"/>
                </a:lnTo>
                <a:lnTo>
                  <a:pt x="241376" y="0"/>
                </a:lnTo>
                <a:lnTo>
                  <a:pt x="192725" y="4712"/>
                </a:lnTo>
                <a:lnTo>
                  <a:pt x="147414" y="18228"/>
                </a:lnTo>
                <a:lnTo>
                  <a:pt x="106413" y="39614"/>
                </a:lnTo>
                <a:lnTo>
                  <a:pt x="70691" y="67938"/>
                </a:lnTo>
                <a:lnTo>
                  <a:pt x="41218" y="102268"/>
                </a:lnTo>
                <a:lnTo>
                  <a:pt x="18966" y="141671"/>
                </a:lnTo>
                <a:lnTo>
                  <a:pt x="4903" y="185214"/>
                </a:lnTo>
                <a:lnTo>
                  <a:pt x="0" y="231965"/>
                </a:lnTo>
                <a:lnTo>
                  <a:pt x="4903" y="278712"/>
                </a:lnTo>
                <a:lnTo>
                  <a:pt x="18966" y="322252"/>
                </a:lnTo>
                <a:lnTo>
                  <a:pt x="41218" y="361652"/>
                </a:lnTo>
                <a:lnTo>
                  <a:pt x="70691" y="395981"/>
                </a:lnTo>
                <a:lnTo>
                  <a:pt x="106413" y="424304"/>
                </a:lnTo>
                <a:lnTo>
                  <a:pt x="147414" y="445690"/>
                </a:lnTo>
                <a:lnTo>
                  <a:pt x="192725" y="459205"/>
                </a:lnTo>
                <a:lnTo>
                  <a:pt x="241376" y="463918"/>
                </a:lnTo>
                <a:close/>
              </a:path>
            </a:pathLst>
          </a:custGeom>
          <a:solidFill>
            <a:schemeClr val="tx2">
              <a:lumMod val="90000"/>
            </a:schemeClr>
          </a:solidFill>
          <a:ln w="20891">
            <a:solidFill>
              <a:srgbClr val="63666A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0" name="object 27">
            <a:extLst>
              <a:ext uri="{FF2B5EF4-FFF2-40B4-BE49-F238E27FC236}">
                <a16:creationId xmlns:a16="http://schemas.microsoft.com/office/drawing/2014/main" id="{4C9B8F9D-0F6F-4D0A-979E-E38A8B793E92}"/>
              </a:ext>
            </a:extLst>
          </p:cNvPr>
          <p:cNvSpPr>
            <a:spLocks noChangeAspect="1"/>
          </p:cNvSpPr>
          <p:nvPr/>
        </p:nvSpPr>
        <p:spPr>
          <a:xfrm>
            <a:off x="6022786" y="2110607"/>
            <a:ext cx="640080" cy="640402"/>
          </a:xfrm>
          <a:custGeom>
            <a:avLst/>
            <a:gdLst/>
            <a:ahLst/>
            <a:cxnLst/>
            <a:rect l="l" t="t" r="r" b="b"/>
            <a:pathLst>
              <a:path w="483235" h="464184">
                <a:moveTo>
                  <a:pt x="241388" y="463918"/>
                </a:moveTo>
                <a:lnTo>
                  <a:pt x="290039" y="459205"/>
                </a:lnTo>
                <a:lnTo>
                  <a:pt x="335352" y="445690"/>
                </a:lnTo>
                <a:lnTo>
                  <a:pt x="376355" y="424304"/>
                </a:lnTo>
                <a:lnTo>
                  <a:pt x="412080" y="395981"/>
                </a:lnTo>
                <a:lnTo>
                  <a:pt x="441554" y="361652"/>
                </a:lnTo>
                <a:lnTo>
                  <a:pt x="463809" y="322252"/>
                </a:lnTo>
                <a:lnTo>
                  <a:pt x="477874" y="278712"/>
                </a:lnTo>
                <a:lnTo>
                  <a:pt x="482777" y="231965"/>
                </a:lnTo>
                <a:lnTo>
                  <a:pt x="477874" y="185214"/>
                </a:lnTo>
                <a:lnTo>
                  <a:pt x="463809" y="141671"/>
                </a:lnTo>
                <a:lnTo>
                  <a:pt x="441554" y="102268"/>
                </a:lnTo>
                <a:lnTo>
                  <a:pt x="412080" y="67938"/>
                </a:lnTo>
                <a:lnTo>
                  <a:pt x="376355" y="39614"/>
                </a:lnTo>
                <a:lnTo>
                  <a:pt x="335352" y="18228"/>
                </a:lnTo>
                <a:lnTo>
                  <a:pt x="290039" y="4712"/>
                </a:lnTo>
                <a:lnTo>
                  <a:pt x="241388" y="0"/>
                </a:lnTo>
                <a:lnTo>
                  <a:pt x="192737" y="4712"/>
                </a:lnTo>
                <a:lnTo>
                  <a:pt x="147425" y="18228"/>
                </a:lnTo>
                <a:lnTo>
                  <a:pt x="106422" y="39614"/>
                </a:lnTo>
                <a:lnTo>
                  <a:pt x="70697" y="67938"/>
                </a:lnTo>
                <a:lnTo>
                  <a:pt x="41223" y="102268"/>
                </a:lnTo>
                <a:lnTo>
                  <a:pt x="18968" y="141671"/>
                </a:lnTo>
                <a:lnTo>
                  <a:pt x="4903" y="185214"/>
                </a:lnTo>
                <a:lnTo>
                  <a:pt x="0" y="231965"/>
                </a:lnTo>
                <a:lnTo>
                  <a:pt x="4903" y="278712"/>
                </a:lnTo>
                <a:lnTo>
                  <a:pt x="18968" y="322252"/>
                </a:lnTo>
                <a:lnTo>
                  <a:pt x="41223" y="361652"/>
                </a:lnTo>
                <a:lnTo>
                  <a:pt x="70697" y="395981"/>
                </a:lnTo>
                <a:lnTo>
                  <a:pt x="106422" y="424304"/>
                </a:lnTo>
                <a:lnTo>
                  <a:pt x="147425" y="445690"/>
                </a:lnTo>
                <a:lnTo>
                  <a:pt x="192737" y="459205"/>
                </a:lnTo>
                <a:lnTo>
                  <a:pt x="241388" y="463918"/>
                </a:lnTo>
                <a:close/>
              </a:path>
            </a:pathLst>
          </a:custGeom>
          <a:solidFill>
            <a:srgbClr val="63666A"/>
          </a:solidFill>
          <a:ln w="20891">
            <a:solidFill>
              <a:schemeClr val="tx2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1" name="object 28">
            <a:extLst>
              <a:ext uri="{FF2B5EF4-FFF2-40B4-BE49-F238E27FC236}">
                <a16:creationId xmlns:a16="http://schemas.microsoft.com/office/drawing/2014/main" id="{BA38C248-2D5D-48FE-8809-6366483C90FE}"/>
              </a:ext>
            </a:extLst>
          </p:cNvPr>
          <p:cNvSpPr>
            <a:spLocks noChangeAspect="1"/>
          </p:cNvSpPr>
          <p:nvPr/>
        </p:nvSpPr>
        <p:spPr>
          <a:xfrm>
            <a:off x="7595621" y="2110607"/>
            <a:ext cx="640080" cy="640402"/>
          </a:xfrm>
          <a:custGeom>
            <a:avLst/>
            <a:gdLst/>
            <a:ahLst/>
            <a:cxnLst/>
            <a:rect l="l" t="t" r="r" b="b"/>
            <a:pathLst>
              <a:path w="483235" h="464184">
                <a:moveTo>
                  <a:pt x="241388" y="463918"/>
                </a:moveTo>
                <a:lnTo>
                  <a:pt x="290039" y="459205"/>
                </a:lnTo>
                <a:lnTo>
                  <a:pt x="335352" y="445690"/>
                </a:lnTo>
                <a:lnTo>
                  <a:pt x="376355" y="424304"/>
                </a:lnTo>
                <a:lnTo>
                  <a:pt x="412080" y="395981"/>
                </a:lnTo>
                <a:lnTo>
                  <a:pt x="441554" y="361652"/>
                </a:lnTo>
                <a:lnTo>
                  <a:pt x="463809" y="322252"/>
                </a:lnTo>
                <a:lnTo>
                  <a:pt x="477874" y="278712"/>
                </a:lnTo>
                <a:lnTo>
                  <a:pt x="482777" y="231965"/>
                </a:lnTo>
                <a:lnTo>
                  <a:pt x="477874" y="185214"/>
                </a:lnTo>
                <a:lnTo>
                  <a:pt x="463809" y="141671"/>
                </a:lnTo>
                <a:lnTo>
                  <a:pt x="441554" y="102268"/>
                </a:lnTo>
                <a:lnTo>
                  <a:pt x="412080" y="67938"/>
                </a:lnTo>
                <a:lnTo>
                  <a:pt x="376355" y="39614"/>
                </a:lnTo>
                <a:lnTo>
                  <a:pt x="335352" y="18228"/>
                </a:lnTo>
                <a:lnTo>
                  <a:pt x="290039" y="4712"/>
                </a:lnTo>
                <a:lnTo>
                  <a:pt x="241388" y="0"/>
                </a:lnTo>
                <a:lnTo>
                  <a:pt x="192737" y="4712"/>
                </a:lnTo>
                <a:lnTo>
                  <a:pt x="147425" y="18228"/>
                </a:lnTo>
                <a:lnTo>
                  <a:pt x="106422" y="39614"/>
                </a:lnTo>
                <a:lnTo>
                  <a:pt x="70697" y="67938"/>
                </a:lnTo>
                <a:lnTo>
                  <a:pt x="41223" y="102268"/>
                </a:lnTo>
                <a:lnTo>
                  <a:pt x="18968" y="141671"/>
                </a:lnTo>
                <a:lnTo>
                  <a:pt x="4903" y="185214"/>
                </a:lnTo>
                <a:lnTo>
                  <a:pt x="0" y="231965"/>
                </a:lnTo>
                <a:lnTo>
                  <a:pt x="4903" y="278712"/>
                </a:lnTo>
                <a:lnTo>
                  <a:pt x="18968" y="322252"/>
                </a:lnTo>
                <a:lnTo>
                  <a:pt x="41223" y="361652"/>
                </a:lnTo>
                <a:lnTo>
                  <a:pt x="70697" y="395981"/>
                </a:lnTo>
                <a:lnTo>
                  <a:pt x="106422" y="424304"/>
                </a:lnTo>
                <a:lnTo>
                  <a:pt x="147425" y="445690"/>
                </a:lnTo>
                <a:lnTo>
                  <a:pt x="192737" y="459205"/>
                </a:lnTo>
                <a:lnTo>
                  <a:pt x="241388" y="463918"/>
                </a:lnTo>
                <a:close/>
              </a:path>
            </a:pathLst>
          </a:custGeom>
          <a:solidFill>
            <a:schemeClr val="tx2">
              <a:lumMod val="90000"/>
            </a:schemeClr>
          </a:solidFill>
          <a:ln w="20891">
            <a:solidFill>
              <a:srgbClr val="63666A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2" name="object 29">
            <a:extLst>
              <a:ext uri="{FF2B5EF4-FFF2-40B4-BE49-F238E27FC236}">
                <a16:creationId xmlns:a16="http://schemas.microsoft.com/office/drawing/2014/main" id="{12F062F9-2523-4892-ABBB-071E8A38C7EF}"/>
              </a:ext>
            </a:extLst>
          </p:cNvPr>
          <p:cNvSpPr>
            <a:spLocks noChangeAspect="1"/>
          </p:cNvSpPr>
          <p:nvPr/>
        </p:nvSpPr>
        <p:spPr>
          <a:xfrm>
            <a:off x="4961580" y="5506190"/>
            <a:ext cx="640080" cy="640402"/>
          </a:xfrm>
          <a:custGeom>
            <a:avLst/>
            <a:gdLst/>
            <a:ahLst/>
            <a:cxnLst/>
            <a:rect l="l" t="t" r="r" b="b"/>
            <a:pathLst>
              <a:path w="483235" h="464184">
                <a:moveTo>
                  <a:pt x="241388" y="0"/>
                </a:moveTo>
                <a:lnTo>
                  <a:pt x="290039" y="4712"/>
                </a:lnTo>
                <a:lnTo>
                  <a:pt x="335352" y="18227"/>
                </a:lnTo>
                <a:lnTo>
                  <a:pt x="376355" y="39613"/>
                </a:lnTo>
                <a:lnTo>
                  <a:pt x="412080" y="67937"/>
                </a:lnTo>
                <a:lnTo>
                  <a:pt x="441554" y="102265"/>
                </a:lnTo>
                <a:lnTo>
                  <a:pt x="463809" y="141665"/>
                </a:lnTo>
                <a:lnTo>
                  <a:pt x="477874" y="185205"/>
                </a:lnTo>
                <a:lnTo>
                  <a:pt x="482777" y="231952"/>
                </a:lnTo>
                <a:lnTo>
                  <a:pt x="477874" y="278703"/>
                </a:lnTo>
                <a:lnTo>
                  <a:pt x="463809" y="322247"/>
                </a:lnTo>
                <a:lnTo>
                  <a:pt x="441554" y="361649"/>
                </a:lnTo>
                <a:lnTo>
                  <a:pt x="412080" y="395979"/>
                </a:lnTo>
                <a:lnTo>
                  <a:pt x="376355" y="424303"/>
                </a:lnTo>
                <a:lnTo>
                  <a:pt x="335352" y="445690"/>
                </a:lnTo>
                <a:lnTo>
                  <a:pt x="290039" y="459205"/>
                </a:lnTo>
                <a:lnTo>
                  <a:pt x="241388" y="463918"/>
                </a:lnTo>
                <a:lnTo>
                  <a:pt x="192737" y="459205"/>
                </a:lnTo>
                <a:lnTo>
                  <a:pt x="147425" y="445690"/>
                </a:lnTo>
                <a:lnTo>
                  <a:pt x="106422" y="424303"/>
                </a:lnTo>
                <a:lnTo>
                  <a:pt x="70697" y="395979"/>
                </a:lnTo>
                <a:lnTo>
                  <a:pt x="41223" y="361649"/>
                </a:lnTo>
                <a:lnTo>
                  <a:pt x="18968" y="322247"/>
                </a:lnTo>
                <a:lnTo>
                  <a:pt x="4903" y="278703"/>
                </a:lnTo>
                <a:lnTo>
                  <a:pt x="0" y="231952"/>
                </a:lnTo>
                <a:lnTo>
                  <a:pt x="4903" y="185205"/>
                </a:lnTo>
                <a:lnTo>
                  <a:pt x="18968" y="141665"/>
                </a:lnTo>
                <a:lnTo>
                  <a:pt x="41223" y="102265"/>
                </a:lnTo>
                <a:lnTo>
                  <a:pt x="70697" y="67937"/>
                </a:lnTo>
                <a:lnTo>
                  <a:pt x="106422" y="39613"/>
                </a:lnTo>
                <a:lnTo>
                  <a:pt x="147425" y="18227"/>
                </a:lnTo>
                <a:lnTo>
                  <a:pt x="192737" y="4712"/>
                </a:lnTo>
                <a:lnTo>
                  <a:pt x="241388" y="0"/>
                </a:lnTo>
                <a:close/>
              </a:path>
            </a:pathLst>
          </a:custGeom>
          <a:solidFill>
            <a:srgbClr val="63666A"/>
          </a:solidFill>
          <a:ln w="20891">
            <a:solidFill>
              <a:schemeClr val="tx2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3" name="object 31">
            <a:extLst>
              <a:ext uri="{FF2B5EF4-FFF2-40B4-BE49-F238E27FC236}">
                <a16:creationId xmlns:a16="http://schemas.microsoft.com/office/drawing/2014/main" id="{324DCBC8-7D19-47C8-BD7E-73A6184AD2CA}"/>
              </a:ext>
            </a:extLst>
          </p:cNvPr>
          <p:cNvSpPr>
            <a:spLocks noChangeAspect="1"/>
          </p:cNvSpPr>
          <p:nvPr/>
        </p:nvSpPr>
        <p:spPr>
          <a:xfrm>
            <a:off x="6044673" y="6319613"/>
            <a:ext cx="640080" cy="640402"/>
          </a:xfrm>
          <a:custGeom>
            <a:avLst/>
            <a:gdLst/>
            <a:ahLst/>
            <a:cxnLst/>
            <a:rect l="l" t="t" r="r" b="b"/>
            <a:pathLst>
              <a:path w="483235" h="464184">
                <a:moveTo>
                  <a:pt x="241376" y="0"/>
                </a:moveTo>
                <a:lnTo>
                  <a:pt x="290030" y="4712"/>
                </a:lnTo>
                <a:lnTo>
                  <a:pt x="335344" y="18227"/>
                </a:lnTo>
                <a:lnTo>
                  <a:pt x="376348" y="39613"/>
                </a:lnTo>
                <a:lnTo>
                  <a:pt x="412072" y="67937"/>
                </a:lnTo>
                <a:lnTo>
                  <a:pt x="441545" y="102265"/>
                </a:lnTo>
                <a:lnTo>
                  <a:pt x="463798" y="141665"/>
                </a:lnTo>
                <a:lnTo>
                  <a:pt x="477861" y="185205"/>
                </a:lnTo>
                <a:lnTo>
                  <a:pt x="482765" y="231952"/>
                </a:lnTo>
                <a:lnTo>
                  <a:pt x="477861" y="278703"/>
                </a:lnTo>
                <a:lnTo>
                  <a:pt x="463798" y="322247"/>
                </a:lnTo>
                <a:lnTo>
                  <a:pt x="441545" y="361649"/>
                </a:lnTo>
                <a:lnTo>
                  <a:pt x="412072" y="395979"/>
                </a:lnTo>
                <a:lnTo>
                  <a:pt x="376348" y="424303"/>
                </a:lnTo>
                <a:lnTo>
                  <a:pt x="335344" y="445690"/>
                </a:lnTo>
                <a:lnTo>
                  <a:pt x="290030" y="459205"/>
                </a:lnTo>
                <a:lnTo>
                  <a:pt x="241376" y="463918"/>
                </a:lnTo>
                <a:lnTo>
                  <a:pt x="192725" y="459205"/>
                </a:lnTo>
                <a:lnTo>
                  <a:pt x="147414" y="445690"/>
                </a:lnTo>
                <a:lnTo>
                  <a:pt x="106413" y="424303"/>
                </a:lnTo>
                <a:lnTo>
                  <a:pt x="70691" y="395979"/>
                </a:lnTo>
                <a:lnTo>
                  <a:pt x="41218" y="361649"/>
                </a:lnTo>
                <a:lnTo>
                  <a:pt x="18966" y="322247"/>
                </a:lnTo>
                <a:lnTo>
                  <a:pt x="4903" y="278703"/>
                </a:lnTo>
                <a:lnTo>
                  <a:pt x="0" y="231952"/>
                </a:lnTo>
                <a:lnTo>
                  <a:pt x="4903" y="185205"/>
                </a:lnTo>
                <a:lnTo>
                  <a:pt x="18966" y="141665"/>
                </a:lnTo>
                <a:lnTo>
                  <a:pt x="41218" y="102265"/>
                </a:lnTo>
                <a:lnTo>
                  <a:pt x="70691" y="67937"/>
                </a:lnTo>
                <a:lnTo>
                  <a:pt x="106413" y="39613"/>
                </a:lnTo>
                <a:lnTo>
                  <a:pt x="147414" y="18227"/>
                </a:lnTo>
                <a:lnTo>
                  <a:pt x="192725" y="4712"/>
                </a:lnTo>
                <a:lnTo>
                  <a:pt x="241376" y="0"/>
                </a:lnTo>
                <a:close/>
              </a:path>
            </a:pathLst>
          </a:custGeom>
          <a:solidFill>
            <a:srgbClr val="63666A"/>
          </a:solidFill>
          <a:ln w="20891">
            <a:solidFill>
              <a:schemeClr val="tx2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4" name="object 32">
            <a:extLst>
              <a:ext uri="{FF2B5EF4-FFF2-40B4-BE49-F238E27FC236}">
                <a16:creationId xmlns:a16="http://schemas.microsoft.com/office/drawing/2014/main" id="{BD1A9C8D-B955-4E70-977D-22293280EA60}"/>
              </a:ext>
            </a:extLst>
          </p:cNvPr>
          <p:cNvSpPr>
            <a:spLocks noChangeAspect="1"/>
          </p:cNvSpPr>
          <p:nvPr/>
        </p:nvSpPr>
        <p:spPr>
          <a:xfrm>
            <a:off x="7857246" y="6255078"/>
            <a:ext cx="640080" cy="640402"/>
          </a:xfrm>
          <a:custGeom>
            <a:avLst/>
            <a:gdLst/>
            <a:ahLst/>
            <a:cxnLst/>
            <a:rect l="l" t="t" r="r" b="b"/>
            <a:pathLst>
              <a:path w="483235" h="464184">
                <a:moveTo>
                  <a:pt x="241376" y="0"/>
                </a:moveTo>
                <a:lnTo>
                  <a:pt x="290030" y="4712"/>
                </a:lnTo>
                <a:lnTo>
                  <a:pt x="335344" y="18227"/>
                </a:lnTo>
                <a:lnTo>
                  <a:pt x="376348" y="39613"/>
                </a:lnTo>
                <a:lnTo>
                  <a:pt x="412072" y="67937"/>
                </a:lnTo>
                <a:lnTo>
                  <a:pt x="441545" y="102265"/>
                </a:lnTo>
                <a:lnTo>
                  <a:pt x="463798" y="141665"/>
                </a:lnTo>
                <a:lnTo>
                  <a:pt x="477861" y="185205"/>
                </a:lnTo>
                <a:lnTo>
                  <a:pt x="482765" y="231952"/>
                </a:lnTo>
                <a:lnTo>
                  <a:pt x="477861" y="278703"/>
                </a:lnTo>
                <a:lnTo>
                  <a:pt x="463798" y="322247"/>
                </a:lnTo>
                <a:lnTo>
                  <a:pt x="441545" y="361649"/>
                </a:lnTo>
                <a:lnTo>
                  <a:pt x="412072" y="395979"/>
                </a:lnTo>
                <a:lnTo>
                  <a:pt x="376348" y="424303"/>
                </a:lnTo>
                <a:lnTo>
                  <a:pt x="335344" y="445690"/>
                </a:lnTo>
                <a:lnTo>
                  <a:pt x="290030" y="459205"/>
                </a:lnTo>
                <a:lnTo>
                  <a:pt x="241376" y="463918"/>
                </a:lnTo>
                <a:lnTo>
                  <a:pt x="192725" y="459205"/>
                </a:lnTo>
                <a:lnTo>
                  <a:pt x="147414" y="445690"/>
                </a:lnTo>
                <a:lnTo>
                  <a:pt x="106413" y="424303"/>
                </a:lnTo>
                <a:lnTo>
                  <a:pt x="70691" y="395979"/>
                </a:lnTo>
                <a:lnTo>
                  <a:pt x="41218" y="361649"/>
                </a:lnTo>
                <a:lnTo>
                  <a:pt x="18966" y="322247"/>
                </a:lnTo>
                <a:lnTo>
                  <a:pt x="4903" y="278703"/>
                </a:lnTo>
                <a:lnTo>
                  <a:pt x="0" y="231952"/>
                </a:lnTo>
                <a:lnTo>
                  <a:pt x="4903" y="185205"/>
                </a:lnTo>
                <a:lnTo>
                  <a:pt x="18966" y="141665"/>
                </a:lnTo>
                <a:lnTo>
                  <a:pt x="41218" y="102265"/>
                </a:lnTo>
                <a:lnTo>
                  <a:pt x="70691" y="67937"/>
                </a:lnTo>
                <a:lnTo>
                  <a:pt x="106413" y="39613"/>
                </a:lnTo>
                <a:lnTo>
                  <a:pt x="147414" y="18227"/>
                </a:lnTo>
                <a:lnTo>
                  <a:pt x="192725" y="4712"/>
                </a:lnTo>
                <a:lnTo>
                  <a:pt x="241376" y="0"/>
                </a:lnTo>
                <a:close/>
              </a:path>
            </a:pathLst>
          </a:custGeom>
          <a:solidFill>
            <a:schemeClr val="accent6"/>
          </a:solidFill>
          <a:ln w="20891">
            <a:solidFill>
              <a:schemeClr val="tx2">
                <a:lumMod val="90000"/>
              </a:schemeClr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5" name="object 40">
            <a:extLst>
              <a:ext uri="{FF2B5EF4-FFF2-40B4-BE49-F238E27FC236}">
                <a16:creationId xmlns:a16="http://schemas.microsoft.com/office/drawing/2014/main" id="{5B39D11C-D4E0-4B19-962A-EA9B9C22C041}"/>
              </a:ext>
            </a:extLst>
          </p:cNvPr>
          <p:cNvSpPr/>
          <p:nvPr/>
        </p:nvSpPr>
        <p:spPr>
          <a:xfrm>
            <a:off x="3425547" y="4326978"/>
            <a:ext cx="945488" cy="0"/>
          </a:xfrm>
          <a:custGeom>
            <a:avLst/>
            <a:gdLst/>
            <a:ahLst/>
            <a:cxnLst/>
            <a:rect l="l" t="t" r="r" b="b"/>
            <a:pathLst>
              <a:path w="640080">
                <a:moveTo>
                  <a:pt x="639724" y="0"/>
                </a:moveTo>
                <a:lnTo>
                  <a:pt x="0" y="0"/>
                </a:lnTo>
              </a:path>
            </a:pathLst>
          </a:custGeom>
          <a:ln w="28575">
            <a:solidFill>
              <a:schemeClr val="accent3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6" name="object 41">
            <a:extLst>
              <a:ext uri="{FF2B5EF4-FFF2-40B4-BE49-F238E27FC236}">
                <a16:creationId xmlns:a16="http://schemas.microsoft.com/office/drawing/2014/main" id="{93B72271-E1E6-4338-9995-29B760AC9CB8}"/>
              </a:ext>
            </a:extLst>
          </p:cNvPr>
          <p:cNvSpPr/>
          <p:nvPr/>
        </p:nvSpPr>
        <p:spPr>
          <a:xfrm>
            <a:off x="9907053" y="4325449"/>
            <a:ext cx="1202299" cy="0"/>
          </a:xfrm>
          <a:custGeom>
            <a:avLst/>
            <a:gdLst/>
            <a:ahLst/>
            <a:cxnLst/>
            <a:rect l="l" t="t" r="r" b="b"/>
            <a:pathLst>
              <a:path w="567689">
                <a:moveTo>
                  <a:pt x="567461" y="0"/>
                </a:moveTo>
                <a:lnTo>
                  <a:pt x="0" y="0"/>
                </a:lnTo>
              </a:path>
            </a:pathLst>
          </a:custGeom>
          <a:ln w="28575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7" name="object 42">
            <a:extLst>
              <a:ext uri="{FF2B5EF4-FFF2-40B4-BE49-F238E27FC236}">
                <a16:creationId xmlns:a16="http://schemas.microsoft.com/office/drawing/2014/main" id="{293ACD0B-5118-4D8B-80B2-FEE9913E837F}"/>
              </a:ext>
            </a:extLst>
          </p:cNvPr>
          <p:cNvSpPr>
            <a:spLocks noChangeAspect="1"/>
          </p:cNvSpPr>
          <p:nvPr/>
        </p:nvSpPr>
        <p:spPr>
          <a:xfrm>
            <a:off x="9266973" y="4001378"/>
            <a:ext cx="640080" cy="640402"/>
          </a:xfrm>
          <a:custGeom>
            <a:avLst/>
            <a:gdLst/>
            <a:ahLst/>
            <a:cxnLst/>
            <a:rect l="l" t="t" r="r" b="b"/>
            <a:pathLst>
              <a:path w="483235" h="464184">
                <a:moveTo>
                  <a:pt x="241388" y="463918"/>
                </a:moveTo>
                <a:lnTo>
                  <a:pt x="290039" y="459205"/>
                </a:lnTo>
                <a:lnTo>
                  <a:pt x="335350" y="445690"/>
                </a:lnTo>
                <a:lnTo>
                  <a:pt x="376351" y="424304"/>
                </a:lnTo>
                <a:lnTo>
                  <a:pt x="412073" y="395981"/>
                </a:lnTo>
                <a:lnTo>
                  <a:pt x="441546" y="361652"/>
                </a:lnTo>
                <a:lnTo>
                  <a:pt x="463798" y="322252"/>
                </a:lnTo>
                <a:lnTo>
                  <a:pt x="477861" y="278712"/>
                </a:lnTo>
                <a:lnTo>
                  <a:pt x="482765" y="231965"/>
                </a:lnTo>
                <a:lnTo>
                  <a:pt x="477861" y="185214"/>
                </a:lnTo>
                <a:lnTo>
                  <a:pt x="463798" y="141671"/>
                </a:lnTo>
                <a:lnTo>
                  <a:pt x="441546" y="102268"/>
                </a:lnTo>
                <a:lnTo>
                  <a:pt x="412073" y="67938"/>
                </a:lnTo>
                <a:lnTo>
                  <a:pt x="376351" y="39614"/>
                </a:lnTo>
                <a:lnTo>
                  <a:pt x="335350" y="18228"/>
                </a:lnTo>
                <a:lnTo>
                  <a:pt x="290039" y="4712"/>
                </a:lnTo>
                <a:lnTo>
                  <a:pt x="241388" y="0"/>
                </a:lnTo>
                <a:lnTo>
                  <a:pt x="192737" y="4712"/>
                </a:lnTo>
                <a:lnTo>
                  <a:pt x="147425" y="18228"/>
                </a:lnTo>
                <a:lnTo>
                  <a:pt x="106422" y="39614"/>
                </a:lnTo>
                <a:lnTo>
                  <a:pt x="70697" y="67938"/>
                </a:lnTo>
                <a:lnTo>
                  <a:pt x="41223" y="102268"/>
                </a:lnTo>
                <a:lnTo>
                  <a:pt x="18968" y="141671"/>
                </a:lnTo>
                <a:lnTo>
                  <a:pt x="4903" y="185214"/>
                </a:lnTo>
                <a:lnTo>
                  <a:pt x="0" y="231965"/>
                </a:lnTo>
                <a:lnTo>
                  <a:pt x="4903" y="278712"/>
                </a:lnTo>
                <a:lnTo>
                  <a:pt x="18968" y="322252"/>
                </a:lnTo>
                <a:lnTo>
                  <a:pt x="41223" y="361652"/>
                </a:lnTo>
                <a:lnTo>
                  <a:pt x="70697" y="395981"/>
                </a:lnTo>
                <a:lnTo>
                  <a:pt x="106422" y="424304"/>
                </a:lnTo>
                <a:lnTo>
                  <a:pt x="147425" y="445690"/>
                </a:lnTo>
                <a:lnTo>
                  <a:pt x="192737" y="459205"/>
                </a:lnTo>
                <a:lnTo>
                  <a:pt x="241388" y="463918"/>
                </a:lnTo>
                <a:close/>
              </a:path>
            </a:pathLst>
          </a:custGeom>
          <a:solidFill>
            <a:schemeClr val="accent1"/>
          </a:solidFill>
          <a:ln w="20891">
            <a:solidFill>
              <a:schemeClr val="tx2">
                <a:lumMod val="90000"/>
              </a:schemeClr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8" name="object 43">
            <a:extLst>
              <a:ext uri="{FF2B5EF4-FFF2-40B4-BE49-F238E27FC236}">
                <a16:creationId xmlns:a16="http://schemas.microsoft.com/office/drawing/2014/main" id="{A2DC7713-E160-40E5-BBFD-382C7D54FCC0}"/>
              </a:ext>
            </a:extLst>
          </p:cNvPr>
          <p:cNvSpPr/>
          <p:nvPr/>
        </p:nvSpPr>
        <p:spPr>
          <a:xfrm>
            <a:off x="3239114" y="2472315"/>
            <a:ext cx="160575" cy="3840480"/>
          </a:xfrm>
          <a:custGeom>
            <a:avLst/>
            <a:gdLst/>
            <a:ahLst/>
            <a:cxnLst/>
            <a:rect l="l" t="t" r="r" b="b"/>
            <a:pathLst>
              <a:path w="97790" h="1278254">
                <a:moveTo>
                  <a:pt x="0" y="0"/>
                </a:moveTo>
                <a:lnTo>
                  <a:pt x="97790" y="0"/>
                </a:lnTo>
                <a:lnTo>
                  <a:pt x="97790" y="1278191"/>
                </a:lnTo>
                <a:lnTo>
                  <a:pt x="0" y="1278191"/>
                </a:lnTo>
              </a:path>
            </a:pathLst>
          </a:custGeom>
          <a:ln w="28575">
            <a:solidFill>
              <a:schemeClr val="accent3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9" name="object 44">
            <a:extLst>
              <a:ext uri="{FF2B5EF4-FFF2-40B4-BE49-F238E27FC236}">
                <a16:creationId xmlns:a16="http://schemas.microsoft.com/office/drawing/2014/main" id="{A593D435-2248-46AE-8204-54445250F2F0}"/>
              </a:ext>
            </a:extLst>
          </p:cNvPr>
          <p:cNvSpPr/>
          <p:nvPr/>
        </p:nvSpPr>
        <p:spPr>
          <a:xfrm>
            <a:off x="11119451" y="3346650"/>
            <a:ext cx="120600" cy="1920240"/>
          </a:xfrm>
          <a:custGeom>
            <a:avLst/>
            <a:gdLst/>
            <a:ahLst/>
            <a:cxnLst/>
            <a:rect l="l" t="t" r="r" b="b"/>
            <a:pathLst>
              <a:path w="97789" h="2643504">
                <a:moveTo>
                  <a:pt x="97789" y="0"/>
                </a:moveTo>
                <a:lnTo>
                  <a:pt x="0" y="0"/>
                </a:lnTo>
                <a:lnTo>
                  <a:pt x="0" y="2643136"/>
                </a:lnTo>
                <a:lnTo>
                  <a:pt x="97789" y="2643136"/>
                </a:lnTo>
              </a:path>
            </a:pathLst>
          </a:custGeom>
          <a:ln w="28575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0" name="object 55">
            <a:extLst>
              <a:ext uri="{FF2B5EF4-FFF2-40B4-BE49-F238E27FC236}">
                <a16:creationId xmlns:a16="http://schemas.microsoft.com/office/drawing/2014/main" id="{BD6EBC5B-8F50-41B9-9C5D-41448039D968}"/>
              </a:ext>
            </a:extLst>
          </p:cNvPr>
          <p:cNvSpPr>
            <a:spLocks noChangeAspect="1"/>
          </p:cNvSpPr>
          <p:nvPr/>
        </p:nvSpPr>
        <p:spPr>
          <a:xfrm>
            <a:off x="4370513" y="4014159"/>
            <a:ext cx="640080" cy="640402"/>
          </a:xfrm>
          <a:custGeom>
            <a:avLst/>
            <a:gdLst/>
            <a:ahLst/>
            <a:cxnLst/>
            <a:rect l="l" t="t" r="r" b="b"/>
            <a:pathLst>
              <a:path w="483235" h="464184">
                <a:moveTo>
                  <a:pt x="241388" y="463918"/>
                </a:moveTo>
                <a:lnTo>
                  <a:pt x="290039" y="459205"/>
                </a:lnTo>
                <a:lnTo>
                  <a:pt x="335352" y="445690"/>
                </a:lnTo>
                <a:lnTo>
                  <a:pt x="376355" y="424304"/>
                </a:lnTo>
                <a:lnTo>
                  <a:pt x="412080" y="395981"/>
                </a:lnTo>
                <a:lnTo>
                  <a:pt x="441554" y="361652"/>
                </a:lnTo>
                <a:lnTo>
                  <a:pt x="463809" y="322252"/>
                </a:lnTo>
                <a:lnTo>
                  <a:pt x="477874" y="278712"/>
                </a:lnTo>
                <a:lnTo>
                  <a:pt x="482777" y="231965"/>
                </a:lnTo>
                <a:lnTo>
                  <a:pt x="477874" y="185214"/>
                </a:lnTo>
                <a:lnTo>
                  <a:pt x="463809" y="141671"/>
                </a:lnTo>
                <a:lnTo>
                  <a:pt x="441554" y="102268"/>
                </a:lnTo>
                <a:lnTo>
                  <a:pt x="412080" y="67938"/>
                </a:lnTo>
                <a:lnTo>
                  <a:pt x="376355" y="39614"/>
                </a:lnTo>
                <a:lnTo>
                  <a:pt x="335352" y="18228"/>
                </a:lnTo>
                <a:lnTo>
                  <a:pt x="290039" y="4712"/>
                </a:lnTo>
                <a:lnTo>
                  <a:pt x="241388" y="0"/>
                </a:lnTo>
                <a:lnTo>
                  <a:pt x="192737" y="4712"/>
                </a:lnTo>
                <a:lnTo>
                  <a:pt x="147425" y="18228"/>
                </a:lnTo>
                <a:lnTo>
                  <a:pt x="106422" y="39614"/>
                </a:lnTo>
                <a:lnTo>
                  <a:pt x="70697" y="67938"/>
                </a:lnTo>
                <a:lnTo>
                  <a:pt x="41223" y="102268"/>
                </a:lnTo>
                <a:lnTo>
                  <a:pt x="18968" y="141671"/>
                </a:lnTo>
                <a:lnTo>
                  <a:pt x="4903" y="185214"/>
                </a:lnTo>
                <a:lnTo>
                  <a:pt x="0" y="231965"/>
                </a:lnTo>
                <a:lnTo>
                  <a:pt x="4903" y="278712"/>
                </a:lnTo>
                <a:lnTo>
                  <a:pt x="18968" y="322252"/>
                </a:lnTo>
                <a:lnTo>
                  <a:pt x="41223" y="361652"/>
                </a:lnTo>
                <a:lnTo>
                  <a:pt x="70697" y="395981"/>
                </a:lnTo>
                <a:lnTo>
                  <a:pt x="106422" y="424304"/>
                </a:lnTo>
                <a:lnTo>
                  <a:pt x="147425" y="445690"/>
                </a:lnTo>
                <a:lnTo>
                  <a:pt x="192737" y="459205"/>
                </a:lnTo>
                <a:lnTo>
                  <a:pt x="241388" y="463918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 w="20891">
            <a:solidFill>
              <a:schemeClr val="tx2">
                <a:lumMod val="90000"/>
              </a:schemeClr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01" name="Graphic 100">
            <a:extLst>
              <a:ext uri="{FF2B5EF4-FFF2-40B4-BE49-F238E27FC236}">
                <a16:creationId xmlns:a16="http://schemas.microsoft.com/office/drawing/2014/main" id="{A2AC4F23-EE64-4C9B-9B4B-66B1B18C9D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53076" y="2162636"/>
            <a:ext cx="525171" cy="536345"/>
          </a:xfrm>
          <a:prstGeom prst="rect">
            <a:avLst/>
          </a:prstGeom>
        </p:spPr>
      </p:pic>
      <p:pic>
        <p:nvPicPr>
          <p:cNvPr id="102" name="Graphic 101">
            <a:extLst>
              <a:ext uri="{FF2B5EF4-FFF2-40B4-BE49-F238E27FC236}">
                <a16:creationId xmlns:a16="http://schemas.microsoft.com/office/drawing/2014/main" id="{7CA504F4-D215-4084-A0CF-02FAE09D11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94406" y="6388146"/>
            <a:ext cx="365760" cy="374266"/>
          </a:xfrm>
          <a:prstGeom prst="rect">
            <a:avLst/>
          </a:prstGeom>
        </p:spPr>
      </p:pic>
      <p:pic>
        <p:nvPicPr>
          <p:cNvPr id="103" name="Graphic 102">
            <a:extLst>
              <a:ext uri="{FF2B5EF4-FFF2-40B4-BE49-F238E27FC236}">
                <a16:creationId xmlns:a16="http://schemas.microsoft.com/office/drawing/2014/main" id="{0CA22E35-43B3-4C11-B742-7528C2DF094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14226" y="2230783"/>
            <a:ext cx="457200" cy="400050"/>
          </a:xfrm>
          <a:prstGeom prst="rect">
            <a:avLst/>
          </a:prstGeom>
        </p:spPr>
      </p:pic>
      <p:pic>
        <p:nvPicPr>
          <p:cNvPr id="104" name="Graphic 103">
            <a:extLst>
              <a:ext uri="{FF2B5EF4-FFF2-40B4-BE49-F238E27FC236}">
                <a16:creationId xmlns:a16="http://schemas.microsoft.com/office/drawing/2014/main" id="{DA5AC2C3-5B2B-4012-B376-00559E15A48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45638" y="6449314"/>
            <a:ext cx="438150" cy="381000"/>
          </a:xfrm>
          <a:prstGeom prst="rect">
            <a:avLst/>
          </a:prstGeom>
        </p:spPr>
      </p:pic>
      <p:pic>
        <p:nvPicPr>
          <p:cNvPr id="105" name="Graphic 104">
            <a:extLst>
              <a:ext uri="{FF2B5EF4-FFF2-40B4-BE49-F238E27FC236}">
                <a16:creationId xmlns:a16="http://schemas.microsoft.com/office/drawing/2014/main" id="{DC156D18-BE9C-4E8F-8769-8E3676B2FB5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054005" y="3034104"/>
            <a:ext cx="411480" cy="420235"/>
          </a:xfrm>
          <a:prstGeom prst="rect">
            <a:avLst/>
          </a:prstGeom>
        </p:spPr>
      </p:pic>
      <p:pic>
        <p:nvPicPr>
          <p:cNvPr id="106" name="Graphic 105">
            <a:extLst>
              <a:ext uri="{FF2B5EF4-FFF2-40B4-BE49-F238E27FC236}">
                <a16:creationId xmlns:a16="http://schemas.microsoft.com/office/drawing/2014/main" id="{DDBC8DF7-1D7D-479A-B1DC-11B869FC42E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053020" y="5626366"/>
            <a:ext cx="457200" cy="400050"/>
          </a:xfrm>
          <a:prstGeom prst="rect">
            <a:avLst/>
          </a:prstGeom>
        </p:spPr>
      </p:pic>
      <p:pic>
        <p:nvPicPr>
          <p:cNvPr id="107" name="Graphic 106">
            <a:extLst>
              <a:ext uri="{FF2B5EF4-FFF2-40B4-BE49-F238E27FC236}">
                <a16:creationId xmlns:a16="http://schemas.microsoft.com/office/drawing/2014/main" id="{D6532AC1-C71A-4BB4-8672-9CA6BC3D6DB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762612" y="3029909"/>
            <a:ext cx="419100" cy="428625"/>
          </a:xfrm>
          <a:prstGeom prst="rect">
            <a:avLst/>
          </a:prstGeom>
        </p:spPr>
      </p:pic>
      <p:pic>
        <p:nvPicPr>
          <p:cNvPr id="108" name="Graphic 107">
            <a:extLst>
              <a:ext uri="{FF2B5EF4-FFF2-40B4-BE49-F238E27FC236}">
                <a16:creationId xmlns:a16="http://schemas.microsoft.com/office/drawing/2014/main" id="{6B66DBCF-4B1F-4A28-9F05-C9BBFEB5C83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358413" y="4126317"/>
            <a:ext cx="457200" cy="390525"/>
          </a:xfrm>
          <a:prstGeom prst="rect">
            <a:avLst/>
          </a:prstGeom>
        </p:spPr>
      </p:pic>
      <p:pic>
        <p:nvPicPr>
          <p:cNvPr id="109" name="Graphic 108">
            <a:extLst>
              <a:ext uri="{FF2B5EF4-FFF2-40B4-BE49-F238E27FC236}">
                <a16:creationId xmlns:a16="http://schemas.microsoft.com/office/drawing/2014/main" id="{4E058A89-AEAB-4790-8F4D-C1FCDAC8B5F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461953" y="4134335"/>
            <a:ext cx="457200" cy="400050"/>
          </a:xfrm>
          <a:prstGeom prst="rect">
            <a:avLst/>
          </a:prstGeom>
        </p:spPr>
      </p:pic>
      <p:sp>
        <p:nvSpPr>
          <p:cNvPr id="110" name="TextBox 109">
            <a:extLst>
              <a:ext uri="{FF2B5EF4-FFF2-40B4-BE49-F238E27FC236}">
                <a16:creationId xmlns:a16="http://schemas.microsoft.com/office/drawing/2014/main" id="{568972EC-FB4A-44C7-9C0E-E734FB6B9EFC}"/>
              </a:ext>
            </a:extLst>
          </p:cNvPr>
          <p:cNvSpPr txBox="1"/>
          <p:nvPr/>
        </p:nvSpPr>
        <p:spPr>
          <a:xfrm>
            <a:off x="685800" y="1108651"/>
            <a:ext cx="12422803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400"/>
              <a:t>DXC BES provides scalable B2B/EDI solutions and services that allow clients to better communicate, connect and exchange data with their trading partners. </a:t>
            </a:r>
          </a:p>
        </p:txBody>
      </p:sp>
      <p:sp>
        <p:nvSpPr>
          <p:cNvPr id="111" name="object 41">
            <a:extLst>
              <a:ext uri="{FF2B5EF4-FFF2-40B4-BE49-F238E27FC236}">
                <a16:creationId xmlns:a16="http://schemas.microsoft.com/office/drawing/2014/main" id="{095B8242-8FF2-4278-87AB-38B76B5DE7B9}"/>
              </a:ext>
            </a:extLst>
          </p:cNvPr>
          <p:cNvSpPr/>
          <p:nvPr/>
        </p:nvSpPr>
        <p:spPr>
          <a:xfrm>
            <a:off x="8465407" y="6569108"/>
            <a:ext cx="196332" cy="88895"/>
          </a:xfrm>
          <a:custGeom>
            <a:avLst/>
            <a:gdLst/>
            <a:ahLst/>
            <a:cxnLst/>
            <a:rect l="l" t="t" r="r" b="b"/>
            <a:pathLst>
              <a:path w="567689">
                <a:moveTo>
                  <a:pt x="567461" y="0"/>
                </a:moveTo>
                <a:lnTo>
                  <a:pt x="0" y="0"/>
                </a:lnTo>
              </a:path>
            </a:pathLst>
          </a:custGeom>
          <a:ln w="28575">
            <a:solidFill>
              <a:schemeClr val="accent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2" name="object 44">
            <a:extLst>
              <a:ext uri="{FF2B5EF4-FFF2-40B4-BE49-F238E27FC236}">
                <a16:creationId xmlns:a16="http://schemas.microsoft.com/office/drawing/2014/main" id="{3569817E-ED20-493E-98D4-61EFE0D700B9}"/>
              </a:ext>
            </a:extLst>
          </p:cNvPr>
          <p:cNvSpPr/>
          <p:nvPr/>
        </p:nvSpPr>
        <p:spPr>
          <a:xfrm>
            <a:off x="8674924" y="6004111"/>
            <a:ext cx="111448" cy="1371600"/>
          </a:xfrm>
          <a:custGeom>
            <a:avLst/>
            <a:gdLst/>
            <a:ahLst/>
            <a:cxnLst/>
            <a:rect l="l" t="t" r="r" b="b"/>
            <a:pathLst>
              <a:path w="97789" h="2643504">
                <a:moveTo>
                  <a:pt x="97789" y="0"/>
                </a:moveTo>
                <a:lnTo>
                  <a:pt x="0" y="0"/>
                </a:lnTo>
                <a:lnTo>
                  <a:pt x="0" y="2643136"/>
                </a:lnTo>
                <a:lnTo>
                  <a:pt x="97789" y="2643136"/>
                </a:lnTo>
              </a:path>
            </a:pathLst>
          </a:custGeom>
          <a:ln w="28575">
            <a:solidFill>
              <a:schemeClr val="accent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2715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8C0ADFB-9D1C-4C07-A74C-5A7327415D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157" y="295341"/>
            <a:ext cx="13009471" cy="7638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665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3437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5AA32-A90C-412E-8365-5B8BAF54A0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Backup</a:t>
            </a:r>
          </a:p>
        </p:txBody>
      </p:sp>
    </p:spTree>
    <p:extLst>
      <p:ext uri="{BB962C8B-B14F-4D97-AF65-F5344CB8AC3E}">
        <p14:creationId xmlns:p14="http://schemas.microsoft.com/office/powerpoint/2010/main" val="1856441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Logo, company name&#10;&#10;Description automatically generated">
            <a:extLst>
              <a:ext uri="{FF2B5EF4-FFF2-40B4-BE49-F238E27FC236}">
                <a16:creationId xmlns:a16="http://schemas.microsoft.com/office/drawing/2014/main" id="{FFBEAC65-164F-499D-AA7E-1327F2370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4906" y="3560173"/>
            <a:ext cx="4290282" cy="22538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EDE9B0-22D6-41E0-906F-4EAABC3B8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General Service Models DXC/SEEBURGER</a:t>
            </a:r>
            <a:br>
              <a:rPr lang="en-US"/>
            </a:br>
            <a:r>
              <a:rPr lang="en-US" sz="2800"/>
              <a:t>Flexibility for different Situations based on a Global Partnership Agreement</a:t>
            </a:r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8E7941-7B7F-4D03-AACD-1F3F0B7C066E}"/>
              </a:ext>
            </a:extLst>
          </p:cNvPr>
          <p:cNvSpPr txBox="1"/>
          <p:nvPr/>
        </p:nvSpPr>
        <p:spPr>
          <a:xfrm>
            <a:off x="5384611" y="2323263"/>
            <a:ext cx="1731018" cy="4529333"/>
          </a:xfrm>
          <a:prstGeom prst="rect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  <a:spcAft>
                <a:spcPts val="400"/>
              </a:spcAft>
            </a:pPr>
            <a:r>
              <a:rPr lang="de-DE" sz="1600"/>
              <a:t>Prime</a:t>
            </a:r>
            <a:endParaRPr lang="en-US" sz="160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1955F42-B45E-4FE4-96FF-4F534752EBE5}"/>
              </a:ext>
            </a:extLst>
          </p:cNvPr>
          <p:cNvSpPr/>
          <p:nvPr/>
        </p:nvSpPr>
        <p:spPr>
          <a:xfrm>
            <a:off x="5384612" y="5451849"/>
            <a:ext cx="3811492" cy="1112982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9388" indent="-179388">
              <a:spcAft>
                <a:spcPts val="600"/>
              </a:spcAft>
              <a:buClr>
                <a:srgbClr val="6F2C91"/>
              </a:buClr>
              <a:buSzPct val="80000"/>
              <a:buFont typeface="Arial" panose="020B0604020202020204" pitchFamily="34" charset="0"/>
              <a:buChar char="►"/>
            </a:pPr>
            <a:endParaRPr lang="en-US" sz="14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8279D40-EB36-441E-9C7F-795515C2B57F}"/>
              </a:ext>
            </a:extLst>
          </p:cNvPr>
          <p:cNvSpPr/>
          <p:nvPr/>
        </p:nvSpPr>
        <p:spPr>
          <a:xfrm>
            <a:off x="5384612" y="4076981"/>
            <a:ext cx="3811492" cy="1112982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6F2C91"/>
              </a:buClr>
              <a:buSzPct val="80000"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77E48F1-05FB-40FD-9F83-B071242DB5CB}"/>
              </a:ext>
            </a:extLst>
          </p:cNvPr>
          <p:cNvSpPr/>
          <p:nvPr/>
        </p:nvSpPr>
        <p:spPr>
          <a:xfrm>
            <a:off x="5384612" y="2702113"/>
            <a:ext cx="3811492" cy="1112982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6F2C91"/>
              </a:buClr>
              <a:buSzPct val="80000"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562AC95-8B5B-44A9-86A2-1AA08278A93C}"/>
              </a:ext>
            </a:extLst>
          </p:cNvPr>
          <p:cNvSpPr/>
          <p:nvPr/>
        </p:nvSpPr>
        <p:spPr>
          <a:xfrm>
            <a:off x="5384611" y="2697495"/>
            <a:ext cx="1731019" cy="49235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SEEBURGER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6999F05-CA27-4417-B622-1B23F522EA37}"/>
              </a:ext>
            </a:extLst>
          </p:cNvPr>
          <p:cNvSpPr/>
          <p:nvPr/>
        </p:nvSpPr>
        <p:spPr>
          <a:xfrm>
            <a:off x="7449408" y="3312219"/>
            <a:ext cx="1737460" cy="4923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DXC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953A2BC-C1F5-46E4-9D43-CC160DC3934E}"/>
              </a:ext>
            </a:extLst>
          </p:cNvPr>
          <p:cNvSpPr txBox="1"/>
          <p:nvPr/>
        </p:nvSpPr>
        <p:spPr>
          <a:xfrm>
            <a:off x="5522998" y="3312219"/>
            <a:ext cx="1454244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  <a:spcAft>
                <a:spcPts val="400"/>
              </a:spcAft>
            </a:pPr>
            <a:r>
              <a:rPr lang="de-DE" sz="1800"/>
              <a:t>E2E Service</a:t>
            </a:r>
            <a:endParaRPr lang="en-US" sz="180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8B679051-2A10-44A5-9025-F96961384EA9}"/>
              </a:ext>
            </a:extLst>
          </p:cNvPr>
          <p:cNvSpPr/>
          <p:nvPr/>
        </p:nvSpPr>
        <p:spPr>
          <a:xfrm>
            <a:off x="4154612" y="2891262"/>
            <a:ext cx="858982" cy="762589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>
                <a:solidFill>
                  <a:schemeClr val="tx1"/>
                </a:solidFill>
              </a:rPr>
              <a:t>A</a:t>
            </a:r>
            <a:endParaRPr lang="en-US" sz="2800" b="1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1A7C0D9-B259-48E6-AF9D-A14114C42528}"/>
              </a:ext>
            </a:extLst>
          </p:cNvPr>
          <p:cNvSpPr/>
          <p:nvPr/>
        </p:nvSpPr>
        <p:spPr>
          <a:xfrm>
            <a:off x="7458643" y="4090652"/>
            <a:ext cx="1731019" cy="49235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SEEBURGER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8FF8BE1-AABA-4F02-A3BF-C17EBCA4F1F8}"/>
              </a:ext>
            </a:extLst>
          </p:cNvPr>
          <p:cNvSpPr/>
          <p:nvPr/>
        </p:nvSpPr>
        <p:spPr>
          <a:xfrm>
            <a:off x="7458644" y="4687087"/>
            <a:ext cx="1737460" cy="4923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DXC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3A2C2C0-F2E0-4DEA-9CE0-1D3E80F22984}"/>
              </a:ext>
            </a:extLst>
          </p:cNvPr>
          <p:cNvSpPr txBox="1"/>
          <p:nvPr/>
        </p:nvSpPr>
        <p:spPr>
          <a:xfrm>
            <a:off x="5384610" y="4176013"/>
            <a:ext cx="1924438" cy="9428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90000"/>
              </a:lnSpc>
              <a:spcAft>
                <a:spcPts val="400"/>
              </a:spcAft>
            </a:pPr>
            <a:r>
              <a:rPr lang="en-US" sz="1800"/>
              <a:t>Complementary, </a:t>
            </a:r>
          </a:p>
          <a:p>
            <a:pPr algn="ctr">
              <a:lnSpc>
                <a:spcPct val="90000"/>
              </a:lnSpc>
              <a:spcAft>
                <a:spcPts val="400"/>
              </a:spcAft>
            </a:pPr>
            <a:r>
              <a:rPr lang="en-US" sz="1800"/>
              <a:t>Integrated</a:t>
            </a:r>
          </a:p>
          <a:p>
            <a:pPr algn="ctr">
              <a:lnSpc>
                <a:spcPct val="90000"/>
              </a:lnSpc>
              <a:spcAft>
                <a:spcPts val="400"/>
              </a:spcAft>
            </a:pPr>
            <a:r>
              <a:rPr lang="en-US" sz="1800"/>
              <a:t>E2E Service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B6F78649-DE0D-45DD-80F6-5F4011C49213}"/>
              </a:ext>
            </a:extLst>
          </p:cNvPr>
          <p:cNvSpPr/>
          <p:nvPr/>
        </p:nvSpPr>
        <p:spPr>
          <a:xfrm>
            <a:off x="4154612" y="4266130"/>
            <a:ext cx="858982" cy="762589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>
                <a:solidFill>
                  <a:schemeClr val="tx1"/>
                </a:solidFill>
              </a:rPr>
              <a:t>B</a:t>
            </a:r>
            <a:endParaRPr lang="en-US" sz="2800" b="1">
              <a:solidFill>
                <a:schemeClr val="tx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372BE23-CA45-48C6-BA7F-A2C470F4A3DE}"/>
              </a:ext>
            </a:extLst>
          </p:cNvPr>
          <p:cNvSpPr/>
          <p:nvPr/>
        </p:nvSpPr>
        <p:spPr>
          <a:xfrm>
            <a:off x="7460424" y="6058312"/>
            <a:ext cx="1731019" cy="49235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SEEBURGER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861184B-BCA1-4C00-AF50-E79A680D9212}"/>
              </a:ext>
            </a:extLst>
          </p:cNvPr>
          <p:cNvSpPr/>
          <p:nvPr/>
        </p:nvSpPr>
        <p:spPr>
          <a:xfrm>
            <a:off x="5384611" y="5444738"/>
            <a:ext cx="1737460" cy="4923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DXC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38F583B-CD7E-4F45-9E46-B540E52FAF01}"/>
              </a:ext>
            </a:extLst>
          </p:cNvPr>
          <p:cNvSpPr txBox="1"/>
          <p:nvPr/>
        </p:nvSpPr>
        <p:spPr>
          <a:xfrm>
            <a:off x="5522998" y="6061955"/>
            <a:ext cx="1454244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  <a:spcAft>
                <a:spcPts val="400"/>
              </a:spcAft>
            </a:pPr>
            <a:r>
              <a:rPr lang="de-DE" sz="1800"/>
              <a:t>E2E Service</a:t>
            </a:r>
            <a:endParaRPr lang="en-US" sz="180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EB3DC6BE-C03E-470D-A7FD-0DF1E8735804}"/>
              </a:ext>
            </a:extLst>
          </p:cNvPr>
          <p:cNvSpPr/>
          <p:nvPr/>
        </p:nvSpPr>
        <p:spPr>
          <a:xfrm>
            <a:off x="4154612" y="5640998"/>
            <a:ext cx="858982" cy="762589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>
                <a:solidFill>
                  <a:schemeClr val="tx1"/>
                </a:solidFill>
              </a:rPr>
              <a:t>C</a:t>
            </a:r>
            <a:endParaRPr lang="en-US" sz="2800" b="1">
              <a:solidFill>
                <a:schemeClr val="tx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90B10C8-E790-40EB-9511-674FB680E1D8}"/>
              </a:ext>
            </a:extLst>
          </p:cNvPr>
          <p:cNvSpPr txBox="1"/>
          <p:nvPr/>
        </p:nvSpPr>
        <p:spPr>
          <a:xfrm>
            <a:off x="10104257" y="1999106"/>
            <a:ext cx="2364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  <a:spcAft>
                <a:spcPts val="400"/>
              </a:spcAft>
            </a:pPr>
            <a:r>
              <a:rPr lang="en-US" sz="2000" b="1" u="sng"/>
              <a:t>Service Examples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0263CAB-A75F-4C05-BD16-550DCE5A16C7}"/>
              </a:ext>
            </a:extLst>
          </p:cNvPr>
          <p:cNvSpPr txBox="1"/>
          <p:nvPr/>
        </p:nvSpPr>
        <p:spPr>
          <a:xfrm>
            <a:off x="10104257" y="2781735"/>
            <a:ext cx="3339376" cy="10259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  <a:spcAft>
                <a:spcPts val="400"/>
              </a:spcAft>
            </a:pPr>
            <a:r>
              <a:rPr lang="en-US" sz="2000" b="1"/>
              <a:t>Mapping Factory</a:t>
            </a:r>
          </a:p>
          <a:p>
            <a:pPr marL="342900" indent="-342900" algn="l">
              <a:lnSpc>
                <a:spcPct val="90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000"/>
              <a:t>Consume Mappings aaS</a:t>
            </a:r>
          </a:p>
          <a:p>
            <a:pPr marL="342900" indent="-342900" algn="l">
              <a:lnSpc>
                <a:spcPct val="90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000"/>
              <a:t>T-Shirt Sizes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E7B6745A-7FA5-4744-B37A-E480765916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8643" y="4488944"/>
            <a:ext cx="1731019" cy="270270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03E216E6-F2B5-470C-8E5F-8915DD130F5F}"/>
              </a:ext>
            </a:extLst>
          </p:cNvPr>
          <p:cNvSpPr txBox="1"/>
          <p:nvPr/>
        </p:nvSpPr>
        <p:spPr>
          <a:xfrm>
            <a:off x="10104257" y="5458577"/>
            <a:ext cx="3381054" cy="10259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  <a:spcAft>
                <a:spcPts val="400"/>
              </a:spcAft>
            </a:pPr>
            <a:r>
              <a:rPr lang="en-US" sz="2000" b="1"/>
              <a:t>Mapping PODs</a:t>
            </a:r>
          </a:p>
          <a:p>
            <a:pPr marL="342900" indent="-342900" algn="l">
              <a:lnSpc>
                <a:spcPct val="90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000"/>
              <a:t>Capacity based DevOps</a:t>
            </a:r>
          </a:p>
          <a:p>
            <a:pPr marL="342900" indent="-342900" algn="l">
              <a:lnSpc>
                <a:spcPct val="90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000"/>
              <a:t>Continuous improvement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8FA634E-B61B-484E-8600-7E9E3BAB8730}"/>
              </a:ext>
            </a:extLst>
          </p:cNvPr>
          <p:cNvSpPr txBox="1"/>
          <p:nvPr/>
        </p:nvSpPr>
        <p:spPr>
          <a:xfrm>
            <a:off x="10104257" y="4099717"/>
            <a:ext cx="3695242" cy="10259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  <a:spcAft>
                <a:spcPts val="400"/>
              </a:spcAft>
            </a:pPr>
            <a:r>
              <a:rPr lang="en-US" sz="2000" b="1"/>
              <a:t>Global Integration Platform</a:t>
            </a:r>
          </a:p>
          <a:p>
            <a:pPr marL="342900" indent="-342900" algn="l">
              <a:lnSpc>
                <a:spcPct val="90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000"/>
              <a:t>Migration to BIS Platform</a:t>
            </a:r>
          </a:p>
          <a:p>
            <a:pPr marL="342900" indent="-342900" algn="l">
              <a:lnSpc>
                <a:spcPct val="90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000"/>
              <a:t>Run BIS </a:t>
            </a:r>
            <a:r>
              <a:rPr lang="en-US" sz="2000" err="1"/>
              <a:t>onPrem</a:t>
            </a:r>
            <a:r>
              <a:rPr lang="en-US" sz="2000"/>
              <a:t>/</a:t>
            </a:r>
            <a:r>
              <a:rPr lang="en-US" sz="2000" err="1"/>
              <a:t>inCloud</a:t>
            </a:r>
            <a:r>
              <a:rPr lang="en-US" sz="2000"/>
              <a:t>(s)</a:t>
            </a:r>
          </a:p>
        </p:txBody>
      </p:sp>
    </p:spTree>
    <p:extLst>
      <p:ext uri="{BB962C8B-B14F-4D97-AF65-F5344CB8AC3E}">
        <p14:creationId xmlns:p14="http://schemas.microsoft.com/office/powerpoint/2010/main" val="1087000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DXC at a glance….</a:t>
            </a:r>
            <a:br>
              <a:rPr lang="en-US"/>
            </a:br>
            <a:endParaRPr lang="en-US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01A46CC-1E7E-4400-95B0-07E84D9C87CC}"/>
              </a:ext>
            </a:extLst>
          </p:cNvPr>
          <p:cNvGrpSpPr/>
          <p:nvPr/>
        </p:nvGrpSpPr>
        <p:grpSpPr>
          <a:xfrm>
            <a:off x="4259178" y="6396955"/>
            <a:ext cx="6261379" cy="1107618"/>
            <a:chOff x="1332422" y="7033576"/>
            <a:chExt cx="4934678" cy="587628"/>
          </a:xfrm>
        </p:grpSpPr>
        <p:pic>
          <p:nvPicPr>
            <p:cNvPr id="49" name="Picture 16" descr="ISO 22301 Lead Implementer Certified Training - ContinuitySA">
              <a:extLst>
                <a:ext uri="{FF2B5EF4-FFF2-40B4-BE49-F238E27FC236}">
                  <a16:creationId xmlns:a16="http://schemas.microsoft.com/office/drawing/2014/main" id="{6DD14B73-AAD9-4EAF-BB51-DEA9256990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70291" y="7050386"/>
              <a:ext cx="871382" cy="5708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0" name="Picture 4" descr="ISO 9000 Certification International Organization for ...">
              <a:extLst>
                <a:ext uri="{FF2B5EF4-FFF2-40B4-BE49-F238E27FC236}">
                  <a16:creationId xmlns:a16="http://schemas.microsoft.com/office/drawing/2014/main" id="{180D5313-E733-43C6-A140-041A4BB851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55232" y="7038234"/>
              <a:ext cx="871382" cy="5615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" name="Picture 6" descr="ISO 27001 logo | Dwglogo">
              <a:extLst>
                <a:ext uri="{FF2B5EF4-FFF2-40B4-BE49-F238E27FC236}">
                  <a16:creationId xmlns:a16="http://schemas.microsoft.com/office/drawing/2014/main" id="{2D7B18B4-04DC-4E6A-8194-3EBB3D3B69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99635" y="7033576"/>
              <a:ext cx="1267465" cy="5708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2" name="Picture 8" descr="ISO IEC 20000-1:2011 | UK Accredited">
              <a:extLst>
                <a:ext uri="{FF2B5EF4-FFF2-40B4-BE49-F238E27FC236}">
                  <a16:creationId xmlns:a16="http://schemas.microsoft.com/office/drawing/2014/main" id="{301C201F-BC8F-4A45-9EB7-6AE4F430AD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32422" y="7142771"/>
              <a:ext cx="654874" cy="4784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3" name="Picture 12" descr="ISO 14001 Environmental Management System Certification - ISO ...">
              <a:extLst>
                <a:ext uri="{FF2B5EF4-FFF2-40B4-BE49-F238E27FC236}">
                  <a16:creationId xmlns:a16="http://schemas.microsoft.com/office/drawing/2014/main" id="{78FE325F-B604-44C4-BA26-8E71D480F34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266" t="14244" r="18891" b="12961"/>
            <a:stretch/>
          </p:blipFill>
          <p:spPr bwMode="auto">
            <a:xfrm>
              <a:off x="2221111" y="7077056"/>
              <a:ext cx="871382" cy="5087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713E57A7-A21B-4117-8928-B607C0BE1435}"/>
              </a:ext>
            </a:extLst>
          </p:cNvPr>
          <p:cNvGrpSpPr/>
          <p:nvPr/>
        </p:nvGrpSpPr>
        <p:grpSpPr>
          <a:xfrm>
            <a:off x="579096" y="1741844"/>
            <a:ext cx="13662412" cy="4361957"/>
            <a:chOff x="579096" y="1741844"/>
            <a:chExt cx="13662412" cy="4361957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C9275526-DBA0-4E6C-AFE9-2D9F001788AF}"/>
                </a:ext>
              </a:extLst>
            </p:cNvPr>
            <p:cNvSpPr/>
            <p:nvPr/>
          </p:nvSpPr>
          <p:spPr bwMode="auto">
            <a:xfrm>
              <a:off x="9889625" y="1744218"/>
              <a:ext cx="4349907" cy="1345158"/>
            </a:xfrm>
            <a:prstGeom prst="rect">
              <a:avLst/>
            </a:prstGeom>
            <a:noFill/>
            <a:ln w="57150" cap="flat" cmpd="sng" algn="ctr">
              <a:solidFill>
                <a:schemeClr val="tx2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chemeClr val="accent1"/>
                </a:solidFill>
                <a:ea typeface="MS PGothic" pitchFamily="34" charset="-128"/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7C637F59-E0A7-4B8F-BDF3-DFB80CD1239E}"/>
                </a:ext>
              </a:extLst>
            </p:cNvPr>
            <p:cNvSpPr/>
            <p:nvPr/>
          </p:nvSpPr>
          <p:spPr bwMode="auto">
            <a:xfrm>
              <a:off x="9889626" y="3237388"/>
              <a:ext cx="4351882" cy="1344168"/>
            </a:xfrm>
            <a:prstGeom prst="rect">
              <a:avLst/>
            </a:prstGeom>
            <a:noFill/>
            <a:ln w="57150" cap="flat" cmpd="sng" algn="ctr">
              <a:solidFill>
                <a:schemeClr val="tx2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chemeClr val="accent1"/>
                </a:solidFill>
                <a:ea typeface="MS PGothic" pitchFamily="34" charset="-128"/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B9FF766C-26EB-4269-8A95-9E587B2D1DBA}"/>
                </a:ext>
              </a:extLst>
            </p:cNvPr>
            <p:cNvSpPr/>
            <p:nvPr/>
          </p:nvSpPr>
          <p:spPr bwMode="auto">
            <a:xfrm>
              <a:off x="10156038" y="3342044"/>
              <a:ext cx="2389242" cy="700199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 anchorCtr="0"/>
            <a:lstStyle/>
            <a:p>
              <a:pPr>
                <a:lnSpc>
                  <a:spcPct val="90000"/>
                </a:lnSpc>
                <a:spcBef>
                  <a:spcPts val="480"/>
                </a:spcBef>
                <a:defRPr/>
              </a:pPr>
              <a:r>
                <a:rPr lang="en-US" sz="4800" b="1" spc="-50">
                  <a:solidFill>
                    <a:schemeClr val="accent1"/>
                  </a:solidFill>
                  <a:ea typeface="ヒラギノ角ゴ ProN W3" charset="0"/>
                  <a:cs typeface="ヒラギノ角ゴ ProN W3" charset="0"/>
                  <a:sym typeface="Arial" charset="0"/>
                </a:rPr>
                <a:t>97% </a:t>
              </a: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0853DB3B-8088-4020-A562-FF29C54693EE}"/>
                </a:ext>
              </a:extLst>
            </p:cNvPr>
            <p:cNvSpPr/>
            <p:nvPr/>
          </p:nvSpPr>
          <p:spPr bwMode="auto">
            <a:xfrm>
              <a:off x="10176375" y="4190493"/>
              <a:ext cx="2571471" cy="193899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 anchorCtr="0">
              <a:spAutoFit/>
            </a:bodyPr>
            <a:lstStyle/>
            <a:p>
              <a:pPr defTabSz="548627">
                <a:lnSpc>
                  <a:spcPct val="90000"/>
                </a:lnSpc>
                <a:defRPr lang="en-US"/>
              </a:pPr>
              <a:r>
                <a:rPr lang="en-US" sz="1400" b="1" spc="-40">
                  <a:ea typeface="ヒラギノ角ゴ ProN W3" charset="0"/>
                  <a:cs typeface="ヒラギノ角ゴ ProN W3" charset="0"/>
                </a:rPr>
                <a:t>Client Retention</a:t>
              </a: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DBCB49CF-CCF5-4346-BC21-A489FBF74C97}"/>
                </a:ext>
              </a:extLst>
            </p:cNvPr>
            <p:cNvSpPr/>
            <p:nvPr/>
          </p:nvSpPr>
          <p:spPr bwMode="auto">
            <a:xfrm>
              <a:off x="9889625" y="4709824"/>
              <a:ext cx="4349907" cy="1344168"/>
            </a:xfrm>
            <a:prstGeom prst="rect">
              <a:avLst/>
            </a:prstGeom>
            <a:noFill/>
            <a:ln w="57150" cap="flat" cmpd="sng" algn="ctr">
              <a:solidFill>
                <a:schemeClr val="tx2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chemeClr val="accent1"/>
                </a:solidFill>
                <a:ea typeface="MS PGothic" pitchFamily="34" charset="-128"/>
              </a:endParaRP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34D4645E-4684-48DD-B120-DEDECB2657FF}"/>
                </a:ext>
              </a:extLst>
            </p:cNvPr>
            <p:cNvSpPr/>
            <p:nvPr/>
          </p:nvSpPr>
          <p:spPr bwMode="auto">
            <a:xfrm>
              <a:off x="10135702" y="4789056"/>
              <a:ext cx="2694557" cy="700199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 anchorCtr="0"/>
            <a:lstStyle/>
            <a:p>
              <a:pPr>
                <a:lnSpc>
                  <a:spcPct val="90000"/>
                </a:lnSpc>
                <a:spcBef>
                  <a:spcPts val="480"/>
                </a:spcBef>
                <a:defRPr/>
              </a:pPr>
              <a:r>
                <a:rPr lang="en-US" sz="4800" b="1" spc="-67">
                  <a:solidFill>
                    <a:schemeClr val="accent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~6,000</a:t>
              </a:r>
              <a:endParaRPr lang="en-US" sz="4800" b="1" spc="-50">
                <a:solidFill>
                  <a:schemeClr val="accent1"/>
                </a:solidFill>
                <a:ea typeface="ヒラギノ角ゴ ProN W3" charset="0"/>
                <a:cs typeface="ヒラギノ角ゴ ProN W3" charset="0"/>
                <a:sym typeface="Arial" charset="0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447E9C8D-1644-49C6-B1AA-244FE83900F9}"/>
                </a:ext>
              </a:extLst>
            </p:cNvPr>
            <p:cNvSpPr/>
            <p:nvPr/>
          </p:nvSpPr>
          <p:spPr bwMode="auto">
            <a:xfrm>
              <a:off x="599845" y="1741844"/>
              <a:ext cx="4297703" cy="1347532"/>
            </a:xfrm>
            <a:prstGeom prst="rect">
              <a:avLst/>
            </a:prstGeom>
            <a:noFill/>
            <a:ln w="57150" cap="flat" cmpd="sng" algn="ctr">
              <a:solidFill>
                <a:schemeClr val="tx2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chemeClr val="accent1"/>
                </a:solidFill>
                <a:ea typeface="MS PGothic" pitchFamily="34" charset="-128"/>
              </a:endParaRP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089BBCFD-8E4A-45E8-B3B4-9E54BDA783DE}"/>
                </a:ext>
              </a:extLst>
            </p:cNvPr>
            <p:cNvSpPr/>
            <p:nvPr/>
          </p:nvSpPr>
          <p:spPr bwMode="auto">
            <a:xfrm>
              <a:off x="849141" y="1854730"/>
              <a:ext cx="2383386" cy="700199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rIns="0" anchor="ctr" anchorCtr="0"/>
            <a:lstStyle/>
            <a:p>
              <a:pPr>
                <a:lnSpc>
                  <a:spcPct val="90000"/>
                </a:lnSpc>
                <a:spcBef>
                  <a:spcPts val="480"/>
                </a:spcBef>
                <a:defRPr/>
              </a:pPr>
              <a:r>
                <a:rPr lang="en-US" sz="4800" b="1" spc="-50">
                  <a:solidFill>
                    <a:schemeClr val="accent1"/>
                  </a:solidFill>
                  <a:ea typeface="ヒラギノ角ゴ ProN W3" charset="0"/>
                  <a:cs typeface="ヒラギノ角ゴ ProN W3" charset="0"/>
                  <a:sym typeface="Arial" charset="0"/>
                </a:rPr>
                <a:t>60+</a:t>
              </a: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3FCF6C50-7A2F-43FA-8EE5-5859B031EF17}"/>
                </a:ext>
              </a:extLst>
            </p:cNvPr>
            <p:cNvSpPr/>
            <p:nvPr/>
          </p:nvSpPr>
          <p:spPr bwMode="auto">
            <a:xfrm>
              <a:off x="849141" y="2499572"/>
              <a:ext cx="2452074" cy="420329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rIns="0" anchor="ctr" anchorCtr="0"/>
            <a:lstStyle/>
            <a:p>
              <a:pPr>
                <a:lnSpc>
                  <a:spcPct val="90000"/>
                </a:lnSpc>
                <a:defRPr/>
              </a:pPr>
              <a:r>
                <a:rPr lang="en-US" sz="1400" b="1" spc="-40">
                  <a:ea typeface="ヒラギノ角ゴ ProN W3" charset="0"/>
                  <a:cs typeface="ヒラギノ角ゴ ProN W3" charset="0"/>
                  <a:sym typeface="Arial" charset="0"/>
                </a:rPr>
                <a:t>Years of innovation</a:t>
              </a: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9411CC91-B879-4038-8E27-9BDA98FA4BD7}"/>
                </a:ext>
              </a:extLst>
            </p:cNvPr>
            <p:cNvSpPr/>
            <p:nvPr/>
          </p:nvSpPr>
          <p:spPr bwMode="auto">
            <a:xfrm>
              <a:off x="5218694" y="1745788"/>
              <a:ext cx="4331414" cy="1344168"/>
            </a:xfrm>
            <a:prstGeom prst="rect">
              <a:avLst/>
            </a:prstGeom>
            <a:noFill/>
            <a:ln w="57150" cap="flat" cmpd="sng" algn="ctr">
              <a:solidFill>
                <a:schemeClr val="tx2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chemeClr val="accent1"/>
                </a:solidFill>
                <a:ea typeface="MS PGothic" pitchFamily="34" charset="-128"/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C0477CB9-2A08-4C53-81F1-71896B2241F0}"/>
                </a:ext>
              </a:extLst>
            </p:cNvPr>
            <p:cNvSpPr/>
            <p:nvPr/>
          </p:nvSpPr>
          <p:spPr bwMode="auto">
            <a:xfrm>
              <a:off x="5447471" y="2448203"/>
              <a:ext cx="2824476" cy="613419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rIns="0" anchor="ctr" anchorCtr="0"/>
            <a:lstStyle/>
            <a:p>
              <a:pPr>
                <a:lnSpc>
                  <a:spcPct val="90000"/>
                </a:lnSpc>
                <a:defRPr/>
              </a:pPr>
              <a:r>
                <a:rPr lang="en-US" sz="1400" b="1" spc="-40">
                  <a:ea typeface="ヒラギノ角ゴ ProN W3" charset="0"/>
                  <a:cs typeface="ヒラギノ角ゴ ProN W3" charset="0"/>
                </a:rPr>
                <a:t>Talent pool across Applications, Cloud/ITO and Security </a:t>
              </a: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A33FF294-1E7E-45E6-881C-A3CAE106A12F}"/>
                </a:ext>
              </a:extLst>
            </p:cNvPr>
            <p:cNvSpPr/>
            <p:nvPr/>
          </p:nvSpPr>
          <p:spPr bwMode="auto">
            <a:xfrm>
              <a:off x="5447472" y="1854730"/>
              <a:ext cx="2647904" cy="700199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rIns="0" anchor="ctr" anchorCtr="0"/>
            <a:lstStyle/>
            <a:p>
              <a:pPr>
                <a:lnSpc>
                  <a:spcPct val="90000"/>
                </a:lnSpc>
                <a:spcBef>
                  <a:spcPts val="480"/>
                </a:spcBef>
                <a:defRPr/>
              </a:pPr>
              <a:r>
                <a:rPr lang="en-US" sz="4800" b="1" spc="-50">
                  <a:solidFill>
                    <a:schemeClr val="accent1"/>
                  </a:solidFill>
                  <a:ea typeface="ヒラギノ角ゴ ProN W3" charset="0"/>
                  <a:cs typeface="ヒラギノ角ゴ ProN W3" charset="0"/>
                  <a:sym typeface="Arial" charset="0"/>
                </a:rPr>
                <a:t>130,000+</a:t>
              </a: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E05D11E2-B552-42B0-A766-4395926588D9}"/>
                </a:ext>
              </a:extLst>
            </p:cNvPr>
            <p:cNvSpPr/>
            <p:nvPr/>
          </p:nvSpPr>
          <p:spPr bwMode="auto">
            <a:xfrm>
              <a:off x="5218694" y="3237388"/>
              <a:ext cx="4331414" cy="1344168"/>
            </a:xfrm>
            <a:prstGeom prst="rect">
              <a:avLst/>
            </a:prstGeom>
            <a:noFill/>
            <a:ln w="57150" cap="flat" cmpd="sng" algn="ctr">
              <a:solidFill>
                <a:schemeClr val="tx2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chemeClr val="accent1"/>
                </a:solidFill>
                <a:ea typeface="MS PGothic" pitchFamily="34" charset="-128"/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FA59D732-D029-4DBB-A3A5-BDFBF45961E7}"/>
                </a:ext>
              </a:extLst>
            </p:cNvPr>
            <p:cNvSpPr/>
            <p:nvPr/>
          </p:nvSpPr>
          <p:spPr bwMode="auto">
            <a:xfrm>
              <a:off x="5448765" y="3342044"/>
              <a:ext cx="2690693" cy="700199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rIns="0" anchor="ctr" anchorCtr="0"/>
            <a:lstStyle/>
            <a:p>
              <a:pPr>
                <a:lnSpc>
                  <a:spcPct val="90000"/>
                </a:lnSpc>
                <a:spcBef>
                  <a:spcPts val="480"/>
                </a:spcBef>
                <a:defRPr/>
              </a:pPr>
              <a:r>
                <a:rPr lang="en-US" sz="4800" b="1" spc="-50">
                  <a:solidFill>
                    <a:schemeClr val="accent1"/>
                  </a:solidFill>
                  <a:ea typeface="ヒラギノ角ゴ ProN W3" charset="0"/>
                  <a:cs typeface="ヒラギノ角ゴ ProN W3" charset="0"/>
                  <a:sym typeface="Arial" charset="0"/>
                </a:rPr>
                <a:t>14,000+</a:t>
              </a: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2AE8D9D0-8133-407C-B2AC-6C0DC64733CC}"/>
                </a:ext>
              </a:extLst>
            </p:cNvPr>
            <p:cNvSpPr/>
            <p:nvPr/>
          </p:nvSpPr>
          <p:spPr bwMode="auto">
            <a:xfrm>
              <a:off x="5496829" y="4000300"/>
              <a:ext cx="2915273" cy="480131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square" lIns="0" rIns="0" anchor="ctr" anchorCtr="0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1400" b="1" spc="-40">
                  <a:ea typeface="ヒラギノ角ゴ ProN W3" charset="0"/>
                  <a:cs typeface="ヒラギノ角ゴ ProN W3" charset="0"/>
                  <a:sym typeface="Arial" charset="0"/>
                </a:rPr>
                <a:t>Applications Migrated and Transformed/ Year</a:t>
              </a: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D5E64714-64B5-4486-AC94-1B6E0EED2DBC}"/>
                </a:ext>
              </a:extLst>
            </p:cNvPr>
            <p:cNvSpPr/>
            <p:nvPr/>
          </p:nvSpPr>
          <p:spPr bwMode="auto">
            <a:xfrm>
              <a:off x="5217070" y="4728988"/>
              <a:ext cx="4333214" cy="1332092"/>
            </a:xfrm>
            <a:prstGeom prst="rect">
              <a:avLst/>
            </a:prstGeom>
            <a:noFill/>
            <a:ln w="57150" cap="flat" cmpd="sng" algn="ctr">
              <a:solidFill>
                <a:schemeClr val="tx2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chemeClr val="accent1"/>
                </a:solidFill>
                <a:ea typeface="MS PGothic" pitchFamily="34" charset="-128"/>
              </a:endParaRP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4ECDFA9E-C21F-4020-A775-A7BE0C5635D4}"/>
                </a:ext>
              </a:extLst>
            </p:cNvPr>
            <p:cNvSpPr/>
            <p:nvPr/>
          </p:nvSpPr>
          <p:spPr bwMode="auto">
            <a:xfrm>
              <a:off x="5447140" y="5477481"/>
              <a:ext cx="2889621" cy="420329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rIns="0" anchor="ctr" anchorCtr="0"/>
            <a:lstStyle/>
            <a:p>
              <a:pPr>
                <a:lnSpc>
                  <a:spcPct val="90000"/>
                </a:lnSpc>
                <a:defRPr/>
              </a:pPr>
              <a:r>
                <a:rPr lang="en-US" sz="1400" b="1" spc="-40">
                  <a:ea typeface="ヒラギノ角ゴ ProN W3" charset="0"/>
                  <a:cs typeface="ヒラギノ角ゴ ProN W3" charset="0"/>
                  <a:sym typeface="Arial" charset="0"/>
                </a:rPr>
                <a:t>Centers of Excellence driving innovation and IT Transformation</a:t>
              </a: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7ADBDF7C-BE98-4605-9F52-B32BA6420457}"/>
                </a:ext>
              </a:extLst>
            </p:cNvPr>
            <p:cNvSpPr/>
            <p:nvPr/>
          </p:nvSpPr>
          <p:spPr bwMode="auto">
            <a:xfrm>
              <a:off x="5495248" y="4756790"/>
              <a:ext cx="2762023" cy="700199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rIns="0" anchor="ctr" anchorCtr="0"/>
            <a:lstStyle/>
            <a:p>
              <a:pPr>
                <a:lnSpc>
                  <a:spcPct val="90000"/>
                </a:lnSpc>
                <a:spcBef>
                  <a:spcPts val="480"/>
                </a:spcBef>
                <a:defRPr/>
              </a:pPr>
              <a:r>
                <a:rPr lang="en-US" sz="4800" b="1" spc="-50">
                  <a:solidFill>
                    <a:schemeClr val="accent1"/>
                  </a:solidFill>
                  <a:ea typeface="ヒラギノ角ゴ ProN W3" charset="0"/>
                  <a:cs typeface="ヒラギノ角ゴ ProN W3" charset="0"/>
                  <a:sym typeface="Arial" charset="0"/>
                </a:rPr>
                <a:t>9</a:t>
              </a: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2184E470-9FDC-4055-AF50-D8D0801D09D6}"/>
                </a:ext>
              </a:extLst>
            </p:cNvPr>
            <p:cNvSpPr/>
            <p:nvPr/>
          </p:nvSpPr>
          <p:spPr bwMode="auto">
            <a:xfrm>
              <a:off x="594542" y="3233280"/>
              <a:ext cx="4303298" cy="1348276"/>
            </a:xfrm>
            <a:prstGeom prst="rect">
              <a:avLst/>
            </a:prstGeom>
            <a:noFill/>
            <a:ln w="57150" cap="flat" cmpd="sng" algn="ctr">
              <a:solidFill>
                <a:schemeClr val="tx2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chemeClr val="accent1"/>
                </a:solidFill>
                <a:ea typeface="MS PGothic" pitchFamily="34" charset="-128"/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4313866A-2104-41E0-9EB6-06759ABFA130}"/>
                </a:ext>
              </a:extLst>
            </p:cNvPr>
            <p:cNvSpPr/>
            <p:nvPr/>
          </p:nvSpPr>
          <p:spPr bwMode="auto">
            <a:xfrm>
              <a:off x="824612" y="4145543"/>
              <a:ext cx="2574075" cy="286232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square" lIns="0" rIns="0" anchor="ctr" anchorCtr="0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1400" b="1" spc="-40">
                  <a:ea typeface="ヒラギノ角ゴ ProN W3" charset="0"/>
                  <a:cs typeface="ヒラギノ角ゴ ProN W3" charset="0"/>
                </a:rPr>
                <a:t>for various OEMs &amp; CSPs </a:t>
              </a:r>
              <a:endParaRPr lang="en-US" sz="1400" b="1" spc="-40">
                <a:ea typeface="ヒラギノ角ゴ ProN W3" charset="0"/>
                <a:cs typeface="ヒラギノ角ゴ ProN W3" charset="0"/>
                <a:sym typeface="Arial" charset="0"/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7A132575-685F-498B-983F-53F466983152}"/>
                </a:ext>
              </a:extLst>
            </p:cNvPr>
            <p:cNvSpPr/>
            <p:nvPr/>
          </p:nvSpPr>
          <p:spPr bwMode="auto">
            <a:xfrm>
              <a:off x="776583" y="3402706"/>
              <a:ext cx="2983431" cy="700199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rIns="0" anchor="ctr" anchorCtr="0"/>
            <a:lstStyle/>
            <a:p>
              <a:pPr>
                <a:lnSpc>
                  <a:spcPct val="90000"/>
                </a:lnSpc>
                <a:spcBef>
                  <a:spcPts val="480"/>
                </a:spcBef>
                <a:defRPr/>
              </a:pPr>
              <a:r>
                <a:rPr lang="en-US" sz="2800" b="1" spc="-50">
                  <a:solidFill>
                    <a:schemeClr val="accent1"/>
                  </a:solidFill>
                  <a:ea typeface="ヒラギノ角ゴ ProN W3" charset="0"/>
                  <a:cs typeface="ヒラギノ角ゴ ProN W3" charset="0"/>
                  <a:sym typeface="Arial" charset="0"/>
                </a:rPr>
                <a:t>Partner of Choice</a:t>
              </a: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CD13CBB9-BAD1-43D4-BDF0-6F2B1474DC99}"/>
                </a:ext>
              </a:extLst>
            </p:cNvPr>
            <p:cNvSpPr/>
            <p:nvPr/>
          </p:nvSpPr>
          <p:spPr bwMode="auto">
            <a:xfrm>
              <a:off x="579096" y="4731668"/>
              <a:ext cx="4319592" cy="1329412"/>
            </a:xfrm>
            <a:prstGeom prst="rect">
              <a:avLst/>
            </a:prstGeom>
            <a:noFill/>
            <a:ln w="57150" cap="flat" cmpd="sng" algn="ctr">
              <a:solidFill>
                <a:schemeClr val="tx2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chemeClr val="accent1"/>
                </a:solidFill>
                <a:ea typeface="MS PGothic" pitchFamily="34" charset="-128"/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D94C720C-C347-4B64-B859-6AE6E77F0917}"/>
                </a:ext>
              </a:extLst>
            </p:cNvPr>
            <p:cNvSpPr/>
            <p:nvPr/>
          </p:nvSpPr>
          <p:spPr bwMode="auto">
            <a:xfrm>
              <a:off x="845089" y="5127382"/>
              <a:ext cx="2387150" cy="700199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rIns="0" anchor="ctr" anchorCtr="0"/>
            <a:lstStyle/>
            <a:p>
              <a:pPr>
                <a:lnSpc>
                  <a:spcPct val="90000"/>
                </a:lnSpc>
                <a:spcBef>
                  <a:spcPts val="480"/>
                </a:spcBef>
                <a:defRPr/>
              </a:pPr>
              <a:r>
                <a:rPr lang="en-US" sz="4800" b="1" spc="-50">
                  <a:solidFill>
                    <a:schemeClr val="accent1"/>
                  </a:solidFill>
                  <a:ea typeface="ヒラギノ角ゴ ProN W3" charset="0"/>
                  <a:cs typeface="ヒラギノ角ゴ ProN W3" charset="0"/>
                  <a:sym typeface="Arial" charset="0"/>
                </a:rPr>
                <a:t>6</a:t>
              </a:r>
              <a:br>
                <a:rPr lang="en-US" sz="4800" b="1" spc="-50">
                  <a:solidFill>
                    <a:schemeClr val="accent1"/>
                  </a:solidFill>
                  <a:ea typeface="ヒラギノ角ゴ ProN W3" charset="0"/>
                  <a:cs typeface="ヒラギノ角ゴ ProN W3" charset="0"/>
                  <a:sym typeface="Arial" charset="0"/>
                </a:rPr>
              </a:br>
              <a:endParaRPr lang="en-US" sz="4800" b="1" spc="-50">
                <a:solidFill>
                  <a:schemeClr val="accent1"/>
                </a:solidFill>
                <a:ea typeface="ヒラギノ角ゴ ProN W3" charset="0"/>
                <a:cs typeface="ヒラギノ角ゴ ProN W3" charset="0"/>
                <a:sym typeface="Arial" charset="0"/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4510820E-1785-4BF5-B50C-050057A3F40A}"/>
                </a:ext>
              </a:extLst>
            </p:cNvPr>
            <p:cNvSpPr/>
            <p:nvPr/>
          </p:nvSpPr>
          <p:spPr bwMode="auto">
            <a:xfrm>
              <a:off x="821037" y="5397614"/>
              <a:ext cx="2590814" cy="483656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rIns="0" anchor="ctr" anchorCtr="0"/>
            <a:lstStyle/>
            <a:p>
              <a:pPr defTabSz="548627">
                <a:lnSpc>
                  <a:spcPct val="90000"/>
                </a:lnSpc>
                <a:defRPr lang="en-US"/>
              </a:pPr>
              <a:r>
                <a:rPr lang="en-US" sz="1400" b="1" spc="-40">
                  <a:ea typeface="ヒラギノ角ゴ ProN W3" charset="0"/>
                  <a:cs typeface="ヒラギノ角ゴ ProN W3" charset="0"/>
                </a:rPr>
                <a:t>Digital Transformation Centers</a:t>
              </a: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DB8D0963-9E63-4ABC-9F5A-4F8815374B9A}"/>
                </a:ext>
              </a:extLst>
            </p:cNvPr>
            <p:cNvSpPr/>
            <p:nvPr/>
          </p:nvSpPr>
          <p:spPr bwMode="auto">
            <a:xfrm>
              <a:off x="10127683" y="5456989"/>
              <a:ext cx="2894498" cy="646812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 anchorCtr="0"/>
            <a:lstStyle/>
            <a:p>
              <a:pPr defTabSz="548627">
                <a:lnSpc>
                  <a:spcPct val="90000"/>
                </a:lnSpc>
                <a:tabLst>
                  <a:tab pos="96931" algn="l"/>
                </a:tabLst>
                <a:defRPr lang="en-US"/>
              </a:pPr>
              <a:r>
                <a:rPr lang="en-US" sz="1400" b="1">
                  <a:solidFill>
                    <a:srgbClr val="000000"/>
                  </a:solidFill>
                </a:rPr>
                <a:t>Clients </a:t>
              </a:r>
            </a:p>
            <a:p>
              <a:pPr defTabSz="548627">
                <a:lnSpc>
                  <a:spcPct val="90000"/>
                </a:lnSpc>
                <a:tabLst>
                  <a:tab pos="96931" algn="l"/>
                </a:tabLst>
                <a:defRPr lang="en-US"/>
              </a:pPr>
              <a:r>
                <a:rPr lang="en-US" sz="1400" b="1">
                  <a:solidFill>
                    <a:srgbClr val="000000"/>
                  </a:solidFill>
                </a:rPr>
                <a:t>200+ Fortune 500 companies</a:t>
              </a:r>
            </a:p>
            <a:p>
              <a:pPr defTabSz="548627">
                <a:lnSpc>
                  <a:spcPct val="90000"/>
                </a:lnSpc>
                <a:tabLst>
                  <a:tab pos="96931" algn="l"/>
                </a:tabLst>
                <a:defRPr lang="en-US"/>
              </a:pPr>
              <a:endParaRPr lang="en-US" sz="1400" b="1" spc="-40">
                <a:ea typeface="ヒラギノ角ゴ ProN W3" charset="0"/>
                <a:cs typeface="ヒラギノ角ゴ ProN W3" charset="0"/>
              </a:endParaRPr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098C9F79-6F69-4586-93C2-F107595797F3}"/>
                </a:ext>
              </a:extLst>
            </p:cNvPr>
            <p:cNvSpPr/>
            <p:nvPr/>
          </p:nvSpPr>
          <p:spPr bwMode="auto">
            <a:xfrm>
              <a:off x="10057883" y="1854729"/>
              <a:ext cx="2187139" cy="700199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t" anchorCtr="0"/>
            <a:lstStyle/>
            <a:p>
              <a:pPr marL="0" marR="0" lvl="0" indent="0" algn="l" defTabSz="1463040" rtl="0" eaLnBrk="1" fontAlgn="auto" latinLnBrk="0" hangingPunct="1">
                <a:lnSpc>
                  <a:spcPct val="90000"/>
                </a:lnSpc>
                <a:spcBef>
                  <a:spcPts val="48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800" b="1" i="0" u="none" strike="noStrike" kern="1200" cap="none" spc="-5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Arial"/>
                  <a:ea typeface="ヒラギノ角ゴ ProN W3" charset="0"/>
                  <a:cs typeface="ヒラギノ角ゴ ProN W3" charset="0"/>
                  <a:sym typeface="Arial" charset="0"/>
                </a:rPr>
                <a:t>200+</a:t>
              </a:r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CDBC42CB-84A7-409A-8EAE-71A5E284B542}"/>
                </a:ext>
              </a:extLst>
            </p:cNvPr>
            <p:cNvSpPr/>
            <p:nvPr/>
          </p:nvSpPr>
          <p:spPr bwMode="auto">
            <a:xfrm>
              <a:off x="10057883" y="2493780"/>
              <a:ext cx="3510424" cy="533216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 anchorCtr="0"/>
            <a:lstStyle/>
            <a:p>
              <a:pPr marL="0" marR="0" lvl="0" indent="0" algn="l" defTabSz="548627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en-US"/>
              </a:pPr>
              <a:r>
                <a:rPr kumimoji="0" lang="en-US" sz="1400" b="1" i="0" u="none" strike="noStrike" kern="1200" cap="none" spc="-4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ヒラギノ角ゴ ProN W3" charset="0"/>
                  <a:cs typeface="ヒラギノ角ゴ ProN W3" charset="0"/>
                </a:rPr>
                <a:t>Partnerships &amp; Industry Affiliations</a:t>
              </a:r>
            </a:p>
          </p:txBody>
        </p:sp>
        <p:pic>
          <p:nvPicPr>
            <p:cNvPr id="42" name="Graphic 41">
              <a:extLst>
                <a:ext uri="{FF2B5EF4-FFF2-40B4-BE49-F238E27FC236}">
                  <a16:creationId xmlns:a16="http://schemas.microsoft.com/office/drawing/2014/main" id="{B4FF4708-8E54-4D8F-AC2F-B63C077F81A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882609" y="4884810"/>
              <a:ext cx="732129" cy="776500"/>
            </a:xfrm>
            <a:prstGeom prst="rect">
              <a:avLst/>
            </a:prstGeom>
          </p:spPr>
        </p:pic>
        <p:pic>
          <p:nvPicPr>
            <p:cNvPr id="43" name="Graphic 42">
              <a:extLst>
                <a:ext uri="{FF2B5EF4-FFF2-40B4-BE49-F238E27FC236}">
                  <a16:creationId xmlns:a16="http://schemas.microsoft.com/office/drawing/2014/main" id="{DEB4027E-F76A-4B32-A4C3-9B86521367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493378" y="2000924"/>
              <a:ext cx="840927" cy="630695"/>
            </a:xfrm>
            <a:prstGeom prst="rect">
              <a:avLst/>
            </a:prstGeom>
          </p:spPr>
        </p:pic>
        <p:pic>
          <p:nvPicPr>
            <p:cNvPr id="44" name="Graphic 43">
              <a:extLst>
                <a:ext uri="{FF2B5EF4-FFF2-40B4-BE49-F238E27FC236}">
                  <a16:creationId xmlns:a16="http://schemas.microsoft.com/office/drawing/2014/main" id="{FBFF96D4-CCBB-4AC9-A5A2-884B79C237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3175314" y="3402706"/>
              <a:ext cx="823256" cy="823256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38A8B059-4D18-41BF-AAB6-254E9EB580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8455241" y="4934593"/>
              <a:ext cx="811219" cy="726717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E9AF2EDA-CB68-49E9-8969-8A86D7BF41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4021597" y="3503048"/>
              <a:ext cx="509176" cy="718837"/>
            </a:xfrm>
            <a:prstGeom prst="rect">
              <a:avLst/>
            </a:prstGeom>
          </p:spPr>
        </p:pic>
        <p:pic>
          <p:nvPicPr>
            <p:cNvPr id="41" name="Graphic 40" descr="Server with solid fill">
              <a:extLst>
                <a:ext uri="{FF2B5EF4-FFF2-40B4-BE49-F238E27FC236}">
                  <a16:creationId xmlns:a16="http://schemas.microsoft.com/office/drawing/2014/main" id="{361F4C11-46B8-47BF-9D82-A33C8B9ECE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8493378" y="3540495"/>
              <a:ext cx="856613" cy="794221"/>
            </a:xfrm>
            <a:prstGeom prst="rect">
              <a:avLst/>
            </a:prstGeom>
          </p:spPr>
        </p:pic>
        <p:pic>
          <p:nvPicPr>
            <p:cNvPr id="46" name="Graphic 45">
              <a:extLst>
                <a:ext uri="{FF2B5EF4-FFF2-40B4-BE49-F238E27FC236}">
                  <a16:creationId xmlns:a16="http://schemas.microsoft.com/office/drawing/2014/main" id="{56D1CDEC-6036-4A3A-96CE-5548752953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13175314" y="4976086"/>
              <a:ext cx="793607" cy="811644"/>
            </a:xfrm>
            <a:prstGeom prst="rect">
              <a:avLst/>
            </a:prstGeom>
          </p:spPr>
        </p:pic>
        <p:pic>
          <p:nvPicPr>
            <p:cNvPr id="54" name="Graphic 53">
              <a:extLst>
                <a:ext uri="{FF2B5EF4-FFF2-40B4-BE49-F238E27FC236}">
                  <a16:creationId xmlns:a16="http://schemas.microsoft.com/office/drawing/2014/main" id="{2B6A2C60-B67E-4E2E-9ECF-998FE35C3A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13172194" y="2013729"/>
              <a:ext cx="759505" cy="775665"/>
            </a:xfrm>
            <a:prstGeom prst="rect">
              <a:avLst/>
            </a:prstGeom>
          </p:spPr>
        </p:pic>
        <p:pic>
          <p:nvPicPr>
            <p:cNvPr id="4" name="Graphic 3" descr="Lightbulb and gear with solid fill">
              <a:extLst>
                <a:ext uri="{FF2B5EF4-FFF2-40B4-BE49-F238E27FC236}">
                  <a16:creationId xmlns:a16="http://schemas.microsoft.com/office/drawing/2014/main" id="{B21F9E6B-7396-4D51-BE0D-00586F863D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3787657" y="1915050"/>
              <a:ext cx="977056" cy="97705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59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5AA32-A90C-412E-8365-5B8BAF54A0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2302929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2409361-5627-45E5-95A7-F9BEE5F2C3F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026" t="20674" r="15694" b="5110"/>
          <a:stretch/>
        </p:blipFill>
        <p:spPr>
          <a:xfrm>
            <a:off x="9696600" y="2140927"/>
            <a:ext cx="4248000" cy="525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39763"/>
            <a:ext cx="13258800" cy="640397"/>
          </a:xfrm>
        </p:spPr>
        <p:txBody>
          <a:bodyPr>
            <a:noAutofit/>
          </a:bodyPr>
          <a:lstStyle/>
          <a:p>
            <a:r>
              <a:rPr lang="cs-CZ"/>
              <a:t>Unlock </a:t>
            </a:r>
            <a:r>
              <a:rPr lang="en-US"/>
              <a:t>your Mainframe </a:t>
            </a:r>
            <a:r>
              <a:rPr lang="cs-CZ"/>
              <a:t>value with</a:t>
            </a:r>
            <a:r>
              <a:rPr lang="en-US"/>
              <a:t> DXC Technology </a:t>
            </a:r>
            <a:br>
              <a:rPr lang="en-US">
                <a:solidFill>
                  <a:srgbClr val="63666A"/>
                </a:solidFill>
              </a:rPr>
            </a:b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746811" y="2163817"/>
            <a:ext cx="8373980" cy="5121275"/>
          </a:xfrm>
        </p:spPr>
        <p:txBody>
          <a:bodyPr>
            <a:normAutofit/>
          </a:bodyPr>
          <a:lstStyle/>
          <a:p>
            <a:pPr lvl="0" defTabSz="1755577">
              <a:lnSpc>
                <a:spcPct val="120000"/>
              </a:lnSpc>
              <a:spcBef>
                <a:spcPts val="1440"/>
              </a:spcBef>
              <a:defRPr/>
            </a:pPr>
            <a:r>
              <a:rPr lang="en-US" sz="2800">
                <a:solidFill>
                  <a:schemeClr val="accent1"/>
                </a:solidFill>
              </a:rPr>
              <a:t>We do this by</a:t>
            </a:r>
          </a:p>
          <a:p>
            <a:pPr marL="514350" lvl="2" indent="-285750" defTabSz="1462922">
              <a:buSzPct val="70000"/>
              <a:buFont typeface="Wingdings" panose="05000000000000000000" pitchFamily="2" charset="2"/>
              <a:buChar char="ü"/>
              <a:defRPr/>
            </a:pPr>
            <a:r>
              <a:rPr lang="en-GB" b="0">
                <a:solidFill>
                  <a:srgbClr val="000000"/>
                </a:solidFill>
              </a:rPr>
              <a:t>Helping our customers to </a:t>
            </a:r>
            <a:r>
              <a:rPr lang="en-GB">
                <a:solidFill>
                  <a:srgbClr val="5F249F"/>
                </a:solidFill>
              </a:rPr>
              <a:t>simplify</a:t>
            </a:r>
            <a:r>
              <a:rPr lang="en-GB" b="0">
                <a:solidFill>
                  <a:srgbClr val="000000"/>
                </a:solidFill>
              </a:rPr>
              <a:t> and </a:t>
            </a:r>
            <a:r>
              <a:rPr lang="en-GB">
                <a:solidFill>
                  <a:srgbClr val="5F249F"/>
                </a:solidFill>
              </a:rPr>
              <a:t>optimize</a:t>
            </a:r>
            <a:r>
              <a:rPr lang="en-GB" b="0">
                <a:solidFill>
                  <a:srgbClr val="000000"/>
                </a:solidFill>
              </a:rPr>
              <a:t> existing M</a:t>
            </a:r>
            <a:r>
              <a:rPr lang="en-GB" b="0"/>
              <a:t>ainframe Platform </a:t>
            </a:r>
            <a:endParaRPr lang="en-GB">
              <a:solidFill>
                <a:srgbClr val="5F249F"/>
              </a:solidFill>
            </a:endParaRPr>
          </a:p>
          <a:p>
            <a:pPr marL="514350" lvl="2" indent="-285750" defTabSz="1462922">
              <a:buSzPct val="70000"/>
              <a:buFont typeface="Wingdings" panose="05000000000000000000" pitchFamily="2" charset="2"/>
              <a:buChar char="ü"/>
              <a:defRPr/>
            </a:pPr>
            <a:r>
              <a:rPr lang="en-GB" b="0">
                <a:solidFill>
                  <a:srgbClr val="000000"/>
                </a:solidFill>
              </a:rPr>
              <a:t>Putting in motion a 360⁰ review of </a:t>
            </a:r>
            <a:r>
              <a:rPr lang="en-GB" b="0"/>
              <a:t>future mainframe</a:t>
            </a:r>
            <a:r>
              <a:rPr lang="en-US" b="0"/>
              <a:t> options by a </a:t>
            </a:r>
            <a:r>
              <a:rPr lang="en-US">
                <a:solidFill>
                  <a:srgbClr val="5F249F"/>
                </a:solidFill>
              </a:rPr>
              <a:t>team of cross functional experts</a:t>
            </a:r>
          </a:p>
          <a:p>
            <a:pPr marL="514350" lvl="2" indent="-285750" defTabSz="1462922">
              <a:buSzPct val="70000"/>
              <a:buFont typeface="Wingdings" panose="05000000000000000000" pitchFamily="2" charset="2"/>
              <a:buChar char="ü"/>
              <a:defRPr/>
            </a:pPr>
            <a:r>
              <a:rPr lang="en-US" b="0">
                <a:solidFill>
                  <a:srgbClr val="000000"/>
                </a:solidFill>
              </a:rPr>
              <a:t>Presenting a solution that takes care of </a:t>
            </a:r>
            <a:r>
              <a:rPr lang="en-US">
                <a:solidFill>
                  <a:srgbClr val="5F249F"/>
                </a:solidFill>
              </a:rPr>
              <a:t>existing investments</a:t>
            </a:r>
            <a:r>
              <a:rPr lang="en-US" b="0">
                <a:solidFill>
                  <a:srgbClr val="000000"/>
                </a:solidFill>
              </a:rPr>
              <a:t> while providing a path to </a:t>
            </a:r>
            <a:r>
              <a:rPr lang="en-US">
                <a:solidFill>
                  <a:srgbClr val="5F249F"/>
                </a:solidFill>
              </a:rPr>
              <a:t>modernize and transform</a:t>
            </a:r>
            <a:r>
              <a:rPr lang="en-US" b="0">
                <a:solidFill>
                  <a:srgbClr val="000000"/>
                </a:solidFill>
              </a:rPr>
              <a:t> the </a:t>
            </a:r>
            <a:r>
              <a:rPr lang="en-US" b="0"/>
              <a:t>mainframe estate</a:t>
            </a:r>
          </a:p>
          <a:p>
            <a:pPr marL="514350" lvl="2" indent="-285750" defTabSz="1462922">
              <a:buSzPct val="70000"/>
              <a:buFont typeface="Wingdings" panose="05000000000000000000" pitchFamily="2" charset="2"/>
              <a:buChar char="ü"/>
              <a:defRPr/>
            </a:pPr>
            <a:r>
              <a:rPr lang="en-US" b="0"/>
              <a:t>Applying DXC’s </a:t>
            </a:r>
            <a:r>
              <a:rPr lang="en-US">
                <a:solidFill>
                  <a:srgbClr val="5F249F"/>
                </a:solidFill>
              </a:rPr>
              <a:t>cloud right</a:t>
            </a:r>
            <a:r>
              <a:rPr lang="en-US" b="0"/>
              <a:t> approach to meet</a:t>
            </a:r>
            <a:r>
              <a:rPr lang="en-US">
                <a:solidFill>
                  <a:srgbClr val="5F249F"/>
                </a:solidFill>
              </a:rPr>
              <a:t> </a:t>
            </a:r>
            <a:r>
              <a:rPr lang="en-US" b="0"/>
              <a:t>customers’ transformation and modernization goals</a:t>
            </a:r>
            <a:endParaRPr lang="en-GB" b="0"/>
          </a:p>
          <a:p>
            <a:pPr marL="514350" lvl="2" indent="-285750" defTabSz="1462922">
              <a:buSzPct val="70000"/>
              <a:buFont typeface="Wingdings" panose="05000000000000000000" pitchFamily="2" charset="2"/>
              <a:buChar char="ü"/>
              <a:defRPr/>
            </a:pPr>
            <a:r>
              <a:rPr lang="en-US" b="0"/>
              <a:t>Supporting customers </a:t>
            </a:r>
            <a:r>
              <a:rPr lang="en-US">
                <a:solidFill>
                  <a:srgbClr val="5F249F"/>
                </a:solidFill>
              </a:rPr>
              <a:t>wherever </a:t>
            </a:r>
            <a:r>
              <a:rPr lang="en-US" b="0"/>
              <a:t>they are in their journey to modernization</a:t>
            </a:r>
          </a:p>
          <a:p>
            <a:pPr marL="342900" indent="-342900" defTabSz="1462922">
              <a:lnSpc>
                <a:spcPct val="120000"/>
              </a:lnSpc>
              <a:buSzPct val="70000"/>
              <a:buFont typeface="Arial" panose="020B0604020202020204" pitchFamily="34" charset="0"/>
              <a:buChar char="•"/>
              <a:defRPr/>
            </a:pPr>
            <a:endParaRPr lang="en-US" sz="2400" b="0">
              <a:solidFill>
                <a:srgbClr val="000000"/>
              </a:solidFill>
            </a:endParaRPr>
          </a:p>
          <a:p>
            <a:pPr marL="0" lvl="2" indent="0">
              <a:lnSpc>
                <a:spcPct val="120000"/>
              </a:lnSpc>
              <a:buNone/>
            </a:pPr>
            <a:endParaRPr lang="en-US" sz="24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765BA7-C0D6-41C1-852E-101B8069F26D}"/>
              </a:ext>
            </a:extLst>
          </p:cNvPr>
          <p:cNvSpPr/>
          <p:nvPr/>
        </p:nvSpPr>
        <p:spPr>
          <a:xfrm>
            <a:off x="620766" y="1196128"/>
            <a:ext cx="1216787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14630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Rethink the Mainframe by </a:t>
            </a:r>
            <a:r>
              <a:rPr kumimoji="0" lang="en-US" sz="2000" b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ea typeface="+mn-ea"/>
                <a:cs typeface="+mn-cs"/>
              </a:rPr>
              <a:t>leveraging</a:t>
            </a:r>
            <a:r>
              <a:rPr kumimoji="0" lang="en-US" sz="2000" b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the </a:t>
            </a:r>
            <a:r>
              <a:rPr kumimoji="0" lang="en-US" sz="2000" b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ea typeface="+mn-ea"/>
                <a:cs typeface="+mn-cs"/>
              </a:rPr>
              <a:t>Enterprise Technology Stack</a:t>
            </a:r>
          </a:p>
        </p:txBody>
      </p:sp>
    </p:spTree>
    <p:extLst>
      <p:ext uri="{BB962C8B-B14F-4D97-AF65-F5344CB8AC3E}">
        <p14:creationId xmlns:p14="http://schemas.microsoft.com/office/powerpoint/2010/main" val="429097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4k.VyjwykqxvZHNNXYWUw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4k.VyjwykqxvZHNNXYWUw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QZodMaZFk27Pu3AQ084R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rU.Fuk1okakFk1l3s6tS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kSGM_658UafDoFv9KhW2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8BDDUCi6UW_FuEDlnF.gw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8BDDUCi6UW_FuEDlnF.gw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8BDDUCi6UW_FuEDlnF.g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1MpQj0AAUamcgRZskjbI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8BDDUCi6UW_FuEDlnF.g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8BDDUCi6UW_FuEDlnF.g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8BDDUCi6UW_FuEDlnF.g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8BDDUCi6UW_FuEDlnF.g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8BDDUCi6UW_FuEDlnF.gw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8BDDUCi6UW_FuEDlnF.g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8BDDUCi6UW_FuEDlnF.g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8BDDUCi6UW_FuEDlnF.g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8BDDUCi6UW_FuEDlnF.gw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8BDDUCi6UW_FuEDlnF.gw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8BDDUCi6UW_FuEDlnF.gw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8BDDUCi6UW_FuEDlnF.gw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8BDDUCi6UW_FuEDlnF.gw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8BDDUCi6UW_FuEDlnF.gw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8BDDUCi6UW_FuEDlnF.g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8BDDUCi6UW_FuEDlnF.gw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8BDDUCi6UW_FuEDlnF.gw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8BDDUCi6UW_FuEDlnF.g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8BDDUCi6UW_FuEDlnF.gw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8BDDUCi6UW_FuEDlnF.gw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8BDDUCi6UW_FuEDlnF.gw"/>
</p:tagLst>
</file>

<file path=ppt/theme/theme1.xml><?xml version="1.0" encoding="utf-8"?>
<a:theme xmlns:a="http://schemas.openxmlformats.org/drawingml/2006/main" name="DXC">
  <a:themeElements>
    <a:clrScheme name="DXC New Brand Palette">
      <a:dk1>
        <a:srgbClr val="000000"/>
      </a:dk1>
      <a:lt1>
        <a:srgbClr val="FFFFFF"/>
      </a:lt1>
      <a:dk2>
        <a:srgbClr val="D9D9D6"/>
      </a:dk2>
      <a:lt2>
        <a:srgbClr val="FFCD00"/>
      </a:lt2>
      <a:accent1>
        <a:srgbClr val="5F249F"/>
      </a:accent1>
      <a:accent2>
        <a:srgbClr val="00968F"/>
      </a:accent2>
      <a:accent3>
        <a:srgbClr val="00A3E1"/>
      </a:accent3>
      <a:accent4>
        <a:srgbClr val="006975"/>
      </a:accent4>
      <a:accent5>
        <a:srgbClr val="6CC24A"/>
      </a:accent5>
      <a:accent6>
        <a:srgbClr val="ED9B33"/>
      </a:accent6>
      <a:hlink>
        <a:srgbClr val="000000"/>
      </a:hlink>
      <a:folHlink>
        <a:srgbClr val="666666"/>
      </a:folHlink>
    </a:clrScheme>
    <a:fontScheme name="DX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XC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sq" cmpd="sng" algn="ctr">
          <a:solidFill>
            <a:schemeClr val="phClr"/>
          </a:solidFill>
          <a:prstDash val="solid"/>
        </a:ln>
        <a:ln w="6350" cap="sq" cmpd="sng" algn="ctr">
          <a:solidFill>
            <a:schemeClr val="phClr"/>
          </a:solidFill>
          <a:prstDash val="solid"/>
        </a:ln>
        <a:ln w="635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/>
      <a:style>
        <a:lnRef idx="0">
          <a:schemeClr val="accent1"/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400"/>
          </a:spcAft>
          <a:defRPr sz="2000" dirty="0"/>
        </a:defPPr>
      </a:lstStyle>
    </a:txDef>
  </a:objectDefaults>
  <a:extraClrSchemeLst/>
  <a:custClrLst>
    <a:custClr name="DXC Bright Purple">
      <a:srgbClr val="5F249F"/>
    </a:custClr>
    <a:custClr name="White">
      <a:srgbClr val="FFFFFF"/>
    </a:custClr>
    <a:custClr name="DXC Light Gray">
      <a:srgbClr val="D9D9D6"/>
    </a:custClr>
    <a:custClr name="DXC Medium Gray">
      <a:srgbClr val="969696"/>
    </a:custClr>
    <a:custClr name="DXC Dark Gray">
      <a:srgbClr val="63666A"/>
    </a:custClr>
    <a:custClr name="Black">
      <a:srgbClr val="000000"/>
    </a:custClr>
    <a:custClr name="DXC Bright Teal">
      <a:srgbClr val="00968F"/>
    </a:custClr>
    <a:custClr name="DXC Blue">
      <a:srgbClr val="00A3E1"/>
    </a:custClr>
    <a:custClr name="DXC Dark Teal">
      <a:srgbClr val="006975"/>
    </a:custClr>
    <a:custClr name="DXC Green">
      <a:srgbClr val="6CC24A"/>
    </a:custClr>
    <a:custClr name="DXC Orange">
      <a:srgbClr val="ED9B33"/>
    </a:custClr>
    <a:custClr name="DXC Gold">
      <a:srgbClr val="FFCD00"/>
    </a:custClr>
    <a:custClr name="DXC Dark Purple">
      <a:srgbClr val="330072"/>
    </a:custClr>
    <a:custClr name="DXC Yellow">
      <a:srgbClr val="F9F048"/>
    </a:custClr>
  </a:custClrLst>
  <a:extLst>
    <a:ext uri="{05A4C25C-085E-4340-85A3-A5531E510DB2}">
      <thm15:themeFamily xmlns:thm15="http://schemas.microsoft.com/office/thememl/2012/main" name="Presentation2" id="{D23D759B-2C3D-4466-A8A4-1B27B24B9707}" vid="{5C411D51-CA21-4A29-893A-2211F6831693}"/>
    </a:ext>
  </a:extLst>
</a:theme>
</file>

<file path=ppt/theme/theme2.xml><?xml version="1.0" encoding="utf-8"?>
<a:theme xmlns:a="http://schemas.openxmlformats.org/drawingml/2006/main" name="1_DXC">
  <a:themeElements>
    <a:clrScheme name="DXC New Brand Palette">
      <a:dk1>
        <a:srgbClr val="000000"/>
      </a:dk1>
      <a:lt1>
        <a:srgbClr val="FFFFFF"/>
      </a:lt1>
      <a:dk2>
        <a:srgbClr val="D9D9D6"/>
      </a:dk2>
      <a:lt2>
        <a:srgbClr val="FFCD00"/>
      </a:lt2>
      <a:accent1>
        <a:srgbClr val="5F249F"/>
      </a:accent1>
      <a:accent2>
        <a:srgbClr val="00968F"/>
      </a:accent2>
      <a:accent3>
        <a:srgbClr val="00A3E1"/>
      </a:accent3>
      <a:accent4>
        <a:srgbClr val="006975"/>
      </a:accent4>
      <a:accent5>
        <a:srgbClr val="6CC24A"/>
      </a:accent5>
      <a:accent6>
        <a:srgbClr val="ED9B33"/>
      </a:accent6>
      <a:hlink>
        <a:srgbClr val="000000"/>
      </a:hlink>
      <a:folHlink>
        <a:srgbClr val="666666"/>
      </a:folHlink>
    </a:clrScheme>
    <a:fontScheme name="DX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XC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sq" cmpd="sng" algn="ctr">
          <a:solidFill>
            <a:schemeClr val="phClr"/>
          </a:solidFill>
          <a:prstDash val="solid"/>
        </a:ln>
        <a:ln w="6350" cap="sq" cmpd="sng" algn="ctr">
          <a:solidFill>
            <a:schemeClr val="phClr"/>
          </a:solidFill>
          <a:prstDash val="solid"/>
        </a:ln>
        <a:ln w="635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/>
      <a:style>
        <a:lnRef idx="0">
          <a:schemeClr val="accent1"/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400"/>
          </a:spcAft>
          <a:defRPr sz="2000" dirty="0"/>
        </a:defPPr>
      </a:lstStyle>
    </a:txDef>
  </a:objectDefaults>
  <a:extraClrSchemeLst/>
  <a:custClrLst>
    <a:custClr name="DXC Bright Purple">
      <a:srgbClr val="5F249F"/>
    </a:custClr>
    <a:custClr name="White">
      <a:srgbClr val="FFFFFF"/>
    </a:custClr>
    <a:custClr name="DXC Light Gray">
      <a:srgbClr val="D9D9D6"/>
    </a:custClr>
    <a:custClr name="DXC Medium Gray">
      <a:srgbClr val="969696"/>
    </a:custClr>
    <a:custClr name="DXC Dark Gray">
      <a:srgbClr val="63666A"/>
    </a:custClr>
    <a:custClr name="Black">
      <a:srgbClr val="000000"/>
    </a:custClr>
    <a:custClr name="DXC Bright Teal">
      <a:srgbClr val="00968F"/>
    </a:custClr>
    <a:custClr name="DXC Blue">
      <a:srgbClr val="00A3E1"/>
    </a:custClr>
    <a:custClr name="DXC Dark Teal">
      <a:srgbClr val="006975"/>
    </a:custClr>
    <a:custClr name="DXC Green">
      <a:srgbClr val="6CC24A"/>
    </a:custClr>
    <a:custClr name="DXC Orange">
      <a:srgbClr val="ED9B33"/>
    </a:custClr>
    <a:custClr name="DXC Gold">
      <a:srgbClr val="FFCD00"/>
    </a:custClr>
    <a:custClr name="DXC Dark Purple">
      <a:srgbClr val="330072"/>
    </a:custClr>
    <a:custClr name="DXC Yellow">
      <a:srgbClr val="F9F048"/>
    </a:custClr>
  </a:custClrLst>
  <a:extLst>
    <a:ext uri="{05A4C25C-085E-4340-85A3-A5531E510DB2}">
      <thm15:themeFamily xmlns:thm15="http://schemas.microsoft.com/office/thememl/2012/main" name="Presentation14" id="{ADF4E08F-6A9F-4DEC-B3C4-A0DE901E4FB5}" vid="{C7099796-88DF-4C34-958B-7A6E40E7E53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89A60532223BB4EAA270A5BD0BABDE3" ma:contentTypeVersion="2" ma:contentTypeDescription="Ein neues Dokument erstellen." ma:contentTypeScope="" ma:versionID="6f899477c28aa1d47b62877f8ae89245">
  <xsd:schema xmlns:xsd="http://www.w3.org/2001/XMLSchema" xmlns:xs="http://www.w3.org/2001/XMLSchema" xmlns:p="http://schemas.microsoft.com/office/2006/metadata/properties" xmlns:ns2="47aa5720-7333-4534-8787-f284d4484129" targetNamespace="http://schemas.microsoft.com/office/2006/metadata/properties" ma:root="true" ma:fieldsID="015f0d9b004405db04f02169e31020dc" ns2:_="">
    <xsd:import namespace="47aa5720-7333-4534-8787-f284d448412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aa5720-7333-4534-8787-f284d448412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E87C290-63E8-4AE7-A82F-EBC660BA5A31}">
  <ds:schemaRefs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47aa5720-7333-4534-8787-f284d4484129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2C0CE96-C175-4DBC-8C35-4447E4D2F8C3}">
  <ds:schemaRefs>
    <ds:schemaRef ds:uri="47aa5720-7333-4534-8787-f284d448412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1C43598-EC72-4D08-95C8-8E2D47B1EE6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336</TotalTime>
  <Words>1221</Words>
  <Application>Microsoft Office PowerPoint</Application>
  <PresentationFormat>Custom</PresentationFormat>
  <Paragraphs>227</Paragraphs>
  <Slides>14</Slides>
  <Notes>5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Wingdings</vt:lpstr>
      <vt:lpstr>DXC</vt:lpstr>
      <vt:lpstr>1_DXC</vt:lpstr>
      <vt:lpstr>BES  SEEBURGER COE  Experience, Capabilities, Offerings</vt:lpstr>
      <vt:lpstr>BES SEEBURGER COE – At a Glance</vt:lpstr>
      <vt:lpstr>Hosting Approaches</vt:lpstr>
      <vt:lpstr>DXC + SEEBURGER -  Partnership for more than 15 years</vt:lpstr>
      <vt:lpstr>DXC Business Exchange Services (BES)</vt:lpstr>
      <vt:lpstr>PowerPoint Presentation</vt:lpstr>
      <vt:lpstr>DXC Business Exchange Services (BES) </vt:lpstr>
      <vt:lpstr>PowerPoint Presentation</vt:lpstr>
      <vt:lpstr>PowerPoint Presentation</vt:lpstr>
      <vt:lpstr>Backup</vt:lpstr>
      <vt:lpstr>General Service Models DXC/SEEBURGER Flexibility for different Situations based on a Global Partnership Agreement</vt:lpstr>
      <vt:lpstr>DXC at a glance…. </vt:lpstr>
      <vt:lpstr>Appendix</vt:lpstr>
      <vt:lpstr>Unlock your Mainframe value with DXC Technology  </vt:lpstr>
    </vt:vector>
  </TitlesOfParts>
  <Company>DXC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DXC SEEBURGER COE</dc:title>
  <dc:subject>SEEBURGER COE Overview</dc:subject>
  <dc:creator>Haberzettl, Kai</dc:creator>
  <cp:lastModifiedBy>Haberzettl, Kai</cp:lastModifiedBy>
  <cp:revision>2</cp:revision>
  <dcterms:created xsi:type="dcterms:W3CDTF">2022-02-21T16:52:52Z</dcterms:created>
  <dcterms:modified xsi:type="dcterms:W3CDTF">2023-04-27T11:46:07Z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0x010100189A60532223BB4EAA270A5BD0BABDE3</vt:lpwstr>
  </property>
</Properties>
</file>