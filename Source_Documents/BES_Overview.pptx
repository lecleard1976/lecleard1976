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handoutMasterIdLst>
    <p:handoutMasterId r:id="rId27"/>
  </p:handoutMasterIdLst>
  <p:sldIdLst>
    <p:sldId id="2134804451" r:id="rId2"/>
    <p:sldId id="341" r:id="rId3"/>
    <p:sldId id="258" r:id="rId4"/>
    <p:sldId id="2147472737" r:id="rId5"/>
    <p:sldId id="2134804452" r:id="rId6"/>
    <p:sldId id="2147472740" r:id="rId7"/>
    <p:sldId id="316" r:id="rId8"/>
    <p:sldId id="317" r:id="rId9"/>
    <p:sldId id="310" r:id="rId10"/>
    <p:sldId id="318" r:id="rId11"/>
    <p:sldId id="342" r:id="rId12"/>
    <p:sldId id="2147472738" r:id="rId13"/>
    <p:sldId id="335" r:id="rId14"/>
    <p:sldId id="2147472739" r:id="rId15"/>
    <p:sldId id="325" r:id="rId16"/>
    <p:sldId id="516" r:id="rId17"/>
    <p:sldId id="513" r:id="rId18"/>
    <p:sldId id="2147308073" r:id="rId19"/>
    <p:sldId id="2147308075" r:id="rId20"/>
    <p:sldId id="2147308076" r:id="rId21"/>
    <p:sldId id="2147472679" r:id="rId22"/>
    <p:sldId id="2147472704" r:id="rId23"/>
    <p:sldId id="333" r:id="rId24"/>
    <p:sldId id="336" r:id="rId25"/>
  </p:sldIdLst>
  <p:sldSz cx="14630400" cy="8229600"/>
  <p:notesSz cx="7772400" cy="14173200"/>
  <p:defaultTextStyle>
    <a:defPPr>
      <a:defRPr lang="en-US"/>
    </a:defPPr>
    <a:lvl1pPr marL="0" algn="l" defTabSz="1463040" rtl="0" eaLnBrk="1" latinLnBrk="0" hangingPunct="1">
      <a:defRPr sz="2880" kern="1200">
        <a:solidFill>
          <a:schemeClr val="tx1"/>
        </a:solidFill>
        <a:latin typeface="+mn-lt"/>
        <a:ea typeface="+mn-ea"/>
        <a:cs typeface="+mn-cs"/>
      </a:defRPr>
    </a:lvl1pPr>
    <a:lvl2pPr marL="731520" algn="l" defTabSz="1463040" rtl="0" eaLnBrk="1" latinLnBrk="0" hangingPunct="1">
      <a:defRPr sz="2880" kern="1200">
        <a:solidFill>
          <a:schemeClr val="tx1"/>
        </a:solidFill>
        <a:latin typeface="+mn-lt"/>
        <a:ea typeface="+mn-ea"/>
        <a:cs typeface="+mn-cs"/>
      </a:defRPr>
    </a:lvl2pPr>
    <a:lvl3pPr marL="1463040" algn="l" defTabSz="1463040" rtl="0" eaLnBrk="1" latinLnBrk="0" hangingPunct="1">
      <a:defRPr sz="2880" kern="1200">
        <a:solidFill>
          <a:schemeClr val="tx1"/>
        </a:solidFill>
        <a:latin typeface="+mn-lt"/>
        <a:ea typeface="+mn-ea"/>
        <a:cs typeface="+mn-cs"/>
      </a:defRPr>
    </a:lvl3pPr>
    <a:lvl4pPr marL="2194560" algn="l" defTabSz="1463040" rtl="0" eaLnBrk="1" latinLnBrk="0" hangingPunct="1">
      <a:defRPr sz="2880" kern="1200">
        <a:solidFill>
          <a:schemeClr val="tx1"/>
        </a:solidFill>
        <a:latin typeface="+mn-lt"/>
        <a:ea typeface="+mn-ea"/>
        <a:cs typeface="+mn-cs"/>
      </a:defRPr>
    </a:lvl4pPr>
    <a:lvl5pPr marL="2926080" algn="l" defTabSz="1463040" rtl="0" eaLnBrk="1" latinLnBrk="0" hangingPunct="1">
      <a:defRPr sz="2880" kern="1200">
        <a:solidFill>
          <a:schemeClr val="tx1"/>
        </a:solidFill>
        <a:latin typeface="+mn-lt"/>
        <a:ea typeface="+mn-ea"/>
        <a:cs typeface="+mn-cs"/>
      </a:defRPr>
    </a:lvl5pPr>
    <a:lvl6pPr marL="3657600" algn="l" defTabSz="1463040" rtl="0" eaLnBrk="1" latinLnBrk="0" hangingPunct="1">
      <a:defRPr sz="2880" kern="1200">
        <a:solidFill>
          <a:schemeClr val="tx1"/>
        </a:solidFill>
        <a:latin typeface="+mn-lt"/>
        <a:ea typeface="+mn-ea"/>
        <a:cs typeface="+mn-cs"/>
      </a:defRPr>
    </a:lvl6pPr>
    <a:lvl7pPr marL="4389120" algn="l" defTabSz="1463040" rtl="0" eaLnBrk="1" latinLnBrk="0" hangingPunct="1">
      <a:defRPr sz="2880" kern="1200">
        <a:solidFill>
          <a:schemeClr val="tx1"/>
        </a:solidFill>
        <a:latin typeface="+mn-lt"/>
        <a:ea typeface="+mn-ea"/>
        <a:cs typeface="+mn-cs"/>
      </a:defRPr>
    </a:lvl7pPr>
    <a:lvl8pPr marL="5120640" algn="l" defTabSz="1463040" rtl="0" eaLnBrk="1" latinLnBrk="0" hangingPunct="1">
      <a:defRPr sz="2880" kern="1200">
        <a:solidFill>
          <a:schemeClr val="tx1"/>
        </a:solidFill>
        <a:latin typeface="+mn-lt"/>
        <a:ea typeface="+mn-ea"/>
        <a:cs typeface="+mn-cs"/>
      </a:defRPr>
    </a:lvl8pPr>
    <a:lvl9pPr marL="5852160" algn="l" defTabSz="146304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 userDrawn="1">
          <p15:clr>
            <a:srgbClr val="A4A3A4"/>
          </p15:clr>
        </p15:guide>
        <p15:guide id="2" orient="horz" pos="2592" userDrawn="1">
          <p15:clr>
            <a:srgbClr val="A4A3A4"/>
          </p15:clr>
        </p15:guide>
        <p15:guide id="3" orient="horz" pos="4512" userDrawn="1">
          <p15:clr>
            <a:srgbClr val="A4A3A4"/>
          </p15:clr>
        </p15:guide>
        <p15:guide id="4" orient="horz" pos="4896" userDrawn="1">
          <p15:clr>
            <a:srgbClr val="A4A3A4"/>
          </p15:clr>
        </p15:guide>
        <p15:guide id="5" pos="7488" userDrawn="1">
          <p15:clr>
            <a:srgbClr val="A4A3A4"/>
          </p15:clr>
        </p15:guide>
        <p15:guide id="6" pos="432" userDrawn="1">
          <p15:clr>
            <a:srgbClr val="A4A3A4"/>
          </p15:clr>
        </p15:guide>
        <p15:guide id="7" pos="3024" userDrawn="1">
          <p15:clr>
            <a:srgbClr val="A4A3A4"/>
          </p15:clr>
        </p15:guide>
        <p15:guide id="8" pos="3312" userDrawn="1">
          <p15:clr>
            <a:srgbClr val="A4A3A4"/>
          </p15:clr>
        </p15:guide>
        <p15:guide id="9" pos="4464" userDrawn="1">
          <p15:clr>
            <a:srgbClr val="A4A3A4"/>
          </p15:clr>
        </p15:guide>
        <p15:guide id="10" pos="4608" userDrawn="1">
          <p15:clr>
            <a:srgbClr val="A4A3A4"/>
          </p15:clr>
        </p15:guide>
        <p15:guide id="11" pos="4752" userDrawn="1">
          <p15:clr>
            <a:srgbClr val="A4A3A4"/>
          </p15:clr>
        </p15:guide>
        <p15:guide id="12" pos="5904" userDrawn="1">
          <p15:clr>
            <a:srgbClr val="A4A3A4"/>
          </p15:clr>
        </p15:guide>
        <p15:guide id="13" pos="6192" userDrawn="1">
          <p15:clr>
            <a:srgbClr val="A4A3A4"/>
          </p15:clr>
        </p15:guide>
        <p15:guide id="14" pos="8784" userDrawn="1">
          <p15:clr>
            <a:srgbClr val="A4A3A4"/>
          </p15:clr>
        </p15:guide>
      </p15:sldGuideLst>
    </p:ext>
    <p:ext uri="{2D200454-40CA-4A62-9FC3-DE9A4176ACB9}">
      <p15:notesGuideLst xmlns:p15="http://schemas.microsoft.com/office/powerpoint/2012/main">
        <p15:guide id="1" orient="horz" pos="4464" userDrawn="1">
          <p15:clr>
            <a:srgbClr val="A4A3A4"/>
          </p15:clr>
        </p15:guide>
        <p15:guide id="2" pos="24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68F"/>
    <a:srgbClr val="FFCD00"/>
    <a:srgbClr val="60249E"/>
    <a:srgbClr val="F9F048"/>
    <a:srgbClr val="969696"/>
    <a:srgbClr val="63666A"/>
    <a:srgbClr val="D9DF23"/>
    <a:srgbClr val="666666"/>
    <a:srgbClr val="330072"/>
    <a:srgbClr val="1870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82E95-A6B1-4387-B8C2-F870E3ACD143}" v="1" dt="2023-08-09T15:59:37.869"/>
  </p1510:revLst>
</p1510:revInfo>
</file>

<file path=ppt/tableStyles.xml><?xml version="1.0" encoding="utf-8"?>
<a:tblStyleLst xmlns:a="http://schemas.openxmlformats.org/drawingml/2006/main" def="{45BD5076-5073-49C7-9E08-65982F3C9860}">
  <a:tblStyle styleId="{45BD5076-5073-49C7-9E08-65982F3C9860}" styleName="DXC Table">
    <a:wholeTbl>
      <a:tcTxStyle>
        <a:fontRef idx="minor"/>
        <a:srgbClr val="000000"/>
      </a:tcTxStyle>
      <a:tcStyle>
        <a:tcBdr>
          <a:left>
            <a:ln>
              <a:noFill/>
            </a:ln>
          </a:left>
          <a:right>
            <a:ln>
              <a:noFill/>
            </a:ln>
          </a:right>
          <a:top>
            <a:ln w="6350">
              <a:solidFill>
                <a:srgbClr val="000000"/>
              </a:solidFill>
            </a:ln>
          </a:top>
          <a:bottom>
            <a:ln w="6350">
              <a:solidFill>
                <a:srgbClr val="000000"/>
              </a:solidFill>
            </a:ln>
          </a:bottom>
          <a:insideH>
            <a:ln w="6350">
              <a:solidFill>
                <a:srgbClr val="000000"/>
              </a:solidFill>
            </a:ln>
          </a:insideH>
          <a:insideV>
            <a:ln>
              <a:noFill/>
            </a:ln>
          </a:insideV>
        </a:tcBdr>
        <a:fill>
          <a:noFill/>
        </a:fill>
      </a:tcStyle>
    </a:wholeTbl>
    <a:lastCol>
      <a:tcTxStyle b="on">
        <a:fontRef idx="major"/>
        <a:srgbClr val="000000"/>
      </a:tcTxStyle>
      <a:tcStyle>
        <a:tcBdr/>
      </a:tcStyle>
    </a:lastCol>
    <a:firstCol>
      <a:tcTxStyle b="on">
        <a:fontRef idx="major"/>
        <a:srgbClr val="000000"/>
      </a:tcTxStyle>
      <a:tcStyle>
        <a:tcBdr/>
      </a:tcStyle>
    </a:firstCol>
    <a:lastRow>
      <a:tcTxStyle b="on">
        <a:fontRef idx="major"/>
        <a:srgbClr val="000000"/>
      </a:tcTxStyle>
      <a:tcStyle>
        <a:tcBdr>
          <a:top>
            <a:ln w="19050">
              <a:solidFill>
                <a:srgbClr val="000000"/>
              </a:solidFill>
            </a:ln>
          </a:top>
          <a:bottom>
            <a:ln>
              <a:noFill/>
            </a:ln>
          </a:bottom>
        </a:tcBdr>
        <a:fill>
          <a:noFill/>
        </a:fill>
      </a:tcStyle>
    </a:lastRow>
    <a:firstRow>
      <a:tcTxStyle b="on">
        <a:fontRef idx="major"/>
        <a:srgbClr val="000000"/>
      </a:tcTxStyle>
      <a:tcStyle>
        <a:tcBdr>
          <a:top>
            <a:ln>
              <a:noFill/>
            </a:ln>
          </a:top>
          <a:bottom>
            <a:ln w="19050">
              <a:solidFill>
                <a:srgbClr val="000000"/>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79" autoAdjust="0"/>
    <p:restoredTop sz="97153" autoAdjust="0"/>
  </p:normalViewPr>
  <p:slideViewPr>
    <p:cSldViewPr snapToGrid="0" snapToObjects="1" showGuides="1">
      <p:cViewPr varScale="1">
        <p:scale>
          <a:sx n="96" d="100"/>
          <a:sy n="96" d="100"/>
        </p:scale>
        <p:origin x="108" y="306"/>
      </p:cViewPr>
      <p:guideLst>
        <p:guide orient="horz" pos="408"/>
        <p:guide orient="horz" pos="2592"/>
        <p:guide orient="horz" pos="4512"/>
        <p:guide orient="horz" pos="4896"/>
        <p:guide pos="7488"/>
        <p:guide pos="432"/>
        <p:guide pos="3024"/>
        <p:guide pos="3312"/>
        <p:guide pos="4464"/>
        <p:guide pos="4608"/>
        <p:guide pos="4752"/>
        <p:guide pos="5904"/>
        <p:guide pos="6192"/>
        <p:guide pos="8784"/>
      </p:guideLst>
    </p:cSldViewPr>
  </p:slideViewPr>
  <p:notesTextViewPr>
    <p:cViewPr>
      <p:scale>
        <a:sx n="1" d="1"/>
        <a:sy n="1" d="1"/>
      </p:scale>
      <p:origin x="0" y="0"/>
    </p:cViewPr>
  </p:notesTextViewPr>
  <p:sorterViewPr>
    <p:cViewPr>
      <p:scale>
        <a:sx n="125" d="100"/>
        <a:sy n="125" d="100"/>
      </p:scale>
      <p:origin x="0" y="0"/>
    </p:cViewPr>
  </p:sorterViewPr>
  <p:notesViewPr>
    <p:cSldViewPr snapToGrid="0" snapToObjects="1" showGuides="1">
      <p:cViewPr varScale="1">
        <p:scale>
          <a:sx n="110" d="100"/>
          <a:sy n="110" d="100"/>
        </p:scale>
        <p:origin x="6648" y="114"/>
      </p:cViewPr>
      <p:guideLst>
        <p:guide orient="horz" pos="4464"/>
        <p:guide pos="244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vl1pPr>
          </a:lstStyle>
          <a:p>
            <a:endParaRPr lang="en-US" dirty="0">
              <a:latin typeface="Arial"/>
              <a:cs typeface="Arial"/>
            </a:endParaRPr>
          </a:p>
        </p:txBody>
      </p:sp>
      <p:sp>
        <p:nvSpPr>
          <p:cNvPr id="4" name="Footer Placeholder 3"/>
          <p:cNvSpPr>
            <a:spLocks noGrp="1"/>
          </p:cNvSpPr>
          <p:nvPr>
            <p:ph type="ftr" sz="quarter" idx="2"/>
          </p:nvPr>
        </p:nvSpPr>
        <p:spPr>
          <a:xfrm>
            <a:off x="0" y="13462080"/>
            <a:ext cx="3368040" cy="708660"/>
          </a:xfrm>
          <a:prstGeom prst="rect">
            <a:avLst/>
          </a:prstGeom>
        </p:spPr>
        <p:txBody>
          <a:bodyPr vert="horz" lIns="125401" tIns="62700" rIns="125401" bIns="62700" rtlCol="0" anchor="b"/>
          <a:lstStyle>
            <a:lvl1pPr algn="l">
              <a:defRPr sz="1600"/>
            </a:lvl1pPr>
          </a:lstStyle>
          <a:p>
            <a:endParaRPr lang="en-US" dirty="0">
              <a:latin typeface="Arial"/>
              <a:cs typeface="Arial"/>
            </a:endParaRPr>
          </a:p>
        </p:txBody>
      </p:sp>
      <p:sp>
        <p:nvSpPr>
          <p:cNvPr id="5" name="Slide Number Placeholder 4"/>
          <p:cNvSpPr>
            <a:spLocks noGrp="1"/>
          </p:cNvSpPr>
          <p:nvPr>
            <p:ph type="sldNum" sz="quarter" idx="3"/>
          </p:nvPr>
        </p:nvSpPr>
        <p:spPr>
          <a:xfrm>
            <a:off x="4402561" y="13462080"/>
            <a:ext cx="3368040" cy="708660"/>
          </a:xfrm>
          <a:prstGeom prst="rect">
            <a:avLst/>
          </a:prstGeom>
        </p:spPr>
        <p:txBody>
          <a:bodyPr vert="horz" lIns="125401" tIns="62700" rIns="125401" bIns="62700" rtlCol="0" anchor="b"/>
          <a:lstStyle>
            <a:lvl1pPr algn="r">
              <a:defRPr sz="1600"/>
            </a:lvl1pPr>
          </a:lstStyle>
          <a:p>
            <a:fld id="{70AC7428-30A9-FD43-A0D8-DB91B17088EC}" type="slidenum">
              <a:rPr lang="en-US" smtClean="0">
                <a:latin typeface="Arial"/>
                <a:cs typeface="Arial"/>
              </a:rPr>
              <a:t>‹#›</a:t>
            </a:fld>
            <a:endParaRPr lang="en-US" dirty="0">
              <a:latin typeface="Arial"/>
              <a:cs typeface="Arial"/>
            </a:endParaRPr>
          </a:p>
        </p:txBody>
      </p:sp>
    </p:spTree>
    <p:extLst>
      <p:ext uri="{BB962C8B-B14F-4D97-AF65-F5344CB8AC3E}">
        <p14:creationId xmlns:p14="http://schemas.microsoft.com/office/powerpoint/2010/main" val="13476491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708660"/>
          </a:xfrm>
          <a:prstGeom prst="rect">
            <a:avLst/>
          </a:prstGeom>
        </p:spPr>
        <p:txBody>
          <a:bodyPr vert="horz" lIns="125401" tIns="62700" rIns="125401" bIns="62700" rtlCol="0"/>
          <a:lstStyle>
            <a:lvl1pPr algn="l">
              <a:defRPr sz="1600">
                <a:latin typeface="Arial"/>
                <a:cs typeface="Arial"/>
              </a:defRPr>
            </a:lvl1pPr>
          </a:lstStyle>
          <a:p>
            <a:endParaRPr lang="en-US" dirty="0"/>
          </a:p>
        </p:txBody>
      </p:sp>
      <p:sp>
        <p:nvSpPr>
          <p:cNvPr id="3" name="Date Placeholder 2"/>
          <p:cNvSpPr>
            <a:spLocks noGrp="1"/>
          </p:cNvSpPr>
          <p:nvPr>
            <p:ph type="dt" idx="1"/>
          </p:nvPr>
        </p:nvSpPr>
        <p:spPr>
          <a:xfrm>
            <a:off x="4402561" y="0"/>
            <a:ext cx="3368040" cy="708660"/>
          </a:xfrm>
          <a:prstGeom prst="rect">
            <a:avLst/>
          </a:prstGeom>
        </p:spPr>
        <p:txBody>
          <a:bodyPr vert="horz" lIns="125401" tIns="62700" rIns="125401" bIns="62700" rtlCol="0"/>
          <a:lstStyle>
            <a:lvl1pPr algn="r">
              <a:defRPr sz="1600">
                <a:latin typeface="Arial"/>
                <a:cs typeface="Arial"/>
              </a:defRPr>
            </a:lvl1pPr>
          </a:lstStyle>
          <a:p>
            <a:fld id="{73B26A0F-F4D6-9B4F-A87B-D8948CDE3BB4}" type="datetimeFigureOut">
              <a:rPr lang="en-US" smtClean="0"/>
              <a:pPr/>
              <a:t>8/9/2023</a:t>
            </a:fld>
            <a:endParaRPr lang="en-US" dirty="0"/>
          </a:p>
        </p:txBody>
      </p:sp>
      <p:sp>
        <p:nvSpPr>
          <p:cNvPr id="4" name="Slide Image Placeholder 3"/>
          <p:cNvSpPr>
            <a:spLocks noGrp="1" noRot="1" noChangeAspect="1"/>
          </p:cNvSpPr>
          <p:nvPr>
            <p:ph type="sldImg" idx="2"/>
          </p:nvPr>
        </p:nvSpPr>
        <p:spPr>
          <a:xfrm>
            <a:off x="-838200" y="1063625"/>
            <a:ext cx="9448800" cy="5314950"/>
          </a:xfrm>
          <a:prstGeom prst="rect">
            <a:avLst/>
          </a:prstGeom>
          <a:noFill/>
          <a:ln w="12700">
            <a:solidFill>
              <a:prstClr val="black"/>
            </a:solidFill>
          </a:ln>
        </p:spPr>
        <p:txBody>
          <a:bodyPr vert="horz" lIns="125401" tIns="62700" rIns="125401" bIns="62700" rtlCol="0" anchor="ctr"/>
          <a:lstStyle/>
          <a:p>
            <a:endParaRPr lang="en-US" dirty="0"/>
          </a:p>
        </p:txBody>
      </p:sp>
      <p:sp>
        <p:nvSpPr>
          <p:cNvPr id="5" name="Notes Placeholder 4"/>
          <p:cNvSpPr>
            <a:spLocks noGrp="1"/>
          </p:cNvSpPr>
          <p:nvPr>
            <p:ph type="body" sz="quarter" idx="3"/>
          </p:nvPr>
        </p:nvSpPr>
        <p:spPr>
          <a:xfrm>
            <a:off x="431800" y="6732270"/>
            <a:ext cx="6908800" cy="637794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13462080"/>
            <a:ext cx="3368040" cy="708660"/>
          </a:xfrm>
          <a:prstGeom prst="rect">
            <a:avLst/>
          </a:prstGeom>
        </p:spPr>
        <p:txBody>
          <a:bodyPr vert="horz" lIns="125401" tIns="62700" rIns="125401" bIns="62700" rtlCol="0" anchor="b"/>
          <a:lstStyle>
            <a:lvl1pPr algn="l">
              <a:defRPr sz="1600">
                <a:latin typeface="Arial"/>
                <a:cs typeface="Arial"/>
              </a:defRPr>
            </a:lvl1pPr>
          </a:lstStyle>
          <a:p>
            <a:endParaRPr lang="en-US" dirty="0"/>
          </a:p>
        </p:txBody>
      </p:sp>
      <p:sp>
        <p:nvSpPr>
          <p:cNvPr id="7" name="Slide Number Placeholder 6"/>
          <p:cNvSpPr>
            <a:spLocks noGrp="1"/>
          </p:cNvSpPr>
          <p:nvPr>
            <p:ph type="sldNum" sz="quarter" idx="5"/>
          </p:nvPr>
        </p:nvSpPr>
        <p:spPr>
          <a:xfrm>
            <a:off x="4402561" y="13462080"/>
            <a:ext cx="3368040" cy="708660"/>
          </a:xfrm>
          <a:prstGeom prst="rect">
            <a:avLst/>
          </a:prstGeom>
        </p:spPr>
        <p:txBody>
          <a:bodyPr vert="horz" lIns="125401" tIns="62700" rIns="125401" bIns="62700" rtlCol="0" anchor="b"/>
          <a:lstStyle>
            <a:lvl1pPr algn="r">
              <a:defRPr sz="1600">
                <a:latin typeface="Arial"/>
                <a:cs typeface="Arial"/>
              </a:defRPr>
            </a:lvl1pPr>
          </a:lstStyle>
          <a:p>
            <a:fld id="{7DE2E8FF-3D0C-9D4D-B4D1-3089215958A5}" type="slidenum">
              <a:rPr lang="en-US" smtClean="0"/>
              <a:pPr/>
              <a:t>‹#›</a:t>
            </a:fld>
            <a:endParaRPr lang="en-US" dirty="0"/>
          </a:p>
        </p:txBody>
      </p:sp>
    </p:spTree>
    <p:extLst>
      <p:ext uri="{BB962C8B-B14F-4D97-AF65-F5344CB8AC3E}">
        <p14:creationId xmlns:p14="http://schemas.microsoft.com/office/powerpoint/2010/main" val="3274134959"/>
      </p:ext>
    </p:extLst>
  </p:cSld>
  <p:clrMap bg1="lt1" tx1="dk1" bg2="lt2" tx2="dk2" accent1="accent1" accent2="accent2" accent3="accent3" accent4="accent4" accent5="accent5" accent6="accent6" hlink="hlink" folHlink="folHlink"/>
  <p:hf hdr="0" ftr="0" dt="0"/>
  <p:notesStyle>
    <a:lvl1pPr marL="0" algn="l" defTabSz="731520" rtl="0" eaLnBrk="1" latinLnBrk="0" hangingPunct="1">
      <a:defRPr sz="1920" kern="1200">
        <a:solidFill>
          <a:schemeClr val="tx1"/>
        </a:solidFill>
        <a:latin typeface="Arial"/>
        <a:ea typeface="+mn-ea"/>
        <a:cs typeface="Arial"/>
      </a:defRPr>
    </a:lvl1pPr>
    <a:lvl2pPr marL="731520" algn="l" defTabSz="731520" rtl="0" eaLnBrk="1" latinLnBrk="0" hangingPunct="1">
      <a:defRPr sz="1920" kern="1200">
        <a:solidFill>
          <a:schemeClr val="tx1"/>
        </a:solidFill>
        <a:latin typeface="Arial"/>
        <a:ea typeface="+mn-ea"/>
        <a:cs typeface="+mn-cs"/>
      </a:defRPr>
    </a:lvl2pPr>
    <a:lvl3pPr marL="1463040" algn="l" defTabSz="731520" rtl="0" eaLnBrk="1" latinLnBrk="0" hangingPunct="1">
      <a:defRPr sz="1920" kern="1200">
        <a:solidFill>
          <a:schemeClr val="tx1"/>
        </a:solidFill>
        <a:latin typeface="Arial"/>
        <a:ea typeface="+mn-ea"/>
        <a:cs typeface="+mn-cs"/>
      </a:defRPr>
    </a:lvl3pPr>
    <a:lvl4pPr marL="2194560" algn="l" defTabSz="731520" rtl="0" eaLnBrk="1" latinLnBrk="0" hangingPunct="1">
      <a:defRPr sz="1920" kern="1200">
        <a:solidFill>
          <a:schemeClr val="tx1"/>
        </a:solidFill>
        <a:latin typeface="Arial"/>
        <a:ea typeface="+mn-ea"/>
        <a:cs typeface="+mn-cs"/>
      </a:defRPr>
    </a:lvl4pPr>
    <a:lvl5pPr marL="2926080" algn="l" defTabSz="731520" rtl="0" eaLnBrk="1" latinLnBrk="0" hangingPunct="1">
      <a:defRPr sz="1920" kern="1200">
        <a:solidFill>
          <a:schemeClr val="tx1"/>
        </a:solidFill>
        <a:latin typeface="Arial"/>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2763" y="420688"/>
            <a:ext cx="5043487" cy="2836862"/>
          </a:xfrm>
        </p:spPr>
      </p:sp>
      <p:sp>
        <p:nvSpPr>
          <p:cNvPr id="3" name="Notes Placeholder 2"/>
          <p:cNvSpPr>
            <a:spLocks noGrp="1"/>
          </p:cNvSpPr>
          <p:nvPr>
            <p:ph type="body" idx="1"/>
          </p:nvPr>
        </p:nvSpPr>
        <p:spPr/>
        <p:txBody>
          <a:bodyPr/>
          <a:lstStyle/>
          <a:p>
            <a:r>
              <a:rPr lang="en-US" dirty="0"/>
              <a:t>Down the left</a:t>
            </a:r>
            <a:r>
              <a:rPr lang="en-US" baseline="0" dirty="0"/>
              <a:t> side you can see some stats and information about the BES team</a:t>
            </a:r>
          </a:p>
          <a:p>
            <a:r>
              <a:rPr lang="en-US" baseline="0" dirty="0"/>
              <a:t>Point out:</a:t>
            </a:r>
          </a:p>
          <a:p>
            <a:pPr marL="362480" indent="-362480">
              <a:buFont typeface="Arial" panose="020B0604020202020204" pitchFamily="34" charset="0"/>
              <a:buChar char="•"/>
            </a:pPr>
            <a:r>
              <a:rPr lang="en-US" baseline="0" dirty="0"/>
              <a:t>Gartner’s ranking of BES in the “challenger” quadrant for Integration Brokerage providers</a:t>
            </a:r>
          </a:p>
          <a:p>
            <a:pPr marL="362480" indent="-362480">
              <a:buFont typeface="Arial" panose="020B0604020202020204" pitchFamily="34" charset="0"/>
              <a:buChar char="•"/>
            </a:pPr>
            <a:r>
              <a:rPr lang="en-US" baseline="0" dirty="0"/>
              <a:t>And ranked BES #2 in market share for Integration Brokerage providers</a:t>
            </a:r>
          </a:p>
          <a:p>
            <a:pPr marL="362480" indent="-362480">
              <a:buFont typeface="Arial" panose="020B0604020202020204" pitchFamily="34" charset="0"/>
              <a:buChar char="•"/>
            </a:pPr>
            <a:r>
              <a:rPr lang="en-US" baseline="0" dirty="0"/>
              <a:t>the average years of experience that team has (mature expert staff)</a:t>
            </a:r>
          </a:p>
          <a:p>
            <a:pPr marL="362480" indent="-362480">
              <a:buFont typeface="Arial" panose="020B0604020202020204" pitchFamily="34" charset="0"/>
              <a:buChar char="•"/>
            </a:pPr>
            <a:r>
              <a:rPr lang="en-US" baseline="0" dirty="0"/>
              <a:t>Staff has grown up in the automotive manufacturing space</a:t>
            </a:r>
            <a:endParaRPr lang="en-US" dirty="0"/>
          </a:p>
          <a:p>
            <a:endParaRPr lang="en-US" baseline="0" dirty="0"/>
          </a:p>
          <a:p>
            <a:endParaRPr lang="en-US" baseline="0" dirty="0"/>
          </a:p>
          <a:p>
            <a:r>
              <a:rPr lang="en-US" baseline="0" dirty="0"/>
              <a:t>On the right you can see the BES global footprint and where our system are hosted and where we have support teams.</a:t>
            </a:r>
          </a:p>
          <a:p>
            <a:r>
              <a:rPr lang="en-US" baseline="0" dirty="0"/>
              <a:t>Point out:</a:t>
            </a:r>
          </a:p>
          <a:p>
            <a:pPr marL="362480" indent="-362480">
              <a:buFont typeface="Arial" panose="020B0604020202020204" pitchFamily="34" charset="0"/>
              <a:buChar char="•"/>
            </a:pPr>
            <a:r>
              <a:rPr lang="en-US" baseline="0" dirty="0"/>
              <a:t>ELIT MFT is in Plano and Auburn Hills and that is also where our commercial EDI platform is hosted </a:t>
            </a:r>
          </a:p>
          <a:p>
            <a:pPr marL="362480" indent="-362480">
              <a:buFont typeface="Arial" panose="020B0604020202020204" pitchFamily="34" charset="0"/>
              <a:buChar char="•"/>
            </a:pPr>
            <a:r>
              <a:rPr lang="en-US" baseline="0" dirty="0"/>
              <a:t>ELIT (with all of its GM and supplier connections) is the transport for our EDI platform</a:t>
            </a:r>
          </a:p>
          <a:p>
            <a:pPr marL="362480" indent="-362480">
              <a:buFont typeface="Arial" panose="020B0604020202020204" pitchFamily="34" charset="0"/>
              <a:buChar char="•"/>
            </a:pPr>
            <a:r>
              <a:rPr lang="en-US" baseline="0" dirty="0"/>
              <a:t>Also have a large presence in European and Asia Pacific regions</a:t>
            </a:r>
            <a:endParaRPr lang="en-US" dirty="0"/>
          </a:p>
        </p:txBody>
      </p:sp>
      <p:sp>
        <p:nvSpPr>
          <p:cNvPr id="4" name="Header Placeholder 3"/>
          <p:cNvSpPr>
            <a:spLocks noGrp="1"/>
          </p:cNvSpPr>
          <p:nvPr>
            <p:ph type="hdr" sz="quarter" idx="10"/>
          </p:nvPr>
        </p:nvSpPr>
        <p:spPr>
          <a:xfrm>
            <a:off x="1" y="1"/>
            <a:ext cx="3456387" cy="512464"/>
          </a:xfrm>
          <a:prstGeom prst="rect">
            <a:avLst/>
          </a:prstGeom>
        </p:spPr>
        <p:txBody>
          <a:bodyPr lIns="102180" tIns="51091" rIns="102180" bIns="51091"/>
          <a:lstStyle/>
          <a:p>
            <a:endParaRPr lang="en-US" dirty="0"/>
          </a:p>
        </p:txBody>
      </p:sp>
      <p:sp>
        <p:nvSpPr>
          <p:cNvPr id="5" name="Date Placeholder 4"/>
          <p:cNvSpPr>
            <a:spLocks noGrp="1"/>
          </p:cNvSpPr>
          <p:nvPr>
            <p:ph type="dt" idx="11"/>
          </p:nvPr>
        </p:nvSpPr>
        <p:spPr>
          <a:xfrm>
            <a:off x="4373587" y="57974"/>
            <a:ext cx="3456387" cy="512464"/>
          </a:xfrm>
          <a:prstGeom prst="rect">
            <a:avLst/>
          </a:prstGeom>
        </p:spPr>
        <p:txBody>
          <a:bodyPr lIns="102180" tIns="51091" rIns="102180" bIns="51091"/>
          <a:lstStyle/>
          <a:p>
            <a:fld id="{E831FD69-BB7F-48A9-AD3C-0905D51AD404}" type="datetime3">
              <a:rPr lang="en-US" smtClean="0"/>
              <a:pPr/>
              <a:t>9 August 2023</a:t>
            </a:fld>
            <a:endParaRPr lang="en-US" dirty="0"/>
          </a:p>
        </p:txBody>
      </p:sp>
      <p:sp>
        <p:nvSpPr>
          <p:cNvPr id="6" name="Footer Placeholder 5"/>
          <p:cNvSpPr>
            <a:spLocks noGrp="1"/>
          </p:cNvSpPr>
          <p:nvPr>
            <p:ph type="ftr" sz="quarter" idx="12"/>
          </p:nvPr>
        </p:nvSpPr>
        <p:spPr/>
        <p:txBody>
          <a:bodyPr/>
          <a:lstStyle/>
          <a:p>
            <a:r>
              <a:rPr lang="en-US" dirty="0"/>
              <a:t>DXC Confidential</a:t>
            </a:r>
          </a:p>
        </p:txBody>
      </p:sp>
      <p:sp>
        <p:nvSpPr>
          <p:cNvPr id="7" name="Slide Number Placeholder 6"/>
          <p:cNvSpPr>
            <a:spLocks noGrp="1"/>
          </p:cNvSpPr>
          <p:nvPr>
            <p:ph type="sldNum" sz="quarter" idx="13"/>
          </p:nvPr>
        </p:nvSpPr>
        <p:spPr/>
        <p:txBody>
          <a:bodyPr/>
          <a:lstStyle/>
          <a:p>
            <a:fld id="{84B04522-5E79-4620-978F-683F5015A639}" type="slidenum">
              <a:rPr lang="en-US" smtClean="0"/>
              <a:pPr/>
              <a:t>2</a:t>
            </a:fld>
            <a:endParaRPr lang="en-US" dirty="0"/>
          </a:p>
        </p:txBody>
      </p:sp>
    </p:spTree>
    <p:extLst>
      <p:ext uri="{BB962C8B-B14F-4D97-AF65-F5344CB8AC3E}">
        <p14:creationId xmlns:p14="http://schemas.microsoft.com/office/powerpoint/2010/main" val="3006601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2913" y="400050"/>
            <a:ext cx="4803775" cy="2701925"/>
          </a:xfrm>
        </p:spPr>
      </p:sp>
      <p:sp>
        <p:nvSpPr>
          <p:cNvPr id="3" name="Notes Placeholder 2"/>
          <p:cNvSpPr>
            <a:spLocks noGrp="1"/>
          </p:cNvSpPr>
          <p:nvPr>
            <p:ph type="body" idx="1"/>
          </p:nvPr>
        </p:nvSpPr>
        <p:spPr/>
        <p:txBody>
          <a:bodyPr>
            <a:normAutofit fontScale="25000" lnSpcReduction="20000"/>
          </a:bodyPr>
          <a:lstStyle/>
          <a:p>
            <a:r>
              <a:rPr lang="en-US" dirty="0"/>
              <a:t>																																																																																																																																																																																																																																																																																																																																																																																																																																																																																																																																																																																																																																																																																																																																																																																																																																																																																																			</a:t>
            </a:r>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rPr>
              <a:pPr/>
              <a:t>3</a:t>
            </a:fld>
            <a:endParaRPr lang="en-GB" dirty="0">
              <a:solidFill>
                <a:prstClr val="black"/>
              </a:solidFill>
            </a:endParaRPr>
          </a:p>
        </p:txBody>
      </p:sp>
    </p:spTree>
    <p:extLst>
      <p:ext uri="{BB962C8B-B14F-4D97-AF65-F5344CB8AC3E}">
        <p14:creationId xmlns:p14="http://schemas.microsoft.com/office/powerpoint/2010/main" val="678266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9F5C5019-09E2-41D2-8B9F-DC0AC0A44F76}" type="slidenum">
              <a:rPr lang="en-US" smtClean="0"/>
              <a:t>4</a:t>
            </a:fld>
            <a:endParaRPr lang="en-US"/>
          </a:p>
        </p:txBody>
      </p:sp>
    </p:spTree>
    <p:extLst>
      <p:ext uri="{BB962C8B-B14F-4D97-AF65-F5344CB8AC3E}">
        <p14:creationId xmlns:p14="http://schemas.microsoft.com/office/powerpoint/2010/main" val="12728477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2763" y="420688"/>
            <a:ext cx="5043487" cy="28368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7</a:t>
            </a:fld>
            <a:endParaRPr lang="en-GB" dirty="0"/>
          </a:p>
        </p:txBody>
      </p:sp>
    </p:spTree>
    <p:extLst>
      <p:ext uri="{BB962C8B-B14F-4D97-AF65-F5344CB8AC3E}">
        <p14:creationId xmlns:p14="http://schemas.microsoft.com/office/powerpoint/2010/main" val="1812778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2763" y="420688"/>
            <a:ext cx="5043487" cy="28368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8</a:t>
            </a:fld>
            <a:endParaRPr lang="en-GB" dirty="0"/>
          </a:p>
        </p:txBody>
      </p:sp>
    </p:spTree>
    <p:extLst>
      <p:ext uri="{BB962C8B-B14F-4D97-AF65-F5344CB8AC3E}">
        <p14:creationId xmlns:p14="http://schemas.microsoft.com/office/powerpoint/2010/main" val="4232568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12763" y="420688"/>
            <a:ext cx="5043487" cy="28368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pPr/>
              <a:t>9</a:t>
            </a:fld>
            <a:endParaRPr lang="en-GB" dirty="0"/>
          </a:p>
        </p:txBody>
      </p:sp>
    </p:spTree>
    <p:extLst>
      <p:ext uri="{BB962C8B-B14F-4D97-AF65-F5344CB8AC3E}">
        <p14:creationId xmlns:p14="http://schemas.microsoft.com/office/powerpoint/2010/main" val="244053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768350"/>
            <a:ext cx="6832600" cy="3843338"/>
          </a:xfrm>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latin typeface="Calibri"/>
              </a:rPr>
              <a:pPr/>
              <a:t>10</a:t>
            </a:fld>
            <a:endParaRPr lang="en-GB" dirty="0">
              <a:solidFill>
                <a:prstClr val="black"/>
              </a:solidFill>
              <a:latin typeface="Calibri"/>
            </a:endParaRPr>
          </a:p>
        </p:txBody>
      </p:sp>
    </p:spTree>
    <p:extLst>
      <p:ext uri="{BB962C8B-B14F-4D97-AF65-F5344CB8AC3E}">
        <p14:creationId xmlns:p14="http://schemas.microsoft.com/office/powerpoint/2010/main" val="3055244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is our </a:t>
            </a:r>
            <a:r>
              <a:rPr lang="en-US" dirty="0"/>
              <a:t>Commercial EDI translation platform</a:t>
            </a:r>
          </a:p>
          <a:p>
            <a:r>
              <a:rPr lang="en-US" dirty="0"/>
              <a:t>Fully Managed Service that not only does</a:t>
            </a:r>
            <a:r>
              <a:rPr lang="en-US" baseline="0" dirty="0"/>
              <a:t> translation, but also provide </a:t>
            </a:r>
            <a:r>
              <a:rPr lang="en-US" dirty="0"/>
              <a:t>Trading</a:t>
            </a:r>
            <a:r>
              <a:rPr lang="en-US" baseline="0" dirty="0"/>
              <a:t> Partner Community Management and EDI Process Visibility as well as the other services listed across the bottom of the picture</a:t>
            </a:r>
          </a:p>
          <a:p>
            <a:endParaRPr lang="en-US" baseline="0" dirty="0"/>
          </a:p>
          <a:p>
            <a:r>
              <a:rPr lang="en-US" dirty="0"/>
              <a:t>On monthly basis the BES EDI platform, GSP, currently process’s approximately 60,000 files, 22 million kilo characters and containing about 7.8 million documents per month.  </a:t>
            </a:r>
          </a:p>
          <a:p>
            <a:endParaRPr lang="en-US" dirty="0"/>
          </a:p>
          <a:p>
            <a:r>
              <a:rPr lang="en-US" dirty="0"/>
              <a:t>Examples of pre/post processing - decryption/encryption, xml to csv conversion, unzip &amp; zip of files</a:t>
            </a:r>
          </a:p>
          <a:p>
            <a:endParaRPr lang="en-US" dirty="0"/>
          </a:p>
          <a:p>
            <a:r>
              <a:rPr lang="en-US" dirty="0"/>
              <a:t>GM in 2004 did on average about 83,000 Kilo </a:t>
            </a:r>
            <a:r>
              <a:rPr lang="en-US" baseline="0" dirty="0"/>
              <a:t>characters per month for indirect EDI</a:t>
            </a:r>
          </a:p>
          <a:p>
            <a:r>
              <a:rPr lang="en-US" dirty="0"/>
              <a:t>840	REQUEST FOR QUOTE</a:t>
            </a:r>
          </a:p>
          <a:p>
            <a:r>
              <a:rPr lang="en-US" dirty="0"/>
              <a:t>843	RESPONSE TO REQUEST FOR QUOTE</a:t>
            </a:r>
          </a:p>
          <a:p>
            <a:r>
              <a:rPr lang="en-US" dirty="0"/>
              <a:t>850	PURCHASE ORDER</a:t>
            </a:r>
          </a:p>
          <a:p>
            <a:r>
              <a:rPr lang="en-US" dirty="0"/>
              <a:t>860	PURCHASE ORDER CHANGE REQUEST</a:t>
            </a:r>
          </a:p>
          <a:p>
            <a:r>
              <a:rPr lang="en-US" dirty="0"/>
              <a:t>997	FUNCTIONAL ACKNOWLEDGEMENT</a:t>
            </a:r>
          </a:p>
          <a:p>
            <a:endParaRPr lang="en-US" dirty="0"/>
          </a:p>
          <a:p>
            <a:endParaRPr lang="en-US" dirty="0"/>
          </a:p>
          <a:p>
            <a:r>
              <a:rPr lang="en-US" dirty="0"/>
              <a:t>List of GSP clients (as of January 2018)</a:t>
            </a:r>
          </a:p>
          <a:p>
            <a:r>
              <a:rPr lang="en-US" dirty="0"/>
              <a:t>Avery</a:t>
            </a:r>
          </a:p>
          <a:p>
            <a:r>
              <a:rPr lang="en-US" dirty="0"/>
              <a:t>Convenience Pay (Fiserv)</a:t>
            </a:r>
          </a:p>
          <a:p>
            <a:r>
              <a:rPr lang="en-US" dirty="0"/>
              <a:t>Decor-Rest Furniture</a:t>
            </a:r>
          </a:p>
          <a:p>
            <a:r>
              <a:rPr lang="en-US" dirty="0"/>
              <a:t>Marzilli  International (div. of Decor-Rest)</a:t>
            </a:r>
          </a:p>
          <a:p>
            <a:r>
              <a:rPr lang="en-US" dirty="0"/>
              <a:t>Hitachi </a:t>
            </a:r>
          </a:p>
          <a:p>
            <a:r>
              <a:rPr lang="en-US" dirty="0"/>
              <a:t>INCS      </a:t>
            </a:r>
          </a:p>
          <a:p>
            <a:r>
              <a:rPr lang="en-US" dirty="0"/>
              <a:t>KBR Inc.                </a:t>
            </a:r>
          </a:p>
          <a:p>
            <a:r>
              <a:rPr lang="en-US" dirty="0"/>
              <a:t>McCain Foods    </a:t>
            </a:r>
          </a:p>
          <a:p>
            <a:r>
              <a:rPr lang="en-US" dirty="0"/>
              <a:t>Mitsubishi Motors NA</a:t>
            </a:r>
          </a:p>
          <a:p>
            <a:r>
              <a:rPr lang="en-US" dirty="0"/>
              <a:t>North Star BlueScope Steel</a:t>
            </a:r>
          </a:p>
          <a:p>
            <a:r>
              <a:rPr lang="en-US" dirty="0"/>
              <a:t>Reichhold Chemical</a:t>
            </a:r>
          </a:p>
          <a:p>
            <a:r>
              <a:rPr lang="en-US" dirty="0"/>
              <a:t>Russel Metals</a:t>
            </a:r>
          </a:p>
          <a:p>
            <a:r>
              <a:rPr lang="en-US" dirty="0"/>
              <a:t>Satpanth Capital</a:t>
            </a:r>
          </a:p>
          <a:p>
            <a:r>
              <a:rPr lang="en-US" dirty="0"/>
              <a:t>STI - Specialty Textiles, Inc.</a:t>
            </a:r>
          </a:p>
          <a:p>
            <a:r>
              <a:rPr lang="en-US" dirty="0"/>
              <a:t>Brentwood (div. of STI)</a:t>
            </a:r>
          </a:p>
          <a:p>
            <a:r>
              <a:rPr lang="en-US" dirty="0"/>
              <a:t>Thomas Built Buses</a:t>
            </a:r>
          </a:p>
          <a:p>
            <a:r>
              <a:rPr lang="en-US" dirty="0"/>
              <a:t>TOPS Markets   </a:t>
            </a:r>
          </a:p>
          <a:p>
            <a:r>
              <a:rPr lang="en-US" dirty="0"/>
              <a:t>University of Western Ontario   </a:t>
            </a:r>
          </a:p>
          <a:p>
            <a:r>
              <a:rPr lang="en-US" dirty="0"/>
              <a:t>Vitafoam</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7DE2E8FF-3D0C-9D4D-B4D1-3089215958A5}" type="slidenum">
              <a:rPr lang="en-US" smtClean="0"/>
              <a:pPr/>
              <a:t>11</a:t>
            </a:fld>
            <a:endParaRPr lang="en-US" dirty="0"/>
          </a:p>
        </p:txBody>
      </p:sp>
    </p:spTree>
    <p:extLst>
      <p:ext uri="{BB962C8B-B14F-4D97-AF65-F5344CB8AC3E}">
        <p14:creationId xmlns:p14="http://schemas.microsoft.com/office/powerpoint/2010/main" val="8927206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2913" y="400050"/>
            <a:ext cx="4803775" cy="2701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2A853E8-D85F-5D49-95D2-E1D96ABFE2B9}" type="slidenum">
              <a:rPr lang="en-GB" smtClean="0">
                <a:solidFill>
                  <a:prstClr val="black"/>
                </a:solidFill>
                <a:latin typeface="Calibri"/>
              </a:rPr>
              <a:pPr/>
              <a:t>12</a:t>
            </a:fld>
            <a:endParaRPr lang="en-GB" dirty="0">
              <a:solidFill>
                <a:prstClr val="black"/>
              </a:solidFill>
              <a:latin typeface="Calibri"/>
            </a:endParaRPr>
          </a:p>
        </p:txBody>
      </p:sp>
    </p:spTree>
    <p:extLst>
      <p:ext uri="{BB962C8B-B14F-4D97-AF65-F5344CB8AC3E}">
        <p14:creationId xmlns:p14="http://schemas.microsoft.com/office/powerpoint/2010/main" val="39281038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4294967295"/>
          </p:nvPr>
        </p:nvSpPr>
        <p:spPr bwMode="auto">
          <a:xfrm>
            <a:off x="4518045" y="9734717"/>
            <a:ext cx="3456387" cy="512815"/>
          </a:xfrm>
          <a:prstGeom prst="rect">
            <a:avLst/>
          </a:prstGeom>
          <a:noFill/>
          <a:ln>
            <a:miter lim="800000"/>
            <a:headEnd/>
            <a:tailEnd/>
          </a:ln>
        </p:spPr>
        <p:txBody>
          <a:bodyPr/>
          <a:lstStyle/>
          <a:p>
            <a:fld id="{9B1FD9D4-6CC7-4702-8C46-7F46CD4078E4}" type="slidenum">
              <a:rPr lang="en-US">
                <a:latin typeface="Arial" charset="0"/>
                <a:ea typeface="MS PGothic" pitchFamily="34" charset="-128"/>
              </a:rPr>
              <a:pPr/>
              <a:t>15</a:t>
            </a:fld>
            <a:endParaRPr lang="en-US" dirty="0">
              <a:latin typeface="Arial" charset="0"/>
              <a:ea typeface="MS PGothic" pitchFamily="34" charset="-128"/>
            </a:endParaRPr>
          </a:p>
        </p:txBody>
      </p:sp>
      <p:sp>
        <p:nvSpPr>
          <p:cNvPr id="52226" name="Rectangle 2"/>
          <p:cNvSpPr>
            <a:spLocks noGrp="1" noRot="1" noChangeAspect="1" noChangeArrowheads="1" noTextEdit="1"/>
          </p:cNvSpPr>
          <p:nvPr>
            <p:ph type="sldImg"/>
          </p:nvPr>
        </p:nvSpPr>
        <p:spPr>
          <a:xfrm>
            <a:off x="573088" y="768350"/>
            <a:ext cx="6829425" cy="3841750"/>
          </a:xfrm>
          <a:ln/>
        </p:spPr>
      </p:sp>
      <p:sp>
        <p:nvSpPr>
          <p:cNvPr id="52227" name="Rectangle 3"/>
          <p:cNvSpPr>
            <a:spLocks noGrp="1" noChangeArrowheads="1"/>
          </p:cNvSpPr>
          <p:nvPr>
            <p:ph type="body" idx="1"/>
          </p:nvPr>
        </p:nvSpPr>
        <p:spPr>
          <a:noFill/>
          <a:ln/>
        </p:spPr>
        <p:txBody>
          <a:bodyPr/>
          <a:lstStyle/>
          <a:p>
            <a:endParaRPr lang="en-US" dirty="0">
              <a:latin typeface="Futura Bk"/>
            </a:endParaRPr>
          </a:p>
        </p:txBody>
      </p:sp>
    </p:spTree>
    <p:extLst>
      <p:ext uri="{BB962C8B-B14F-4D97-AF65-F5344CB8AC3E}">
        <p14:creationId xmlns:p14="http://schemas.microsoft.com/office/powerpoint/2010/main" val="1805964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defTabSz="890666">
              <a:defRPr/>
            </a:pPr>
            <a:fld id="{7DE2E8FF-3D0C-9D4D-B4D1-3089215958A5}" type="slidenum">
              <a:rPr lang="en-US" sz="700">
                <a:solidFill>
                  <a:prstClr val="black"/>
                </a:solidFill>
              </a:rPr>
              <a:pPr defTabSz="890666">
                <a:defRPr/>
              </a:pPr>
              <a:t>21</a:t>
            </a:fld>
            <a:endParaRPr lang="en-US" sz="700">
              <a:solidFill>
                <a:prstClr val="black"/>
              </a:solidFill>
            </a:endParaRPr>
          </a:p>
        </p:txBody>
      </p:sp>
    </p:spTree>
    <p:extLst>
      <p:ext uri="{BB962C8B-B14F-4D97-AF65-F5344CB8AC3E}">
        <p14:creationId xmlns:p14="http://schemas.microsoft.com/office/powerpoint/2010/main" val="36817735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2913" y="400050"/>
            <a:ext cx="4803775" cy="2701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712A049-446B-4418-8CC4-3C81EB35E3DE}" type="slidenum">
              <a:rPr lang="de-DE" smtClean="0"/>
              <a:pPr>
                <a:defRPr/>
              </a:pPr>
              <a:t>23</a:t>
            </a:fld>
            <a:endParaRPr lang="de-DE"/>
          </a:p>
        </p:txBody>
      </p:sp>
    </p:spTree>
    <p:extLst>
      <p:ext uri="{BB962C8B-B14F-4D97-AF65-F5344CB8AC3E}">
        <p14:creationId xmlns:p14="http://schemas.microsoft.com/office/powerpoint/2010/main" val="1035646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E2E8FF-3D0C-9D4D-B4D1-3089215958A5}" type="slidenum">
              <a:rPr lang="en-US" smtClean="0"/>
              <a:pPr/>
              <a:t>24</a:t>
            </a:fld>
            <a:endParaRPr lang="en-US" dirty="0"/>
          </a:p>
        </p:txBody>
      </p:sp>
    </p:spTree>
    <p:extLst>
      <p:ext uri="{BB962C8B-B14F-4D97-AF65-F5344CB8AC3E}">
        <p14:creationId xmlns:p14="http://schemas.microsoft.com/office/powerpoint/2010/main" val="4354948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1">
    <p:spTree>
      <p:nvGrpSpPr>
        <p:cNvPr id="1" name=""/>
        <p:cNvGrpSpPr/>
        <p:nvPr/>
      </p:nvGrpSpPr>
      <p:grpSpPr>
        <a:xfrm>
          <a:off x="0" y="0"/>
          <a:ext cx="0" cy="0"/>
          <a:chOff x="0" y="0"/>
          <a:chExt cx="0" cy="0"/>
        </a:xfrm>
      </p:grpSpPr>
      <p:sp>
        <p:nvSpPr>
          <p:cNvPr id="44" name="Rectangle: Single Corner Rounded 43">
            <a:extLst>
              <a:ext uri="{FF2B5EF4-FFF2-40B4-BE49-F238E27FC236}">
                <a16:creationId xmlns:a16="http://schemas.microsoft.com/office/drawing/2014/main" id="{2C9C6690-9226-4F0C-A542-C330AFCC2AF3}"/>
              </a:ext>
            </a:extLst>
          </p:cNvPr>
          <p:cNvSpPr/>
          <p:nvPr userDrawn="1"/>
        </p:nvSpPr>
        <p:spPr>
          <a:xfrm>
            <a:off x="685802" y="2539999"/>
            <a:ext cx="8869678" cy="4996181"/>
          </a:xfrm>
          <a:prstGeom prst="round1Rect">
            <a:avLst>
              <a:gd name="adj" fmla="val 23471"/>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91440" y="-91440"/>
            <a:ext cx="14813280" cy="8412480"/>
            <a:chOff x="-91440" y="-91440"/>
            <a:chExt cx="14813280" cy="8412480"/>
          </a:xfrm>
        </p:grpSpPr>
        <p:cxnSp>
          <p:nvCxnSpPr>
            <p:cNvPr id="10" name="Straight Connector 9"/>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43" name="Title 1">
            <a:extLst>
              <a:ext uri="{FF2B5EF4-FFF2-40B4-BE49-F238E27FC236}">
                <a16:creationId xmlns:a16="http://schemas.microsoft.com/office/drawing/2014/main" id="{32FF021F-9D63-4AEC-B29B-F9D3753BE294}"/>
              </a:ext>
            </a:extLst>
          </p:cNvPr>
          <p:cNvSpPr>
            <a:spLocks noGrp="1"/>
          </p:cNvSpPr>
          <p:nvPr>
            <p:ph type="ctrTitle"/>
          </p:nvPr>
        </p:nvSpPr>
        <p:spPr>
          <a:xfrm>
            <a:off x="1168400" y="3105150"/>
            <a:ext cx="6514123" cy="2256367"/>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45" name="Subtitle 2">
            <a:extLst>
              <a:ext uri="{FF2B5EF4-FFF2-40B4-BE49-F238E27FC236}">
                <a16:creationId xmlns:a16="http://schemas.microsoft.com/office/drawing/2014/main" id="{D9BF61BC-E8BB-4C55-B47E-8C398FC207EC}"/>
              </a:ext>
            </a:extLst>
          </p:cNvPr>
          <p:cNvSpPr>
            <a:spLocks noGrp="1"/>
          </p:cNvSpPr>
          <p:nvPr>
            <p:ph type="subTitle" idx="1"/>
          </p:nvPr>
        </p:nvSpPr>
        <p:spPr>
          <a:xfrm>
            <a:off x="1168401" y="5741670"/>
            <a:ext cx="6514123"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pic>
        <p:nvPicPr>
          <p:cNvPr id="46" name="Graphic 45">
            <a:extLst>
              <a:ext uri="{FF2B5EF4-FFF2-40B4-BE49-F238E27FC236}">
                <a16:creationId xmlns:a16="http://schemas.microsoft.com/office/drawing/2014/main" id="{D07C659E-3F10-46E2-9676-61137FD9384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8975" y="685801"/>
            <a:ext cx="1430092" cy="781050"/>
          </a:xfrm>
          <a:prstGeom prst="rect">
            <a:avLst/>
          </a:prstGeom>
        </p:spPr>
      </p:pic>
      <p:sp>
        <p:nvSpPr>
          <p:cNvPr id="47" name="Footer Placeholder 4">
            <a:extLst>
              <a:ext uri="{FF2B5EF4-FFF2-40B4-BE49-F238E27FC236}">
                <a16:creationId xmlns:a16="http://schemas.microsoft.com/office/drawing/2014/main" id="{DBDF535B-3840-4291-8B0B-E0FCD28F794B}"/>
              </a:ext>
            </a:extLst>
          </p:cNvPr>
          <p:cNvSpPr txBox="1">
            <a:spLocks/>
          </p:cNvSpPr>
          <p:nvPr userDrawn="1"/>
        </p:nvSpPr>
        <p:spPr>
          <a:xfrm>
            <a:off x="685779" y="7688991"/>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dirty="0"/>
              <a:t>© 2023 DXC Technology Company. All rights reserved.</a:t>
            </a:r>
          </a:p>
        </p:txBody>
      </p:sp>
    </p:spTree>
    <p:extLst>
      <p:ext uri="{BB962C8B-B14F-4D97-AF65-F5344CB8AC3E}">
        <p14:creationId xmlns:p14="http://schemas.microsoft.com/office/powerpoint/2010/main" val="287586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85800" y="2057399"/>
            <a:ext cx="13258800" cy="5121276"/>
          </a:xfrm>
        </p:spPr>
        <p:txBody>
          <a:bodyPr numCol="2" spcCol="457200">
            <a:normAutofit/>
          </a:bodyPr>
          <a:lstStyle>
            <a:lvl1pPr marL="457200" indent="-457200">
              <a:spcBef>
                <a:spcPts val="900"/>
              </a:spcBef>
              <a:buFont typeface="+mj-lt"/>
              <a:buAutoNum type="arabicPeriod"/>
              <a:tabLst>
                <a:tab pos="6337300" algn="r"/>
              </a:tabLst>
              <a:defRPr sz="2000"/>
            </a:lvl1pPr>
            <a:lvl2pPr marL="685800" indent="-228600">
              <a:spcBef>
                <a:spcPts val="600"/>
              </a:spcBef>
              <a:buFont typeface="Arial" pitchFamily="34" charset="0"/>
              <a:buChar char="–"/>
              <a:tabLst>
                <a:tab pos="6337300" algn="r"/>
              </a:tabLst>
              <a:defRPr sz="2000"/>
            </a:lvl2pPr>
            <a:lvl3pPr marL="914400" indent="-228600">
              <a:spcBef>
                <a:spcPts val="600"/>
              </a:spcBef>
              <a:buFont typeface="Arial" pitchFamily="34" charset="0"/>
              <a:buChar char="–"/>
              <a:tabLst>
                <a:tab pos="6337300" algn="r"/>
              </a:tabLst>
              <a:defRPr sz="2000"/>
            </a:lvl3pPr>
            <a:lvl4pPr marL="1143000" indent="-228600">
              <a:spcBef>
                <a:spcPts val="600"/>
              </a:spcBef>
              <a:buFont typeface="Arial" pitchFamily="34" charset="0"/>
              <a:buChar char="–"/>
              <a:tabLst>
                <a:tab pos="6337300" algn="r"/>
              </a:tabLst>
              <a:defRPr sz="2000"/>
            </a:lvl4pPr>
            <a:lvl5pPr marL="1371600" indent="-228600">
              <a:spcBef>
                <a:spcPts val="600"/>
              </a:spcBef>
              <a:buFont typeface="Arial" pitchFamily="34" charset="0"/>
              <a:buChar char="–"/>
              <a:tabLst>
                <a:tab pos="6337300" algn="r"/>
              </a:tabLst>
              <a:defRPr sz="2000"/>
            </a:lvl5pPr>
            <a:lvl6pPr marL="1600200" indent="-228600">
              <a:spcBef>
                <a:spcPts val="600"/>
              </a:spcBef>
              <a:buFont typeface="Arial" pitchFamily="34" charset="0"/>
              <a:buChar char="–"/>
              <a:tabLst>
                <a:tab pos="6337300" algn="r"/>
              </a:tabLst>
              <a:defRPr sz="2000" baseline="0"/>
            </a:lvl6pPr>
            <a:lvl7pPr marL="1828800" indent="-228600">
              <a:spcBef>
                <a:spcPts val="600"/>
              </a:spcBef>
              <a:buFont typeface="Arial" pitchFamily="34" charset="0"/>
              <a:buChar char="–"/>
              <a:tabLst>
                <a:tab pos="6337300" algn="r"/>
              </a:tabLst>
              <a:defRPr sz="2000" baseline="0"/>
            </a:lvl7pPr>
            <a:lvl8pPr marL="2057400" indent="-228600">
              <a:spcBef>
                <a:spcPts val="600"/>
              </a:spcBef>
              <a:buFont typeface="Arial" pitchFamily="34" charset="0"/>
              <a:buChar char="–"/>
              <a:tabLst>
                <a:tab pos="6337300" algn="r"/>
              </a:tabLst>
              <a:defRPr sz="2000" baseline="0"/>
            </a:lvl8pPr>
            <a:lvl9pPr marL="2286000" indent="-228600">
              <a:spcBef>
                <a:spcPts val="600"/>
              </a:spcBef>
              <a:buFont typeface="Arial" pitchFamily="34" charset="0"/>
              <a:buChar char="–"/>
              <a:tabLst>
                <a:tab pos="6337300" algn="r"/>
              </a:tabLst>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82854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4962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w/Callout">
    <p:spTree>
      <p:nvGrpSpPr>
        <p:cNvPr id="1" name=""/>
        <p:cNvGrpSpPr/>
        <p:nvPr/>
      </p:nvGrpSpPr>
      <p:grpSpPr>
        <a:xfrm>
          <a:off x="0" y="0"/>
          <a:ext cx="0" cy="0"/>
          <a:chOff x="0" y="0"/>
          <a:chExt cx="0" cy="0"/>
        </a:xfrm>
      </p:grpSpPr>
      <p:sp>
        <p:nvSpPr>
          <p:cNvPr id="2" name="Title 1"/>
          <p:cNvSpPr>
            <a:spLocks noGrp="1"/>
          </p:cNvSpPr>
          <p:nvPr>
            <p:ph type="title"/>
          </p:nvPr>
        </p:nvSpPr>
        <p:spPr>
          <a:xfrm>
            <a:off x="685799" y="639763"/>
            <a:ext cx="10660075" cy="1417635"/>
          </a:xfrm>
        </p:spPr>
        <p:txBody>
          <a:bodyPr/>
          <a:lstStyle/>
          <a:p>
            <a:r>
              <a:rPr lang="en-US"/>
              <a:t>Click to edit Master title style</a:t>
            </a:r>
          </a:p>
        </p:txBody>
      </p:sp>
      <p:sp>
        <p:nvSpPr>
          <p:cNvPr id="3" name="Content Placeholder 2"/>
          <p:cNvSpPr>
            <a:spLocks noGrp="1"/>
          </p:cNvSpPr>
          <p:nvPr>
            <p:ph idx="1"/>
          </p:nvPr>
        </p:nvSpPr>
        <p:spPr/>
        <p:txBody>
          <a:bodyPr/>
          <a:lstStyle>
            <a:lvl4pPr marL="457200" indent="-228600">
              <a:buFont typeface="Arial" pitchFamily="34" charset="0"/>
              <a:buChar char="–"/>
              <a:defRPr/>
            </a:lvl4pPr>
            <a:lvl5pPr marL="685800" indent="-228600">
              <a:buFont typeface="Arial" pitchFamily="34" charset="0"/>
              <a:buChar char="–"/>
              <a:defRPr/>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Single Corner Rounded 3">
            <a:extLst>
              <a:ext uri="{FF2B5EF4-FFF2-40B4-BE49-F238E27FC236}">
                <a16:creationId xmlns:a16="http://schemas.microsoft.com/office/drawing/2014/main" id="{91994B2C-2165-46A4-99A0-7921C65A1197}"/>
              </a:ext>
            </a:extLst>
          </p:cNvPr>
          <p:cNvSpPr/>
          <p:nvPr userDrawn="1"/>
        </p:nvSpPr>
        <p:spPr>
          <a:xfrm rot="10800000">
            <a:off x="11477625" y="-3"/>
            <a:ext cx="3152768" cy="776048"/>
          </a:xfrm>
          <a:prstGeom prst="round1Rect">
            <a:avLst>
              <a:gd name="adj" fmla="val 39716"/>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2">
            <a:extLst>
              <a:ext uri="{FF2B5EF4-FFF2-40B4-BE49-F238E27FC236}">
                <a16:creationId xmlns:a16="http://schemas.microsoft.com/office/drawing/2014/main" id="{A72A6A47-BB63-437D-9497-6B68158905D8}"/>
              </a:ext>
            </a:extLst>
          </p:cNvPr>
          <p:cNvSpPr>
            <a:spLocks noGrp="1"/>
          </p:cNvSpPr>
          <p:nvPr>
            <p:ph idx="10" hasCustomPrompt="1"/>
          </p:nvPr>
        </p:nvSpPr>
        <p:spPr>
          <a:xfrm>
            <a:off x="11715750" y="1"/>
            <a:ext cx="2601384" cy="776046"/>
          </a:xfrm>
        </p:spPr>
        <p:txBody>
          <a:bodyPr anchor="ctr" anchorCtr="0">
            <a:normAutofit/>
          </a:bodyPr>
          <a:lstStyle>
            <a:lvl1pPr algn="ctr">
              <a:defRPr sz="1600">
                <a:solidFill>
                  <a:schemeClr val="bg1"/>
                </a:solidFill>
              </a:defRPr>
            </a:lvl1pPr>
            <a:lvl2pPr>
              <a:defRPr sz="1400"/>
            </a:lvl2pPr>
            <a:lvl3pPr>
              <a:defRPr sz="1400"/>
            </a:lvl3pPr>
            <a:lvl4pPr marL="457200" indent="-228600">
              <a:buFont typeface="Arial" pitchFamily="34" charset="0"/>
              <a:buChar char="–"/>
              <a:defRPr sz="1400"/>
            </a:lvl4pPr>
            <a:lvl5pPr marL="685800" indent="-228600">
              <a:buFont typeface="Arial" pitchFamily="34" charset="0"/>
              <a:buChar char="–"/>
              <a:defRPr sz="1400"/>
            </a:lvl5pPr>
            <a:lvl6pPr marL="914400" indent="-228600">
              <a:buFont typeface="Arial" pitchFamily="34" charset="0"/>
              <a:buChar char="–"/>
              <a:defRPr baseline="0"/>
            </a:lvl6pPr>
            <a:lvl7pPr marL="1143000" indent="-228600">
              <a:buFont typeface="Arial" pitchFamily="34" charset="0"/>
              <a:buChar char="–"/>
              <a:defRPr baseline="0"/>
            </a:lvl7pPr>
            <a:lvl8pPr marL="1371600" indent="-228600">
              <a:buFont typeface="Arial" pitchFamily="34" charset="0"/>
              <a:buChar char="–"/>
              <a:defRPr baseline="0"/>
            </a:lvl8pPr>
            <a:lvl9pPr marL="1600200" indent="-228600">
              <a:buFont typeface="Arial" pitchFamily="34" charset="0"/>
              <a:buChar char="–"/>
              <a:defRPr baseline="0"/>
            </a:lvl9pPr>
          </a:lstStyle>
          <a:p>
            <a:pPr lvl="0"/>
            <a:r>
              <a:rPr lang="en-US" dirty="0"/>
              <a:t>Click to edit Master </a:t>
            </a:r>
            <a:br>
              <a:rPr lang="en-US" dirty="0"/>
            </a:br>
            <a:r>
              <a:rPr lang="en-US" dirty="0"/>
              <a:t>text styles</a:t>
            </a:r>
          </a:p>
        </p:txBody>
      </p:sp>
    </p:spTree>
    <p:extLst>
      <p:ext uri="{BB962C8B-B14F-4D97-AF65-F5344CB8AC3E}">
        <p14:creationId xmlns:p14="http://schemas.microsoft.com/office/powerpoint/2010/main" val="1556754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28600" indent="-228600">
              <a:buFont typeface="Arial" pitchFamily="34" charset="0"/>
              <a:buChar char="•"/>
              <a:defRPr b="0"/>
            </a:lvl1pPr>
            <a:lvl2pPr marL="457200" indent="-228600">
              <a:spcBef>
                <a:spcPts val="600"/>
              </a:spcBef>
              <a:buFont typeface="Arial" pitchFamily="34" charset="0"/>
              <a:buChar char="–"/>
              <a:defRPr b="0"/>
            </a:lvl2pPr>
            <a:lvl3pPr marL="685800" indent="-228600">
              <a:spcBef>
                <a:spcPts val="600"/>
              </a:spcBef>
              <a:buFont typeface="Arial" pitchFamily="34" charset="0"/>
              <a:buChar char="–"/>
              <a:defRPr b="0"/>
            </a:lvl3pPr>
            <a:lvl4pPr marL="914400" indent="-228600">
              <a:spcBef>
                <a:spcPts val="600"/>
              </a:spcBef>
              <a:buFont typeface="Arial" pitchFamily="34" charset="0"/>
              <a:buChar char="–"/>
              <a:defRPr b="0"/>
            </a:lvl4pPr>
            <a:lvl5pPr marL="1143000" indent="-228600">
              <a:spcBef>
                <a:spcPts val="600"/>
              </a:spcBef>
              <a:buFont typeface="Arial" pitchFamily="34" charset="0"/>
              <a:buChar char="–"/>
              <a:defRPr b="0"/>
            </a:lvl5pPr>
            <a:lvl6pPr marL="1371600" indent="-228600">
              <a:spcBef>
                <a:spcPts val="600"/>
              </a:spcBef>
              <a:buFont typeface="Arial" pitchFamily="34" charset="0"/>
              <a:buChar char="–"/>
              <a:defRPr baseline="0"/>
            </a:lvl6pPr>
            <a:lvl7pPr marL="1600200" indent="-228600">
              <a:spcBef>
                <a:spcPts val="600"/>
              </a:spcBef>
              <a:buFont typeface="Arial" pitchFamily="34" charset="0"/>
              <a:buChar char="–"/>
              <a:defRPr baseline="0"/>
            </a:lvl7pPr>
            <a:lvl8pPr marL="1828800" indent="-228600">
              <a:spcBef>
                <a:spcPts val="600"/>
              </a:spcBef>
              <a:buFont typeface="Arial" pitchFamily="34" charset="0"/>
              <a:buChar char="–"/>
              <a:defRPr baseline="0"/>
            </a:lvl8pPr>
            <a:lvl9pPr marL="2057400" indent="-228600">
              <a:spcBef>
                <a:spcPts val="600"/>
              </a:spcBef>
              <a:buFont typeface="Arial" pitchFamily="34" charset="0"/>
              <a:buChar cha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6400800" cy="5121276"/>
          </a:xfrm>
          <a:noFill/>
        </p:spPr>
        <p:txBody>
          <a:bodyPr>
            <a:normAutofit/>
          </a:bodyPr>
          <a:lstStyle>
            <a:lvl1pPr>
              <a:defRPr sz="2000"/>
            </a:lvl1pPr>
            <a:lvl2pPr>
              <a:defRPr sz="2000"/>
            </a:lvl2pPr>
            <a:lvl3pPr>
              <a:defRPr sz="2000"/>
            </a:lvl3pPr>
            <a:lvl4pPr marL="457200" indent="-228600">
              <a:buFont typeface="Arial" pitchFamily="34" charset="0"/>
              <a:buChar char="–"/>
              <a:defRPr sz="2000"/>
            </a:lvl4pPr>
            <a:lvl5pPr marL="685800" indent="-228600">
              <a:buFont typeface="Arial" pitchFamily="34" charset="0"/>
              <a:buChar char="–"/>
              <a:defRPr sz="2000"/>
            </a:lvl5pPr>
            <a:lvl6pPr marL="914400" indent="-228600">
              <a:buFont typeface="Arial" pitchFamily="34" charset="0"/>
              <a:buChar char="–"/>
              <a:defRPr sz="2000" baseline="0"/>
            </a:lvl6pPr>
            <a:lvl7pPr marL="1143000" indent="-228600">
              <a:buFont typeface="Arial" pitchFamily="34" charset="0"/>
              <a:buChar char="–"/>
              <a:defRPr sz="2000" baseline="0"/>
            </a:lvl7pPr>
            <a:lvl8pPr marL="1371600" indent="-228600">
              <a:buFont typeface="Arial" pitchFamily="34" charset="0"/>
              <a:buChar char="–"/>
              <a:defRPr sz="2000" baseline="0"/>
            </a:lvl8pPr>
            <a:lvl9pPr marL="1600200" indent="-228600">
              <a:buFont typeface="Arial" pitchFamily="34" charset="0"/>
              <a:buChar cha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43800" y="2057398"/>
            <a:ext cx="6400800" cy="5121274"/>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183453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85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57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p:cNvSpPr>
            <a:spLocks noGrp="1"/>
          </p:cNvSpPr>
          <p:nvPr>
            <p:ph sz="half" idx="13"/>
          </p:nvPr>
        </p:nvSpPr>
        <p:spPr>
          <a:xfrm>
            <a:off x="9829800" y="2057399"/>
            <a:ext cx="4114800" cy="5121276"/>
          </a:xfrm>
        </p:spPr>
        <p:txBody>
          <a:bodyPr>
            <a:normAutofit/>
          </a:bodyPr>
          <a:lstStyle>
            <a:lvl1pPr>
              <a:defRPr sz="2000"/>
            </a:lvl1pPr>
            <a:lvl2pPr>
              <a:defRPr sz="2000"/>
            </a:lvl2pPr>
            <a:lvl3pPr>
              <a:defRPr sz="2000"/>
            </a:lvl3pPr>
            <a:lvl4pPr>
              <a:defRPr sz="2000"/>
            </a:lvl4pPr>
            <a:lvl5pPr>
              <a:defRPr sz="2000"/>
            </a:lvl5pPr>
            <a:lvl6pPr>
              <a:defRPr sz="2000" baseline="0"/>
            </a:lvl6pPr>
            <a:lvl7pPr>
              <a:defRPr sz="2000" baseline="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4742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grpSp>
        <p:nvGrpSpPr>
          <p:cNvPr id="13" name="Group 12"/>
          <p:cNvGrpSpPr/>
          <p:nvPr userDrawn="1"/>
        </p:nvGrpSpPr>
        <p:grpSpPr>
          <a:xfrm>
            <a:off x="-91440" y="-91440"/>
            <a:ext cx="14813280" cy="8412480"/>
            <a:chOff x="-91440" y="-91440"/>
            <a:chExt cx="14813280" cy="8412480"/>
          </a:xfrm>
        </p:grpSpPr>
        <p:cxnSp>
          <p:nvCxnSpPr>
            <p:cNvPr id="14" name="Straight Connector 13"/>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9" name="Picture Placeholder 8"/>
          <p:cNvSpPr>
            <a:spLocks noGrp="1"/>
          </p:cNvSpPr>
          <p:nvPr>
            <p:ph type="pic" sz="quarter" idx="13"/>
          </p:nvPr>
        </p:nvSpPr>
        <p:spPr>
          <a:xfrm>
            <a:off x="7315200" y="0"/>
            <a:ext cx="7315200" cy="8229600"/>
          </a:xfrm>
          <a:solidFill>
            <a:schemeClr val="bg1">
              <a:lumMod val="85000"/>
            </a:schemeClr>
          </a:solidFill>
        </p:spPr>
        <p:txBody>
          <a:bodyPr anchor="ctr" anchorCtr="0">
            <a:normAutofit/>
          </a:bodyPr>
          <a:lstStyle>
            <a:lvl1pPr algn="ctr">
              <a:defRPr sz="1600" b="0"/>
            </a:lvl1pPr>
          </a:lstStyle>
          <a:p>
            <a:r>
              <a:rPr lang="en-US"/>
              <a:t>Click icon to add picture</a:t>
            </a:r>
            <a:endParaRPr lang="en-US" dirty="0"/>
          </a:p>
        </p:txBody>
      </p:sp>
      <p:sp>
        <p:nvSpPr>
          <p:cNvPr id="4" name="Title 3"/>
          <p:cNvSpPr>
            <a:spLocks noGrp="1"/>
          </p:cNvSpPr>
          <p:nvPr>
            <p:ph type="title"/>
          </p:nvPr>
        </p:nvSpPr>
        <p:spPr>
          <a:xfrm>
            <a:off x="685800" y="639763"/>
            <a:ext cx="6400800" cy="1417635"/>
          </a:xfrm>
        </p:spPr>
        <p:txBody>
          <a:bodyPr/>
          <a:lstStyle/>
          <a:p>
            <a:r>
              <a:rPr lang="en-US"/>
              <a:t>Click to edit Master title style</a:t>
            </a:r>
            <a:endParaRPr lang="en-US" dirty="0"/>
          </a:p>
        </p:txBody>
      </p:sp>
      <p:sp>
        <p:nvSpPr>
          <p:cNvPr id="10"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tx1"/>
                </a:solidFill>
              </a:rPr>
              <a:pPr algn="r" defTabSz="820738">
                <a:spcBef>
                  <a:spcPct val="50000"/>
                </a:spcBef>
              </a:pPr>
              <a:t>August 9, 2023</a:t>
            </a:fld>
            <a:endParaRPr lang="en-US" sz="1100" b="0" dirty="0">
              <a:solidFill>
                <a:schemeClr val="tx1"/>
              </a:solidFill>
            </a:endParaRPr>
          </a:p>
        </p:txBody>
      </p:sp>
      <p:sp>
        <p:nvSpPr>
          <p:cNvPr id="1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tx1"/>
                </a:solidFill>
              </a:rPr>
              <a:pPr/>
              <a:t>‹#›</a:t>
            </a:fld>
            <a:endParaRPr lang="en-US" sz="1100" b="1" dirty="0">
              <a:solidFill>
                <a:schemeClr val="tx1"/>
              </a:solidFill>
            </a:endParaRPr>
          </a:p>
        </p:txBody>
      </p:sp>
      <p:sp>
        <p:nvSpPr>
          <p:cNvPr id="12" name="Footer Placeholder 4"/>
          <p:cNvSpPr txBox="1">
            <a:spLocks/>
          </p:cNvSpPr>
          <p:nvPr userDrawn="1"/>
        </p:nvSpPr>
        <p:spPr>
          <a:xfrm>
            <a:off x="2971800" y="7580439"/>
            <a:ext cx="41148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100" dirty="0"/>
              <a:t>© 2023 DXC Technology Company. All rights reserved.</a:t>
            </a:r>
          </a:p>
        </p:txBody>
      </p:sp>
      <p:sp>
        <p:nvSpPr>
          <p:cNvPr id="3" name="Content Placeholder 2"/>
          <p:cNvSpPr>
            <a:spLocks noGrp="1"/>
          </p:cNvSpPr>
          <p:nvPr>
            <p:ph sz="quarter" idx="14"/>
          </p:nvPr>
        </p:nvSpPr>
        <p:spPr>
          <a:xfrm>
            <a:off x="685800" y="2057398"/>
            <a:ext cx="6400800" cy="5121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4" name="Graphic 43">
            <a:extLst>
              <a:ext uri="{FF2B5EF4-FFF2-40B4-BE49-F238E27FC236}">
                <a16:creationId xmlns:a16="http://schemas.microsoft.com/office/drawing/2014/main" id="{C091593C-4446-42A7-AA75-762280E3CD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80437"/>
            <a:ext cx="2286000" cy="259238"/>
          </a:xfrm>
          <a:prstGeom prst="rect">
            <a:avLst/>
          </a:prstGeom>
        </p:spPr>
      </p:pic>
    </p:spTree>
    <p:extLst>
      <p:ext uri="{BB962C8B-B14F-4D97-AF65-F5344CB8AC3E}">
        <p14:creationId xmlns:p14="http://schemas.microsoft.com/office/powerpoint/2010/main" val="1015786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685800" y="2057399"/>
            <a:ext cx="11201400" cy="5121275"/>
          </a:xfrm>
        </p:spPr>
        <p:txBody>
          <a:bodyPr/>
          <a:lstStyle>
            <a:lvl1pPr>
              <a:lnSpc>
                <a:spcPct val="85000"/>
              </a:lnSpc>
              <a:spcBef>
                <a:spcPts val="0"/>
              </a:spcBef>
              <a:defRPr sz="5400">
                <a:solidFill>
                  <a:schemeClr val="accent1"/>
                </a:solidFill>
              </a:defRPr>
            </a:lvl1pPr>
            <a:lvl2pPr marL="0" indent="0">
              <a:spcBef>
                <a:spcPts val="900"/>
              </a:spcBef>
              <a:buFontTx/>
              <a:buNone/>
              <a:defRPr/>
            </a:lvl2pPr>
            <a:lvl3pPr marL="0" indent="0">
              <a:spcBef>
                <a:spcPts val="900"/>
              </a:spcBef>
              <a:buFontTx/>
              <a:buNone/>
              <a:defRPr/>
            </a:lvl3pPr>
            <a:lvl4pPr marL="0" indent="0">
              <a:spcBef>
                <a:spcPts val="900"/>
              </a:spcBef>
              <a:buFontTx/>
              <a:buNone/>
              <a:defRPr/>
            </a:lvl4pPr>
            <a:lvl5pPr marL="0" indent="0">
              <a:spcBef>
                <a:spcPts val="900"/>
              </a:spcBef>
              <a:buFontTx/>
              <a:buNone/>
              <a:defRPr/>
            </a:lvl5pPr>
            <a:lvl6pPr marL="0" indent="0">
              <a:spcBef>
                <a:spcPts val="900"/>
              </a:spcBef>
              <a:buFontTx/>
              <a:buNone/>
              <a:defRPr baseline="0"/>
            </a:lvl6pPr>
            <a:lvl7pPr marL="0" indent="0">
              <a:spcBef>
                <a:spcPts val="900"/>
              </a:spcBef>
              <a:buFontTx/>
              <a:buNone/>
              <a:defRPr baseline="0"/>
            </a:lvl7pPr>
            <a:lvl8pPr marL="0" indent="0">
              <a:spcBef>
                <a:spcPts val="900"/>
              </a:spcBef>
              <a:buFontTx/>
              <a:buNone/>
              <a:defRPr baseline="0"/>
            </a:lvl8pPr>
            <a:lvl9pPr marL="0" indent="0">
              <a:spcBef>
                <a:spcPts val="900"/>
              </a:spcBef>
              <a:buFontTx/>
              <a:buNone/>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August 9, 2023</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sp>
        <p:nvSpPr>
          <p:cNvPr id="17" name="Footer Placeholder 4"/>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2023 DXC Technology Company. All rights reserved.</a:t>
            </a:r>
          </a:p>
        </p:txBody>
      </p:sp>
      <p:pic>
        <p:nvPicPr>
          <p:cNvPr id="45" name="Graphic 44">
            <a:extLst>
              <a:ext uri="{FF2B5EF4-FFF2-40B4-BE49-F238E27FC236}">
                <a16:creationId xmlns:a16="http://schemas.microsoft.com/office/drawing/2014/main" id="{DE47D048-F78A-4D25-83CC-A1FB3F93E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46" name="Text Box 115">
            <a:extLst>
              <a:ext uri="{FF2B5EF4-FFF2-40B4-BE49-F238E27FC236}">
                <a16:creationId xmlns:a16="http://schemas.microsoft.com/office/drawing/2014/main" id="{BAAC8F77-03DC-4B54-ABD4-487A7142E16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August 9, 2023</a:t>
            </a:fld>
            <a:endParaRPr lang="en-US" sz="1100" b="0" dirty="0">
              <a:solidFill>
                <a:schemeClr val="tx1"/>
              </a:solidFill>
            </a:endParaRPr>
          </a:p>
        </p:txBody>
      </p:sp>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sp>
        <p:nvSpPr>
          <p:cNvPr id="50" name="Footer Placeholder 4">
            <a:extLst>
              <a:ext uri="{FF2B5EF4-FFF2-40B4-BE49-F238E27FC236}">
                <a16:creationId xmlns:a16="http://schemas.microsoft.com/office/drawing/2014/main" id="{0C203C4F-2B7A-44AE-9CC5-974D0684C5F6}"/>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2023 DXC Technology Company. All rights reserved.</a:t>
            </a: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
        <p:nvSpPr>
          <p:cNvPr id="56" name="Rectangle: Single Corner Rounded 55">
            <a:extLst>
              <a:ext uri="{FF2B5EF4-FFF2-40B4-BE49-F238E27FC236}">
                <a16:creationId xmlns:a16="http://schemas.microsoft.com/office/drawing/2014/main" id="{106C60A4-E521-4756-B4C4-7D4CE00E4F0A}"/>
              </a:ext>
            </a:extLst>
          </p:cNvPr>
          <p:cNvSpPr/>
          <p:nvPr userDrawn="1"/>
        </p:nvSpPr>
        <p:spPr>
          <a:xfrm>
            <a:off x="695325" y="2057398"/>
            <a:ext cx="11201400" cy="3200400"/>
          </a:xfrm>
          <a:prstGeom prst="round1Rect">
            <a:avLst>
              <a:gd name="adj" fmla="val 24915"/>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1168400" y="2057400"/>
            <a:ext cx="9931400" cy="3200400"/>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1168400" y="5686106"/>
            <a:ext cx="99313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28903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52" name="Rectangle: Single Corner Rounded 51">
            <a:extLst>
              <a:ext uri="{FF2B5EF4-FFF2-40B4-BE49-F238E27FC236}">
                <a16:creationId xmlns:a16="http://schemas.microsoft.com/office/drawing/2014/main" id="{16D803CF-5C46-4998-BEA0-760D4BDFAA5E}"/>
              </a:ext>
            </a:extLst>
          </p:cNvPr>
          <p:cNvSpPr/>
          <p:nvPr userDrawn="1"/>
        </p:nvSpPr>
        <p:spPr>
          <a:xfrm>
            <a:off x="685800" y="639764"/>
            <a:ext cx="8314499" cy="6538910"/>
          </a:xfrm>
          <a:prstGeom prst="round1Rect">
            <a:avLst>
              <a:gd name="adj" fmla="val 17070"/>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itle 1">
            <a:extLst>
              <a:ext uri="{FF2B5EF4-FFF2-40B4-BE49-F238E27FC236}">
                <a16:creationId xmlns:a16="http://schemas.microsoft.com/office/drawing/2014/main" id="{B8034992-7FB5-4D10-85B6-A1E0AA858F19}"/>
              </a:ext>
            </a:extLst>
          </p:cNvPr>
          <p:cNvSpPr>
            <a:spLocks noGrp="1"/>
          </p:cNvSpPr>
          <p:nvPr>
            <p:ph type="ctrTitle"/>
          </p:nvPr>
        </p:nvSpPr>
        <p:spPr>
          <a:xfrm>
            <a:off x="1214985" y="2117489"/>
            <a:ext cx="7217229" cy="2545080"/>
          </a:xfrm>
        </p:spPr>
        <p:txBody>
          <a:bodyPr anchor="ctr" anchorCtr="0">
            <a:noAutofit/>
          </a:bodyPr>
          <a:lstStyle>
            <a:lvl1pPr>
              <a:defRPr sz="5400">
                <a:solidFill>
                  <a:schemeClr val="bg1"/>
                </a:solidFill>
              </a:defRPr>
            </a:lvl1pPr>
          </a:lstStyle>
          <a:p>
            <a:r>
              <a:rPr lang="en-US"/>
              <a:t>Click to edit Master title style</a:t>
            </a:r>
            <a:endParaRPr lang="en-US" dirty="0"/>
          </a:p>
        </p:txBody>
      </p:sp>
      <p:sp>
        <p:nvSpPr>
          <p:cNvPr id="49" name="Subtitle 2">
            <a:extLst>
              <a:ext uri="{FF2B5EF4-FFF2-40B4-BE49-F238E27FC236}">
                <a16:creationId xmlns:a16="http://schemas.microsoft.com/office/drawing/2014/main" id="{95862D04-C327-4882-82FB-72E8CCD130B4}"/>
              </a:ext>
            </a:extLst>
          </p:cNvPr>
          <p:cNvSpPr>
            <a:spLocks noGrp="1"/>
          </p:cNvSpPr>
          <p:nvPr>
            <p:ph type="subTitle" idx="1"/>
          </p:nvPr>
        </p:nvSpPr>
        <p:spPr>
          <a:xfrm>
            <a:off x="1214985" y="4830209"/>
            <a:ext cx="7217229" cy="914400"/>
          </a:xfrm>
        </p:spPr>
        <p:txBody>
          <a:bodyPr>
            <a:noAutofit/>
          </a:bodyPr>
          <a:lstStyle>
            <a:lvl1pPr marL="0" indent="0" algn="l">
              <a:spcBef>
                <a:spcPts val="0"/>
              </a:spcBef>
              <a:buNone/>
              <a:defRPr sz="2800">
                <a:solidFill>
                  <a:schemeClr val="bg1"/>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
        <p:nvSpPr>
          <p:cNvPr id="46" name="Text Box 115">
            <a:extLst>
              <a:ext uri="{FF2B5EF4-FFF2-40B4-BE49-F238E27FC236}">
                <a16:creationId xmlns:a16="http://schemas.microsoft.com/office/drawing/2014/main" id="{B7410DDF-33B2-4E49-9D88-0AEC09F35B06}"/>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August 9, 2023</a:t>
            </a:fld>
            <a:endParaRPr lang="en-US" sz="1100" b="0" dirty="0">
              <a:solidFill>
                <a:schemeClr val="bg1"/>
              </a:solidFill>
            </a:endParaRPr>
          </a:p>
        </p:txBody>
      </p:sp>
      <p:sp>
        <p:nvSpPr>
          <p:cNvPr id="50" name="Text Box 115">
            <a:extLst>
              <a:ext uri="{FF2B5EF4-FFF2-40B4-BE49-F238E27FC236}">
                <a16:creationId xmlns:a16="http://schemas.microsoft.com/office/drawing/2014/main" id="{56CCFE87-E52F-4030-93DB-4F8A10CB8AFE}"/>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sp>
        <p:nvSpPr>
          <p:cNvPr id="51" name="Footer Placeholder 4">
            <a:extLst>
              <a:ext uri="{FF2B5EF4-FFF2-40B4-BE49-F238E27FC236}">
                <a16:creationId xmlns:a16="http://schemas.microsoft.com/office/drawing/2014/main" id="{4A9D77DB-7015-4991-83C8-36A24B782AF8}"/>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2023 DXC Technology Company. All rights reserved.</a:t>
            </a:r>
          </a:p>
        </p:txBody>
      </p:sp>
      <p:pic>
        <p:nvPicPr>
          <p:cNvPr id="53" name="Graphic 52">
            <a:extLst>
              <a:ext uri="{FF2B5EF4-FFF2-40B4-BE49-F238E27FC236}">
                <a16:creationId xmlns:a16="http://schemas.microsoft.com/office/drawing/2014/main" id="{082CA323-F067-4A36-86B4-C9C89385A40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61481"/>
            <a:ext cx="2468880" cy="279976"/>
          </a:xfrm>
          <a:prstGeom prst="rect">
            <a:avLst/>
          </a:prstGeom>
        </p:spPr>
      </p:pic>
      <p:sp>
        <p:nvSpPr>
          <p:cNvPr id="54" name="Text Box 115">
            <a:extLst>
              <a:ext uri="{FF2B5EF4-FFF2-40B4-BE49-F238E27FC236}">
                <a16:creationId xmlns:a16="http://schemas.microsoft.com/office/drawing/2014/main" id="{7AE31F7D-644F-46E4-8808-DC117CACC5F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August 9, 2023</a:t>
            </a:fld>
            <a:endParaRPr lang="en-US" sz="1100" b="0" dirty="0">
              <a:solidFill>
                <a:schemeClr val="tx1"/>
              </a:solidFill>
            </a:endParaRPr>
          </a:p>
        </p:txBody>
      </p:sp>
      <p:sp>
        <p:nvSpPr>
          <p:cNvPr id="55" name="Text Box 115">
            <a:extLst>
              <a:ext uri="{FF2B5EF4-FFF2-40B4-BE49-F238E27FC236}">
                <a16:creationId xmlns:a16="http://schemas.microsoft.com/office/drawing/2014/main" id="{95D42EA8-C373-4F2E-A7AA-89495E86AEA6}"/>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sp>
        <p:nvSpPr>
          <p:cNvPr id="56" name="Footer Placeholder 4">
            <a:extLst>
              <a:ext uri="{FF2B5EF4-FFF2-40B4-BE49-F238E27FC236}">
                <a16:creationId xmlns:a16="http://schemas.microsoft.com/office/drawing/2014/main" id="{3C5384D2-BCF3-4CDD-90BA-C6DDDAC0C3E0}"/>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2023 DXC Technology Company. All rights reserved.</a:t>
            </a:r>
          </a:p>
        </p:txBody>
      </p:sp>
      <p:pic>
        <p:nvPicPr>
          <p:cNvPr id="57" name="Graphic 56">
            <a:extLst>
              <a:ext uri="{FF2B5EF4-FFF2-40B4-BE49-F238E27FC236}">
                <a16:creationId xmlns:a16="http://schemas.microsoft.com/office/drawing/2014/main" id="{329D370C-B3C9-49CC-A16E-95762D2349B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85800" y="7580437"/>
            <a:ext cx="2286000" cy="259238"/>
          </a:xfrm>
          <a:prstGeom prst="rect">
            <a:avLst/>
          </a:prstGeom>
        </p:spPr>
      </p:pic>
    </p:spTree>
    <p:extLst>
      <p:ext uri="{BB962C8B-B14F-4D97-AF65-F5344CB8AC3E}">
        <p14:creationId xmlns:p14="http://schemas.microsoft.com/office/powerpoint/2010/main" val="266207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3">
    <p:bg>
      <p:bgPr>
        <a:solidFill>
          <a:schemeClr val="bg1"/>
        </a:solidFill>
        <a:effectLst/>
      </p:bgPr>
    </p:bg>
    <p:spTree>
      <p:nvGrpSpPr>
        <p:cNvPr id="1" name=""/>
        <p:cNvGrpSpPr/>
        <p:nvPr/>
      </p:nvGrpSpPr>
      <p:grpSpPr>
        <a:xfrm>
          <a:off x="0" y="0"/>
          <a:ext cx="0" cy="0"/>
          <a:chOff x="0" y="0"/>
          <a:chExt cx="0" cy="0"/>
        </a:xfrm>
      </p:grpSpPr>
      <p:pic>
        <p:nvPicPr>
          <p:cNvPr id="48" name="Picture 47" descr="Graphical user interface, text&#10;&#10;Description automatically generated">
            <a:extLst>
              <a:ext uri="{FF2B5EF4-FFF2-40B4-BE49-F238E27FC236}">
                <a16:creationId xmlns:a16="http://schemas.microsoft.com/office/drawing/2014/main" id="{5C3022F4-EDBC-447F-B1B1-AB6CCCF7DFB2}"/>
              </a:ext>
            </a:extLst>
          </p:cNvPr>
          <p:cNvPicPr>
            <a:picLocks noChangeAspect="1"/>
          </p:cNvPicPr>
          <p:nvPr userDrawn="1"/>
        </p:nvPicPr>
        <p:blipFill>
          <a:blip r:embed="rId2"/>
          <a:stretch>
            <a:fillRect/>
          </a:stretch>
        </p:blipFill>
        <p:spPr>
          <a:xfrm>
            <a:off x="2369" y="0"/>
            <a:ext cx="14625662" cy="8229600"/>
          </a:xfrm>
          <a:prstGeom prst="rect">
            <a:avLst/>
          </a:prstGeom>
        </p:spPr>
      </p:pic>
      <p:grpSp>
        <p:nvGrpSpPr>
          <p:cNvPr id="12" name="Group 11"/>
          <p:cNvGrpSpPr/>
          <p:nvPr userDrawn="1"/>
        </p:nvGrpSpPr>
        <p:grpSpPr>
          <a:xfrm>
            <a:off x="-91440" y="-91440"/>
            <a:ext cx="14813280" cy="8412480"/>
            <a:chOff x="-91440" y="-91440"/>
            <a:chExt cx="14813280" cy="8412480"/>
          </a:xfrm>
        </p:grpSpPr>
        <p:cxnSp>
          <p:nvCxnSpPr>
            <p:cNvPr id="13" name="Straight Connector 12"/>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August 9, 2023</a:t>
            </a:fld>
            <a:endParaRPr lang="en-US" sz="1100" b="0" dirty="0">
              <a:solidFill>
                <a:schemeClr val="bg1"/>
              </a:solidFill>
            </a:endParaRPr>
          </a:p>
        </p:txBody>
      </p:sp>
      <p:sp>
        <p:nvSpPr>
          <p:cNvPr id="16"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sp>
        <p:nvSpPr>
          <p:cNvPr id="17" name="Footer Placeholder 4"/>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2023 DXC Technology Company. All rights reserved.</a:t>
            </a:r>
          </a:p>
        </p:txBody>
      </p:sp>
      <p:sp>
        <p:nvSpPr>
          <p:cNvPr id="46" name="Text Box 115">
            <a:extLst>
              <a:ext uri="{FF2B5EF4-FFF2-40B4-BE49-F238E27FC236}">
                <a16:creationId xmlns:a16="http://schemas.microsoft.com/office/drawing/2014/main" id="{BAAC8F77-03DC-4B54-ABD4-487A7142E169}"/>
              </a:ext>
            </a:extLst>
          </p:cNvPr>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August 9, 2023</a:t>
            </a:fld>
            <a:endParaRPr lang="en-US" sz="1100" b="0" dirty="0">
              <a:solidFill>
                <a:schemeClr val="tx1"/>
              </a:solidFill>
            </a:endParaRPr>
          </a:p>
        </p:txBody>
      </p:sp>
      <p:sp>
        <p:nvSpPr>
          <p:cNvPr id="47" name="Text Box 115">
            <a:extLst>
              <a:ext uri="{FF2B5EF4-FFF2-40B4-BE49-F238E27FC236}">
                <a16:creationId xmlns:a16="http://schemas.microsoft.com/office/drawing/2014/main" id="{B207E4D1-23C4-49FF-8260-AC6970B95FC4}"/>
              </a:ext>
            </a:extLst>
          </p:cNvPr>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sp>
        <p:nvSpPr>
          <p:cNvPr id="50" name="Footer Placeholder 4">
            <a:extLst>
              <a:ext uri="{FF2B5EF4-FFF2-40B4-BE49-F238E27FC236}">
                <a16:creationId xmlns:a16="http://schemas.microsoft.com/office/drawing/2014/main" id="{0C203C4F-2B7A-44AE-9CC5-974D0684C5F6}"/>
              </a:ext>
            </a:extLst>
          </p:cNvPr>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2023 DXC Technology Company. All rights reserved.</a:t>
            </a:r>
          </a:p>
        </p:txBody>
      </p:sp>
      <p:pic>
        <p:nvPicPr>
          <p:cNvPr id="52" name="Graphic 51">
            <a:extLst>
              <a:ext uri="{FF2B5EF4-FFF2-40B4-BE49-F238E27FC236}">
                <a16:creationId xmlns:a16="http://schemas.microsoft.com/office/drawing/2014/main" id="{925DB904-DAE2-4F1E-A174-E29E8F75117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85800" y="7580437"/>
            <a:ext cx="2286000" cy="259238"/>
          </a:xfrm>
          <a:prstGeom prst="rect">
            <a:avLst/>
          </a:prstGeom>
        </p:spPr>
      </p:pic>
      <p:sp>
        <p:nvSpPr>
          <p:cNvPr id="57" name="Title 1">
            <a:extLst>
              <a:ext uri="{FF2B5EF4-FFF2-40B4-BE49-F238E27FC236}">
                <a16:creationId xmlns:a16="http://schemas.microsoft.com/office/drawing/2014/main" id="{083C3818-4368-434E-9D55-569CC18CE446}"/>
              </a:ext>
            </a:extLst>
          </p:cNvPr>
          <p:cNvSpPr>
            <a:spLocks noGrp="1"/>
          </p:cNvSpPr>
          <p:nvPr>
            <p:ph type="ctrTitle"/>
          </p:nvPr>
        </p:nvSpPr>
        <p:spPr>
          <a:xfrm>
            <a:off x="685800" y="426144"/>
            <a:ext cx="10414000" cy="1631255"/>
          </a:xfrm>
        </p:spPr>
        <p:txBody>
          <a:bodyPr anchor="b" anchorCtr="0">
            <a:noAutofit/>
          </a:bodyPr>
          <a:lstStyle>
            <a:lvl1pPr>
              <a:defRPr sz="4800">
                <a:solidFill>
                  <a:schemeClr val="accent1"/>
                </a:solidFill>
              </a:defRPr>
            </a:lvl1pPr>
          </a:lstStyle>
          <a:p>
            <a:r>
              <a:rPr lang="en-US"/>
              <a:t>Click to edit Master title style</a:t>
            </a:r>
            <a:endParaRPr lang="en-US" dirty="0"/>
          </a:p>
        </p:txBody>
      </p:sp>
      <p:sp>
        <p:nvSpPr>
          <p:cNvPr id="58" name="Subtitle 2">
            <a:extLst>
              <a:ext uri="{FF2B5EF4-FFF2-40B4-BE49-F238E27FC236}">
                <a16:creationId xmlns:a16="http://schemas.microsoft.com/office/drawing/2014/main" id="{A99EC16D-6BC6-4571-A314-8BE9BEF6FD89}"/>
              </a:ext>
            </a:extLst>
          </p:cNvPr>
          <p:cNvSpPr>
            <a:spLocks noGrp="1"/>
          </p:cNvSpPr>
          <p:nvPr>
            <p:ph type="subTitle" idx="1"/>
          </p:nvPr>
        </p:nvSpPr>
        <p:spPr>
          <a:xfrm>
            <a:off x="685800" y="2410169"/>
            <a:ext cx="10413999" cy="914400"/>
          </a:xfrm>
        </p:spPr>
        <p:txBody>
          <a:bodyPr>
            <a:noAutofit/>
          </a:bodyPr>
          <a:lstStyle>
            <a:lvl1pPr marL="0" indent="0" algn="l">
              <a:spcBef>
                <a:spcPts val="0"/>
              </a:spcBef>
              <a:buNone/>
              <a:defRPr sz="2800">
                <a:solidFill>
                  <a:srgbClr val="63666F"/>
                </a:solidFill>
              </a:defRPr>
            </a:lvl1pPr>
            <a:lvl2pPr marL="731520" indent="0" algn="ctr">
              <a:buNone/>
              <a:defRPr>
                <a:solidFill>
                  <a:schemeClr val="tx1">
                    <a:tint val="75000"/>
                  </a:schemeClr>
                </a:solidFill>
              </a:defRPr>
            </a:lvl2pPr>
            <a:lvl3pPr marL="1463040" indent="0" algn="ctr">
              <a:buNone/>
              <a:defRPr>
                <a:solidFill>
                  <a:schemeClr val="tx1">
                    <a:tint val="75000"/>
                  </a:schemeClr>
                </a:solidFill>
              </a:defRPr>
            </a:lvl3pPr>
            <a:lvl4pPr marL="2194560" indent="0" algn="ctr">
              <a:buNone/>
              <a:defRPr>
                <a:solidFill>
                  <a:schemeClr val="tx1">
                    <a:tint val="75000"/>
                  </a:schemeClr>
                </a:solidFill>
              </a:defRPr>
            </a:lvl4pPr>
            <a:lvl5pPr marL="2926080" indent="0" algn="ctr">
              <a:buNone/>
              <a:defRPr>
                <a:solidFill>
                  <a:schemeClr val="tx1">
                    <a:tint val="75000"/>
                  </a:schemeClr>
                </a:solidFill>
              </a:defRPr>
            </a:lvl5pPr>
            <a:lvl6pPr marL="3657600" indent="0" algn="ctr">
              <a:buNone/>
              <a:defRPr>
                <a:solidFill>
                  <a:schemeClr val="tx1">
                    <a:tint val="75000"/>
                  </a:schemeClr>
                </a:solidFill>
              </a:defRPr>
            </a:lvl6pPr>
            <a:lvl7pPr marL="4389120" indent="0" algn="ctr">
              <a:buNone/>
              <a:defRPr>
                <a:solidFill>
                  <a:schemeClr val="tx1">
                    <a:tint val="75000"/>
                  </a:schemeClr>
                </a:solidFill>
              </a:defRPr>
            </a:lvl7pPr>
            <a:lvl8pPr marL="5120640" indent="0" algn="ctr">
              <a:buNone/>
              <a:defRPr>
                <a:solidFill>
                  <a:schemeClr val="tx1">
                    <a:tint val="75000"/>
                  </a:schemeClr>
                </a:solidFill>
              </a:defRPr>
            </a:lvl8pPr>
            <a:lvl9pPr marL="585216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56458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Big Picture">
    <p:bg>
      <p:bgPr>
        <a:solidFill>
          <a:srgbClr val="000000"/>
        </a:solidFill>
        <a:effectLst/>
      </p:bgPr>
    </p:bg>
    <p:spTree>
      <p:nvGrpSpPr>
        <p:cNvPr id="1" name=""/>
        <p:cNvGrpSpPr/>
        <p:nvPr/>
      </p:nvGrpSpPr>
      <p:grpSpPr>
        <a:xfrm>
          <a:off x="0" y="0"/>
          <a:ext cx="0" cy="0"/>
          <a:chOff x="0" y="0"/>
          <a:chExt cx="0" cy="0"/>
        </a:xfrm>
      </p:grpSpPr>
      <p:grpSp>
        <p:nvGrpSpPr>
          <p:cNvPr id="10" name="Group 9"/>
          <p:cNvGrpSpPr/>
          <p:nvPr userDrawn="1"/>
        </p:nvGrpSpPr>
        <p:grpSpPr>
          <a:xfrm>
            <a:off x="-91440" y="-91440"/>
            <a:ext cx="14813280" cy="8412480"/>
            <a:chOff x="-91440" y="-91440"/>
            <a:chExt cx="14813280" cy="8412480"/>
          </a:xfrm>
        </p:grpSpPr>
        <p:cxnSp>
          <p:nvCxnSpPr>
            <p:cNvPr id="11" name="Straight Connector 10"/>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8" name="Picture Placeholder 7"/>
          <p:cNvSpPr>
            <a:spLocks noGrp="1"/>
          </p:cNvSpPr>
          <p:nvPr>
            <p:ph type="pic" sz="quarter" idx="13"/>
          </p:nvPr>
        </p:nvSpPr>
        <p:spPr>
          <a:xfrm>
            <a:off x="0" y="0"/>
            <a:ext cx="14630400" cy="8229600"/>
          </a:xfrm>
          <a:solidFill>
            <a:schemeClr val="bg1">
              <a:lumMod val="85000"/>
            </a:schemeClr>
          </a:solidFill>
        </p:spPr>
        <p:txBody>
          <a:bodyPr anchor="ctr" anchorCtr="0">
            <a:normAutofit/>
          </a:bodyPr>
          <a:lstStyle>
            <a:lvl1pPr algn="ctr">
              <a:defRPr sz="1600" b="0">
                <a:solidFill>
                  <a:schemeClr val="bg1"/>
                </a:solidFill>
              </a:defRPr>
            </a:lvl1pPr>
          </a:lstStyle>
          <a:p>
            <a:r>
              <a:rPr lang="en-US"/>
              <a:t>Click icon to add picture</a:t>
            </a:r>
            <a:endParaRPr lang="en-US" dirty="0"/>
          </a:p>
        </p:txBody>
      </p:sp>
      <p:sp>
        <p:nvSpPr>
          <p:cNvPr id="14"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ct val="50000"/>
              </a:spcBef>
            </a:pPr>
            <a:fld id="{03C7D0F0-10D5-4191-B6F4-99306F468FEF}" type="datetime4">
              <a:rPr lang="en-US" sz="1100" b="0" smtClean="0">
                <a:solidFill>
                  <a:schemeClr val="bg1"/>
                </a:solidFill>
              </a:rPr>
              <a:pPr algn="r" defTabSz="820738">
                <a:spcBef>
                  <a:spcPct val="50000"/>
                </a:spcBef>
              </a:pPr>
              <a:t>August 9, 2023</a:t>
            </a:fld>
            <a:endParaRPr lang="en-US" sz="1100" b="0" dirty="0">
              <a:solidFill>
                <a:schemeClr val="bg1"/>
              </a:solidFill>
            </a:endParaRPr>
          </a:p>
        </p:txBody>
      </p:sp>
      <p:sp>
        <p:nvSpPr>
          <p:cNvPr id="15"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ct val="50000"/>
              </a:spcBef>
            </a:pPr>
            <a:fld id="{18E29826-F105-4F77-B977-03F4A4723A21}" type="slidenum">
              <a:rPr lang="en-US" sz="1100" b="1" smtClean="0">
                <a:solidFill>
                  <a:schemeClr val="bg1"/>
                </a:solidFill>
              </a:rPr>
              <a:pPr/>
              <a:t>‹#›</a:t>
            </a:fld>
            <a:endParaRPr lang="en-US" sz="1100" b="1" dirty="0">
              <a:solidFill>
                <a:schemeClr val="bg1"/>
              </a:solidFill>
            </a:endParaRPr>
          </a:p>
        </p:txBody>
      </p:sp>
      <p:sp>
        <p:nvSpPr>
          <p:cNvPr id="16" name="Footer Placeholder 4"/>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bg1"/>
                </a:solidFill>
              </a:rPr>
              <a:t>© 2023 DXC Technology Company. All rights reserved.</a:t>
            </a:r>
          </a:p>
        </p:txBody>
      </p:sp>
      <p:pic>
        <p:nvPicPr>
          <p:cNvPr id="44" name="Graphic 43">
            <a:extLst>
              <a:ext uri="{FF2B5EF4-FFF2-40B4-BE49-F238E27FC236}">
                <a16:creationId xmlns:a16="http://schemas.microsoft.com/office/drawing/2014/main" id="{A2BEF977-E587-4D30-B5BF-3E5AC49DEA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85800" y="7579053"/>
            <a:ext cx="2286000" cy="259237"/>
          </a:xfrm>
          <a:prstGeom prst="rect">
            <a:avLst/>
          </a:prstGeom>
        </p:spPr>
      </p:pic>
    </p:spTree>
    <p:extLst>
      <p:ext uri="{BB962C8B-B14F-4D97-AF65-F5344CB8AC3E}">
        <p14:creationId xmlns:p14="http://schemas.microsoft.com/office/powerpoint/2010/main" val="1240162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XC Logo Slide">
    <p:bg>
      <p:bgPr>
        <a:solidFill>
          <a:schemeClr val="bg1"/>
        </a:solidFill>
        <a:effectLst/>
      </p:bgPr>
    </p:bg>
    <p:spTree>
      <p:nvGrpSpPr>
        <p:cNvPr id="1" name=""/>
        <p:cNvGrpSpPr/>
        <p:nvPr/>
      </p:nvGrpSpPr>
      <p:grpSpPr>
        <a:xfrm>
          <a:off x="0" y="0"/>
          <a:ext cx="0" cy="0"/>
          <a:chOff x="0" y="0"/>
          <a:chExt cx="0" cy="0"/>
        </a:xfrm>
      </p:grpSpPr>
      <p:grpSp>
        <p:nvGrpSpPr>
          <p:cNvPr id="7" name="Group 6"/>
          <p:cNvGrpSpPr/>
          <p:nvPr userDrawn="1"/>
        </p:nvGrpSpPr>
        <p:grpSpPr>
          <a:xfrm>
            <a:off x="-91440" y="-91440"/>
            <a:ext cx="14813280" cy="8412480"/>
            <a:chOff x="-91440" y="-91440"/>
            <a:chExt cx="14813280" cy="8412480"/>
          </a:xfrm>
        </p:grpSpPr>
        <p:cxnSp>
          <p:nvCxnSpPr>
            <p:cNvPr id="8" name="Straight Connector 7"/>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15" name="Footer Placeholder 4"/>
          <p:cNvSpPr txBox="1">
            <a:spLocks/>
          </p:cNvSpPr>
          <p:nvPr userDrawn="1"/>
        </p:nvSpPr>
        <p:spPr>
          <a:xfrm>
            <a:off x="7543800" y="7580439"/>
            <a:ext cx="64008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100" dirty="0">
                <a:solidFill>
                  <a:schemeClr val="tx1"/>
                </a:solidFill>
              </a:rPr>
              <a:t>© 2023 DXC Technology Company. All rights reserved.</a:t>
            </a:r>
          </a:p>
        </p:txBody>
      </p:sp>
      <p:pic>
        <p:nvPicPr>
          <p:cNvPr id="2" name="Graphic 1">
            <a:extLst>
              <a:ext uri="{FF2B5EF4-FFF2-40B4-BE49-F238E27FC236}">
                <a16:creationId xmlns:a16="http://schemas.microsoft.com/office/drawing/2014/main" id="{204136C3-C0B2-4695-8464-42B084FBEA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009034" y="2856891"/>
            <a:ext cx="4612331" cy="2515817"/>
          </a:xfrm>
          <a:prstGeom prst="rect">
            <a:avLst/>
          </a:prstGeom>
        </p:spPr>
      </p:pic>
    </p:spTree>
    <p:extLst>
      <p:ext uri="{BB962C8B-B14F-4D97-AF65-F5344CB8AC3E}">
        <p14:creationId xmlns:p14="http://schemas.microsoft.com/office/powerpoint/2010/main" val="1992805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White divider slide">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526695" y="380393"/>
            <a:ext cx="11555765" cy="3210725"/>
          </a:xfrm>
          <a:prstGeom prst="rect">
            <a:avLst/>
          </a:prstGeom>
        </p:spPr>
        <p:txBody>
          <a:bodyPr wrap="square" lIns="0" tIns="0" rIns="0" bIns="0" anchor="t" anchorCtr="0">
            <a:noAutofit/>
          </a:bodyPr>
          <a:lstStyle>
            <a:lvl1pPr algn="l">
              <a:lnSpc>
                <a:spcPct val="90000"/>
              </a:lnSpc>
              <a:defRPr sz="6400" b="1" i="0" spc="-160">
                <a:solidFill>
                  <a:schemeClr val="tx1"/>
                </a:solidFill>
                <a:latin typeface="HP Simplified" pitchFamily="34" charset="0"/>
                <a:cs typeface="HP Simplified" pitchFamily="34" charset="0"/>
              </a:defRPr>
            </a:lvl1pPr>
          </a:lstStyle>
          <a:p>
            <a:r>
              <a:rPr lang="en-US" noProof="0"/>
              <a:t>Click to edit </a:t>
            </a:r>
            <a:br>
              <a:rPr lang="en-US" noProof="0"/>
            </a:br>
            <a:r>
              <a:rPr lang="en-US" noProof="0"/>
              <a:t>master </a:t>
            </a:r>
            <a:br>
              <a:rPr lang="en-US" noProof="0"/>
            </a:br>
            <a:r>
              <a:rPr lang="en-US" noProof="0"/>
              <a:t>title style</a:t>
            </a:r>
          </a:p>
        </p:txBody>
      </p:sp>
    </p:spTree>
    <p:extLst>
      <p:ext uri="{BB962C8B-B14F-4D97-AF65-F5344CB8AC3E}">
        <p14:creationId xmlns:p14="http://schemas.microsoft.com/office/powerpoint/2010/main" val="3704447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with 2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530352" y="290849"/>
            <a:ext cx="13655549" cy="614968"/>
          </a:xfrm>
          <a:prstGeom prst="rect">
            <a:avLst/>
          </a:prstGeom>
          <a:ln>
            <a:noFill/>
          </a:ln>
        </p:spPr>
        <p:txBody>
          <a:bodyPr vert="horz" wrap="square" lIns="0" tIns="0" rIns="0" bIns="0" rtlCol="0" anchor="t" anchorCtr="0">
            <a:noAutofit/>
          </a:bodyPr>
          <a:lstStyle>
            <a:lvl1pPr>
              <a:defRPr>
                <a:solidFill>
                  <a:srgbClr val="000000"/>
                </a:solidFill>
              </a:defRPr>
            </a:lvl1pPr>
          </a:lstStyle>
          <a:p>
            <a:r>
              <a:rPr lang="en-US" noProof="0"/>
              <a:t>Click to edit master title style</a:t>
            </a:r>
          </a:p>
        </p:txBody>
      </p:sp>
      <p:sp>
        <p:nvSpPr>
          <p:cNvPr id="8" name="Content Placeholder 7"/>
          <p:cNvSpPr>
            <a:spLocks noGrp="1"/>
          </p:cNvSpPr>
          <p:nvPr>
            <p:ph sz="quarter" idx="16"/>
          </p:nvPr>
        </p:nvSpPr>
        <p:spPr>
          <a:xfrm>
            <a:off x="525781" y="1430276"/>
            <a:ext cx="6449059" cy="5901604"/>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7"/>
          </p:nvPr>
        </p:nvSpPr>
        <p:spPr>
          <a:xfrm>
            <a:off x="7310121" y="1430276"/>
            <a:ext cx="6304280" cy="5896180"/>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5739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526695" y="1202225"/>
            <a:ext cx="12987529" cy="443198"/>
          </a:xfrm>
          <a:prstGeom prst="rect">
            <a:avLst/>
          </a:prstGeom>
        </p:spPr>
        <p:txBody>
          <a:bodyPr wrap="square" anchor="t">
            <a:noAutofit/>
          </a:bodyPr>
          <a:lstStyle>
            <a:lvl1pPr marL="0" indent="0" algn="l">
              <a:lnSpc>
                <a:spcPct val="100000"/>
              </a:lnSpc>
              <a:buNone/>
              <a:defRPr sz="2880" b="0" i="0">
                <a:solidFill>
                  <a:srgbClr val="000000"/>
                </a:solidFill>
                <a:latin typeface="HP Simplified" pitchFamily="34" charset="0"/>
                <a:cs typeface="HP Simplified" pitchFamily="34" charset="0"/>
              </a:defRPr>
            </a:lvl1pPr>
            <a:lvl2pPr marL="731502" indent="0" algn="ctr">
              <a:buNone/>
              <a:defRPr>
                <a:solidFill>
                  <a:schemeClr val="tx1">
                    <a:tint val="75000"/>
                  </a:schemeClr>
                </a:solidFill>
              </a:defRPr>
            </a:lvl2pPr>
            <a:lvl3pPr marL="1463004" indent="0" algn="ctr">
              <a:buNone/>
              <a:defRPr>
                <a:solidFill>
                  <a:schemeClr val="tx1">
                    <a:tint val="75000"/>
                  </a:schemeClr>
                </a:solidFill>
              </a:defRPr>
            </a:lvl3pPr>
            <a:lvl4pPr marL="2194505" indent="0" algn="ctr">
              <a:buNone/>
              <a:defRPr>
                <a:solidFill>
                  <a:schemeClr val="tx1">
                    <a:tint val="75000"/>
                  </a:schemeClr>
                </a:solidFill>
              </a:defRPr>
            </a:lvl4pPr>
            <a:lvl5pPr marL="2926007" indent="0" algn="ctr">
              <a:buNone/>
              <a:defRPr>
                <a:solidFill>
                  <a:schemeClr val="tx1">
                    <a:tint val="75000"/>
                  </a:schemeClr>
                </a:solidFill>
              </a:defRPr>
            </a:lvl5pPr>
            <a:lvl6pPr marL="3657509" indent="0" algn="ctr">
              <a:buNone/>
              <a:defRPr>
                <a:solidFill>
                  <a:schemeClr val="tx1">
                    <a:tint val="75000"/>
                  </a:schemeClr>
                </a:solidFill>
              </a:defRPr>
            </a:lvl6pPr>
            <a:lvl7pPr marL="4389011" indent="0" algn="ctr">
              <a:buNone/>
              <a:defRPr>
                <a:solidFill>
                  <a:schemeClr val="tx1">
                    <a:tint val="75000"/>
                  </a:schemeClr>
                </a:solidFill>
              </a:defRPr>
            </a:lvl7pPr>
            <a:lvl8pPr marL="5120512" indent="0" algn="ctr">
              <a:buNone/>
              <a:defRPr>
                <a:solidFill>
                  <a:schemeClr val="tx1">
                    <a:tint val="75000"/>
                  </a:schemeClr>
                </a:solidFill>
              </a:defRPr>
            </a:lvl8pPr>
            <a:lvl9pPr marL="5852014"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hasCustomPrompt="1"/>
          </p:nvPr>
        </p:nvSpPr>
        <p:spPr bwMode="black">
          <a:xfrm>
            <a:off x="526695" y="376103"/>
            <a:ext cx="12987529" cy="689419"/>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a:t>Click to edit master title style</a:t>
            </a:r>
          </a:p>
        </p:txBody>
      </p:sp>
      <p:sp>
        <p:nvSpPr>
          <p:cNvPr id="6" name="Content Placeholder 5"/>
          <p:cNvSpPr>
            <a:spLocks noGrp="1"/>
          </p:cNvSpPr>
          <p:nvPr>
            <p:ph sz="quarter" idx="10"/>
          </p:nvPr>
        </p:nvSpPr>
        <p:spPr>
          <a:xfrm>
            <a:off x="526695" y="1901954"/>
            <a:ext cx="12991795" cy="516636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9632112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530354" y="903558"/>
            <a:ext cx="13655550" cy="443198"/>
          </a:xfrm>
          <a:prstGeom prst="rect">
            <a:avLst/>
          </a:prstGeom>
        </p:spPr>
        <p:txBody>
          <a:bodyPr wrap="square" anchor="t">
            <a:noAutofit/>
          </a:bodyPr>
          <a:lstStyle>
            <a:lvl1pPr marL="0" indent="0" algn="l">
              <a:lnSpc>
                <a:spcPct val="100000"/>
              </a:lnSpc>
              <a:buNone/>
              <a:defRPr sz="2880" b="0" i="0">
                <a:solidFill>
                  <a:srgbClr val="000000"/>
                </a:solidFill>
                <a:latin typeface="HP Simplified" pitchFamily="34" charset="0"/>
                <a:cs typeface="HP Simplified" pitchFamily="34" charset="0"/>
              </a:defRPr>
            </a:lvl1pPr>
            <a:lvl2pPr marL="731502" indent="0" algn="ctr">
              <a:buNone/>
              <a:defRPr>
                <a:solidFill>
                  <a:schemeClr val="tx1">
                    <a:tint val="75000"/>
                  </a:schemeClr>
                </a:solidFill>
              </a:defRPr>
            </a:lvl2pPr>
            <a:lvl3pPr marL="1463004" indent="0" algn="ctr">
              <a:buNone/>
              <a:defRPr>
                <a:solidFill>
                  <a:schemeClr val="tx1">
                    <a:tint val="75000"/>
                  </a:schemeClr>
                </a:solidFill>
              </a:defRPr>
            </a:lvl3pPr>
            <a:lvl4pPr marL="2194505" indent="0" algn="ctr">
              <a:buNone/>
              <a:defRPr>
                <a:solidFill>
                  <a:schemeClr val="tx1">
                    <a:tint val="75000"/>
                  </a:schemeClr>
                </a:solidFill>
              </a:defRPr>
            </a:lvl4pPr>
            <a:lvl5pPr marL="2926007" indent="0" algn="ctr">
              <a:buNone/>
              <a:defRPr>
                <a:solidFill>
                  <a:schemeClr val="tx1">
                    <a:tint val="75000"/>
                  </a:schemeClr>
                </a:solidFill>
              </a:defRPr>
            </a:lvl5pPr>
            <a:lvl6pPr marL="3657509" indent="0" algn="ctr">
              <a:buNone/>
              <a:defRPr>
                <a:solidFill>
                  <a:schemeClr val="tx1">
                    <a:tint val="75000"/>
                  </a:schemeClr>
                </a:solidFill>
              </a:defRPr>
            </a:lvl6pPr>
            <a:lvl7pPr marL="4389011" indent="0" algn="ctr">
              <a:buNone/>
              <a:defRPr>
                <a:solidFill>
                  <a:schemeClr val="tx1">
                    <a:tint val="75000"/>
                  </a:schemeClr>
                </a:solidFill>
              </a:defRPr>
            </a:lvl7pPr>
            <a:lvl8pPr marL="5120512" indent="0" algn="ctr">
              <a:buNone/>
              <a:defRPr>
                <a:solidFill>
                  <a:schemeClr val="tx1">
                    <a:tint val="75000"/>
                  </a:schemeClr>
                </a:solidFill>
              </a:defRPr>
            </a:lvl8pPr>
            <a:lvl9pPr marL="5852014" indent="0" algn="ctr">
              <a:buNone/>
              <a:defRPr>
                <a:solidFill>
                  <a:schemeClr val="tx1">
                    <a:tint val="75000"/>
                  </a:schemeClr>
                </a:solidFill>
              </a:defRPr>
            </a:lvl9pPr>
          </a:lstStyle>
          <a:p>
            <a:r>
              <a:rPr lang="en-US" noProof="0"/>
              <a:t>Click to edit master subtitle style</a:t>
            </a:r>
          </a:p>
        </p:txBody>
      </p:sp>
      <p:sp>
        <p:nvSpPr>
          <p:cNvPr id="7" name="Title 6"/>
          <p:cNvSpPr>
            <a:spLocks noGrp="1"/>
          </p:cNvSpPr>
          <p:nvPr>
            <p:ph type="title" hasCustomPrompt="1"/>
          </p:nvPr>
        </p:nvSpPr>
        <p:spPr bwMode="black">
          <a:xfrm>
            <a:off x="530352" y="290845"/>
            <a:ext cx="13655549" cy="689419"/>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a:t>Click to edit master title style</a:t>
            </a:r>
          </a:p>
        </p:txBody>
      </p:sp>
    </p:spTree>
    <p:extLst>
      <p:ext uri="{BB962C8B-B14F-4D97-AF65-F5344CB8AC3E}">
        <p14:creationId xmlns:p14="http://schemas.microsoft.com/office/powerpoint/2010/main" val="2054681887"/>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3" name="Picture 2" descr="Icon&#10;&#10;Description automatically generated">
            <a:extLst>
              <a:ext uri="{FF2B5EF4-FFF2-40B4-BE49-F238E27FC236}">
                <a16:creationId xmlns:a16="http://schemas.microsoft.com/office/drawing/2014/main" id="{F4DB5FF6-5C1C-FD44-8E2E-465FA30ECFC3}"/>
              </a:ext>
            </a:extLst>
          </p:cNvPr>
          <p:cNvPicPr>
            <a:picLocks noChangeAspect="1"/>
          </p:cNvPicPr>
          <p:nvPr userDrawn="1"/>
        </p:nvPicPr>
        <p:blipFill>
          <a:blip r:embed="rId2"/>
          <a:stretch>
            <a:fillRect/>
          </a:stretch>
        </p:blipFill>
        <p:spPr>
          <a:xfrm>
            <a:off x="685800" y="329410"/>
            <a:ext cx="833718" cy="457200"/>
          </a:xfrm>
          <a:prstGeom prst="rect">
            <a:avLst/>
          </a:prstGeom>
        </p:spPr>
      </p:pic>
    </p:spTree>
    <p:extLst>
      <p:ext uri="{BB962C8B-B14F-4D97-AF65-F5344CB8AC3E}">
        <p14:creationId xmlns:p14="http://schemas.microsoft.com/office/powerpoint/2010/main" val="133780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grpSp>
        <p:nvGrpSpPr>
          <p:cNvPr id="18" name="Group 17"/>
          <p:cNvGrpSpPr/>
          <p:nvPr userDrawn="1"/>
        </p:nvGrpSpPr>
        <p:grpSpPr>
          <a:xfrm>
            <a:off x="-91440" y="-91440"/>
            <a:ext cx="14813280" cy="8412480"/>
            <a:chOff x="-91440" y="-91440"/>
            <a:chExt cx="14813280" cy="8412480"/>
          </a:xfrm>
        </p:grpSpPr>
        <p:cxnSp>
          <p:nvCxnSpPr>
            <p:cNvPr id="12" name="Straight Connector 11"/>
            <p:cNvCxnSpPr/>
            <p:nvPr userDrawn="1"/>
          </p:nvCxnSpPr>
          <p:spPr>
            <a:xfrm>
              <a:off x="-9144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a:off x="-9144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9144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14676120" y="639763"/>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a:off x="14676120" y="2057399"/>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userDrawn="1"/>
          </p:nvCxnSpPr>
          <p:spPr>
            <a:xfrm>
              <a:off x="14676120" y="7178674"/>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userDrawn="1"/>
          </p:nvCxnSpPr>
          <p:spPr>
            <a:xfrm>
              <a:off x="685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userDrawn="1"/>
          </p:nvCxnSpPr>
          <p:spPr>
            <a:xfrm>
              <a:off x="13944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userDrawn="1"/>
          </p:nvCxnSpPr>
          <p:spPr>
            <a:xfrm>
              <a:off x="13944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userDrawn="1"/>
          </p:nvCxnSpPr>
          <p:spPr>
            <a:xfrm>
              <a:off x="11887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userDrawn="1"/>
          </p:nvCxnSpPr>
          <p:spPr>
            <a:xfrm>
              <a:off x="7315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userDrawn="1"/>
          </p:nvCxnSpPr>
          <p:spPr>
            <a:xfrm>
              <a:off x="73152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userDrawn="1"/>
          </p:nvCxnSpPr>
          <p:spPr>
            <a:xfrm>
              <a:off x="7086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userDrawn="1"/>
          </p:nvCxnSpPr>
          <p:spPr>
            <a:xfrm>
              <a:off x="7543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userDrawn="1"/>
          </p:nvCxnSpPr>
          <p:spPr>
            <a:xfrm>
              <a:off x="7086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userDrawn="1"/>
          </p:nvCxnSpPr>
          <p:spPr>
            <a:xfrm>
              <a:off x="7543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userDrawn="1"/>
          </p:nvCxnSpPr>
          <p:spPr>
            <a:xfrm>
              <a:off x="5257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userDrawn="1"/>
          </p:nvCxnSpPr>
          <p:spPr>
            <a:xfrm>
              <a:off x="4800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userDrawn="1"/>
          </p:nvCxnSpPr>
          <p:spPr>
            <a:xfrm>
              <a:off x="93726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98298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userDrawn="1"/>
          </p:nvCxnSpPr>
          <p:spPr>
            <a:xfrm>
              <a:off x="5257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0" name="Straight Connector 39"/>
            <p:cNvCxnSpPr/>
            <p:nvPr userDrawn="1"/>
          </p:nvCxnSpPr>
          <p:spPr>
            <a:xfrm>
              <a:off x="98298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4800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userDrawn="1"/>
          </p:nvCxnSpPr>
          <p:spPr>
            <a:xfrm>
              <a:off x="9372600" y="827532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userDrawn="1"/>
          </p:nvCxnSpPr>
          <p:spPr>
            <a:xfrm>
              <a:off x="11887200" y="-91440"/>
              <a:ext cx="0" cy="4572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userDrawn="1"/>
          </p:nvCxnSpPr>
          <p:spPr>
            <a:xfrm>
              <a:off x="1467612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userDrawn="1"/>
          </p:nvCxnSpPr>
          <p:spPr>
            <a:xfrm>
              <a:off x="-91440" y="7772400"/>
              <a:ext cx="45720" cy="0"/>
            </a:xfrm>
            <a:prstGeom prst="line">
              <a:avLst/>
            </a:prstGeom>
            <a:ln w="3175" cap="flat"/>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userDrawn="1">
            <p:ph type="title"/>
          </p:nvPr>
        </p:nvSpPr>
        <p:spPr>
          <a:xfrm>
            <a:off x="685800" y="639763"/>
            <a:ext cx="13258800" cy="1417635"/>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userDrawn="1">
            <p:ph type="body" idx="1"/>
          </p:nvPr>
        </p:nvSpPr>
        <p:spPr>
          <a:xfrm>
            <a:off x="685799" y="2057399"/>
            <a:ext cx="13258799" cy="512127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0" name="Text Box 115"/>
          <p:cNvSpPr txBox="1">
            <a:spLocks noChangeArrowheads="1"/>
          </p:cNvSpPr>
          <p:nvPr userDrawn="1"/>
        </p:nvSpPr>
        <p:spPr bwMode="auto">
          <a:xfrm>
            <a:off x="11893550" y="7580437"/>
            <a:ext cx="1639570" cy="274320"/>
          </a:xfrm>
          <a:prstGeom prst="rect">
            <a:avLst/>
          </a:prstGeom>
          <a:noFill/>
          <a:ln w="9525">
            <a:noFill/>
            <a:miter lim="800000"/>
            <a:headEnd/>
            <a:tailEnd/>
          </a:ln>
          <a:effectLst/>
        </p:spPr>
        <p:txBody>
          <a:bodyPr wrap="none" lIns="0" tIns="0" rIns="0" bIns="0" anchor="ctr" anchorCtr="0">
            <a:noAutofit/>
          </a:bodyPr>
          <a:lstStyle/>
          <a:p>
            <a:pPr algn="r" defTabSz="820738">
              <a:spcBef>
                <a:spcPts val="0"/>
              </a:spcBef>
            </a:pPr>
            <a:fld id="{03C7D0F0-10D5-4191-B6F4-99306F468FEF}" type="datetime4">
              <a:rPr lang="en-US" sz="1100" b="0" smtClean="0">
                <a:solidFill>
                  <a:schemeClr val="tx1"/>
                </a:solidFill>
              </a:rPr>
              <a:pPr algn="r" defTabSz="820738">
                <a:spcBef>
                  <a:spcPts val="0"/>
                </a:spcBef>
              </a:pPr>
              <a:t>August 9, 2023</a:t>
            </a:fld>
            <a:endParaRPr lang="en-US" sz="1100" b="0" dirty="0">
              <a:solidFill>
                <a:schemeClr val="tx1"/>
              </a:solidFill>
            </a:endParaRPr>
          </a:p>
        </p:txBody>
      </p:sp>
      <p:sp>
        <p:nvSpPr>
          <p:cNvPr id="61" name="Text Box 115"/>
          <p:cNvSpPr txBox="1">
            <a:spLocks noChangeArrowheads="1"/>
          </p:cNvSpPr>
          <p:nvPr userDrawn="1"/>
        </p:nvSpPr>
        <p:spPr bwMode="auto">
          <a:xfrm>
            <a:off x="13533120" y="7580439"/>
            <a:ext cx="411480" cy="274320"/>
          </a:xfrm>
          <a:prstGeom prst="rect">
            <a:avLst/>
          </a:prstGeom>
          <a:noFill/>
          <a:ln w="9525">
            <a:noFill/>
            <a:miter lim="800000"/>
            <a:headEnd/>
            <a:tailEnd/>
          </a:ln>
          <a:effectLst/>
        </p:spPr>
        <p:txBody>
          <a:bodyPr wrap="square" lIns="0" tIns="0" rIns="0" bIns="0" anchor="ctr" anchorCtr="0">
            <a:noAutofit/>
          </a:bodyPr>
          <a:lstStyle/>
          <a:p>
            <a:pPr algn="r" defTabSz="820738">
              <a:spcBef>
                <a:spcPts val="0"/>
              </a:spcBef>
            </a:pPr>
            <a:fld id="{18E29826-F105-4F77-B977-03F4A4723A21}" type="slidenum">
              <a:rPr lang="en-US" sz="1100" b="1" smtClean="0">
                <a:solidFill>
                  <a:schemeClr val="tx1"/>
                </a:solidFill>
              </a:rPr>
              <a:pPr algn="r" defTabSz="820738">
                <a:spcBef>
                  <a:spcPts val="0"/>
                </a:spcBef>
              </a:pPr>
              <a:t>‹#›</a:t>
            </a:fld>
            <a:endParaRPr lang="en-US" sz="1100" b="1" dirty="0">
              <a:solidFill>
                <a:schemeClr val="tx1"/>
              </a:solidFill>
            </a:endParaRPr>
          </a:p>
        </p:txBody>
      </p:sp>
      <p:sp>
        <p:nvSpPr>
          <p:cNvPr id="62" name="Footer Placeholder 4"/>
          <p:cNvSpPr txBox="1">
            <a:spLocks/>
          </p:cNvSpPr>
          <p:nvPr userDrawn="1"/>
        </p:nvSpPr>
        <p:spPr>
          <a:xfrm>
            <a:off x="4800600" y="7580439"/>
            <a:ext cx="5029200" cy="274320"/>
          </a:xfrm>
          <a:prstGeom prst="rect">
            <a:avLst/>
          </a:prstGeom>
          <a:noFill/>
        </p:spPr>
        <p:txBody>
          <a:bodyPr vert="horz" wrap="none" lIns="0" tIns="0" rIns="0" bIns="0" rtlCol="0" anchor="ctr"/>
          <a:lstStyle>
            <a:defPPr>
              <a:defRPr lang="en-US"/>
            </a:defPPr>
            <a:lvl1pPr marL="0" algn="ctr"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 2023 DXC Technology Company. All rights reserved.</a:t>
            </a:r>
          </a:p>
        </p:txBody>
      </p:sp>
      <p:pic>
        <p:nvPicPr>
          <p:cNvPr id="46" name="Graphic 45">
            <a:extLst>
              <a:ext uri="{FF2B5EF4-FFF2-40B4-BE49-F238E27FC236}">
                <a16:creationId xmlns:a16="http://schemas.microsoft.com/office/drawing/2014/main" id="{B6FF065E-2B34-4360-B045-0F02C20A28BE}"/>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685800" y="7580437"/>
            <a:ext cx="2286000" cy="259238"/>
          </a:xfrm>
          <a:prstGeom prst="rect">
            <a:avLst/>
          </a:prstGeom>
        </p:spPr>
      </p:pic>
    </p:spTree>
    <p:extLst>
      <p:ext uri="{BB962C8B-B14F-4D97-AF65-F5344CB8AC3E}">
        <p14:creationId xmlns:p14="http://schemas.microsoft.com/office/powerpoint/2010/main" val="112899065"/>
      </p:ext>
    </p:extLst>
  </p:cSld>
  <p:clrMap bg1="lt1" tx1="dk1" bg2="lt2" tx2="dk2" accent1="accent1" accent2="accent2" accent3="accent3" accent4="accent4" accent5="accent5" accent6="accent6" hlink="hlink" folHlink="folHlink"/>
  <p:sldLayoutIdLst>
    <p:sldLayoutId id="2147483830" r:id="rId1"/>
    <p:sldLayoutId id="2147483659" r:id="rId2"/>
    <p:sldLayoutId id="2147483667" r:id="rId3"/>
    <p:sldLayoutId id="2147483650" r:id="rId4"/>
    <p:sldLayoutId id="2147483752" r:id="rId5"/>
    <p:sldLayoutId id="2147483666" r:id="rId6"/>
    <p:sldLayoutId id="2147483652" r:id="rId7"/>
    <p:sldLayoutId id="2147483660" r:id="rId8"/>
    <p:sldLayoutId id="2147483662" r:id="rId9"/>
    <p:sldLayoutId id="2147483663" r:id="rId10"/>
    <p:sldLayoutId id="2147483806" r:id="rId11"/>
    <p:sldLayoutId id="2147483824" r:id="rId12"/>
    <p:sldLayoutId id="2147483829" r:id="rId13"/>
    <p:sldLayoutId id="2147483655" r:id="rId14"/>
    <p:sldLayoutId id="2147483692" r:id="rId15"/>
    <p:sldLayoutId id="2147483833" r:id="rId16"/>
    <p:sldLayoutId id="2147483834" r:id="rId17"/>
    <p:sldLayoutId id="2147483835" r:id="rId18"/>
    <p:sldLayoutId id="2147483836" r:id="rId19"/>
    <p:sldLayoutId id="2147483837"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463040" rtl="0" eaLnBrk="1" latinLnBrk="0" hangingPunct="1">
        <a:lnSpc>
          <a:spcPct val="85000"/>
        </a:lnSpc>
        <a:spcBef>
          <a:spcPct val="0"/>
        </a:spcBef>
        <a:buNone/>
        <a:defRPr sz="3600" b="1" kern="1200">
          <a:solidFill>
            <a:schemeClr val="accent1"/>
          </a:solidFill>
          <a:latin typeface="+mj-lt"/>
          <a:ea typeface="+mj-ea"/>
          <a:cs typeface="+mj-cs"/>
        </a:defRPr>
      </a:lvl1pPr>
    </p:titleStyle>
    <p:bodyStyle>
      <a:lvl1pPr marL="0" indent="0" algn="l" defTabSz="1463040" rtl="0" eaLnBrk="1" latinLnBrk="0" hangingPunct="1">
        <a:spcBef>
          <a:spcPts val="1200"/>
        </a:spcBef>
        <a:buFontTx/>
        <a:buNone/>
        <a:defRPr sz="2000" b="1" kern="1200">
          <a:solidFill>
            <a:schemeClr val="tx1"/>
          </a:solidFill>
          <a:latin typeface="+mn-lt"/>
          <a:ea typeface="+mn-ea"/>
          <a:cs typeface="+mn-cs"/>
        </a:defRPr>
      </a:lvl1pPr>
      <a:lvl2pPr marL="0" indent="0" algn="l" defTabSz="1463040" rtl="0" eaLnBrk="1" latinLnBrk="0" hangingPunct="1">
        <a:spcBef>
          <a:spcPts val="1200"/>
        </a:spcBef>
        <a:buFontTx/>
        <a:buNone/>
        <a:defRPr sz="2000" kern="1200">
          <a:solidFill>
            <a:schemeClr val="tx1"/>
          </a:solidFill>
          <a:latin typeface="+mn-lt"/>
          <a:ea typeface="+mn-ea"/>
          <a:cs typeface="+mn-cs"/>
        </a:defRPr>
      </a:lvl2pPr>
      <a:lvl3pPr marL="228600" indent="-228600" algn="l" defTabSz="1463040" rtl="0" eaLnBrk="1" latinLnBrk="0" hangingPunct="1">
        <a:spcBef>
          <a:spcPts val="1200"/>
        </a:spcBef>
        <a:buFont typeface="Arial" pitchFamily="34" charset="0"/>
        <a:buChar char="•"/>
        <a:tabLst/>
        <a:defRPr sz="2000" kern="1200">
          <a:solidFill>
            <a:schemeClr val="tx1"/>
          </a:solidFill>
          <a:latin typeface="+mn-lt"/>
          <a:ea typeface="+mn-ea"/>
          <a:cs typeface="+mn-cs"/>
        </a:defRPr>
      </a:lvl3pPr>
      <a:lvl4pPr marL="4572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4pPr>
      <a:lvl5pPr marL="6858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5pPr>
      <a:lvl6pPr marL="914400" indent="-228600" algn="l" defTabSz="1463040" rtl="0" eaLnBrk="1" latinLnBrk="0" hangingPunct="1">
        <a:spcBef>
          <a:spcPts val="600"/>
        </a:spcBef>
        <a:buFont typeface="Arial" pitchFamily="34" charset="0"/>
        <a:buChar char="–"/>
        <a:defRPr sz="2000" kern="1200">
          <a:solidFill>
            <a:schemeClr val="tx1"/>
          </a:solidFill>
          <a:latin typeface="+mn-lt"/>
          <a:ea typeface="+mn-ea"/>
          <a:cs typeface="+mn-cs"/>
        </a:defRPr>
      </a:lvl6pPr>
      <a:lvl7pPr marL="1143000" indent="-228600" algn="l" defTabSz="1463040" rtl="0" eaLnBrk="1" latinLnBrk="0" hangingPunct="1">
        <a:spcBef>
          <a:spcPts val="600"/>
        </a:spcBef>
        <a:buFont typeface="Arial" pitchFamily="34" charset="0"/>
        <a:buChar char="–"/>
        <a:tabLst/>
        <a:defRPr sz="2000" kern="1200">
          <a:solidFill>
            <a:schemeClr val="tx1"/>
          </a:solidFill>
          <a:latin typeface="+mn-lt"/>
          <a:ea typeface="+mn-ea"/>
          <a:cs typeface="+mn-cs"/>
        </a:defRPr>
      </a:lvl7pPr>
      <a:lvl8pPr marL="1371600" indent="-228600" algn="l" defTabSz="1463040" rtl="0" eaLnBrk="1" latinLnBrk="0" hangingPunct="1">
        <a:spcBef>
          <a:spcPts val="600"/>
        </a:spcBef>
        <a:buFont typeface="Arial" pitchFamily="34" charset="0"/>
        <a:buChar char="–"/>
        <a:defRPr sz="2000" kern="1200" baseline="0">
          <a:solidFill>
            <a:schemeClr val="tx1"/>
          </a:solidFill>
          <a:latin typeface="+mn-lt"/>
          <a:ea typeface="+mn-ea"/>
          <a:cs typeface="+mn-cs"/>
        </a:defRPr>
      </a:lvl8pPr>
      <a:lvl9pPr marL="1600200" indent="-228600" algn="l" defTabSz="1463040" rtl="0" eaLnBrk="1" latinLnBrk="0" hangingPunct="1">
        <a:spcBef>
          <a:spcPts val="600"/>
        </a:spcBef>
        <a:buFont typeface="Arial" pitchFamily="34" charset="0"/>
        <a:buChar char="–"/>
        <a:tabLst/>
        <a:defRPr sz="2000" kern="1200" baseline="0">
          <a:solidFill>
            <a:schemeClr val="tx1"/>
          </a:solidFill>
          <a:latin typeface="+mn-lt"/>
          <a:ea typeface="+mn-ea"/>
          <a:cs typeface="+mn-cs"/>
        </a:defRPr>
      </a:lvl9pPr>
    </p:bodyStyle>
    <p:otherStyle>
      <a:defPPr>
        <a:defRPr lang="en-US"/>
      </a:defPPr>
      <a:lvl1pPr marL="0" algn="l" defTabSz="1463040" rtl="0" eaLnBrk="1" latinLnBrk="0" hangingPunct="1">
        <a:defRPr sz="1800" kern="1200">
          <a:solidFill>
            <a:schemeClr val="tx1"/>
          </a:solidFill>
          <a:latin typeface="+mn-lt"/>
          <a:ea typeface="+mn-ea"/>
          <a:cs typeface="+mn-cs"/>
        </a:defRPr>
      </a:lvl1pPr>
      <a:lvl2pPr marL="731520" algn="l" defTabSz="1463040" rtl="0" eaLnBrk="1" latinLnBrk="0" hangingPunct="1">
        <a:defRPr sz="1800" kern="1200">
          <a:solidFill>
            <a:schemeClr val="tx1"/>
          </a:solidFill>
          <a:latin typeface="+mn-lt"/>
          <a:ea typeface="+mn-ea"/>
          <a:cs typeface="+mn-cs"/>
        </a:defRPr>
      </a:lvl2pPr>
      <a:lvl3pPr marL="1463040" algn="l" defTabSz="1463040" rtl="0" eaLnBrk="1" latinLnBrk="0" hangingPunct="1">
        <a:defRPr sz="1800" kern="1200">
          <a:solidFill>
            <a:schemeClr val="tx1"/>
          </a:solidFill>
          <a:latin typeface="+mn-lt"/>
          <a:ea typeface="+mn-ea"/>
          <a:cs typeface="+mn-cs"/>
        </a:defRPr>
      </a:lvl3pPr>
      <a:lvl4pPr marL="2194560" algn="l" defTabSz="1463040" rtl="0" eaLnBrk="1" latinLnBrk="0" hangingPunct="1">
        <a:defRPr sz="1800" kern="1200">
          <a:solidFill>
            <a:schemeClr val="tx1"/>
          </a:solidFill>
          <a:latin typeface="+mn-lt"/>
          <a:ea typeface="+mn-ea"/>
          <a:cs typeface="+mn-cs"/>
        </a:defRPr>
      </a:lvl4pPr>
      <a:lvl5pPr marL="2926080" algn="l" defTabSz="1463040" rtl="0" eaLnBrk="1" latinLnBrk="0" hangingPunct="1">
        <a:defRPr sz="1800" kern="1200">
          <a:solidFill>
            <a:schemeClr val="tx1"/>
          </a:solidFill>
          <a:latin typeface="+mn-lt"/>
          <a:ea typeface="+mn-ea"/>
          <a:cs typeface="+mn-cs"/>
        </a:defRPr>
      </a:lvl5pPr>
      <a:lvl6pPr marL="3657600" algn="l" defTabSz="1463040" rtl="0" eaLnBrk="1" latinLnBrk="0" hangingPunct="1">
        <a:defRPr sz="1800" kern="1200">
          <a:solidFill>
            <a:schemeClr val="tx1"/>
          </a:solidFill>
          <a:latin typeface="+mn-lt"/>
          <a:ea typeface="+mn-ea"/>
          <a:cs typeface="+mn-cs"/>
        </a:defRPr>
      </a:lvl6pPr>
      <a:lvl7pPr marL="4389120" algn="l" defTabSz="1463040" rtl="0" eaLnBrk="1" latinLnBrk="0" hangingPunct="1">
        <a:defRPr sz="1800" kern="1200">
          <a:solidFill>
            <a:schemeClr val="tx1"/>
          </a:solidFill>
          <a:latin typeface="+mn-lt"/>
          <a:ea typeface="+mn-ea"/>
          <a:cs typeface="+mn-cs"/>
        </a:defRPr>
      </a:lvl7pPr>
      <a:lvl8pPr marL="5120640" algn="l" defTabSz="1463040" rtl="0" eaLnBrk="1" latinLnBrk="0" hangingPunct="1">
        <a:defRPr sz="1800" kern="1200">
          <a:solidFill>
            <a:schemeClr val="tx1"/>
          </a:solidFill>
          <a:latin typeface="+mn-lt"/>
          <a:ea typeface="+mn-ea"/>
          <a:cs typeface="+mn-cs"/>
        </a:defRPr>
      </a:lvl8pPr>
      <a:lvl9pPr marL="5852160" algn="l" defTabSz="146304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 userDrawn="1">
          <p15:clr>
            <a:srgbClr val="F26B43"/>
          </p15:clr>
        </p15:guide>
        <p15:guide id="2" pos="4608" userDrawn="1">
          <p15:clr>
            <a:srgbClr val="F26B43"/>
          </p15:clr>
        </p15:guide>
        <p15:guide id="3" pos="432" userDrawn="1">
          <p15:clr>
            <a:srgbClr val="F26B43"/>
          </p15:clr>
        </p15:guide>
        <p15:guide id="4" pos="3024" userDrawn="1">
          <p15:clr>
            <a:srgbClr val="F26B43"/>
          </p15:clr>
        </p15:guide>
        <p15:guide id="5" pos="3312" userDrawn="1">
          <p15:clr>
            <a:srgbClr val="F26B43"/>
          </p15:clr>
        </p15:guide>
        <p15:guide id="6" pos="4464" userDrawn="1">
          <p15:clr>
            <a:srgbClr val="F26B43"/>
          </p15:clr>
        </p15:guide>
        <p15:guide id="7" pos="4752" userDrawn="1">
          <p15:clr>
            <a:srgbClr val="F26B43"/>
          </p15:clr>
        </p15:guide>
        <p15:guide id="8" pos="5904" userDrawn="1">
          <p15:clr>
            <a:srgbClr val="F26B43"/>
          </p15:clr>
        </p15:guide>
        <p15:guide id="9" pos="6192" userDrawn="1">
          <p15:clr>
            <a:srgbClr val="F26B43"/>
          </p15:clr>
        </p15:guide>
        <p15:guide id="10" pos="7488" userDrawn="1">
          <p15:clr>
            <a:srgbClr val="F26B43"/>
          </p15:clr>
        </p15:guide>
        <p15:guide id="11" pos="8784" userDrawn="1">
          <p15:clr>
            <a:srgbClr val="F26B43"/>
          </p15:clr>
        </p15:guide>
        <p15:guide id="12" orient="horz" pos="1296" userDrawn="1">
          <p15:clr>
            <a:srgbClr val="F26B43"/>
          </p15:clr>
        </p15:guide>
        <p15:guide id="13" orient="horz" pos="4522" userDrawn="1">
          <p15:clr>
            <a:srgbClr val="F26B43"/>
          </p15:clr>
        </p15:guide>
        <p15:guide id="14" orient="horz" pos="489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notesSlide" Target="../notesSlides/notesSlide1.xml"/><Relationship Id="rId5" Type="http://schemas.openxmlformats.org/officeDocument/2006/relationships/tags" Target="../tags/tag5.xml"/><Relationship Id="rId10" Type="http://schemas.openxmlformats.org/officeDocument/2006/relationships/slideLayout" Target="../slideLayouts/slideLayout3.xml"/><Relationship Id="rId4" Type="http://schemas.openxmlformats.org/officeDocument/2006/relationships/tags" Target="../tags/tag4.xml"/><Relationship Id="rId9" Type="http://schemas.openxmlformats.org/officeDocument/2006/relationships/tags" Target="../tags/tag9.xml"/></Relationships>
</file>

<file path=ppt/slides/_rels/slide3.xml.rels><?xml version="1.0" encoding="UTF-8" standalone="yes"?>
<Relationships xmlns="http://schemas.openxmlformats.org/package/2006/relationships"><Relationship Id="rId26" Type="http://schemas.openxmlformats.org/officeDocument/2006/relationships/image" Target="../media/image32.png"/><Relationship Id="rId21" Type="http://schemas.openxmlformats.org/officeDocument/2006/relationships/image" Target="../media/image28.gif"/><Relationship Id="rId42" Type="http://schemas.openxmlformats.org/officeDocument/2006/relationships/image" Target="../media/image48.png"/><Relationship Id="rId47" Type="http://schemas.openxmlformats.org/officeDocument/2006/relationships/image" Target="../media/image53.png"/><Relationship Id="rId63" Type="http://schemas.openxmlformats.org/officeDocument/2006/relationships/image" Target="../media/image69.png"/><Relationship Id="rId68" Type="http://schemas.openxmlformats.org/officeDocument/2006/relationships/image" Target="../media/image74.png"/><Relationship Id="rId2" Type="http://schemas.openxmlformats.org/officeDocument/2006/relationships/notesSlide" Target="../notesSlides/notesSlide2.xml"/><Relationship Id="rId16" Type="http://schemas.openxmlformats.org/officeDocument/2006/relationships/image" Target="../media/image24.png"/><Relationship Id="rId29" Type="http://schemas.openxmlformats.org/officeDocument/2006/relationships/image" Target="../media/image35.PNG"/><Relationship Id="rId11" Type="http://schemas.openxmlformats.org/officeDocument/2006/relationships/image" Target="../media/image19.png"/><Relationship Id="rId24" Type="http://schemas.openxmlformats.org/officeDocument/2006/relationships/image" Target="../media/image31.png"/><Relationship Id="rId32" Type="http://schemas.openxmlformats.org/officeDocument/2006/relationships/image" Target="../media/image38.png"/><Relationship Id="rId37" Type="http://schemas.openxmlformats.org/officeDocument/2006/relationships/image" Target="../media/image43.png"/><Relationship Id="rId40" Type="http://schemas.openxmlformats.org/officeDocument/2006/relationships/image" Target="../media/image46.png"/><Relationship Id="rId45" Type="http://schemas.openxmlformats.org/officeDocument/2006/relationships/image" Target="../media/image51.png"/><Relationship Id="rId53" Type="http://schemas.openxmlformats.org/officeDocument/2006/relationships/image" Target="../media/image59.png"/><Relationship Id="rId58" Type="http://schemas.openxmlformats.org/officeDocument/2006/relationships/image" Target="../media/image64.png"/><Relationship Id="rId66" Type="http://schemas.openxmlformats.org/officeDocument/2006/relationships/image" Target="../media/image72.png"/><Relationship Id="rId74" Type="http://schemas.openxmlformats.org/officeDocument/2006/relationships/image" Target="../media/image80.png"/><Relationship Id="rId5" Type="http://schemas.openxmlformats.org/officeDocument/2006/relationships/image" Target="../media/image13.PNG"/><Relationship Id="rId61" Type="http://schemas.openxmlformats.org/officeDocument/2006/relationships/image" Target="../media/image67.png"/><Relationship Id="rId19" Type="http://schemas.openxmlformats.org/officeDocument/2006/relationships/image" Target="../media/image27.jpeg"/><Relationship Id="rId14" Type="http://schemas.openxmlformats.org/officeDocument/2006/relationships/image" Target="../media/image22.png"/><Relationship Id="rId22" Type="http://schemas.openxmlformats.org/officeDocument/2006/relationships/image" Target="../media/image29.PNG"/><Relationship Id="rId27" Type="http://schemas.openxmlformats.org/officeDocument/2006/relationships/image" Target="../media/image33.png"/><Relationship Id="rId30" Type="http://schemas.openxmlformats.org/officeDocument/2006/relationships/image" Target="../media/image36.png"/><Relationship Id="rId35" Type="http://schemas.openxmlformats.org/officeDocument/2006/relationships/image" Target="../media/image41.png"/><Relationship Id="rId43" Type="http://schemas.openxmlformats.org/officeDocument/2006/relationships/image" Target="../media/image49.png"/><Relationship Id="rId48" Type="http://schemas.openxmlformats.org/officeDocument/2006/relationships/image" Target="../media/image54.png"/><Relationship Id="rId56" Type="http://schemas.openxmlformats.org/officeDocument/2006/relationships/image" Target="../media/image62.png"/><Relationship Id="rId64" Type="http://schemas.openxmlformats.org/officeDocument/2006/relationships/image" Target="../media/image70.png"/><Relationship Id="rId69" Type="http://schemas.openxmlformats.org/officeDocument/2006/relationships/image" Target="../media/image75.png"/><Relationship Id="rId8" Type="http://schemas.openxmlformats.org/officeDocument/2006/relationships/image" Target="../media/image16.png"/><Relationship Id="rId51" Type="http://schemas.openxmlformats.org/officeDocument/2006/relationships/image" Target="../media/image57.png"/><Relationship Id="rId72" Type="http://schemas.openxmlformats.org/officeDocument/2006/relationships/image" Target="../media/image78.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hyperlink" Target="http://www.fiserv.com/default.htm" TargetMode="External"/><Relationship Id="rId33" Type="http://schemas.openxmlformats.org/officeDocument/2006/relationships/image" Target="../media/image39.png"/><Relationship Id="rId38" Type="http://schemas.openxmlformats.org/officeDocument/2006/relationships/image" Target="../media/image44.png"/><Relationship Id="rId46" Type="http://schemas.openxmlformats.org/officeDocument/2006/relationships/image" Target="../media/image52.png"/><Relationship Id="rId59" Type="http://schemas.openxmlformats.org/officeDocument/2006/relationships/image" Target="../media/image65.png"/><Relationship Id="rId67" Type="http://schemas.openxmlformats.org/officeDocument/2006/relationships/image" Target="../media/image73.png"/><Relationship Id="rId20" Type="http://schemas.openxmlformats.org/officeDocument/2006/relationships/hyperlink" Target="http://www.uwo.ca/index.html" TargetMode="External"/><Relationship Id="rId41" Type="http://schemas.openxmlformats.org/officeDocument/2006/relationships/image" Target="../media/image47.png"/><Relationship Id="rId54" Type="http://schemas.openxmlformats.org/officeDocument/2006/relationships/image" Target="../media/image60.png"/><Relationship Id="rId62" Type="http://schemas.openxmlformats.org/officeDocument/2006/relationships/image" Target="../media/image68.png"/><Relationship Id="rId70" Type="http://schemas.openxmlformats.org/officeDocument/2006/relationships/image" Target="../media/image76.png"/><Relationship Id="rId75" Type="http://schemas.openxmlformats.org/officeDocument/2006/relationships/image" Target="../media/image81.png"/><Relationship Id="rId1" Type="http://schemas.openxmlformats.org/officeDocument/2006/relationships/slideLayout" Target="../slideLayouts/slideLayout16.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0.png"/><Relationship Id="rId28" Type="http://schemas.openxmlformats.org/officeDocument/2006/relationships/image" Target="../media/image34.PNG"/><Relationship Id="rId36" Type="http://schemas.openxmlformats.org/officeDocument/2006/relationships/image" Target="../media/image42.png"/><Relationship Id="rId49" Type="http://schemas.openxmlformats.org/officeDocument/2006/relationships/image" Target="../media/image55.png"/><Relationship Id="rId57" Type="http://schemas.openxmlformats.org/officeDocument/2006/relationships/image" Target="../media/image63.png"/><Relationship Id="rId10" Type="http://schemas.openxmlformats.org/officeDocument/2006/relationships/image" Target="../media/image18.png"/><Relationship Id="rId31" Type="http://schemas.openxmlformats.org/officeDocument/2006/relationships/image" Target="../media/image37.png"/><Relationship Id="rId44" Type="http://schemas.openxmlformats.org/officeDocument/2006/relationships/image" Target="../media/image50.png"/><Relationship Id="rId52" Type="http://schemas.openxmlformats.org/officeDocument/2006/relationships/image" Target="../media/image58.png"/><Relationship Id="rId60" Type="http://schemas.openxmlformats.org/officeDocument/2006/relationships/image" Target="../media/image66.png"/><Relationship Id="rId65" Type="http://schemas.openxmlformats.org/officeDocument/2006/relationships/image" Target="../media/image71.png"/><Relationship Id="rId73" Type="http://schemas.openxmlformats.org/officeDocument/2006/relationships/image" Target="../media/image79.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5.png"/><Relationship Id="rId34" Type="http://schemas.openxmlformats.org/officeDocument/2006/relationships/image" Target="../media/image40.png"/><Relationship Id="rId50" Type="http://schemas.openxmlformats.org/officeDocument/2006/relationships/image" Target="../media/image56.png"/><Relationship Id="rId55" Type="http://schemas.openxmlformats.org/officeDocument/2006/relationships/image" Target="../media/image61.png"/><Relationship Id="rId7" Type="http://schemas.openxmlformats.org/officeDocument/2006/relationships/image" Target="../media/image15.jpeg"/><Relationship Id="rId71" Type="http://schemas.openxmlformats.org/officeDocument/2006/relationships/image" Target="../media/image77.png"/></Relationships>
</file>

<file path=ppt/slides/_rels/slide4.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png"/><Relationship Id="rId26" Type="http://schemas.openxmlformats.org/officeDocument/2006/relationships/image" Target="../media/image105.svg"/><Relationship Id="rId3" Type="http://schemas.openxmlformats.org/officeDocument/2006/relationships/image" Target="../media/image82.png"/><Relationship Id="rId21" Type="http://schemas.openxmlformats.org/officeDocument/2006/relationships/image" Target="../media/image100.svg"/><Relationship Id="rId7" Type="http://schemas.openxmlformats.org/officeDocument/2006/relationships/image" Target="../media/image86.png"/><Relationship Id="rId12" Type="http://schemas.openxmlformats.org/officeDocument/2006/relationships/image" Target="../media/image91.svg"/><Relationship Id="rId17" Type="http://schemas.openxmlformats.org/officeDocument/2006/relationships/image" Target="../media/image96.png"/><Relationship Id="rId25" Type="http://schemas.openxmlformats.org/officeDocument/2006/relationships/image" Target="../media/image104.png"/><Relationship Id="rId33" Type="http://schemas.openxmlformats.org/officeDocument/2006/relationships/image" Target="../media/image112.svg"/><Relationship Id="rId2" Type="http://schemas.openxmlformats.org/officeDocument/2006/relationships/notesSlide" Target="../notesSlides/notesSlide3.xml"/><Relationship Id="rId16" Type="http://schemas.openxmlformats.org/officeDocument/2006/relationships/image" Target="../media/image95.svg"/><Relationship Id="rId20" Type="http://schemas.openxmlformats.org/officeDocument/2006/relationships/image" Target="../media/image99.png"/><Relationship Id="rId29"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85.svg"/><Relationship Id="rId11" Type="http://schemas.openxmlformats.org/officeDocument/2006/relationships/image" Target="../media/image90.png"/><Relationship Id="rId24" Type="http://schemas.openxmlformats.org/officeDocument/2006/relationships/image" Target="../media/image103.png"/><Relationship Id="rId32" Type="http://schemas.openxmlformats.org/officeDocument/2006/relationships/image" Target="../media/image111.png"/><Relationship Id="rId5" Type="http://schemas.openxmlformats.org/officeDocument/2006/relationships/image" Target="../media/image84.png"/><Relationship Id="rId15" Type="http://schemas.openxmlformats.org/officeDocument/2006/relationships/image" Target="../media/image94.png"/><Relationship Id="rId23" Type="http://schemas.openxmlformats.org/officeDocument/2006/relationships/image" Target="../media/image102.svg"/><Relationship Id="rId28" Type="http://schemas.openxmlformats.org/officeDocument/2006/relationships/image" Target="../media/image107.svg"/><Relationship Id="rId10" Type="http://schemas.openxmlformats.org/officeDocument/2006/relationships/image" Target="../media/image89.svg"/><Relationship Id="rId19" Type="http://schemas.openxmlformats.org/officeDocument/2006/relationships/image" Target="../media/image98.png"/><Relationship Id="rId31" Type="http://schemas.openxmlformats.org/officeDocument/2006/relationships/image" Target="../media/image110.svg"/><Relationship Id="rId4" Type="http://schemas.openxmlformats.org/officeDocument/2006/relationships/image" Target="../media/image83.jpeg"/><Relationship Id="rId9" Type="http://schemas.openxmlformats.org/officeDocument/2006/relationships/image" Target="../media/image88.png"/><Relationship Id="rId14" Type="http://schemas.openxmlformats.org/officeDocument/2006/relationships/image" Target="../media/image93.svg"/><Relationship Id="rId22" Type="http://schemas.openxmlformats.org/officeDocument/2006/relationships/image" Target="../media/image101.png"/><Relationship Id="rId27" Type="http://schemas.openxmlformats.org/officeDocument/2006/relationships/image" Target="../media/image106.png"/><Relationship Id="rId30" Type="http://schemas.openxmlformats.org/officeDocument/2006/relationships/image" Target="../media/image109.png"/><Relationship Id="rId8" Type="http://schemas.openxmlformats.org/officeDocument/2006/relationships/image" Target="../media/image87.svg"/></Relationships>
</file>

<file path=ppt/slides/_rels/slide5.xml.rels><?xml version="1.0" encoding="UTF-8" standalone="yes"?>
<Relationships xmlns="http://schemas.openxmlformats.org/package/2006/relationships"><Relationship Id="rId2" Type="http://schemas.openxmlformats.org/officeDocument/2006/relationships/hyperlink" Target="mailto:bes-sales-support@dxc.com"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108.png"/><Relationship Id="rId1" Type="http://schemas.openxmlformats.org/officeDocument/2006/relationships/slideLayout" Target="../slideLayouts/slideLayout3.xml"/><Relationship Id="rId5" Type="http://schemas.openxmlformats.org/officeDocument/2006/relationships/image" Target="../media/image97.png"/><Relationship Id="rId4" Type="http://schemas.openxmlformats.org/officeDocument/2006/relationships/image" Target="../media/image9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17.png"/><Relationship Id="rId7" Type="http://schemas.openxmlformats.org/officeDocument/2006/relationships/image" Target="../media/image11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118.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image" Target="../media/image120.jpeg"/><Relationship Id="rId1" Type="http://schemas.openxmlformats.org/officeDocument/2006/relationships/slideLayout" Target="../slideLayouts/slideLayout4.xml"/><Relationship Id="rId6" Type="http://schemas.openxmlformats.org/officeDocument/2006/relationships/image" Target="../media/image124.sv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slides/_rels/slide2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Business Exchange Services (BES)</a:t>
            </a:r>
          </a:p>
        </p:txBody>
      </p:sp>
      <p:sp>
        <p:nvSpPr>
          <p:cNvPr id="5" name="Subtitle 4"/>
          <p:cNvSpPr>
            <a:spLocks noGrp="1"/>
          </p:cNvSpPr>
          <p:nvPr>
            <p:ph type="subTitle" idx="1"/>
          </p:nvPr>
        </p:nvSpPr>
        <p:spPr/>
        <p:txBody>
          <a:bodyPr/>
          <a:lstStyle/>
          <a:p>
            <a:r>
              <a:rPr lang="en-US" dirty="0"/>
              <a:t>Overview</a:t>
            </a:r>
          </a:p>
        </p:txBody>
      </p:sp>
    </p:spTree>
    <p:extLst>
      <p:ext uri="{BB962C8B-B14F-4D97-AF65-F5344CB8AC3E}">
        <p14:creationId xmlns:p14="http://schemas.microsoft.com/office/powerpoint/2010/main" val="1336368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Oval 320"/>
          <p:cNvSpPr/>
          <p:nvPr/>
        </p:nvSpPr>
        <p:spPr>
          <a:xfrm rot="9724649">
            <a:off x="11501215" y="7009905"/>
            <a:ext cx="1185512" cy="338698"/>
          </a:xfrm>
          <a:prstGeom prst="ellipse">
            <a:avLst/>
          </a:prstGeom>
          <a:noFill/>
          <a:ln w="38100">
            <a:solidFill>
              <a:srgbClr val="7F807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40" dirty="0">
              <a:latin typeface="Futura Bk"/>
              <a:cs typeface="Futura Bk"/>
            </a:endParaRPr>
          </a:p>
        </p:txBody>
      </p:sp>
      <p:grpSp>
        <p:nvGrpSpPr>
          <p:cNvPr id="3" name="Group 311"/>
          <p:cNvGrpSpPr>
            <a:grpSpLocks/>
          </p:cNvGrpSpPr>
          <p:nvPr/>
        </p:nvGrpSpPr>
        <p:grpSpPr bwMode="auto">
          <a:xfrm>
            <a:off x="6863187" y="2878870"/>
            <a:ext cx="7256780" cy="3409950"/>
            <a:chOff x="1517634" y="1574181"/>
            <a:chExt cx="6616687" cy="4145228"/>
          </a:xfrm>
        </p:grpSpPr>
        <p:grpSp>
          <p:nvGrpSpPr>
            <p:cNvPr id="4" name="Group 380"/>
            <p:cNvGrpSpPr/>
            <p:nvPr/>
          </p:nvGrpSpPr>
          <p:grpSpPr bwMode="auto">
            <a:xfrm>
              <a:off x="1517634" y="1574181"/>
              <a:ext cx="6616687" cy="4145228"/>
              <a:chOff x="469900" y="1467598"/>
              <a:chExt cx="8441870" cy="4990137"/>
            </a:xfrm>
            <a:gradFill flip="none" rotWithShape="1">
              <a:gsLst>
                <a:gs pos="0">
                  <a:schemeClr val="bg1">
                    <a:lumMod val="85000"/>
                  </a:schemeClr>
                </a:gs>
                <a:gs pos="100000">
                  <a:schemeClr val="bg1"/>
                </a:gs>
              </a:gsLst>
              <a:path path="shape">
                <a:fillToRect l="50000" t="50000" r="50000" b="50000"/>
              </a:path>
              <a:tileRect/>
            </a:gradFill>
            <a:effectLst>
              <a:outerShdw blurRad="50800" dist="38100" dir="5400000" algn="t" rotWithShape="0">
                <a:prstClr val="black">
                  <a:alpha val="40000"/>
                </a:prstClr>
              </a:outerShdw>
            </a:effectLst>
          </p:grpSpPr>
          <p:sp>
            <p:nvSpPr>
              <p:cNvPr id="35" name="Freeform 4"/>
              <p:cNvSpPr>
                <a:spLocks/>
              </p:cNvSpPr>
              <p:nvPr/>
            </p:nvSpPr>
            <p:spPr bwMode="auto">
              <a:xfrm>
                <a:off x="2241081" y="4214059"/>
                <a:ext cx="14212" cy="55071"/>
              </a:xfrm>
              <a:custGeom>
                <a:avLst/>
                <a:gdLst>
                  <a:gd name="T0" fmla="*/ 0 w 9"/>
                  <a:gd name="T1" fmla="*/ 19 h 32"/>
                  <a:gd name="T2" fmla="*/ 4 w 9"/>
                  <a:gd name="T3" fmla="*/ 19 h 32"/>
                  <a:gd name="T4" fmla="*/ 4 w 9"/>
                  <a:gd name="T5" fmla="*/ 0 h 32"/>
                  <a:gd name="T6" fmla="*/ 0 w 9"/>
                  <a:gd name="T7" fmla="*/ 8 h 32"/>
                  <a:gd name="T8" fmla="*/ 0 w 9"/>
                  <a:gd name="T9" fmla="*/ 19 h 32"/>
                  <a:gd name="T10" fmla="*/ 0 60000 65536"/>
                  <a:gd name="T11" fmla="*/ 0 60000 65536"/>
                  <a:gd name="T12" fmla="*/ 0 60000 65536"/>
                  <a:gd name="T13" fmla="*/ 0 60000 65536"/>
                  <a:gd name="T14" fmla="*/ 0 60000 65536"/>
                  <a:gd name="T15" fmla="*/ 0 w 9"/>
                  <a:gd name="T16" fmla="*/ 0 h 32"/>
                  <a:gd name="T17" fmla="*/ 9 w 9"/>
                  <a:gd name="T18" fmla="*/ 32 h 32"/>
                </a:gdLst>
                <a:ahLst/>
                <a:cxnLst>
                  <a:cxn ang="T10">
                    <a:pos x="T0" y="T1"/>
                  </a:cxn>
                  <a:cxn ang="T11">
                    <a:pos x="T2" y="T3"/>
                  </a:cxn>
                  <a:cxn ang="T12">
                    <a:pos x="T4" y="T5"/>
                  </a:cxn>
                  <a:cxn ang="T13">
                    <a:pos x="T6" y="T7"/>
                  </a:cxn>
                  <a:cxn ang="T14">
                    <a:pos x="T8" y="T9"/>
                  </a:cxn>
                </a:cxnLst>
                <a:rect l="T15" t="T16" r="T17" b="T18"/>
                <a:pathLst>
                  <a:path w="9" h="32">
                    <a:moveTo>
                      <a:pt x="0" y="31"/>
                    </a:moveTo>
                    <a:lnTo>
                      <a:pt x="8" y="31"/>
                    </a:lnTo>
                    <a:lnTo>
                      <a:pt x="8" y="0"/>
                    </a:lnTo>
                    <a:lnTo>
                      <a:pt x="0" y="8"/>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6" name="Freeform 5"/>
              <p:cNvSpPr>
                <a:spLocks/>
              </p:cNvSpPr>
              <p:nvPr/>
            </p:nvSpPr>
            <p:spPr bwMode="auto">
              <a:xfrm>
                <a:off x="2241081" y="4214059"/>
                <a:ext cx="14212" cy="55071"/>
              </a:xfrm>
              <a:custGeom>
                <a:avLst/>
                <a:gdLst>
                  <a:gd name="T0" fmla="*/ 0 w 9"/>
                  <a:gd name="T1" fmla="*/ 19 h 32"/>
                  <a:gd name="T2" fmla="*/ 4 w 9"/>
                  <a:gd name="T3" fmla="*/ 19 h 32"/>
                  <a:gd name="T4" fmla="*/ 4 w 9"/>
                  <a:gd name="T5" fmla="*/ 0 h 32"/>
                  <a:gd name="T6" fmla="*/ 0 w 9"/>
                  <a:gd name="T7" fmla="*/ 8 h 32"/>
                  <a:gd name="T8" fmla="*/ 0 w 9"/>
                  <a:gd name="T9" fmla="*/ 19 h 32"/>
                  <a:gd name="T10" fmla="*/ 0 60000 65536"/>
                  <a:gd name="T11" fmla="*/ 0 60000 65536"/>
                  <a:gd name="T12" fmla="*/ 0 60000 65536"/>
                  <a:gd name="T13" fmla="*/ 0 60000 65536"/>
                  <a:gd name="T14" fmla="*/ 0 60000 65536"/>
                  <a:gd name="T15" fmla="*/ 0 w 9"/>
                  <a:gd name="T16" fmla="*/ 0 h 32"/>
                  <a:gd name="T17" fmla="*/ 9 w 9"/>
                  <a:gd name="T18" fmla="*/ 32 h 32"/>
                </a:gdLst>
                <a:ahLst/>
                <a:cxnLst>
                  <a:cxn ang="T10">
                    <a:pos x="T0" y="T1"/>
                  </a:cxn>
                  <a:cxn ang="T11">
                    <a:pos x="T2" y="T3"/>
                  </a:cxn>
                  <a:cxn ang="T12">
                    <a:pos x="T4" y="T5"/>
                  </a:cxn>
                  <a:cxn ang="T13">
                    <a:pos x="T6" y="T7"/>
                  </a:cxn>
                  <a:cxn ang="T14">
                    <a:pos x="T8" y="T9"/>
                  </a:cxn>
                </a:cxnLst>
                <a:rect l="T15" t="T16" r="T17" b="T18"/>
                <a:pathLst>
                  <a:path w="9" h="32">
                    <a:moveTo>
                      <a:pt x="0" y="31"/>
                    </a:moveTo>
                    <a:lnTo>
                      <a:pt x="8" y="31"/>
                    </a:lnTo>
                    <a:lnTo>
                      <a:pt x="8" y="0"/>
                    </a:lnTo>
                    <a:lnTo>
                      <a:pt x="0" y="8"/>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7" name="Freeform 6"/>
              <p:cNvSpPr>
                <a:spLocks/>
              </p:cNvSpPr>
              <p:nvPr/>
            </p:nvSpPr>
            <p:spPr bwMode="auto">
              <a:xfrm>
                <a:off x="2203774" y="4318872"/>
                <a:ext cx="65731" cy="26647"/>
              </a:xfrm>
              <a:custGeom>
                <a:avLst/>
                <a:gdLst>
                  <a:gd name="T0" fmla="*/ 3 w 43"/>
                  <a:gd name="T1" fmla="*/ 0 h 16"/>
                  <a:gd name="T2" fmla="*/ 0 w 43"/>
                  <a:gd name="T3" fmla="*/ 8 h 16"/>
                  <a:gd name="T4" fmla="*/ 3 w 43"/>
                  <a:gd name="T5" fmla="*/ 8 h 16"/>
                  <a:gd name="T6" fmla="*/ 7 w 43"/>
                  <a:gd name="T7" fmla="*/ 8 h 16"/>
                  <a:gd name="T8" fmla="*/ 7 w 43"/>
                  <a:gd name="T9" fmla="*/ 8 h 16"/>
                  <a:gd name="T10" fmla="*/ 3 w 43"/>
                  <a:gd name="T11" fmla="*/ 0 h 16"/>
                  <a:gd name="T12" fmla="*/ 0 60000 65536"/>
                  <a:gd name="T13" fmla="*/ 0 60000 65536"/>
                  <a:gd name="T14" fmla="*/ 0 60000 65536"/>
                  <a:gd name="T15" fmla="*/ 0 60000 65536"/>
                  <a:gd name="T16" fmla="*/ 0 60000 65536"/>
                  <a:gd name="T17" fmla="*/ 0 60000 65536"/>
                  <a:gd name="T18" fmla="*/ 0 w 43"/>
                  <a:gd name="T19" fmla="*/ 0 h 16"/>
                  <a:gd name="T20" fmla="*/ 43 w 43"/>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43" h="16">
                    <a:moveTo>
                      <a:pt x="8" y="0"/>
                    </a:moveTo>
                    <a:lnTo>
                      <a:pt x="0" y="8"/>
                    </a:lnTo>
                    <a:lnTo>
                      <a:pt x="8" y="15"/>
                    </a:lnTo>
                    <a:lnTo>
                      <a:pt x="42" y="15"/>
                    </a:lnTo>
                    <a:lnTo>
                      <a:pt x="42" y="8"/>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8" name="Freeform 7"/>
              <p:cNvSpPr>
                <a:spLocks/>
              </p:cNvSpPr>
              <p:nvPr/>
            </p:nvSpPr>
            <p:spPr bwMode="auto">
              <a:xfrm>
                <a:off x="2441825" y="4450333"/>
                <a:ext cx="14212" cy="17765"/>
              </a:xfrm>
              <a:custGeom>
                <a:avLst/>
                <a:gdLst>
                  <a:gd name="T0" fmla="*/ 4 w 9"/>
                  <a:gd name="T1" fmla="*/ 9 h 10"/>
                  <a:gd name="T2" fmla="*/ 4 w 9"/>
                  <a:gd name="T3" fmla="*/ 0 h 10"/>
                  <a:gd name="T4" fmla="*/ 0 w 9"/>
                  <a:gd name="T5" fmla="*/ 0 h 10"/>
                  <a:gd name="T6" fmla="*/ 4 w 9"/>
                  <a:gd name="T7" fmla="*/ 9 h 10"/>
                  <a:gd name="T8" fmla="*/ 0 60000 65536"/>
                  <a:gd name="T9" fmla="*/ 0 60000 65536"/>
                  <a:gd name="T10" fmla="*/ 0 60000 65536"/>
                  <a:gd name="T11" fmla="*/ 0 60000 65536"/>
                  <a:gd name="T12" fmla="*/ 0 w 9"/>
                  <a:gd name="T13" fmla="*/ 0 h 10"/>
                  <a:gd name="T14" fmla="*/ 9 w 9"/>
                  <a:gd name="T15" fmla="*/ 10 h 10"/>
                </a:gdLst>
                <a:ahLst/>
                <a:cxnLst>
                  <a:cxn ang="T8">
                    <a:pos x="T0" y="T1"/>
                  </a:cxn>
                  <a:cxn ang="T9">
                    <a:pos x="T2" y="T3"/>
                  </a:cxn>
                  <a:cxn ang="T10">
                    <a:pos x="T4" y="T5"/>
                  </a:cxn>
                  <a:cxn ang="T11">
                    <a:pos x="T6" y="T7"/>
                  </a:cxn>
                </a:cxnLst>
                <a:rect l="T12" t="T13" r="T14" b="T15"/>
                <a:pathLst>
                  <a:path w="9" h="10">
                    <a:moveTo>
                      <a:pt x="8" y="9"/>
                    </a:moveTo>
                    <a:lnTo>
                      <a:pt x="8" y="0"/>
                    </a:lnTo>
                    <a:lnTo>
                      <a:pt x="0" y="0"/>
                    </a:lnTo>
                    <a:lnTo>
                      <a:pt x="8" y="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9" name="Freeform 8"/>
              <p:cNvSpPr>
                <a:spLocks/>
              </p:cNvSpPr>
              <p:nvPr/>
            </p:nvSpPr>
            <p:spPr bwMode="auto">
              <a:xfrm>
                <a:off x="2441825" y="4450333"/>
                <a:ext cx="14212" cy="17765"/>
              </a:xfrm>
              <a:custGeom>
                <a:avLst/>
                <a:gdLst>
                  <a:gd name="T0" fmla="*/ 4 w 9"/>
                  <a:gd name="T1" fmla="*/ 9 h 10"/>
                  <a:gd name="T2" fmla="*/ 4 w 9"/>
                  <a:gd name="T3" fmla="*/ 0 h 10"/>
                  <a:gd name="T4" fmla="*/ 0 w 9"/>
                  <a:gd name="T5" fmla="*/ 0 h 10"/>
                  <a:gd name="T6" fmla="*/ 4 w 9"/>
                  <a:gd name="T7" fmla="*/ 9 h 10"/>
                  <a:gd name="T8" fmla="*/ 0 60000 65536"/>
                  <a:gd name="T9" fmla="*/ 0 60000 65536"/>
                  <a:gd name="T10" fmla="*/ 0 60000 65536"/>
                  <a:gd name="T11" fmla="*/ 0 60000 65536"/>
                  <a:gd name="T12" fmla="*/ 0 w 9"/>
                  <a:gd name="T13" fmla="*/ 0 h 10"/>
                  <a:gd name="T14" fmla="*/ 9 w 9"/>
                  <a:gd name="T15" fmla="*/ 10 h 10"/>
                </a:gdLst>
                <a:ahLst/>
                <a:cxnLst>
                  <a:cxn ang="T8">
                    <a:pos x="T0" y="T1"/>
                  </a:cxn>
                  <a:cxn ang="T9">
                    <a:pos x="T2" y="T3"/>
                  </a:cxn>
                  <a:cxn ang="T10">
                    <a:pos x="T4" y="T5"/>
                  </a:cxn>
                  <a:cxn ang="T11">
                    <a:pos x="T6" y="T7"/>
                  </a:cxn>
                </a:cxnLst>
                <a:rect l="T12" t="T13" r="T14" b="T15"/>
                <a:pathLst>
                  <a:path w="9" h="10">
                    <a:moveTo>
                      <a:pt x="8" y="9"/>
                    </a:moveTo>
                    <a:lnTo>
                      <a:pt x="8" y="0"/>
                    </a:lnTo>
                    <a:lnTo>
                      <a:pt x="0" y="0"/>
                    </a:lnTo>
                    <a:lnTo>
                      <a:pt x="8" y="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0" name="Freeform 9"/>
              <p:cNvSpPr>
                <a:spLocks/>
              </p:cNvSpPr>
              <p:nvPr/>
            </p:nvSpPr>
            <p:spPr bwMode="auto">
              <a:xfrm>
                <a:off x="2441825" y="4450333"/>
                <a:ext cx="14212" cy="17765"/>
              </a:xfrm>
              <a:custGeom>
                <a:avLst/>
                <a:gdLst>
                  <a:gd name="T0" fmla="*/ 4 w 9"/>
                  <a:gd name="T1" fmla="*/ 9 h 10"/>
                  <a:gd name="T2" fmla="*/ 4 w 9"/>
                  <a:gd name="T3" fmla="*/ 0 h 10"/>
                  <a:gd name="T4" fmla="*/ 0 w 9"/>
                  <a:gd name="T5" fmla="*/ 0 h 10"/>
                  <a:gd name="T6" fmla="*/ 4 w 9"/>
                  <a:gd name="T7" fmla="*/ 9 h 10"/>
                  <a:gd name="T8" fmla="*/ 0 60000 65536"/>
                  <a:gd name="T9" fmla="*/ 0 60000 65536"/>
                  <a:gd name="T10" fmla="*/ 0 60000 65536"/>
                  <a:gd name="T11" fmla="*/ 0 60000 65536"/>
                  <a:gd name="T12" fmla="*/ 0 w 9"/>
                  <a:gd name="T13" fmla="*/ 0 h 10"/>
                  <a:gd name="T14" fmla="*/ 9 w 9"/>
                  <a:gd name="T15" fmla="*/ 10 h 10"/>
                </a:gdLst>
                <a:ahLst/>
                <a:cxnLst>
                  <a:cxn ang="T8">
                    <a:pos x="T0" y="T1"/>
                  </a:cxn>
                  <a:cxn ang="T9">
                    <a:pos x="T2" y="T3"/>
                  </a:cxn>
                  <a:cxn ang="T10">
                    <a:pos x="T4" y="T5"/>
                  </a:cxn>
                  <a:cxn ang="T11">
                    <a:pos x="T6" y="T7"/>
                  </a:cxn>
                </a:cxnLst>
                <a:rect l="T12" t="T13" r="T14" b="T15"/>
                <a:pathLst>
                  <a:path w="9" h="10">
                    <a:moveTo>
                      <a:pt x="8" y="9"/>
                    </a:moveTo>
                    <a:lnTo>
                      <a:pt x="8" y="0"/>
                    </a:lnTo>
                    <a:lnTo>
                      <a:pt x="0" y="0"/>
                    </a:lnTo>
                    <a:lnTo>
                      <a:pt x="8" y="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1" name="Freeform 10"/>
              <p:cNvSpPr>
                <a:spLocks/>
              </p:cNvSpPr>
              <p:nvPr/>
            </p:nvSpPr>
            <p:spPr bwMode="auto">
              <a:xfrm>
                <a:off x="2441825" y="4450333"/>
                <a:ext cx="14212" cy="17765"/>
              </a:xfrm>
              <a:custGeom>
                <a:avLst/>
                <a:gdLst>
                  <a:gd name="T0" fmla="*/ 4 w 9"/>
                  <a:gd name="T1" fmla="*/ 9 h 10"/>
                  <a:gd name="T2" fmla="*/ 4 w 9"/>
                  <a:gd name="T3" fmla="*/ 0 h 10"/>
                  <a:gd name="T4" fmla="*/ 0 w 9"/>
                  <a:gd name="T5" fmla="*/ 0 h 10"/>
                  <a:gd name="T6" fmla="*/ 4 w 9"/>
                  <a:gd name="T7" fmla="*/ 9 h 10"/>
                  <a:gd name="T8" fmla="*/ 0 60000 65536"/>
                  <a:gd name="T9" fmla="*/ 0 60000 65536"/>
                  <a:gd name="T10" fmla="*/ 0 60000 65536"/>
                  <a:gd name="T11" fmla="*/ 0 60000 65536"/>
                  <a:gd name="T12" fmla="*/ 0 w 9"/>
                  <a:gd name="T13" fmla="*/ 0 h 10"/>
                  <a:gd name="T14" fmla="*/ 9 w 9"/>
                  <a:gd name="T15" fmla="*/ 10 h 10"/>
                </a:gdLst>
                <a:ahLst/>
                <a:cxnLst>
                  <a:cxn ang="T8">
                    <a:pos x="T0" y="T1"/>
                  </a:cxn>
                  <a:cxn ang="T9">
                    <a:pos x="T2" y="T3"/>
                  </a:cxn>
                  <a:cxn ang="T10">
                    <a:pos x="T4" y="T5"/>
                  </a:cxn>
                  <a:cxn ang="T11">
                    <a:pos x="T6" y="T7"/>
                  </a:cxn>
                </a:cxnLst>
                <a:rect l="T12" t="T13" r="T14" b="T15"/>
                <a:pathLst>
                  <a:path w="9" h="10">
                    <a:moveTo>
                      <a:pt x="8" y="9"/>
                    </a:moveTo>
                    <a:lnTo>
                      <a:pt x="8" y="0"/>
                    </a:lnTo>
                    <a:lnTo>
                      <a:pt x="0" y="0"/>
                    </a:lnTo>
                    <a:lnTo>
                      <a:pt x="8" y="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2" name="Freeform 12"/>
              <p:cNvSpPr>
                <a:spLocks/>
              </p:cNvSpPr>
              <p:nvPr/>
            </p:nvSpPr>
            <p:spPr bwMode="auto">
              <a:xfrm>
                <a:off x="1665494" y="3855206"/>
                <a:ext cx="699942" cy="506302"/>
              </a:xfrm>
              <a:custGeom>
                <a:avLst/>
                <a:gdLst>
                  <a:gd name="T0" fmla="*/ 38 w 469"/>
                  <a:gd name="T1" fmla="*/ 103 h 291"/>
                  <a:gd name="T2" fmla="*/ 38 w 469"/>
                  <a:gd name="T3" fmla="*/ 138 h 291"/>
                  <a:gd name="T4" fmla="*/ 40 w 469"/>
                  <a:gd name="T5" fmla="*/ 178 h 291"/>
                  <a:gd name="T6" fmla="*/ 48 w 469"/>
                  <a:gd name="T7" fmla="*/ 178 h 291"/>
                  <a:gd name="T8" fmla="*/ 50 w 469"/>
                  <a:gd name="T9" fmla="*/ 178 h 291"/>
                  <a:gd name="T10" fmla="*/ 51 w 469"/>
                  <a:gd name="T11" fmla="*/ 143 h 291"/>
                  <a:gd name="T12" fmla="*/ 56 w 469"/>
                  <a:gd name="T13" fmla="*/ 138 h 291"/>
                  <a:gd name="T14" fmla="*/ 56 w 469"/>
                  <a:gd name="T15" fmla="*/ 178 h 291"/>
                  <a:gd name="T16" fmla="*/ 55 w 469"/>
                  <a:gd name="T17" fmla="*/ 178 h 291"/>
                  <a:gd name="T18" fmla="*/ 50 w 469"/>
                  <a:gd name="T19" fmla="*/ 185 h 291"/>
                  <a:gd name="T20" fmla="*/ 51 w 469"/>
                  <a:gd name="T21" fmla="*/ 203 h 291"/>
                  <a:gd name="T22" fmla="*/ 48 w 469"/>
                  <a:gd name="T23" fmla="*/ 226 h 291"/>
                  <a:gd name="T24" fmla="*/ 42 w 469"/>
                  <a:gd name="T25" fmla="*/ 203 h 291"/>
                  <a:gd name="T26" fmla="*/ 38 w 469"/>
                  <a:gd name="T27" fmla="*/ 203 h 291"/>
                  <a:gd name="T28" fmla="*/ 29 w 469"/>
                  <a:gd name="T29" fmla="*/ 185 h 291"/>
                  <a:gd name="T30" fmla="*/ 24 w 469"/>
                  <a:gd name="T31" fmla="*/ 166 h 291"/>
                  <a:gd name="T32" fmla="*/ 24 w 469"/>
                  <a:gd name="T33" fmla="*/ 143 h 291"/>
                  <a:gd name="T34" fmla="*/ 17 w 469"/>
                  <a:gd name="T35" fmla="*/ 97 h 291"/>
                  <a:gd name="T36" fmla="*/ 14 w 469"/>
                  <a:gd name="T37" fmla="*/ 83 h 291"/>
                  <a:gd name="T38" fmla="*/ 12 w 469"/>
                  <a:gd name="T39" fmla="*/ 62 h 291"/>
                  <a:gd name="T40" fmla="*/ 9 w 469"/>
                  <a:gd name="T41" fmla="*/ 42 h 291"/>
                  <a:gd name="T42" fmla="*/ 6 w 469"/>
                  <a:gd name="T43" fmla="*/ 23 h 291"/>
                  <a:gd name="T44" fmla="*/ 4 w 469"/>
                  <a:gd name="T45" fmla="*/ 26 h 291"/>
                  <a:gd name="T46" fmla="*/ 12 w 469"/>
                  <a:gd name="T47" fmla="*/ 108 h 291"/>
                  <a:gd name="T48" fmla="*/ 14 w 469"/>
                  <a:gd name="T49" fmla="*/ 118 h 291"/>
                  <a:gd name="T50" fmla="*/ 12 w 469"/>
                  <a:gd name="T51" fmla="*/ 118 h 291"/>
                  <a:gd name="T52" fmla="*/ 9 w 469"/>
                  <a:gd name="T53" fmla="*/ 97 h 291"/>
                  <a:gd name="T54" fmla="*/ 4 w 469"/>
                  <a:gd name="T55" fmla="*/ 70 h 291"/>
                  <a:gd name="T56" fmla="*/ 4 w 469"/>
                  <a:gd name="T57" fmla="*/ 66 h 291"/>
                  <a:gd name="T58" fmla="*/ 3 w 469"/>
                  <a:gd name="T59" fmla="*/ 34 h 291"/>
                  <a:gd name="T60" fmla="*/ 3 w 469"/>
                  <a:gd name="T61" fmla="*/ 0 h 291"/>
                  <a:gd name="T62" fmla="*/ 20 w 469"/>
                  <a:gd name="T63" fmla="*/ 7 h 291"/>
                  <a:gd name="T64" fmla="*/ 24 w 469"/>
                  <a:gd name="T65" fmla="*/ 34 h 291"/>
                  <a:gd name="T66" fmla="*/ 27 w 469"/>
                  <a:gd name="T67" fmla="*/ 42 h 291"/>
                  <a:gd name="T68" fmla="*/ 29 w 469"/>
                  <a:gd name="T69" fmla="*/ 34 h 291"/>
                  <a:gd name="T70" fmla="*/ 38 w 469"/>
                  <a:gd name="T71" fmla="*/ 91 h 29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69"/>
                  <a:gd name="T109" fmla="*/ 0 h 291"/>
                  <a:gd name="T110" fmla="*/ 469 w 469"/>
                  <a:gd name="T111" fmla="*/ 291 h 29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69" h="291">
                    <a:moveTo>
                      <a:pt x="310" y="115"/>
                    </a:moveTo>
                    <a:lnTo>
                      <a:pt x="300" y="130"/>
                    </a:lnTo>
                    <a:lnTo>
                      <a:pt x="300" y="168"/>
                    </a:lnTo>
                    <a:lnTo>
                      <a:pt x="310" y="176"/>
                    </a:lnTo>
                    <a:lnTo>
                      <a:pt x="310" y="183"/>
                    </a:lnTo>
                    <a:lnTo>
                      <a:pt x="326" y="229"/>
                    </a:lnTo>
                    <a:lnTo>
                      <a:pt x="360" y="237"/>
                    </a:lnTo>
                    <a:lnTo>
                      <a:pt x="392" y="229"/>
                    </a:lnTo>
                    <a:lnTo>
                      <a:pt x="410" y="229"/>
                    </a:lnTo>
                    <a:lnTo>
                      <a:pt x="401" y="229"/>
                    </a:lnTo>
                    <a:lnTo>
                      <a:pt x="410" y="214"/>
                    </a:lnTo>
                    <a:lnTo>
                      <a:pt x="418" y="183"/>
                    </a:lnTo>
                    <a:lnTo>
                      <a:pt x="426" y="183"/>
                    </a:lnTo>
                    <a:lnTo>
                      <a:pt x="460" y="176"/>
                    </a:lnTo>
                    <a:lnTo>
                      <a:pt x="468" y="183"/>
                    </a:lnTo>
                    <a:lnTo>
                      <a:pt x="460" y="229"/>
                    </a:lnTo>
                    <a:lnTo>
                      <a:pt x="460" y="237"/>
                    </a:lnTo>
                    <a:lnTo>
                      <a:pt x="451" y="229"/>
                    </a:lnTo>
                    <a:lnTo>
                      <a:pt x="443" y="237"/>
                    </a:lnTo>
                    <a:lnTo>
                      <a:pt x="410" y="237"/>
                    </a:lnTo>
                    <a:lnTo>
                      <a:pt x="401" y="244"/>
                    </a:lnTo>
                    <a:lnTo>
                      <a:pt x="418" y="260"/>
                    </a:lnTo>
                    <a:lnTo>
                      <a:pt x="401" y="260"/>
                    </a:lnTo>
                    <a:lnTo>
                      <a:pt x="392" y="290"/>
                    </a:lnTo>
                    <a:lnTo>
                      <a:pt x="360" y="260"/>
                    </a:lnTo>
                    <a:lnTo>
                      <a:pt x="342" y="260"/>
                    </a:lnTo>
                    <a:lnTo>
                      <a:pt x="326" y="276"/>
                    </a:lnTo>
                    <a:lnTo>
                      <a:pt x="300" y="260"/>
                    </a:lnTo>
                    <a:lnTo>
                      <a:pt x="250" y="244"/>
                    </a:lnTo>
                    <a:lnTo>
                      <a:pt x="242" y="237"/>
                    </a:lnTo>
                    <a:lnTo>
                      <a:pt x="208" y="237"/>
                    </a:lnTo>
                    <a:lnTo>
                      <a:pt x="192" y="214"/>
                    </a:lnTo>
                    <a:lnTo>
                      <a:pt x="176" y="199"/>
                    </a:lnTo>
                    <a:lnTo>
                      <a:pt x="192" y="183"/>
                    </a:lnTo>
                    <a:lnTo>
                      <a:pt x="176" y="168"/>
                    </a:lnTo>
                    <a:lnTo>
                      <a:pt x="142" y="122"/>
                    </a:lnTo>
                    <a:lnTo>
                      <a:pt x="117" y="115"/>
                    </a:lnTo>
                    <a:lnTo>
                      <a:pt x="117" y="107"/>
                    </a:lnTo>
                    <a:lnTo>
                      <a:pt x="100" y="84"/>
                    </a:lnTo>
                    <a:lnTo>
                      <a:pt x="100" y="77"/>
                    </a:lnTo>
                    <a:lnTo>
                      <a:pt x="83" y="77"/>
                    </a:lnTo>
                    <a:lnTo>
                      <a:pt x="75" y="54"/>
                    </a:lnTo>
                    <a:lnTo>
                      <a:pt x="58" y="23"/>
                    </a:lnTo>
                    <a:lnTo>
                      <a:pt x="50" y="23"/>
                    </a:lnTo>
                    <a:lnTo>
                      <a:pt x="25" y="7"/>
                    </a:lnTo>
                    <a:lnTo>
                      <a:pt x="33" y="38"/>
                    </a:lnTo>
                    <a:lnTo>
                      <a:pt x="83" y="107"/>
                    </a:lnTo>
                    <a:lnTo>
                      <a:pt x="100" y="138"/>
                    </a:lnTo>
                    <a:lnTo>
                      <a:pt x="108" y="138"/>
                    </a:lnTo>
                    <a:lnTo>
                      <a:pt x="117" y="153"/>
                    </a:lnTo>
                    <a:lnTo>
                      <a:pt x="108" y="161"/>
                    </a:lnTo>
                    <a:lnTo>
                      <a:pt x="100" y="153"/>
                    </a:lnTo>
                    <a:lnTo>
                      <a:pt x="67" y="130"/>
                    </a:lnTo>
                    <a:lnTo>
                      <a:pt x="75" y="122"/>
                    </a:lnTo>
                    <a:lnTo>
                      <a:pt x="67" y="107"/>
                    </a:lnTo>
                    <a:lnTo>
                      <a:pt x="33" y="92"/>
                    </a:lnTo>
                    <a:lnTo>
                      <a:pt x="25" y="77"/>
                    </a:lnTo>
                    <a:lnTo>
                      <a:pt x="33" y="84"/>
                    </a:lnTo>
                    <a:lnTo>
                      <a:pt x="50" y="61"/>
                    </a:lnTo>
                    <a:lnTo>
                      <a:pt x="17" y="46"/>
                    </a:lnTo>
                    <a:lnTo>
                      <a:pt x="0" y="0"/>
                    </a:lnTo>
                    <a:lnTo>
                      <a:pt x="25" y="0"/>
                    </a:lnTo>
                    <a:lnTo>
                      <a:pt x="83" y="23"/>
                    </a:lnTo>
                    <a:lnTo>
                      <a:pt x="167" y="7"/>
                    </a:lnTo>
                    <a:lnTo>
                      <a:pt x="192" y="31"/>
                    </a:lnTo>
                    <a:lnTo>
                      <a:pt x="192" y="46"/>
                    </a:lnTo>
                    <a:lnTo>
                      <a:pt x="208" y="54"/>
                    </a:lnTo>
                    <a:lnTo>
                      <a:pt x="217" y="54"/>
                    </a:lnTo>
                    <a:lnTo>
                      <a:pt x="226" y="46"/>
                    </a:lnTo>
                    <a:lnTo>
                      <a:pt x="242" y="46"/>
                    </a:lnTo>
                    <a:lnTo>
                      <a:pt x="276" y="107"/>
                    </a:lnTo>
                    <a:lnTo>
                      <a:pt x="310" y="1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3" name="Freeform 13"/>
              <p:cNvSpPr>
                <a:spLocks/>
              </p:cNvSpPr>
              <p:nvPr/>
            </p:nvSpPr>
            <p:spPr bwMode="auto">
              <a:xfrm>
                <a:off x="2251740" y="4267354"/>
                <a:ext cx="88825" cy="106590"/>
              </a:xfrm>
              <a:custGeom>
                <a:avLst/>
                <a:gdLst>
                  <a:gd name="T0" fmla="*/ 7 w 59"/>
                  <a:gd name="T1" fmla="*/ 15 h 62"/>
                  <a:gd name="T2" fmla="*/ 8 w 59"/>
                  <a:gd name="T3" fmla="*/ 26 h 62"/>
                  <a:gd name="T4" fmla="*/ 5 w 59"/>
                  <a:gd name="T5" fmla="*/ 37 h 62"/>
                  <a:gd name="T6" fmla="*/ 3 w 59"/>
                  <a:gd name="T7" fmla="*/ 41 h 62"/>
                  <a:gd name="T8" fmla="*/ 0 w 59"/>
                  <a:gd name="T9" fmla="*/ 37 h 62"/>
                  <a:gd name="T10" fmla="*/ 3 w 59"/>
                  <a:gd name="T11" fmla="*/ 15 h 62"/>
                  <a:gd name="T12" fmla="*/ 3 w 59"/>
                  <a:gd name="T13" fmla="*/ 15 h 62"/>
                  <a:gd name="T14" fmla="*/ 3 w 59"/>
                  <a:gd name="T15" fmla="*/ 7 h 62"/>
                  <a:gd name="T16" fmla="*/ 3 w 59"/>
                  <a:gd name="T17" fmla="*/ 0 h 62"/>
                  <a:gd name="T18" fmla="*/ 7 w 59"/>
                  <a:gd name="T19" fmla="*/ 0 h 62"/>
                  <a:gd name="T20" fmla="*/ 7 w 59"/>
                  <a:gd name="T21" fmla="*/ 15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
                  <a:gd name="T34" fmla="*/ 0 h 62"/>
                  <a:gd name="T35" fmla="*/ 59 w 59"/>
                  <a:gd name="T36" fmla="*/ 62 h 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 h="62">
                    <a:moveTo>
                      <a:pt x="50" y="23"/>
                    </a:moveTo>
                    <a:lnTo>
                      <a:pt x="58" y="38"/>
                    </a:lnTo>
                    <a:lnTo>
                      <a:pt x="34" y="53"/>
                    </a:lnTo>
                    <a:lnTo>
                      <a:pt x="25" y="61"/>
                    </a:lnTo>
                    <a:lnTo>
                      <a:pt x="0" y="53"/>
                    </a:lnTo>
                    <a:lnTo>
                      <a:pt x="8" y="23"/>
                    </a:lnTo>
                    <a:lnTo>
                      <a:pt x="25" y="23"/>
                    </a:lnTo>
                    <a:lnTo>
                      <a:pt x="8" y="7"/>
                    </a:lnTo>
                    <a:lnTo>
                      <a:pt x="17" y="0"/>
                    </a:lnTo>
                    <a:lnTo>
                      <a:pt x="50" y="0"/>
                    </a:lnTo>
                    <a:lnTo>
                      <a:pt x="50"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4" name="Freeform 14"/>
              <p:cNvSpPr>
                <a:spLocks/>
              </p:cNvSpPr>
              <p:nvPr/>
            </p:nvSpPr>
            <p:spPr bwMode="auto">
              <a:xfrm>
                <a:off x="2301482" y="4333084"/>
                <a:ext cx="152779" cy="53295"/>
              </a:xfrm>
              <a:custGeom>
                <a:avLst/>
                <a:gdLst>
                  <a:gd name="T0" fmla="*/ 3 w 102"/>
                  <a:gd name="T1" fmla="*/ 0 h 31"/>
                  <a:gd name="T2" fmla="*/ 9 w 102"/>
                  <a:gd name="T3" fmla="*/ 0 h 31"/>
                  <a:gd name="T4" fmla="*/ 13 w 102"/>
                  <a:gd name="T5" fmla="*/ 7 h 31"/>
                  <a:gd name="T6" fmla="*/ 11 w 102"/>
                  <a:gd name="T7" fmla="*/ 14 h 31"/>
                  <a:gd name="T8" fmla="*/ 6 w 102"/>
                  <a:gd name="T9" fmla="*/ 18 h 31"/>
                  <a:gd name="T10" fmla="*/ 4 w 102"/>
                  <a:gd name="T11" fmla="*/ 18 h 31"/>
                  <a:gd name="T12" fmla="*/ 4 w 102"/>
                  <a:gd name="T13" fmla="*/ 15 h 31"/>
                  <a:gd name="T14" fmla="*/ 0 w 102"/>
                  <a:gd name="T15" fmla="*/ 14 h 31"/>
                  <a:gd name="T16" fmla="*/ 3 w 102"/>
                  <a:gd name="T17" fmla="*/ 0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2"/>
                  <a:gd name="T28" fmla="*/ 0 h 31"/>
                  <a:gd name="T29" fmla="*/ 102 w 102"/>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2" h="31">
                    <a:moveTo>
                      <a:pt x="25" y="0"/>
                    </a:moveTo>
                    <a:lnTo>
                      <a:pt x="75" y="0"/>
                    </a:lnTo>
                    <a:lnTo>
                      <a:pt x="101" y="7"/>
                    </a:lnTo>
                    <a:lnTo>
                      <a:pt x="85" y="14"/>
                    </a:lnTo>
                    <a:lnTo>
                      <a:pt x="42" y="30"/>
                    </a:lnTo>
                    <a:lnTo>
                      <a:pt x="34" y="30"/>
                    </a:lnTo>
                    <a:lnTo>
                      <a:pt x="34" y="22"/>
                    </a:lnTo>
                    <a:lnTo>
                      <a:pt x="0" y="14"/>
                    </a:lnTo>
                    <a:lnTo>
                      <a:pt x="25"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5" name="Freeform 15"/>
              <p:cNvSpPr>
                <a:spLocks/>
              </p:cNvSpPr>
              <p:nvPr/>
            </p:nvSpPr>
            <p:spPr bwMode="auto">
              <a:xfrm>
                <a:off x="2289046" y="4359732"/>
                <a:ext cx="65731" cy="26647"/>
              </a:xfrm>
              <a:custGeom>
                <a:avLst/>
                <a:gdLst>
                  <a:gd name="T0" fmla="*/ 3 w 43"/>
                  <a:gd name="T1" fmla="*/ 0 h 16"/>
                  <a:gd name="T2" fmla="*/ 0 w 43"/>
                  <a:gd name="T3" fmla="*/ 8 h 16"/>
                  <a:gd name="T4" fmla="*/ 3 w 43"/>
                  <a:gd name="T5" fmla="*/ 8 h 16"/>
                  <a:gd name="T6" fmla="*/ 7 w 43"/>
                  <a:gd name="T7" fmla="*/ 8 h 16"/>
                  <a:gd name="T8" fmla="*/ 7 w 43"/>
                  <a:gd name="T9" fmla="*/ 8 h 16"/>
                  <a:gd name="T10" fmla="*/ 3 w 43"/>
                  <a:gd name="T11" fmla="*/ 0 h 16"/>
                  <a:gd name="T12" fmla="*/ 0 60000 65536"/>
                  <a:gd name="T13" fmla="*/ 0 60000 65536"/>
                  <a:gd name="T14" fmla="*/ 0 60000 65536"/>
                  <a:gd name="T15" fmla="*/ 0 60000 65536"/>
                  <a:gd name="T16" fmla="*/ 0 60000 65536"/>
                  <a:gd name="T17" fmla="*/ 0 60000 65536"/>
                  <a:gd name="T18" fmla="*/ 0 w 43"/>
                  <a:gd name="T19" fmla="*/ 0 h 16"/>
                  <a:gd name="T20" fmla="*/ 43 w 43"/>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43" h="16">
                    <a:moveTo>
                      <a:pt x="8" y="0"/>
                    </a:moveTo>
                    <a:lnTo>
                      <a:pt x="0" y="8"/>
                    </a:lnTo>
                    <a:lnTo>
                      <a:pt x="8" y="15"/>
                    </a:lnTo>
                    <a:lnTo>
                      <a:pt x="42" y="15"/>
                    </a:lnTo>
                    <a:lnTo>
                      <a:pt x="42" y="8"/>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6" name="Freeform 16"/>
              <p:cNvSpPr>
                <a:spLocks/>
              </p:cNvSpPr>
              <p:nvPr/>
            </p:nvSpPr>
            <p:spPr bwMode="auto">
              <a:xfrm>
                <a:off x="2363659" y="4345520"/>
                <a:ext cx="90602" cy="120802"/>
              </a:xfrm>
              <a:custGeom>
                <a:avLst/>
                <a:gdLst>
                  <a:gd name="T0" fmla="*/ 9 w 60"/>
                  <a:gd name="T1" fmla="*/ 0 h 69"/>
                  <a:gd name="T2" fmla="*/ 9 w 60"/>
                  <a:gd name="T3" fmla="*/ 7 h 69"/>
                  <a:gd name="T4" fmla="*/ 8 w 60"/>
                  <a:gd name="T5" fmla="*/ 42 h 69"/>
                  <a:gd name="T6" fmla="*/ 9 w 60"/>
                  <a:gd name="T7" fmla="*/ 56 h 69"/>
                  <a:gd name="T8" fmla="*/ 8 w 60"/>
                  <a:gd name="T9" fmla="*/ 56 h 69"/>
                  <a:gd name="T10" fmla="*/ 3 w 60"/>
                  <a:gd name="T11" fmla="*/ 42 h 69"/>
                  <a:gd name="T12" fmla="*/ 0 w 60"/>
                  <a:gd name="T13" fmla="*/ 34 h 69"/>
                  <a:gd name="T14" fmla="*/ 0 w 60"/>
                  <a:gd name="T15" fmla="*/ 23 h 69"/>
                  <a:gd name="T16" fmla="*/ 7 w 60"/>
                  <a:gd name="T17" fmla="*/ 7 h 69"/>
                  <a:gd name="T18" fmla="*/ 9 w 60"/>
                  <a:gd name="T19" fmla="*/ 0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0"/>
                  <a:gd name="T31" fmla="*/ 0 h 69"/>
                  <a:gd name="T32" fmla="*/ 60 w 60"/>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0" h="69">
                    <a:moveTo>
                      <a:pt x="59" y="0"/>
                    </a:moveTo>
                    <a:lnTo>
                      <a:pt x="59" y="7"/>
                    </a:lnTo>
                    <a:lnTo>
                      <a:pt x="51" y="54"/>
                    </a:lnTo>
                    <a:lnTo>
                      <a:pt x="59" y="68"/>
                    </a:lnTo>
                    <a:lnTo>
                      <a:pt x="51" y="68"/>
                    </a:lnTo>
                    <a:lnTo>
                      <a:pt x="25" y="54"/>
                    </a:lnTo>
                    <a:lnTo>
                      <a:pt x="0" y="38"/>
                    </a:lnTo>
                    <a:lnTo>
                      <a:pt x="0" y="23"/>
                    </a:lnTo>
                    <a:lnTo>
                      <a:pt x="43" y="7"/>
                    </a:lnTo>
                    <a:lnTo>
                      <a:pt x="59"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7" name="Freeform 17"/>
              <p:cNvSpPr>
                <a:spLocks/>
              </p:cNvSpPr>
              <p:nvPr/>
            </p:nvSpPr>
            <p:spPr bwMode="auto">
              <a:xfrm>
                <a:off x="2400966" y="4437898"/>
                <a:ext cx="65731" cy="81719"/>
              </a:xfrm>
              <a:custGeom>
                <a:avLst/>
                <a:gdLst>
                  <a:gd name="T0" fmla="*/ 7 w 43"/>
                  <a:gd name="T1" fmla="*/ 34 h 47"/>
                  <a:gd name="T2" fmla="*/ 7 w 43"/>
                  <a:gd name="T3" fmla="*/ 23 h 47"/>
                  <a:gd name="T4" fmla="*/ 5 w 43"/>
                  <a:gd name="T5" fmla="*/ 23 h 47"/>
                  <a:gd name="T6" fmla="*/ 5 w 43"/>
                  <a:gd name="T7" fmla="*/ 15 h 47"/>
                  <a:gd name="T8" fmla="*/ 4 w 43"/>
                  <a:gd name="T9" fmla="*/ 15 h 47"/>
                  <a:gd name="T10" fmla="*/ 0 w 43"/>
                  <a:gd name="T11" fmla="*/ 0 h 47"/>
                  <a:gd name="T12" fmla="*/ 0 w 43"/>
                  <a:gd name="T13" fmla="*/ 23 h 47"/>
                  <a:gd name="T14" fmla="*/ 3 w 43"/>
                  <a:gd name="T15" fmla="*/ 23 h 47"/>
                  <a:gd name="T16" fmla="*/ 3 w 43"/>
                  <a:gd name="T17" fmla="*/ 23 h 47"/>
                  <a:gd name="T18" fmla="*/ 4 w 43"/>
                  <a:gd name="T19" fmla="*/ 26 h 47"/>
                  <a:gd name="T20" fmla="*/ 7 w 43"/>
                  <a:gd name="T21" fmla="*/ 34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3"/>
                  <a:gd name="T34" fmla="*/ 0 h 47"/>
                  <a:gd name="T35" fmla="*/ 43 w 43"/>
                  <a:gd name="T36" fmla="*/ 47 h 4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3" h="47">
                    <a:moveTo>
                      <a:pt x="42" y="46"/>
                    </a:moveTo>
                    <a:lnTo>
                      <a:pt x="42" y="30"/>
                    </a:lnTo>
                    <a:lnTo>
                      <a:pt x="33" y="23"/>
                    </a:lnTo>
                    <a:lnTo>
                      <a:pt x="33" y="15"/>
                    </a:lnTo>
                    <a:lnTo>
                      <a:pt x="25" y="15"/>
                    </a:lnTo>
                    <a:lnTo>
                      <a:pt x="0" y="0"/>
                    </a:lnTo>
                    <a:lnTo>
                      <a:pt x="0" y="23"/>
                    </a:lnTo>
                    <a:lnTo>
                      <a:pt x="8" y="30"/>
                    </a:lnTo>
                    <a:lnTo>
                      <a:pt x="17" y="23"/>
                    </a:lnTo>
                    <a:lnTo>
                      <a:pt x="25" y="38"/>
                    </a:lnTo>
                    <a:lnTo>
                      <a:pt x="42" y="4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8" name="Freeform 18"/>
              <p:cNvSpPr>
                <a:spLocks/>
              </p:cNvSpPr>
              <p:nvPr/>
            </p:nvSpPr>
            <p:spPr bwMode="auto">
              <a:xfrm>
                <a:off x="2464920" y="4491193"/>
                <a:ext cx="76390" cy="69283"/>
              </a:xfrm>
              <a:custGeom>
                <a:avLst/>
                <a:gdLst>
                  <a:gd name="T0" fmla="*/ 0 w 51"/>
                  <a:gd name="T1" fmla="*/ 16 h 40"/>
                  <a:gd name="T2" fmla="*/ 4 w 51"/>
                  <a:gd name="T3" fmla="*/ 20 h 40"/>
                  <a:gd name="T4" fmla="*/ 4 w 51"/>
                  <a:gd name="T5" fmla="*/ 27 h 40"/>
                  <a:gd name="T6" fmla="*/ 6 w 51"/>
                  <a:gd name="T7" fmla="*/ 20 h 40"/>
                  <a:gd name="T8" fmla="*/ 4 w 51"/>
                  <a:gd name="T9" fmla="*/ 16 h 40"/>
                  <a:gd name="T10" fmla="*/ 7 w 51"/>
                  <a:gd name="T11" fmla="*/ 8 h 40"/>
                  <a:gd name="T12" fmla="*/ 6 w 51"/>
                  <a:gd name="T13" fmla="*/ 0 h 40"/>
                  <a:gd name="T14" fmla="*/ 3 w 51"/>
                  <a:gd name="T15" fmla="*/ 8 h 40"/>
                  <a:gd name="T16" fmla="*/ 3 w 51"/>
                  <a:gd name="T17" fmla="*/ 8 h 40"/>
                  <a:gd name="T18" fmla="*/ 0 w 51"/>
                  <a:gd name="T19" fmla="*/ 0 h 40"/>
                  <a:gd name="T20" fmla="*/ 0 w 51"/>
                  <a:gd name="T21" fmla="*/ 16 h 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
                  <a:gd name="T34" fmla="*/ 0 h 40"/>
                  <a:gd name="T35" fmla="*/ 51 w 51"/>
                  <a:gd name="T36" fmla="*/ 40 h 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 h="40">
                    <a:moveTo>
                      <a:pt x="0" y="16"/>
                    </a:moveTo>
                    <a:lnTo>
                      <a:pt x="33" y="31"/>
                    </a:lnTo>
                    <a:lnTo>
                      <a:pt x="33" y="39"/>
                    </a:lnTo>
                    <a:lnTo>
                      <a:pt x="42" y="31"/>
                    </a:lnTo>
                    <a:lnTo>
                      <a:pt x="33" y="16"/>
                    </a:lnTo>
                    <a:lnTo>
                      <a:pt x="50" y="8"/>
                    </a:lnTo>
                    <a:lnTo>
                      <a:pt x="42" y="0"/>
                    </a:lnTo>
                    <a:lnTo>
                      <a:pt x="25" y="8"/>
                    </a:lnTo>
                    <a:lnTo>
                      <a:pt x="16" y="8"/>
                    </a:lnTo>
                    <a:lnTo>
                      <a:pt x="0" y="0"/>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49" name="Freeform 19"/>
              <p:cNvSpPr>
                <a:spLocks/>
              </p:cNvSpPr>
              <p:nvPr/>
            </p:nvSpPr>
            <p:spPr bwMode="auto">
              <a:xfrm>
                <a:off x="2539533" y="4491193"/>
                <a:ext cx="63954" cy="69283"/>
              </a:xfrm>
              <a:custGeom>
                <a:avLst/>
                <a:gdLst>
                  <a:gd name="T0" fmla="*/ 4 w 43"/>
                  <a:gd name="T1" fmla="*/ 8 h 40"/>
                  <a:gd name="T2" fmla="*/ 5 w 43"/>
                  <a:gd name="T3" fmla="*/ 16 h 40"/>
                  <a:gd name="T4" fmla="*/ 4 w 43"/>
                  <a:gd name="T5" fmla="*/ 20 h 40"/>
                  <a:gd name="T6" fmla="*/ 4 w 43"/>
                  <a:gd name="T7" fmla="*/ 27 h 40"/>
                  <a:gd name="T8" fmla="*/ 3 w 43"/>
                  <a:gd name="T9" fmla="*/ 16 h 40"/>
                  <a:gd name="T10" fmla="*/ 0 w 43"/>
                  <a:gd name="T11" fmla="*/ 8 h 40"/>
                  <a:gd name="T12" fmla="*/ 0 w 43"/>
                  <a:gd name="T13" fmla="*/ 0 h 40"/>
                  <a:gd name="T14" fmla="*/ 3 w 43"/>
                  <a:gd name="T15" fmla="*/ 0 h 40"/>
                  <a:gd name="T16" fmla="*/ 3 w 43"/>
                  <a:gd name="T17" fmla="*/ 0 h 40"/>
                  <a:gd name="T18" fmla="*/ 4 w 43"/>
                  <a:gd name="T19" fmla="*/ 8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40"/>
                  <a:gd name="T32" fmla="*/ 43 w 43"/>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40">
                    <a:moveTo>
                      <a:pt x="33" y="8"/>
                    </a:moveTo>
                    <a:lnTo>
                      <a:pt x="42" y="16"/>
                    </a:lnTo>
                    <a:lnTo>
                      <a:pt x="33" y="31"/>
                    </a:lnTo>
                    <a:lnTo>
                      <a:pt x="33" y="39"/>
                    </a:lnTo>
                    <a:lnTo>
                      <a:pt x="25" y="16"/>
                    </a:lnTo>
                    <a:lnTo>
                      <a:pt x="0" y="8"/>
                    </a:lnTo>
                    <a:lnTo>
                      <a:pt x="0" y="0"/>
                    </a:lnTo>
                    <a:lnTo>
                      <a:pt x="16" y="0"/>
                    </a:lnTo>
                    <a:lnTo>
                      <a:pt x="25" y="0"/>
                    </a:lnTo>
                    <a:lnTo>
                      <a:pt x="33"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0" name="Freeform 21"/>
              <p:cNvSpPr>
                <a:spLocks/>
              </p:cNvSpPr>
              <p:nvPr/>
            </p:nvSpPr>
            <p:spPr bwMode="auto">
              <a:xfrm>
                <a:off x="2502219" y="4729212"/>
                <a:ext cx="300227" cy="483205"/>
              </a:xfrm>
              <a:custGeom>
                <a:avLst/>
                <a:gdLst>
                  <a:gd name="T0" fmla="*/ 23 w 202"/>
                  <a:gd name="T1" fmla="*/ 129 h 277"/>
                  <a:gd name="T2" fmla="*/ 19 w 202"/>
                  <a:gd name="T3" fmla="*/ 129 h 277"/>
                  <a:gd name="T4" fmla="*/ 19 w 202"/>
                  <a:gd name="T5" fmla="*/ 118 h 277"/>
                  <a:gd name="T6" fmla="*/ 18 w 202"/>
                  <a:gd name="T7" fmla="*/ 124 h 277"/>
                  <a:gd name="T8" fmla="*/ 15 w 202"/>
                  <a:gd name="T9" fmla="*/ 118 h 277"/>
                  <a:gd name="T10" fmla="*/ 13 w 202"/>
                  <a:gd name="T11" fmla="*/ 91 h 277"/>
                  <a:gd name="T12" fmla="*/ 16 w 202"/>
                  <a:gd name="T13" fmla="*/ 65 h 277"/>
                  <a:gd name="T14" fmla="*/ 19 w 202"/>
                  <a:gd name="T15" fmla="*/ 49 h 277"/>
                  <a:gd name="T16" fmla="*/ 19 w 202"/>
                  <a:gd name="T17" fmla="*/ 34 h 277"/>
                  <a:gd name="T18" fmla="*/ 19 w 202"/>
                  <a:gd name="T19" fmla="*/ 34 h 277"/>
                  <a:gd name="T20" fmla="*/ 19 w 202"/>
                  <a:gd name="T21" fmla="*/ 27 h 277"/>
                  <a:gd name="T22" fmla="*/ 19 w 202"/>
                  <a:gd name="T23" fmla="*/ 27 h 277"/>
                  <a:gd name="T24" fmla="*/ 15 w 202"/>
                  <a:gd name="T25" fmla="*/ 27 h 277"/>
                  <a:gd name="T26" fmla="*/ 13 w 202"/>
                  <a:gd name="T27" fmla="*/ 23 h 277"/>
                  <a:gd name="T28" fmla="*/ 11 w 202"/>
                  <a:gd name="T29" fmla="*/ 0 h 277"/>
                  <a:gd name="T30" fmla="*/ 11 w 202"/>
                  <a:gd name="T31" fmla="*/ 0 h 277"/>
                  <a:gd name="T32" fmla="*/ 11 w 202"/>
                  <a:gd name="T33" fmla="*/ 16 h 277"/>
                  <a:gd name="T34" fmla="*/ 11 w 202"/>
                  <a:gd name="T35" fmla="*/ 27 h 277"/>
                  <a:gd name="T36" fmla="*/ 9 w 202"/>
                  <a:gd name="T37" fmla="*/ 27 h 277"/>
                  <a:gd name="T38" fmla="*/ 7 w 202"/>
                  <a:gd name="T39" fmla="*/ 34 h 277"/>
                  <a:gd name="T40" fmla="*/ 3 w 202"/>
                  <a:gd name="T41" fmla="*/ 65 h 277"/>
                  <a:gd name="T42" fmla="*/ 3 w 202"/>
                  <a:gd name="T43" fmla="*/ 56 h 277"/>
                  <a:gd name="T44" fmla="*/ 3 w 202"/>
                  <a:gd name="T45" fmla="*/ 34 h 277"/>
                  <a:gd name="T46" fmla="*/ 0 w 202"/>
                  <a:gd name="T47" fmla="*/ 56 h 277"/>
                  <a:gd name="T48" fmla="*/ 3 w 202"/>
                  <a:gd name="T49" fmla="*/ 71 h 277"/>
                  <a:gd name="T50" fmla="*/ 0 w 202"/>
                  <a:gd name="T51" fmla="*/ 71 h 277"/>
                  <a:gd name="T52" fmla="*/ 3 w 202"/>
                  <a:gd name="T53" fmla="*/ 83 h 277"/>
                  <a:gd name="T54" fmla="*/ 5 w 202"/>
                  <a:gd name="T55" fmla="*/ 98 h 277"/>
                  <a:gd name="T56" fmla="*/ 11 w 202"/>
                  <a:gd name="T57" fmla="*/ 178 h 277"/>
                  <a:gd name="T58" fmla="*/ 19 w 202"/>
                  <a:gd name="T59" fmla="*/ 222 h 277"/>
                  <a:gd name="T60" fmla="*/ 23 w 202"/>
                  <a:gd name="T61" fmla="*/ 215 h 277"/>
                  <a:gd name="T62" fmla="*/ 23 w 202"/>
                  <a:gd name="T63" fmla="*/ 197 h 277"/>
                  <a:gd name="T64" fmla="*/ 23 w 202"/>
                  <a:gd name="T65" fmla="*/ 190 h 277"/>
                  <a:gd name="T66" fmla="*/ 23 w 202"/>
                  <a:gd name="T67" fmla="*/ 147 h 277"/>
                  <a:gd name="T68" fmla="*/ 23 w 202"/>
                  <a:gd name="T69" fmla="*/ 129 h 27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2"/>
                  <a:gd name="T106" fmla="*/ 0 h 277"/>
                  <a:gd name="T107" fmla="*/ 202 w 202"/>
                  <a:gd name="T108" fmla="*/ 277 h 27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2" h="277">
                    <a:moveTo>
                      <a:pt x="192" y="161"/>
                    </a:moveTo>
                    <a:lnTo>
                      <a:pt x="167" y="161"/>
                    </a:lnTo>
                    <a:lnTo>
                      <a:pt x="167" y="145"/>
                    </a:lnTo>
                    <a:lnTo>
                      <a:pt x="151" y="153"/>
                    </a:lnTo>
                    <a:lnTo>
                      <a:pt x="125" y="145"/>
                    </a:lnTo>
                    <a:lnTo>
                      <a:pt x="117" y="115"/>
                    </a:lnTo>
                    <a:lnTo>
                      <a:pt x="142" y="77"/>
                    </a:lnTo>
                    <a:lnTo>
                      <a:pt x="175" y="61"/>
                    </a:lnTo>
                    <a:lnTo>
                      <a:pt x="167" y="46"/>
                    </a:lnTo>
                    <a:lnTo>
                      <a:pt x="175" y="46"/>
                    </a:lnTo>
                    <a:lnTo>
                      <a:pt x="175" y="38"/>
                    </a:lnTo>
                    <a:lnTo>
                      <a:pt x="167" y="30"/>
                    </a:lnTo>
                    <a:lnTo>
                      <a:pt x="125" y="38"/>
                    </a:lnTo>
                    <a:lnTo>
                      <a:pt x="117" y="23"/>
                    </a:lnTo>
                    <a:lnTo>
                      <a:pt x="100" y="0"/>
                    </a:lnTo>
                    <a:lnTo>
                      <a:pt x="91" y="0"/>
                    </a:lnTo>
                    <a:lnTo>
                      <a:pt x="100" y="16"/>
                    </a:lnTo>
                    <a:lnTo>
                      <a:pt x="91" y="30"/>
                    </a:lnTo>
                    <a:lnTo>
                      <a:pt x="75" y="38"/>
                    </a:lnTo>
                    <a:lnTo>
                      <a:pt x="58" y="46"/>
                    </a:lnTo>
                    <a:lnTo>
                      <a:pt x="25" y="77"/>
                    </a:lnTo>
                    <a:lnTo>
                      <a:pt x="8" y="68"/>
                    </a:lnTo>
                    <a:lnTo>
                      <a:pt x="17" y="46"/>
                    </a:lnTo>
                    <a:lnTo>
                      <a:pt x="0" y="68"/>
                    </a:lnTo>
                    <a:lnTo>
                      <a:pt x="8" y="84"/>
                    </a:lnTo>
                    <a:lnTo>
                      <a:pt x="0" y="84"/>
                    </a:lnTo>
                    <a:lnTo>
                      <a:pt x="17" y="107"/>
                    </a:lnTo>
                    <a:lnTo>
                      <a:pt x="41" y="122"/>
                    </a:lnTo>
                    <a:lnTo>
                      <a:pt x="91" y="222"/>
                    </a:lnTo>
                    <a:lnTo>
                      <a:pt x="167" y="276"/>
                    </a:lnTo>
                    <a:lnTo>
                      <a:pt x="192" y="267"/>
                    </a:lnTo>
                    <a:lnTo>
                      <a:pt x="201" y="245"/>
                    </a:lnTo>
                    <a:lnTo>
                      <a:pt x="192" y="237"/>
                    </a:lnTo>
                    <a:lnTo>
                      <a:pt x="201" y="183"/>
                    </a:lnTo>
                    <a:lnTo>
                      <a:pt x="192" y="1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1" name="Freeform 22"/>
              <p:cNvSpPr>
                <a:spLocks/>
              </p:cNvSpPr>
              <p:nvPr/>
            </p:nvSpPr>
            <p:spPr bwMode="auto">
              <a:xfrm>
                <a:off x="2639009" y="5194652"/>
                <a:ext cx="188308" cy="1170706"/>
              </a:xfrm>
              <a:custGeom>
                <a:avLst/>
                <a:gdLst>
                  <a:gd name="T0" fmla="*/ 12 w 126"/>
                  <a:gd name="T1" fmla="*/ 0 h 674"/>
                  <a:gd name="T2" fmla="*/ 14 w 126"/>
                  <a:gd name="T3" fmla="*/ 26 h 674"/>
                  <a:gd name="T4" fmla="*/ 16 w 126"/>
                  <a:gd name="T5" fmla="*/ 63 h 674"/>
                  <a:gd name="T6" fmla="*/ 14 w 126"/>
                  <a:gd name="T7" fmla="*/ 83 h 674"/>
                  <a:gd name="T8" fmla="*/ 12 w 126"/>
                  <a:gd name="T9" fmla="*/ 130 h 674"/>
                  <a:gd name="T10" fmla="*/ 10 w 126"/>
                  <a:gd name="T11" fmla="*/ 198 h 674"/>
                  <a:gd name="T12" fmla="*/ 9 w 126"/>
                  <a:gd name="T13" fmla="*/ 233 h 674"/>
                  <a:gd name="T14" fmla="*/ 8 w 126"/>
                  <a:gd name="T15" fmla="*/ 269 h 674"/>
                  <a:gd name="T16" fmla="*/ 7 w 126"/>
                  <a:gd name="T17" fmla="*/ 316 h 674"/>
                  <a:gd name="T18" fmla="*/ 7 w 126"/>
                  <a:gd name="T19" fmla="*/ 357 h 674"/>
                  <a:gd name="T20" fmla="*/ 8 w 126"/>
                  <a:gd name="T21" fmla="*/ 362 h 674"/>
                  <a:gd name="T22" fmla="*/ 7 w 126"/>
                  <a:gd name="T23" fmla="*/ 408 h 674"/>
                  <a:gd name="T24" fmla="*/ 4 w 126"/>
                  <a:gd name="T25" fmla="*/ 443 h 674"/>
                  <a:gd name="T26" fmla="*/ 4 w 126"/>
                  <a:gd name="T27" fmla="*/ 461 h 674"/>
                  <a:gd name="T28" fmla="*/ 7 w 126"/>
                  <a:gd name="T29" fmla="*/ 479 h 674"/>
                  <a:gd name="T30" fmla="*/ 10 w 126"/>
                  <a:gd name="T31" fmla="*/ 484 h 674"/>
                  <a:gd name="T32" fmla="*/ 14 w 126"/>
                  <a:gd name="T33" fmla="*/ 495 h 674"/>
                  <a:gd name="T34" fmla="*/ 9 w 126"/>
                  <a:gd name="T35" fmla="*/ 502 h 674"/>
                  <a:gd name="T36" fmla="*/ 8 w 126"/>
                  <a:gd name="T37" fmla="*/ 513 h 674"/>
                  <a:gd name="T38" fmla="*/ 8 w 126"/>
                  <a:gd name="T39" fmla="*/ 507 h 674"/>
                  <a:gd name="T40" fmla="*/ 7 w 126"/>
                  <a:gd name="T41" fmla="*/ 507 h 674"/>
                  <a:gd name="T42" fmla="*/ 4 w 126"/>
                  <a:gd name="T43" fmla="*/ 495 h 674"/>
                  <a:gd name="T44" fmla="*/ 3 w 126"/>
                  <a:gd name="T45" fmla="*/ 484 h 674"/>
                  <a:gd name="T46" fmla="*/ 3 w 126"/>
                  <a:gd name="T47" fmla="*/ 484 h 674"/>
                  <a:gd name="T48" fmla="*/ 3 w 126"/>
                  <a:gd name="T49" fmla="*/ 472 h 674"/>
                  <a:gd name="T50" fmla="*/ 3 w 126"/>
                  <a:gd name="T51" fmla="*/ 472 h 674"/>
                  <a:gd name="T52" fmla="*/ 3 w 126"/>
                  <a:gd name="T53" fmla="*/ 472 h 674"/>
                  <a:gd name="T54" fmla="*/ 3 w 126"/>
                  <a:gd name="T55" fmla="*/ 449 h 674"/>
                  <a:gd name="T56" fmla="*/ 0 w 126"/>
                  <a:gd name="T57" fmla="*/ 443 h 674"/>
                  <a:gd name="T58" fmla="*/ 3 w 126"/>
                  <a:gd name="T59" fmla="*/ 414 h 674"/>
                  <a:gd name="T60" fmla="*/ 3 w 126"/>
                  <a:gd name="T61" fmla="*/ 420 h 674"/>
                  <a:gd name="T62" fmla="*/ 3 w 126"/>
                  <a:gd name="T63" fmla="*/ 392 h 674"/>
                  <a:gd name="T64" fmla="*/ 3 w 126"/>
                  <a:gd name="T65" fmla="*/ 379 h 674"/>
                  <a:gd name="T66" fmla="*/ 3 w 126"/>
                  <a:gd name="T67" fmla="*/ 357 h 674"/>
                  <a:gd name="T68" fmla="*/ 3 w 126"/>
                  <a:gd name="T69" fmla="*/ 362 h 674"/>
                  <a:gd name="T70" fmla="*/ 7 w 126"/>
                  <a:gd name="T71" fmla="*/ 316 h 674"/>
                  <a:gd name="T72" fmla="*/ 3 w 126"/>
                  <a:gd name="T73" fmla="*/ 309 h 674"/>
                  <a:gd name="T74" fmla="*/ 4 w 126"/>
                  <a:gd name="T75" fmla="*/ 274 h 674"/>
                  <a:gd name="T76" fmla="*/ 4 w 126"/>
                  <a:gd name="T77" fmla="*/ 250 h 674"/>
                  <a:gd name="T78" fmla="*/ 7 w 126"/>
                  <a:gd name="T79" fmla="*/ 163 h 674"/>
                  <a:gd name="T80" fmla="*/ 8 w 126"/>
                  <a:gd name="T81" fmla="*/ 135 h 674"/>
                  <a:gd name="T82" fmla="*/ 9 w 126"/>
                  <a:gd name="T83" fmla="*/ 63 h 674"/>
                  <a:gd name="T84" fmla="*/ 9 w 126"/>
                  <a:gd name="T85" fmla="*/ 8 h 67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6"/>
                  <a:gd name="T130" fmla="*/ 0 h 674"/>
                  <a:gd name="T131" fmla="*/ 126 w 126"/>
                  <a:gd name="T132" fmla="*/ 674 h 67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6" h="674">
                    <a:moveTo>
                      <a:pt x="75" y="8"/>
                    </a:moveTo>
                    <a:lnTo>
                      <a:pt x="100" y="0"/>
                    </a:lnTo>
                    <a:lnTo>
                      <a:pt x="109" y="23"/>
                    </a:lnTo>
                    <a:lnTo>
                      <a:pt x="109" y="38"/>
                    </a:lnTo>
                    <a:lnTo>
                      <a:pt x="117" y="84"/>
                    </a:lnTo>
                    <a:lnTo>
                      <a:pt x="125" y="84"/>
                    </a:lnTo>
                    <a:lnTo>
                      <a:pt x="125" y="99"/>
                    </a:lnTo>
                    <a:lnTo>
                      <a:pt x="109" y="107"/>
                    </a:lnTo>
                    <a:lnTo>
                      <a:pt x="117" y="138"/>
                    </a:lnTo>
                    <a:lnTo>
                      <a:pt x="100" y="169"/>
                    </a:lnTo>
                    <a:lnTo>
                      <a:pt x="75" y="222"/>
                    </a:lnTo>
                    <a:lnTo>
                      <a:pt x="83" y="260"/>
                    </a:lnTo>
                    <a:lnTo>
                      <a:pt x="75" y="291"/>
                    </a:lnTo>
                    <a:lnTo>
                      <a:pt x="75" y="305"/>
                    </a:lnTo>
                    <a:lnTo>
                      <a:pt x="67" y="314"/>
                    </a:lnTo>
                    <a:lnTo>
                      <a:pt x="67" y="352"/>
                    </a:lnTo>
                    <a:lnTo>
                      <a:pt x="59" y="375"/>
                    </a:lnTo>
                    <a:lnTo>
                      <a:pt x="59" y="413"/>
                    </a:lnTo>
                    <a:lnTo>
                      <a:pt x="59" y="428"/>
                    </a:lnTo>
                    <a:lnTo>
                      <a:pt x="59" y="466"/>
                    </a:lnTo>
                    <a:lnTo>
                      <a:pt x="67" y="466"/>
                    </a:lnTo>
                    <a:lnTo>
                      <a:pt x="67" y="474"/>
                    </a:lnTo>
                    <a:lnTo>
                      <a:pt x="59" y="513"/>
                    </a:lnTo>
                    <a:lnTo>
                      <a:pt x="51" y="535"/>
                    </a:lnTo>
                    <a:lnTo>
                      <a:pt x="51" y="550"/>
                    </a:lnTo>
                    <a:lnTo>
                      <a:pt x="34" y="581"/>
                    </a:lnTo>
                    <a:lnTo>
                      <a:pt x="34" y="597"/>
                    </a:lnTo>
                    <a:lnTo>
                      <a:pt x="34" y="604"/>
                    </a:lnTo>
                    <a:lnTo>
                      <a:pt x="51" y="597"/>
                    </a:lnTo>
                    <a:lnTo>
                      <a:pt x="51" y="627"/>
                    </a:lnTo>
                    <a:lnTo>
                      <a:pt x="59" y="635"/>
                    </a:lnTo>
                    <a:lnTo>
                      <a:pt x="83" y="635"/>
                    </a:lnTo>
                    <a:lnTo>
                      <a:pt x="109" y="635"/>
                    </a:lnTo>
                    <a:lnTo>
                      <a:pt x="109" y="649"/>
                    </a:lnTo>
                    <a:lnTo>
                      <a:pt x="100" y="649"/>
                    </a:lnTo>
                    <a:lnTo>
                      <a:pt x="75" y="658"/>
                    </a:lnTo>
                    <a:lnTo>
                      <a:pt x="75" y="673"/>
                    </a:lnTo>
                    <a:lnTo>
                      <a:pt x="67" y="673"/>
                    </a:lnTo>
                    <a:lnTo>
                      <a:pt x="59" y="665"/>
                    </a:lnTo>
                    <a:lnTo>
                      <a:pt x="67" y="665"/>
                    </a:lnTo>
                    <a:lnTo>
                      <a:pt x="67" y="658"/>
                    </a:lnTo>
                    <a:lnTo>
                      <a:pt x="51" y="665"/>
                    </a:lnTo>
                    <a:lnTo>
                      <a:pt x="34" y="658"/>
                    </a:lnTo>
                    <a:lnTo>
                      <a:pt x="34" y="649"/>
                    </a:lnTo>
                    <a:lnTo>
                      <a:pt x="25" y="649"/>
                    </a:lnTo>
                    <a:lnTo>
                      <a:pt x="17" y="635"/>
                    </a:lnTo>
                    <a:lnTo>
                      <a:pt x="17" y="649"/>
                    </a:lnTo>
                    <a:lnTo>
                      <a:pt x="9" y="635"/>
                    </a:lnTo>
                    <a:lnTo>
                      <a:pt x="9" y="627"/>
                    </a:lnTo>
                    <a:lnTo>
                      <a:pt x="17" y="619"/>
                    </a:lnTo>
                    <a:lnTo>
                      <a:pt x="17" y="604"/>
                    </a:lnTo>
                    <a:lnTo>
                      <a:pt x="17" y="619"/>
                    </a:lnTo>
                    <a:lnTo>
                      <a:pt x="9" y="627"/>
                    </a:lnTo>
                    <a:lnTo>
                      <a:pt x="17" y="619"/>
                    </a:lnTo>
                    <a:lnTo>
                      <a:pt x="17" y="604"/>
                    </a:lnTo>
                    <a:lnTo>
                      <a:pt x="17" y="588"/>
                    </a:lnTo>
                    <a:lnTo>
                      <a:pt x="9" y="588"/>
                    </a:lnTo>
                    <a:lnTo>
                      <a:pt x="0" y="581"/>
                    </a:lnTo>
                    <a:lnTo>
                      <a:pt x="0" y="574"/>
                    </a:lnTo>
                    <a:lnTo>
                      <a:pt x="9" y="543"/>
                    </a:lnTo>
                    <a:lnTo>
                      <a:pt x="9" y="535"/>
                    </a:lnTo>
                    <a:lnTo>
                      <a:pt x="17" y="550"/>
                    </a:lnTo>
                    <a:lnTo>
                      <a:pt x="25" y="527"/>
                    </a:lnTo>
                    <a:lnTo>
                      <a:pt x="9" y="513"/>
                    </a:lnTo>
                    <a:lnTo>
                      <a:pt x="0" y="513"/>
                    </a:lnTo>
                    <a:lnTo>
                      <a:pt x="9" y="497"/>
                    </a:lnTo>
                    <a:lnTo>
                      <a:pt x="17" y="497"/>
                    </a:lnTo>
                    <a:lnTo>
                      <a:pt x="17" y="466"/>
                    </a:lnTo>
                    <a:lnTo>
                      <a:pt x="25" y="459"/>
                    </a:lnTo>
                    <a:lnTo>
                      <a:pt x="25" y="474"/>
                    </a:lnTo>
                    <a:lnTo>
                      <a:pt x="51" y="420"/>
                    </a:lnTo>
                    <a:lnTo>
                      <a:pt x="51" y="413"/>
                    </a:lnTo>
                    <a:lnTo>
                      <a:pt x="34" y="413"/>
                    </a:lnTo>
                    <a:lnTo>
                      <a:pt x="25" y="405"/>
                    </a:lnTo>
                    <a:lnTo>
                      <a:pt x="25" y="375"/>
                    </a:lnTo>
                    <a:lnTo>
                      <a:pt x="34" y="359"/>
                    </a:lnTo>
                    <a:lnTo>
                      <a:pt x="25" y="336"/>
                    </a:lnTo>
                    <a:lnTo>
                      <a:pt x="34" y="328"/>
                    </a:lnTo>
                    <a:lnTo>
                      <a:pt x="67" y="237"/>
                    </a:lnTo>
                    <a:lnTo>
                      <a:pt x="59" y="214"/>
                    </a:lnTo>
                    <a:lnTo>
                      <a:pt x="67" y="199"/>
                    </a:lnTo>
                    <a:lnTo>
                      <a:pt x="67" y="176"/>
                    </a:lnTo>
                    <a:lnTo>
                      <a:pt x="75" y="138"/>
                    </a:lnTo>
                    <a:lnTo>
                      <a:pt x="75" y="84"/>
                    </a:lnTo>
                    <a:lnTo>
                      <a:pt x="83" y="54"/>
                    </a:lnTo>
                    <a:lnTo>
                      <a:pt x="75"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2" name="Freeform 23"/>
              <p:cNvSpPr>
                <a:spLocks/>
              </p:cNvSpPr>
              <p:nvPr/>
            </p:nvSpPr>
            <p:spPr bwMode="auto">
              <a:xfrm>
                <a:off x="2676315" y="6322722"/>
                <a:ext cx="126131" cy="122578"/>
              </a:xfrm>
              <a:custGeom>
                <a:avLst/>
                <a:gdLst>
                  <a:gd name="T0" fmla="*/ 9 w 85"/>
                  <a:gd name="T1" fmla="*/ 41 h 71"/>
                  <a:gd name="T2" fmla="*/ 9 w 85"/>
                  <a:gd name="T3" fmla="*/ 0 h 71"/>
                  <a:gd name="T4" fmla="*/ 7 w 85"/>
                  <a:gd name="T5" fmla="*/ 9 h 71"/>
                  <a:gd name="T6" fmla="*/ 7 w 85"/>
                  <a:gd name="T7" fmla="*/ 17 h 71"/>
                  <a:gd name="T8" fmla="*/ 6 w 85"/>
                  <a:gd name="T9" fmla="*/ 19 h 71"/>
                  <a:gd name="T10" fmla="*/ 5 w 85"/>
                  <a:gd name="T11" fmla="*/ 19 h 71"/>
                  <a:gd name="T12" fmla="*/ 3 w 85"/>
                  <a:gd name="T13" fmla="*/ 16 h 71"/>
                  <a:gd name="T14" fmla="*/ 0 w 85"/>
                  <a:gd name="T15" fmla="*/ 17 h 71"/>
                  <a:gd name="T16" fmla="*/ 3 w 85"/>
                  <a:gd name="T17" fmla="*/ 19 h 71"/>
                  <a:gd name="T18" fmla="*/ 3 w 85"/>
                  <a:gd name="T19" fmla="*/ 19 h 71"/>
                  <a:gd name="T20" fmla="*/ 3 w 85"/>
                  <a:gd name="T21" fmla="*/ 35 h 71"/>
                  <a:gd name="T22" fmla="*/ 4 w 85"/>
                  <a:gd name="T23" fmla="*/ 35 h 71"/>
                  <a:gd name="T24" fmla="*/ 4 w 85"/>
                  <a:gd name="T25" fmla="*/ 41 h 71"/>
                  <a:gd name="T26" fmla="*/ 6 w 85"/>
                  <a:gd name="T27" fmla="*/ 45 h 71"/>
                  <a:gd name="T28" fmla="*/ 7 w 85"/>
                  <a:gd name="T29" fmla="*/ 45 h 71"/>
                  <a:gd name="T30" fmla="*/ 9 w 85"/>
                  <a:gd name="T31" fmla="*/ 49 h 71"/>
                  <a:gd name="T32" fmla="*/ 9 w 85"/>
                  <a:gd name="T33" fmla="*/ 41 h 7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5"/>
                  <a:gd name="T52" fmla="*/ 0 h 71"/>
                  <a:gd name="T53" fmla="*/ 85 w 85"/>
                  <a:gd name="T54" fmla="*/ 71 h 7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5" h="71">
                    <a:moveTo>
                      <a:pt x="84" y="54"/>
                    </a:moveTo>
                    <a:lnTo>
                      <a:pt x="84" y="0"/>
                    </a:lnTo>
                    <a:lnTo>
                      <a:pt x="58" y="9"/>
                    </a:lnTo>
                    <a:lnTo>
                      <a:pt x="58" y="24"/>
                    </a:lnTo>
                    <a:lnTo>
                      <a:pt x="50" y="31"/>
                    </a:lnTo>
                    <a:lnTo>
                      <a:pt x="42" y="31"/>
                    </a:lnTo>
                    <a:lnTo>
                      <a:pt x="8" y="16"/>
                    </a:lnTo>
                    <a:lnTo>
                      <a:pt x="0" y="24"/>
                    </a:lnTo>
                    <a:lnTo>
                      <a:pt x="8" y="31"/>
                    </a:lnTo>
                    <a:lnTo>
                      <a:pt x="25" y="31"/>
                    </a:lnTo>
                    <a:lnTo>
                      <a:pt x="25" y="47"/>
                    </a:lnTo>
                    <a:lnTo>
                      <a:pt x="34" y="47"/>
                    </a:lnTo>
                    <a:lnTo>
                      <a:pt x="34" y="54"/>
                    </a:lnTo>
                    <a:lnTo>
                      <a:pt x="50" y="62"/>
                    </a:lnTo>
                    <a:lnTo>
                      <a:pt x="58" y="62"/>
                    </a:lnTo>
                    <a:lnTo>
                      <a:pt x="75" y="70"/>
                    </a:lnTo>
                    <a:lnTo>
                      <a:pt x="84"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3" name="Freeform 24"/>
              <p:cNvSpPr>
                <a:spLocks/>
              </p:cNvSpPr>
              <p:nvPr/>
            </p:nvSpPr>
            <p:spPr bwMode="auto">
              <a:xfrm>
                <a:off x="2800670" y="6322722"/>
                <a:ext cx="88825" cy="135013"/>
              </a:xfrm>
              <a:custGeom>
                <a:avLst/>
                <a:gdLst>
                  <a:gd name="T0" fmla="*/ 0 w 59"/>
                  <a:gd name="T1" fmla="*/ 42 h 78"/>
                  <a:gd name="T2" fmla="*/ 0 w 59"/>
                  <a:gd name="T3" fmla="*/ 0 h 78"/>
                  <a:gd name="T4" fmla="*/ 3 w 59"/>
                  <a:gd name="T5" fmla="*/ 19 h 78"/>
                  <a:gd name="T6" fmla="*/ 6 w 59"/>
                  <a:gd name="T7" fmla="*/ 34 h 78"/>
                  <a:gd name="T8" fmla="*/ 8 w 59"/>
                  <a:gd name="T9" fmla="*/ 42 h 78"/>
                  <a:gd name="T10" fmla="*/ 7 w 59"/>
                  <a:gd name="T11" fmla="*/ 47 h 78"/>
                  <a:gd name="T12" fmla="*/ 3 w 59"/>
                  <a:gd name="T13" fmla="*/ 51 h 78"/>
                  <a:gd name="T14" fmla="*/ 3 w 59"/>
                  <a:gd name="T15" fmla="*/ 55 h 78"/>
                  <a:gd name="T16" fmla="*/ 0 w 59"/>
                  <a:gd name="T17" fmla="*/ 42 h 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78"/>
                  <a:gd name="T29" fmla="*/ 59 w 59"/>
                  <a:gd name="T30" fmla="*/ 78 h 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78">
                    <a:moveTo>
                      <a:pt x="0" y="54"/>
                    </a:moveTo>
                    <a:lnTo>
                      <a:pt x="0" y="0"/>
                    </a:lnTo>
                    <a:lnTo>
                      <a:pt x="8" y="24"/>
                    </a:lnTo>
                    <a:lnTo>
                      <a:pt x="42" y="46"/>
                    </a:lnTo>
                    <a:lnTo>
                      <a:pt x="58" y="54"/>
                    </a:lnTo>
                    <a:lnTo>
                      <a:pt x="50" y="61"/>
                    </a:lnTo>
                    <a:lnTo>
                      <a:pt x="16" y="69"/>
                    </a:lnTo>
                    <a:lnTo>
                      <a:pt x="8" y="77"/>
                    </a:lnTo>
                    <a:lnTo>
                      <a:pt x="0"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4" name="Freeform 25"/>
              <p:cNvSpPr>
                <a:spLocks/>
              </p:cNvSpPr>
              <p:nvPr/>
            </p:nvSpPr>
            <p:spPr bwMode="auto">
              <a:xfrm>
                <a:off x="2688751" y="5303018"/>
                <a:ext cx="476100" cy="996610"/>
              </a:xfrm>
              <a:custGeom>
                <a:avLst/>
                <a:gdLst>
                  <a:gd name="T0" fmla="*/ 30 w 319"/>
                  <a:gd name="T1" fmla="*/ 108 h 575"/>
                  <a:gd name="T2" fmla="*/ 39 w 319"/>
                  <a:gd name="T3" fmla="*/ 60 h 575"/>
                  <a:gd name="T4" fmla="*/ 35 w 319"/>
                  <a:gd name="T5" fmla="*/ 49 h 575"/>
                  <a:gd name="T6" fmla="*/ 34 w 319"/>
                  <a:gd name="T7" fmla="*/ 60 h 575"/>
                  <a:gd name="T8" fmla="*/ 29 w 319"/>
                  <a:gd name="T9" fmla="*/ 60 h 575"/>
                  <a:gd name="T10" fmla="*/ 29 w 319"/>
                  <a:gd name="T11" fmla="*/ 49 h 575"/>
                  <a:gd name="T12" fmla="*/ 24 w 319"/>
                  <a:gd name="T13" fmla="*/ 26 h 575"/>
                  <a:gd name="T14" fmla="*/ 19 w 319"/>
                  <a:gd name="T15" fmla="*/ 0 h 575"/>
                  <a:gd name="T16" fmla="*/ 14 w 319"/>
                  <a:gd name="T17" fmla="*/ 0 h 575"/>
                  <a:gd name="T18" fmla="*/ 12 w 319"/>
                  <a:gd name="T19" fmla="*/ 26 h 575"/>
                  <a:gd name="T20" fmla="*/ 10 w 319"/>
                  <a:gd name="T21" fmla="*/ 57 h 575"/>
                  <a:gd name="T22" fmla="*/ 5 w 319"/>
                  <a:gd name="T23" fmla="*/ 120 h 575"/>
                  <a:gd name="T24" fmla="*/ 5 w 319"/>
                  <a:gd name="T25" fmla="*/ 172 h 575"/>
                  <a:gd name="T26" fmla="*/ 4 w 319"/>
                  <a:gd name="T27" fmla="*/ 188 h 575"/>
                  <a:gd name="T28" fmla="*/ 3 w 319"/>
                  <a:gd name="T29" fmla="*/ 234 h 575"/>
                  <a:gd name="T30" fmla="*/ 3 w 319"/>
                  <a:gd name="T31" fmla="*/ 273 h 575"/>
                  <a:gd name="T32" fmla="*/ 4 w 319"/>
                  <a:gd name="T33" fmla="*/ 301 h 575"/>
                  <a:gd name="T34" fmla="*/ 3 w 319"/>
                  <a:gd name="T35" fmla="*/ 337 h 575"/>
                  <a:gd name="T36" fmla="*/ 3 w 319"/>
                  <a:gd name="T37" fmla="*/ 363 h 575"/>
                  <a:gd name="T38" fmla="*/ 0 w 319"/>
                  <a:gd name="T39" fmla="*/ 399 h 575"/>
                  <a:gd name="T40" fmla="*/ 3 w 319"/>
                  <a:gd name="T41" fmla="*/ 399 h 575"/>
                  <a:gd name="T42" fmla="*/ 3 w 319"/>
                  <a:gd name="T43" fmla="*/ 427 h 575"/>
                  <a:gd name="T44" fmla="*/ 9 w 319"/>
                  <a:gd name="T45" fmla="*/ 427 h 575"/>
                  <a:gd name="T46" fmla="*/ 9 w 319"/>
                  <a:gd name="T47" fmla="*/ 399 h 575"/>
                  <a:gd name="T48" fmla="*/ 12 w 319"/>
                  <a:gd name="T49" fmla="*/ 370 h 575"/>
                  <a:gd name="T50" fmla="*/ 15 w 319"/>
                  <a:gd name="T51" fmla="*/ 346 h 575"/>
                  <a:gd name="T52" fmla="*/ 12 w 319"/>
                  <a:gd name="T53" fmla="*/ 329 h 575"/>
                  <a:gd name="T54" fmla="*/ 12 w 319"/>
                  <a:gd name="T55" fmla="*/ 313 h 575"/>
                  <a:gd name="T56" fmla="*/ 15 w 319"/>
                  <a:gd name="T57" fmla="*/ 301 h 575"/>
                  <a:gd name="T58" fmla="*/ 17 w 319"/>
                  <a:gd name="T59" fmla="*/ 291 h 575"/>
                  <a:gd name="T60" fmla="*/ 17 w 319"/>
                  <a:gd name="T61" fmla="*/ 273 h 575"/>
                  <a:gd name="T62" fmla="*/ 19 w 319"/>
                  <a:gd name="T63" fmla="*/ 266 h 575"/>
                  <a:gd name="T64" fmla="*/ 17 w 319"/>
                  <a:gd name="T65" fmla="*/ 245 h 575"/>
                  <a:gd name="T66" fmla="*/ 21 w 319"/>
                  <a:gd name="T67" fmla="*/ 245 h 575"/>
                  <a:gd name="T68" fmla="*/ 21 w 319"/>
                  <a:gd name="T69" fmla="*/ 216 h 575"/>
                  <a:gd name="T70" fmla="*/ 24 w 319"/>
                  <a:gd name="T71" fmla="*/ 216 h 575"/>
                  <a:gd name="T72" fmla="*/ 33 w 319"/>
                  <a:gd name="T73" fmla="*/ 188 h 575"/>
                  <a:gd name="T74" fmla="*/ 30 w 319"/>
                  <a:gd name="T75" fmla="*/ 176 h 575"/>
                  <a:gd name="T76" fmla="*/ 29 w 319"/>
                  <a:gd name="T77" fmla="*/ 166 h 57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19"/>
                  <a:gd name="T118" fmla="*/ 0 h 575"/>
                  <a:gd name="T119" fmla="*/ 319 w 319"/>
                  <a:gd name="T120" fmla="*/ 575 h 57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19" h="575">
                    <a:moveTo>
                      <a:pt x="234" y="206"/>
                    </a:moveTo>
                    <a:lnTo>
                      <a:pt x="250" y="145"/>
                    </a:lnTo>
                    <a:lnTo>
                      <a:pt x="292" y="99"/>
                    </a:lnTo>
                    <a:lnTo>
                      <a:pt x="318" y="84"/>
                    </a:lnTo>
                    <a:lnTo>
                      <a:pt x="300" y="61"/>
                    </a:lnTo>
                    <a:lnTo>
                      <a:pt x="292" y="61"/>
                    </a:lnTo>
                    <a:lnTo>
                      <a:pt x="292" y="77"/>
                    </a:lnTo>
                    <a:lnTo>
                      <a:pt x="276" y="84"/>
                    </a:lnTo>
                    <a:lnTo>
                      <a:pt x="267" y="99"/>
                    </a:lnTo>
                    <a:lnTo>
                      <a:pt x="234" y="84"/>
                    </a:lnTo>
                    <a:lnTo>
                      <a:pt x="242" y="69"/>
                    </a:lnTo>
                    <a:lnTo>
                      <a:pt x="242" y="61"/>
                    </a:lnTo>
                    <a:lnTo>
                      <a:pt x="226" y="38"/>
                    </a:lnTo>
                    <a:lnTo>
                      <a:pt x="192" y="38"/>
                    </a:lnTo>
                    <a:lnTo>
                      <a:pt x="175" y="15"/>
                    </a:lnTo>
                    <a:lnTo>
                      <a:pt x="150" y="0"/>
                    </a:lnTo>
                    <a:lnTo>
                      <a:pt x="142" y="15"/>
                    </a:lnTo>
                    <a:lnTo>
                      <a:pt x="117" y="0"/>
                    </a:lnTo>
                    <a:lnTo>
                      <a:pt x="92" y="23"/>
                    </a:lnTo>
                    <a:lnTo>
                      <a:pt x="92" y="38"/>
                    </a:lnTo>
                    <a:lnTo>
                      <a:pt x="75" y="46"/>
                    </a:lnTo>
                    <a:lnTo>
                      <a:pt x="83" y="77"/>
                    </a:lnTo>
                    <a:lnTo>
                      <a:pt x="67" y="108"/>
                    </a:lnTo>
                    <a:lnTo>
                      <a:pt x="41" y="161"/>
                    </a:lnTo>
                    <a:lnTo>
                      <a:pt x="50" y="199"/>
                    </a:lnTo>
                    <a:lnTo>
                      <a:pt x="41" y="230"/>
                    </a:lnTo>
                    <a:lnTo>
                      <a:pt x="41" y="244"/>
                    </a:lnTo>
                    <a:lnTo>
                      <a:pt x="33" y="253"/>
                    </a:lnTo>
                    <a:lnTo>
                      <a:pt x="33" y="291"/>
                    </a:lnTo>
                    <a:lnTo>
                      <a:pt x="25" y="314"/>
                    </a:lnTo>
                    <a:lnTo>
                      <a:pt x="25" y="352"/>
                    </a:lnTo>
                    <a:lnTo>
                      <a:pt x="25" y="367"/>
                    </a:lnTo>
                    <a:lnTo>
                      <a:pt x="25" y="405"/>
                    </a:lnTo>
                    <a:lnTo>
                      <a:pt x="33" y="405"/>
                    </a:lnTo>
                    <a:lnTo>
                      <a:pt x="33" y="413"/>
                    </a:lnTo>
                    <a:lnTo>
                      <a:pt x="25" y="452"/>
                    </a:lnTo>
                    <a:lnTo>
                      <a:pt x="17" y="474"/>
                    </a:lnTo>
                    <a:lnTo>
                      <a:pt x="17" y="489"/>
                    </a:lnTo>
                    <a:lnTo>
                      <a:pt x="0" y="520"/>
                    </a:lnTo>
                    <a:lnTo>
                      <a:pt x="0" y="536"/>
                    </a:lnTo>
                    <a:lnTo>
                      <a:pt x="0" y="543"/>
                    </a:lnTo>
                    <a:lnTo>
                      <a:pt x="17" y="536"/>
                    </a:lnTo>
                    <a:lnTo>
                      <a:pt x="17" y="566"/>
                    </a:lnTo>
                    <a:lnTo>
                      <a:pt x="25" y="574"/>
                    </a:lnTo>
                    <a:lnTo>
                      <a:pt x="50" y="574"/>
                    </a:lnTo>
                    <a:lnTo>
                      <a:pt x="75" y="574"/>
                    </a:lnTo>
                    <a:lnTo>
                      <a:pt x="67" y="543"/>
                    </a:lnTo>
                    <a:lnTo>
                      <a:pt x="75" y="536"/>
                    </a:lnTo>
                    <a:lnTo>
                      <a:pt x="83" y="527"/>
                    </a:lnTo>
                    <a:lnTo>
                      <a:pt x="92" y="497"/>
                    </a:lnTo>
                    <a:lnTo>
                      <a:pt x="125" y="482"/>
                    </a:lnTo>
                    <a:lnTo>
                      <a:pt x="125" y="466"/>
                    </a:lnTo>
                    <a:lnTo>
                      <a:pt x="117" y="466"/>
                    </a:lnTo>
                    <a:lnTo>
                      <a:pt x="92" y="443"/>
                    </a:lnTo>
                    <a:lnTo>
                      <a:pt x="92" y="436"/>
                    </a:lnTo>
                    <a:lnTo>
                      <a:pt x="100" y="421"/>
                    </a:lnTo>
                    <a:lnTo>
                      <a:pt x="125" y="413"/>
                    </a:lnTo>
                    <a:lnTo>
                      <a:pt x="125" y="405"/>
                    </a:lnTo>
                    <a:lnTo>
                      <a:pt x="133" y="405"/>
                    </a:lnTo>
                    <a:lnTo>
                      <a:pt x="133" y="390"/>
                    </a:lnTo>
                    <a:lnTo>
                      <a:pt x="142" y="375"/>
                    </a:lnTo>
                    <a:lnTo>
                      <a:pt x="142" y="367"/>
                    </a:lnTo>
                    <a:lnTo>
                      <a:pt x="150" y="367"/>
                    </a:lnTo>
                    <a:lnTo>
                      <a:pt x="150" y="359"/>
                    </a:lnTo>
                    <a:lnTo>
                      <a:pt x="133" y="359"/>
                    </a:lnTo>
                    <a:lnTo>
                      <a:pt x="133" y="329"/>
                    </a:lnTo>
                    <a:lnTo>
                      <a:pt x="150" y="344"/>
                    </a:lnTo>
                    <a:lnTo>
                      <a:pt x="175" y="329"/>
                    </a:lnTo>
                    <a:lnTo>
                      <a:pt x="184" y="298"/>
                    </a:lnTo>
                    <a:lnTo>
                      <a:pt x="175" y="291"/>
                    </a:lnTo>
                    <a:lnTo>
                      <a:pt x="184" y="291"/>
                    </a:lnTo>
                    <a:lnTo>
                      <a:pt x="200" y="291"/>
                    </a:lnTo>
                    <a:lnTo>
                      <a:pt x="250" y="283"/>
                    </a:lnTo>
                    <a:lnTo>
                      <a:pt x="267" y="253"/>
                    </a:lnTo>
                    <a:lnTo>
                      <a:pt x="267" y="244"/>
                    </a:lnTo>
                    <a:lnTo>
                      <a:pt x="250" y="237"/>
                    </a:lnTo>
                    <a:lnTo>
                      <a:pt x="250" y="230"/>
                    </a:lnTo>
                    <a:lnTo>
                      <a:pt x="234" y="222"/>
                    </a:lnTo>
                    <a:lnTo>
                      <a:pt x="234" y="20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5" name="Freeform 26"/>
              <p:cNvSpPr>
                <a:spLocks/>
              </p:cNvSpPr>
              <p:nvPr/>
            </p:nvSpPr>
            <p:spPr bwMode="auto">
              <a:xfrm>
                <a:off x="2562620" y="4412997"/>
                <a:ext cx="264697" cy="426357"/>
              </a:xfrm>
              <a:custGeom>
                <a:avLst/>
                <a:gdLst>
                  <a:gd name="T0" fmla="*/ 17 w 177"/>
                  <a:gd name="T1" fmla="*/ 191 h 245"/>
                  <a:gd name="T2" fmla="*/ 19 w 177"/>
                  <a:gd name="T3" fmla="*/ 161 h 245"/>
                  <a:gd name="T4" fmla="*/ 17 w 177"/>
                  <a:gd name="T5" fmla="*/ 138 h 245"/>
                  <a:gd name="T6" fmla="*/ 19 w 177"/>
                  <a:gd name="T7" fmla="*/ 138 h 245"/>
                  <a:gd name="T8" fmla="*/ 17 w 177"/>
                  <a:gd name="T9" fmla="*/ 132 h 245"/>
                  <a:gd name="T10" fmla="*/ 17 w 177"/>
                  <a:gd name="T11" fmla="*/ 124 h 245"/>
                  <a:gd name="T12" fmla="*/ 22 w 177"/>
                  <a:gd name="T13" fmla="*/ 124 h 245"/>
                  <a:gd name="T14" fmla="*/ 22 w 177"/>
                  <a:gd name="T15" fmla="*/ 108 h 245"/>
                  <a:gd name="T16" fmla="*/ 21 w 177"/>
                  <a:gd name="T17" fmla="*/ 98 h 245"/>
                  <a:gd name="T18" fmla="*/ 22 w 177"/>
                  <a:gd name="T19" fmla="*/ 70 h 245"/>
                  <a:gd name="T20" fmla="*/ 19 w 177"/>
                  <a:gd name="T21" fmla="*/ 70 h 245"/>
                  <a:gd name="T22" fmla="*/ 17 w 177"/>
                  <a:gd name="T23" fmla="*/ 66 h 245"/>
                  <a:gd name="T24" fmla="*/ 14 w 177"/>
                  <a:gd name="T25" fmla="*/ 66 h 245"/>
                  <a:gd name="T26" fmla="*/ 13 w 177"/>
                  <a:gd name="T27" fmla="*/ 62 h 245"/>
                  <a:gd name="T28" fmla="*/ 13 w 177"/>
                  <a:gd name="T29" fmla="*/ 49 h 245"/>
                  <a:gd name="T30" fmla="*/ 11 w 177"/>
                  <a:gd name="T31" fmla="*/ 33 h 245"/>
                  <a:gd name="T32" fmla="*/ 13 w 177"/>
                  <a:gd name="T33" fmla="*/ 24 h 245"/>
                  <a:gd name="T34" fmla="*/ 14 w 177"/>
                  <a:gd name="T35" fmla="*/ 15 h 245"/>
                  <a:gd name="T36" fmla="*/ 14 w 177"/>
                  <a:gd name="T37" fmla="*/ 7 h 245"/>
                  <a:gd name="T38" fmla="*/ 14 w 177"/>
                  <a:gd name="T39" fmla="*/ 0 h 245"/>
                  <a:gd name="T40" fmla="*/ 11 w 177"/>
                  <a:gd name="T41" fmla="*/ 15 h 245"/>
                  <a:gd name="T42" fmla="*/ 7 w 177"/>
                  <a:gd name="T43" fmla="*/ 24 h 245"/>
                  <a:gd name="T44" fmla="*/ 6 w 177"/>
                  <a:gd name="T45" fmla="*/ 33 h 245"/>
                  <a:gd name="T46" fmla="*/ 3 w 177"/>
                  <a:gd name="T47" fmla="*/ 41 h 245"/>
                  <a:gd name="T48" fmla="*/ 3 w 177"/>
                  <a:gd name="T49" fmla="*/ 62 h 245"/>
                  <a:gd name="T50" fmla="*/ 3 w 177"/>
                  <a:gd name="T51" fmla="*/ 41 h 245"/>
                  <a:gd name="T52" fmla="*/ 3 w 177"/>
                  <a:gd name="T53" fmla="*/ 49 h 245"/>
                  <a:gd name="T54" fmla="*/ 3 w 177"/>
                  <a:gd name="T55" fmla="*/ 62 h 245"/>
                  <a:gd name="T56" fmla="*/ 3 w 177"/>
                  <a:gd name="T57" fmla="*/ 66 h 245"/>
                  <a:gd name="T58" fmla="*/ 3 w 177"/>
                  <a:gd name="T59" fmla="*/ 70 h 245"/>
                  <a:gd name="T60" fmla="*/ 3 w 177"/>
                  <a:gd name="T61" fmla="*/ 102 h 245"/>
                  <a:gd name="T62" fmla="*/ 3 w 177"/>
                  <a:gd name="T63" fmla="*/ 102 h 245"/>
                  <a:gd name="T64" fmla="*/ 3 w 177"/>
                  <a:gd name="T65" fmla="*/ 118 h 245"/>
                  <a:gd name="T66" fmla="*/ 3 w 177"/>
                  <a:gd name="T67" fmla="*/ 118 h 245"/>
                  <a:gd name="T68" fmla="*/ 3 w 177"/>
                  <a:gd name="T69" fmla="*/ 124 h 245"/>
                  <a:gd name="T70" fmla="*/ 0 w 177"/>
                  <a:gd name="T71" fmla="*/ 124 h 245"/>
                  <a:gd name="T72" fmla="*/ 0 w 177"/>
                  <a:gd name="T73" fmla="*/ 132 h 245"/>
                  <a:gd name="T74" fmla="*/ 3 w 177"/>
                  <a:gd name="T75" fmla="*/ 144 h 245"/>
                  <a:gd name="T76" fmla="*/ 6 w 177"/>
                  <a:gd name="T77" fmla="*/ 138 h 245"/>
                  <a:gd name="T78" fmla="*/ 7 w 177"/>
                  <a:gd name="T79" fmla="*/ 144 h 245"/>
                  <a:gd name="T80" fmla="*/ 9 w 177"/>
                  <a:gd name="T81" fmla="*/ 161 h 245"/>
                  <a:gd name="T82" fmla="*/ 11 w 177"/>
                  <a:gd name="T83" fmla="*/ 172 h 245"/>
                  <a:gd name="T84" fmla="*/ 16 w 177"/>
                  <a:gd name="T85" fmla="*/ 166 h 245"/>
                  <a:gd name="T86" fmla="*/ 17 w 177"/>
                  <a:gd name="T87" fmla="*/ 172 h 245"/>
                  <a:gd name="T88" fmla="*/ 17 w 177"/>
                  <a:gd name="T89" fmla="*/ 179 h 245"/>
                  <a:gd name="T90" fmla="*/ 16 w 177"/>
                  <a:gd name="T91" fmla="*/ 179 h 245"/>
                  <a:gd name="T92" fmla="*/ 17 w 177"/>
                  <a:gd name="T93" fmla="*/ 191 h 24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77"/>
                  <a:gd name="T142" fmla="*/ 0 h 245"/>
                  <a:gd name="T143" fmla="*/ 177 w 177"/>
                  <a:gd name="T144" fmla="*/ 245 h 24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77" h="245">
                    <a:moveTo>
                      <a:pt x="134" y="244"/>
                    </a:moveTo>
                    <a:lnTo>
                      <a:pt x="151" y="206"/>
                    </a:lnTo>
                    <a:lnTo>
                      <a:pt x="134" y="176"/>
                    </a:lnTo>
                    <a:lnTo>
                      <a:pt x="151" y="176"/>
                    </a:lnTo>
                    <a:lnTo>
                      <a:pt x="134" y="168"/>
                    </a:lnTo>
                    <a:lnTo>
                      <a:pt x="134" y="160"/>
                    </a:lnTo>
                    <a:lnTo>
                      <a:pt x="176" y="160"/>
                    </a:lnTo>
                    <a:lnTo>
                      <a:pt x="176" y="137"/>
                    </a:lnTo>
                    <a:lnTo>
                      <a:pt x="167" y="122"/>
                    </a:lnTo>
                    <a:lnTo>
                      <a:pt x="176" y="91"/>
                    </a:lnTo>
                    <a:lnTo>
                      <a:pt x="151" y="91"/>
                    </a:lnTo>
                    <a:lnTo>
                      <a:pt x="134" y="84"/>
                    </a:lnTo>
                    <a:lnTo>
                      <a:pt x="109" y="84"/>
                    </a:lnTo>
                    <a:lnTo>
                      <a:pt x="101" y="76"/>
                    </a:lnTo>
                    <a:lnTo>
                      <a:pt x="101" y="61"/>
                    </a:lnTo>
                    <a:lnTo>
                      <a:pt x="84" y="45"/>
                    </a:lnTo>
                    <a:lnTo>
                      <a:pt x="101" y="30"/>
                    </a:lnTo>
                    <a:lnTo>
                      <a:pt x="109" y="15"/>
                    </a:lnTo>
                    <a:lnTo>
                      <a:pt x="117" y="7"/>
                    </a:lnTo>
                    <a:lnTo>
                      <a:pt x="109" y="0"/>
                    </a:lnTo>
                    <a:lnTo>
                      <a:pt x="84" y="15"/>
                    </a:lnTo>
                    <a:lnTo>
                      <a:pt x="59" y="30"/>
                    </a:lnTo>
                    <a:lnTo>
                      <a:pt x="50" y="45"/>
                    </a:lnTo>
                    <a:lnTo>
                      <a:pt x="25" y="53"/>
                    </a:lnTo>
                    <a:lnTo>
                      <a:pt x="25" y="76"/>
                    </a:lnTo>
                    <a:lnTo>
                      <a:pt x="17" y="53"/>
                    </a:lnTo>
                    <a:lnTo>
                      <a:pt x="25" y="61"/>
                    </a:lnTo>
                    <a:lnTo>
                      <a:pt x="17" y="76"/>
                    </a:lnTo>
                    <a:lnTo>
                      <a:pt x="17" y="84"/>
                    </a:lnTo>
                    <a:lnTo>
                      <a:pt x="17" y="91"/>
                    </a:lnTo>
                    <a:lnTo>
                      <a:pt x="17" y="129"/>
                    </a:lnTo>
                    <a:lnTo>
                      <a:pt x="25" y="129"/>
                    </a:lnTo>
                    <a:lnTo>
                      <a:pt x="17" y="152"/>
                    </a:lnTo>
                    <a:lnTo>
                      <a:pt x="9" y="152"/>
                    </a:lnTo>
                    <a:lnTo>
                      <a:pt x="9" y="160"/>
                    </a:lnTo>
                    <a:lnTo>
                      <a:pt x="0" y="160"/>
                    </a:lnTo>
                    <a:lnTo>
                      <a:pt x="0" y="168"/>
                    </a:lnTo>
                    <a:lnTo>
                      <a:pt x="25" y="183"/>
                    </a:lnTo>
                    <a:lnTo>
                      <a:pt x="50" y="176"/>
                    </a:lnTo>
                    <a:lnTo>
                      <a:pt x="59" y="183"/>
                    </a:lnTo>
                    <a:lnTo>
                      <a:pt x="75" y="206"/>
                    </a:lnTo>
                    <a:lnTo>
                      <a:pt x="84" y="221"/>
                    </a:lnTo>
                    <a:lnTo>
                      <a:pt x="125" y="213"/>
                    </a:lnTo>
                    <a:lnTo>
                      <a:pt x="134" y="221"/>
                    </a:lnTo>
                    <a:lnTo>
                      <a:pt x="134" y="229"/>
                    </a:lnTo>
                    <a:lnTo>
                      <a:pt x="125" y="229"/>
                    </a:lnTo>
                    <a:lnTo>
                      <a:pt x="134" y="24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6" name="Freeform 27"/>
              <p:cNvSpPr>
                <a:spLocks/>
              </p:cNvSpPr>
              <p:nvPr/>
            </p:nvSpPr>
            <p:spPr bwMode="auto">
              <a:xfrm>
                <a:off x="2514654" y="4704341"/>
                <a:ext cx="138566" cy="159884"/>
              </a:xfrm>
              <a:custGeom>
                <a:avLst/>
                <a:gdLst>
                  <a:gd name="T0" fmla="*/ 11 w 93"/>
                  <a:gd name="T1" fmla="*/ 15 h 93"/>
                  <a:gd name="T2" fmla="*/ 10 w 93"/>
                  <a:gd name="T3" fmla="*/ 8 h 93"/>
                  <a:gd name="T4" fmla="*/ 7 w 93"/>
                  <a:gd name="T5" fmla="*/ 15 h 93"/>
                  <a:gd name="T6" fmla="*/ 4 w 93"/>
                  <a:gd name="T7" fmla="*/ 0 h 93"/>
                  <a:gd name="T8" fmla="*/ 3 w 93"/>
                  <a:gd name="T9" fmla="*/ 8 h 93"/>
                  <a:gd name="T10" fmla="*/ 3 w 93"/>
                  <a:gd name="T11" fmla="*/ 15 h 93"/>
                  <a:gd name="T12" fmla="*/ 0 w 93"/>
                  <a:gd name="T13" fmla="*/ 19 h 93"/>
                  <a:gd name="T14" fmla="*/ 0 w 93"/>
                  <a:gd name="T15" fmla="*/ 33 h 93"/>
                  <a:gd name="T16" fmla="*/ 3 w 93"/>
                  <a:gd name="T17" fmla="*/ 41 h 93"/>
                  <a:gd name="T18" fmla="*/ 3 w 93"/>
                  <a:gd name="T19" fmla="*/ 37 h 93"/>
                  <a:gd name="T20" fmla="*/ 3 w 93"/>
                  <a:gd name="T21" fmla="*/ 37 h 93"/>
                  <a:gd name="T22" fmla="*/ 3 w 93"/>
                  <a:gd name="T23" fmla="*/ 41 h 93"/>
                  <a:gd name="T24" fmla="*/ 0 w 93"/>
                  <a:gd name="T25" fmla="*/ 57 h 93"/>
                  <a:gd name="T26" fmla="*/ 3 w 93"/>
                  <a:gd name="T27" fmla="*/ 63 h 93"/>
                  <a:gd name="T28" fmla="*/ 6 w 93"/>
                  <a:gd name="T29" fmla="*/ 41 h 93"/>
                  <a:gd name="T30" fmla="*/ 8 w 93"/>
                  <a:gd name="T31" fmla="*/ 37 h 93"/>
                  <a:gd name="T32" fmla="*/ 10 w 93"/>
                  <a:gd name="T33" fmla="*/ 33 h 93"/>
                  <a:gd name="T34" fmla="*/ 11 w 93"/>
                  <a:gd name="T35" fmla="*/ 19 h 93"/>
                  <a:gd name="T36" fmla="*/ 10 w 93"/>
                  <a:gd name="T37" fmla="*/ 15 h 93"/>
                  <a:gd name="T38" fmla="*/ 11 w 93"/>
                  <a:gd name="T39" fmla="*/ 15 h 9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3"/>
                  <a:gd name="T61" fmla="*/ 0 h 93"/>
                  <a:gd name="T62" fmla="*/ 93 w 93"/>
                  <a:gd name="T63" fmla="*/ 93 h 9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3" h="93">
                    <a:moveTo>
                      <a:pt x="92" y="15"/>
                    </a:moveTo>
                    <a:lnTo>
                      <a:pt x="83" y="8"/>
                    </a:lnTo>
                    <a:lnTo>
                      <a:pt x="58" y="15"/>
                    </a:lnTo>
                    <a:lnTo>
                      <a:pt x="33" y="0"/>
                    </a:lnTo>
                    <a:lnTo>
                      <a:pt x="8" y="8"/>
                    </a:lnTo>
                    <a:lnTo>
                      <a:pt x="8" y="15"/>
                    </a:lnTo>
                    <a:lnTo>
                      <a:pt x="0" y="31"/>
                    </a:lnTo>
                    <a:lnTo>
                      <a:pt x="0" y="45"/>
                    </a:lnTo>
                    <a:lnTo>
                      <a:pt x="8" y="61"/>
                    </a:lnTo>
                    <a:lnTo>
                      <a:pt x="8" y="53"/>
                    </a:lnTo>
                    <a:lnTo>
                      <a:pt x="16" y="53"/>
                    </a:lnTo>
                    <a:lnTo>
                      <a:pt x="8" y="61"/>
                    </a:lnTo>
                    <a:lnTo>
                      <a:pt x="0" y="83"/>
                    </a:lnTo>
                    <a:lnTo>
                      <a:pt x="16" y="92"/>
                    </a:lnTo>
                    <a:lnTo>
                      <a:pt x="50" y="61"/>
                    </a:lnTo>
                    <a:lnTo>
                      <a:pt x="66" y="53"/>
                    </a:lnTo>
                    <a:lnTo>
                      <a:pt x="83" y="45"/>
                    </a:lnTo>
                    <a:lnTo>
                      <a:pt x="92" y="31"/>
                    </a:lnTo>
                    <a:lnTo>
                      <a:pt x="83" y="15"/>
                    </a:lnTo>
                    <a:lnTo>
                      <a:pt x="92"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7" name="Freeform 28"/>
              <p:cNvSpPr>
                <a:spLocks/>
              </p:cNvSpPr>
              <p:nvPr/>
            </p:nvSpPr>
            <p:spPr bwMode="auto">
              <a:xfrm>
                <a:off x="2790011" y="4983250"/>
                <a:ext cx="262921" cy="360627"/>
              </a:xfrm>
              <a:custGeom>
                <a:avLst/>
                <a:gdLst>
                  <a:gd name="T0" fmla="*/ 21 w 176"/>
                  <a:gd name="T1" fmla="*/ 121 h 208"/>
                  <a:gd name="T2" fmla="*/ 21 w 176"/>
                  <a:gd name="T3" fmla="*/ 98 h 208"/>
                  <a:gd name="T4" fmla="*/ 20 w 176"/>
                  <a:gd name="T5" fmla="*/ 82 h 208"/>
                  <a:gd name="T6" fmla="*/ 20 w 176"/>
                  <a:gd name="T7" fmla="*/ 76 h 208"/>
                  <a:gd name="T8" fmla="*/ 19 w 176"/>
                  <a:gd name="T9" fmla="*/ 76 h 208"/>
                  <a:gd name="T10" fmla="*/ 17 w 176"/>
                  <a:gd name="T11" fmla="*/ 61 h 208"/>
                  <a:gd name="T12" fmla="*/ 17 w 176"/>
                  <a:gd name="T13" fmla="*/ 57 h 208"/>
                  <a:gd name="T14" fmla="*/ 16 w 176"/>
                  <a:gd name="T15" fmla="*/ 42 h 208"/>
                  <a:gd name="T16" fmla="*/ 8 w 176"/>
                  <a:gd name="T17" fmla="*/ 26 h 208"/>
                  <a:gd name="T18" fmla="*/ 7 w 176"/>
                  <a:gd name="T19" fmla="*/ 20 h 208"/>
                  <a:gd name="T20" fmla="*/ 7 w 176"/>
                  <a:gd name="T21" fmla="*/ 0 h 208"/>
                  <a:gd name="T22" fmla="*/ 4 w 176"/>
                  <a:gd name="T23" fmla="*/ 0 h 208"/>
                  <a:gd name="T24" fmla="*/ 3 w 176"/>
                  <a:gd name="T25" fmla="*/ 16 h 208"/>
                  <a:gd name="T26" fmla="*/ 0 w 176"/>
                  <a:gd name="T27" fmla="*/ 16 h 208"/>
                  <a:gd name="T28" fmla="*/ 3 w 176"/>
                  <a:gd name="T29" fmla="*/ 26 h 208"/>
                  <a:gd name="T30" fmla="*/ 0 w 176"/>
                  <a:gd name="T31" fmla="*/ 68 h 208"/>
                  <a:gd name="T32" fmla="*/ 3 w 176"/>
                  <a:gd name="T33" fmla="*/ 76 h 208"/>
                  <a:gd name="T34" fmla="*/ 0 w 176"/>
                  <a:gd name="T35" fmla="*/ 92 h 208"/>
                  <a:gd name="T36" fmla="*/ 3 w 176"/>
                  <a:gd name="T37" fmla="*/ 109 h 208"/>
                  <a:gd name="T38" fmla="*/ 3 w 176"/>
                  <a:gd name="T39" fmla="*/ 121 h 208"/>
                  <a:gd name="T40" fmla="*/ 3 w 176"/>
                  <a:gd name="T41" fmla="*/ 155 h 208"/>
                  <a:gd name="T42" fmla="*/ 3 w 176"/>
                  <a:gd name="T43" fmla="*/ 155 h 208"/>
                  <a:gd name="T44" fmla="*/ 6 w 176"/>
                  <a:gd name="T45" fmla="*/ 138 h 208"/>
                  <a:gd name="T46" fmla="*/ 9 w 176"/>
                  <a:gd name="T47" fmla="*/ 148 h 208"/>
                  <a:gd name="T48" fmla="*/ 10 w 176"/>
                  <a:gd name="T49" fmla="*/ 138 h 208"/>
                  <a:gd name="T50" fmla="*/ 14 w 176"/>
                  <a:gd name="T51" fmla="*/ 148 h 208"/>
                  <a:gd name="T52" fmla="*/ 14 w 176"/>
                  <a:gd name="T53" fmla="*/ 109 h 208"/>
                  <a:gd name="T54" fmla="*/ 20 w 176"/>
                  <a:gd name="T55" fmla="*/ 109 h 208"/>
                  <a:gd name="T56" fmla="*/ 21 w 176"/>
                  <a:gd name="T57" fmla="*/ 121 h 20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6"/>
                  <a:gd name="T88" fmla="*/ 0 h 208"/>
                  <a:gd name="T89" fmla="*/ 176 w 176"/>
                  <a:gd name="T90" fmla="*/ 208 h 20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6" h="208">
                    <a:moveTo>
                      <a:pt x="175" y="161"/>
                    </a:moveTo>
                    <a:lnTo>
                      <a:pt x="175" y="131"/>
                    </a:lnTo>
                    <a:lnTo>
                      <a:pt x="167" y="107"/>
                    </a:lnTo>
                    <a:lnTo>
                      <a:pt x="167" y="100"/>
                    </a:lnTo>
                    <a:lnTo>
                      <a:pt x="150" y="100"/>
                    </a:lnTo>
                    <a:lnTo>
                      <a:pt x="133" y="84"/>
                    </a:lnTo>
                    <a:lnTo>
                      <a:pt x="133" y="77"/>
                    </a:lnTo>
                    <a:lnTo>
                      <a:pt x="125" y="54"/>
                    </a:lnTo>
                    <a:lnTo>
                      <a:pt x="66" y="38"/>
                    </a:lnTo>
                    <a:lnTo>
                      <a:pt x="58" y="23"/>
                    </a:lnTo>
                    <a:lnTo>
                      <a:pt x="58" y="0"/>
                    </a:lnTo>
                    <a:lnTo>
                      <a:pt x="33" y="0"/>
                    </a:lnTo>
                    <a:lnTo>
                      <a:pt x="16" y="16"/>
                    </a:lnTo>
                    <a:lnTo>
                      <a:pt x="0" y="16"/>
                    </a:lnTo>
                    <a:lnTo>
                      <a:pt x="8" y="38"/>
                    </a:lnTo>
                    <a:lnTo>
                      <a:pt x="0" y="92"/>
                    </a:lnTo>
                    <a:lnTo>
                      <a:pt x="8" y="100"/>
                    </a:lnTo>
                    <a:lnTo>
                      <a:pt x="0" y="123"/>
                    </a:lnTo>
                    <a:lnTo>
                      <a:pt x="8" y="146"/>
                    </a:lnTo>
                    <a:lnTo>
                      <a:pt x="8" y="161"/>
                    </a:lnTo>
                    <a:lnTo>
                      <a:pt x="16" y="207"/>
                    </a:lnTo>
                    <a:lnTo>
                      <a:pt x="25" y="207"/>
                    </a:lnTo>
                    <a:lnTo>
                      <a:pt x="50" y="184"/>
                    </a:lnTo>
                    <a:lnTo>
                      <a:pt x="75" y="199"/>
                    </a:lnTo>
                    <a:lnTo>
                      <a:pt x="83" y="184"/>
                    </a:lnTo>
                    <a:lnTo>
                      <a:pt x="108" y="199"/>
                    </a:lnTo>
                    <a:lnTo>
                      <a:pt x="117" y="146"/>
                    </a:lnTo>
                    <a:lnTo>
                      <a:pt x="159" y="146"/>
                    </a:lnTo>
                    <a:lnTo>
                      <a:pt x="175" y="1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8" name="Freeform 29"/>
              <p:cNvSpPr>
                <a:spLocks/>
              </p:cNvSpPr>
              <p:nvPr/>
            </p:nvSpPr>
            <p:spPr bwMode="auto">
              <a:xfrm>
                <a:off x="2949895" y="5233735"/>
                <a:ext cx="188308" cy="241602"/>
              </a:xfrm>
              <a:custGeom>
                <a:avLst/>
                <a:gdLst>
                  <a:gd name="T0" fmla="*/ 14 w 126"/>
                  <a:gd name="T1" fmla="*/ 76 h 139"/>
                  <a:gd name="T2" fmla="*/ 16 w 126"/>
                  <a:gd name="T3" fmla="*/ 61 h 139"/>
                  <a:gd name="T4" fmla="*/ 14 w 126"/>
                  <a:gd name="T5" fmla="*/ 57 h 139"/>
                  <a:gd name="T6" fmla="*/ 14 w 126"/>
                  <a:gd name="T7" fmla="*/ 42 h 139"/>
                  <a:gd name="T8" fmla="*/ 12 w 126"/>
                  <a:gd name="T9" fmla="*/ 42 h 139"/>
                  <a:gd name="T10" fmla="*/ 8 w 126"/>
                  <a:gd name="T11" fmla="*/ 26 h 139"/>
                  <a:gd name="T12" fmla="*/ 8 w 126"/>
                  <a:gd name="T13" fmla="*/ 16 h 139"/>
                  <a:gd name="T14" fmla="*/ 6 w 126"/>
                  <a:gd name="T15" fmla="*/ 0 h 139"/>
                  <a:gd name="T16" fmla="*/ 3 w 126"/>
                  <a:gd name="T17" fmla="*/ 0 h 139"/>
                  <a:gd name="T18" fmla="*/ 0 w 126"/>
                  <a:gd name="T19" fmla="*/ 42 h 139"/>
                  <a:gd name="T20" fmla="*/ 3 w 126"/>
                  <a:gd name="T21" fmla="*/ 61 h 139"/>
                  <a:gd name="T22" fmla="*/ 6 w 126"/>
                  <a:gd name="T23" fmla="*/ 61 h 139"/>
                  <a:gd name="T24" fmla="*/ 8 w 126"/>
                  <a:gd name="T25" fmla="*/ 76 h 139"/>
                  <a:gd name="T26" fmla="*/ 8 w 126"/>
                  <a:gd name="T27" fmla="*/ 84 h 139"/>
                  <a:gd name="T28" fmla="*/ 7 w 126"/>
                  <a:gd name="T29" fmla="*/ 95 h 139"/>
                  <a:gd name="T30" fmla="*/ 12 w 126"/>
                  <a:gd name="T31" fmla="*/ 106 h 139"/>
                  <a:gd name="T32" fmla="*/ 12 w 126"/>
                  <a:gd name="T33" fmla="*/ 95 h 139"/>
                  <a:gd name="T34" fmla="*/ 14 w 126"/>
                  <a:gd name="T35" fmla="*/ 91 h 139"/>
                  <a:gd name="T36" fmla="*/ 14 w 126"/>
                  <a:gd name="T37" fmla="*/ 76 h 1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6"/>
                  <a:gd name="T58" fmla="*/ 0 h 139"/>
                  <a:gd name="T59" fmla="*/ 126 w 126"/>
                  <a:gd name="T60" fmla="*/ 139 h 1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6" h="139">
                    <a:moveTo>
                      <a:pt x="117" y="100"/>
                    </a:moveTo>
                    <a:lnTo>
                      <a:pt x="125" y="77"/>
                    </a:lnTo>
                    <a:lnTo>
                      <a:pt x="108" y="69"/>
                    </a:lnTo>
                    <a:lnTo>
                      <a:pt x="108" y="54"/>
                    </a:lnTo>
                    <a:lnTo>
                      <a:pt x="100" y="54"/>
                    </a:lnTo>
                    <a:lnTo>
                      <a:pt x="66" y="38"/>
                    </a:lnTo>
                    <a:lnTo>
                      <a:pt x="66" y="16"/>
                    </a:lnTo>
                    <a:lnTo>
                      <a:pt x="50" y="0"/>
                    </a:lnTo>
                    <a:lnTo>
                      <a:pt x="8" y="0"/>
                    </a:lnTo>
                    <a:lnTo>
                      <a:pt x="0" y="54"/>
                    </a:lnTo>
                    <a:lnTo>
                      <a:pt x="16" y="77"/>
                    </a:lnTo>
                    <a:lnTo>
                      <a:pt x="50" y="77"/>
                    </a:lnTo>
                    <a:lnTo>
                      <a:pt x="66" y="100"/>
                    </a:lnTo>
                    <a:lnTo>
                      <a:pt x="66" y="108"/>
                    </a:lnTo>
                    <a:lnTo>
                      <a:pt x="58" y="122"/>
                    </a:lnTo>
                    <a:lnTo>
                      <a:pt x="92" y="138"/>
                    </a:lnTo>
                    <a:lnTo>
                      <a:pt x="100" y="122"/>
                    </a:lnTo>
                    <a:lnTo>
                      <a:pt x="117" y="115"/>
                    </a:lnTo>
                    <a:lnTo>
                      <a:pt x="117" y="10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59" name="Freeform 30"/>
              <p:cNvSpPr>
                <a:spLocks/>
              </p:cNvSpPr>
              <p:nvPr/>
            </p:nvSpPr>
            <p:spPr bwMode="auto">
              <a:xfrm>
                <a:off x="3036943" y="5553502"/>
                <a:ext cx="140343" cy="133237"/>
              </a:xfrm>
              <a:custGeom>
                <a:avLst/>
                <a:gdLst>
                  <a:gd name="T0" fmla="*/ 10 w 94"/>
                  <a:gd name="T1" fmla="*/ 41 h 77"/>
                  <a:gd name="T2" fmla="*/ 12 w 94"/>
                  <a:gd name="T3" fmla="*/ 19 h 77"/>
                  <a:gd name="T4" fmla="*/ 10 w 94"/>
                  <a:gd name="T5" fmla="*/ 19 h 77"/>
                  <a:gd name="T6" fmla="*/ 7 w 94"/>
                  <a:gd name="T7" fmla="*/ 8 h 77"/>
                  <a:gd name="T8" fmla="*/ 5 w 94"/>
                  <a:gd name="T9" fmla="*/ 8 h 77"/>
                  <a:gd name="T10" fmla="*/ 4 w 94"/>
                  <a:gd name="T11" fmla="*/ 0 h 77"/>
                  <a:gd name="T12" fmla="*/ 3 w 94"/>
                  <a:gd name="T13" fmla="*/ 0 h 77"/>
                  <a:gd name="T14" fmla="*/ 0 w 94"/>
                  <a:gd name="T15" fmla="*/ 47 h 77"/>
                  <a:gd name="T16" fmla="*/ 3 w 94"/>
                  <a:gd name="T17" fmla="*/ 47 h 77"/>
                  <a:gd name="T18" fmla="*/ 5 w 94"/>
                  <a:gd name="T19" fmla="*/ 54 h 77"/>
                  <a:gd name="T20" fmla="*/ 8 w 94"/>
                  <a:gd name="T21" fmla="*/ 54 h 77"/>
                  <a:gd name="T22" fmla="*/ 10 w 94"/>
                  <a:gd name="T23" fmla="*/ 41 h 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4"/>
                  <a:gd name="T37" fmla="*/ 0 h 77"/>
                  <a:gd name="T38" fmla="*/ 94 w 94"/>
                  <a:gd name="T39" fmla="*/ 77 h 7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4" h="77">
                    <a:moveTo>
                      <a:pt x="85" y="53"/>
                    </a:moveTo>
                    <a:lnTo>
                      <a:pt x="93" y="31"/>
                    </a:lnTo>
                    <a:lnTo>
                      <a:pt x="85" y="23"/>
                    </a:lnTo>
                    <a:lnTo>
                      <a:pt x="51" y="8"/>
                    </a:lnTo>
                    <a:lnTo>
                      <a:pt x="42" y="8"/>
                    </a:lnTo>
                    <a:lnTo>
                      <a:pt x="34" y="0"/>
                    </a:lnTo>
                    <a:lnTo>
                      <a:pt x="17" y="0"/>
                    </a:lnTo>
                    <a:lnTo>
                      <a:pt x="0" y="61"/>
                    </a:lnTo>
                    <a:lnTo>
                      <a:pt x="8" y="61"/>
                    </a:lnTo>
                    <a:lnTo>
                      <a:pt x="42" y="76"/>
                    </a:lnTo>
                    <a:lnTo>
                      <a:pt x="67" y="76"/>
                    </a:lnTo>
                    <a:lnTo>
                      <a:pt x="85" y="5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0" name="Freeform 31"/>
              <p:cNvSpPr>
                <a:spLocks/>
              </p:cNvSpPr>
              <p:nvPr/>
            </p:nvSpPr>
            <p:spPr bwMode="auto">
              <a:xfrm>
                <a:off x="2676315" y="4599528"/>
                <a:ext cx="936212" cy="1049905"/>
              </a:xfrm>
              <a:custGeom>
                <a:avLst/>
                <a:gdLst>
                  <a:gd name="T0" fmla="*/ 42 w 628"/>
                  <a:gd name="T1" fmla="*/ 21 h 605"/>
                  <a:gd name="T2" fmla="*/ 40 w 628"/>
                  <a:gd name="T3" fmla="*/ 42 h 605"/>
                  <a:gd name="T4" fmla="*/ 35 w 628"/>
                  <a:gd name="T5" fmla="*/ 33 h 605"/>
                  <a:gd name="T6" fmla="*/ 34 w 628"/>
                  <a:gd name="T7" fmla="*/ 42 h 605"/>
                  <a:gd name="T8" fmla="*/ 29 w 628"/>
                  <a:gd name="T9" fmla="*/ 49 h 605"/>
                  <a:gd name="T10" fmla="*/ 28 w 628"/>
                  <a:gd name="T11" fmla="*/ 15 h 605"/>
                  <a:gd name="T12" fmla="*/ 24 w 628"/>
                  <a:gd name="T13" fmla="*/ 0 h 605"/>
                  <a:gd name="T14" fmla="*/ 21 w 628"/>
                  <a:gd name="T15" fmla="*/ 21 h 605"/>
                  <a:gd name="T16" fmla="*/ 18 w 628"/>
                  <a:gd name="T17" fmla="*/ 21 h 605"/>
                  <a:gd name="T18" fmla="*/ 19 w 628"/>
                  <a:gd name="T19" fmla="*/ 42 h 605"/>
                  <a:gd name="T20" fmla="*/ 15 w 628"/>
                  <a:gd name="T21" fmla="*/ 54 h 605"/>
                  <a:gd name="T22" fmla="*/ 12 w 628"/>
                  <a:gd name="T23" fmla="*/ 42 h 605"/>
                  <a:gd name="T24" fmla="*/ 7 w 628"/>
                  <a:gd name="T25" fmla="*/ 49 h 605"/>
                  <a:gd name="T26" fmla="*/ 7 w 628"/>
                  <a:gd name="T27" fmla="*/ 54 h 605"/>
                  <a:gd name="T28" fmla="*/ 7 w 628"/>
                  <a:gd name="T29" fmla="*/ 104 h 605"/>
                  <a:gd name="T30" fmla="*/ 0 w 628"/>
                  <a:gd name="T31" fmla="*/ 145 h 605"/>
                  <a:gd name="T32" fmla="*/ 4 w 628"/>
                  <a:gd name="T33" fmla="*/ 174 h 605"/>
                  <a:gd name="T34" fmla="*/ 6 w 628"/>
                  <a:gd name="T35" fmla="*/ 180 h 605"/>
                  <a:gd name="T36" fmla="*/ 11 w 628"/>
                  <a:gd name="T37" fmla="*/ 180 h 605"/>
                  <a:gd name="T38" fmla="*/ 16 w 628"/>
                  <a:gd name="T39" fmla="*/ 168 h 605"/>
                  <a:gd name="T40" fmla="*/ 17 w 628"/>
                  <a:gd name="T41" fmla="*/ 196 h 605"/>
                  <a:gd name="T42" fmla="*/ 24 w 628"/>
                  <a:gd name="T43" fmla="*/ 225 h 605"/>
                  <a:gd name="T44" fmla="*/ 28 w 628"/>
                  <a:gd name="T45" fmla="*/ 243 h 605"/>
                  <a:gd name="T46" fmla="*/ 29 w 628"/>
                  <a:gd name="T47" fmla="*/ 248 h 605"/>
                  <a:gd name="T48" fmla="*/ 30 w 628"/>
                  <a:gd name="T49" fmla="*/ 289 h 605"/>
                  <a:gd name="T50" fmla="*/ 35 w 628"/>
                  <a:gd name="T51" fmla="*/ 317 h 605"/>
                  <a:gd name="T52" fmla="*/ 35 w 628"/>
                  <a:gd name="T53" fmla="*/ 329 h 605"/>
                  <a:gd name="T54" fmla="*/ 37 w 628"/>
                  <a:gd name="T55" fmla="*/ 351 h 605"/>
                  <a:gd name="T56" fmla="*/ 40 w 628"/>
                  <a:gd name="T57" fmla="*/ 369 h 605"/>
                  <a:gd name="T58" fmla="*/ 32 w 628"/>
                  <a:gd name="T59" fmla="*/ 415 h 605"/>
                  <a:gd name="T60" fmla="*/ 35 w 628"/>
                  <a:gd name="T61" fmla="*/ 422 h 605"/>
                  <a:gd name="T62" fmla="*/ 40 w 628"/>
                  <a:gd name="T63" fmla="*/ 433 h 605"/>
                  <a:gd name="T64" fmla="*/ 40 w 628"/>
                  <a:gd name="T65" fmla="*/ 456 h 605"/>
                  <a:gd name="T66" fmla="*/ 44 w 628"/>
                  <a:gd name="T67" fmla="*/ 428 h 605"/>
                  <a:gd name="T68" fmla="*/ 49 w 628"/>
                  <a:gd name="T69" fmla="*/ 387 h 605"/>
                  <a:gd name="T70" fmla="*/ 50 w 628"/>
                  <a:gd name="T71" fmla="*/ 341 h 605"/>
                  <a:gd name="T72" fmla="*/ 57 w 628"/>
                  <a:gd name="T73" fmla="*/ 323 h 605"/>
                  <a:gd name="T74" fmla="*/ 60 w 628"/>
                  <a:gd name="T75" fmla="*/ 317 h 605"/>
                  <a:gd name="T76" fmla="*/ 64 w 628"/>
                  <a:gd name="T77" fmla="*/ 301 h 605"/>
                  <a:gd name="T78" fmla="*/ 66 w 628"/>
                  <a:gd name="T79" fmla="*/ 266 h 605"/>
                  <a:gd name="T80" fmla="*/ 68 w 628"/>
                  <a:gd name="T81" fmla="*/ 208 h 605"/>
                  <a:gd name="T82" fmla="*/ 76 w 628"/>
                  <a:gd name="T83" fmla="*/ 145 h 605"/>
                  <a:gd name="T84" fmla="*/ 71 w 628"/>
                  <a:gd name="T85" fmla="*/ 116 h 605"/>
                  <a:gd name="T86" fmla="*/ 64 w 628"/>
                  <a:gd name="T87" fmla="*/ 93 h 605"/>
                  <a:gd name="T88" fmla="*/ 57 w 628"/>
                  <a:gd name="T89" fmla="*/ 88 h 605"/>
                  <a:gd name="T90" fmla="*/ 57 w 628"/>
                  <a:gd name="T91" fmla="*/ 75 h 605"/>
                  <a:gd name="T92" fmla="*/ 50 w 628"/>
                  <a:gd name="T93" fmla="*/ 68 h 605"/>
                  <a:gd name="T94" fmla="*/ 49 w 628"/>
                  <a:gd name="T95" fmla="*/ 58 h 605"/>
                  <a:gd name="T96" fmla="*/ 46 w 628"/>
                  <a:gd name="T97" fmla="*/ 58 h 605"/>
                  <a:gd name="T98" fmla="*/ 44 w 628"/>
                  <a:gd name="T99" fmla="*/ 68 h 605"/>
                  <a:gd name="T100" fmla="*/ 44 w 628"/>
                  <a:gd name="T101" fmla="*/ 58 h 605"/>
                  <a:gd name="T102" fmla="*/ 46 w 628"/>
                  <a:gd name="T103" fmla="*/ 42 h 605"/>
                  <a:gd name="T104" fmla="*/ 44 w 628"/>
                  <a:gd name="T105" fmla="*/ 21 h 60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28"/>
                  <a:gd name="T160" fmla="*/ 0 h 605"/>
                  <a:gd name="T161" fmla="*/ 628 w 628"/>
                  <a:gd name="T162" fmla="*/ 605 h 605"/>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28" h="605">
                    <a:moveTo>
                      <a:pt x="359" y="23"/>
                    </a:moveTo>
                    <a:lnTo>
                      <a:pt x="351" y="23"/>
                    </a:lnTo>
                    <a:lnTo>
                      <a:pt x="334" y="45"/>
                    </a:lnTo>
                    <a:lnTo>
                      <a:pt x="326" y="54"/>
                    </a:lnTo>
                    <a:lnTo>
                      <a:pt x="309" y="45"/>
                    </a:lnTo>
                    <a:lnTo>
                      <a:pt x="292" y="45"/>
                    </a:lnTo>
                    <a:lnTo>
                      <a:pt x="284" y="54"/>
                    </a:lnTo>
                    <a:lnTo>
                      <a:pt x="276" y="54"/>
                    </a:lnTo>
                    <a:lnTo>
                      <a:pt x="242" y="61"/>
                    </a:lnTo>
                    <a:lnTo>
                      <a:pt x="234" y="61"/>
                    </a:lnTo>
                    <a:lnTo>
                      <a:pt x="226" y="45"/>
                    </a:lnTo>
                    <a:lnTo>
                      <a:pt x="226" y="15"/>
                    </a:lnTo>
                    <a:lnTo>
                      <a:pt x="226" y="0"/>
                    </a:lnTo>
                    <a:lnTo>
                      <a:pt x="209" y="0"/>
                    </a:lnTo>
                    <a:lnTo>
                      <a:pt x="200" y="15"/>
                    </a:lnTo>
                    <a:lnTo>
                      <a:pt x="176" y="23"/>
                    </a:lnTo>
                    <a:lnTo>
                      <a:pt x="142" y="15"/>
                    </a:lnTo>
                    <a:lnTo>
                      <a:pt x="150" y="23"/>
                    </a:lnTo>
                    <a:lnTo>
                      <a:pt x="150" y="45"/>
                    </a:lnTo>
                    <a:lnTo>
                      <a:pt x="158" y="54"/>
                    </a:lnTo>
                    <a:lnTo>
                      <a:pt x="134" y="69"/>
                    </a:lnTo>
                    <a:lnTo>
                      <a:pt x="126" y="69"/>
                    </a:lnTo>
                    <a:lnTo>
                      <a:pt x="108" y="61"/>
                    </a:lnTo>
                    <a:lnTo>
                      <a:pt x="100" y="54"/>
                    </a:lnTo>
                    <a:lnTo>
                      <a:pt x="58" y="54"/>
                    </a:lnTo>
                    <a:lnTo>
                      <a:pt x="58" y="61"/>
                    </a:lnTo>
                    <a:lnTo>
                      <a:pt x="75" y="69"/>
                    </a:lnTo>
                    <a:lnTo>
                      <a:pt x="58" y="69"/>
                    </a:lnTo>
                    <a:lnTo>
                      <a:pt x="75" y="99"/>
                    </a:lnTo>
                    <a:lnTo>
                      <a:pt x="58" y="138"/>
                    </a:lnTo>
                    <a:lnTo>
                      <a:pt x="25" y="153"/>
                    </a:lnTo>
                    <a:lnTo>
                      <a:pt x="0" y="191"/>
                    </a:lnTo>
                    <a:lnTo>
                      <a:pt x="8" y="222"/>
                    </a:lnTo>
                    <a:lnTo>
                      <a:pt x="34" y="230"/>
                    </a:lnTo>
                    <a:lnTo>
                      <a:pt x="50" y="222"/>
                    </a:lnTo>
                    <a:lnTo>
                      <a:pt x="50" y="237"/>
                    </a:lnTo>
                    <a:lnTo>
                      <a:pt x="75" y="237"/>
                    </a:lnTo>
                    <a:lnTo>
                      <a:pt x="92" y="237"/>
                    </a:lnTo>
                    <a:lnTo>
                      <a:pt x="108" y="222"/>
                    </a:lnTo>
                    <a:lnTo>
                      <a:pt x="134" y="222"/>
                    </a:lnTo>
                    <a:lnTo>
                      <a:pt x="134" y="244"/>
                    </a:lnTo>
                    <a:lnTo>
                      <a:pt x="142" y="260"/>
                    </a:lnTo>
                    <a:lnTo>
                      <a:pt x="200" y="275"/>
                    </a:lnTo>
                    <a:lnTo>
                      <a:pt x="209" y="298"/>
                    </a:lnTo>
                    <a:lnTo>
                      <a:pt x="209" y="306"/>
                    </a:lnTo>
                    <a:lnTo>
                      <a:pt x="226" y="321"/>
                    </a:lnTo>
                    <a:lnTo>
                      <a:pt x="242" y="321"/>
                    </a:lnTo>
                    <a:lnTo>
                      <a:pt x="242" y="328"/>
                    </a:lnTo>
                    <a:lnTo>
                      <a:pt x="250" y="352"/>
                    </a:lnTo>
                    <a:lnTo>
                      <a:pt x="250" y="382"/>
                    </a:lnTo>
                    <a:lnTo>
                      <a:pt x="250" y="405"/>
                    </a:lnTo>
                    <a:lnTo>
                      <a:pt x="284" y="420"/>
                    </a:lnTo>
                    <a:lnTo>
                      <a:pt x="292" y="420"/>
                    </a:lnTo>
                    <a:lnTo>
                      <a:pt x="292" y="436"/>
                    </a:lnTo>
                    <a:lnTo>
                      <a:pt x="309" y="443"/>
                    </a:lnTo>
                    <a:lnTo>
                      <a:pt x="301" y="466"/>
                    </a:lnTo>
                    <a:lnTo>
                      <a:pt x="309" y="466"/>
                    </a:lnTo>
                    <a:lnTo>
                      <a:pt x="326" y="489"/>
                    </a:lnTo>
                    <a:lnTo>
                      <a:pt x="301" y="504"/>
                    </a:lnTo>
                    <a:lnTo>
                      <a:pt x="259" y="550"/>
                    </a:lnTo>
                    <a:lnTo>
                      <a:pt x="276" y="550"/>
                    </a:lnTo>
                    <a:lnTo>
                      <a:pt x="284" y="558"/>
                    </a:lnTo>
                    <a:lnTo>
                      <a:pt x="292" y="558"/>
                    </a:lnTo>
                    <a:lnTo>
                      <a:pt x="326" y="574"/>
                    </a:lnTo>
                    <a:lnTo>
                      <a:pt x="334" y="581"/>
                    </a:lnTo>
                    <a:lnTo>
                      <a:pt x="326" y="604"/>
                    </a:lnTo>
                    <a:lnTo>
                      <a:pt x="342" y="581"/>
                    </a:lnTo>
                    <a:lnTo>
                      <a:pt x="359" y="566"/>
                    </a:lnTo>
                    <a:lnTo>
                      <a:pt x="384" y="527"/>
                    </a:lnTo>
                    <a:lnTo>
                      <a:pt x="401" y="513"/>
                    </a:lnTo>
                    <a:lnTo>
                      <a:pt x="401" y="474"/>
                    </a:lnTo>
                    <a:lnTo>
                      <a:pt x="409" y="451"/>
                    </a:lnTo>
                    <a:lnTo>
                      <a:pt x="435" y="443"/>
                    </a:lnTo>
                    <a:lnTo>
                      <a:pt x="468" y="428"/>
                    </a:lnTo>
                    <a:lnTo>
                      <a:pt x="501" y="428"/>
                    </a:lnTo>
                    <a:lnTo>
                      <a:pt x="501" y="420"/>
                    </a:lnTo>
                    <a:lnTo>
                      <a:pt x="527" y="405"/>
                    </a:lnTo>
                    <a:lnTo>
                      <a:pt x="527" y="398"/>
                    </a:lnTo>
                    <a:lnTo>
                      <a:pt x="543" y="367"/>
                    </a:lnTo>
                    <a:lnTo>
                      <a:pt x="543" y="352"/>
                    </a:lnTo>
                    <a:lnTo>
                      <a:pt x="551" y="344"/>
                    </a:lnTo>
                    <a:lnTo>
                      <a:pt x="551" y="275"/>
                    </a:lnTo>
                    <a:lnTo>
                      <a:pt x="601" y="222"/>
                    </a:lnTo>
                    <a:lnTo>
                      <a:pt x="627" y="191"/>
                    </a:lnTo>
                    <a:lnTo>
                      <a:pt x="619" y="153"/>
                    </a:lnTo>
                    <a:lnTo>
                      <a:pt x="585" y="153"/>
                    </a:lnTo>
                    <a:lnTo>
                      <a:pt x="535" y="115"/>
                    </a:lnTo>
                    <a:lnTo>
                      <a:pt x="518" y="122"/>
                    </a:lnTo>
                    <a:lnTo>
                      <a:pt x="485" y="115"/>
                    </a:lnTo>
                    <a:lnTo>
                      <a:pt x="468" y="115"/>
                    </a:lnTo>
                    <a:lnTo>
                      <a:pt x="468" y="107"/>
                    </a:lnTo>
                    <a:lnTo>
                      <a:pt x="468" y="99"/>
                    </a:lnTo>
                    <a:lnTo>
                      <a:pt x="451" y="99"/>
                    </a:lnTo>
                    <a:lnTo>
                      <a:pt x="409" y="92"/>
                    </a:lnTo>
                    <a:lnTo>
                      <a:pt x="401" y="99"/>
                    </a:lnTo>
                    <a:lnTo>
                      <a:pt x="401" y="77"/>
                    </a:lnTo>
                    <a:lnTo>
                      <a:pt x="393" y="77"/>
                    </a:lnTo>
                    <a:lnTo>
                      <a:pt x="376" y="77"/>
                    </a:lnTo>
                    <a:lnTo>
                      <a:pt x="376" y="99"/>
                    </a:lnTo>
                    <a:lnTo>
                      <a:pt x="359" y="92"/>
                    </a:lnTo>
                    <a:lnTo>
                      <a:pt x="351" y="99"/>
                    </a:lnTo>
                    <a:lnTo>
                      <a:pt x="359" y="77"/>
                    </a:lnTo>
                    <a:lnTo>
                      <a:pt x="384" y="61"/>
                    </a:lnTo>
                    <a:lnTo>
                      <a:pt x="384" y="54"/>
                    </a:lnTo>
                    <a:lnTo>
                      <a:pt x="376" y="54"/>
                    </a:lnTo>
                    <a:lnTo>
                      <a:pt x="359"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1" name="Freeform 32"/>
              <p:cNvSpPr>
                <a:spLocks/>
              </p:cNvSpPr>
              <p:nvPr/>
            </p:nvSpPr>
            <p:spPr bwMode="auto">
              <a:xfrm>
                <a:off x="3136427" y="4583540"/>
                <a:ext cx="65730" cy="108366"/>
              </a:xfrm>
              <a:custGeom>
                <a:avLst/>
                <a:gdLst>
                  <a:gd name="T0" fmla="*/ 0 w 43"/>
                  <a:gd name="T1" fmla="*/ 40 h 62"/>
                  <a:gd name="T2" fmla="*/ 3 w 43"/>
                  <a:gd name="T3" fmla="*/ 49 h 62"/>
                  <a:gd name="T4" fmla="*/ 4 w 43"/>
                  <a:gd name="T5" fmla="*/ 40 h 62"/>
                  <a:gd name="T6" fmla="*/ 7 w 43"/>
                  <a:gd name="T7" fmla="*/ 30 h 62"/>
                  <a:gd name="T8" fmla="*/ 0 w 43"/>
                  <a:gd name="T9" fmla="*/ 0 h 62"/>
                  <a:gd name="T10" fmla="*/ 0 w 43"/>
                  <a:gd name="T11" fmla="*/ 7 h 62"/>
                  <a:gd name="T12" fmla="*/ 0 w 43"/>
                  <a:gd name="T13" fmla="*/ 30 h 62"/>
                  <a:gd name="T14" fmla="*/ 0 w 43"/>
                  <a:gd name="T15" fmla="*/ 40 h 62"/>
                  <a:gd name="T16" fmla="*/ 0 60000 65536"/>
                  <a:gd name="T17" fmla="*/ 0 60000 65536"/>
                  <a:gd name="T18" fmla="*/ 0 60000 65536"/>
                  <a:gd name="T19" fmla="*/ 0 60000 65536"/>
                  <a:gd name="T20" fmla="*/ 0 60000 65536"/>
                  <a:gd name="T21" fmla="*/ 0 60000 65536"/>
                  <a:gd name="T22" fmla="*/ 0 60000 65536"/>
                  <a:gd name="T23" fmla="*/ 0 60000 65536"/>
                  <a:gd name="T24" fmla="*/ 0 w 43"/>
                  <a:gd name="T25" fmla="*/ 0 h 62"/>
                  <a:gd name="T26" fmla="*/ 43 w 43"/>
                  <a:gd name="T27" fmla="*/ 62 h 6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 h="62">
                    <a:moveTo>
                      <a:pt x="0" y="52"/>
                    </a:moveTo>
                    <a:lnTo>
                      <a:pt x="17" y="61"/>
                    </a:lnTo>
                    <a:lnTo>
                      <a:pt x="25" y="52"/>
                    </a:lnTo>
                    <a:lnTo>
                      <a:pt x="42" y="30"/>
                    </a:lnTo>
                    <a:lnTo>
                      <a:pt x="0" y="0"/>
                    </a:lnTo>
                    <a:lnTo>
                      <a:pt x="0" y="7"/>
                    </a:lnTo>
                    <a:lnTo>
                      <a:pt x="0" y="30"/>
                    </a:lnTo>
                    <a:lnTo>
                      <a:pt x="0" y="5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2" name="Freeform 33"/>
              <p:cNvSpPr>
                <a:spLocks/>
              </p:cNvSpPr>
              <p:nvPr/>
            </p:nvSpPr>
            <p:spPr bwMode="auto">
              <a:xfrm>
                <a:off x="3051155" y="4583540"/>
                <a:ext cx="87048" cy="108366"/>
              </a:xfrm>
              <a:custGeom>
                <a:avLst/>
                <a:gdLst>
                  <a:gd name="T0" fmla="*/ 6 w 59"/>
                  <a:gd name="T1" fmla="*/ 40 h 62"/>
                  <a:gd name="T2" fmla="*/ 6 w 59"/>
                  <a:gd name="T3" fmla="*/ 30 h 62"/>
                  <a:gd name="T4" fmla="*/ 6 w 59"/>
                  <a:gd name="T5" fmla="*/ 7 h 62"/>
                  <a:gd name="T6" fmla="*/ 6 w 59"/>
                  <a:gd name="T7" fmla="*/ 0 h 62"/>
                  <a:gd name="T8" fmla="*/ 2 w 59"/>
                  <a:gd name="T9" fmla="*/ 0 h 62"/>
                  <a:gd name="T10" fmla="*/ 0 w 59"/>
                  <a:gd name="T11" fmla="*/ 22 h 62"/>
                  <a:gd name="T12" fmla="*/ 2 w 59"/>
                  <a:gd name="T13" fmla="*/ 49 h 62"/>
                  <a:gd name="T14" fmla="*/ 3 w 59"/>
                  <a:gd name="T15" fmla="*/ 49 h 62"/>
                  <a:gd name="T16" fmla="*/ 5 w 59"/>
                  <a:gd name="T17" fmla="*/ 40 h 62"/>
                  <a:gd name="T18" fmla="*/ 6 w 59"/>
                  <a:gd name="T19" fmla="*/ 40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9"/>
                  <a:gd name="T31" fmla="*/ 0 h 62"/>
                  <a:gd name="T32" fmla="*/ 59 w 59"/>
                  <a:gd name="T33" fmla="*/ 62 h 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9" h="62">
                    <a:moveTo>
                      <a:pt x="58" y="52"/>
                    </a:moveTo>
                    <a:lnTo>
                      <a:pt x="58" y="30"/>
                    </a:lnTo>
                    <a:lnTo>
                      <a:pt x="58" y="7"/>
                    </a:lnTo>
                    <a:lnTo>
                      <a:pt x="58" y="0"/>
                    </a:lnTo>
                    <a:lnTo>
                      <a:pt x="25" y="0"/>
                    </a:lnTo>
                    <a:lnTo>
                      <a:pt x="0" y="22"/>
                    </a:lnTo>
                    <a:lnTo>
                      <a:pt x="25" y="61"/>
                    </a:lnTo>
                    <a:lnTo>
                      <a:pt x="34" y="61"/>
                    </a:lnTo>
                    <a:lnTo>
                      <a:pt x="42" y="52"/>
                    </a:lnTo>
                    <a:lnTo>
                      <a:pt x="58" y="5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3" name="Freeform 34"/>
              <p:cNvSpPr>
                <a:spLocks/>
              </p:cNvSpPr>
              <p:nvPr/>
            </p:nvSpPr>
            <p:spPr bwMode="auto">
              <a:xfrm>
                <a:off x="2976543" y="4519586"/>
                <a:ext cx="113696" cy="186531"/>
              </a:xfrm>
              <a:custGeom>
                <a:avLst/>
                <a:gdLst>
                  <a:gd name="T0" fmla="*/ 3 w 76"/>
                  <a:gd name="T1" fmla="*/ 0 h 108"/>
                  <a:gd name="T2" fmla="*/ 5 w 76"/>
                  <a:gd name="T3" fmla="*/ 15 h 108"/>
                  <a:gd name="T4" fmla="*/ 5 w 76"/>
                  <a:gd name="T5" fmla="*/ 18 h 108"/>
                  <a:gd name="T6" fmla="*/ 6 w 76"/>
                  <a:gd name="T7" fmla="*/ 18 h 108"/>
                  <a:gd name="T8" fmla="*/ 9 w 76"/>
                  <a:gd name="T9" fmla="*/ 26 h 108"/>
                  <a:gd name="T10" fmla="*/ 6 w 76"/>
                  <a:gd name="T11" fmla="*/ 45 h 108"/>
                  <a:gd name="T12" fmla="*/ 9 w 76"/>
                  <a:gd name="T13" fmla="*/ 72 h 108"/>
                  <a:gd name="T14" fmla="*/ 5 w 76"/>
                  <a:gd name="T15" fmla="*/ 77 h 108"/>
                  <a:gd name="T16" fmla="*/ 4 w 76"/>
                  <a:gd name="T17" fmla="*/ 77 h 108"/>
                  <a:gd name="T18" fmla="*/ 3 w 76"/>
                  <a:gd name="T19" fmla="*/ 66 h 108"/>
                  <a:gd name="T20" fmla="*/ 3 w 76"/>
                  <a:gd name="T21" fmla="*/ 45 h 108"/>
                  <a:gd name="T22" fmla="*/ 3 w 76"/>
                  <a:gd name="T23" fmla="*/ 33 h 108"/>
                  <a:gd name="T24" fmla="*/ 3 w 76"/>
                  <a:gd name="T25" fmla="*/ 33 h 108"/>
                  <a:gd name="T26" fmla="*/ 0 w 76"/>
                  <a:gd name="T27" fmla="*/ 26 h 108"/>
                  <a:gd name="T28" fmla="*/ 0 w 76"/>
                  <a:gd name="T29" fmla="*/ 18 h 108"/>
                  <a:gd name="T30" fmla="*/ 3 w 76"/>
                  <a:gd name="T31" fmla="*/ 18 h 108"/>
                  <a:gd name="T32" fmla="*/ 3 w 76"/>
                  <a:gd name="T33" fmla="*/ 15 h 108"/>
                  <a:gd name="T34" fmla="*/ 3 w 76"/>
                  <a:gd name="T35" fmla="*/ 0 h 10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6"/>
                  <a:gd name="T55" fmla="*/ 0 h 108"/>
                  <a:gd name="T56" fmla="*/ 76 w 76"/>
                  <a:gd name="T57" fmla="*/ 108 h 10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6" h="108">
                    <a:moveTo>
                      <a:pt x="25" y="0"/>
                    </a:moveTo>
                    <a:lnTo>
                      <a:pt x="42" y="15"/>
                    </a:lnTo>
                    <a:lnTo>
                      <a:pt x="42" y="23"/>
                    </a:lnTo>
                    <a:lnTo>
                      <a:pt x="50" y="23"/>
                    </a:lnTo>
                    <a:lnTo>
                      <a:pt x="75" y="38"/>
                    </a:lnTo>
                    <a:lnTo>
                      <a:pt x="50" y="61"/>
                    </a:lnTo>
                    <a:lnTo>
                      <a:pt x="75" y="99"/>
                    </a:lnTo>
                    <a:lnTo>
                      <a:pt x="42" y="107"/>
                    </a:lnTo>
                    <a:lnTo>
                      <a:pt x="34" y="107"/>
                    </a:lnTo>
                    <a:lnTo>
                      <a:pt x="25" y="91"/>
                    </a:lnTo>
                    <a:lnTo>
                      <a:pt x="25" y="61"/>
                    </a:lnTo>
                    <a:lnTo>
                      <a:pt x="25" y="45"/>
                    </a:lnTo>
                    <a:lnTo>
                      <a:pt x="8" y="45"/>
                    </a:lnTo>
                    <a:lnTo>
                      <a:pt x="0" y="38"/>
                    </a:lnTo>
                    <a:lnTo>
                      <a:pt x="0" y="23"/>
                    </a:lnTo>
                    <a:lnTo>
                      <a:pt x="8" y="23"/>
                    </a:lnTo>
                    <a:lnTo>
                      <a:pt x="8" y="15"/>
                    </a:lnTo>
                    <a:lnTo>
                      <a:pt x="25"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4" name="Freeform 35"/>
              <p:cNvSpPr>
                <a:spLocks/>
              </p:cNvSpPr>
              <p:nvPr/>
            </p:nvSpPr>
            <p:spPr bwMode="auto">
              <a:xfrm>
                <a:off x="2688751" y="4425432"/>
                <a:ext cx="326875" cy="293121"/>
              </a:xfrm>
              <a:custGeom>
                <a:avLst/>
                <a:gdLst>
                  <a:gd name="T0" fmla="*/ 27 w 219"/>
                  <a:gd name="T1" fmla="*/ 40 h 170"/>
                  <a:gd name="T2" fmla="*/ 24 w 219"/>
                  <a:gd name="T3" fmla="*/ 47 h 170"/>
                  <a:gd name="T4" fmla="*/ 24 w 219"/>
                  <a:gd name="T5" fmla="*/ 53 h 170"/>
                  <a:gd name="T6" fmla="*/ 24 w 219"/>
                  <a:gd name="T7" fmla="*/ 53 h 170"/>
                  <a:gd name="T8" fmla="*/ 24 w 219"/>
                  <a:gd name="T9" fmla="*/ 65 h 170"/>
                  <a:gd name="T10" fmla="*/ 24 w 219"/>
                  <a:gd name="T11" fmla="*/ 70 h 170"/>
                  <a:gd name="T12" fmla="*/ 24 w 219"/>
                  <a:gd name="T13" fmla="*/ 81 h 170"/>
                  <a:gd name="T14" fmla="*/ 20 w 219"/>
                  <a:gd name="T15" fmla="*/ 85 h 170"/>
                  <a:gd name="T16" fmla="*/ 17 w 219"/>
                  <a:gd name="T17" fmla="*/ 81 h 170"/>
                  <a:gd name="T18" fmla="*/ 17 w 219"/>
                  <a:gd name="T19" fmla="*/ 85 h 170"/>
                  <a:gd name="T20" fmla="*/ 17 w 219"/>
                  <a:gd name="T21" fmla="*/ 102 h 170"/>
                  <a:gd name="T22" fmla="*/ 19 w 219"/>
                  <a:gd name="T23" fmla="*/ 108 h 170"/>
                  <a:gd name="T24" fmla="*/ 16 w 219"/>
                  <a:gd name="T25" fmla="*/ 117 h 170"/>
                  <a:gd name="T26" fmla="*/ 14 w 219"/>
                  <a:gd name="T27" fmla="*/ 117 h 170"/>
                  <a:gd name="T28" fmla="*/ 12 w 219"/>
                  <a:gd name="T29" fmla="*/ 112 h 170"/>
                  <a:gd name="T30" fmla="*/ 12 w 219"/>
                  <a:gd name="T31" fmla="*/ 108 h 170"/>
                  <a:gd name="T32" fmla="*/ 12 w 219"/>
                  <a:gd name="T33" fmla="*/ 91 h 170"/>
                  <a:gd name="T34" fmla="*/ 10 w 219"/>
                  <a:gd name="T35" fmla="*/ 81 h 170"/>
                  <a:gd name="T36" fmla="*/ 12 w 219"/>
                  <a:gd name="T37" fmla="*/ 60 h 170"/>
                  <a:gd name="T38" fmla="*/ 8 w 219"/>
                  <a:gd name="T39" fmla="*/ 60 h 170"/>
                  <a:gd name="T40" fmla="*/ 6 w 219"/>
                  <a:gd name="T41" fmla="*/ 53 h 170"/>
                  <a:gd name="T42" fmla="*/ 3 w 219"/>
                  <a:gd name="T43" fmla="*/ 53 h 170"/>
                  <a:gd name="T44" fmla="*/ 3 w 219"/>
                  <a:gd name="T45" fmla="*/ 47 h 170"/>
                  <a:gd name="T46" fmla="*/ 3 w 219"/>
                  <a:gd name="T47" fmla="*/ 40 h 170"/>
                  <a:gd name="T48" fmla="*/ 0 w 219"/>
                  <a:gd name="T49" fmla="*/ 26 h 170"/>
                  <a:gd name="T50" fmla="*/ 3 w 219"/>
                  <a:gd name="T51" fmla="*/ 17 h 170"/>
                  <a:gd name="T52" fmla="*/ 3 w 219"/>
                  <a:gd name="T53" fmla="*/ 8 h 170"/>
                  <a:gd name="T54" fmla="*/ 4 w 219"/>
                  <a:gd name="T55" fmla="*/ 17 h 170"/>
                  <a:gd name="T56" fmla="*/ 3 w 219"/>
                  <a:gd name="T57" fmla="*/ 19 h 170"/>
                  <a:gd name="T58" fmla="*/ 3 w 219"/>
                  <a:gd name="T59" fmla="*/ 34 h 170"/>
                  <a:gd name="T60" fmla="*/ 4 w 219"/>
                  <a:gd name="T61" fmla="*/ 26 h 170"/>
                  <a:gd name="T62" fmla="*/ 4 w 219"/>
                  <a:gd name="T63" fmla="*/ 17 h 170"/>
                  <a:gd name="T64" fmla="*/ 6 w 219"/>
                  <a:gd name="T65" fmla="*/ 8 h 170"/>
                  <a:gd name="T66" fmla="*/ 6 w 219"/>
                  <a:gd name="T67" fmla="*/ 0 h 170"/>
                  <a:gd name="T68" fmla="*/ 6 w 219"/>
                  <a:gd name="T69" fmla="*/ 8 h 170"/>
                  <a:gd name="T70" fmla="*/ 10 w 219"/>
                  <a:gd name="T71" fmla="*/ 8 h 170"/>
                  <a:gd name="T72" fmla="*/ 10 w 219"/>
                  <a:gd name="T73" fmla="*/ 17 h 170"/>
                  <a:gd name="T74" fmla="*/ 14 w 219"/>
                  <a:gd name="T75" fmla="*/ 17 h 170"/>
                  <a:gd name="T76" fmla="*/ 17 w 219"/>
                  <a:gd name="T77" fmla="*/ 19 h 170"/>
                  <a:gd name="T78" fmla="*/ 19 w 219"/>
                  <a:gd name="T79" fmla="*/ 17 h 170"/>
                  <a:gd name="T80" fmla="*/ 21 w 219"/>
                  <a:gd name="T81" fmla="*/ 17 h 170"/>
                  <a:gd name="T82" fmla="*/ 20 w 219"/>
                  <a:gd name="T83" fmla="*/ 17 h 170"/>
                  <a:gd name="T84" fmla="*/ 21 w 219"/>
                  <a:gd name="T85" fmla="*/ 19 h 170"/>
                  <a:gd name="T86" fmla="*/ 24 w 219"/>
                  <a:gd name="T87" fmla="*/ 26 h 170"/>
                  <a:gd name="T88" fmla="*/ 24 w 219"/>
                  <a:gd name="T89" fmla="*/ 40 h 170"/>
                  <a:gd name="T90" fmla="*/ 24 w 219"/>
                  <a:gd name="T91" fmla="*/ 34 h 170"/>
                  <a:gd name="T92" fmla="*/ 27 w 219"/>
                  <a:gd name="T93" fmla="*/ 40 h 17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19"/>
                  <a:gd name="T142" fmla="*/ 0 h 170"/>
                  <a:gd name="T143" fmla="*/ 219 w 219"/>
                  <a:gd name="T144" fmla="*/ 170 h 17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19" h="170">
                    <a:moveTo>
                      <a:pt x="218" y="54"/>
                    </a:moveTo>
                    <a:lnTo>
                      <a:pt x="201" y="69"/>
                    </a:lnTo>
                    <a:lnTo>
                      <a:pt x="201" y="77"/>
                    </a:lnTo>
                    <a:lnTo>
                      <a:pt x="192" y="77"/>
                    </a:lnTo>
                    <a:lnTo>
                      <a:pt x="192" y="92"/>
                    </a:lnTo>
                    <a:lnTo>
                      <a:pt x="201" y="99"/>
                    </a:lnTo>
                    <a:lnTo>
                      <a:pt x="192" y="115"/>
                    </a:lnTo>
                    <a:lnTo>
                      <a:pt x="168" y="122"/>
                    </a:lnTo>
                    <a:lnTo>
                      <a:pt x="134" y="115"/>
                    </a:lnTo>
                    <a:lnTo>
                      <a:pt x="142" y="122"/>
                    </a:lnTo>
                    <a:lnTo>
                      <a:pt x="142" y="145"/>
                    </a:lnTo>
                    <a:lnTo>
                      <a:pt x="150" y="153"/>
                    </a:lnTo>
                    <a:lnTo>
                      <a:pt x="126" y="169"/>
                    </a:lnTo>
                    <a:lnTo>
                      <a:pt x="118" y="169"/>
                    </a:lnTo>
                    <a:lnTo>
                      <a:pt x="100" y="161"/>
                    </a:lnTo>
                    <a:lnTo>
                      <a:pt x="92" y="153"/>
                    </a:lnTo>
                    <a:lnTo>
                      <a:pt x="92" y="130"/>
                    </a:lnTo>
                    <a:lnTo>
                      <a:pt x="84" y="115"/>
                    </a:lnTo>
                    <a:lnTo>
                      <a:pt x="92" y="84"/>
                    </a:lnTo>
                    <a:lnTo>
                      <a:pt x="67" y="84"/>
                    </a:lnTo>
                    <a:lnTo>
                      <a:pt x="50" y="77"/>
                    </a:lnTo>
                    <a:lnTo>
                      <a:pt x="26" y="77"/>
                    </a:lnTo>
                    <a:lnTo>
                      <a:pt x="17" y="69"/>
                    </a:lnTo>
                    <a:lnTo>
                      <a:pt x="17" y="54"/>
                    </a:lnTo>
                    <a:lnTo>
                      <a:pt x="0" y="38"/>
                    </a:lnTo>
                    <a:lnTo>
                      <a:pt x="17" y="23"/>
                    </a:lnTo>
                    <a:lnTo>
                      <a:pt x="26" y="8"/>
                    </a:lnTo>
                    <a:lnTo>
                      <a:pt x="34" y="23"/>
                    </a:lnTo>
                    <a:lnTo>
                      <a:pt x="26" y="31"/>
                    </a:lnTo>
                    <a:lnTo>
                      <a:pt x="26" y="46"/>
                    </a:lnTo>
                    <a:lnTo>
                      <a:pt x="34" y="38"/>
                    </a:lnTo>
                    <a:lnTo>
                      <a:pt x="34" y="23"/>
                    </a:lnTo>
                    <a:lnTo>
                      <a:pt x="50" y="8"/>
                    </a:lnTo>
                    <a:lnTo>
                      <a:pt x="50" y="0"/>
                    </a:lnTo>
                    <a:lnTo>
                      <a:pt x="50" y="8"/>
                    </a:lnTo>
                    <a:lnTo>
                      <a:pt x="84" y="8"/>
                    </a:lnTo>
                    <a:lnTo>
                      <a:pt x="84" y="23"/>
                    </a:lnTo>
                    <a:lnTo>
                      <a:pt x="118" y="23"/>
                    </a:lnTo>
                    <a:lnTo>
                      <a:pt x="134" y="31"/>
                    </a:lnTo>
                    <a:lnTo>
                      <a:pt x="150" y="23"/>
                    </a:lnTo>
                    <a:lnTo>
                      <a:pt x="176" y="23"/>
                    </a:lnTo>
                    <a:lnTo>
                      <a:pt x="168" y="23"/>
                    </a:lnTo>
                    <a:lnTo>
                      <a:pt x="176" y="31"/>
                    </a:lnTo>
                    <a:lnTo>
                      <a:pt x="192" y="38"/>
                    </a:lnTo>
                    <a:lnTo>
                      <a:pt x="192" y="54"/>
                    </a:lnTo>
                    <a:lnTo>
                      <a:pt x="201" y="46"/>
                    </a:lnTo>
                    <a:lnTo>
                      <a:pt x="218"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5" name="Freeform 36"/>
              <p:cNvSpPr>
                <a:spLocks/>
              </p:cNvSpPr>
              <p:nvPr/>
            </p:nvSpPr>
            <p:spPr bwMode="auto">
              <a:xfrm>
                <a:off x="2663880" y="5914130"/>
                <a:ext cx="26647" cy="65730"/>
              </a:xfrm>
              <a:custGeom>
                <a:avLst/>
                <a:gdLst>
                  <a:gd name="T0" fmla="*/ 4 w 17"/>
                  <a:gd name="T1" fmla="*/ 0 h 39"/>
                  <a:gd name="T2" fmla="*/ 0 w 17"/>
                  <a:gd name="T3" fmla="*/ 10 h 39"/>
                  <a:gd name="T4" fmla="*/ 4 w 17"/>
                  <a:gd name="T5" fmla="*/ 21 h 39"/>
                  <a:gd name="T6" fmla="*/ 4 w 17"/>
                  <a:gd name="T7" fmla="*/ 7 h 39"/>
                  <a:gd name="T8" fmla="*/ 4 w 17"/>
                  <a:gd name="T9" fmla="*/ 0 h 39"/>
                  <a:gd name="T10" fmla="*/ 0 60000 65536"/>
                  <a:gd name="T11" fmla="*/ 0 60000 65536"/>
                  <a:gd name="T12" fmla="*/ 0 60000 65536"/>
                  <a:gd name="T13" fmla="*/ 0 60000 65536"/>
                  <a:gd name="T14" fmla="*/ 0 60000 65536"/>
                  <a:gd name="T15" fmla="*/ 0 w 17"/>
                  <a:gd name="T16" fmla="*/ 0 h 39"/>
                  <a:gd name="T17" fmla="*/ 17 w 17"/>
                  <a:gd name="T18" fmla="*/ 39 h 39"/>
                </a:gdLst>
                <a:ahLst/>
                <a:cxnLst>
                  <a:cxn ang="T10">
                    <a:pos x="T0" y="T1"/>
                  </a:cxn>
                  <a:cxn ang="T11">
                    <a:pos x="T2" y="T3"/>
                  </a:cxn>
                  <a:cxn ang="T12">
                    <a:pos x="T4" y="T5"/>
                  </a:cxn>
                  <a:cxn ang="T13">
                    <a:pos x="T6" y="T7"/>
                  </a:cxn>
                  <a:cxn ang="T14">
                    <a:pos x="T8" y="T9"/>
                  </a:cxn>
                </a:cxnLst>
                <a:rect l="T15" t="T16" r="T17" b="T18"/>
                <a:pathLst>
                  <a:path w="17" h="39">
                    <a:moveTo>
                      <a:pt x="8" y="0"/>
                    </a:moveTo>
                    <a:lnTo>
                      <a:pt x="0" y="22"/>
                    </a:lnTo>
                    <a:lnTo>
                      <a:pt x="8" y="38"/>
                    </a:lnTo>
                    <a:lnTo>
                      <a:pt x="16" y="7"/>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6" name="Freeform 37"/>
              <p:cNvSpPr>
                <a:spLocks/>
              </p:cNvSpPr>
              <p:nvPr/>
            </p:nvSpPr>
            <p:spPr bwMode="auto">
              <a:xfrm>
                <a:off x="2663880" y="5914130"/>
                <a:ext cx="26647" cy="65730"/>
              </a:xfrm>
              <a:custGeom>
                <a:avLst/>
                <a:gdLst>
                  <a:gd name="T0" fmla="*/ 4 w 17"/>
                  <a:gd name="T1" fmla="*/ 0 h 39"/>
                  <a:gd name="T2" fmla="*/ 0 w 17"/>
                  <a:gd name="T3" fmla="*/ 10 h 39"/>
                  <a:gd name="T4" fmla="*/ 4 w 17"/>
                  <a:gd name="T5" fmla="*/ 21 h 39"/>
                  <a:gd name="T6" fmla="*/ 4 w 17"/>
                  <a:gd name="T7" fmla="*/ 7 h 39"/>
                  <a:gd name="T8" fmla="*/ 4 w 17"/>
                  <a:gd name="T9" fmla="*/ 0 h 39"/>
                  <a:gd name="T10" fmla="*/ 0 60000 65536"/>
                  <a:gd name="T11" fmla="*/ 0 60000 65536"/>
                  <a:gd name="T12" fmla="*/ 0 60000 65536"/>
                  <a:gd name="T13" fmla="*/ 0 60000 65536"/>
                  <a:gd name="T14" fmla="*/ 0 60000 65536"/>
                  <a:gd name="T15" fmla="*/ 0 w 17"/>
                  <a:gd name="T16" fmla="*/ 0 h 39"/>
                  <a:gd name="T17" fmla="*/ 17 w 17"/>
                  <a:gd name="T18" fmla="*/ 39 h 39"/>
                </a:gdLst>
                <a:ahLst/>
                <a:cxnLst>
                  <a:cxn ang="T10">
                    <a:pos x="T0" y="T1"/>
                  </a:cxn>
                  <a:cxn ang="T11">
                    <a:pos x="T2" y="T3"/>
                  </a:cxn>
                  <a:cxn ang="T12">
                    <a:pos x="T4" y="T5"/>
                  </a:cxn>
                  <a:cxn ang="T13">
                    <a:pos x="T6" y="T7"/>
                  </a:cxn>
                  <a:cxn ang="T14">
                    <a:pos x="T8" y="T9"/>
                  </a:cxn>
                </a:cxnLst>
                <a:rect l="T15" t="T16" r="T17" b="T18"/>
                <a:pathLst>
                  <a:path w="17" h="39">
                    <a:moveTo>
                      <a:pt x="8" y="0"/>
                    </a:moveTo>
                    <a:lnTo>
                      <a:pt x="0" y="22"/>
                    </a:lnTo>
                    <a:lnTo>
                      <a:pt x="8" y="38"/>
                    </a:lnTo>
                    <a:lnTo>
                      <a:pt x="16" y="7"/>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7" name="Line 39"/>
              <p:cNvSpPr>
                <a:spLocks noChangeShapeType="1"/>
              </p:cNvSpPr>
              <p:nvPr/>
            </p:nvSpPr>
            <p:spPr bwMode="auto">
              <a:xfrm flipV="1">
                <a:off x="2642544" y="3769906"/>
                <a:ext cx="3553" cy="1777"/>
              </a:xfrm>
              <a:prstGeom prst="line">
                <a:avLst/>
              </a:prstGeom>
              <a:grpFill/>
              <a:ln w="0">
                <a:solidFill>
                  <a:schemeClr val="bg1">
                    <a:lumMod val="75000"/>
                  </a:schemeClr>
                </a:solidFill>
                <a:round/>
                <a:headEnd type="none" w="sm" len="sm"/>
                <a:tailEnd type="none" w="sm" len="sm"/>
              </a:ln>
            </p:spPr>
            <p:txBody>
              <a:bodyPr wrap="none" anchor="ctr"/>
              <a:lstStyle/>
              <a:p>
                <a:pPr>
                  <a:defRPr/>
                </a:pPr>
                <a:endParaRPr lang="en-US" dirty="0"/>
              </a:p>
            </p:txBody>
          </p:sp>
          <p:sp>
            <p:nvSpPr>
              <p:cNvPr id="68" name="Freeform 40"/>
              <p:cNvSpPr>
                <a:spLocks/>
              </p:cNvSpPr>
              <p:nvPr/>
            </p:nvSpPr>
            <p:spPr bwMode="auto">
              <a:xfrm>
                <a:off x="1478945" y="3270713"/>
                <a:ext cx="1360789" cy="799419"/>
              </a:xfrm>
              <a:custGeom>
                <a:avLst/>
                <a:gdLst>
                  <a:gd name="T0" fmla="*/ 93335 w 912"/>
                  <a:gd name="T1" fmla="*/ 0 h 460"/>
                  <a:gd name="T2" fmla="*/ 102669 w 912"/>
                  <a:gd name="T3" fmla="*/ 41931 h 460"/>
                  <a:gd name="T4" fmla="*/ 104002 w 912"/>
                  <a:gd name="T5" fmla="*/ 66779 h 460"/>
                  <a:gd name="T6" fmla="*/ 113336 w 912"/>
                  <a:gd name="T7" fmla="*/ 77649 h 460"/>
                  <a:gd name="T8" fmla="*/ 122669 w 912"/>
                  <a:gd name="T9" fmla="*/ 77649 h 460"/>
                  <a:gd name="T10" fmla="*/ 126669 w 912"/>
                  <a:gd name="T11" fmla="*/ 102497 h 460"/>
                  <a:gd name="T12" fmla="*/ 116002 w 912"/>
                  <a:gd name="T13" fmla="*/ 119580 h 460"/>
                  <a:gd name="T14" fmla="*/ 114669 w 912"/>
                  <a:gd name="T15" fmla="*/ 208101 h 460"/>
                  <a:gd name="T16" fmla="*/ 118669 w 912"/>
                  <a:gd name="T17" fmla="*/ 150640 h 460"/>
                  <a:gd name="T18" fmla="*/ 122669 w 912"/>
                  <a:gd name="T19" fmla="*/ 102497 h 460"/>
                  <a:gd name="T20" fmla="*/ 126669 w 912"/>
                  <a:gd name="T21" fmla="*/ 159958 h 460"/>
                  <a:gd name="T22" fmla="*/ 132003 w 912"/>
                  <a:gd name="T23" fmla="*/ 167723 h 460"/>
                  <a:gd name="T24" fmla="*/ 134669 w 912"/>
                  <a:gd name="T25" fmla="*/ 208101 h 460"/>
                  <a:gd name="T26" fmla="*/ 148003 w 912"/>
                  <a:gd name="T27" fmla="*/ 159958 h 460"/>
                  <a:gd name="T28" fmla="*/ 164003 w 912"/>
                  <a:gd name="T29" fmla="*/ 119580 h 460"/>
                  <a:gd name="T30" fmla="*/ 173337 w 912"/>
                  <a:gd name="T31" fmla="*/ 66779 h 460"/>
                  <a:gd name="T32" fmla="*/ 176004 w 912"/>
                  <a:gd name="T33" fmla="*/ 102497 h 460"/>
                  <a:gd name="T34" fmla="*/ 176004 w 912"/>
                  <a:gd name="T35" fmla="*/ 144428 h 460"/>
                  <a:gd name="T36" fmla="*/ 166670 w 912"/>
                  <a:gd name="T37" fmla="*/ 208101 h 460"/>
                  <a:gd name="T38" fmla="*/ 164003 w 912"/>
                  <a:gd name="T39" fmla="*/ 208101 h 460"/>
                  <a:gd name="T40" fmla="*/ 156003 w 912"/>
                  <a:gd name="T41" fmla="*/ 271773 h 460"/>
                  <a:gd name="T42" fmla="*/ 150670 w 912"/>
                  <a:gd name="T43" fmla="*/ 309045 h 460"/>
                  <a:gd name="T44" fmla="*/ 148003 w 912"/>
                  <a:gd name="T45" fmla="*/ 253137 h 460"/>
                  <a:gd name="T46" fmla="*/ 150670 w 912"/>
                  <a:gd name="T47" fmla="*/ 344764 h 460"/>
                  <a:gd name="T48" fmla="*/ 136003 w 912"/>
                  <a:gd name="T49" fmla="*/ 420860 h 460"/>
                  <a:gd name="T50" fmla="*/ 137336 w 912"/>
                  <a:gd name="T51" fmla="*/ 559076 h 460"/>
                  <a:gd name="T52" fmla="*/ 129336 w 912"/>
                  <a:gd name="T53" fmla="*/ 523357 h 460"/>
                  <a:gd name="T54" fmla="*/ 122669 w 912"/>
                  <a:gd name="T55" fmla="*/ 465897 h 460"/>
                  <a:gd name="T56" fmla="*/ 108002 w 912"/>
                  <a:gd name="T57" fmla="*/ 465897 h 460"/>
                  <a:gd name="T58" fmla="*/ 102669 w 912"/>
                  <a:gd name="T59" fmla="*/ 465897 h 460"/>
                  <a:gd name="T60" fmla="*/ 85335 w 912"/>
                  <a:gd name="T61" fmla="*/ 512486 h 460"/>
                  <a:gd name="T62" fmla="*/ 72001 w 912"/>
                  <a:gd name="T63" fmla="*/ 465897 h 460"/>
                  <a:gd name="T64" fmla="*/ 65335 w 912"/>
                  <a:gd name="T65" fmla="*/ 476768 h 460"/>
                  <a:gd name="T66" fmla="*/ 57335 w 912"/>
                  <a:gd name="T67" fmla="*/ 420860 h 460"/>
                  <a:gd name="T68" fmla="*/ 24000 w 912"/>
                  <a:gd name="T69" fmla="*/ 409989 h 460"/>
                  <a:gd name="T70" fmla="*/ 18667 w 912"/>
                  <a:gd name="T71" fmla="*/ 372717 h 460"/>
                  <a:gd name="T72" fmla="*/ 8000 w 912"/>
                  <a:gd name="T73" fmla="*/ 326128 h 460"/>
                  <a:gd name="T74" fmla="*/ 6667 w 912"/>
                  <a:gd name="T75" fmla="*/ 298174 h 460"/>
                  <a:gd name="T76" fmla="*/ 5333 w 912"/>
                  <a:gd name="T77" fmla="*/ 290409 h 460"/>
                  <a:gd name="T78" fmla="*/ 4000 w 912"/>
                  <a:gd name="T79" fmla="*/ 253137 h 460"/>
                  <a:gd name="T80" fmla="*/ 0 w 912"/>
                  <a:gd name="T81" fmla="*/ 167723 h 460"/>
                  <a:gd name="T82" fmla="*/ 5333 w 912"/>
                  <a:gd name="T83" fmla="*/ 35719 h 460"/>
                  <a:gd name="T84" fmla="*/ 6667 w 912"/>
                  <a:gd name="T85" fmla="*/ 12424 h 46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912"/>
                  <a:gd name="T130" fmla="*/ 0 h 460"/>
                  <a:gd name="T131" fmla="*/ 912 w 912"/>
                  <a:gd name="T132" fmla="*/ 460 h 46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912" h="460">
                    <a:moveTo>
                      <a:pt x="33" y="8"/>
                    </a:moveTo>
                    <a:lnTo>
                      <a:pt x="468" y="8"/>
                    </a:lnTo>
                    <a:lnTo>
                      <a:pt x="476" y="0"/>
                    </a:lnTo>
                    <a:lnTo>
                      <a:pt x="485" y="15"/>
                    </a:lnTo>
                    <a:lnTo>
                      <a:pt x="502" y="15"/>
                    </a:lnTo>
                    <a:lnTo>
                      <a:pt x="526" y="38"/>
                    </a:lnTo>
                    <a:lnTo>
                      <a:pt x="552" y="38"/>
                    </a:lnTo>
                    <a:lnTo>
                      <a:pt x="518" y="61"/>
                    </a:lnTo>
                    <a:lnTo>
                      <a:pt x="535" y="54"/>
                    </a:lnTo>
                    <a:lnTo>
                      <a:pt x="543" y="61"/>
                    </a:lnTo>
                    <a:lnTo>
                      <a:pt x="576" y="54"/>
                    </a:lnTo>
                    <a:lnTo>
                      <a:pt x="576" y="61"/>
                    </a:lnTo>
                    <a:lnTo>
                      <a:pt x="585" y="54"/>
                    </a:lnTo>
                    <a:lnTo>
                      <a:pt x="594" y="61"/>
                    </a:lnTo>
                    <a:lnTo>
                      <a:pt x="626" y="61"/>
                    </a:lnTo>
                    <a:lnTo>
                      <a:pt x="636" y="61"/>
                    </a:lnTo>
                    <a:lnTo>
                      <a:pt x="644" y="69"/>
                    </a:lnTo>
                    <a:lnTo>
                      <a:pt x="644" y="85"/>
                    </a:lnTo>
                    <a:lnTo>
                      <a:pt x="594" y="85"/>
                    </a:lnTo>
                    <a:lnTo>
                      <a:pt x="585" y="115"/>
                    </a:lnTo>
                    <a:lnTo>
                      <a:pt x="594" y="99"/>
                    </a:lnTo>
                    <a:lnTo>
                      <a:pt x="585" y="138"/>
                    </a:lnTo>
                    <a:lnTo>
                      <a:pt x="585" y="160"/>
                    </a:lnTo>
                    <a:lnTo>
                      <a:pt x="585" y="169"/>
                    </a:lnTo>
                    <a:lnTo>
                      <a:pt x="594" y="169"/>
                    </a:lnTo>
                    <a:lnTo>
                      <a:pt x="602" y="160"/>
                    </a:lnTo>
                    <a:lnTo>
                      <a:pt x="602" y="122"/>
                    </a:lnTo>
                    <a:lnTo>
                      <a:pt x="618" y="99"/>
                    </a:lnTo>
                    <a:lnTo>
                      <a:pt x="626" y="92"/>
                    </a:lnTo>
                    <a:lnTo>
                      <a:pt x="626" y="85"/>
                    </a:lnTo>
                    <a:lnTo>
                      <a:pt x="652" y="92"/>
                    </a:lnTo>
                    <a:lnTo>
                      <a:pt x="652" y="115"/>
                    </a:lnTo>
                    <a:lnTo>
                      <a:pt x="644" y="130"/>
                    </a:lnTo>
                    <a:lnTo>
                      <a:pt x="660" y="122"/>
                    </a:lnTo>
                    <a:lnTo>
                      <a:pt x="660" y="138"/>
                    </a:lnTo>
                    <a:lnTo>
                      <a:pt x="677" y="138"/>
                    </a:lnTo>
                    <a:lnTo>
                      <a:pt x="652" y="169"/>
                    </a:lnTo>
                    <a:lnTo>
                      <a:pt x="660" y="169"/>
                    </a:lnTo>
                    <a:lnTo>
                      <a:pt x="686" y="169"/>
                    </a:lnTo>
                    <a:lnTo>
                      <a:pt x="727" y="138"/>
                    </a:lnTo>
                    <a:lnTo>
                      <a:pt x="727" y="130"/>
                    </a:lnTo>
                    <a:lnTo>
                      <a:pt x="760" y="130"/>
                    </a:lnTo>
                    <a:lnTo>
                      <a:pt x="760" y="115"/>
                    </a:lnTo>
                    <a:lnTo>
                      <a:pt x="786" y="99"/>
                    </a:lnTo>
                    <a:lnTo>
                      <a:pt x="836" y="99"/>
                    </a:lnTo>
                    <a:lnTo>
                      <a:pt x="852" y="92"/>
                    </a:lnTo>
                    <a:lnTo>
                      <a:pt x="878" y="46"/>
                    </a:lnTo>
                    <a:lnTo>
                      <a:pt x="886" y="54"/>
                    </a:lnTo>
                    <a:lnTo>
                      <a:pt x="894" y="46"/>
                    </a:lnTo>
                    <a:lnTo>
                      <a:pt x="894" y="54"/>
                    </a:lnTo>
                    <a:lnTo>
                      <a:pt x="903" y="85"/>
                    </a:lnTo>
                    <a:lnTo>
                      <a:pt x="911" y="92"/>
                    </a:lnTo>
                    <a:lnTo>
                      <a:pt x="911" y="99"/>
                    </a:lnTo>
                    <a:lnTo>
                      <a:pt x="903" y="115"/>
                    </a:lnTo>
                    <a:lnTo>
                      <a:pt x="886" y="115"/>
                    </a:lnTo>
                    <a:lnTo>
                      <a:pt x="844" y="146"/>
                    </a:lnTo>
                    <a:lnTo>
                      <a:pt x="852" y="169"/>
                    </a:lnTo>
                    <a:lnTo>
                      <a:pt x="861" y="160"/>
                    </a:lnTo>
                    <a:lnTo>
                      <a:pt x="861" y="176"/>
                    </a:lnTo>
                    <a:lnTo>
                      <a:pt x="836" y="169"/>
                    </a:lnTo>
                    <a:lnTo>
                      <a:pt x="811" y="176"/>
                    </a:lnTo>
                    <a:lnTo>
                      <a:pt x="802" y="183"/>
                    </a:lnTo>
                    <a:lnTo>
                      <a:pt x="794" y="222"/>
                    </a:lnTo>
                    <a:lnTo>
                      <a:pt x="786" y="214"/>
                    </a:lnTo>
                    <a:lnTo>
                      <a:pt x="786" y="222"/>
                    </a:lnTo>
                    <a:lnTo>
                      <a:pt x="777" y="253"/>
                    </a:lnTo>
                    <a:lnTo>
                      <a:pt x="777" y="237"/>
                    </a:lnTo>
                    <a:lnTo>
                      <a:pt x="760" y="222"/>
                    </a:lnTo>
                    <a:lnTo>
                      <a:pt x="760" y="207"/>
                    </a:lnTo>
                    <a:lnTo>
                      <a:pt x="752" y="222"/>
                    </a:lnTo>
                    <a:lnTo>
                      <a:pt x="760" y="253"/>
                    </a:lnTo>
                    <a:lnTo>
                      <a:pt x="777" y="283"/>
                    </a:lnTo>
                    <a:lnTo>
                      <a:pt x="760" y="298"/>
                    </a:lnTo>
                    <a:lnTo>
                      <a:pt x="727" y="321"/>
                    </a:lnTo>
                    <a:lnTo>
                      <a:pt x="694" y="344"/>
                    </a:lnTo>
                    <a:lnTo>
                      <a:pt x="686" y="368"/>
                    </a:lnTo>
                    <a:lnTo>
                      <a:pt x="702" y="429"/>
                    </a:lnTo>
                    <a:lnTo>
                      <a:pt x="702" y="459"/>
                    </a:lnTo>
                    <a:lnTo>
                      <a:pt x="694" y="459"/>
                    </a:lnTo>
                    <a:lnTo>
                      <a:pt x="686" y="451"/>
                    </a:lnTo>
                    <a:lnTo>
                      <a:pt x="660" y="429"/>
                    </a:lnTo>
                    <a:lnTo>
                      <a:pt x="660" y="390"/>
                    </a:lnTo>
                    <a:lnTo>
                      <a:pt x="644" y="375"/>
                    </a:lnTo>
                    <a:lnTo>
                      <a:pt x="626" y="382"/>
                    </a:lnTo>
                    <a:lnTo>
                      <a:pt x="626" y="375"/>
                    </a:lnTo>
                    <a:lnTo>
                      <a:pt x="568" y="375"/>
                    </a:lnTo>
                    <a:lnTo>
                      <a:pt x="552" y="382"/>
                    </a:lnTo>
                    <a:lnTo>
                      <a:pt x="568" y="390"/>
                    </a:lnTo>
                    <a:lnTo>
                      <a:pt x="535" y="390"/>
                    </a:lnTo>
                    <a:lnTo>
                      <a:pt x="526" y="382"/>
                    </a:lnTo>
                    <a:lnTo>
                      <a:pt x="493" y="382"/>
                    </a:lnTo>
                    <a:lnTo>
                      <a:pt x="476" y="390"/>
                    </a:lnTo>
                    <a:lnTo>
                      <a:pt x="435" y="420"/>
                    </a:lnTo>
                    <a:lnTo>
                      <a:pt x="435" y="451"/>
                    </a:lnTo>
                    <a:lnTo>
                      <a:pt x="401" y="443"/>
                    </a:lnTo>
                    <a:lnTo>
                      <a:pt x="368" y="382"/>
                    </a:lnTo>
                    <a:lnTo>
                      <a:pt x="351" y="382"/>
                    </a:lnTo>
                    <a:lnTo>
                      <a:pt x="343" y="390"/>
                    </a:lnTo>
                    <a:lnTo>
                      <a:pt x="334" y="390"/>
                    </a:lnTo>
                    <a:lnTo>
                      <a:pt x="317" y="382"/>
                    </a:lnTo>
                    <a:lnTo>
                      <a:pt x="317" y="368"/>
                    </a:lnTo>
                    <a:lnTo>
                      <a:pt x="293" y="344"/>
                    </a:lnTo>
                    <a:lnTo>
                      <a:pt x="209" y="359"/>
                    </a:lnTo>
                    <a:lnTo>
                      <a:pt x="151" y="336"/>
                    </a:lnTo>
                    <a:lnTo>
                      <a:pt x="125" y="336"/>
                    </a:lnTo>
                    <a:lnTo>
                      <a:pt x="109" y="321"/>
                    </a:lnTo>
                    <a:lnTo>
                      <a:pt x="101" y="321"/>
                    </a:lnTo>
                    <a:lnTo>
                      <a:pt x="101" y="305"/>
                    </a:lnTo>
                    <a:lnTo>
                      <a:pt x="59" y="298"/>
                    </a:lnTo>
                    <a:lnTo>
                      <a:pt x="59" y="291"/>
                    </a:lnTo>
                    <a:lnTo>
                      <a:pt x="41" y="268"/>
                    </a:lnTo>
                    <a:lnTo>
                      <a:pt x="41" y="253"/>
                    </a:lnTo>
                    <a:lnTo>
                      <a:pt x="33" y="253"/>
                    </a:lnTo>
                    <a:lnTo>
                      <a:pt x="33" y="244"/>
                    </a:lnTo>
                    <a:lnTo>
                      <a:pt x="41" y="244"/>
                    </a:lnTo>
                    <a:lnTo>
                      <a:pt x="41" y="237"/>
                    </a:lnTo>
                    <a:lnTo>
                      <a:pt x="25" y="237"/>
                    </a:lnTo>
                    <a:lnTo>
                      <a:pt x="33" y="237"/>
                    </a:lnTo>
                    <a:lnTo>
                      <a:pt x="8" y="214"/>
                    </a:lnTo>
                    <a:lnTo>
                      <a:pt x="8" y="207"/>
                    </a:lnTo>
                    <a:lnTo>
                      <a:pt x="0" y="199"/>
                    </a:lnTo>
                    <a:lnTo>
                      <a:pt x="8" y="169"/>
                    </a:lnTo>
                    <a:lnTo>
                      <a:pt x="0" y="138"/>
                    </a:lnTo>
                    <a:lnTo>
                      <a:pt x="8" y="69"/>
                    </a:lnTo>
                    <a:lnTo>
                      <a:pt x="0" y="23"/>
                    </a:lnTo>
                    <a:lnTo>
                      <a:pt x="25" y="23"/>
                    </a:lnTo>
                    <a:lnTo>
                      <a:pt x="25" y="46"/>
                    </a:lnTo>
                    <a:lnTo>
                      <a:pt x="33" y="46"/>
                    </a:lnTo>
                    <a:lnTo>
                      <a:pt x="33"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69" name="Freeform 41"/>
              <p:cNvSpPr>
                <a:spLocks/>
              </p:cNvSpPr>
              <p:nvPr/>
            </p:nvSpPr>
            <p:spPr bwMode="auto">
              <a:xfrm>
                <a:off x="469900" y="2076914"/>
                <a:ext cx="874032" cy="998386"/>
              </a:xfrm>
              <a:custGeom>
                <a:avLst/>
                <a:gdLst>
                  <a:gd name="T0" fmla="*/ 114625 w 586"/>
                  <a:gd name="T1" fmla="*/ 636159 h 575"/>
                  <a:gd name="T2" fmla="*/ 101297 w 586"/>
                  <a:gd name="T3" fmla="*/ 544615 h 575"/>
                  <a:gd name="T4" fmla="*/ 98631 w 586"/>
                  <a:gd name="T5" fmla="*/ 507376 h 575"/>
                  <a:gd name="T6" fmla="*/ 93299 w 586"/>
                  <a:gd name="T7" fmla="*/ 533753 h 575"/>
                  <a:gd name="T8" fmla="*/ 87968 w 586"/>
                  <a:gd name="T9" fmla="*/ 488757 h 575"/>
                  <a:gd name="T10" fmla="*/ 79971 w 586"/>
                  <a:gd name="T11" fmla="*/ 488757 h 575"/>
                  <a:gd name="T12" fmla="*/ 75972 w 586"/>
                  <a:gd name="T13" fmla="*/ 66719 h 575"/>
                  <a:gd name="T14" fmla="*/ 66642 w 586"/>
                  <a:gd name="T15" fmla="*/ 66719 h 575"/>
                  <a:gd name="T16" fmla="*/ 55980 w 586"/>
                  <a:gd name="T17" fmla="*/ 41893 h 575"/>
                  <a:gd name="T18" fmla="*/ 46650 w 586"/>
                  <a:gd name="T19" fmla="*/ 34135 h 575"/>
                  <a:gd name="T20" fmla="*/ 38653 w 586"/>
                  <a:gd name="T21" fmla="*/ 12413 h 575"/>
                  <a:gd name="T22" fmla="*/ 31988 w 586"/>
                  <a:gd name="T23" fmla="*/ 34135 h 575"/>
                  <a:gd name="T24" fmla="*/ 21326 w 586"/>
                  <a:gd name="T25" fmla="*/ 54306 h 575"/>
                  <a:gd name="T26" fmla="*/ 14661 w 586"/>
                  <a:gd name="T27" fmla="*/ 86890 h 575"/>
                  <a:gd name="T28" fmla="*/ 3999 w 586"/>
                  <a:gd name="T29" fmla="*/ 141196 h 575"/>
                  <a:gd name="T30" fmla="*/ 10663 w 586"/>
                  <a:gd name="T31" fmla="*/ 193951 h 575"/>
                  <a:gd name="T32" fmla="*/ 18660 w 586"/>
                  <a:gd name="T33" fmla="*/ 249809 h 575"/>
                  <a:gd name="T34" fmla="*/ 10663 w 586"/>
                  <a:gd name="T35" fmla="*/ 259119 h 575"/>
                  <a:gd name="T36" fmla="*/ 9330 w 586"/>
                  <a:gd name="T37" fmla="*/ 240499 h 575"/>
                  <a:gd name="T38" fmla="*/ 0 w 586"/>
                  <a:gd name="T39" fmla="*/ 287048 h 575"/>
                  <a:gd name="T40" fmla="*/ 3999 w 586"/>
                  <a:gd name="T41" fmla="*/ 304115 h 575"/>
                  <a:gd name="T42" fmla="*/ 7997 w 586"/>
                  <a:gd name="T43" fmla="*/ 332044 h 575"/>
                  <a:gd name="T44" fmla="*/ 14661 w 586"/>
                  <a:gd name="T45" fmla="*/ 332044 h 575"/>
                  <a:gd name="T46" fmla="*/ 18660 w 586"/>
                  <a:gd name="T47" fmla="*/ 332044 h 575"/>
                  <a:gd name="T48" fmla="*/ 18660 w 586"/>
                  <a:gd name="T49" fmla="*/ 378592 h 575"/>
                  <a:gd name="T50" fmla="*/ 13328 w 586"/>
                  <a:gd name="T51" fmla="*/ 387902 h 575"/>
                  <a:gd name="T52" fmla="*/ 9330 w 586"/>
                  <a:gd name="T53" fmla="*/ 387902 h 575"/>
                  <a:gd name="T54" fmla="*/ 10663 w 586"/>
                  <a:gd name="T55" fmla="*/ 507376 h 575"/>
                  <a:gd name="T56" fmla="*/ 18660 w 586"/>
                  <a:gd name="T57" fmla="*/ 498066 h 575"/>
                  <a:gd name="T58" fmla="*/ 18660 w 586"/>
                  <a:gd name="T59" fmla="*/ 533753 h 575"/>
                  <a:gd name="T60" fmla="*/ 23991 w 586"/>
                  <a:gd name="T61" fmla="*/ 544615 h 575"/>
                  <a:gd name="T62" fmla="*/ 26657 w 586"/>
                  <a:gd name="T63" fmla="*/ 544615 h 575"/>
                  <a:gd name="T64" fmla="*/ 31988 w 586"/>
                  <a:gd name="T65" fmla="*/ 570992 h 575"/>
                  <a:gd name="T66" fmla="*/ 21326 w 586"/>
                  <a:gd name="T67" fmla="*/ 636159 h 575"/>
                  <a:gd name="T68" fmla="*/ 13328 w 586"/>
                  <a:gd name="T69" fmla="*/ 656330 h 575"/>
                  <a:gd name="T70" fmla="*/ 9330 w 586"/>
                  <a:gd name="T71" fmla="*/ 692017 h 575"/>
                  <a:gd name="T72" fmla="*/ 26657 w 586"/>
                  <a:gd name="T73" fmla="*/ 636159 h 575"/>
                  <a:gd name="T74" fmla="*/ 31988 w 586"/>
                  <a:gd name="T75" fmla="*/ 600472 h 575"/>
                  <a:gd name="T76" fmla="*/ 43984 w 586"/>
                  <a:gd name="T77" fmla="*/ 544615 h 575"/>
                  <a:gd name="T78" fmla="*/ 42651 w 586"/>
                  <a:gd name="T79" fmla="*/ 525995 h 575"/>
                  <a:gd name="T80" fmla="*/ 46650 w 586"/>
                  <a:gd name="T81" fmla="*/ 480999 h 575"/>
                  <a:gd name="T82" fmla="*/ 53314 w 586"/>
                  <a:gd name="T83" fmla="*/ 453070 h 575"/>
                  <a:gd name="T84" fmla="*/ 50648 w 586"/>
                  <a:gd name="T85" fmla="*/ 480999 h 575"/>
                  <a:gd name="T86" fmla="*/ 50648 w 586"/>
                  <a:gd name="T87" fmla="*/ 525995 h 575"/>
                  <a:gd name="T88" fmla="*/ 50648 w 586"/>
                  <a:gd name="T89" fmla="*/ 533753 h 575"/>
                  <a:gd name="T90" fmla="*/ 58645 w 586"/>
                  <a:gd name="T91" fmla="*/ 507376 h 575"/>
                  <a:gd name="T92" fmla="*/ 58645 w 586"/>
                  <a:gd name="T93" fmla="*/ 460828 h 575"/>
                  <a:gd name="T94" fmla="*/ 71974 w 586"/>
                  <a:gd name="T95" fmla="*/ 498066 h 575"/>
                  <a:gd name="T96" fmla="*/ 82637 w 586"/>
                  <a:gd name="T97" fmla="*/ 507376 h 575"/>
                  <a:gd name="T98" fmla="*/ 86635 w 586"/>
                  <a:gd name="T99" fmla="*/ 525995 h 575"/>
                  <a:gd name="T100" fmla="*/ 101297 w 586"/>
                  <a:gd name="T101" fmla="*/ 636159 h 575"/>
                  <a:gd name="T102" fmla="*/ 95965 w 586"/>
                  <a:gd name="T103" fmla="*/ 570992 h 575"/>
                  <a:gd name="T104" fmla="*/ 98631 w 586"/>
                  <a:gd name="T105" fmla="*/ 544615 h 575"/>
                  <a:gd name="T106" fmla="*/ 101297 w 586"/>
                  <a:gd name="T107" fmla="*/ 591163 h 575"/>
                  <a:gd name="T108" fmla="*/ 101297 w 586"/>
                  <a:gd name="T109" fmla="*/ 600472 h 575"/>
                  <a:gd name="T110" fmla="*/ 101297 w 586"/>
                  <a:gd name="T111" fmla="*/ 636159 h 575"/>
                  <a:gd name="T112" fmla="*/ 106628 w 586"/>
                  <a:gd name="T113" fmla="*/ 643918 h 575"/>
                  <a:gd name="T114" fmla="*/ 109294 w 586"/>
                  <a:gd name="T115" fmla="*/ 656330 h 575"/>
                  <a:gd name="T116" fmla="*/ 109294 w 586"/>
                  <a:gd name="T117" fmla="*/ 636159 h 575"/>
                  <a:gd name="T118" fmla="*/ 110627 w 586"/>
                  <a:gd name="T119" fmla="*/ 673398 h 575"/>
                  <a:gd name="T120" fmla="*/ 114625 w 586"/>
                  <a:gd name="T121" fmla="*/ 673398 h 57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586"/>
                  <a:gd name="T184" fmla="*/ 0 h 575"/>
                  <a:gd name="T185" fmla="*/ 586 w 586"/>
                  <a:gd name="T186" fmla="*/ 575 h 57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586" h="575">
                    <a:moveTo>
                      <a:pt x="585" y="558"/>
                    </a:moveTo>
                    <a:lnTo>
                      <a:pt x="585" y="527"/>
                    </a:lnTo>
                    <a:lnTo>
                      <a:pt x="559" y="504"/>
                    </a:lnTo>
                    <a:lnTo>
                      <a:pt x="526" y="452"/>
                    </a:lnTo>
                    <a:lnTo>
                      <a:pt x="517" y="452"/>
                    </a:lnTo>
                    <a:lnTo>
                      <a:pt x="509" y="421"/>
                    </a:lnTo>
                    <a:lnTo>
                      <a:pt x="493" y="436"/>
                    </a:lnTo>
                    <a:lnTo>
                      <a:pt x="476" y="443"/>
                    </a:lnTo>
                    <a:lnTo>
                      <a:pt x="451" y="413"/>
                    </a:lnTo>
                    <a:lnTo>
                      <a:pt x="451" y="405"/>
                    </a:lnTo>
                    <a:lnTo>
                      <a:pt x="417" y="413"/>
                    </a:lnTo>
                    <a:lnTo>
                      <a:pt x="417" y="405"/>
                    </a:lnTo>
                    <a:lnTo>
                      <a:pt x="417" y="77"/>
                    </a:lnTo>
                    <a:lnTo>
                      <a:pt x="392" y="54"/>
                    </a:lnTo>
                    <a:lnTo>
                      <a:pt x="359" y="69"/>
                    </a:lnTo>
                    <a:lnTo>
                      <a:pt x="342" y="54"/>
                    </a:lnTo>
                    <a:lnTo>
                      <a:pt x="317" y="54"/>
                    </a:lnTo>
                    <a:lnTo>
                      <a:pt x="292" y="38"/>
                    </a:lnTo>
                    <a:lnTo>
                      <a:pt x="250" y="38"/>
                    </a:lnTo>
                    <a:lnTo>
                      <a:pt x="242" y="23"/>
                    </a:lnTo>
                    <a:lnTo>
                      <a:pt x="208" y="23"/>
                    </a:lnTo>
                    <a:lnTo>
                      <a:pt x="200" y="8"/>
                    </a:lnTo>
                    <a:lnTo>
                      <a:pt x="175" y="0"/>
                    </a:lnTo>
                    <a:lnTo>
                      <a:pt x="158" y="23"/>
                    </a:lnTo>
                    <a:lnTo>
                      <a:pt x="142" y="31"/>
                    </a:lnTo>
                    <a:lnTo>
                      <a:pt x="108" y="46"/>
                    </a:lnTo>
                    <a:lnTo>
                      <a:pt x="100" y="46"/>
                    </a:lnTo>
                    <a:lnTo>
                      <a:pt x="74" y="69"/>
                    </a:lnTo>
                    <a:lnTo>
                      <a:pt x="66" y="108"/>
                    </a:lnTo>
                    <a:lnTo>
                      <a:pt x="24" y="115"/>
                    </a:lnTo>
                    <a:lnTo>
                      <a:pt x="16" y="130"/>
                    </a:lnTo>
                    <a:lnTo>
                      <a:pt x="58" y="160"/>
                    </a:lnTo>
                    <a:lnTo>
                      <a:pt x="66" y="176"/>
                    </a:lnTo>
                    <a:lnTo>
                      <a:pt x="92" y="207"/>
                    </a:lnTo>
                    <a:lnTo>
                      <a:pt x="92" y="214"/>
                    </a:lnTo>
                    <a:lnTo>
                      <a:pt x="58" y="214"/>
                    </a:lnTo>
                    <a:lnTo>
                      <a:pt x="58" y="199"/>
                    </a:lnTo>
                    <a:lnTo>
                      <a:pt x="50" y="199"/>
                    </a:lnTo>
                    <a:lnTo>
                      <a:pt x="8" y="214"/>
                    </a:lnTo>
                    <a:lnTo>
                      <a:pt x="0" y="237"/>
                    </a:lnTo>
                    <a:lnTo>
                      <a:pt x="16" y="244"/>
                    </a:lnTo>
                    <a:lnTo>
                      <a:pt x="16" y="253"/>
                    </a:lnTo>
                    <a:lnTo>
                      <a:pt x="16" y="260"/>
                    </a:lnTo>
                    <a:lnTo>
                      <a:pt x="42" y="275"/>
                    </a:lnTo>
                    <a:lnTo>
                      <a:pt x="58" y="275"/>
                    </a:lnTo>
                    <a:lnTo>
                      <a:pt x="74" y="275"/>
                    </a:lnTo>
                    <a:lnTo>
                      <a:pt x="100" y="260"/>
                    </a:lnTo>
                    <a:lnTo>
                      <a:pt x="100" y="275"/>
                    </a:lnTo>
                    <a:lnTo>
                      <a:pt x="108" y="291"/>
                    </a:lnTo>
                    <a:lnTo>
                      <a:pt x="100" y="314"/>
                    </a:lnTo>
                    <a:lnTo>
                      <a:pt x="74" y="314"/>
                    </a:lnTo>
                    <a:lnTo>
                      <a:pt x="66" y="321"/>
                    </a:lnTo>
                    <a:lnTo>
                      <a:pt x="58" y="321"/>
                    </a:lnTo>
                    <a:lnTo>
                      <a:pt x="50" y="321"/>
                    </a:lnTo>
                    <a:lnTo>
                      <a:pt x="24" y="367"/>
                    </a:lnTo>
                    <a:lnTo>
                      <a:pt x="58" y="421"/>
                    </a:lnTo>
                    <a:lnTo>
                      <a:pt x="66" y="421"/>
                    </a:lnTo>
                    <a:lnTo>
                      <a:pt x="92" y="413"/>
                    </a:lnTo>
                    <a:lnTo>
                      <a:pt x="92" y="436"/>
                    </a:lnTo>
                    <a:lnTo>
                      <a:pt x="92" y="443"/>
                    </a:lnTo>
                    <a:lnTo>
                      <a:pt x="100" y="452"/>
                    </a:lnTo>
                    <a:lnTo>
                      <a:pt x="124" y="452"/>
                    </a:lnTo>
                    <a:lnTo>
                      <a:pt x="142" y="459"/>
                    </a:lnTo>
                    <a:lnTo>
                      <a:pt x="142" y="452"/>
                    </a:lnTo>
                    <a:lnTo>
                      <a:pt x="158" y="452"/>
                    </a:lnTo>
                    <a:lnTo>
                      <a:pt x="158" y="474"/>
                    </a:lnTo>
                    <a:lnTo>
                      <a:pt x="158" y="490"/>
                    </a:lnTo>
                    <a:lnTo>
                      <a:pt x="108" y="527"/>
                    </a:lnTo>
                    <a:lnTo>
                      <a:pt x="74" y="535"/>
                    </a:lnTo>
                    <a:lnTo>
                      <a:pt x="66" y="543"/>
                    </a:lnTo>
                    <a:lnTo>
                      <a:pt x="42" y="566"/>
                    </a:lnTo>
                    <a:lnTo>
                      <a:pt x="50" y="574"/>
                    </a:lnTo>
                    <a:lnTo>
                      <a:pt x="100" y="543"/>
                    </a:lnTo>
                    <a:lnTo>
                      <a:pt x="142" y="527"/>
                    </a:lnTo>
                    <a:lnTo>
                      <a:pt x="150" y="520"/>
                    </a:lnTo>
                    <a:lnTo>
                      <a:pt x="166" y="497"/>
                    </a:lnTo>
                    <a:lnTo>
                      <a:pt x="217" y="459"/>
                    </a:lnTo>
                    <a:lnTo>
                      <a:pt x="225" y="452"/>
                    </a:lnTo>
                    <a:lnTo>
                      <a:pt x="208" y="443"/>
                    </a:lnTo>
                    <a:lnTo>
                      <a:pt x="217" y="436"/>
                    </a:lnTo>
                    <a:lnTo>
                      <a:pt x="242" y="413"/>
                    </a:lnTo>
                    <a:lnTo>
                      <a:pt x="242" y="398"/>
                    </a:lnTo>
                    <a:lnTo>
                      <a:pt x="267" y="375"/>
                    </a:lnTo>
                    <a:lnTo>
                      <a:pt x="275" y="375"/>
                    </a:lnTo>
                    <a:lnTo>
                      <a:pt x="267" y="382"/>
                    </a:lnTo>
                    <a:lnTo>
                      <a:pt x="258" y="398"/>
                    </a:lnTo>
                    <a:lnTo>
                      <a:pt x="250" y="421"/>
                    </a:lnTo>
                    <a:lnTo>
                      <a:pt x="258" y="436"/>
                    </a:lnTo>
                    <a:lnTo>
                      <a:pt x="250" y="443"/>
                    </a:lnTo>
                    <a:lnTo>
                      <a:pt x="258" y="443"/>
                    </a:lnTo>
                    <a:lnTo>
                      <a:pt x="292" y="421"/>
                    </a:lnTo>
                    <a:lnTo>
                      <a:pt x="300" y="421"/>
                    </a:lnTo>
                    <a:lnTo>
                      <a:pt x="309" y="405"/>
                    </a:lnTo>
                    <a:lnTo>
                      <a:pt x="300" y="382"/>
                    </a:lnTo>
                    <a:lnTo>
                      <a:pt x="325" y="398"/>
                    </a:lnTo>
                    <a:lnTo>
                      <a:pt x="367" y="413"/>
                    </a:lnTo>
                    <a:lnTo>
                      <a:pt x="401" y="413"/>
                    </a:lnTo>
                    <a:lnTo>
                      <a:pt x="426" y="421"/>
                    </a:lnTo>
                    <a:lnTo>
                      <a:pt x="443" y="421"/>
                    </a:lnTo>
                    <a:lnTo>
                      <a:pt x="443" y="436"/>
                    </a:lnTo>
                    <a:lnTo>
                      <a:pt x="493" y="474"/>
                    </a:lnTo>
                    <a:lnTo>
                      <a:pt x="517" y="527"/>
                    </a:lnTo>
                    <a:lnTo>
                      <a:pt x="509" y="482"/>
                    </a:lnTo>
                    <a:lnTo>
                      <a:pt x="501" y="474"/>
                    </a:lnTo>
                    <a:lnTo>
                      <a:pt x="509" y="474"/>
                    </a:lnTo>
                    <a:lnTo>
                      <a:pt x="509" y="452"/>
                    </a:lnTo>
                    <a:lnTo>
                      <a:pt x="517" y="497"/>
                    </a:lnTo>
                    <a:lnTo>
                      <a:pt x="526" y="490"/>
                    </a:lnTo>
                    <a:lnTo>
                      <a:pt x="551" y="504"/>
                    </a:lnTo>
                    <a:lnTo>
                      <a:pt x="526" y="497"/>
                    </a:lnTo>
                    <a:lnTo>
                      <a:pt x="526" y="504"/>
                    </a:lnTo>
                    <a:lnTo>
                      <a:pt x="526" y="527"/>
                    </a:lnTo>
                    <a:lnTo>
                      <a:pt x="543" y="520"/>
                    </a:lnTo>
                    <a:lnTo>
                      <a:pt x="543" y="535"/>
                    </a:lnTo>
                    <a:lnTo>
                      <a:pt x="559" y="566"/>
                    </a:lnTo>
                    <a:lnTo>
                      <a:pt x="559" y="543"/>
                    </a:lnTo>
                    <a:lnTo>
                      <a:pt x="551" y="527"/>
                    </a:lnTo>
                    <a:lnTo>
                      <a:pt x="559" y="527"/>
                    </a:lnTo>
                    <a:lnTo>
                      <a:pt x="559" y="535"/>
                    </a:lnTo>
                    <a:lnTo>
                      <a:pt x="567" y="558"/>
                    </a:lnTo>
                    <a:lnTo>
                      <a:pt x="577" y="566"/>
                    </a:lnTo>
                    <a:lnTo>
                      <a:pt x="585" y="55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0" name="Freeform 42"/>
              <p:cNvSpPr>
                <a:spLocks/>
              </p:cNvSpPr>
              <p:nvPr/>
            </p:nvSpPr>
            <p:spPr bwMode="auto">
              <a:xfrm>
                <a:off x="1091670" y="1835312"/>
                <a:ext cx="2023419" cy="1730298"/>
              </a:xfrm>
              <a:custGeom>
                <a:avLst/>
                <a:gdLst>
                  <a:gd name="T0" fmla="*/ 184017 w 1356"/>
                  <a:gd name="T1" fmla="*/ 1198480 h 996"/>
                  <a:gd name="T2" fmla="*/ 185350 w 1356"/>
                  <a:gd name="T3" fmla="*/ 1161221 h 996"/>
                  <a:gd name="T4" fmla="*/ 185350 w 1356"/>
                  <a:gd name="T5" fmla="*/ 1106886 h 996"/>
                  <a:gd name="T6" fmla="*/ 172016 w 1356"/>
                  <a:gd name="T7" fmla="*/ 1049446 h 996"/>
                  <a:gd name="T8" fmla="*/ 154681 w 1356"/>
                  <a:gd name="T9" fmla="*/ 1049446 h 996"/>
                  <a:gd name="T10" fmla="*/ 142680 w 1356"/>
                  <a:gd name="T11" fmla="*/ 1013740 h 996"/>
                  <a:gd name="T12" fmla="*/ 40004 w 1356"/>
                  <a:gd name="T13" fmla="*/ 956300 h 996"/>
                  <a:gd name="T14" fmla="*/ 32003 w 1356"/>
                  <a:gd name="T15" fmla="*/ 864706 h 996"/>
                  <a:gd name="T16" fmla="*/ 22669 w 1356"/>
                  <a:gd name="T17" fmla="*/ 717225 h 996"/>
                  <a:gd name="T18" fmla="*/ 10668 w 1356"/>
                  <a:gd name="T19" fmla="*/ 706358 h 996"/>
                  <a:gd name="T20" fmla="*/ 0 w 1356"/>
                  <a:gd name="T21" fmla="*/ 659785 h 996"/>
                  <a:gd name="T22" fmla="*/ 16001 w 1356"/>
                  <a:gd name="T23" fmla="*/ 279438 h 996"/>
                  <a:gd name="T24" fmla="*/ 37337 w 1356"/>
                  <a:gd name="T25" fmla="*/ 223551 h 996"/>
                  <a:gd name="T26" fmla="*/ 45337 w 1356"/>
                  <a:gd name="T27" fmla="*/ 232865 h 996"/>
                  <a:gd name="T28" fmla="*/ 50671 w 1356"/>
                  <a:gd name="T29" fmla="*/ 270124 h 996"/>
                  <a:gd name="T30" fmla="*/ 65339 w 1356"/>
                  <a:gd name="T31" fmla="*/ 270124 h 996"/>
                  <a:gd name="T32" fmla="*/ 81341 w 1356"/>
                  <a:gd name="T33" fmla="*/ 307382 h 996"/>
                  <a:gd name="T34" fmla="*/ 86674 w 1356"/>
                  <a:gd name="T35" fmla="*/ 363270 h 996"/>
                  <a:gd name="T36" fmla="*/ 100009 w 1356"/>
                  <a:gd name="T37" fmla="*/ 324459 h 996"/>
                  <a:gd name="T38" fmla="*/ 122678 w 1356"/>
                  <a:gd name="T39" fmla="*/ 355508 h 996"/>
                  <a:gd name="T40" fmla="*/ 134679 w 1356"/>
                  <a:gd name="T41" fmla="*/ 315144 h 996"/>
                  <a:gd name="T42" fmla="*/ 137346 w 1356"/>
                  <a:gd name="T43" fmla="*/ 279438 h 996"/>
                  <a:gd name="T44" fmla="*/ 138679 w 1356"/>
                  <a:gd name="T45" fmla="*/ 363270 h 996"/>
                  <a:gd name="T46" fmla="*/ 145346 w 1356"/>
                  <a:gd name="T47" fmla="*/ 270124 h 996"/>
                  <a:gd name="T48" fmla="*/ 144013 w 1356"/>
                  <a:gd name="T49" fmla="*/ 150586 h 996"/>
                  <a:gd name="T50" fmla="*/ 150680 w 1356"/>
                  <a:gd name="T51" fmla="*/ 0 h 996"/>
                  <a:gd name="T52" fmla="*/ 150680 w 1356"/>
                  <a:gd name="T53" fmla="*/ 88489 h 996"/>
                  <a:gd name="T54" fmla="*/ 154681 w 1356"/>
                  <a:gd name="T55" fmla="*/ 232865 h 996"/>
                  <a:gd name="T56" fmla="*/ 161348 w 1356"/>
                  <a:gd name="T57" fmla="*/ 279438 h 996"/>
                  <a:gd name="T58" fmla="*/ 168015 w 1356"/>
                  <a:gd name="T59" fmla="*/ 372584 h 996"/>
                  <a:gd name="T60" fmla="*/ 177349 w 1356"/>
                  <a:gd name="T61" fmla="*/ 251494 h 996"/>
                  <a:gd name="T62" fmla="*/ 185350 w 1356"/>
                  <a:gd name="T63" fmla="*/ 315144 h 996"/>
                  <a:gd name="T64" fmla="*/ 185350 w 1356"/>
                  <a:gd name="T65" fmla="*/ 380347 h 996"/>
                  <a:gd name="T66" fmla="*/ 168015 w 1356"/>
                  <a:gd name="T67" fmla="*/ 409843 h 996"/>
                  <a:gd name="T68" fmla="*/ 164015 w 1356"/>
                  <a:gd name="T69" fmla="*/ 521618 h 996"/>
                  <a:gd name="T70" fmla="*/ 150680 w 1356"/>
                  <a:gd name="T71" fmla="*/ 577506 h 996"/>
                  <a:gd name="T72" fmla="*/ 144013 w 1356"/>
                  <a:gd name="T73" fmla="*/ 669099 h 996"/>
                  <a:gd name="T74" fmla="*/ 150680 w 1356"/>
                  <a:gd name="T75" fmla="*/ 779322 h 996"/>
                  <a:gd name="T76" fmla="*/ 173349 w 1356"/>
                  <a:gd name="T77" fmla="*/ 827448 h 996"/>
                  <a:gd name="T78" fmla="*/ 190684 w 1356"/>
                  <a:gd name="T79" fmla="*/ 956300 h 996"/>
                  <a:gd name="T80" fmla="*/ 197351 w 1356"/>
                  <a:gd name="T81" fmla="*/ 807266 h 996"/>
                  <a:gd name="T82" fmla="*/ 197351 w 1356"/>
                  <a:gd name="T83" fmla="*/ 706358 h 996"/>
                  <a:gd name="T84" fmla="*/ 194684 w 1356"/>
                  <a:gd name="T85" fmla="*/ 603897 h 996"/>
                  <a:gd name="T86" fmla="*/ 208019 w 1356"/>
                  <a:gd name="T87" fmla="*/ 577506 h 996"/>
                  <a:gd name="T88" fmla="*/ 221353 w 1356"/>
                  <a:gd name="T89" fmla="*/ 631841 h 996"/>
                  <a:gd name="T90" fmla="*/ 234688 w 1356"/>
                  <a:gd name="T91" fmla="*/ 678414 h 996"/>
                  <a:gd name="T92" fmla="*/ 245355 w 1356"/>
                  <a:gd name="T93" fmla="*/ 807266 h 996"/>
                  <a:gd name="T94" fmla="*/ 256023 w 1356"/>
                  <a:gd name="T95" fmla="*/ 846077 h 996"/>
                  <a:gd name="T96" fmla="*/ 260023 w 1356"/>
                  <a:gd name="T97" fmla="*/ 891098 h 996"/>
                  <a:gd name="T98" fmla="*/ 264024 w 1356"/>
                  <a:gd name="T99" fmla="*/ 928356 h 996"/>
                  <a:gd name="T100" fmla="*/ 245355 w 1356"/>
                  <a:gd name="T101" fmla="*/ 995111 h 996"/>
                  <a:gd name="T102" fmla="*/ 226687 w 1356"/>
                  <a:gd name="T103" fmla="*/ 1013740 h 996"/>
                  <a:gd name="T104" fmla="*/ 225354 w 1356"/>
                  <a:gd name="T105" fmla="*/ 1030817 h 996"/>
                  <a:gd name="T106" fmla="*/ 238688 w 1356"/>
                  <a:gd name="T107" fmla="*/ 1030817 h 996"/>
                  <a:gd name="T108" fmla="*/ 234688 w 1356"/>
                  <a:gd name="T109" fmla="*/ 1049446 h 996"/>
                  <a:gd name="T110" fmla="*/ 245355 w 1356"/>
                  <a:gd name="T111" fmla="*/ 1106886 h 996"/>
                  <a:gd name="T112" fmla="*/ 253356 w 1356"/>
                  <a:gd name="T113" fmla="*/ 1086704 h 996"/>
                  <a:gd name="T114" fmla="*/ 234688 w 1356"/>
                  <a:gd name="T115" fmla="*/ 1161221 h 996"/>
                  <a:gd name="T116" fmla="*/ 234688 w 1356"/>
                  <a:gd name="T117" fmla="*/ 1106886 h 996"/>
                  <a:gd name="T118" fmla="*/ 226687 w 1356"/>
                  <a:gd name="T119" fmla="*/ 1068075 h 996"/>
                  <a:gd name="T120" fmla="*/ 218686 w 1356"/>
                  <a:gd name="T121" fmla="*/ 1114648 h 996"/>
                  <a:gd name="T122" fmla="*/ 197351 w 1356"/>
                  <a:gd name="T123" fmla="*/ 1150354 h 99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356"/>
                  <a:gd name="T187" fmla="*/ 0 h 996"/>
                  <a:gd name="T188" fmla="*/ 1356 w 1356"/>
                  <a:gd name="T189" fmla="*/ 996 h 99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356" h="996">
                    <a:moveTo>
                      <a:pt x="987" y="948"/>
                    </a:moveTo>
                    <a:lnTo>
                      <a:pt x="987" y="964"/>
                    </a:lnTo>
                    <a:lnTo>
                      <a:pt x="946" y="972"/>
                    </a:lnTo>
                    <a:lnTo>
                      <a:pt x="937" y="986"/>
                    </a:lnTo>
                    <a:lnTo>
                      <a:pt x="912" y="995"/>
                    </a:lnTo>
                    <a:lnTo>
                      <a:pt x="937" y="964"/>
                    </a:lnTo>
                    <a:lnTo>
                      <a:pt x="920" y="964"/>
                    </a:lnTo>
                    <a:lnTo>
                      <a:pt x="946" y="956"/>
                    </a:lnTo>
                    <a:lnTo>
                      <a:pt x="946" y="918"/>
                    </a:lnTo>
                    <a:lnTo>
                      <a:pt x="962" y="941"/>
                    </a:lnTo>
                    <a:lnTo>
                      <a:pt x="970" y="925"/>
                    </a:lnTo>
                    <a:lnTo>
                      <a:pt x="954" y="911"/>
                    </a:lnTo>
                    <a:lnTo>
                      <a:pt x="904" y="895"/>
                    </a:lnTo>
                    <a:lnTo>
                      <a:pt x="896" y="887"/>
                    </a:lnTo>
                    <a:lnTo>
                      <a:pt x="886" y="864"/>
                    </a:lnTo>
                    <a:lnTo>
                      <a:pt x="878" y="864"/>
                    </a:lnTo>
                    <a:lnTo>
                      <a:pt x="862" y="841"/>
                    </a:lnTo>
                    <a:lnTo>
                      <a:pt x="845" y="834"/>
                    </a:lnTo>
                    <a:lnTo>
                      <a:pt x="812" y="864"/>
                    </a:lnTo>
                    <a:lnTo>
                      <a:pt x="786" y="864"/>
                    </a:lnTo>
                    <a:lnTo>
                      <a:pt x="762" y="841"/>
                    </a:lnTo>
                    <a:lnTo>
                      <a:pt x="745" y="841"/>
                    </a:lnTo>
                    <a:lnTo>
                      <a:pt x="736" y="826"/>
                    </a:lnTo>
                    <a:lnTo>
                      <a:pt x="728" y="834"/>
                    </a:lnTo>
                    <a:lnTo>
                      <a:pt x="293" y="834"/>
                    </a:lnTo>
                    <a:lnTo>
                      <a:pt x="284" y="834"/>
                    </a:lnTo>
                    <a:lnTo>
                      <a:pt x="268" y="826"/>
                    </a:lnTo>
                    <a:lnTo>
                      <a:pt x="210" y="788"/>
                    </a:lnTo>
                    <a:lnTo>
                      <a:pt x="201" y="757"/>
                    </a:lnTo>
                    <a:lnTo>
                      <a:pt x="192" y="750"/>
                    </a:lnTo>
                    <a:lnTo>
                      <a:pt x="160" y="719"/>
                    </a:lnTo>
                    <a:lnTo>
                      <a:pt x="168" y="712"/>
                    </a:lnTo>
                    <a:lnTo>
                      <a:pt x="168" y="696"/>
                    </a:lnTo>
                    <a:lnTo>
                      <a:pt x="168" y="665"/>
                    </a:lnTo>
                    <a:lnTo>
                      <a:pt x="142" y="642"/>
                    </a:lnTo>
                    <a:lnTo>
                      <a:pt x="109" y="590"/>
                    </a:lnTo>
                    <a:lnTo>
                      <a:pt x="100" y="590"/>
                    </a:lnTo>
                    <a:lnTo>
                      <a:pt x="92" y="559"/>
                    </a:lnTo>
                    <a:lnTo>
                      <a:pt x="76" y="574"/>
                    </a:lnTo>
                    <a:lnTo>
                      <a:pt x="59" y="581"/>
                    </a:lnTo>
                    <a:lnTo>
                      <a:pt x="34" y="551"/>
                    </a:lnTo>
                    <a:lnTo>
                      <a:pt x="34" y="543"/>
                    </a:lnTo>
                    <a:lnTo>
                      <a:pt x="0" y="551"/>
                    </a:lnTo>
                    <a:lnTo>
                      <a:pt x="0" y="543"/>
                    </a:lnTo>
                    <a:lnTo>
                      <a:pt x="0" y="215"/>
                    </a:lnTo>
                    <a:lnTo>
                      <a:pt x="26" y="215"/>
                    </a:lnTo>
                    <a:lnTo>
                      <a:pt x="84" y="253"/>
                    </a:lnTo>
                    <a:lnTo>
                      <a:pt x="84" y="230"/>
                    </a:lnTo>
                    <a:lnTo>
                      <a:pt x="92" y="222"/>
                    </a:lnTo>
                    <a:lnTo>
                      <a:pt x="109" y="215"/>
                    </a:lnTo>
                    <a:lnTo>
                      <a:pt x="126" y="222"/>
                    </a:lnTo>
                    <a:lnTo>
                      <a:pt x="184" y="184"/>
                    </a:lnTo>
                    <a:lnTo>
                      <a:pt x="184" y="207"/>
                    </a:lnTo>
                    <a:lnTo>
                      <a:pt x="201" y="207"/>
                    </a:lnTo>
                    <a:lnTo>
                      <a:pt x="210" y="176"/>
                    </a:lnTo>
                    <a:lnTo>
                      <a:pt x="234" y="192"/>
                    </a:lnTo>
                    <a:lnTo>
                      <a:pt x="234" y="215"/>
                    </a:lnTo>
                    <a:lnTo>
                      <a:pt x="251" y="222"/>
                    </a:lnTo>
                    <a:lnTo>
                      <a:pt x="260" y="207"/>
                    </a:lnTo>
                    <a:lnTo>
                      <a:pt x="260" y="222"/>
                    </a:lnTo>
                    <a:lnTo>
                      <a:pt x="284" y="222"/>
                    </a:lnTo>
                    <a:lnTo>
                      <a:pt x="284" y="207"/>
                    </a:lnTo>
                    <a:lnTo>
                      <a:pt x="310" y="207"/>
                    </a:lnTo>
                    <a:lnTo>
                      <a:pt x="335" y="222"/>
                    </a:lnTo>
                    <a:lnTo>
                      <a:pt x="352" y="230"/>
                    </a:lnTo>
                    <a:lnTo>
                      <a:pt x="368" y="246"/>
                    </a:lnTo>
                    <a:lnTo>
                      <a:pt x="393" y="246"/>
                    </a:lnTo>
                    <a:lnTo>
                      <a:pt x="418" y="253"/>
                    </a:lnTo>
                    <a:lnTo>
                      <a:pt x="418" y="268"/>
                    </a:lnTo>
                    <a:lnTo>
                      <a:pt x="410" y="276"/>
                    </a:lnTo>
                    <a:lnTo>
                      <a:pt x="410" y="291"/>
                    </a:lnTo>
                    <a:lnTo>
                      <a:pt x="443" y="298"/>
                    </a:lnTo>
                    <a:lnTo>
                      <a:pt x="493" y="276"/>
                    </a:lnTo>
                    <a:lnTo>
                      <a:pt x="527" y="298"/>
                    </a:lnTo>
                    <a:lnTo>
                      <a:pt x="527" y="276"/>
                    </a:lnTo>
                    <a:lnTo>
                      <a:pt x="510" y="268"/>
                    </a:lnTo>
                    <a:lnTo>
                      <a:pt x="527" y="260"/>
                    </a:lnTo>
                    <a:lnTo>
                      <a:pt x="561" y="246"/>
                    </a:lnTo>
                    <a:lnTo>
                      <a:pt x="577" y="268"/>
                    </a:lnTo>
                    <a:lnTo>
                      <a:pt x="627" y="291"/>
                    </a:lnTo>
                    <a:lnTo>
                      <a:pt x="653" y="298"/>
                    </a:lnTo>
                    <a:lnTo>
                      <a:pt x="677" y="298"/>
                    </a:lnTo>
                    <a:lnTo>
                      <a:pt x="677" y="268"/>
                    </a:lnTo>
                    <a:lnTo>
                      <a:pt x="686" y="260"/>
                    </a:lnTo>
                    <a:lnTo>
                      <a:pt x="653" y="246"/>
                    </a:lnTo>
                    <a:lnTo>
                      <a:pt x="677" y="230"/>
                    </a:lnTo>
                    <a:lnTo>
                      <a:pt x="686" y="207"/>
                    </a:lnTo>
                    <a:lnTo>
                      <a:pt x="703" y="230"/>
                    </a:lnTo>
                    <a:lnTo>
                      <a:pt x="728" y="253"/>
                    </a:lnTo>
                    <a:lnTo>
                      <a:pt x="703" y="268"/>
                    </a:lnTo>
                    <a:lnTo>
                      <a:pt x="703" y="291"/>
                    </a:lnTo>
                    <a:lnTo>
                      <a:pt x="711" y="298"/>
                    </a:lnTo>
                    <a:lnTo>
                      <a:pt x="728" y="276"/>
                    </a:lnTo>
                    <a:lnTo>
                      <a:pt x="745" y="260"/>
                    </a:lnTo>
                    <a:lnTo>
                      <a:pt x="736" y="246"/>
                    </a:lnTo>
                    <a:lnTo>
                      <a:pt x="745" y="222"/>
                    </a:lnTo>
                    <a:lnTo>
                      <a:pt x="728" y="207"/>
                    </a:lnTo>
                    <a:lnTo>
                      <a:pt x="703" y="184"/>
                    </a:lnTo>
                    <a:lnTo>
                      <a:pt x="711" y="131"/>
                    </a:lnTo>
                    <a:lnTo>
                      <a:pt x="736" y="123"/>
                    </a:lnTo>
                    <a:lnTo>
                      <a:pt x="736" y="69"/>
                    </a:lnTo>
                    <a:lnTo>
                      <a:pt x="728" y="24"/>
                    </a:lnTo>
                    <a:lnTo>
                      <a:pt x="728" y="8"/>
                    </a:lnTo>
                    <a:lnTo>
                      <a:pt x="762" y="0"/>
                    </a:lnTo>
                    <a:lnTo>
                      <a:pt x="795" y="8"/>
                    </a:lnTo>
                    <a:lnTo>
                      <a:pt x="803" y="16"/>
                    </a:lnTo>
                    <a:lnTo>
                      <a:pt x="778" y="69"/>
                    </a:lnTo>
                    <a:lnTo>
                      <a:pt x="762" y="69"/>
                    </a:lnTo>
                    <a:lnTo>
                      <a:pt x="745" y="85"/>
                    </a:lnTo>
                    <a:lnTo>
                      <a:pt x="753" y="100"/>
                    </a:lnTo>
                    <a:lnTo>
                      <a:pt x="745" y="115"/>
                    </a:lnTo>
                    <a:lnTo>
                      <a:pt x="786" y="192"/>
                    </a:lnTo>
                    <a:lnTo>
                      <a:pt x="778" y="215"/>
                    </a:lnTo>
                    <a:lnTo>
                      <a:pt x="786" y="222"/>
                    </a:lnTo>
                    <a:lnTo>
                      <a:pt x="812" y="260"/>
                    </a:lnTo>
                    <a:lnTo>
                      <a:pt x="828" y="230"/>
                    </a:lnTo>
                    <a:lnTo>
                      <a:pt x="845" y="253"/>
                    </a:lnTo>
                    <a:lnTo>
                      <a:pt x="836" y="291"/>
                    </a:lnTo>
                    <a:lnTo>
                      <a:pt x="854" y="307"/>
                    </a:lnTo>
                    <a:lnTo>
                      <a:pt x="862" y="307"/>
                    </a:lnTo>
                    <a:lnTo>
                      <a:pt x="862" y="291"/>
                    </a:lnTo>
                    <a:lnTo>
                      <a:pt x="886" y="276"/>
                    </a:lnTo>
                    <a:lnTo>
                      <a:pt x="886" y="207"/>
                    </a:lnTo>
                    <a:lnTo>
                      <a:pt x="904" y="207"/>
                    </a:lnTo>
                    <a:lnTo>
                      <a:pt x="920" y="215"/>
                    </a:lnTo>
                    <a:lnTo>
                      <a:pt x="920" y="230"/>
                    </a:lnTo>
                    <a:lnTo>
                      <a:pt x="946" y="230"/>
                    </a:lnTo>
                    <a:lnTo>
                      <a:pt x="946" y="260"/>
                    </a:lnTo>
                    <a:lnTo>
                      <a:pt x="920" y="268"/>
                    </a:lnTo>
                    <a:lnTo>
                      <a:pt x="920" y="291"/>
                    </a:lnTo>
                    <a:lnTo>
                      <a:pt x="946" y="298"/>
                    </a:lnTo>
                    <a:lnTo>
                      <a:pt x="946" y="314"/>
                    </a:lnTo>
                    <a:lnTo>
                      <a:pt x="904" y="352"/>
                    </a:lnTo>
                    <a:lnTo>
                      <a:pt x="886" y="345"/>
                    </a:lnTo>
                    <a:lnTo>
                      <a:pt x="886" y="337"/>
                    </a:lnTo>
                    <a:lnTo>
                      <a:pt x="862" y="337"/>
                    </a:lnTo>
                    <a:lnTo>
                      <a:pt x="878" y="352"/>
                    </a:lnTo>
                    <a:lnTo>
                      <a:pt x="854" y="375"/>
                    </a:lnTo>
                    <a:lnTo>
                      <a:pt x="854" y="391"/>
                    </a:lnTo>
                    <a:lnTo>
                      <a:pt x="836" y="429"/>
                    </a:lnTo>
                    <a:lnTo>
                      <a:pt x="812" y="429"/>
                    </a:lnTo>
                    <a:lnTo>
                      <a:pt x="795" y="452"/>
                    </a:lnTo>
                    <a:lnTo>
                      <a:pt x="803" y="467"/>
                    </a:lnTo>
                    <a:lnTo>
                      <a:pt x="778" y="475"/>
                    </a:lnTo>
                    <a:lnTo>
                      <a:pt x="778" y="497"/>
                    </a:lnTo>
                    <a:lnTo>
                      <a:pt x="762" y="497"/>
                    </a:lnTo>
                    <a:lnTo>
                      <a:pt x="753" y="505"/>
                    </a:lnTo>
                    <a:lnTo>
                      <a:pt x="736" y="551"/>
                    </a:lnTo>
                    <a:lnTo>
                      <a:pt x="736" y="581"/>
                    </a:lnTo>
                    <a:lnTo>
                      <a:pt x="745" y="590"/>
                    </a:lnTo>
                    <a:lnTo>
                      <a:pt x="762" y="590"/>
                    </a:lnTo>
                    <a:lnTo>
                      <a:pt x="778" y="642"/>
                    </a:lnTo>
                    <a:lnTo>
                      <a:pt x="795" y="635"/>
                    </a:lnTo>
                    <a:lnTo>
                      <a:pt x="828" y="642"/>
                    </a:lnTo>
                    <a:lnTo>
                      <a:pt x="845" y="665"/>
                    </a:lnTo>
                    <a:lnTo>
                      <a:pt x="886" y="681"/>
                    </a:lnTo>
                    <a:lnTo>
                      <a:pt x="920" y="681"/>
                    </a:lnTo>
                    <a:lnTo>
                      <a:pt x="937" y="696"/>
                    </a:lnTo>
                    <a:lnTo>
                      <a:pt x="937" y="750"/>
                    </a:lnTo>
                    <a:lnTo>
                      <a:pt x="970" y="788"/>
                    </a:lnTo>
                    <a:lnTo>
                      <a:pt x="996" y="765"/>
                    </a:lnTo>
                    <a:lnTo>
                      <a:pt x="970" y="704"/>
                    </a:lnTo>
                    <a:lnTo>
                      <a:pt x="996" y="696"/>
                    </a:lnTo>
                    <a:lnTo>
                      <a:pt x="1012" y="665"/>
                    </a:lnTo>
                    <a:lnTo>
                      <a:pt x="1004" y="612"/>
                    </a:lnTo>
                    <a:lnTo>
                      <a:pt x="987" y="590"/>
                    </a:lnTo>
                    <a:lnTo>
                      <a:pt x="996" y="581"/>
                    </a:lnTo>
                    <a:lnTo>
                      <a:pt x="1004" y="581"/>
                    </a:lnTo>
                    <a:lnTo>
                      <a:pt x="1004" y="543"/>
                    </a:lnTo>
                    <a:lnTo>
                      <a:pt x="996" y="536"/>
                    </a:lnTo>
                    <a:lnTo>
                      <a:pt x="1004" y="505"/>
                    </a:lnTo>
                    <a:lnTo>
                      <a:pt x="996" y="497"/>
                    </a:lnTo>
                    <a:lnTo>
                      <a:pt x="996" y="490"/>
                    </a:lnTo>
                    <a:lnTo>
                      <a:pt x="1004" y="475"/>
                    </a:lnTo>
                    <a:lnTo>
                      <a:pt x="1037" y="490"/>
                    </a:lnTo>
                    <a:lnTo>
                      <a:pt x="1062" y="475"/>
                    </a:lnTo>
                    <a:lnTo>
                      <a:pt x="1104" y="505"/>
                    </a:lnTo>
                    <a:lnTo>
                      <a:pt x="1096" y="513"/>
                    </a:lnTo>
                    <a:lnTo>
                      <a:pt x="1104" y="520"/>
                    </a:lnTo>
                    <a:lnTo>
                      <a:pt x="1138" y="520"/>
                    </a:lnTo>
                    <a:lnTo>
                      <a:pt x="1138" y="581"/>
                    </a:lnTo>
                    <a:lnTo>
                      <a:pt x="1163" y="612"/>
                    </a:lnTo>
                    <a:lnTo>
                      <a:pt x="1204" y="574"/>
                    </a:lnTo>
                    <a:lnTo>
                      <a:pt x="1196" y="559"/>
                    </a:lnTo>
                    <a:lnTo>
                      <a:pt x="1204" y="543"/>
                    </a:lnTo>
                    <a:lnTo>
                      <a:pt x="1263" y="635"/>
                    </a:lnTo>
                    <a:lnTo>
                      <a:pt x="1255" y="642"/>
                    </a:lnTo>
                    <a:lnTo>
                      <a:pt x="1255" y="665"/>
                    </a:lnTo>
                    <a:lnTo>
                      <a:pt x="1271" y="673"/>
                    </a:lnTo>
                    <a:lnTo>
                      <a:pt x="1271" y="681"/>
                    </a:lnTo>
                    <a:lnTo>
                      <a:pt x="1297" y="696"/>
                    </a:lnTo>
                    <a:lnTo>
                      <a:pt x="1305" y="696"/>
                    </a:lnTo>
                    <a:lnTo>
                      <a:pt x="1321" y="704"/>
                    </a:lnTo>
                    <a:lnTo>
                      <a:pt x="1305" y="712"/>
                    </a:lnTo>
                    <a:lnTo>
                      <a:pt x="1321" y="712"/>
                    </a:lnTo>
                    <a:lnTo>
                      <a:pt x="1321" y="735"/>
                    </a:lnTo>
                    <a:lnTo>
                      <a:pt x="1338" y="735"/>
                    </a:lnTo>
                    <a:lnTo>
                      <a:pt x="1347" y="742"/>
                    </a:lnTo>
                    <a:lnTo>
                      <a:pt x="1347" y="750"/>
                    </a:lnTo>
                    <a:lnTo>
                      <a:pt x="1355" y="765"/>
                    </a:lnTo>
                    <a:lnTo>
                      <a:pt x="1338" y="780"/>
                    </a:lnTo>
                    <a:lnTo>
                      <a:pt x="1305" y="788"/>
                    </a:lnTo>
                    <a:lnTo>
                      <a:pt x="1288" y="819"/>
                    </a:lnTo>
                    <a:lnTo>
                      <a:pt x="1255" y="819"/>
                    </a:lnTo>
                    <a:lnTo>
                      <a:pt x="1221" y="803"/>
                    </a:lnTo>
                    <a:lnTo>
                      <a:pt x="1171" y="819"/>
                    </a:lnTo>
                    <a:lnTo>
                      <a:pt x="1163" y="834"/>
                    </a:lnTo>
                    <a:lnTo>
                      <a:pt x="1154" y="834"/>
                    </a:lnTo>
                    <a:lnTo>
                      <a:pt x="1138" y="841"/>
                    </a:lnTo>
                    <a:lnTo>
                      <a:pt x="1104" y="880"/>
                    </a:lnTo>
                    <a:lnTo>
                      <a:pt x="1112" y="880"/>
                    </a:lnTo>
                    <a:lnTo>
                      <a:pt x="1146" y="849"/>
                    </a:lnTo>
                    <a:lnTo>
                      <a:pt x="1171" y="834"/>
                    </a:lnTo>
                    <a:lnTo>
                      <a:pt x="1204" y="834"/>
                    </a:lnTo>
                    <a:lnTo>
                      <a:pt x="1213" y="834"/>
                    </a:lnTo>
                    <a:lnTo>
                      <a:pt x="1213" y="849"/>
                    </a:lnTo>
                    <a:lnTo>
                      <a:pt x="1196" y="864"/>
                    </a:lnTo>
                    <a:lnTo>
                      <a:pt x="1188" y="864"/>
                    </a:lnTo>
                    <a:lnTo>
                      <a:pt x="1196" y="872"/>
                    </a:lnTo>
                    <a:lnTo>
                      <a:pt x="1204" y="864"/>
                    </a:lnTo>
                    <a:lnTo>
                      <a:pt x="1204" y="887"/>
                    </a:lnTo>
                    <a:lnTo>
                      <a:pt x="1213" y="895"/>
                    </a:lnTo>
                    <a:lnTo>
                      <a:pt x="1238" y="911"/>
                    </a:lnTo>
                    <a:lnTo>
                      <a:pt x="1255" y="911"/>
                    </a:lnTo>
                    <a:lnTo>
                      <a:pt x="1255" y="895"/>
                    </a:lnTo>
                    <a:lnTo>
                      <a:pt x="1271" y="880"/>
                    </a:lnTo>
                    <a:lnTo>
                      <a:pt x="1271" y="895"/>
                    </a:lnTo>
                    <a:lnTo>
                      <a:pt x="1288" y="895"/>
                    </a:lnTo>
                    <a:lnTo>
                      <a:pt x="1271" y="911"/>
                    </a:lnTo>
                    <a:lnTo>
                      <a:pt x="1263" y="918"/>
                    </a:lnTo>
                    <a:lnTo>
                      <a:pt x="1213" y="941"/>
                    </a:lnTo>
                    <a:lnTo>
                      <a:pt x="1196" y="956"/>
                    </a:lnTo>
                    <a:lnTo>
                      <a:pt x="1188" y="941"/>
                    </a:lnTo>
                    <a:lnTo>
                      <a:pt x="1213" y="918"/>
                    </a:lnTo>
                    <a:lnTo>
                      <a:pt x="1204" y="918"/>
                    </a:lnTo>
                    <a:lnTo>
                      <a:pt x="1204" y="911"/>
                    </a:lnTo>
                    <a:lnTo>
                      <a:pt x="1188" y="918"/>
                    </a:lnTo>
                    <a:lnTo>
                      <a:pt x="1171" y="918"/>
                    </a:lnTo>
                    <a:lnTo>
                      <a:pt x="1163" y="911"/>
                    </a:lnTo>
                    <a:lnTo>
                      <a:pt x="1154" y="880"/>
                    </a:lnTo>
                    <a:lnTo>
                      <a:pt x="1154" y="872"/>
                    </a:lnTo>
                    <a:lnTo>
                      <a:pt x="1146" y="880"/>
                    </a:lnTo>
                    <a:lnTo>
                      <a:pt x="1138" y="872"/>
                    </a:lnTo>
                    <a:lnTo>
                      <a:pt x="1112" y="918"/>
                    </a:lnTo>
                    <a:lnTo>
                      <a:pt x="1096" y="925"/>
                    </a:lnTo>
                    <a:lnTo>
                      <a:pt x="1046" y="925"/>
                    </a:lnTo>
                    <a:lnTo>
                      <a:pt x="1020" y="941"/>
                    </a:lnTo>
                    <a:lnTo>
                      <a:pt x="1012" y="948"/>
                    </a:lnTo>
                    <a:lnTo>
                      <a:pt x="987" y="94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1" name="Freeform 43"/>
              <p:cNvSpPr>
                <a:spLocks/>
              </p:cNvSpPr>
              <p:nvPr/>
            </p:nvSpPr>
            <p:spPr bwMode="auto">
              <a:xfrm>
                <a:off x="2352976" y="3389737"/>
                <a:ext cx="188308" cy="175873"/>
              </a:xfrm>
              <a:custGeom>
                <a:avLst/>
                <a:gdLst>
                  <a:gd name="T0" fmla="*/ 10684 w 126"/>
                  <a:gd name="T1" fmla="*/ 0 h 101"/>
                  <a:gd name="T2" fmla="*/ 10684 w 126"/>
                  <a:gd name="T3" fmla="*/ 24897 h 101"/>
                  <a:gd name="T4" fmla="*/ 4007 w 126"/>
                  <a:gd name="T5" fmla="*/ 24897 h 101"/>
                  <a:gd name="T6" fmla="*/ 0 w 126"/>
                  <a:gd name="T7" fmla="*/ 54462 h 101"/>
                  <a:gd name="T8" fmla="*/ 4007 w 126"/>
                  <a:gd name="T9" fmla="*/ 38902 h 101"/>
                  <a:gd name="T10" fmla="*/ 0 w 126"/>
                  <a:gd name="T11" fmla="*/ 90252 h 101"/>
                  <a:gd name="T12" fmla="*/ 0 w 126"/>
                  <a:gd name="T13" fmla="*/ 112037 h 101"/>
                  <a:gd name="T14" fmla="*/ 0 w 126"/>
                  <a:gd name="T15" fmla="*/ 121373 h 101"/>
                  <a:gd name="T16" fmla="*/ 4007 w 126"/>
                  <a:gd name="T17" fmla="*/ 121373 h 101"/>
                  <a:gd name="T18" fmla="*/ 4007 w 126"/>
                  <a:gd name="T19" fmla="*/ 112037 h 101"/>
                  <a:gd name="T20" fmla="*/ 4007 w 126"/>
                  <a:gd name="T21" fmla="*/ 65355 h 101"/>
                  <a:gd name="T22" fmla="*/ 6678 w 126"/>
                  <a:gd name="T23" fmla="*/ 38902 h 101"/>
                  <a:gd name="T24" fmla="*/ 8013 w 126"/>
                  <a:gd name="T25" fmla="*/ 35790 h 101"/>
                  <a:gd name="T26" fmla="*/ 8013 w 126"/>
                  <a:gd name="T27" fmla="*/ 24897 h 101"/>
                  <a:gd name="T28" fmla="*/ 13355 w 126"/>
                  <a:gd name="T29" fmla="*/ 35790 h 101"/>
                  <a:gd name="T30" fmla="*/ 13355 w 126"/>
                  <a:gd name="T31" fmla="*/ 54462 h 101"/>
                  <a:gd name="T32" fmla="*/ 10684 w 126"/>
                  <a:gd name="T33" fmla="*/ 77803 h 101"/>
                  <a:gd name="T34" fmla="*/ 14691 w 126"/>
                  <a:gd name="T35" fmla="*/ 65355 h 101"/>
                  <a:gd name="T36" fmla="*/ 14691 w 126"/>
                  <a:gd name="T37" fmla="*/ 90252 h 101"/>
                  <a:gd name="T38" fmla="*/ 18697 w 126"/>
                  <a:gd name="T39" fmla="*/ 77803 h 101"/>
                  <a:gd name="T40" fmla="*/ 18697 w 126"/>
                  <a:gd name="T41" fmla="*/ 35790 h 101"/>
                  <a:gd name="T42" fmla="*/ 22704 w 126"/>
                  <a:gd name="T43" fmla="*/ 54462 h 101"/>
                  <a:gd name="T44" fmla="*/ 25375 w 126"/>
                  <a:gd name="T45" fmla="*/ 38902 h 101"/>
                  <a:gd name="T46" fmla="*/ 22704 w 126"/>
                  <a:gd name="T47" fmla="*/ 24897 h 101"/>
                  <a:gd name="T48" fmla="*/ 10684 w 126"/>
                  <a:gd name="T49" fmla="*/ 0 h 10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6"/>
                  <a:gd name="T76" fmla="*/ 0 h 101"/>
                  <a:gd name="T77" fmla="*/ 126 w 126"/>
                  <a:gd name="T78" fmla="*/ 101 h 10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6" h="101">
                    <a:moveTo>
                      <a:pt x="58" y="0"/>
                    </a:moveTo>
                    <a:lnTo>
                      <a:pt x="58" y="16"/>
                    </a:lnTo>
                    <a:lnTo>
                      <a:pt x="8" y="16"/>
                    </a:lnTo>
                    <a:lnTo>
                      <a:pt x="0" y="46"/>
                    </a:lnTo>
                    <a:lnTo>
                      <a:pt x="8" y="30"/>
                    </a:lnTo>
                    <a:lnTo>
                      <a:pt x="0" y="69"/>
                    </a:lnTo>
                    <a:lnTo>
                      <a:pt x="0" y="91"/>
                    </a:lnTo>
                    <a:lnTo>
                      <a:pt x="0" y="100"/>
                    </a:lnTo>
                    <a:lnTo>
                      <a:pt x="8" y="100"/>
                    </a:lnTo>
                    <a:lnTo>
                      <a:pt x="16" y="91"/>
                    </a:lnTo>
                    <a:lnTo>
                      <a:pt x="16" y="53"/>
                    </a:lnTo>
                    <a:lnTo>
                      <a:pt x="33" y="30"/>
                    </a:lnTo>
                    <a:lnTo>
                      <a:pt x="41" y="23"/>
                    </a:lnTo>
                    <a:lnTo>
                      <a:pt x="41" y="16"/>
                    </a:lnTo>
                    <a:lnTo>
                      <a:pt x="66" y="23"/>
                    </a:lnTo>
                    <a:lnTo>
                      <a:pt x="66" y="46"/>
                    </a:lnTo>
                    <a:lnTo>
                      <a:pt x="58" y="61"/>
                    </a:lnTo>
                    <a:lnTo>
                      <a:pt x="75" y="53"/>
                    </a:lnTo>
                    <a:lnTo>
                      <a:pt x="75" y="69"/>
                    </a:lnTo>
                    <a:lnTo>
                      <a:pt x="100" y="61"/>
                    </a:lnTo>
                    <a:lnTo>
                      <a:pt x="100" y="23"/>
                    </a:lnTo>
                    <a:lnTo>
                      <a:pt x="117" y="46"/>
                    </a:lnTo>
                    <a:lnTo>
                      <a:pt x="125" y="30"/>
                    </a:lnTo>
                    <a:lnTo>
                      <a:pt x="108" y="16"/>
                    </a:lnTo>
                    <a:lnTo>
                      <a:pt x="5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2" name="Freeform 44"/>
              <p:cNvSpPr>
                <a:spLocks/>
              </p:cNvSpPr>
              <p:nvPr/>
            </p:nvSpPr>
            <p:spPr bwMode="auto">
              <a:xfrm>
                <a:off x="2251717" y="3284925"/>
                <a:ext cx="177649" cy="94153"/>
              </a:xfrm>
              <a:custGeom>
                <a:avLst/>
                <a:gdLst>
                  <a:gd name="T0" fmla="*/ 25561 w 118"/>
                  <a:gd name="T1" fmla="*/ 65440 h 54"/>
                  <a:gd name="T2" fmla="*/ 24216 w 118"/>
                  <a:gd name="T3" fmla="*/ 65440 h 54"/>
                  <a:gd name="T4" fmla="*/ 16144 w 118"/>
                  <a:gd name="T5" fmla="*/ 65440 h 54"/>
                  <a:gd name="T6" fmla="*/ 14799 w 118"/>
                  <a:gd name="T7" fmla="*/ 54533 h 54"/>
                  <a:gd name="T8" fmla="*/ 13453 w 118"/>
                  <a:gd name="T9" fmla="*/ 65440 h 54"/>
                  <a:gd name="T10" fmla="*/ 13453 w 118"/>
                  <a:gd name="T11" fmla="*/ 54533 h 54"/>
                  <a:gd name="T12" fmla="*/ 5381 w 118"/>
                  <a:gd name="T13" fmla="*/ 65440 h 54"/>
                  <a:gd name="T14" fmla="*/ 4036 w 118"/>
                  <a:gd name="T15" fmla="*/ 54533 h 54"/>
                  <a:gd name="T16" fmla="*/ 0 w 118"/>
                  <a:gd name="T17" fmla="*/ 65440 h 54"/>
                  <a:gd name="T18" fmla="*/ 8072 w 118"/>
                  <a:gd name="T19" fmla="*/ 42069 h 54"/>
                  <a:gd name="T20" fmla="*/ 14799 w 118"/>
                  <a:gd name="T21" fmla="*/ 0 h 54"/>
                  <a:gd name="T22" fmla="*/ 18835 w 118"/>
                  <a:gd name="T23" fmla="*/ 10907 h 54"/>
                  <a:gd name="T24" fmla="*/ 21525 w 118"/>
                  <a:gd name="T25" fmla="*/ 42069 h 54"/>
                  <a:gd name="T26" fmla="*/ 24216 w 118"/>
                  <a:gd name="T27" fmla="*/ 42069 h 54"/>
                  <a:gd name="T28" fmla="*/ 25561 w 118"/>
                  <a:gd name="T29" fmla="*/ 65440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8"/>
                  <a:gd name="T46" fmla="*/ 0 h 54"/>
                  <a:gd name="T47" fmla="*/ 118 w 118"/>
                  <a:gd name="T48" fmla="*/ 54 h 5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8" h="54">
                    <a:moveTo>
                      <a:pt x="117" y="53"/>
                    </a:moveTo>
                    <a:lnTo>
                      <a:pt x="108" y="53"/>
                    </a:lnTo>
                    <a:lnTo>
                      <a:pt x="75" y="53"/>
                    </a:lnTo>
                    <a:lnTo>
                      <a:pt x="67" y="46"/>
                    </a:lnTo>
                    <a:lnTo>
                      <a:pt x="58" y="53"/>
                    </a:lnTo>
                    <a:lnTo>
                      <a:pt x="58" y="46"/>
                    </a:lnTo>
                    <a:lnTo>
                      <a:pt x="25" y="53"/>
                    </a:lnTo>
                    <a:lnTo>
                      <a:pt x="17" y="46"/>
                    </a:lnTo>
                    <a:lnTo>
                      <a:pt x="0" y="53"/>
                    </a:lnTo>
                    <a:lnTo>
                      <a:pt x="34" y="30"/>
                    </a:lnTo>
                    <a:lnTo>
                      <a:pt x="67" y="0"/>
                    </a:lnTo>
                    <a:lnTo>
                      <a:pt x="83" y="7"/>
                    </a:lnTo>
                    <a:lnTo>
                      <a:pt x="100" y="30"/>
                    </a:lnTo>
                    <a:lnTo>
                      <a:pt x="108" y="30"/>
                    </a:lnTo>
                    <a:lnTo>
                      <a:pt x="117" y="5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3" name="Freeform 45"/>
              <p:cNvSpPr>
                <a:spLocks/>
              </p:cNvSpPr>
              <p:nvPr/>
            </p:nvSpPr>
            <p:spPr bwMode="auto">
              <a:xfrm>
                <a:off x="2452459" y="3510538"/>
                <a:ext cx="111919" cy="55072"/>
              </a:xfrm>
              <a:custGeom>
                <a:avLst/>
                <a:gdLst>
                  <a:gd name="T0" fmla="*/ 0 w 75"/>
                  <a:gd name="T1" fmla="*/ 30758 h 32"/>
                  <a:gd name="T2" fmla="*/ 5334 w 75"/>
                  <a:gd name="T3" fmla="*/ 24607 h 32"/>
                  <a:gd name="T4" fmla="*/ 6668 w 75"/>
                  <a:gd name="T5" fmla="*/ 12303 h 32"/>
                  <a:gd name="T6" fmla="*/ 14669 w 75"/>
                  <a:gd name="T7" fmla="*/ 0 h 32"/>
                  <a:gd name="T8" fmla="*/ 6668 w 75"/>
                  <a:gd name="T9" fmla="*/ 30758 h 32"/>
                  <a:gd name="T10" fmla="*/ 4001 w 75"/>
                  <a:gd name="T11" fmla="*/ 30758 h 32"/>
                  <a:gd name="T12" fmla="*/ 0 w 75"/>
                  <a:gd name="T13" fmla="*/ 30758 h 32"/>
                  <a:gd name="T14" fmla="*/ 0 60000 65536"/>
                  <a:gd name="T15" fmla="*/ 0 60000 65536"/>
                  <a:gd name="T16" fmla="*/ 0 60000 65536"/>
                  <a:gd name="T17" fmla="*/ 0 60000 65536"/>
                  <a:gd name="T18" fmla="*/ 0 60000 65536"/>
                  <a:gd name="T19" fmla="*/ 0 60000 65536"/>
                  <a:gd name="T20" fmla="*/ 0 60000 65536"/>
                  <a:gd name="T21" fmla="*/ 0 w 75"/>
                  <a:gd name="T22" fmla="*/ 0 h 32"/>
                  <a:gd name="T23" fmla="*/ 75 w 75"/>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32">
                    <a:moveTo>
                      <a:pt x="0" y="31"/>
                    </a:moveTo>
                    <a:lnTo>
                      <a:pt x="25" y="22"/>
                    </a:lnTo>
                    <a:lnTo>
                      <a:pt x="34" y="8"/>
                    </a:lnTo>
                    <a:lnTo>
                      <a:pt x="74" y="0"/>
                    </a:lnTo>
                    <a:lnTo>
                      <a:pt x="34" y="31"/>
                    </a:lnTo>
                    <a:lnTo>
                      <a:pt x="8" y="31"/>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4" name="Freeform 46"/>
              <p:cNvSpPr>
                <a:spLocks/>
              </p:cNvSpPr>
              <p:nvPr/>
            </p:nvSpPr>
            <p:spPr bwMode="auto">
              <a:xfrm>
                <a:off x="2452459" y="3510538"/>
                <a:ext cx="111919" cy="55072"/>
              </a:xfrm>
              <a:custGeom>
                <a:avLst/>
                <a:gdLst>
                  <a:gd name="T0" fmla="*/ 0 w 75"/>
                  <a:gd name="T1" fmla="*/ 30758 h 32"/>
                  <a:gd name="T2" fmla="*/ 5334 w 75"/>
                  <a:gd name="T3" fmla="*/ 24607 h 32"/>
                  <a:gd name="T4" fmla="*/ 6668 w 75"/>
                  <a:gd name="T5" fmla="*/ 12303 h 32"/>
                  <a:gd name="T6" fmla="*/ 14669 w 75"/>
                  <a:gd name="T7" fmla="*/ 0 h 32"/>
                  <a:gd name="T8" fmla="*/ 6668 w 75"/>
                  <a:gd name="T9" fmla="*/ 30758 h 32"/>
                  <a:gd name="T10" fmla="*/ 4001 w 75"/>
                  <a:gd name="T11" fmla="*/ 30758 h 32"/>
                  <a:gd name="T12" fmla="*/ 0 w 75"/>
                  <a:gd name="T13" fmla="*/ 30758 h 32"/>
                  <a:gd name="T14" fmla="*/ 0 60000 65536"/>
                  <a:gd name="T15" fmla="*/ 0 60000 65536"/>
                  <a:gd name="T16" fmla="*/ 0 60000 65536"/>
                  <a:gd name="T17" fmla="*/ 0 60000 65536"/>
                  <a:gd name="T18" fmla="*/ 0 60000 65536"/>
                  <a:gd name="T19" fmla="*/ 0 60000 65536"/>
                  <a:gd name="T20" fmla="*/ 0 60000 65536"/>
                  <a:gd name="T21" fmla="*/ 0 w 75"/>
                  <a:gd name="T22" fmla="*/ 0 h 32"/>
                  <a:gd name="T23" fmla="*/ 75 w 75"/>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 h="32">
                    <a:moveTo>
                      <a:pt x="0" y="31"/>
                    </a:moveTo>
                    <a:lnTo>
                      <a:pt x="25" y="22"/>
                    </a:lnTo>
                    <a:lnTo>
                      <a:pt x="34" y="8"/>
                    </a:lnTo>
                    <a:lnTo>
                      <a:pt x="74" y="0"/>
                    </a:lnTo>
                    <a:lnTo>
                      <a:pt x="34" y="31"/>
                    </a:lnTo>
                    <a:lnTo>
                      <a:pt x="8" y="31"/>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5" name="Freeform 47"/>
              <p:cNvSpPr>
                <a:spLocks/>
              </p:cNvSpPr>
              <p:nvPr/>
            </p:nvSpPr>
            <p:spPr bwMode="auto">
              <a:xfrm>
                <a:off x="2562601" y="3469680"/>
                <a:ext cx="53295" cy="30200"/>
              </a:xfrm>
              <a:custGeom>
                <a:avLst/>
                <a:gdLst>
                  <a:gd name="T0" fmla="*/ 0 w 35"/>
                  <a:gd name="T1" fmla="*/ 25400 h 17"/>
                  <a:gd name="T2" fmla="*/ 0 w 35"/>
                  <a:gd name="T3" fmla="*/ 12700 h 17"/>
                  <a:gd name="T4" fmla="*/ 6804 w 35"/>
                  <a:gd name="T5" fmla="*/ 12700 h 17"/>
                  <a:gd name="T6" fmla="*/ 8164 w 35"/>
                  <a:gd name="T7" fmla="*/ 0 h 17"/>
                  <a:gd name="T8" fmla="*/ 8164 w 35"/>
                  <a:gd name="T9" fmla="*/ 25400 h 17"/>
                  <a:gd name="T10" fmla="*/ 0 w 35"/>
                  <a:gd name="T11" fmla="*/ 25400 h 17"/>
                  <a:gd name="T12" fmla="*/ 0 60000 65536"/>
                  <a:gd name="T13" fmla="*/ 0 60000 65536"/>
                  <a:gd name="T14" fmla="*/ 0 60000 65536"/>
                  <a:gd name="T15" fmla="*/ 0 60000 65536"/>
                  <a:gd name="T16" fmla="*/ 0 60000 65536"/>
                  <a:gd name="T17" fmla="*/ 0 60000 65536"/>
                  <a:gd name="T18" fmla="*/ 0 w 35"/>
                  <a:gd name="T19" fmla="*/ 0 h 17"/>
                  <a:gd name="T20" fmla="*/ 35 w 35"/>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5" h="17">
                    <a:moveTo>
                      <a:pt x="0" y="16"/>
                    </a:moveTo>
                    <a:lnTo>
                      <a:pt x="0" y="8"/>
                    </a:lnTo>
                    <a:lnTo>
                      <a:pt x="26" y="8"/>
                    </a:lnTo>
                    <a:lnTo>
                      <a:pt x="34" y="0"/>
                    </a:lnTo>
                    <a:lnTo>
                      <a:pt x="34" y="16"/>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6" name="Freeform 48"/>
              <p:cNvSpPr>
                <a:spLocks/>
              </p:cNvSpPr>
              <p:nvPr/>
            </p:nvSpPr>
            <p:spPr bwMode="auto">
              <a:xfrm>
                <a:off x="2562601" y="3469680"/>
                <a:ext cx="53295" cy="30200"/>
              </a:xfrm>
              <a:custGeom>
                <a:avLst/>
                <a:gdLst>
                  <a:gd name="T0" fmla="*/ 0 w 35"/>
                  <a:gd name="T1" fmla="*/ 25400 h 17"/>
                  <a:gd name="T2" fmla="*/ 0 w 35"/>
                  <a:gd name="T3" fmla="*/ 12700 h 17"/>
                  <a:gd name="T4" fmla="*/ 6804 w 35"/>
                  <a:gd name="T5" fmla="*/ 12700 h 17"/>
                  <a:gd name="T6" fmla="*/ 8164 w 35"/>
                  <a:gd name="T7" fmla="*/ 0 h 17"/>
                  <a:gd name="T8" fmla="*/ 8164 w 35"/>
                  <a:gd name="T9" fmla="*/ 25400 h 17"/>
                  <a:gd name="T10" fmla="*/ 0 w 35"/>
                  <a:gd name="T11" fmla="*/ 25400 h 17"/>
                  <a:gd name="T12" fmla="*/ 0 60000 65536"/>
                  <a:gd name="T13" fmla="*/ 0 60000 65536"/>
                  <a:gd name="T14" fmla="*/ 0 60000 65536"/>
                  <a:gd name="T15" fmla="*/ 0 60000 65536"/>
                  <a:gd name="T16" fmla="*/ 0 60000 65536"/>
                  <a:gd name="T17" fmla="*/ 0 60000 65536"/>
                  <a:gd name="T18" fmla="*/ 0 w 35"/>
                  <a:gd name="T19" fmla="*/ 0 h 17"/>
                  <a:gd name="T20" fmla="*/ 35 w 35"/>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5" h="17">
                    <a:moveTo>
                      <a:pt x="0" y="16"/>
                    </a:moveTo>
                    <a:lnTo>
                      <a:pt x="0" y="8"/>
                    </a:lnTo>
                    <a:lnTo>
                      <a:pt x="26" y="8"/>
                    </a:lnTo>
                    <a:lnTo>
                      <a:pt x="34" y="0"/>
                    </a:lnTo>
                    <a:lnTo>
                      <a:pt x="34" y="16"/>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7" name="Freeform 49"/>
              <p:cNvSpPr>
                <a:spLocks/>
              </p:cNvSpPr>
              <p:nvPr/>
            </p:nvSpPr>
            <p:spPr bwMode="auto">
              <a:xfrm>
                <a:off x="2688733" y="3576269"/>
                <a:ext cx="51518" cy="12435"/>
              </a:xfrm>
              <a:custGeom>
                <a:avLst/>
                <a:gdLst>
                  <a:gd name="T0" fmla="*/ 0 w 35"/>
                  <a:gd name="T1" fmla="*/ 5556 h 8"/>
                  <a:gd name="T2" fmla="*/ 2631 w 35"/>
                  <a:gd name="T3" fmla="*/ 5556 h 8"/>
                  <a:gd name="T4" fmla="*/ 5261 w 35"/>
                  <a:gd name="T5" fmla="*/ 0 h 8"/>
                  <a:gd name="T6" fmla="*/ 3946 w 35"/>
                  <a:gd name="T7" fmla="*/ 0 h 8"/>
                  <a:gd name="T8" fmla="*/ 0 w 35"/>
                  <a:gd name="T9" fmla="*/ 5556 h 8"/>
                  <a:gd name="T10" fmla="*/ 0 60000 65536"/>
                  <a:gd name="T11" fmla="*/ 0 60000 65536"/>
                  <a:gd name="T12" fmla="*/ 0 60000 65536"/>
                  <a:gd name="T13" fmla="*/ 0 60000 65536"/>
                  <a:gd name="T14" fmla="*/ 0 60000 65536"/>
                  <a:gd name="T15" fmla="*/ 0 w 35"/>
                  <a:gd name="T16" fmla="*/ 0 h 8"/>
                  <a:gd name="T17" fmla="*/ 35 w 35"/>
                  <a:gd name="T18" fmla="*/ 8 h 8"/>
                </a:gdLst>
                <a:ahLst/>
                <a:cxnLst>
                  <a:cxn ang="T10">
                    <a:pos x="T0" y="T1"/>
                  </a:cxn>
                  <a:cxn ang="T11">
                    <a:pos x="T2" y="T3"/>
                  </a:cxn>
                  <a:cxn ang="T12">
                    <a:pos x="T4" y="T5"/>
                  </a:cxn>
                  <a:cxn ang="T13">
                    <a:pos x="T6" y="T7"/>
                  </a:cxn>
                  <a:cxn ang="T14">
                    <a:pos x="T8" y="T9"/>
                  </a:cxn>
                </a:cxnLst>
                <a:rect l="T15" t="T16" r="T17" b="T18"/>
                <a:pathLst>
                  <a:path w="35" h="8">
                    <a:moveTo>
                      <a:pt x="0" y="7"/>
                    </a:moveTo>
                    <a:lnTo>
                      <a:pt x="17" y="7"/>
                    </a:lnTo>
                    <a:lnTo>
                      <a:pt x="34" y="0"/>
                    </a:lnTo>
                    <a:lnTo>
                      <a:pt x="26"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8" name="Freeform 50"/>
              <p:cNvSpPr>
                <a:spLocks/>
              </p:cNvSpPr>
              <p:nvPr/>
            </p:nvSpPr>
            <p:spPr bwMode="auto">
              <a:xfrm>
                <a:off x="2688733" y="3576269"/>
                <a:ext cx="51518" cy="12435"/>
              </a:xfrm>
              <a:custGeom>
                <a:avLst/>
                <a:gdLst>
                  <a:gd name="T0" fmla="*/ 0 w 35"/>
                  <a:gd name="T1" fmla="*/ 5556 h 8"/>
                  <a:gd name="T2" fmla="*/ 2631 w 35"/>
                  <a:gd name="T3" fmla="*/ 5556 h 8"/>
                  <a:gd name="T4" fmla="*/ 5261 w 35"/>
                  <a:gd name="T5" fmla="*/ 0 h 8"/>
                  <a:gd name="T6" fmla="*/ 3946 w 35"/>
                  <a:gd name="T7" fmla="*/ 0 h 8"/>
                  <a:gd name="T8" fmla="*/ 0 w 35"/>
                  <a:gd name="T9" fmla="*/ 5556 h 8"/>
                  <a:gd name="T10" fmla="*/ 0 60000 65536"/>
                  <a:gd name="T11" fmla="*/ 0 60000 65536"/>
                  <a:gd name="T12" fmla="*/ 0 60000 65536"/>
                  <a:gd name="T13" fmla="*/ 0 60000 65536"/>
                  <a:gd name="T14" fmla="*/ 0 60000 65536"/>
                  <a:gd name="T15" fmla="*/ 0 w 35"/>
                  <a:gd name="T16" fmla="*/ 0 h 8"/>
                  <a:gd name="T17" fmla="*/ 35 w 35"/>
                  <a:gd name="T18" fmla="*/ 8 h 8"/>
                </a:gdLst>
                <a:ahLst/>
                <a:cxnLst>
                  <a:cxn ang="T10">
                    <a:pos x="T0" y="T1"/>
                  </a:cxn>
                  <a:cxn ang="T11">
                    <a:pos x="T2" y="T3"/>
                  </a:cxn>
                  <a:cxn ang="T12">
                    <a:pos x="T4" y="T5"/>
                  </a:cxn>
                  <a:cxn ang="T13">
                    <a:pos x="T6" y="T7"/>
                  </a:cxn>
                  <a:cxn ang="T14">
                    <a:pos x="T8" y="T9"/>
                  </a:cxn>
                </a:cxnLst>
                <a:rect l="T15" t="T16" r="T17" b="T18"/>
                <a:pathLst>
                  <a:path w="35" h="8">
                    <a:moveTo>
                      <a:pt x="0" y="7"/>
                    </a:moveTo>
                    <a:lnTo>
                      <a:pt x="17" y="7"/>
                    </a:lnTo>
                    <a:lnTo>
                      <a:pt x="34" y="0"/>
                    </a:lnTo>
                    <a:lnTo>
                      <a:pt x="26"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79" name="Freeform 51"/>
              <p:cNvSpPr>
                <a:spLocks/>
              </p:cNvSpPr>
              <p:nvPr/>
            </p:nvSpPr>
            <p:spPr bwMode="auto">
              <a:xfrm>
                <a:off x="2900134" y="3260054"/>
                <a:ext cx="63954" cy="26647"/>
              </a:xfrm>
              <a:custGeom>
                <a:avLst/>
                <a:gdLst>
                  <a:gd name="T0" fmla="*/ 0 w 43"/>
                  <a:gd name="T1" fmla="*/ 0 h 16"/>
                  <a:gd name="T2" fmla="*/ 5316 w 43"/>
                  <a:gd name="T3" fmla="*/ 11906 h 16"/>
                  <a:gd name="T4" fmla="*/ 7974 w 43"/>
                  <a:gd name="T5" fmla="*/ 11906 h 16"/>
                  <a:gd name="T6" fmla="*/ 5316 w 43"/>
                  <a:gd name="T7" fmla="*/ 10418 h 16"/>
                  <a:gd name="T8" fmla="*/ 0 w 43"/>
                  <a:gd name="T9" fmla="*/ 0 h 16"/>
                  <a:gd name="T10" fmla="*/ 0 60000 65536"/>
                  <a:gd name="T11" fmla="*/ 0 60000 65536"/>
                  <a:gd name="T12" fmla="*/ 0 60000 65536"/>
                  <a:gd name="T13" fmla="*/ 0 60000 65536"/>
                  <a:gd name="T14" fmla="*/ 0 60000 65536"/>
                  <a:gd name="T15" fmla="*/ 0 w 43"/>
                  <a:gd name="T16" fmla="*/ 0 h 16"/>
                  <a:gd name="T17" fmla="*/ 43 w 43"/>
                  <a:gd name="T18" fmla="*/ 16 h 16"/>
                </a:gdLst>
                <a:ahLst/>
                <a:cxnLst>
                  <a:cxn ang="T10">
                    <a:pos x="T0" y="T1"/>
                  </a:cxn>
                  <a:cxn ang="T11">
                    <a:pos x="T2" y="T3"/>
                  </a:cxn>
                  <a:cxn ang="T12">
                    <a:pos x="T4" y="T5"/>
                  </a:cxn>
                  <a:cxn ang="T13">
                    <a:pos x="T6" y="T7"/>
                  </a:cxn>
                  <a:cxn ang="T14">
                    <a:pos x="T8" y="T9"/>
                  </a:cxn>
                </a:cxnLst>
                <a:rect l="T15" t="T16" r="T17" b="T18"/>
                <a:pathLst>
                  <a:path w="43" h="16">
                    <a:moveTo>
                      <a:pt x="0" y="0"/>
                    </a:moveTo>
                    <a:lnTo>
                      <a:pt x="25" y="15"/>
                    </a:lnTo>
                    <a:lnTo>
                      <a:pt x="42" y="15"/>
                    </a:lnTo>
                    <a:lnTo>
                      <a:pt x="25" y="7"/>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0" name="Freeform 52"/>
              <p:cNvSpPr>
                <a:spLocks/>
              </p:cNvSpPr>
              <p:nvPr/>
            </p:nvSpPr>
            <p:spPr bwMode="auto">
              <a:xfrm>
                <a:off x="2900134" y="3260054"/>
                <a:ext cx="63954" cy="26647"/>
              </a:xfrm>
              <a:custGeom>
                <a:avLst/>
                <a:gdLst>
                  <a:gd name="T0" fmla="*/ 0 w 43"/>
                  <a:gd name="T1" fmla="*/ 0 h 16"/>
                  <a:gd name="T2" fmla="*/ 5316 w 43"/>
                  <a:gd name="T3" fmla="*/ 11906 h 16"/>
                  <a:gd name="T4" fmla="*/ 7974 w 43"/>
                  <a:gd name="T5" fmla="*/ 11906 h 16"/>
                  <a:gd name="T6" fmla="*/ 5316 w 43"/>
                  <a:gd name="T7" fmla="*/ 10418 h 16"/>
                  <a:gd name="T8" fmla="*/ 0 w 43"/>
                  <a:gd name="T9" fmla="*/ 0 h 16"/>
                  <a:gd name="T10" fmla="*/ 0 60000 65536"/>
                  <a:gd name="T11" fmla="*/ 0 60000 65536"/>
                  <a:gd name="T12" fmla="*/ 0 60000 65536"/>
                  <a:gd name="T13" fmla="*/ 0 60000 65536"/>
                  <a:gd name="T14" fmla="*/ 0 60000 65536"/>
                  <a:gd name="T15" fmla="*/ 0 w 43"/>
                  <a:gd name="T16" fmla="*/ 0 h 16"/>
                  <a:gd name="T17" fmla="*/ 43 w 43"/>
                  <a:gd name="T18" fmla="*/ 16 h 16"/>
                </a:gdLst>
                <a:ahLst/>
                <a:cxnLst>
                  <a:cxn ang="T10">
                    <a:pos x="T0" y="T1"/>
                  </a:cxn>
                  <a:cxn ang="T11">
                    <a:pos x="T2" y="T3"/>
                  </a:cxn>
                  <a:cxn ang="T12">
                    <a:pos x="T4" y="T5"/>
                  </a:cxn>
                  <a:cxn ang="T13">
                    <a:pos x="T6" y="T7"/>
                  </a:cxn>
                  <a:cxn ang="T14">
                    <a:pos x="T8" y="T9"/>
                  </a:cxn>
                </a:cxnLst>
                <a:rect l="T15" t="T16" r="T17" b="T18"/>
                <a:pathLst>
                  <a:path w="43" h="16">
                    <a:moveTo>
                      <a:pt x="0" y="0"/>
                    </a:moveTo>
                    <a:lnTo>
                      <a:pt x="25" y="15"/>
                    </a:lnTo>
                    <a:lnTo>
                      <a:pt x="42" y="15"/>
                    </a:lnTo>
                    <a:lnTo>
                      <a:pt x="25" y="7"/>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1" name="Freeform 53"/>
              <p:cNvSpPr>
                <a:spLocks/>
              </p:cNvSpPr>
              <p:nvPr/>
            </p:nvSpPr>
            <p:spPr bwMode="auto">
              <a:xfrm>
                <a:off x="3024488" y="3190771"/>
                <a:ext cx="152778" cy="188308"/>
              </a:xfrm>
              <a:custGeom>
                <a:avLst/>
                <a:gdLst>
                  <a:gd name="T0" fmla="*/ 0 w 102"/>
                  <a:gd name="T1" fmla="*/ 110625 h 108"/>
                  <a:gd name="T2" fmla="*/ 0 w 102"/>
                  <a:gd name="T3" fmla="*/ 116858 h 108"/>
                  <a:gd name="T4" fmla="*/ 12046 w 102"/>
                  <a:gd name="T5" fmla="*/ 116858 h 108"/>
                  <a:gd name="T6" fmla="*/ 12046 w 102"/>
                  <a:gd name="T7" fmla="*/ 123090 h 108"/>
                  <a:gd name="T8" fmla="*/ 13385 w 102"/>
                  <a:gd name="T9" fmla="*/ 116858 h 108"/>
                  <a:gd name="T10" fmla="*/ 18739 w 102"/>
                  <a:gd name="T11" fmla="*/ 123090 h 108"/>
                  <a:gd name="T12" fmla="*/ 18739 w 102"/>
                  <a:gd name="T13" fmla="*/ 132439 h 108"/>
                  <a:gd name="T14" fmla="*/ 20077 w 102"/>
                  <a:gd name="T15" fmla="*/ 132439 h 108"/>
                  <a:gd name="T16" fmla="*/ 20077 w 102"/>
                  <a:gd name="T17" fmla="*/ 116858 h 108"/>
                  <a:gd name="T18" fmla="*/ 14723 w 102"/>
                  <a:gd name="T19" fmla="*/ 110625 h 108"/>
                  <a:gd name="T20" fmla="*/ 18739 w 102"/>
                  <a:gd name="T21" fmla="*/ 90370 h 108"/>
                  <a:gd name="T22" fmla="*/ 14723 w 102"/>
                  <a:gd name="T23" fmla="*/ 77905 h 108"/>
                  <a:gd name="T24" fmla="*/ 18739 w 102"/>
                  <a:gd name="T25" fmla="*/ 66998 h 108"/>
                  <a:gd name="T26" fmla="*/ 12046 w 102"/>
                  <a:gd name="T27" fmla="*/ 66998 h 108"/>
                  <a:gd name="T28" fmla="*/ 10708 w 102"/>
                  <a:gd name="T29" fmla="*/ 54534 h 108"/>
                  <a:gd name="T30" fmla="*/ 12046 w 102"/>
                  <a:gd name="T31" fmla="*/ 43627 h 108"/>
                  <a:gd name="T32" fmla="*/ 10708 w 102"/>
                  <a:gd name="T33" fmla="*/ 43627 h 108"/>
                  <a:gd name="T34" fmla="*/ 12046 w 102"/>
                  <a:gd name="T35" fmla="*/ 0 h 108"/>
                  <a:gd name="T36" fmla="*/ 9369 w 102"/>
                  <a:gd name="T37" fmla="*/ 12465 h 108"/>
                  <a:gd name="T38" fmla="*/ 4015 w 102"/>
                  <a:gd name="T39" fmla="*/ 77905 h 108"/>
                  <a:gd name="T40" fmla="*/ 4015 w 102"/>
                  <a:gd name="T41" fmla="*/ 90370 h 108"/>
                  <a:gd name="T42" fmla="*/ 0 w 102"/>
                  <a:gd name="T43" fmla="*/ 110625 h 1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2"/>
                  <a:gd name="T67" fmla="*/ 0 h 108"/>
                  <a:gd name="T68" fmla="*/ 102 w 102"/>
                  <a:gd name="T69" fmla="*/ 108 h 1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2" h="108">
                    <a:moveTo>
                      <a:pt x="0" y="84"/>
                    </a:moveTo>
                    <a:lnTo>
                      <a:pt x="0" y="92"/>
                    </a:lnTo>
                    <a:lnTo>
                      <a:pt x="59" y="92"/>
                    </a:lnTo>
                    <a:lnTo>
                      <a:pt x="59" y="100"/>
                    </a:lnTo>
                    <a:lnTo>
                      <a:pt x="67" y="92"/>
                    </a:lnTo>
                    <a:lnTo>
                      <a:pt x="93" y="100"/>
                    </a:lnTo>
                    <a:lnTo>
                      <a:pt x="93" y="107"/>
                    </a:lnTo>
                    <a:lnTo>
                      <a:pt x="101" y="107"/>
                    </a:lnTo>
                    <a:lnTo>
                      <a:pt x="101" y="92"/>
                    </a:lnTo>
                    <a:lnTo>
                      <a:pt x="75" y="84"/>
                    </a:lnTo>
                    <a:lnTo>
                      <a:pt x="93" y="69"/>
                    </a:lnTo>
                    <a:lnTo>
                      <a:pt x="75" y="61"/>
                    </a:lnTo>
                    <a:lnTo>
                      <a:pt x="93" y="54"/>
                    </a:lnTo>
                    <a:lnTo>
                      <a:pt x="59" y="54"/>
                    </a:lnTo>
                    <a:lnTo>
                      <a:pt x="50" y="46"/>
                    </a:lnTo>
                    <a:lnTo>
                      <a:pt x="59" y="39"/>
                    </a:lnTo>
                    <a:lnTo>
                      <a:pt x="50" y="39"/>
                    </a:lnTo>
                    <a:lnTo>
                      <a:pt x="59" y="0"/>
                    </a:lnTo>
                    <a:lnTo>
                      <a:pt x="42" y="8"/>
                    </a:lnTo>
                    <a:lnTo>
                      <a:pt x="8" y="61"/>
                    </a:lnTo>
                    <a:lnTo>
                      <a:pt x="8" y="69"/>
                    </a:lnTo>
                    <a:lnTo>
                      <a:pt x="0" y="8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2" name="Freeform 54"/>
              <p:cNvSpPr>
                <a:spLocks/>
              </p:cNvSpPr>
              <p:nvPr/>
            </p:nvSpPr>
            <p:spPr bwMode="auto">
              <a:xfrm>
                <a:off x="768350" y="2872780"/>
                <a:ext cx="76389" cy="81718"/>
              </a:xfrm>
              <a:custGeom>
                <a:avLst/>
                <a:gdLst>
                  <a:gd name="T0" fmla="*/ 0 w 51"/>
                  <a:gd name="T1" fmla="*/ 43504 h 47"/>
                  <a:gd name="T2" fmla="*/ 4015 w 51"/>
                  <a:gd name="T3" fmla="*/ 54380 h 47"/>
                  <a:gd name="T4" fmla="*/ 4015 w 51"/>
                  <a:gd name="T5" fmla="*/ 35736 h 47"/>
                  <a:gd name="T6" fmla="*/ 9369 w 51"/>
                  <a:gd name="T7" fmla="*/ 35736 h 47"/>
                  <a:gd name="T8" fmla="*/ 9369 w 51"/>
                  <a:gd name="T9" fmla="*/ 35736 h 47"/>
                  <a:gd name="T10" fmla="*/ 4015 w 51"/>
                  <a:gd name="T11" fmla="*/ 35736 h 47"/>
                  <a:gd name="T12" fmla="*/ 10708 w 51"/>
                  <a:gd name="T13" fmla="*/ 24860 h 47"/>
                  <a:gd name="T14" fmla="*/ 9369 w 51"/>
                  <a:gd name="T15" fmla="*/ 0 h 47"/>
                  <a:gd name="T16" fmla="*/ 0 w 51"/>
                  <a:gd name="T17" fmla="*/ 43504 h 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47"/>
                  <a:gd name="T29" fmla="*/ 51 w 51"/>
                  <a:gd name="T30" fmla="*/ 47 h 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47">
                    <a:moveTo>
                      <a:pt x="0" y="39"/>
                    </a:moveTo>
                    <a:lnTo>
                      <a:pt x="8" y="46"/>
                    </a:lnTo>
                    <a:lnTo>
                      <a:pt x="24" y="31"/>
                    </a:lnTo>
                    <a:lnTo>
                      <a:pt x="42" y="31"/>
                    </a:lnTo>
                    <a:lnTo>
                      <a:pt x="42" y="23"/>
                    </a:lnTo>
                    <a:lnTo>
                      <a:pt x="24" y="23"/>
                    </a:lnTo>
                    <a:lnTo>
                      <a:pt x="50" y="16"/>
                    </a:lnTo>
                    <a:lnTo>
                      <a:pt x="42" y="0"/>
                    </a:lnTo>
                    <a:lnTo>
                      <a:pt x="0" y="3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3" name="Freeform 55"/>
              <p:cNvSpPr>
                <a:spLocks/>
              </p:cNvSpPr>
              <p:nvPr/>
            </p:nvSpPr>
            <p:spPr bwMode="auto">
              <a:xfrm>
                <a:off x="768350" y="2872780"/>
                <a:ext cx="76389" cy="81718"/>
              </a:xfrm>
              <a:custGeom>
                <a:avLst/>
                <a:gdLst>
                  <a:gd name="T0" fmla="*/ 0 w 51"/>
                  <a:gd name="T1" fmla="*/ 43504 h 47"/>
                  <a:gd name="T2" fmla="*/ 4015 w 51"/>
                  <a:gd name="T3" fmla="*/ 54380 h 47"/>
                  <a:gd name="T4" fmla="*/ 4015 w 51"/>
                  <a:gd name="T5" fmla="*/ 35736 h 47"/>
                  <a:gd name="T6" fmla="*/ 9369 w 51"/>
                  <a:gd name="T7" fmla="*/ 35736 h 47"/>
                  <a:gd name="T8" fmla="*/ 9369 w 51"/>
                  <a:gd name="T9" fmla="*/ 35736 h 47"/>
                  <a:gd name="T10" fmla="*/ 4015 w 51"/>
                  <a:gd name="T11" fmla="*/ 35736 h 47"/>
                  <a:gd name="T12" fmla="*/ 10708 w 51"/>
                  <a:gd name="T13" fmla="*/ 24860 h 47"/>
                  <a:gd name="T14" fmla="*/ 9369 w 51"/>
                  <a:gd name="T15" fmla="*/ 0 h 47"/>
                  <a:gd name="T16" fmla="*/ 0 w 51"/>
                  <a:gd name="T17" fmla="*/ 43504 h 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1"/>
                  <a:gd name="T28" fmla="*/ 0 h 47"/>
                  <a:gd name="T29" fmla="*/ 51 w 51"/>
                  <a:gd name="T30" fmla="*/ 47 h 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1" h="47">
                    <a:moveTo>
                      <a:pt x="0" y="39"/>
                    </a:moveTo>
                    <a:lnTo>
                      <a:pt x="8" y="46"/>
                    </a:lnTo>
                    <a:lnTo>
                      <a:pt x="24" y="31"/>
                    </a:lnTo>
                    <a:lnTo>
                      <a:pt x="42" y="31"/>
                    </a:lnTo>
                    <a:lnTo>
                      <a:pt x="42" y="23"/>
                    </a:lnTo>
                    <a:lnTo>
                      <a:pt x="24" y="23"/>
                    </a:lnTo>
                    <a:lnTo>
                      <a:pt x="50" y="16"/>
                    </a:lnTo>
                    <a:lnTo>
                      <a:pt x="42" y="0"/>
                    </a:lnTo>
                    <a:lnTo>
                      <a:pt x="0" y="3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4" name="Freeform 226"/>
              <p:cNvSpPr>
                <a:spLocks/>
              </p:cNvSpPr>
              <p:nvPr/>
            </p:nvSpPr>
            <p:spPr bwMode="auto">
              <a:xfrm>
                <a:off x="6168870" y="3112606"/>
                <a:ext cx="1433625" cy="1090763"/>
              </a:xfrm>
              <a:custGeom>
                <a:avLst/>
                <a:gdLst>
                  <a:gd name="T0" fmla="*/ 29 w 961"/>
                  <a:gd name="T1" fmla="*/ 100 h 628"/>
                  <a:gd name="T2" fmla="*/ 33 w 961"/>
                  <a:gd name="T3" fmla="*/ 140 h 628"/>
                  <a:gd name="T4" fmla="*/ 50 w 961"/>
                  <a:gd name="T5" fmla="*/ 175 h 628"/>
                  <a:gd name="T6" fmla="*/ 65 w 961"/>
                  <a:gd name="T7" fmla="*/ 181 h 628"/>
                  <a:gd name="T8" fmla="*/ 72 w 961"/>
                  <a:gd name="T9" fmla="*/ 157 h 628"/>
                  <a:gd name="T10" fmla="*/ 81 w 961"/>
                  <a:gd name="T11" fmla="*/ 135 h 628"/>
                  <a:gd name="T12" fmla="*/ 87 w 961"/>
                  <a:gd name="T13" fmla="*/ 105 h 628"/>
                  <a:gd name="T14" fmla="*/ 81 w 961"/>
                  <a:gd name="T15" fmla="*/ 105 h 628"/>
                  <a:gd name="T16" fmla="*/ 86 w 961"/>
                  <a:gd name="T17" fmla="*/ 67 h 628"/>
                  <a:gd name="T18" fmla="*/ 91 w 961"/>
                  <a:gd name="T19" fmla="*/ 22 h 628"/>
                  <a:gd name="T20" fmla="*/ 91 w 961"/>
                  <a:gd name="T21" fmla="*/ 7 h 628"/>
                  <a:gd name="T22" fmla="*/ 102 w 961"/>
                  <a:gd name="T23" fmla="*/ 22 h 628"/>
                  <a:gd name="T24" fmla="*/ 111 w 961"/>
                  <a:gd name="T25" fmla="*/ 83 h 628"/>
                  <a:gd name="T26" fmla="*/ 118 w 961"/>
                  <a:gd name="T27" fmla="*/ 89 h 628"/>
                  <a:gd name="T28" fmla="*/ 113 w 961"/>
                  <a:gd name="T29" fmla="*/ 140 h 628"/>
                  <a:gd name="T30" fmla="*/ 111 w 961"/>
                  <a:gd name="T31" fmla="*/ 181 h 628"/>
                  <a:gd name="T32" fmla="*/ 105 w 961"/>
                  <a:gd name="T33" fmla="*/ 193 h 628"/>
                  <a:gd name="T34" fmla="*/ 98 w 961"/>
                  <a:gd name="T35" fmla="*/ 222 h 628"/>
                  <a:gd name="T36" fmla="*/ 92 w 961"/>
                  <a:gd name="T37" fmla="*/ 238 h 628"/>
                  <a:gd name="T38" fmla="*/ 93 w 961"/>
                  <a:gd name="T39" fmla="*/ 210 h 628"/>
                  <a:gd name="T40" fmla="*/ 87 w 961"/>
                  <a:gd name="T41" fmla="*/ 233 h 628"/>
                  <a:gd name="T42" fmla="*/ 88 w 961"/>
                  <a:gd name="T43" fmla="*/ 263 h 628"/>
                  <a:gd name="T44" fmla="*/ 95 w 961"/>
                  <a:gd name="T45" fmla="*/ 268 h 628"/>
                  <a:gd name="T46" fmla="*/ 88 w 961"/>
                  <a:gd name="T47" fmla="*/ 291 h 628"/>
                  <a:gd name="T48" fmla="*/ 93 w 961"/>
                  <a:gd name="T49" fmla="*/ 332 h 628"/>
                  <a:gd name="T50" fmla="*/ 89 w 961"/>
                  <a:gd name="T51" fmla="*/ 357 h 628"/>
                  <a:gd name="T52" fmla="*/ 89 w 961"/>
                  <a:gd name="T53" fmla="*/ 397 h 628"/>
                  <a:gd name="T54" fmla="*/ 87 w 961"/>
                  <a:gd name="T55" fmla="*/ 426 h 628"/>
                  <a:gd name="T56" fmla="*/ 82 w 961"/>
                  <a:gd name="T57" fmla="*/ 450 h 628"/>
                  <a:gd name="T58" fmla="*/ 77 w 961"/>
                  <a:gd name="T59" fmla="*/ 450 h 628"/>
                  <a:gd name="T60" fmla="*/ 71 w 961"/>
                  <a:gd name="T61" fmla="*/ 466 h 628"/>
                  <a:gd name="T62" fmla="*/ 68 w 961"/>
                  <a:gd name="T63" fmla="*/ 460 h 628"/>
                  <a:gd name="T64" fmla="*/ 64 w 961"/>
                  <a:gd name="T65" fmla="*/ 450 h 628"/>
                  <a:gd name="T66" fmla="*/ 55 w 961"/>
                  <a:gd name="T67" fmla="*/ 450 h 628"/>
                  <a:gd name="T68" fmla="*/ 55 w 961"/>
                  <a:gd name="T69" fmla="*/ 466 h 628"/>
                  <a:gd name="T70" fmla="*/ 50 w 961"/>
                  <a:gd name="T71" fmla="*/ 460 h 628"/>
                  <a:gd name="T72" fmla="*/ 50 w 961"/>
                  <a:gd name="T73" fmla="*/ 443 h 628"/>
                  <a:gd name="T74" fmla="*/ 49 w 961"/>
                  <a:gd name="T75" fmla="*/ 397 h 628"/>
                  <a:gd name="T76" fmla="*/ 42 w 961"/>
                  <a:gd name="T77" fmla="*/ 367 h 628"/>
                  <a:gd name="T78" fmla="*/ 30 w 961"/>
                  <a:gd name="T79" fmla="*/ 385 h 628"/>
                  <a:gd name="T80" fmla="*/ 27 w 961"/>
                  <a:gd name="T81" fmla="*/ 385 h 628"/>
                  <a:gd name="T82" fmla="*/ 20 w 961"/>
                  <a:gd name="T83" fmla="*/ 367 h 628"/>
                  <a:gd name="T84" fmla="*/ 13 w 961"/>
                  <a:gd name="T85" fmla="*/ 357 h 628"/>
                  <a:gd name="T86" fmla="*/ 10 w 961"/>
                  <a:gd name="T87" fmla="*/ 326 h 628"/>
                  <a:gd name="T88" fmla="*/ 12 w 961"/>
                  <a:gd name="T89" fmla="*/ 285 h 628"/>
                  <a:gd name="T90" fmla="*/ 5 w 961"/>
                  <a:gd name="T91" fmla="*/ 275 h 628"/>
                  <a:gd name="T92" fmla="*/ 3 w 961"/>
                  <a:gd name="T93" fmla="*/ 263 h 628"/>
                  <a:gd name="T94" fmla="*/ 0 w 961"/>
                  <a:gd name="T95" fmla="*/ 222 h 628"/>
                  <a:gd name="T96" fmla="*/ 6 w 961"/>
                  <a:gd name="T97" fmla="*/ 203 h 628"/>
                  <a:gd name="T98" fmla="*/ 13 w 961"/>
                  <a:gd name="T99" fmla="*/ 175 h 628"/>
                  <a:gd name="T100" fmla="*/ 15 w 961"/>
                  <a:gd name="T101" fmla="*/ 140 h 628"/>
                  <a:gd name="T102" fmla="*/ 20 w 961"/>
                  <a:gd name="T103" fmla="*/ 110 h 62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961"/>
                  <a:gd name="T157" fmla="*/ 0 h 628"/>
                  <a:gd name="T158" fmla="*/ 961 w 961"/>
                  <a:gd name="T159" fmla="*/ 628 h 62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961" h="628">
                    <a:moveTo>
                      <a:pt x="200" y="107"/>
                    </a:moveTo>
                    <a:lnTo>
                      <a:pt x="217" y="100"/>
                    </a:lnTo>
                    <a:lnTo>
                      <a:pt x="233" y="130"/>
                    </a:lnTo>
                    <a:lnTo>
                      <a:pt x="259" y="130"/>
                    </a:lnTo>
                    <a:lnTo>
                      <a:pt x="267" y="145"/>
                    </a:lnTo>
                    <a:lnTo>
                      <a:pt x="267" y="183"/>
                    </a:lnTo>
                    <a:lnTo>
                      <a:pt x="325" y="206"/>
                    </a:lnTo>
                    <a:lnTo>
                      <a:pt x="359" y="229"/>
                    </a:lnTo>
                    <a:lnTo>
                      <a:pt x="417" y="229"/>
                    </a:lnTo>
                    <a:lnTo>
                      <a:pt x="451" y="252"/>
                    </a:lnTo>
                    <a:lnTo>
                      <a:pt x="493" y="260"/>
                    </a:lnTo>
                    <a:lnTo>
                      <a:pt x="526" y="237"/>
                    </a:lnTo>
                    <a:lnTo>
                      <a:pt x="568" y="237"/>
                    </a:lnTo>
                    <a:lnTo>
                      <a:pt x="601" y="214"/>
                    </a:lnTo>
                    <a:lnTo>
                      <a:pt x="593" y="206"/>
                    </a:lnTo>
                    <a:lnTo>
                      <a:pt x="609" y="183"/>
                    </a:lnTo>
                    <a:lnTo>
                      <a:pt x="626" y="191"/>
                    </a:lnTo>
                    <a:lnTo>
                      <a:pt x="660" y="176"/>
                    </a:lnTo>
                    <a:lnTo>
                      <a:pt x="676" y="152"/>
                    </a:lnTo>
                    <a:lnTo>
                      <a:pt x="718" y="152"/>
                    </a:lnTo>
                    <a:lnTo>
                      <a:pt x="710" y="138"/>
                    </a:lnTo>
                    <a:lnTo>
                      <a:pt x="702" y="130"/>
                    </a:lnTo>
                    <a:lnTo>
                      <a:pt x="676" y="138"/>
                    </a:lnTo>
                    <a:lnTo>
                      <a:pt x="660" y="138"/>
                    </a:lnTo>
                    <a:lnTo>
                      <a:pt x="660" y="100"/>
                    </a:lnTo>
                    <a:lnTo>
                      <a:pt x="668" y="84"/>
                    </a:lnTo>
                    <a:lnTo>
                      <a:pt x="693" y="91"/>
                    </a:lnTo>
                    <a:lnTo>
                      <a:pt x="718" y="84"/>
                    </a:lnTo>
                    <a:lnTo>
                      <a:pt x="726" y="46"/>
                    </a:lnTo>
                    <a:lnTo>
                      <a:pt x="743" y="30"/>
                    </a:lnTo>
                    <a:lnTo>
                      <a:pt x="743" y="23"/>
                    </a:lnTo>
                    <a:lnTo>
                      <a:pt x="726" y="23"/>
                    </a:lnTo>
                    <a:lnTo>
                      <a:pt x="743" y="7"/>
                    </a:lnTo>
                    <a:lnTo>
                      <a:pt x="777" y="0"/>
                    </a:lnTo>
                    <a:lnTo>
                      <a:pt x="810" y="7"/>
                    </a:lnTo>
                    <a:lnTo>
                      <a:pt x="827" y="23"/>
                    </a:lnTo>
                    <a:lnTo>
                      <a:pt x="852" y="91"/>
                    </a:lnTo>
                    <a:lnTo>
                      <a:pt x="868" y="91"/>
                    </a:lnTo>
                    <a:lnTo>
                      <a:pt x="902" y="107"/>
                    </a:lnTo>
                    <a:lnTo>
                      <a:pt x="902" y="130"/>
                    </a:lnTo>
                    <a:lnTo>
                      <a:pt x="918" y="130"/>
                    </a:lnTo>
                    <a:lnTo>
                      <a:pt x="960" y="114"/>
                    </a:lnTo>
                    <a:lnTo>
                      <a:pt x="960" y="138"/>
                    </a:lnTo>
                    <a:lnTo>
                      <a:pt x="928" y="191"/>
                    </a:lnTo>
                    <a:lnTo>
                      <a:pt x="918" y="183"/>
                    </a:lnTo>
                    <a:lnTo>
                      <a:pt x="902" y="191"/>
                    </a:lnTo>
                    <a:lnTo>
                      <a:pt x="910" y="222"/>
                    </a:lnTo>
                    <a:lnTo>
                      <a:pt x="902" y="237"/>
                    </a:lnTo>
                    <a:lnTo>
                      <a:pt x="886" y="237"/>
                    </a:lnTo>
                    <a:lnTo>
                      <a:pt x="868" y="252"/>
                    </a:lnTo>
                    <a:lnTo>
                      <a:pt x="860" y="252"/>
                    </a:lnTo>
                    <a:lnTo>
                      <a:pt x="852" y="260"/>
                    </a:lnTo>
                    <a:lnTo>
                      <a:pt x="844" y="260"/>
                    </a:lnTo>
                    <a:lnTo>
                      <a:pt x="802" y="290"/>
                    </a:lnTo>
                    <a:lnTo>
                      <a:pt x="802" y="298"/>
                    </a:lnTo>
                    <a:lnTo>
                      <a:pt x="777" y="298"/>
                    </a:lnTo>
                    <a:lnTo>
                      <a:pt x="752" y="313"/>
                    </a:lnTo>
                    <a:lnTo>
                      <a:pt x="752" y="306"/>
                    </a:lnTo>
                    <a:lnTo>
                      <a:pt x="752" y="298"/>
                    </a:lnTo>
                    <a:lnTo>
                      <a:pt x="760" y="275"/>
                    </a:lnTo>
                    <a:lnTo>
                      <a:pt x="752" y="267"/>
                    </a:lnTo>
                    <a:lnTo>
                      <a:pt x="718" y="298"/>
                    </a:lnTo>
                    <a:lnTo>
                      <a:pt x="710" y="306"/>
                    </a:lnTo>
                    <a:lnTo>
                      <a:pt x="702" y="306"/>
                    </a:lnTo>
                    <a:lnTo>
                      <a:pt x="693" y="313"/>
                    </a:lnTo>
                    <a:lnTo>
                      <a:pt x="718" y="344"/>
                    </a:lnTo>
                    <a:lnTo>
                      <a:pt x="743" y="336"/>
                    </a:lnTo>
                    <a:lnTo>
                      <a:pt x="768" y="344"/>
                    </a:lnTo>
                    <a:lnTo>
                      <a:pt x="768" y="351"/>
                    </a:lnTo>
                    <a:lnTo>
                      <a:pt x="760" y="344"/>
                    </a:lnTo>
                    <a:lnTo>
                      <a:pt x="743" y="351"/>
                    </a:lnTo>
                    <a:lnTo>
                      <a:pt x="718" y="382"/>
                    </a:lnTo>
                    <a:lnTo>
                      <a:pt x="726" y="390"/>
                    </a:lnTo>
                    <a:lnTo>
                      <a:pt x="743" y="428"/>
                    </a:lnTo>
                    <a:lnTo>
                      <a:pt x="760" y="435"/>
                    </a:lnTo>
                    <a:lnTo>
                      <a:pt x="752" y="435"/>
                    </a:lnTo>
                    <a:lnTo>
                      <a:pt x="760" y="459"/>
                    </a:lnTo>
                    <a:lnTo>
                      <a:pt x="726" y="466"/>
                    </a:lnTo>
                    <a:lnTo>
                      <a:pt x="760" y="466"/>
                    </a:lnTo>
                    <a:lnTo>
                      <a:pt x="752" y="505"/>
                    </a:lnTo>
                    <a:lnTo>
                      <a:pt x="726" y="520"/>
                    </a:lnTo>
                    <a:lnTo>
                      <a:pt x="718" y="520"/>
                    </a:lnTo>
                    <a:lnTo>
                      <a:pt x="718" y="543"/>
                    </a:lnTo>
                    <a:lnTo>
                      <a:pt x="710" y="558"/>
                    </a:lnTo>
                    <a:lnTo>
                      <a:pt x="702" y="558"/>
                    </a:lnTo>
                    <a:lnTo>
                      <a:pt x="702" y="566"/>
                    </a:lnTo>
                    <a:lnTo>
                      <a:pt x="668" y="589"/>
                    </a:lnTo>
                    <a:lnTo>
                      <a:pt x="643" y="589"/>
                    </a:lnTo>
                    <a:lnTo>
                      <a:pt x="643" y="596"/>
                    </a:lnTo>
                    <a:lnTo>
                      <a:pt x="626" y="589"/>
                    </a:lnTo>
                    <a:lnTo>
                      <a:pt x="626" y="596"/>
                    </a:lnTo>
                    <a:lnTo>
                      <a:pt x="618" y="596"/>
                    </a:lnTo>
                    <a:lnTo>
                      <a:pt x="576" y="611"/>
                    </a:lnTo>
                    <a:lnTo>
                      <a:pt x="568" y="627"/>
                    </a:lnTo>
                    <a:lnTo>
                      <a:pt x="568" y="604"/>
                    </a:lnTo>
                    <a:lnTo>
                      <a:pt x="551" y="604"/>
                    </a:lnTo>
                    <a:lnTo>
                      <a:pt x="543" y="604"/>
                    </a:lnTo>
                    <a:lnTo>
                      <a:pt x="517" y="604"/>
                    </a:lnTo>
                    <a:lnTo>
                      <a:pt x="517" y="589"/>
                    </a:lnTo>
                    <a:lnTo>
                      <a:pt x="501" y="589"/>
                    </a:lnTo>
                    <a:lnTo>
                      <a:pt x="459" y="596"/>
                    </a:lnTo>
                    <a:lnTo>
                      <a:pt x="451" y="589"/>
                    </a:lnTo>
                    <a:lnTo>
                      <a:pt x="451" y="596"/>
                    </a:lnTo>
                    <a:lnTo>
                      <a:pt x="443" y="596"/>
                    </a:lnTo>
                    <a:lnTo>
                      <a:pt x="443" y="611"/>
                    </a:lnTo>
                    <a:lnTo>
                      <a:pt x="425" y="611"/>
                    </a:lnTo>
                    <a:lnTo>
                      <a:pt x="425" y="604"/>
                    </a:lnTo>
                    <a:lnTo>
                      <a:pt x="417" y="604"/>
                    </a:lnTo>
                    <a:lnTo>
                      <a:pt x="401" y="596"/>
                    </a:lnTo>
                    <a:lnTo>
                      <a:pt x="401" y="589"/>
                    </a:lnTo>
                    <a:lnTo>
                      <a:pt x="401" y="581"/>
                    </a:lnTo>
                    <a:lnTo>
                      <a:pt x="393" y="566"/>
                    </a:lnTo>
                    <a:lnTo>
                      <a:pt x="375" y="566"/>
                    </a:lnTo>
                    <a:lnTo>
                      <a:pt x="393" y="520"/>
                    </a:lnTo>
                    <a:lnTo>
                      <a:pt x="375" y="505"/>
                    </a:lnTo>
                    <a:lnTo>
                      <a:pt x="367" y="505"/>
                    </a:lnTo>
                    <a:lnTo>
                      <a:pt x="351" y="482"/>
                    </a:lnTo>
                    <a:lnTo>
                      <a:pt x="325" y="482"/>
                    </a:lnTo>
                    <a:lnTo>
                      <a:pt x="275" y="505"/>
                    </a:lnTo>
                    <a:lnTo>
                      <a:pt x="250" y="505"/>
                    </a:lnTo>
                    <a:lnTo>
                      <a:pt x="233" y="512"/>
                    </a:lnTo>
                    <a:lnTo>
                      <a:pt x="225" y="505"/>
                    </a:lnTo>
                    <a:lnTo>
                      <a:pt x="217" y="505"/>
                    </a:lnTo>
                    <a:lnTo>
                      <a:pt x="183" y="505"/>
                    </a:lnTo>
                    <a:lnTo>
                      <a:pt x="167" y="489"/>
                    </a:lnTo>
                    <a:lnTo>
                      <a:pt x="158" y="482"/>
                    </a:lnTo>
                    <a:lnTo>
                      <a:pt x="150" y="482"/>
                    </a:lnTo>
                    <a:lnTo>
                      <a:pt x="125" y="466"/>
                    </a:lnTo>
                    <a:lnTo>
                      <a:pt x="108" y="466"/>
                    </a:lnTo>
                    <a:lnTo>
                      <a:pt x="74" y="459"/>
                    </a:lnTo>
                    <a:lnTo>
                      <a:pt x="66" y="428"/>
                    </a:lnTo>
                    <a:lnTo>
                      <a:pt x="83" y="428"/>
                    </a:lnTo>
                    <a:lnTo>
                      <a:pt x="74" y="412"/>
                    </a:lnTo>
                    <a:lnTo>
                      <a:pt x="100" y="390"/>
                    </a:lnTo>
                    <a:lnTo>
                      <a:pt x="100" y="374"/>
                    </a:lnTo>
                    <a:lnTo>
                      <a:pt x="83" y="360"/>
                    </a:lnTo>
                    <a:lnTo>
                      <a:pt x="58" y="374"/>
                    </a:lnTo>
                    <a:lnTo>
                      <a:pt x="42" y="360"/>
                    </a:lnTo>
                    <a:lnTo>
                      <a:pt x="24" y="351"/>
                    </a:lnTo>
                    <a:lnTo>
                      <a:pt x="8" y="344"/>
                    </a:lnTo>
                    <a:lnTo>
                      <a:pt x="16" y="344"/>
                    </a:lnTo>
                    <a:lnTo>
                      <a:pt x="16" y="313"/>
                    </a:lnTo>
                    <a:lnTo>
                      <a:pt x="0" y="313"/>
                    </a:lnTo>
                    <a:lnTo>
                      <a:pt x="0" y="290"/>
                    </a:lnTo>
                    <a:lnTo>
                      <a:pt x="16" y="275"/>
                    </a:lnTo>
                    <a:lnTo>
                      <a:pt x="42" y="275"/>
                    </a:lnTo>
                    <a:lnTo>
                      <a:pt x="50" y="267"/>
                    </a:lnTo>
                    <a:lnTo>
                      <a:pt x="66" y="267"/>
                    </a:lnTo>
                    <a:lnTo>
                      <a:pt x="100" y="252"/>
                    </a:lnTo>
                    <a:lnTo>
                      <a:pt x="108" y="229"/>
                    </a:lnTo>
                    <a:lnTo>
                      <a:pt x="100" y="191"/>
                    </a:lnTo>
                    <a:lnTo>
                      <a:pt x="100" y="183"/>
                    </a:lnTo>
                    <a:lnTo>
                      <a:pt x="125" y="183"/>
                    </a:lnTo>
                    <a:lnTo>
                      <a:pt x="133" y="145"/>
                    </a:lnTo>
                    <a:lnTo>
                      <a:pt x="167" y="145"/>
                    </a:lnTo>
                    <a:lnTo>
                      <a:pt x="175" y="145"/>
                    </a:lnTo>
                    <a:lnTo>
                      <a:pt x="183" y="114"/>
                    </a:lnTo>
                    <a:lnTo>
                      <a:pt x="200" y="10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5" name="Freeform 227"/>
              <p:cNvSpPr>
                <a:spLocks/>
              </p:cNvSpPr>
              <p:nvPr/>
            </p:nvSpPr>
            <p:spPr bwMode="auto">
              <a:xfrm>
                <a:off x="6490414" y="3164124"/>
                <a:ext cx="751454" cy="401486"/>
              </a:xfrm>
              <a:custGeom>
                <a:avLst/>
                <a:gdLst>
                  <a:gd name="T0" fmla="*/ 42 w 503"/>
                  <a:gd name="T1" fmla="*/ 49 h 231"/>
                  <a:gd name="T2" fmla="*/ 34 w 503"/>
                  <a:gd name="T3" fmla="*/ 23 h 231"/>
                  <a:gd name="T4" fmla="*/ 31 w 503"/>
                  <a:gd name="T5" fmla="*/ 26 h 231"/>
                  <a:gd name="T6" fmla="*/ 30 w 503"/>
                  <a:gd name="T7" fmla="*/ 26 h 231"/>
                  <a:gd name="T8" fmla="*/ 29 w 503"/>
                  <a:gd name="T9" fmla="*/ 15 h 231"/>
                  <a:gd name="T10" fmla="*/ 24 w 503"/>
                  <a:gd name="T11" fmla="*/ 0 h 231"/>
                  <a:gd name="T12" fmla="*/ 20 w 503"/>
                  <a:gd name="T13" fmla="*/ 15 h 231"/>
                  <a:gd name="T14" fmla="*/ 20 w 503"/>
                  <a:gd name="T15" fmla="*/ 23 h 231"/>
                  <a:gd name="T16" fmla="*/ 20 w 503"/>
                  <a:gd name="T17" fmla="*/ 42 h 231"/>
                  <a:gd name="T18" fmla="*/ 14 w 503"/>
                  <a:gd name="T19" fmla="*/ 42 h 231"/>
                  <a:gd name="T20" fmla="*/ 12 w 503"/>
                  <a:gd name="T21" fmla="*/ 26 h 231"/>
                  <a:gd name="T22" fmla="*/ 7 w 503"/>
                  <a:gd name="T23" fmla="*/ 23 h 231"/>
                  <a:gd name="T24" fmla="*/ 3 w 503"/>
                  <a:gd name="T25" fmla="*/ 49 h 231"/>
                  <a:gd name="T26" fmla="*/ 0 w 503"/>
                  <a:gd name="T27" fmla="*/ 57 h 231"/>
                  <a:gd name="T28" fmla="*/ 3 w 503"/>
                  <a:gd name="T29" fmla="*/ 75 h 231"/>
                  <a:gd name="T30" fmla="*/ 5 w 503"/>
                  <a:gd name="T31" fmla="*/ 75 h 231"/>
                  <a:gd name="T32" fmla="*/ 6 w 503"/>
                  <a:gd name="T33" fmla="*/ 91 h 231"/>
                  <a:gd name="T34" fmla="*/ 6 w 503"/>
                  <a:gd name="T35" fmla="*/ 117 h 231"/>
                  <a:gd name="T36" fmla="*/ 14 w 503"/>
                  <a:gd name="T37" fmla="*/ 136 h 231"/>
                  <a:gd name="T38" fmla="*/ 17 w 503"/>
                  <a:gd name="T39" fmla="*/ 153 h 231"/>
                  <a:gd name="T40" fmla="*/ 24 w 503"/>
                  <a:gd name="T41" fmla="*/ 153 h 231"/>
                  <a:gd name="T42" fmla="*/ 29 w 503"/>
                  <a:gd name="T43" fmla="*/ 170 h 231"/>
                  <a:gd name="T44" fmla="*/ 34 w 503"/>
                  <a:gd name="T45" fmla="*/ 177 h 231"/>
                  <a:gd name="T46" fmla="*/ 39 w 503"/>
                  <a:gd name="T47" fmla="*/ 159 h 231"/>
                  <a:gd name="T48" fmla="*/ 43 w 503"/>
                  <a:gd name="T49" fmla="*/ 159 h 231"/>
                  <a:gd name="T50" fmla="*/ 48 w 503"/>
                  <a:gd name="T51" fmla="*/ 141 h 231"/>
                  <a:gd name="T52" fmla="*/ 47 w 503"/>
                  <a:gd name="T53" fmla="*/ 136 h 231"/>
                  <a:gd name="T54" fmla="*/ 50 w 503"/>
                  <a:gd name="T55" fmla="*/ 117 h 231"/>
                  <a:gd name="T56" fmla="*/ 51 w 503"/>
                  <a:gd name="T57" fmla="*/ 124 h 231"/>
                  <a:gd name="T58" fmla="*/ 56 w 503"/>
                  <a:gd name="T59" fmla="*/ 111 h 231"/>
                  <a:gd name="T60" fmla="*/ 57 w 503"/>
                  <a:gd name="T61" fmla="*/ 95 h 231"/>
                  <a:gd name="T62" fmla="*/ 62 w 503"/>
                  <a:gd name="T63" fmla="*/ 95 h 231"/>
                  <a:gd name="T64" fmla="*/ 61 w 503"/>
                  <a:gd name="T65" fmla="*/ 83 h 231"/>
                  <a:gd name="T66" fmla="*/ 61 w 503"/>
                  <a:gd name="T67" fmla="*/ 75 h 231"/>
                  <a:gd name="T68" fmla="*/ 57 w 503"/>
                  <a:gd name="T69" fmla="*/ 83 h 231"/>
                  <a:gd name="T70" fmla="*/ 56 w 503"/>
                  <a:gd name="T71" fmla="*/ 83 h 231"/>
                  <a:gd name="T72" fmla="*/ 56 w 503"/>
                  <a:gd name="T73" fmla="*/ 57 h 231"/>
                  <a:gd name="T74" fmla="*/ 57 w 503"/>
                  <a:gd name="T75" fmla="*/ 42 h 231"/>
                  <a:gd name="T76" fmla="*/ 54 w 503"/>
                  <a:gd name="T77" fmla="*/ 26 h 231"/>
                  <a:gd name="T78" fmla="*/ 50 w 503"/>
                  <a:gd name="T79" fmla="*/ 49 h 231"/>
                  <a:gd name="T80" fmla="*/ 45 w 503"/>
                  <a:gd name="T81" fmla="*/ 57 h 231"/>
                  <a:gd name="T82" fmla="*/ 42 w 503"/>
                  <a:gd name="T83" fmla="*/ 49 h 23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03"/>
                  <a:gd name="T127" fmla="*/ 0 h 231"/>
                  <a:gd name="T128" fmla="*/ 503 w 503"/>
                  <a:gd name="T129" fmla="*/ 231 h 231"/>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03" h="231">
                    <a:moveTo>
                      <a:pt x="335" y="61"/>
                    </a:moveTo>
                    <a:lnTo>
                      <a:pt x="277" y="31"/>
                    </a:lnTo>
                    <a:lnTo>
                      <a:pt x="251" y="38"/>
                    </a:lnTo>
                    <a:lnTo>
                      <a:pt x="243" y="38"/>
                    </a:lnTo>
                    <a:lnTo>
                      <a:pt x="226" y="15"/>
                    </a:lnTo>
                    <a:lnTo>
                      <a:pt x="184" y="0"/>
                    </a:lnTo>
                    <a:lnTo>
                      <a:pt x="159" y="15"/>
                    </a:lnTo>
                    <a:lnTo>
                      <a:pt x="159" y="31"/>
                    </a:lnTo>
                    <a:lnTo>
                      <a:pt x="159" y="54"/>
                    </a:lnTo>
                    <a:lnTo>
                      <a:pt x="117" y="54"/>
                    </a:lnTo>
                    <a:lnTo>
                      <a:pt x="100" y="38"/>
                    </a:lnTo>
                    <a:lnTo>
                      <a:pt x="58" y="31"/>
                    </a:lnTo>
                    <a:lnTo>
                      <a:pt x="8" y="61"/>
                    </a:lnTo>
                    <a:lnTo>
                      <a:pt x="0" y="69"/>
                    </a:lnTo>
                    <a:lnTo>
                      <a:pt x="17" y="99"/>
                    </a:lnTo>
                    <a:lnTo>
                      <a:pt x="42" y="99"/>
                    </a:lnTo>
                    <a:lnTo>
                      <a:pt x="50" y="115"/>
                    </a:lnTo>
                    <a:lnTo>
                      <a:pt x="50" y="153"/>
                    </a:lnTo>
                    <a:lnTo>
                      <a:pt x="109" y="176"/>
                    </a:lnTo>
                    <a:lnTo>
                      <a:pt x="142" y="199"/>
                    </a:lnTo>
                    <a:lnTo>
                      <a:pt x="201" y="199"/>
                    </a:lnTo>
                    <a:lnTo>
                      <a:pt x="234" y="221"/>
                    </a:lnTo>
                    <a:lnTo>
                      <a:pt x="277" y="230"/>
                    </a:lnTo>
                    <a:lnTo>
                      <a:pt x="310" y="207"/>
                    </a:lnTo>
                    <a:lnTo>
                      <a:pt x="352" y="207"/>
                    </a:lnTo>
                    <a:lnTo>
                      <a:pt x="385" y="183"/>
                    </a:lnTo>
                    <a:lnTo>
                      <a:pt x="377" y="176"/>
                    </a:lnTo>
                    <a:lnTo>
                      <a:pt x="393" y="153"/>
                    </a:lnTo>
                    <a:lnTo>
                      <a:pt x="410" y="160"/>
                    </a:lnTo>
                    <a:lnTo>
                      <a:pt x="444" y="146"/>
                    </a:lnTo>
                    <a:lnTo>
                      <a:pt x="460" y="122"/>
                    </a:lnTo>
                    <a:lnTo>
                      <a:pt x="502" y="122"/>
                    </a:lnTo>
                    <a:lnTo>
                      <a:pt x="494" y="107"/>
                    </a:lnTo>
                    <a:lnTo>
                      <a:pt x="486" y="99"/>
                    </a:lnTo>
                    <a:lnTo>
                      <a:pt x="460" y="107"/>
                    </a:lnTo>
                    <a:lnTo>
                      <a:pt x="444" y="107"/>
                    </a:lnTo>
                    <a:lnTo>
                      <a:pt x="444" y="69"/>
                    </a:lnTo>
                    <a:lnTo>
                      <a:pt x="452" y="54"/>
                    </a:lnTo>
                    <a:lnTo>
                      <a:pt x="427" y="38"/>
                    </a:lnTo>
                    <a:lnTo>
                      <a:pt x="402" y="61"/>
                    </a:lnTo>
                    <a:lnTo>
                      <a:pt x="360" y="69"/>
                    </a:lnTo>
                    <a:lnTo>
                      <a:pt x="335" y="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6" name="Freeform 229"/>
              <p:cNvSpPr>
                <a:spLocks/>
              </p:cNvSpPr>
              <p:nvPr/>
            </p:nvSpPr>
            <p:spPr bwMode="auto">
              <a:xfrm>
                <a:off x="7714414" y="3418161"/>
                <a:ext cx="151001" cy="147448"/>
              </a:xfrm>
              <a:custGeom>
                <a:avLst/>
                <a:gdLst>
                  <a:gd name="T0" fmla="*/ 0 w 101"/>
                  <a:gd name="T1" fmla="*/ 49 h 85"/>
                  <a:gd name="T2" fmla="*/ 0 w 101"/>
                  <a:gd name="T3" fmla="*/ 61 h 85"/>
                  <a:gd name="T4" fmla="*/ 3 w 101"/>
                  <a:gd name="T5" fmla="*/ 57 h 85"/>
                  <a:gd name="T6" fmla="*/ 3 w 101"/>
                  <a:gd name="T7" fmla="*/ 57 h 85"/>
                  <a:gd name="T8" fmla="*/ 3 w 101"/>
                  <a:gd name="T9" fmla="*/ 49 h 85"/>
                  <a:gd name="T10" fmla="*/ 4 w 101"/>
                  <a:gd name="T11" fmla="*/ 49 h 85"/>
                  <a:gd name="T12" fmla="*/ 8 w 101"/>
                  <a:gd name="T13" fmla="*/ 57 h 85"/>
                  <a:gd name="T14" fmla="*/ 9 w 101"/>
                  <a:gd name="T15" fmla="*/ 41 h 85"/>
                  <a:gd name="T16" fmla="*/ 10 w 101"/>
                  <a:gd name="T17" fmla="*/ 41 h 85"/>
                  <a:gd name="T18" fmla="*/ 12 w 101"/>
                  <a:gd name="T19" fmla="*/ 33 h 85"/>
                  <a:gd name="T20" fmla="*/ 12 w 101"/>
                  <a:gd name="T21" fmla="*/ 33 h 85"/>
                  <a:gd name="T22" fmla="*/ 10 w 101"/>
                  <a:gd name="T23" fmla="*/ 25 h 85"/>
                  <a:gd name="T24" fmla="*/ 12 w 101"/>
                  <a:gd name="T25" fmla="*/ 21 h 85"/>
                  <a:gd name="T26" fmla="*/ 10 w 101"/>
                  <a:gd name="T27" fmla="*/ 25 h 85"/>
                  <a:gd name="T28" fmla="*/ 8 w 101"/>
                  <a:gd name="T29" fmla="*/ 21 h 85"/>
                  <a:gd name="T30" fmla="*/ 4 w 101"/>
                  <a:gd name="T31" fmla="*/ 0 h 85"/>
                  <a:gd name="T32" fmla="*/ 4 w 101"/>
                  <a:gd name="T33" fmla="*/ 7 h 85"/>
                  <a:gd name="T34" fmla="*/ 4 w 101"/>
                  <a:gd name="T35" fmla="*/ 14 h 85"/>
                  <a:gd name="T36" fmla="*/ 3 w 101"/>
                  <a:gd name="T37" fmla="*/ 41 h 85"/>
                  <a:gd name="T38" fmla="*/ 3 w 101"/>
                  <a:gd name="T39" fmla="*/ 33 h 85"/>
                  <a:gd name="T40" fmla="*/ 3 w 101"/>
                  <a:gd name="T41" fmla="*/ 41 h 85"/>
                  <a:gd name="T42" fmla="*/ 0 w 101"/>
                  <a:gd name="T43" fmla="*/ 49 h 8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1"/>
                  <a:gd name="T67" fmla="*/ 0 h 85"/>
                  <a:gd name="T68" fmla="*/ 101 w 101"/>
                  <a:gd name="T69" fmla="*/ 85 h 85"/>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1" h="85">
                    <a:moveTo>
                      <a:pt x="0" y="61"/>
                    </a:moveTo>
                    <a:lnTo>
                      <a:pt x="0" y="84"/>
                    </a:lnTo>
                    <a:lnTo>
                      <a:pt x="24" y="75"/>
                    </a:lnTo>
                    <a:lnTo>
                      <a:pt x="16" y="75"/>
                    </a:lnTo>
                    <a:lnTo>
                      <a:pt x="16" y="61"/>
                    </a:lnTo>
                    <a:lnTo>
                      <a:pt x="32" y="61"/>
                    </a:lnTo>
                    <a:lnTo>
                      <a:pt x="66" y="75"/>
                    </a:lnTo>
                    <a:lnTo>
                      <a:pt x="74" y="53"/>
                    </a:lnTo>
                    <a:lnTo>
                      <a:pt x="83" y="53"/>
                    </a:lnTo>
                    <a:lnTo>
                      <a:pt x="100" y="45"/>
                    </a:lnTo>
                    <a:lnTo>
                      <a:pt x="92" y="45"/>
                    </a:lnTo>
                    <a:lnTo>
                      <a:pt x="83" y="37"/>
                    </a:lnTo>
                    <a:lnTo>
                      <a:pt x="92" y="30"/>
                    </a:lnTo>
                    <a:lnTo>
                      <a:pt x="83" y="37"/>
                    </a:lnTo>
                    <a:lnTo>
                      <a:pt x="66" y="30"/>
                    </a:lnTo>
                    <a:lnTo>
                      <a:pt x="32" y="0"/>
                    </a:lnTo>
                    <a:lnTo>
                      <a:pt x="32" y="7"/>
                    </a:lnTo>
                    <a:lnTo>
                      <a:pt x="32" y="14"/>
                    </a:lnTo>
                    <a:lnTo>
                      <a:pt x="24" y="53"/>
                    </a:lnTo>
                    <a:lnTo>
                      <a:pt x="16" y="45"/>
                    </a:lnTo>
                    <a:lnTo>
                      <a:pt x="16" y="53"/>
                    </a:lnTo>
                    <a:lnTo>
                      <a:pt x="0" y="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7" name="Freeform 231"/>
              <p:cNvSpPr>
                <a:spLocks/>
              </p:cNvSpPr>
              <p:nvPr/>
            </p:nvSpPr>
            <p:spPr bwMode="auto">
              <a:xfrm>
                <a:off x="7401752" y="3656211"/>
                <a:ext cx="76389" cy="135013"/>
              </a:xfrm>
              <a:custGeom>
                <a:avLst/>
                <a:gdLst>
                  <a:gd name="T0" fmla="*/ 0 w 51"/>
                  <a:gd name="T1" fmla="*/ 22 h 77"/>
                  <a:gd name="T2" fmla="*/ 4 w 51"/>
                  <a:gd name="T3" fmla="*/ 0 h 77"/>
                  <a:gd name="T4" fmla="*/ 6 w 51"/>
                  <a:gd name="T5" fmla="*/ 22 h 77"/>
                  <a:gd name="T6" fmla="*/ 7 w 51"/>
                  <a:gd name="T7" fmla="*/ 38 h 77"/>
                  <a:gd name="T8" fmla="*/ 6 w 51"/>
                  <a:gd name="T9" fmla="*/ 57 h 77"/>
                  <a:gd name="T10" fmla="*/ 0 w 51"/>
                  <a:gd name="T11" fmla="*/ 64 h 77"/>
                  <a:gd name="T12" fmla="*/ 0 w 51"/>
                  <a:gd name="T13" fmla="*/ 57 h 77"/>
                  <a:gd name="T14" fmla="*/ 0 w 51"/>
                  <a:gd name="T15" fmla="*/ 49 h 77"/>
                  <a:gd name="T16" fmla="*/ 0 w 51"/>
                  <a:gd name="T17" fmla="*/ 31 h 77"/>
                  <a:gd name="T18" fmla="*/ 0 w 51"/>
                  <a:gd name="T19" fmla="*/ 2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77"/>
                  <a:gd name="T32" fmla="*/ 51 w 51"/>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77">
                    <a:moveTo>
                      <a:pt x="0" y="22"/>
                    </a:moveTo>
                    <a:lnTo>
                      <a:pt x="33" y="0"/>
                    </a:lnTo>
                    <a:lnTo>
                      <a:pt x="41" y="22"/>
                    </a:lnTo>
                    <a:lnTo>
                      <a:pt x="50" y="46"/>
                    </a:lnTo>
                    <a:lnTo>
                      <a:pt x="41" y="69"/>
                    </a:lnTo>
                    <a:lnTo>
                      <a:pt x="0" y="76"/>
                    </a:lnTo>
                    <a:lnTo>
                      <a:pt x="0" y="69"/>
                    </a:lnTo>
                    <a:lnTo>
                      <a:pt x="0" y="61"/>
                    </a:lnTo>
                    <a:lnTo>
                      <a:pt x="0" y="31"/>
                    </a:lnTo>
                    <a:lnTo>
                      <a:pt x="0" y="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8" name="Freeform 233"/>
              <p:cNvSpPr>
                <a:spLocks/>
              </p:cNvSpPr>
              <p:nvPr/>
            </p:nvSpPr>
            <p:spPr bwMode="auto">
              <a:xfrm>
                <a:off x="7364446" y="3524751"/>
                <a:ext cx="151001" cy="174096"/>
              </a:xfrm>
              <a:custGeom>
                <a:avLst/>
                <a:gdLst>
                  <a:gd name="T0" fmla="*/ 12 w 101"/>
                  <a:gd name="T1" fmla="*/ 0 h 100"/>
                  <a:gd name="T2" fmla="*/ 10 w 101"/>
                  <a:gd name="T3" fmla="*/ 0 h 100"/>
                  <a:gd name="T4" fmla="*/ 8 w 101"/>
                  <a:gd name="T5" fmla="*/ 15 h 100"/>
                  <a:gd name="T6" fmla="*/ 7 w 101"/>
                  <a:gd name="T7" fmla="*/ 15 h 100"/>
                  <a:gd name="T8" fmla="*/ 6 w 101"/>
                  <a:gd name="T9" fmla="*/ 23 h 100"/>
                  <a:gd name="T10" fmla="*/ 5 w 101"/>
                  <a:gd name="T11" fmla="*/ 23 h 100"/>
                  <a:gd name="T12" fmla="*/ 0 w 101"/>
                  <a:gd name="T13" fmla="*/ 41 h 100"/>
                  <a:gd name="T14" fmla="*/ 0 w 101"/>
                  <a:gd name="T15" fmla="*/ 49 h 100"/>
                  <a:gd name="T16" fmla="*/ 3 w 101"/>
                  <a:gd name="T17" fmla="*/ 49 h 100"/>
                  <a:gd name="T18" fmla="*/ 0 w 101"/>
                  <a:gd name="T19" fmla="*/ 71 h 100"/>
                  <a:gd name="T20" fmla="*/ 3 w 101"/>
                  <a:gd name="T21" fmla="*/ 75 h 100"/>
                  <a:gd name="T22" fmla="*/ 3 w 101"/>
                  <a:gd name="T23" fmla="*/ 75 h 100"/>
                  <a:gd name="T24" fmla="*/ 3 w 101"/>
                  <a:gd name="T25" fmla="*/ 75 h 100"/>
                  <a:gd name="T26" fmla="*/ 7 w 101"/>
                  <a:gd name="T27" fmla="*/ 63 h 100"/>
                  <a:gd name="T28" fmla="*/ 5 w 101"/>
                  <a:gd name="T29" fmla="*/ 57 h 100"/>
                  <a:gd name="T30" fmla="*/ 5 w 101"/>
                  <a:gd name="T31" fmla="*/ 49 h 100"/>
                  <a:gd name="T32" fmla="*/ 9 w 101"/>
                  <a:gd name="T33" fmla="*/ 26 h 100"/>
                  <a:gd name="T34" fmla="*/ 9 w 101"/>
                  <a:gd name="T35" fmla="*/ 23 h 100"/>
                  <a:gd name="T36" fmla="*/ 12 w 101"/>
                  <a:gd name="T37" fmla="*/ 0 h 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1"/>
                  <a:gd name="T58" fmla="*/ 0 h 100"/>
                  <a:gd name="T59" fmla="*/ 101 w 101"/>
                  <a:gd name="T60" fmla="*/ 100 h 1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1" h="100">
                    <a:moveTo>
                      <a:pt x="100" y="0"/>
                    </a:moveTo>
                    <a:lnTo>
                      <a:pt x="84" y="0"/>
                    </a:lnTo>
                    <a:lnTo>
                      <a:pt x="66" y="15"/>
                    </a:lnTo>
                    <a:lnTo>
                      <a:pt x="58" y="15"/>
                    </a:lnTo>
                    <a:lnTo>
                      <a:pt x="50" y="23"/>
                    </a:lnTo>
                    <a:lnTo>
                      <a:pt x="42" y="23"/>
                    </a:lnTo>
                    <a:lnTo>
                      <a:pt x="0" y="53"/>
                    </a:lnTo>
                    <a:lnTo>
                      <a:pt x="0" y="61"/>
                    </a:lnTo>
                    <a:lnTo>
                      <a:pt x="8" y="61"/>
                    </a:lnTo>
                    <a:lnTo>
                      <a:pt x="0" y="92"/>
                    </a:lnTo>
                    <a:lnTo>
                      <a:pt x="8" y="99"/>
                    </a:lnTo>
                    <a:lnTo>
                      <a:pt x="16" y="99"/>
                    </a:lnTo>
                    <a:lnTo>
                      <a:pt x="25" y="99"/>
                    </a:lnTo>
                    <a:lnTo>
                      <a:pt x="58" y="76"/>
                    </a:lnTo>
                    <a:lnTo>
                      <a:pt x="42" y="69"/>
                    </a:lnTo>
                    <a:lnTo>
                      <a:pt x="42" y="61"/>
                    </a:lnTo>
                    <a:lnTo>
                      <a:pt x="75" y="38"/>
                    </a:lnTo>
                    <a:lnTo>
                      <a:pt x="75" y="23"/>
                    </a:lnTo>
                    <a:lnTo>
                      <a:pt x="10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89" name="Freeform 235"/>
              <p:cNvSpPr>
                <a:spLocks/>
              </p:cNvSpPr>
              <p:nvPr/>
            </p:nvSpPr>
            <p:spPr bwMode="auto">
              <a:xfrm>
                <a:off x="7250751" y="4066579"/>
                <a:ext cx="53295" cy="81718"/>
              </a:xfrm>
              <a:custGeom>
                <a:avLst/>
                <a:gdLst>
                  <a:gd name="T0" fmla="*/ 0 w 35"/>
                  <a:gd name="T1" fmla="*/ 23 h 47"/>
                  <a:gd name="T2" fmla="*/ 0 w 35"/>
                  <a:gd name="T3" fmla="*/ 27 h 47"/>
                  <a:gd name="T4" fmla="*/ 3 w 35"/>
                  <a:gd name="T5" fmla="*/ 34 h 47"/>
                  <a:gd name="T6" fmla="*/ 5 w 35"/>
                  <a:gd name="T7" fmla="*/ 0 h 47"/>
                  <a:gd name="T8" fmla="*/ 4 w 35"/>
                  <a:gd name="T9" fmla="*/ 0 h 47"/>
                  <a:gd name="T10" fmla="*/ 0 w 35"/>
                  <a:gd name="T11" fmla="*/ 23 h 47"/>
                  <a:gd name="T12" fmla="*/ 0 60000 65536"/>
                  <a:gd name="T13" fmla="*/ 0 60000 65536"/>
                  <a:gd name="T14" fmla="*/ 0 60000 65536"/>
                  <a:gd name="T15" fmla="*/ 0 60000 65536"/>
                  <a:gd name="T16" fmla="*/ 0 60000 65536"/>
                  <a:gd name="T17" fmla="*/ 0 60000 65536"/>
                  <a:gd name="T18" fmla="*/ 0 w 35"/>
                  <a:gd name="T19" fmla="*/ 0 h 47"/>
                  <a:gd name="T20" fmla="*/ 35 w 35"/>
                  <a:gd name="T21" fmla="*/ 47 h 47"/>
                </a:gdLst>
                <a:ahLst/>
                <a:cxnLst>
                  <a:cxn ang="T12">
                    <a:pos x="T0" y="T1"/>
                  </a:cxn>
                  <a:cxn ang="T13">
                    <a:pos x="T2" y="T3"/>
                  </a:cxn>
                  <a:cxn ang="T14">
                    <a:pos x="T4" y="T5"/>
                  </a:cxn>
                  <a:cxn ang="T15">
                    <a:pos x="T6" y="T7"/>
                  </a:cxn>
                  <a:cxn ang="T16">
                    <a:pos x="T8" y="T9"/>
                  </a:cxn>
                  <a:cxn ang="T17">
                    <a:pos x="T10" y="T11"/>
                  </a:cxn>
                </a:cxnLst>
                <a:rect l="T18" t="T19" r="T20" b="T21"/>
                <a:pathLst>
                  <a:path w="35" h="47">
                    <a:moveTo>
                      <a:pt x="0" y="31"/>
                    </a:moveTo>
                    <a:lnTo>
                      <a:pt x="0" y="39"/>
                    </a:lnTo>
                    <a:lnTo>
                      <a:pt x="17" y="46"/>
                    </a:lnTo>
                    <a:lnTo>
                      <a:pt x="34" y="0"/>
                    </a:lnTo>
                    <a:lnTo>
                      <a:pt x="26" y="0"/>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0" name="Freeform 236"/>
              <p:cNvSpPr>
                <a:spLocks/>
              </p:cNvSpPr>
              <p:nvPr/>
            </p:nvSpPr>
            <p:spPr bwMode="auto">
              <a:xfrm>
                <a:off x="7476365" y="3801882"/>
                <a:ext cx="62177" cy="108366"/>
              </a:xfrm>
              <a:custGeom>
                <a:avLst/>
                <a:gdLst>
                  <a:gd name="T0" fmla="*/ 0 w 42"/>
                  <a:gd name="T1" fmla="*/ 15 h 63"/>
                  <a:gd name="T2" fmla="*/ 0 w 42"/>
                  <a:gd name="T3" fmla="*/ 15 h 63"/>
                  <a:gd name="T4" fmla="*/ 2 w 42"/>
                  <a:gd name="T5" fmla="*/ 15 h 63"/>
                  <a:gd name="T6" fmla="*/ 2 w 42"/>
                  <a:gd name="T7" fmla="*/ 38 h 63"/>
                  <a:gd name="T8" fmla="*/ 2 w 42"/>
                  <a:gd name="T9" fmla="*/ 42 h 63"/>
                  <a:gd name="T10" fmla="*/ 4 w 42"/>
                  <a:gd name="T11" fmla="*/ 38 h 63"/>
                  <a:gd name="T12" fmla="*/ 5 w 42"/>
                  <a:gd name="T13" fmla="*/ 15 h 63"/>
                  <a:gd name="T14" fmla="*/ 4 w 42"/>
                  <a:gd name="T15" fmla="*/ 15 h 63"/>
                  <a:gd name="T16" fmla="*/ 2 w 42"/>
                  <a:gd name="T17" fmla="*/ 0 h 63"/>
                  <a:gd name="T18" fmla="*/ 0 w 42"/>
                  <a:gd name="T19" fmla="*/ 15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63"/>
                  <a:gd name="T32" fmla="*/ 42 w 42"/>
                  <a:gd name="T33" fmla="*/ 63 h 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63">
                    <a:moveTo>
                      <a:pt x="0" y="15"/>
                    </a:moveTo>
                    <a:lnTo>
                      <a:pt x="0" y="24"/>
                    </a:lnTo>
                    <a:lnTo>
                      <a:pt x="8" y="24"/>
                    </a:lnTo>
                    <a:lnTo>
                      <a:pt x="8" y="54"/>
                    </a:lnTo>
                    <a:lnTo>
                      <a:pt x="25" y="62"/>
                    </a:lnTo>
                    <a:lnTo>
                      <a:pt x="33" y="54"/>
                    </a:lnTo>
                    <a:lnTo>
                      <a:pt x="41" y="24"/>
                    </a:lnTo>
                    <a:lnTo>
                      <a:pt x="33" y="15"/>
                    </a:lnTo>
                    <a:lnTo>
                      <a:pt x="8" y="0"/>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1" name="Freeform 238"/>
              <p:cNvSpPr>
                <a:spLocks/>
              </p:cNvSpPr>
              <p:nvPr/>
            </p:nvSpPr>
            <p:spPr bwMode="auto">
              <a:xfrm>
                <a:off x="7538542" y="3801882"/>
                <a:ext cx="63954" cy="42636"/>
              </a:xfrm>
              <a:custGeom>
                <a:avLst/>
                <a:gdLst>
                  <a:gd name="T0" fmla="*/ 0 w 43"/>
                  <a:gd name="T1" fmla="*/ 15 h 24"/>
                  <a:gd name="T2" fmla="*/ 0 w 43"/>
                  <a:gd name="T3" fmla="*/ 23 h 24"/>
                  <a:gd name="T4" fmla="*/ 3 w 43"/>
                  <a:gd name="T5" fmla="*/ 23 h 24"/>
                  <a:gd name="T6" fmla="*/ 3 w 43"/>
                  <a:gd name="T7" fmla="*/ 15 h 24"/>
                  <a:gd name="T8" fmla="*/ 4 w 43"/>
                  <a:gd name="T9" fmla="*/ 15 h 24"/>
                  <a:gd name="T10" fmla="*/ 5 w 43"/>
                  <a:gd name="T11" fmla="*/ 0 h 24"/>
                  <a:gd name="T12" fmla="*/ 3 w 43"/>
                  <a:gd name="T13" fmla="*/ 0 h 24"/>
                  <a:gd name="T14" fmla="*/ 0 w 43"/>
                  <a:gd name="T15" fmla="*/ 15 h 24"/>
                  <a:gd name="T16" fmla="*/ 0 60000 65536"/>
                  <a:gd name="T17" fmla="*/ 0 60000 65536"/>
                  <a:gd name="T18" fmla="*/ 0 60000 65536"/>
                  <a:gd name="T19" fmla="*/ 0 60000 65536"/>
                  <a:gd name="T20" fmla="*/ 0 60000 65536"/>
                  <a:gd name="T21" fmla="*/ 0 60000 65536"/>
                  <a:gd name="T22" fmla="*/ 0 60000 65536"/>
                  <a:gd name="T23" fmla="*/ 0 60000 65536"/>
                  <a:gd name="T24" fmla="*/ 0 w 43"/>
                  <a:gd name="T25" fmla="*/ 0 h 24"/>
                  <a:gd name="T26" fmla="*/ 43 w 43"/>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 h="24">
                    <a:moveTo>
                      <a:pt x="0" y="15"/>
                    </a:moveTo>
                    <a:lnTo>
                      <a:pt x="0" y="23"/>
                    </a:lnTo>
                    <a:lnTo>
                      <a:pt x="9" y="23"/>
                    </a:lnTo>
                    <a:lnTo>
                      <a:pt x="17" y="15"/>
                    </a:lnTo>
                    <a:lnTo>
                      <a:pt x="34" y="15"/>
                    </a:lnTo>
                    <a:lnTo>
                      <a:pt x="42" y="0"/>
                    </a:lnTo>
                    <a:lnTo>
                      <a:pt x="17" y="0"/>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2" name="Freeform 239"/>
              <p:cNvSpPr>
                <a:spLocks/>
              </p:cNvSpPr>
              <p:nvPr/>
            </p:nvSpPr>
            <p:spPr bwMode="auto">
              <a:xfrm>
                <a:off x="7513671" y="3563833"/>
                <a:ext cx="250485" cy="266473"/>
              </a:xfrm>
              <a:custGeom>
                <a:avLst/>
                <a:gdLst>
                  <a:gd name="T0" fmla="*/ 0 w 168"/>
                  <a:gd name="T1" fmla="*/ 104 h 153"/>
                  <a:gd name="T2" fmla="*/ 0 w 168"/>
                  <a:gd name="T3" fmla="*/ 109 h 153"/>
                  <a:gd name="T4" fmla="*/ 3 w 168"/>
                  <a:gd name="T5" fmla="*/ 109 h 153"/>
                  <a:gd name="T6" fmla="*/ 7 w 168"/>
                  <a:gd name="T7" fmla="*/ 98 h 153"/>
                  <a:gd name="T8" fmla="*/ 8 w 168"/>
                  <a:gd name="T9" fmla="*/ 104 h 153"/>
                  <a:gd name="T10" fmla="*/ 8 w 168"/>
                  <a:gd name="T11" fmla="*/ 109 h 153"/>
                  <a:gd name="T12" fmla="*/ 9 w 168"/>
                  <a:gd name="T13" fmla="*/ 119 h 153"/>
                  <a:gd name="T14" fmla="*/ 10 w 168"/>
                  <a:gd name="T15" fmla="*/ 104 h 153"/>
                  <a:gd name="T16" fmla="*/ 10 w 168"/>
                  <a:gd name="T17" fmla="*/ 98 h 153"/>
                  <a:gd name="T18" fmla="*/ 12 w 168"/>
                  <a:gd name="T19" fmla="*/ 104 h 153"/>
                  <a:gd name="T20" fmla="*/ 13 w 168"/>
                  <a:gd name="T21" fmla="*/ 104 h 153"/>
                  <a:gd name="T22" fmla="*/ 14 w 168"/>
                  <a:gd name="T23" fmla="*/ 98 h 153"/>
                  <a:gd name="T24" fmla="*/ 15 w 168"/>
                  <a:gd name="T25" fmla="*/ 104 h 153"/>
                  <a:gd name="T26" fmla="*/ 15 w 168"/>
                  <a:gd name="T27" fmla="*/ 98 h 153"/>
                  <a:gd name="T28" fmla="*/ 16 w 168"/>
                  <a:gd name="T29" fmla="*/ 90 h 153"/>
                  <a:gd name="T30" fmla="*/ 16 w 168"/>
                  <a:gd name="T31" fmla="*/ 98 h 153"/>
                  <a:gd name="T32" fmla="*/ 18 w 168"/>
                  <a:gd name="T33" fmla="*/ 98 h 153"/>
                  <a:gd name="T34" fmla="*/ 19 w 168"/>
                  <a:gd name="T35" fmla="*/ 90 h 153"/>
                  <a:gd name="T36" fmla="*/ 19 w 168"/>
                  <a:gd name="T37" fmla="*/ 56 h 153"/>
                  <a:gd name="T38" fmla="*/ 20 w 168"/>
                  <a:gd name="T39" fmla="*/ 56 h 153"/>
                  <a:gd name="T40" fmla="*/ 20 w 168"/>
                  <a:gd name="T41" fmla="*/ 7 h 153"/>
                  <a:gd name="T42" fmla="*/ 19 w 168"/>
                  <a:gd name="T43" fmla="*/ 0 h 153"/>
                  <a:gd name="T44" fmla="*/ 19 w 168"/>
                  <a:gd name="T45" fmla="*/ 7 h 153"/>
                  <a:gd name="T46" fmla="*/ 18 w 168"/>
                  <a:gd name="T47" fmla="*/ 7 h 153"/>
                  <a:gd name="T48" fmla="*/ 16 w 168"/>
                  <a:gd name="T49" fmla="*/ 33 h 153"/>
                  <a:gd name="T50" fmla="*/ 14 w 168"/>
                  <a:gd name="T51" fmla="*/ 63 h 153"/>
                  <a:gd name="T52" fmla="*/ 12 w 168"/>
                  <a:gd name="T53" fmla="*/ 71 h 153"/>
                  <a:gd name="T54" fmla="*/ 12 w 168"/>
                  <a:gd name="T55" fmla="*/ 63 h 153"/>
                  <a:gd name="T56" fmla="*/ 10 w 168"/>
                  <a:gd name="T57" fmla="*/ 68 h 153"/>
                  <a:gd name="T58" fmla="*/ 9 w 168"/>
                  <a:gd name="T59" fmla="*/ 90 h 153"/>
                  <a:gd name="T60" fmla="*/ 8 w 168"/>
                  <a:gd name="T61" fmla="*/ 90 h 153"/>
                  <a:gd name="T62" fmla="*/ 3 w 168"/>
                  <a:gd name="T63" fmla="*/ 90 h 153"/>
                  <a:gd name="T64" fmla="*/ 0 w 168"/>
                  <a:gd name="T65" fmla="*/ 104 h 1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8"/>
                  <a:gd name="T100" fmla="*/ 0 h 153"/>
                  <a:gd name="T101" fmla="*/ 168 w 168"/>
                  <a:gd name="T102" fmla="*/ 153 h 1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8" h="153">
                    <a:moveTo>
                      <a:pt x="0" y="129"/>
                    </a:moveTo>
                    <a:lnTo>
                      <a:pt x="0" y="136"/>
                    </a:lnTo>
                    <a:lnTo>
                      <a:pt x="16" y="136"/>
                    </a:lnTo>
                    <a:lnTo>
                      <a:pt x="58" y="122"/>
                    </a:lnTo>
                    <a:lnTo>
                      <a:pt x="67" y="129"/>
                    </a:lnTo>
                    <a:lnTo>
                      <a:pt x="67" y="136"/>
                    </a:lnTo>
                    <a:lnTo>
                      <a:pt x="76" y="152"/>
                    </a:lnTo>
                    <a:lnTo>
                      <a:pt x="84" y="129"/>
                    </a:lnTo>
                    <a:lnTo>
                      <a:pt x="84" y="122"/>
                    </a:lnTo>
                    <a:lnTo>
                      <a:pt x="100" y="129"/>
                    </a:lnTo>
                    <a:lnTo>
                      <a:pt x="108" y="129"/>
                    </a:lnTo>
                    <a:lnTo>
                      <a:pt x="117" y="122"/>
                    </a:lnTo>
                    <a:lnTo>
                      <a:pt x="126" y="129"/>
                    </a:lnTo>
                    <a:lnTo>
                      <a:pt x="126" y="122"/>
                    </a:lnTo>
                    <a:lnTo>
                      <a:pt x="134" y="114"/>
                    </a:lnTo>
                    <a:lnTo>
                      <a:pt x="134" y="122"/>
                    </a:lnTo>
                    <a:lnTo>
                      <a:pt x="150" y="122"/>
                    </a:lnTo>
                    <a:lnTo>
                      <a:pt x="159" y="114"/>
                    </a:lnTo>
                    <a:lnTo>
                      <a:pt x="159" y="68"/>
                    </a:lnTo>
                    <a:lnTo>
                      <a:pt x="167" y="68"/>
                    </a:lnTo>
                    <a:lnTo>
                      <a:pt x="167" y="7"/>
                    </a:lnTo>
                    <a:lnTo>
                      <a:pt x="159" y="0"/>
                    </a:lnTo>
                    <a:lnTo>
                      <a:pt x="159" y="7"/>
                    </a:lnTo>
                    <a:lnTo>
                      <a:pt x="150" y="7"/>
                    </a:lnTo>
                    <a:lnTo>
                      <a:pt x="134" y="45"/>
                    </a:lnTo>
                    <a:lnTo>
                      <a:pt x="117" y="75"/>
                    </a:lnTo>
                    <a:lnTo>
                      <a:pt x="100" y="91"/>
                    </a:lnTo>
                    <a:lnTo>
                      <a:pt x="100" y="75"/>
                    </a:lnTo>
                    <a:lnTo>
                      <a:pt x="84" y="84"/>
                    </a:lnTo>
                    <a:lnTo>
                      <a:pt x="76" y="114"/>
                    </a:lnTo>
                    <a:lnTo>
                      <a:pt x="67" y="114"/>
                    </a:lnTo>
                    <a:lnTo>
                      <a:pt x="26" y="114"/>
                    </a:lnTo>
                    <a:lnTo>
                      <a:pt x="0" y="12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3" name="Freeform 241"/>
              <p:cNvSpPr>
                <a:spLocks/>
              </p:cNvSpPr>
              <p:nvPr/>
            </p:nvSpPr>
            <p:spPr bwMode="auto">
              <a:xfrm>
                <a:off x="7762379" y="3073523"/>
                <a:ext cx="63954" cy="346415"/>
              </a:xfrm>
              <a:custGeom>
                <a:avLst/>
                <a:gdLst>
                  <a:gd name="T0" fmla="*/ 0 w 42"/>
                  <a:gd name="T1" fmla="*/ 20 h 200"/>
                  <a:gd name="T2" fmla="*/ 0 w 42"/>
                  <a:gd name="T3" fmla="*/ 51 h 200"/>
                  <a:gd name="T4" fmla="*/ 3 w 42"/>
                  <a:gd name="T5" fmla="*/ 55 h 200"/>
                  <a:gd name="T6" fmla="*/ 0 w 42"/>
                  <a:gd name="T7" fmla="*/ 95 h 200"/>
                  <a:gd name="T8" fmla="*/ 3 w 42"/>
                  <a:gd name="T9" fmla="*/ 113 h 200"/>
                  <a:gd name="T10" fmla="*/ 0 w 42"/>
                  <a:gd name="T11" fmla="*/ 130 h 200"/>
                  <a:gd name="T12" fmla="*/ 3 w 42"/>
                  <a:gd name="T13" fmla="*/ 147 h 200"/>
                  <a:gd name="T14" fmla="*/ 3 w 42"/>
                  <a:gd name="T15" fmla="*/ 130 h 200"/>
                  <a:gd name="T16" fmla="*/ 5 w 42"/>
                  <a:gd name="T17" fmla="*/ 135 h 200"/>
                  <a:gd name="T18" fmla="*/ 5 w 42"/>
                  <a:gd name="T19" fmla="*/ 130 h 200"/>
                  <a:gd name="T20" fmla="*/ 3 w 42"/>
                  <a:gd name="T21" fmla="*/ 113 h 200"/>
                  <a:gd name="T22" fmla="*/ 3 w 42"/>
                  <a:gd name="T23" fmla="*/ 90 h 200"/>
                  <a:gd name="T24" fmla="*/ 5 w 42"/>
                  <a:gd name="T25" fmla="*/ 90 h 200"/>
                  <a:gd name="T26" fmla="*/ 7 w 42"/>
                  <a:gd name="T27" fmla="*/ 90 h 200"/>
                  <a:gd name="T28" fmla="*/ 3 w 42"/>
                  <a:gd name="T29" fmla="*/ 41 h 200"/>
                  <a:gd name="T30" fmla="*/ 3 w 42"/>
                  <a:gd name="T31" fmla="*/ 7 h 200"/>
                  <a:gd name="T32" fmla="*/ 3 w 42"/>
                  <a:gd name="T33" fmla="*/ 0 h 200"/>
                  <a:gd name="T34" fmla="*/ 3 w 42"/>
                  <a:gd name="T35" fmla="*/ 0 h 200"/>
                  <a:gd name="T36" fmla="*/ 3 w 42"/>
                  <a:gd name="T37" fmla="*/ 7 h 200"/>
                  <a:gd name="T38" fmla="*/ 0 w 42"/>
                  <a:gd name="T39" fmla="*/ 20 h 20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2"/>
                  <a:gd name="T61" fmla="*/ 0 h 200"/>
                  <a:gd name="T62" fmla="*/ 42 w 42"/>
                  <a:gd name="T63" fmla="*/ 200 h 20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2" h="200">
                    <a:moveTo>
                      <a:pt x="0" y="23"/>
                    </a:moveTo>
                    <a:lnTo>
                      <a:pt x="0" y="68"/>
                    </a:lnTo>
                    <a:lnTo>
                      <a:pt x="9" y="76"/>
                    </a:lnTo>
                    <a:lnTo>
                      <a:pt x="0" y="129"/>
                    </a:lnTo>
                    <a:lnTo>
                      <a:pt x="9" y="152"/>
                    </a:lnTo>
                    <a:lnTo>
                      <a:pt x="0" y="175"/>
                    </a:lnTo>
                    <a:lnTo>
                      <a:pt x="9" y="199"/>
                    </a:lnTo>
                    <a:lnTo>
                      <a:pt x="9" y="175"/>
                    </a:lnTo>
                    <a:lnTo>
                      <a:pt x="33" y="183"/>
                    </a:lnTo>
                    <a:lnTo>
                      <a:pt x="33" y="175"/>
                    </a:lnTo>
                    <a:lnTo>
                      <a:pt x="9" y="152"/>
                    </a:lnTo>
                    <a:lnTo>
                      <a:pt x="17" y="122"/>
                    </a:lnTo>
                    <a:lnTo>
                      <a:pt x="33" y="122"/>
                    </a:lnTo>
                    <a:lnTo>
                      <a:pt x="41" y="122"/>
                    </a:lnTo>
                    <a:lnTo>
                      <a:pt x="17" y="53"/>
                    </a:lnTo>
                    <a:lnTo>
                      <a:pt x="17" y="7"/>
                    </a:lnTo>
                    <a:lnTo>
                      <a:pt x="17" y="0"/>
                    </a:lnTo>
                    <a:lnTo>
                      <a:pt x="9" y="0"/>
                    </a:lnTo>
                    <a:lnTo>
                      <a:pt x="9" y="7"/>
                    </a:lnTo>
                    <a:lnTo>
                      <a:pt x="0"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4" name="Freeform 244"/>
              <p:cNvSpPr>
                <a:spLocks/>
              </p:cNvSpPr>
              <p:nvPr/>
            </p:nvSpPr>
            <p:spPr bwMode="auto">
              <a:xfrm>
                <a:off x="6840382" y="4134085"/>
                <a:ext cx="163437" cy="374839"/>
              </a:xfrm>
              <a:custGeom>
                <a:avLst/>
                <a:gdLst>
                  <a:gd name="T0" fmla="*/ 0 w 109"/>
                  <a:gd name="T1" fmla="*/ 7 h 216"/>
                  <a:gd name="T2" fmla="*/ 0 w 109"/>
                  <a:gd name="T3" fmla="*/ 0 h 216"/>
                  <a:gd name="T4" fmla="*/ 3 w 109"/>
                  <a:gd name="T5" fmla="*/ 7 h 216"/>
                  <a:gd name="T6" fmla="*/ 7 w 109"/>
                  <a:gd name="T7" fmla="*/ 0 h 216"/>
                  <a:gd name="T8" fmla="*/ 8 w 109"/>
                  <a:gd name="T9" fmla="*/ 0 h 216"/>
                  <a:gd name="T10" fmla="*/ 8 w 109"/>
                  <a:gd name="T11" fmla="*/ 16 h 216"/>
                  <a:gd name="T12" fmla="*/ 12 w 109"/>
                  <a:gd name="T13" fmla="*/ 16 h 216"/>
                  <a:gd name="T14" fmla="*/ 8 w 109"/>
                  <a:gd name="T15" fmla="*/ 21 h 216"/>
                  <a:gd name="T16" fmla="*/ 8 w 109"/>
                  <a:gd name="T17" fmla="*/ 34 h 216"/>
                  <a:gd name="T18" fmla="*/ 7 w 109"/>
                  <a:gd name="T19" fmla="*/ 42 h 216"/>
                  <a:gd name="T20" fmla="*/ 13 w 109"/>
                  <a:gd name="T21" fmla="*/ 94 h 216"/>
                  <a:gd name="T22" fmla="*/ 14 w 109"/>
                  <a:gd name="T23" fmla="*/ 104 h 216"/>
                  <a:gd name="T24" fmla="*/ 13 w 109"/>
                  <a:gd name="T25" fmla="*/ 134 h 216"/>
                  <a:gd name="T26" fmla="*/ 10 w 109"/>
                  <a:gd name="T27" fmla="*/ 145 h 216"/>
                  <a:gd name="T28" fmla="*/ 8 w 109"/>
                  <a:gd name="T29" fmla="*/ 145 h 216"/>
                  <a:gd name="T30" fmla="*/ 8 w 109"/>
                  <a:gd name="T31" fmla="*/ 156 h 216"/>
                  <a:gd name="T32" fmla="*/ 6 w 109"/>
                  <a:gd name="T33" fmla="*/ 162 h 216"/>
                  <a:gd name="T34" fmla="*/ 6 w 109"/>
                  <a:gd name="T35" fmla="*/ 150 h 216"/>
                  <a:gd name="T36" fmla="*/ 3 w 109"/>
                  <a:gd name="T37" fmla="*/ 145 h 216"/>
                  <a:gd name="T38" fmla="*/ 7 w 109"/>
                  <a:gd name="T39" fmla="*/ 134 h 216"/>
                  <a:gd name="T40" fmla="*/ 8 w 109"/>
                  <a:gd name="T41" fmla="*/ 127 h 216"/>
                  <a:gd name="T42" fmla="*/ 10 w 109"/>
                  <a:gd name="T43" fmla="*/ 122 h 216"/>
                  <a:gd name="T44" fmla="*/ 10 w 109"/>
                  <a:gd name="T45" fmla="*/ 98 h 216"/>
                  <a:gd name="T46" fmla="*/ 10 w 109"/>
                  <a:gd name="T47" fmla="*/ 89 h 216"/>
                  <a:gd name="T48" fmla="*/ 8 w 109"/>
                  <a:gd name="T49" fmla="*/ 67 h 216"/>
                  <a:gd name="T50" fmla="*/ 8 w 109"/>
                  <a:gd name="T51" fmla="*/ 62 h 216"/>
                  <a:gd name="T52" fmla="*/ 3 w 109"/>
                  <a:gd name="T53" fmla="*/ 42 h 216"/>
                  <a:gd name="T54" fmla="*/ 6 w 109"/>
                  <a:gd name="T55" fmla="*/ 34 h 216"/>
                  <a:gd name="T56" fmla="*/ 3 w 109"/>
                  <a:gd name="T57" fmla="*/ 26 h 216"/>
                  <a:gd name="T58" fmla="*/ 3 w 109"/>
                  <a:gd name="T59" fmla="*/ 21 h 216"/>
                  <a:gd name="T60" fmla="*/ 0 w 109"/>
                  <a:gd name="T61" fmla="*/ 7 h 21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9"/>
                  <a:gd name="T94" fmla="*/ 0 h 216"/>
                  <a:gd name="T95" fmla="*/ 109 w 109"/>
                  <a:gd name="T96" fmla="*/ 216 h 21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9" h="216">
                    <a:moveTo>
                      <a:pt x="0" y="7"/>
                    </a:moveTo>
                    <a:lnTo>
                      <a:pt x="0" y="0"/>
                    </a:lnTo>
                    <a:lnTo>
                      <a:pt x="8" y="7"/>
                    </a:lnTo>
                    <a:lnTo>
                      <a:pt x="50" y="0"/>
                    </a:lnTo>
                    <a:lnTo>
                      <a:pt x="66" y="0"/>
                    </a:lnTo>
                    <a:lnTo>
                      <a:pt x="66" y="16"/>
                    </a:lnTo>
                    <a:lnTo>
                      <a:pt x="92" y="16"/>
                    </a:lnTo>
                    <a:lnTo>
                      <a:pt x="66" y="23"/>
                    </a:lnTo>
                    <a:lnTo>
                      <a:pt x="58" y="46"/>
                    </a:lnTo>
                    <a:lnTo>
                      <a:pt x="50" y="54"/>
                    </a:lnTo>
                    <a:lnTo>
                      <a:pt x="100" y="123"/>
                    </a:lnTo>
                    <a:lnTo>
                      <a:pt x="108" y="138"/>
                    </a:lnTo>
                    <a:lnTo>
                      <a:pt x="100" y="177"/>
                    </a:lnTo>
                    <a:lnTo>
                      <a:pt x="75" y="191"/>
                    </a:lnTo>
                    <a:lnTo>
                      <a:pt x="66" y="191"/>
                    </a:lnTo>
                    <a:lnTo>
                      <a:pt x="58" y="207"/>
                    </a:lnTo>
                    <a:lnTo>
                      <a:pt x="42" y="215"/>
                    </a:lnTo>
                    <a:lnTo>
                      <a:pt x="42" y="199"/>
                    </a:lnTo>
                    <a:lnTo>
                      <a:pt x="25" y="191"/>
                    </a:lnTo>
                    <a:lnTo>
                      <a:pt x="50" y="177"/>
                    </a:lnTo>
                    <a:lnTo>
                      <a:pt x="58" y="168"/>
                    </a:lnTo>
                    <a:lnTo>
                      <a:pt x="75" y="161"/>
                    </a:lnTo>
                    <a:lnTo>
                      <a:pt x="75" y="130"/>
                    </a:lnTo>
                    <a:lnTo>
                      <a:pt x="75" y="116"/>
                    </a:lnTo>
                    <a:lnTo>
                      <a:pt x="58" y="91"/>
                    </a:lnTo>
                    <a:lnTo>
                      <a:pt x="58" y="84"/>
                    </a:lnTo>
                    <a:lnTo>
                      <a:pt x="16" y="54"/>
                    </a:lnTo>
                    <a:lnTo>
                      <a:pt x="42" y="46"/>
                    </a:lnTo>
                    <a:lnTo>
                      <a:pt x="25" y="38"/>
                    </a:lnTo>
                    <a:lnTo>
                      <a:pt x="8" y="23"/>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5" name="Freeform 245"/>
              <p:cNvSpPr>
                <a:spLocks/>
              </p:cNvSpPr>
              <p:nvPr/>
            </p:nvSpPr>
            <p:spPr bwMode="auto">
              <a:xfrm>
                <a:off x="6840382" y="4359699"/>
                <a:ext cx="111919" cy="106589"/>
              </a:xfrm>
              <a:custGeom>
                <a:avLst/>
                <a:gdLst>
                  <a:gd name="T0" fmla="*/ 3 w 75"/>
                  <a:gd name="T1" fmla="*/ 41 h 62"/>
                  <a:gd name="T2" fmla="*/ 6 w 75"/>
                  <a:gd name="T3" fmla="*/ 34 h 62"/>
                  <a:gd name="T4" fmla="*/ 7 w 75"/>
                  <a:gd name="T5" fmla="*/ 26 h 62"/>
                  <a:gd name="T6" fmla="*/ 9 w 75"/>
                  <a:gd name="T7" fmla="*/ 19 h 62"/>
                  <a:gd name="T8" fmla="*/ 9 w 75"/>
                  <a:gd name="T9" fmla="*/ 0 h 62"/>
                  <a:gd name="T10" fmla="*/ 7 w 75"/>
                  <a:gd name="T11" fmla="*/ 0 h 62"/>
                  <a:gd name="T12" fmla="*/ 7 w 75"/>
                  <a:gd name="T13" fmla="*/ 8 h 62"/>
                  <a:gd name="T14" fmla="*/ 6 w 75"/>
                  <a:gd name="T15" fmla="*/ 0 h 62"/>
                  <a:gd name="T16" fmla="*/ 3 w 75"/>
                  <a:gd name="T17" fmla="*/ 0 h 62"/>
                  <a:gd name="T18" fmla="*/ 0 w 75"/>
                  <a:gd name="T19" fmla="*/ 15 h 62"/>
                  <a:gd name="T20" fmla="*/ 3 w 75"/>
                  <a:gd name="T21" fmla="*/ 26 h 62"/>
                  <a:gd name="T22" fmla="*/ 3 w 75"/>
                  <a:gd name="T23" fmla="*/ 34 h 62"/>
                  <a:gd name="T24" fmla="*/ 3 w 75"/>
                  <a:gd name="T25" fmla="*/ 41 h 62"/>
                  <a:gd name="T26" fmla="*/ 3 w 75"/>
                  <a:gd name="T27" fmla="*/ 41 h 6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62"/>
                  <a:gd name="T44" fmla="*/ 75 w 75"/>
                  <a:gd name="T45" fmla="*/ 62 h 6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62">
                    <a:moveTo>
                      <a:pt x="25" y="61"/>
                    </a:moveTo>
                    <a:lnTo>
                      <a:pt x="50" y="46"/>
                    </a:lnTo>
                    <a:lnTo>
                      <a:pt x="58" y="38"/>
                    </a:lnTo>
                    <a:lnTo>
                      <a:pt x="74" y="31"/>
                    </a:lnTo>
                    <a:lnTo>
                      <a:pt x="74" y="0"/>
                    </a:lnTo>
                    <a:lnTo>
                      <a:pt x="58" y="0"/>
                    </a:lnTo>
                    <a:lnTo>
                      <a:pt x="58" y="8"/>
                    </a:lnTo>
                    <a:lnTo>
                      <a:pt x="50" y="0"/>
                    </a:lnTo>
                    <a:lnTo>
                      <a:pt x="8" y="0"/>
                    </a:lnTo>
                    <a:lnTo>
                      <a:pt x="0" y="15"/>
                    </a:lnTo>
                    <a:lnTo>
                      <a:pt x="8" y="38"/>
                    </a:lnTo>
                    <a:lnTo>
                      <a:pt x="8" y="46"/>
                    </a:lnTo>
                    <a:lnTo>
                      <a:pt x="8" y="61"/>
                    </a:lnTo>
                    <a:lnTo>
                      <a:pt x="25" y="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6" name="Freeform 246"/>
              <p:cNvSpPr>
                <a:spLocks/>
              </p:cNvSpPr>
              <p:nvPr/>
            </p:nvSpPr>
            <p:spPr bwMode="auto">
              <a:xfrm>
                <a:off x="6989607" y="4214027"/>
                <a:ext cx="65730" cy="55071"/>
              </a:xfrm>
              <a:custGeom>
                <a:avLst/>
                <a:gdLst>
                  <a:gd name="T0" fmla="*/ 0 w 43"/>
                  <a:gd name="T1" fmla="*/ 8 h 32"/>
                  <a:gd name="T2" fmla="*/ 0 w 43"/>
                  <a:gd name="T3" fmla="*/ 16 h 32"/>
                  <a:gd name="T4" fmla="*/ 3 w 43"/>
                  <a:gd name="T5" fmla="*/ 19 h 32"/>
                  <a:gd name="T6" fmla="*/ 3 w 43"/>
                  <a:gd name="T7" fmla="*/ 16 h 32"/>
                  <a:gd name="T8" fmla="*/ 7 w 43"/>
                  <a:gd name="T9" fmla="*/ 0 h 32"/>
                  <a:gd name="T10" fmla="*/ 3 w 43"/>
                  <a:gd name="T11" fmla="*/ 0 h 32"/>
                  <a:gd name="T12" fmla="*/ 0 w 43"/>
                  <a:gd name="T13" fmla="*/ 8 h 32"/>
                  <a:gd name="T14" fmla="*/ 0 60000 65536"/>
                  <a:gd name="T15" fmla="*/ 0 60000 65536"/>
                  <a:gd name="T16" fmla="*/ 0 60000 65536"/>
                  <a:gd name="T17" fmla="*/ 0 60000 65536"/>
                  <a:gd name="T18" fmla="*/ 0 60000 65536"/>
                  <a:gd name="T19" fmla="*/ 0 60000 65536"/>
                  <a:gd name="T20" fmla="*/ 0 60000 65536"/>
                  <a:gd name="T21" fmla="*/ 0 w 43"/>
                  <a:gd name="T22" fmla="*/ 0 h 32"/>
                  <a:gd name="T23" fmla="*/ 43 w 43"/>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32">
                    <a:moveTo>
                      <a:pt x="0" y="8"/>
                    </a:moveTo>
                    <a:lnTo>
                      <a:pt x="0" y="22"/>
                    </a:lnTo>
                    <a:lnTo>
                      <a:pt x="16" y="31"/>
                    </a:lnTo>
                    <a:lnTo>
                      <a:pt x="24" y="22"/>
                    </a:lnTo>
                    <a:lnTo>
                      <a:pt x="42" y="0"/>
                    </a:lnTo>
                    <a:lnTo>
                      <a:pt x="8"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7" name="Freeform 248"/>
              <p:cNvSpPr>
                <a:spLocks/>
              </p:cNvSpPr>
              <p:nvPr/>
            </p:nvSpPr>
            <p:spPr bwMode="auto">
              <a:xfrm>
                <a:off x="7250751" y="4253110"/>
                <a:ext cx="101260" cy="133237"/>
              </a:xfrm>
              <a:custGeom>
                <a:avLst/>
                <a:gdLst>
                  <a:gd name="T0" fmla="*/ 0 w 68"/>
                  <a:gd name="T1" fmla="*/ 19 h 77"/>
                  <a:gd name="T2" fmla="*/ 0 w 68"/>
                  <a:gd name="T3" fmla="*/ 41 h 77"/>
                  <a:gd name="T4" fmla="*/ 3 w 68"/>
                  <a:gd name="T5" fmla="*/ 47 h 77"/>
                  <a:gd name="T6" fmla="*/ 3 w 68"/>
                  <a:gd name="T7" fmla="*/ 51 h 77"/>
                  <a:gd name="T8" fmla="*/ 3 w 68"/>
                  <a:gd name="T9" fmla="*/ 51 h 77"/>
                  <a:gd name="T10" fmla="*/ 4 w 68"/>
                  <a:gd name="T11" fmla="*/ 51 h 77"/>
                  <a:gd name="T12" fmla="*/ 5 w 68"/>
                  <a:gd name="T13" fmla="*/ 54 h 77"/>
                  <a:gd name="T14" fmla="*/ 5 w 68"/>
                  <a:gd name="T15" fmla="*/ 51 h 77"/>
                  <a:gd name="T16" fmla="*/ 7 w 68"/>
                  <a:gd name="T17" fmla="*/ 54 h 77"/>
                  <a:gd name="T18" fmla="*/ 8 w 68"/>
                  <a:gd name="T19" fmla="*/ 54 h 77"/>
                  <a:gd name="T20" fmla="*/ 7 w 68"/>
                  <a:gd name="T21" fmla="*/ 51 h 77"/>
                  <a:gd name="T22" fmla="*/ 8 w 68"/>
                  <a:gd name="T23" fmla="*/ 51 h 77"/>
                  <a:gd name="T24" fmla="*/ 5 w 68"/>
                  <a:gd name="T25" fmla="*/ 47 h 77"/>
                  <a:gd name="T26" fmla="*/ 4 w 68"/>
                  <a:gd name="T27" fmla="*/ 51 h 77"/>
                  <a:gd name="T28" fmla="*/ 3 w 68"/>
                  <a:gd name="T29" fmla="*/ 41 h 77"/>
                  <a:gd name="T30" fmla="*/ 5 w 68"/>
                  <a:gd name="T31" fmla="*/ 19 h 77"/>
                  <a:gd name="T32" fmla="*/ 4 w 68"/>
                  <a:gd name="T33" fmla="*/ 15 h 77"/>
                  <a:gd name="T34" fmla="*/ 5 w 68"/>
                  <a:gd name="T35" fmla="*/ 0 h 77"/>
                  <a:gd name="T36" fmla="*/ 4 w 68"/>
                  <a:gd name="T37" fmla="*/ 8 h 77"/>
                  <a:gd name="T38" fmla="*/ 3 w 68"/>
                  <a:gd name="T39" fmla="*/ 0 h 77"/>
                  <a:gd name="T40" fmla="*/ 0 w 68"/>
                  <a:gd name="T41" fmla="*/ 19 h 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8"/>
                  <a:gd name="T64" fmla="*/ 0 h 77"/>
                  <a:gd name="T65" fmla="*/ 68 w 68"/>
                  <a:gd name="T66" fmla="*/ 77 h 7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8" h="77">
                    <a:moveTo>
                      <a:pt x="0" y="31"/>
                    </a:moveTo>
                    <a:lnTo>
                      <a:pt x="0" y="53"/>
                    </a:lnTo>
                    <a:lnTo>
                      <a:pt x="17" y="61"/>
                    </a:lnTo>
                    <a:lnTo>
                      <a:pt x="17" y="69"/>
                    </a:lnTo>
                    <a:lnTo>
                      <a:pt x="25" y="69"/>
                    </a:lnTo>
                    <a:lnTo>
                      <a:pt x="33" y="69"/>
                    </a:lnTo>
                    <a:lnTo>
                      <a:pt x="42" y="76"/>
                    </a:lnTo>
                    <a:lnTo>
                      <a:pt x="42" y="69"/>
                    </a:lnTo>
                    <a:lnTo>
                      <a:pt x="51" y="76"/>
                    </a:lnTo>
                    <a:lnTo>
                      <a:pt x="67" y="76"/>
                    </a:lnTo>
                    <a:lnTo>
                      <a:pt x="51" y="69"/>
                    </a:lnTo>
                    <a:lnTo>
                      <a:pt x="67" y="69"/>
                    </a:lnTo>
                    <a:lnTo>
                      <a:pt x="42" y="61"/>
                    </a:lnTo>
                    <a:lnTo>
                      <a:pt x="33" y="69"/>
                    </a:lnTo>
                    <a:lnTo>
                      <a:pt x="25" y="53"/>
                    </a:lnTo>
                    <a:lnTo>
                      <a:pt x="42" y="23"/>
                    </a:lnTo>
                    <a:lnTo>
                      <a:pt x="33" y="15"/>
                    </a:lnTo>
                    <a:lnTo>
                      <a:pt x="42" y="0"/>
                    </a:lnTo>
                    <a:lnTo>
                      <a:pt x="33" y="8"/>
                    </a:lnTo>
                    <a:lnTo>
                      <a:pt x="17" y="0"/>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8" name="Freeform 249"/>
              <p:cNvSpPr>
                <a:spLocks/>
              </p:cNvSpPr>
              <p:nvPr/>
            </p:nvSpPr>
            <p:spPr bwMode="auto">
              <a:xfrm>
                <a:off x="7176138" y="4437865"/>
                <a:ext cx="65730" cy="81718"/>
              </a:xfrm>
              <a:custGeom>
                <a:avLst/>
                <a:gdLst>
                  <a:gd name="T0" fmla="*/ 0 w 43"/>
                  <a:gd name="T1" fmla="*/ 34 h 47"/>
                  <a:gd name="T2" fmla="*/ 7 w 43"/>
                  <a:gd name="T3" fmla="*/ 15 h 47"/>
                  <a:gd name="T4" fmla="*/ 7 w 43"/>
                  <a:gd name="T5" fmla="*/ 0 h 47"/>
                  <a:gd name="T6" fmla="*/ 0 w 43"/>
                  <a:gd name="T7" fmla="*/ 34 h 47"/>
                  <a:gd name="T8" fmla="*/ 0 60000 65536"/>
                  <a:gd name="T9" fmla="*/ 0 60000 65536"/>
                  <a:gd name="T10" fmla="*/ 0 60000 65536"/>
                  <a:gd name="T11" fmla="*/ 0 60000 65536"/>
                  <a:gd name="T12" fmla="*/ 0 w 43"/>
                  <a:gd name="T13" fmla="*/ 0 h 47"/>
                  <a:gd name="T14" fmla="*/ 43 w 43"/>
                  <a:gd name="T15" fmla="*/ 47 h 47"/>
                </a:gdLst>
                <a:ahLst/>
                <a:cxnLst>
                  <a:cxn ang="T8">
                    <a:pos x="T0" y="T1"/>
                  </a:cxn>
                  <a:cxn ang="T9">
                    <a:pos x="T2" y="T3"/>
                  </a:cxn>
                  <a:cxn ang="T10">
                    <a:pos x="T4" y="T5"/>
                  </a:cxn>
                  <a:cxn ang="T11">
                    <a:pos x="T6" y="T7"/>
                  </a:cxn>
                </a:cxnLst>
                <a:rect l="T12" t="T13" r="T14" b="T15"/>
                <a:pathLst>
                  <a:path w="43" h="47">
                    <a:moveTo>
                      <a:pt x="0" y="46"/>
                    </a:moveTo>
                    <a:lnTo>
                      <a:pt x="42" y="15"/>
                    </a:lnTo>
                    <a:lnTo>
                      <a:pt x="42" y="0"/>
                    </a:lnTo>
                    <a:lnTo>
                      <a:pt x="0" y="4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99" name="Freeform 250"/>
              <p:cNvSpPr>
                <a:spLocks/>
              </p:cNvSpPr>
              <p:nvPr/>
            </p:nvSpPr>
            <p:spPr bwMode="auto">
              <a:xfrm>
                <a:off x="7176138" y="4437865"/>
                <a:ext cx="65730" cy="81718"/>
              </a:xfrm>
              <a:custGeom>
                <a:avLst/>
                <a:gdLst>
                  <a:gd name="T0" fmla="*/ 0 w 43"/>
                  <a:gd name="T1" fmla="*/ 34 h 47"/>
                  <a:gd name="T2" fmla="*/ 7 w 43"/>
                  <a:gd name="T3" fmla="*/ 15 h 47"/>
                  <a:gd name="T4" fmla="*/ 7 w 43"/>
                  <a:gd name="T5" fmla="*/ 0 h 47"/>
                  <a:gd name="T6" fmla="*/ 0 w 43"/>
                  <a:gd name="T7" fmla="*/ 34 h 47"/>
                  <a:gd name="T8" fmla="*/ 0 60000 65536"/>
                  <a:gd name="T9" fmla="*/ 0 60000 65536"/>
                  <a:gd name="T10" fmla="*/ 0 60000 65536"/>
                  <a:gd name="T11" fmla="*/ 0 60000 65536"/>
                  <a:gd name="T12" fmla="*/ 0 w 43"/>
                  <a:gd name="T13" fmla="*/ 0 h 47"/>
                  <a:gd name="T14" fmla="*/ 43 w 43"/>
                  <a:gd name="T15" fmla="*/ 47 h 47"/>
                </a:gdLst>
                <a:ahLst/>
                <a:cxnLst>
                  <a:cxn ang="T8">
                    <a:pos x="T0" y="T1"/>
                  </a:cxn>
                  <a:cxn ang="T9">
                    <a:pos x="T2" y="T3"/>
                  </a:cxn>
                  <a:cxn ang="T10">
                    <a:pos x="T4" y="T5"/>
                  </a:cxn>
                  <a:cxn ang="T11">
                    <a:pos x="T6" y="T7"/>
                  </a:cxn>
                </a:cxnLst>
                <a:rect l="T12" t="T13" r="T14" b="T15"/>
                <a:pathLst>
                  <a:path w="43" h="47">
                    <a:moveTo>
                      <a:pt x="0" y="46"/>
                    </a:moveTo>
                    <a:lnTo>
                      <a:pt x="42" y="15"/>
                    </a:lnTo>
                    <a:lnTo>
                      <a:pt x="42" y="0"/>
                    </a:lnTo>
                    <a:lnTo>
                      <a:pt x="0" y="4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0" name="Freeform 251"/>
              <p:cNvSpPr>
                <a:spLocks/>
              </p:cNvSpPr>
              <p:nvPr/>
            </p:nvSpPr>
            <p:spPr bwMode="auto">
              <a:xfrm>
                <a:off x="7250751" y="4384570"/>
                <a:ext cx="39083" cy="42636"/>
              </a:xfrm>
              <a:custGeom>
                <a:avLst/>
                <a:gdLst>
                  <a:gd name="T0" fmla="*/ 0 w 26"/>
                  <a:gd name="T1" fmla="*/ 0 h 24"/>
                  <a:gd name="T2" fmla="*/ 3 w 26"/>
                  <a:gd name="T3" fmla="*/ 23 h 24"/>
                  <a:gd name="T4" fmla="*/ 3 w 26"/>
                  <a:gd name="T5" fmla="*/ 16 h 24"/>
                  <a:gd name="T6" fmla="*/ 3 w 26"/>
                  <a:gd name="T7" fmla="*/ 0 h 24"/>
                  <a:gd name="T8" fmla="*/ 0 w 26"/>
                  <a:gd name="T9" fmla="*/ 0 h 24"/>
                  <a:gd name="T10" fmla="*/ 0 60000 65536"/>
                  <a:gd name="T11" fmla="*/ 0 60000 65536"/>
                  <a:gd name="T12" fmla="*/ 0 60000 65536"/>
                  <a:gd name="T13" fmla="*/ 0 60000 65536"/>
                  <a:gd name="T14" fmla="*/ 0 60000 65536"/>
                  <a:gd name="T15" fmla="*/ 0 w 26"/>
                  <a:gd name="T16" fmla="*/ 0 h 24"/>
                  <a:gd name="T17" fmla="*/ 26 w 26"/>
                  <a:gd name="T18" fmla="*/ 24 h 24"/>
                </a:gdLst>
                <a:ahLst/>
                <a:cxnLst>
                  <a:cxn ang="T10">
                    <a:pos x="T0" y="T1"/>
                  </a:cxn>
                  <a:cxn ang="T11">
                    <a:pos x="T2" y="T3"/>
                  </a:cxn>
                  <a:cxn ang="T12">
                    <a:pos x="T4" y="T5"/>
                  </a:cxn>
                  <a:cxn ang="T13">
                    <a:pos x="T6" y="T7"/>
                  </a:cxn>
                  <a:cxn ang="T14">
                    <a:pos x="T8" y="T9"/>
                  </a:cxn>
                </a:cxnLst>
                <a:rect l="T15" t="T16" r="T17" b="T18"/>
                <a:pathLst>
                  <a:path w="26" h="24">
                    <a:moveTo>
                      <a:pt x="0" y="0"/>
                    </a:moveTo>
                    <a:lnTo>
                      <a:pt x="25" y="23"/>
                    </a:lnTo>
                    <a:lnTo>
                      <a:pt x="25" y="16"/>
                    </a:lnTo>
                    <a:lnTo>
                      <a:pt x="25"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1" name="Freeform 252"/>
              <p:cNvSpPr>
                <a:spLocks/>
              </p:cNvSpPr>
              <p:nvPr/>
            </p:nvSpPr>
            <p:spPr bwMode="auto">
              <a:xfrm>
                <a:off x="7364446" y="4412994"/>
                <a:ext cx="24871" cy="67507"/>
              </a:xfrm>
              <a:custGeom>
                <a:avLst/>
                <a:gdLst>
                  <a:gd name="T0" fmla="*/ 0 w 17"/>
                  <a:gd name="T1" fmla="*/ 0 h 39"/>
                  <a:gd name="T2" fmla="*/ 2 w 17"/>
                  <a:gd name="T3" fmla="*/ 7 h 39"/>
                  <a:gd name="T4" fmla="*/ 0 w 17"/>
                  <a:gd name="T5" fmla="*/ 15 h 39"/>
                  <a:gd name="T6" fmla="*/ 0 w 17"/>
                  <a:gd name="T7" fmla="*/ 19 h 39"/>
                  <a:gd name="T8" fmla="*/ 0 w 17"/>
                  <a:gd name="T9" fmla="*/ 26 h 39"/>
                  <a:gd name="T10" fmla="*/ 2 w 17"/>
                  <a:gd name="T11" fmla="*/ 26 h 39"/>
                  <a:gd name="T12" fmla="*/ 2 w 17"/>
                  <a:gd name="T13" fmla="*/ 15 h 39"/>
                  <a:gd name="T14" fmla="*/ 2 w 17"/>
                  <a:gd name="T15" fmla="*/ 15 h 39"/>
                  <a:gd name="T16" fmla="*/ 2 w 17"/>
                  <a:gd name="T17" fmla="*/ 7 h 39"/>
                  <a:gd name="T18" fmla="*/ 2 w 17"/>
                  <a:gd name="T19" fmla="*/ 0 h 39"/>
                  <a:gd name="T20" fmla="*/ 0 w 17"/>
                  <a:gd name="T21" fmla="*/ 0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39"/>
                  <a:gd name="T35" fmla="*/ 17 w 17"/>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39">
                    <a:moveTo>
                      <a:pt x="0" y="0"/>
                    </a:moveTo>
                    <a:lnTo>
                      <a:pt x="8" y="7"/>
                    </a:lnTo>
                    <a:lnTo>
                      <a:pt x="0" y="15"/>
                    </a:lnTo>
                    <a:lnTo>
                      <a:pt x="0" y="30"/>
                    </a:lnTo>
                    <a:lnTo>
                      <a:pt x="0" y="38"/>
                    </a:lnTo>
                    <a:lnTo>
                      <a:pt x="8" y="38"/>
                    </a:lnTo>
                    <a:lnTo>
                      <a:pt x="8" y="15"/>
                    </a:lnTo>
                    <a:lnTo>
                      <a:pt x="16" y="15"/>
                    </a:lnTo>
                    <a:lnTo>
                      <a:pt x="8" y="7"/>
                    </a:lnTo>
                    <a:lnTo>
                      <a:pt x="8"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2" name="Freeform 253"/>
              <p:cNvSpPr>
                <a:spLocks/>
              </p:cNvSpPr>
              <p:nvPr/>
            </p:nvSpPr>
            <p:spPr bwMode="auto">
              <a:xfrm>
                <a:off x="7364446" y="4412994"/>
                <a:ext cx="24871" cy="67507"/>
              </a:xfrm>
              <a:custGeom>
                <a:avLst/>
                <a:gdLst>
                  <a:gd name="T0" fmla="*/ 0 w 17"/>
                  <a:gd name="T1" fmla="*/ 0 h 39"/>
                  <a:gd name="T2" fmla="*/ 2 w 17"/>
                  <a:gd name="T3" fmla="*/ 7 h 39"/>
                  <a:gd name="T4" fmla="*/ 0 w 17"/>
                  <a:gd name="T5" fmla="*/ 15 h 39"/>
                  <a:gd name="T6" fmla="*/ 0 w 17"/>
                  <a:gd name="T7" fmla="*/ 19 h 39"/>
                  <a:gd name="T8" fmla="*/ 0 w 17"/>
                  <a:gd name="T9" fmla="*/ 26 h 39"/>
                  <a:gd name="T10" fmla="*/ 2 w 17"/>
                  <a:gd name="T11" fmla="*/ 26 h 39"/>
                  <a:gd name="T12" fmla="*/ 2 w 17"/>
                  <a:gd name="T13" fmla="*/ 15 h 39"/>
                  <a:gd name="T14" fmla="*/ 2 w 17"/>
                  <a:gd name="T15" fmla="*/ 15 h 39"/>
                  <a:gd name="T16" fmla="*/ 2 w 17"/>
                  <a:gd name="T17" fmla="*/ 7 h 39"/>
                  <a:gd name="T18" fmla="*/ 2 w 17"/>
                  <a:gd name="T19" fmla="*/ 0 h 39"/>
                  <a:gd name="T20" fmla="*/ 0 w 17"/>
                  <a:gd name="T21" fmla="*/ 0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39"/>
                  <a:gd name="T35" fmla="*/ 17 w 17"/>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39">
                    <a:moveTo>
                      <a:pt x="0" y="0"/>
                    </a:moveTo>
                    <a:lnTo>
                      <a:pt x="8" y="7"/>
                    </a:lnTo>
                    <a:lnTo>
                      <a:pt x="0" y="15"/>
                    </a:lnTo>
                    <a:lnTo>
                      <a:pt x="0" y="30"/>
                    </a:lnTo>
                    <a:lnTo>
                      <a:pt x="0" y="38"/>
                    </a:lnTo>
                    <a:lnTo>
                      <a:pt x="8" y="38"/>
                    </a:lnTo>
                    <a:lnTo>
                      <a:pt x="8" y="15"/>
                    </a:lnTo>
                    <a:lnTo>
                      <a:pt x="16" y="15"/>
                    </a:lnTo>
                    <a:lnTo>
                      <a:pt x="8" y="7"/>
                    </a:lnTo>
                    <a:lnTo>
                      <a:pt x="8"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3" name="Line 254"/>
              <p:cNvSpPr>
                <a:spLocks noChangeShapeType="1"/>
              </p:cNvSpPr>
              <p:nvPr/>
            </p:nvSpPr>
            <p:spPr bwMode="auto">
              <a:xfrm>
                <a:off x="7112185" y="4146520"/>
                <a:ext cx="15988" cy="1776"/>
              </a:xfrm>
              <a:prstGeom prst="line">
                <a:avLst/>
              </a:prstGeom>
              <a:grpFill/>
              <a:ln w="0">
                <a:solidFill>
                  <a:schemeClr val="bg1">
                    <a:lumMod val="75000"/>
                  </a:schemeClr>
                </a:solidFill>
                <a:round/>
                <a:headEnd type="none" w="sm" len="sm"/>
                <a:tailEnd type="none" w="sm" len="sm"/>
              </a:ln>
            </p:spPr>
            <p:txBody>
              <a:bodyPr wrap="none" anchor="ctr"/>
              <a:lstStyle/>
              <a:p>
                <a:pPr>
                  <a:defRPr/>
                </a:pPr>
                <a:endParaRPr lang="en-US" dirty="0"/>
              </a:p>
            </p:txBody>
          </p:sp>
          <p:sp>
            <p:nvSpPr>
              <p:cNvPr id="104" name="Freeform 256"/>
              <p:cNvSpPr>
                <a:spLocks/>
              </p:cNvSpPr>
              <p:nvPr/>
            </p:nvSpPr>
            <p:spPr bwMode="auto">
              <a:xfrm>
                <a:off x="6515285" y="3988413"/>
                <a:ext cx="76389" cy="30200"/>
              </a:xfrm>
              <a:custGeom>
                <a:avLst/>
                <a:gdLst>
                  <a:gd name="T0" fmla="*/ 6 w 51"/>
                  <a:gd name="T1" fmla="*/ 0 h 17"/>
                  <a:gd name="T2" fmla="*/ 3 w 51"/>
                  <a:gd name="T3" fmla="*/ 0 h 17"/>
                  <a:gd name="T4" fmla="*/ 0 w 51"/>
                  <a:gd name="T5" fmla="*/ 7 h 17"/>
                  <a:gd name="T6" fmla="*/ 0 w 51"/>
                  <a:gd name="T7" fmla="*/ 16 h 17"/>
                  <a:gd name="T8" fmla="*/ 6 w 51"/>
                  <a:gd name="T9" fmla="*/ 16 h 17"/>
                  <a:gd name="T10" fmla="*/ 7 w 51"/>
                  <a:gd name="T11" fmla="*/ 16 h 17"/>
                  <a:gd name="T12" fmla="*/ 6 w 51"/>
                  <a:gd name="T13" fmla="*/ 0 h 17"/>
                  <a:gd name="T14" fmla="*/ 0 60000 65536"/>
                  <a:gd name="T15" fmla="*/ 0 60000 65536"/>
                  <a:gd name="T16" fmla="*/ 0 60000 65536"/>
                  <a:gd name="T17" fmla="*/ 0 60000 65536"/>
                  <a:gd name="T18" fmla="*/ 0 60000 65536"/>
                  <a:gd name="T19" fmla="*/ 0 60000 65536"/>
                  <a:gd name="T20" fmla="*/ 0 60000 65536"/>
                  <a:gd name="T21" fmla="*/ 0 w 51"/>
                  <a:gd name="T22" fmla="*/ 0 h 17"/>
                  <a:gd name="T23" fmla="*/ 51 w 51"/>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17">
                    <a:moveTo>
                      <a:pt x="41" y="0"/>
                    </a:moveTo>
                    <a:lnTo>
                      <a:pt x="17" y="0"/>
                    </a:lnTo>
                    <a:lnTo>
                      <a:pt x="0" y="7"/>
                    </a:lnTo>
                    <a:lnTo>
                      <a:pt x="0" y="16"/>
                    </a:lnTo>
                    <a:lnTo>
                      <a:pt x="41" y="16"/>
                    </a:lnTo>
                    <a:lnTo>
                      <a:pt x="50" y="16"/>
                    </a:lnTo>
                    <a:lnTo>
                      <a:pt x="41"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5" name="Freeform 257"/>
              <p:cNvSpPr>
                <a:spLocks/>
              </p:cNvSpPr>
              <p:nvPr/>
            </p:nvSpPr>
            <p:spPr bwMode="auto">
              <a:xfrm>
                <a:off x="6318095" y="3920907"/>
                <a:ext cx="174096" cy="120801"/>
              </a:xfrm>
              <a:custGeom>
                <a:avLst/>
                <a:gdLst>
                  <a:gd name="T0" fmla="*/ 3 w 117"/>
                  <a:gd name="T1" fmla="*/ 0 h 69"/>
                  <a:gd name="T2" fmla="*/ 0 w 117"/>
                  <a:gd name="T3" fmla="*/ 23 h 69"/>
                  <a:gd name="T4" fmla="*/ 3 w 117"/>
                  <a:gd name="T5" fmla="*/ 34 h 69"/>
                  <a:gd name="T6" fmla="*/ 13 w 117"/>
                  <a:gd name="T7" fmla="*/ 56 h 69"/>
                  <a:gd name="T8" fmla="*/ 13 w 117"/>
                  <a:gd name="T9" fmla="*/ 56 h 69"/>
                  <a:gd name="T10" fmla="*/ 13 w 117"/>
                  <a:gd name="T11" fmla="*/ 42 h 69"/>
                  <a:gd name="T12" fmla="*/ 13 w 117"/>
                  <a:gd name="T13" fmla="*/ 34 h 69"/>
                  <a:gd name="T14" fmla="*/ 9 w 117"/>
                  <a:gd name="T15" fmla="*/ 34 h 69"/>
                  <a:gd name="T16" fmla="*/ 8 w 117"/>
                  <a:gd name="T17" fmla="*/ 23 h 69"/>
                  <a:gd name="T18" fmla="*/ 7 w 117"/>
                  <a:gd name="T19" fmla="*/ 15 h 69"/>
                  <a:gd name="T20" fmla="*/ 6 w 117"/>
                  <a:gd name="T21" fmla="*/ 15 h 69"/>
                  <a:gd name="T22" fmla="*/ 3 w 117"/>
                  <a:gd name="T23" fmla="*/ 0 h 69"/>
                  <a:gd name="T24" fmla="*/ 3 w 117"/>
                  <a:gd name="T25" fmla="*/ 0 h 6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17"/>
                  <a:gd name="T40" fmla="*/ 0 h 69"/>
                  <a:gd name="T41" fmla="*/ 117 w 117"/>
                  <a:gd name="T42" fmla="*/ 69 h 6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17" h="69">
                    <a:moveTo>
                      <a:pt x="8" y="0"/>
                    </a:moveTo>
                    <a:lnTo>
                      <a:pt x="0" y="23"/>
                    </a:lnTo>
                    <a:lnTo>
                      <a:pt x="16" y="38"/>
                    </a:lnTo>
                    <a:lnTo>
                      <a:pt x="108" y="68"/>
                    </a:lnTo>
                    <a:lnTo>
                      <a:pt x="116" y="68"/>
                    </a:lnTo>
                    <a:lnTo>
                      <a:pt x="116" y="54"/>
                    </a:lnTo>
                    <a:lnTo>
                      <a:pt x="116" y="38"/>
                    </a:lnTo>
                    <a:lnTo>
                      <a:pt x="82" y="38"/>
                    </a:lnTo>
                    <a:lnTo>
                      <a:pt x="66" y="23"/>
                    </a:lnTo>
                    <a:lnTo>
                      <a:pt x="58" y="15"/>
                    </a:lnTo>
                    <a:lnTo>
                      <a:pt x="50" y="15"/>
                    </a:lnTo>
                    <a:lnTo>
                      <a:pt x="24" y="0"/>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6" name="Freeform 258"/>
              <p:cNvSpPr>
                <a:spLocks/>
              </p:cNvSpPr>
              <p:nvPr/>
            </p:nvSpPr>
            <p:spPr bwMode="auto">
              <a:xfrm>
                <a:off x="6490414" y="4039932"/>
                <a:ext cx="127907" cy="135013"/>
              </a:xfrm>
              <a:custGeom>
                <a:avLst/>
                <a:gdLst>
                  <a:gd name="T0" fmla="*/ 11 w 85"/>
                  <a:gd name="T1" fmla="*/ 52 h 78"/>
                  <a:gd name="T2" fmla="*/ 9 w 85"/>
                  <a:gd name="T3" fmla="*/ 35 h 78"/>
                  <a:gd name="T4" fmla="*/ 9 w 85"/>
                  <a:gd name="T5" fmla="*/ 19 h 78"/>
                  <a:gd name="T6" fmla="*/ 8 w 85"/>
                  <a:gd name="T7" fmla="*/ 35 h 78"/>
                  <a:gd name="T8" fmla="*/ 7 w 85"/>
                  <a:gd name="T9" fmla="*/ 35 h 78"/>
                  <a:gd name="T10" fmla="*/ 7 w 85"/>
                  <a:gd name="T11" fmla="*/ 19 h 78"/>
                  <a:gd name="T12" fmla="*/ 9 w 85"/>
                  <a:gd name="T13" fmla="*/ 16 h 78"/>
                  <a:gd name="T14" fmla="*/ 4 w 85"/>
                  <a:gd name="T15" fmla="*/ 16 h 78"/>
                  <a:gd name="T16" fmla="*/ 4 w 85"/>
                  <a:gd name="T17" fmla="*/ 0 h 78"/>
                  <a:gd name="T18" fmla="*/ 3 w 85"/>
                  <a:gd name="T19" fmla="*/ 0 h 78"/>
                  <a:gd name="T20" fmla="*/ 3 w 85"/>
                  <a:gd name="T21" fmla="*/ 0 h 78"/>
                  <a:gd name="T22" fmla="*/ 3 w 85"/>
                  <a:gd name="T23" fmla="*/ 8 h 78"/>
                  <a:gd name="T24" fmla="*/ 0 w 85"/>
                  <a:gd name="T25" fmla="*/ 19 h 78"/>
                  <a:gd name="T26" fmla="*/ 3 w 85"/>
                  <a:gd name="T27" fmla="*/ 19 h 78"/>
                  <a:gd name="T28" fmla="*/ 3 w 85"/>
                  <a:gd name="T29" fmla="*/ 52 h 78"/>
                  <a:gd name="T30" fmla="*/ 6 w 85"/>
                  <a:gd name="T31" fmla="*/ 52 h 78"/>
                  <a:gd name="T32" fmla="*/ 8 w 85"/>
                  <a:gd name="T33" fmla="*/ 42 h 78"/>
                  <a:gd name="T34" fmla="*/ 9 w 85"/>
                  <a:gd name="T35" fmla="*/ 55 h 78"/>
                  <a:gd name="T36" fmla="*/ 11 w 85"/>
                  <a:gd name="T37" fmla="*/ 52 h 7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5"/>
                  <a:gd name="T58" fmla="*/ 0 h 78"/>
                  <a:gd name="T59" fmla="*/ 85 w 85"/>
                  <a:gd name="T60" fmla="*/ 78 h 7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5" h="78">
                    <a:moveTo>
                      <a:pt x="84" y="70"/>
                    </a:moveTo>
                    <a:lnTo>
                      <a:pt x="66" y="47"/>
                    </a:lnTo>
                    <a:lnTo>
                      <a:pt x="66" y="31"/>
                    </a:lnTo>
                    <a:lnTo>
                      <a:pt x="58" y="47"/>
                    </a:lnTo>
                    <a:lnTo>
                      <a:pt x="50" y="47"/>
                    </a:lnTo>
                    <a:lnTo>
                      <a:pt x="50" y="31"/>
                    </a:lnTo>
                    <a:lnTo>
                      <a:pt x="66" y="16"/>
                    </a:lnTo>
                    <a:lnTo>
                      <a:pt x="33" y="16"/>
                    </a:lnTo>
                    <a:lnTo>
                      <a:pt x="33" y="0"/>
                    </a:lnTo>
                    <a:lnTo>
                      <a:pt x="16" y="0"/>
                    </a:lnTo>
                    <a:lnTo>
                      <a:pt x="8" y="0"/>
                    </a:lnTo>
                    <a:lnTo>
                      <a:pt x="8" y="8"/>
                    </a:lnTo>
                    <a:lnTo>
                      <a:pt x="0" y="23"/>
                    </a:lnTo>
                    <a:lnTo>
                      <a:pt x="8" y="23"/>
                    </a:lnTo>
                    <a:lnTo>
                      <a:pt x="16" y="70"/>
                    </a:lnTo>
                    <a:lnTo>
                      <a:pt x="42" y="70"/>
                    </a:lnTo>
                    <a:lnTo>
                      <a:pt x="58" y="54"/>
                    </a:lnTo>
                    <a:lnTo>
                      <a:pt x="66" y="77"/>
                    </a:lnTo>
                    <a:lnTo>
                      <a:pt x="84" y="7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7" name="Freeform 259"/>
              <p:cNvSpPr>
                <a:spLocks/>
              </p:cNvSpPr>
              <p:nvPr/>
            </p:nvSpPr>
            <p:spPr bwMode="auto">
              <a:xfrm>
                <a:off x="6589898" y="3988413"/>
                <a:ext cx="213178" cy="502745"/>
              </a:xfrm>
              <a:custGeom>
                <a:avLst/>
                <a:gdLst>
                  <a:gd name="T0" fmla="*/ 13 w 143"/>
                  <a:gd name="T1" fmla="*/ 207 h 291"/>
                  <a:gd name="T2" fmla="*/ 15 w 143"/>
                  <a:gd name="T3" fmla="*/ 180 h 291"/>
                  <a:gd name="T4" fmla="*/ 14 w 143"/>
                  <a:gd name="T5" fmla="*/ 158 h 291"/>
                  <a:gd name="T6" fmla="*/ 13 w 143"/>
                  <a:gd name="T7" fmla="*/ 148 h 291"/>
                  <a:gd name="T8" fmla="*/ 13 w 143"/>
                  <a:gd name="T9" fmla="*/ 131 h 291"/>
                  <a:gd name="T10" fmla="*/ 11 w 143"/>
                  <a:gd name="T11" fmla="*/ 115 h 291"/>
                  <a:gd name="T12" fmla="*/ 11 w 143"/>
                  <a:gd name="T13" fmla="*/ 98 h 291"/>
                  <a:gd name="T14" fmla="*/ 16 w 143"/>
                  <a:gd name="T15" fmla="*/ 87 h 291"/>
                  <a:gd name="T16" fmla="*/ 17 w 143"/>
                  <a:gd name="T17" fmla="*/ 72 h 291"/>
                  <a:gd name="T18" fmla="*/ 16 w 143"/>
                  <a:gd name="T19" fmla="*/ 72 h 291"/>
                  <a:gd name="T20" fmla="*/ 14 w 143"/>
                  <a:gd name="T21" fmla="*/ 66 h 291"/>
                  <a:gd name="T22" fmla="*/ 14 w 143"/>
                  <a:gd name="T23" fmla="*/ 60 h 291"/>
                  <a:gd name="T24" fmla="*/ 14 w 143"/>
                  <a:gd name="T25" fmla="*/ 53 h 291"/>
                  <a:gd name="T26" fmla="*/ 13 w 143"/>
                  <a:gd name="T27" fmla="*/ 45 h 291"/>
                  <a:gd name="T28" fmla="*/ 11 w 143"/>
                  <a:gd name="T29" fmla="*/ 45 h 291"/>
                  <a:gd name="T30" fmla="*/ 13 w 143"/>
                  <a:gd name="T31" fmla="*/ 15 h 291"/>
                  <a:gd name="T32" fmla="*/ 11 w 143"/>
                  <a:gd name="T33" fmla="*/ 0 h 291"/>
                  <a:gd name="T34" fmla="*/ 10 w 143"/>
                  <a:gd name="T35" fmla="*/ 0 h 291"/>
                  <a:gd name="T36" fmla="*/ 10 w 143"/>
                  <a:gd name="T37" fmla="*/ 15 h 291"/>
                  <a:gd name="T38" fmla="*/ 8 w 143"/>
                  <a:gd name="T39" fmla="*/ 15 h 291"/>
                  <a:gd name="T40" fmla="*/ 6 w 143"/>
                  <a:gd name="T41" fmla="*/ 18 h 291"/>
                  <a:gd name="T42" fmla="*/ 4 w 143"/>
                  <a:gd name="T43" fmla="*/ 45 h 291"/>
                  <a:gd name="T44" fmla="*/ 3 w 143"/>
                  <a:gd name="T45" fmla="*/ 53 h 291"/>
                  <a:gd name="T46" fmla="*/ 3 w 143"/>
                  <a:gd name="T47" fmla="*/ 66 h 291"/>
                  <a:gd name="T48" fmla="*/ 3 w 143"/>
                  <a:gd name="T49" fmla="*/ 72 h 291"/>
                  <a:gd name="T50" fmla="*/ 0 w 143"/>
                  <a:gd name="T51" fmla="*/ 76 h 291"/>
                  <a:gd name="T52" fmla="*/ 3 w 143"/>
                  <a:gd name="T53" fmla="*/ 92 h 291"/>
                  <a:gd name="T54" fmla="*/ 4 w 143"/>
                  <a:gd name="T55" fmla="*/ 109 h 291"/>
                  <a:gd name="T56" fmla="*/ 5 w 143"/>
                  <a:gd name="T57" fmla="*/ 124 h 291"/>
                  <a:gd name="T58" fmla="*/ 4 w 143"/>
                  <a:gd name="T59" fmla="*/ 131 h 291"/>
                  <a:gd name="T60" fmla="*/ 6 w 143"/>
                  <a:gd name="T61" fmla="*/ 143 h 291"/>
                  <a:gd name="T62" fmla="*/ 9 w 143"/>
                  <a:gd name="T63" fmla="*/ 124 h 291"/>
                  <a:gd name="T64" fmla="*/ 10 w 143"/>
                  <a:gd name="T65" fmla="*/ 131 h 291"/>
                  <a:gd name="T66" fmla="*/ 13 w 143"/>
                  <a:gd name="T67" fmla="*/ 175 h 291"/>
                  <a:gd name="T68" fmla="*/ 13 w 143"/>
                  <a:gd name="T69" fmla="*/ 207 h 29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
                  <a:gd name="T106" fmla="*/ 0 h 291"/>
                  <a:gd name="T107" fmla="*/ 143 w 143"/>
                  <a:gd name="T108" fmla="*/ 291 h 29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 h="291">
                    <a:moveTo>
                      <a:pt x="109" y="290"/>
                    </a:moveTo>
                    <a:lnTo>
                      <a:pt x="125" y="251"/>
                    </a:lnTo>
                    <a:lnTo>
                      <a:pt x="117" y="221"/>
                    </a:lnTo>
                    <a:lnTo>
                      <a:pt x="109" y="206"/>
                    </a:lnTo>
                    <a:lnTo>
                      <a:pt x="109" y="183"/>
                    </a:lnTo>
                    <a:lnTo>
                      <a:pt x="92" y="160"/>
                    </a:lnTo>
                    <a:lnTo>
                      <a:pt x="92" y="137"/>
                    </a:lnTo>
                    <a:lnTo>
                      <a:pt x="134" y="122"/>
                    </a:lnTo>
                    <a:lnTo>
                      <a:pt x="142" y="99"/>
                    </a:lnTo>
                    <a:lnTo>
                      <a:pt x="134" y="99"/>
                    </a:lnTo>
                    <a:lnTo>
                      <a:pt x="117" y="91"/>
                    </a:lnTo>
                    <a:lnTo>
                      <a:pt x="117" y="84"/>
                    </a:lnTo>
                    <a:lnTo>
                      <a:pt x="117" y="76"/>
                    </a:lnTo>
                    <a:lnTo>
                      <a:pt x="109" y="61"/>
                    </a:lnTo>
                    <a:lnTo>
                      <a:pt x="92" y="61"/>
                    </a:lnTo>
                    <a:lnTo>
                      <a:pt x="109" y="15"/>
                    </a:lnTo>
                    <a:lnTo>
                      <a:pt x="92" y="0"/>
                    </a:lnTo>
                    <a:lnTo>
                      <a:pt x="84" y="0"/>
                    </a:lnTo>
                    <a:lnTo>
                      <a:pt x="84" y="15"/>
                    </a:lnTo>
                    <a:lnTo>
                      <a:pt x="67" y="15"/>
                    </a:lnTo>
                    <a:lnTo>
                      <a:pt x="50" y="30"/>
                    </a:lnTo>
                    <a:lnTo>
                      <a:pt x="33" y="61"/>
                    </a:lnTo>
                    <a:lnTo>
                      <a:pt x="25" y="76"/>
                    </a:lnTo>
                    <a:lnTo>
                      <a:pt x="17" y="91"/>
                    </a:lnTo>
                    <a:lnTo>
                      <a:pt x="17" y="99"/>
                    </a:lnTo>
                    <a:lnTo>
                      <a:pt x="0" y="106"/>
                    </a:lnTo>
                    <a:lnTo>
                      <a:pt x="25" y="129"/>
                    </a:lnTo>
                    <a:lnTo>
                      <a:pt x="33" y="152"/>
                    </a:lnTo>
                    <a:lnTo>
                      <a:pt x="42" y="175"/>
                    </a:lnTo>
                    <a:lnTo>
                      <a:pt x="33" y="183"/>
                    </a:lnTo>
                    <a:lnTo>
                      <a:pt x="50" y="199"/>
                    </a:lnTo>
                    <a:lnTo>
                      <a:pt x="75" y="175"/>
                    </a:lnTo>
                    <a:lnTo>
                      <a:pt x="84" y="183"/>
                    </a:lnTo>
                    <a:lnTo>
                      <a:pt x="109" y="244"/>
                    </a:lnTo>
                    <a:lnTo>
                      <a:pt x="109" y="29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8" name="Freeform 260"/>
              <p:cNvSpPr>
                <a:spLocks/>
              </p:cNvSpPr>
              <p:nvPr/>
            </p:nvSpPr>
            <p:spPr bwMode="auto">
              <a:xfrm>
                <a:off x="6728464" y="4199815"/>
                <a:ext cx="188308" cy="387274"/>
              </a:xfrm>
              <a:custGeom>
                <a:avLst/>
                <a:gdLst>
                  <a:gd name="T0" fmla="*/ 5 w 127"/>
                  <a:gd name="T1" fmla="*/ 0 h 222"/>
                  <a:gd name="T2" fmla="*/ 0 w 127"/>
                  <a:gd name="T3" fmla="*/ 15 h 222"/>
                  <a:gd name="T4" fmla="*/ 0 w 127"/>
                  <a:gd name="T5" fmla="*/ 27 h 222"/>
                  <a:gd name="T6" fmla="*/ 3 w 127"/>
                  <a:gd name="T7" fmla="*/ 49 h 222"/>
                  <a:gd name="T8" fmla="*/ 3 w 127"/>
                  <a:gd name="T9" fmla="*/ 71 h 222"/>
                  <a:gd name="T10" fmla="*/ 3 w 127"/>
                  <a:gd name="T11" fmla="*/ 79 h 222"/>
                  <a:gd name="T12" fmla="*/ 4 w 127"/>
                  <a:gd name="T13" fmla="*/ 105 h 222"/>
                  <a:gd name="T14" fmla="*/ 3 w 127"/>
                  <a:gd name="T15" fmla="*/ 133 h 222"/>
                  <a:gd name="T16" fmla="*/ 3 w 127"/>
                  <a:gd name="T17" fmla="*/ 139 h 222"/>
                  <a:gd name="T18" fmla="*/ 3 w 127"/>
                  <a:gd name="T19" fmla="*/ 147 h 222"/>
                  <a:gd name="T20" fmla="*/ 5 w 127"/>
                  <a:gd name="T21" fmla="*/ 172 h 222"/>
                  <a:gd name="T22" fmla="*/ 5 w 127"/>
                  <a:gd name="T23" fmla="*/ 167 h 222"/>
                  <a:gd name="T24" fmla="*/ 6 w 127"/>
                  <a:gd name="T25" fmla="*/ 172 h 222"/>
                  <a:gd name="T26" fmla="*/ 8 w 127"/>
                  <a:gd name="T27" fmla="*/ 178 h 222"/>
                  <a:gd name="T28" fmla="*/ 9 w 127"/>
                  <a:gd name="T29" fmla="*/ 172 h 222"/>
                  <a:gd name="T30" fmla="*/ 8 w 127"/>
                  <a:gd name="T31" fmla="*/ 167 h 222"/>
                  <a:gd name="T32" fmla="*/ 5 w 127"/>
                  <a:gd name="T33" fmla="*/ 167 h 222"/>
                  <a:gd name="T34" fmla="*/ 4 w 127"/>
                  <a:gd name="T35" fmla="*/ 133 h 222"/>
                  <a:gd name="T36" fmla="*/ 3 w 127"/>
                  <a:gd name="T37" fmla="*/ 133 h 222"/>
                  <a:gd name="T38" fmla="*/ 3 w 127"/>
                  <a:gd name="T39" fmla="*/ 128 h 222"/>
                  <a:gd name="T40" fmla="*/ 4 w 127"/>
                  <a:gd name="T41" fmla="*/ 105 h 222"/>
                  <a:gd name="T42" fmla="*/ 4 w 127"/>
                  <a:gd name="T43" fmla="*/ 83 h 222"/>
                  <a:gd name="T44" fmla="*/ 6 w 127"/>
                  <a:gd name="T45" fmla="*/ 83 h 222"/>
                  <a:gd name="T46" fmla="*/ 6 w 127"/>
                  <a:gd name="T47" fmla="*/ 98 h 222"/>
                  <a:gd name="T48" fmla="*/ 8 w 127"/>
                  <a:gd name="T49" fmla="*/ 98 h 222"/>
                  <a:gd name="T50" fmla="*/ 9 w 127"/>
                  <a:gd name="T51" fmla="*/ 113 h 222"/>
                  <a:gd name="T52" fmla="*/ 9 w 127"/>
                  <a:gd name="T53" fmla="*/ 105 h 222"/>
                  <a:gd name="T54" fmla="*/ 9 w 127"/>
                  <a:gd name="T55" fmla="*/ 83 h 222"/>
                  <a:gd name="T56" fmla="*/ 9 w 127"/>
                  <a:gd name="T57" fmla="*/ 75 h 222"/>
                  <a:gd name="T58" fmla="*/ 15 w 127"/>
                  <a:gd name="T59" fmla="*/ 75 h 222"/>
                  <a:gd name="T60" fmla="*/ 15 w 127"/>
                  <a:gd name="T61" fmla="*/ 65 h 222"/>
                  <a:gd name="T62" fmla="*/ 13 w 127"/>
                  <a:gd name="T63" fmla="*/ 49 h 222"/>
                  <a:gd name="T64" fmla="*/ 11 w 127"/>
                  <a:gd name="T65" fmla="*/ 33 h 222"/>
                  <a:gd name="T66" fmla="*/ 11 w 127"/>
                  <a:gd name="T67" fmla="*/ 27 h 222"/>
                  <a:gd name="T68" fmla="*/ 9 w 127"/>
                  <a:gd name="T69" fmla="*/ 27 h 222"/>
                  <a:gd name="T70" fmla="*/ 6 w 127"/>
                  <a:gd name="T71" fmla="*/ 33 h 222"/>
                  <a:gd name="T72" fmla="*/ 6 w 127"/>
                  <a:gd name="T73" fmla="*/ 15 h 222"/>
                  <a:gd name="T74" fmla="*/ 5 w 127"/>
                  <a:gd name="T75" fmla="*/ 7 h 222"/>
                  <a:gd name="T76" fmla="*/ 5 w 127"/>
                  <a:gd name="T77" fmla="*/ 0 h 22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27"/>
                  <a:gd name="T118" fmla="*/ 0 h 222"/>
                  <a:gd name="T119" fmla="*/ 127 w 127"/>
                  <a:gd name="T120" fmla="*/ 222 h 22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27" h="222">
                    <a:moveTo>
                      <a:pt x="42" y="0"/>
                    </a:moveTo>
                    <a:lnTo>
                      <a:pt x="0" y="15"/>
                    </a:lnTo>
                    <a:lnTo>
                      <a:pt x="0" y="38"/>
                    </a:lnTo>
                    <a:lnTo>
                      <a:pt x="17" y="61"/>
                    </a:lnTo>
                    <a:lnTo>
                      <a:pt x="17" y="84"/>
                    </a:lnTo>
                    <a:lnTo>
                      <a:pt x="25" y="99"/>
                    </a:lnTo>
                    <a:lnTo>
                      <a:pt x="33" y="129"/>
                    </a:lnTo>
                    <a:lnTo>
                      <a:pt x="17" y="167"/>
                    </a:lnTo>
                    <a:lnTo>
                      <a:pt x="17" y="175"/>
                    </a:lnTo>
                    <a:lnTo>
                      <a:pt x="17" y="183"/>
                    </a:lnTo>
                    <a:lnTo>
                      <a:pt x="42" y="213"/>
                    </a:lnTo>
                    <a:lnTo>
                      <a:pt x="42" y="206"/>
                    </a:lnTo>
                    <a:lnTo>
                      <a:pt x="50" y="213"/>
                    </a:lnTo>
                    <a:lnTo>
                      <a:pt x="67" y="221"/>
                    </a:lnTo>
                    <a:lnTo>
                      <a:pt x="75" y="213"/>
                    </a:lnTo>
                    <a:lnTo>
                      <a:pt x="67" y="206"/>
                    </a:lnTo>
                    <a:lnTo>
                      <a:pt x="42" y="206"/>
                    </a:lnTo>
                    <a:lnTo>
                      <a:pt x="33" y="167"/>
                    </a:lnTo>
                    <a:lnTo>
                      <a:pt x="25" y="167"/>
                    </a:lnTo>
                    <a:lnTo>
                      <a:pt x="25" y="160"/>
                    </a:lnTo>
                    <a:lnTo>
                      <a:pt x="33" y="129"/>
                    </a:lnTo>
                    <a:lnTo>
                      <a:pt x="33" y="107"/>
                    </a:lnTo>
                    <a:lnTo>
                      <a:pt x="50" y="107"/>
                    </a:lnTo>
                    <a:lnTo>
                      <a:pt x="50" y="122"/>
                    </a:lnTo>
                    <a:lnTo>
                      <a:pt x="67" y="122"/>
                    </a:lnTo>
                    <a:lnTo>
                      <a:pt x="84" y="137"/>
                    </a:lnTo>
                    <a:lnTo>
                      <a:pt x="84" y="129"/>
                    </a:lnTo>
                    <a:lnTo>
                      <a:pt x="75" y="107"/>
                    </a:lnTo>
                    <a:lnTo>
                      <a:pt x="84" y="91"/>
                    </a:lnTo>
                    <a:lnTo>
                      <a:pt x="126" y="91"/>
                    </a:lnTo>
                    <a:lnTo>
                      <a:pt x="126" y="77"/>
                    </a:lnTo>
                    <a:lnTo>
                      <a:pt x="117" y="61"/>
                    </a:lnTo>
                    <a:lnTo>
                      <a:pt x="100" y="45"/>
                    </a:lnTo>
                    <a:lnTo>
                      <a:pt x="92" y="30"/>
                    </a:lnTo>
                    <a:lnTo>
                      <a:pt x="75" y="38"/>
                    </a:lnTo>
                    <a:lnTo>
                      <a:pt x="50" y="45"/>
                    </a:lnTo>
                    <a:lnTo>
                      <a:pt x="50" y="15"/>
                    </a:lnTo>
                    <a:lnTo>
                      <a:pt x="42" y="7"/>
                    </a:lnTo>
                    <a:lnTo>
                      <a:pt x="42"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09" name="Freeform 261"/>
              <p:cNvSpPr>
                <a:spLocks/>
              </p:cNvSpPr>
              <p:nvPr/>
            </p:nvSpPr>
            <p:spPr bwMode="auto">
              <a:xfrm>
                <a:off x="6790641" y="4146521"/>
                <a:ext cx="161660" cy="227390"/>
              </a:xfrm>
              <a:custGeom>
                <a:avLst/>
                <a:gdLst>
                  <a:gd name="T0" fmla="*/ 13 w 109"/>
                  <a:gd name="T1" fmla="*/ 93 h 131"/>
                  <a:gd name="T2" fmla="*/ 13 w 109"/>
                  <a:gd name="T3" fmla="*/ 84 h 131"/>
                  <a:gd name="T4" fmla="*/ 11 w 109"/>
                  <a:gd name="T5" fmla="*/ 62 h 131"/>
                  <a:gd name="T6" fmla="*/ 11 w 109"/>
                  <a:gd name="T7" fmla="*/ 58 h 131"/>
                  <a:gd name="T8" fmla="*/ 6 w 109"/>
                  <a:gd name="T9" fmla="*/ 34 h 131"/>
                  <a:gd name="T10" fmla="*/ 9 w 109"/>
                  <a:gd name="T11" fmla="*/ 26 h 131"/>
                  <a:gd name="T12" fmla="*/ 7 w 109"/>
                  <a:gd name="T13" fmla="*/ 21 h 131"/>
                  <a:gd name="T14" fmla="*/ 5 w 109"/>
                  <a:gd name="T15" fmla="*/ 15 h 131"/>
                  <a:gd name="T16" fmla="*/ 4 w 109"/>
                  <a:gd name="T17" fmla="*/ 0 h 131"/>
                  <a:gd name="T18" fmla="*/ 3 w 109"/>
                  <a:gd name="T19" fmla="*/ 0 h 131"/>
                  <a:gd name="T20" fmla="*/ 3 w 109"/>
                  <a:gd name="T21" fmla="*/ 15 h 131"/>
                  <a:gd name="T22" fmla="*/ 3 w 109"/>
                  <a:gd name="T23" fmla="*/ 15 h 131"/>
                  <a:gd name="T24" fmla="*/ 3 w 109"/>
                  <a:gd name="T25" fmla="*/ 8 h 131"/>
                  <a:gd name="T26" fmla="*/ 0 w 109"/>
                  <a:gd name="T27" fmla="*/ 21 h 131"/>
                  <a:gd name="T28" fmla="*/ 0 w 109"/>
                  <a:gd name="T29" fmla="*/ 26 h 131"/>
                  <a:gd name="T30" fmla="*/ 3 w 109"/>
                  <a:gd name="T31" fmla="*/ 34 h 131"/>
                  <a:gd name="T32" fmla="*/ 3 w 109"/>
                  <a:gd name="T33" fmla="*/ 58 h 131"/>
                  <a:gd name="T34" fmla="*/ 4 w 109"/>
                  <a:gd name="T35" fmla="*/ 55 h 131"/>
                  <a:gd name="T36" fmla="*/ 6 w 109"/>
                  <a:gd name="T37" fmla="*/ 49 h 131"/>
                  <a:gd name="T38" fmla="*/ 7 w 109"/>
                  <a:gd name="T39" fmla="*/ 58 h 131"/>
                  <a:gd name="T40" fmla="*/ 9 w 109"/>
                  <a:gd name="T41" fmla="*/ 68 h 131"/>
                  <a:gd name="T42" fmla="*/ 9 w 109"/>
                  <a:gd name="T43" fmla="*/ 84 h 131"/>
                  <a:gd name="T44" fmla="*/ 9 w 109"/>
                  <a:gd name="T45" fmla="*/ 93 h 131"/>
                  <a:gd name="T46" fmla="*/ 11 w 109"/>
                  <a:gd name="T47" fmla="*/ 99 h 131"/>
                  <a:gd name="T48" fmla="*/ 11 w 109"/>
                  <a:gd name="T49" fmla="*/ 93 h 131"/>
                  <a:gd name="T50" fmla="*/ 13 w 109"/>
                  <a:gd name="T51" fmla="*/ 93 h 1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09"/>
                  <a:gd name="T79" fmla="*/ 0 h 131"/>
                  <a:gd name="T80" fmla="*/ 109 w 109"/>
                  <a:gd name="T81" fmla="*/ 131 h 13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09" h="131">
                    <a:moveTo>
                      <a:pt x="108" y="122"/>
                    </a:moveTo>
                    <a:lnTo>
                      <a:pt x="108" y="108"/>
                    </a:lnTo>
                    <a:lnTo>
                      <a:pt x="92" y="84"/>
                    </a:lnTo>
                    <a:lnTo>
                      <a:pt x="92" y="76"/>
                    </a:lnTo>
                    <a:lnTo>
                      <a:pt x="50" y="46"/>
                    </a:lnTo>
                    <a:lnTo>
                      <a:pt x="75" y="38"/>
                    </a:lnTo>
                    <a:lnTo>
                      <a:pt x="58" y="31"/>
                    </a:lnTo>
                    <a:lnTo>
                      <a:pt x="42" y="15"/>
                    </a:lnTo>
                    <a:lnTo>
                      <a:pt x="33" y="0"/>
                    </a:lnTo>
                    <a:lnTo>
                      <a:pt x="25" y="0"/>
                    </a:lnTo>
                    <a:lnTo>
                      <a:pt x="25" y="15"/>
                    </a:lnTo>
                    <a:lnTo>
                      <a:pt x="8" y="15"/>
                    </a:lnTo>
                    <a:lnTo>
                      <a:pt x="8" y="8"/>
                    </a:lnTo>
                    <a:lnTo>
                      <a:pt x="0" y="31"/>
                    </a:lnTo>
                    <a:lnTo>
                      <a:pt x="0" y="38"/>
                    </a:lnTo>
                    <a:lnTo>
                      <a:pt x="8" y="46"/>
                    </a:lnTo>
                    <a:lnTo>
                      <a:pt x="8" y="76"/>
                    </a:lnTo>
                    <a:lnTo>
                      <a:pt x="33" y="69"/>
                    </a:lnTo>
                    <a:lnTo>
                      <a:pt x="50" y="61"/>
                    </a:lnTo>
                    <a:lnTo>
                      <a:pt x="58" y="76"/>
                    </a:lnTo>
                    <a:lnTo>
                      <a:pt x="75" y="92"/>
                    </a:lnTo>
                    <a:lnTo>
                      <a:pt x="84" y="108"/>
                    </a:lnTo>
                    <a:lnTo>
                      <a:pt x="84" y="122"/>
                    </a:lnTo>
                    <a:lnTo>
                      <a:pt x="92" y="130"/>
                    </a:lnTo>
                    <a:lnTo>
                      <a:pt x="92" y="122"/>
                    </a:lnTo>
                    <a:lnTo>
                      <a:pt x="108" y="1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0" name="Freeform 262"/>
              <p:cNvSpPr>
                <a:spLocks/>
              </p:cNvSpPr>
              <p:nvPr/>
            </p:nvSpPr>
            <p:spPr bwMode="auto">
              <a:xfrm>
                <a:off x="6291448" y="4478723"/>
                <a:ext cx="63954" cy="94154"/>
              </a:xfrm>
              <a:custGeom>
                <a:avLst/>
                <a:gdLst>
                  <a:gd name="T0" fmla="*/ 0 w 43"/>
                  <a:gd name="T1" fmla="*/ 23 h 54"/>
                  <a:gd name="T2" fmla="*/ 3 w 43"/>
                  <a:gd name="T3" fmla="*/ 41 h 54"/>
                  <a:gd name="T4" fmla="*/ 4 w 43"/>
                  <a:gd name="T5" fmla="*/ 41 h 54"/>
                  <a:gd name="T6" fmla="*/ 5 w 43"/>
                  <a:gd name="T7" fmla="*/ 27 h 54"/>
                  <a:gd name="T8" fmla="*/ 3 w 43"/>
                  <a:gd name="T9" fmla="*/ 7 h 54"/>
                  <a:gd name="T10" fmla="*/ 3 w 43"/>
                  <a:gd name="T11" fmla="*/ 0 h 54"/>
                  <a:gd name="T12" fmla="*/ 0 w 43"/>
                  <a:gd name="T13" fmla="*/ 23 h 54"/>
                  <a:gd name="T14" fmla="*/ 0 60000 65536"/>
                  <a:gd name="T15" fmla="*/ 0 60000 65536"/>
                  <a:gd name="T16" fmla="*/ 0 60000 65536"/>
                  <a:gd name="T17" fmla="*/ 0 60000 65536"/>
                  <a:gd name="T18" fmla="*/ 0 60000 65536"/>
                  <a:gd name="T19" fmla="*/ 0 60000 65536"/>
                  <a:gd name="T20" fmla="*/ 0 60000 65536"/>
                  <a:gd name="T21" fmla="*/ 0 w 43"/>
                  <a:gd name="T22" fmla="*/ 0 h 54"/>
                  <a:gd name="T23" fmla="*/ 43 w 43"/>
                  <a:gd name="T24" fmla="*/ 54 h 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54">
                    <a:moveTo>
                      <a:pt x="0" y="23"/>
                    </a:moveTo>
                    <a:lnTo>
                      <a:pt x="17" y="53"/>
                    </a:lnTo>
                    <a:lnTo>
                      <a:pt x="33" y="53"/>
                    </a:lnTo>
                    <a:lnTo>
                      <a:pt x="42" y="38"/>
                    </a:lnTo>
                    <a:lnTo>
                      <a:pt x="25" y="7"/>
                    </a:lnTo>
                    <a:lnTo>
                      <a:pt x="17" y="0"/>
                    </a:lnTo>
                    <a:lnTo>
                      <a:pt x="0"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1" name="Freeform 264"/>
              <p:cNvSpPr>
                <a:spLocks/>
              </p:cNvSpPr>
              <p:nvPr/>
            </p:nvSpPr>
            <p:spPr bwMode="auto">
              <a:xfrm>
                <a:off x="8499621" y="5686735"/>
                <a:ext cx="136790" cy="229166"/>
              </a:xfrm>
              <a:custGeom>
                <a:avLst/>
                <a:gdLst>
                  <a:gd name="T0" fmla="*/ 3 w 92"/>
                  <a:gd name="T1" fmla="*/ 59 h 132"/>
                  <a:gd name="T2" fmla="*/ 5 w 92"/>
                  <a:gd name="T3" fmla="*/ 68 h 132"/>
                  <a:gd name="T4" fmla="*/ 4 w 92"/>
                  <a:gd name="T5" fmla="*/ 93 h 132"/>
                  <a:gd name="T6" fmla="*/ 5 w 92"/>
                  <a:gd name="T7" fmla="*/ 99 h 132"/>
                  <a:gd name="T8" fmla="*/ 6 w 92"/>
                  <a:gd name="T9" fmla="*/ 93 h 132"/>
                  <a:gd name="T10" fmla="*/ 8 w 92"/>
                  <a:gd name="T11" fmla="*/ 59 h 132"/>
                  <a:gd name="T12" fmla="*/ 9 w 92"/>
                  <a:gd name="T13" fmla="*/ 59 h 132"/>
                  <a:gd name="T14" fmla="*/ 11 w 92"/>
                  <a:gd name="T15" fmla="*/ 55 h 132"/>
                  <a:gd name="T16" fmla="*/ 11 w 92"/>
                  <a:gd name="T17" fmla="*/ 42 h 132"/>
                  <a:gd name="T18" fmla="*/ 9 w 92"/>
                  <a:gd name="T19" fmla="*/ 34 h 132"/>
                  <a:gd name="T20" fmla="*/ 8 w 92"/>
                  <a:gd name="T21" fmla="*/ 42 h 132"/>
                  <a:gd name="T22" fmla="*/ 6 w 92"/>
                  <a:gd name="T23" fmla="*/ 42 h 132"/>
                  <a:gd name="T24" fmla="*/ 6 w 92"/>
                  <a:gd name="T25" fmla="*/ 21 h 132"/>
                  <a:gd name="T26" fmla="*/ 5 w 92"/>
                  <a:gd name="T27" fmla="*/ 21 h 132"/>
                  <a:gd name="T28" fmla="*/ 5 w 92"/>
                  <a:gd name="T29" fmla="*/ 34 h 132"/>
                  <a:gd name="T30" fmla="*/ 4 w 92"/>
                  <a:gd name="T31" fmla="*/ 21 h 132"/>
                  <a:gd name="T32" fmla="*/ 4 w 92"/>
                  <a:gd name="T33" fmla="*/ 8 h 132"/>
                  <a:gd name="T34" fmla="*/ 0 w 92"/>
                  <a:gd name="T35" fmla="*/ 0 h 132"/>
                  <a:gd name="T36" fmla="*/ 4 w 92"/>
                  <a:gd name="T37" fmla="*/ 21 h 132"/>
                  <a:gd name="T38" fmla="*/ 4 w 92"/>
                  <a:gd name="T39" fmla="*/ 55 h 132"/>
                  <a:gd name="T40" fmla="*/ 3 w 92"/>
                  <a:gd name="T41" fmla="*/ 59 h 13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
                  <a:gd name="T64" fmla="*/ 0 h 132"/>
                  <a:gd name="T65" fmla="*/ 92 w 92"/>
                  <a:gd name="T66" fmla="*/ 132 h 13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 h="132">
                    <a:moveTo>
                      <a:pt x="16" y="77"/>
                    </a:moveTo>
                    <a:lnTo>
                      <a:pt x="41" y="92"/>
                    </a:lnTo>
                    <a:lnTo>
                      <a:pt x="33" y="122"/>
                    </a:lnTo>
                    <a:lnTo>
                      <a:pt x="41" y="131"/>
                    </a:lnTo>
                    <a:lnTo>
                      <a:pt x="50" y="122"/>
                    </a:lnTo>
                    <a:lnTo>
                      <a:pt x="66" y="77"/>
                    </a:lnTo>
                    <a:lnTo>
                      <a:pt x="75" y="77"/>
                    </a:lnTo>
                    <a:lnTo>
                      <a:pt x="91" y="69"/>
                    </a:lnTo>
                    <a:lnTo>
                      <a:pt x="91" y="54"/>
                    </a:lnTo>
                    <a:lnTo>
                      <a:pt x="75" y="46"/>
                    </a:lnTo>
                    <a:lnTo>
                      <a:pt x="66" y="54"/>
                    </a:lnTo>
                    <a:lnTo>
                      <a:pt x="50" y="54"/>
                    </a:lnTo>
                    <a:lnTo>
                      <a:pt x="50" y="31"/>
                    </a:lnTo>
                    <a:lnTo>
                      <a:pt x="41" y="31"/>
                    </a:lnTo>
                    <a:lnTo>
                      <a:pt x="41" y="46"/>
                    </a:lnTo>
                    <a:lnTo>
                      <a:pt x="33" y="31"/>
                    </a:lnTo>
                    <a:lnTo>
                      <a:pt x="33" y="8"/>
                    </a:lnTo>
                    <a:lnTo>
                      <a:pt x="0" y="0"/>
                    </a:lnTo>
                    <a:lnTo>
                      <a:pt x="33" y="31"/>
                    </a:lnTo>
                    <a:lnTo>
                      <a:pt x="33" y="69"/>
                    </a:lnTo>
                    <a:lnTo>
                      <a:pt x="16" y="7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2" name="Freeform 265"/>
              <p:cNvSpPr>
                <a:spLocks/>
              </p:cNvSpPr>
              <p:nvPr/>
            </p:nvSpPr>
            <p:spPr bwMode="auto">
              <a:xfrm>
                <a:off x="8348620" y="5873266"/>
                <a:ext cx="200743" cy="213178"/>
              </a:xfrm>
              <a:custGeom>
                <a:avLst/>
                <a:gdLst>
                  <a:gd name="T0" fmla="*/ 0 w 135"/>
                  <a:gd name="T1" fmla="*/ 81 h 123"/>
                  <a:gd name="T2" fmla="*/ 3 w 135"/>
                  <a:gd name="T3" fmla="*/ 86 h 123"/>
                  <a:gd name="T4" fmla="*/ 3 w 135"/>
                  <a:gd name="T5" fmla="*/ 86 h 123"/>
                  <a:gd name="T6" fmla="*/ 5 w 135"/>
                  <a:gd name="T7" fmla="*/ 91 h 123"/>
                  <a:gd name="T8" fmla="*/ 7 w 135"/>
                  <a:gd name="T9" fmla="*/ 86 h 123"/>
                  <a:gd name="T10" fmla="*/ 8 w 135"/>
                  <a:gd name="T11" fmla="*/ 67 h 123"/>
                  <a:gd name="T12" fmla="*/ 9 w 135"/>
                  <a:gd name="T13" fmla="*/ 56 h 123"/>
                  <a:gd name="T14" fmla="*/ 11 w 135"/>
                  <a:gd name="T15" fmla="*/ 49 h 123"/>
                  <a:gd name="T16" fmla="*/ 13 w 135"/>
                  <a:gd name="T17" fmla="*/ 49 h 123"/>
                  <a:gd name="T18" fmla="*/ 11 w 135"/>
                  <a:gd name="T19" fmla="*/ 33 h 123"/>
                  <a:gd name="T20" fmla="*/ 16 w 135"/>
                  <a:gd name="T21" fmla="*/ 20 h 123"/>
                  <a:gd name="T22" fmla="*/ 16 w 135"/>
                  <a:gd name="T23" fmla="*/ 14 h 123"/>
                  <a:gd name="T24" fmla="*/ 13 w 135"/>
                  <a:gd name="T25" fmla="*/ 14 h 123"/>
                  <a:gd name="T26" fmla="*/ 13 w 135"/>
                  <a:gd name="T27" fmla="*/ 0 h 123"/>
                  <a:gd name="T28" fmla="*/ 13 w 135"/>
                  <a:gd name="T29" fmla="*/ 14 h 123"/>
                  <a:gd name="T30" fmla="*/ 13 w 135"/>
                  <a:gd name="T31" fmla="*/ 0 h 123"/>
                  <a:gd name="T32" fmla="*/ 11 w 135"/>
                  <a:gd name="T33" fmla="*/ 0 h 123"/>
                  <a:gd name="T34" fmla="*/ 11 w 135"/>
                  <a:gd name="T35" fmla="*/ 0 h 123"/>
                  <a:gd name="T36" fmla="*/ 11 w 135"/>
                  <a:gd name="T37" fmla="*/ 20 h 123"/>
                  <a:gd name="T38" fmla="*/ 9 w 135"/>
                  <a:gd name="T39" fmla="*/ 20 h 123"/>
                  <a:gd name="T40" fmla="*/ 8 w 135"/>
                  <a:gd name="T41" fmla="*/ 25 h 123"/>
                  <a:gd name="T42" fmla="*/ 4 w 135"/>
                  <a:gd name="T43" fmla="*/ 52 h 123"/>
                  <a:gd name="T44" fmla="*/ 0 w 135"/>
                  <a:gd name="T45" fmla="*/ 81 h 1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35"/>
                  <a:gd name="T70" fmla="*/ 0 h 123"/>
                  <a:gd name="T71" fmla="*/ 135 w 135"/>
                  <a:gd name="T72" fmla="*/ 123 h 12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35" h="123">
                    <a:moveTo>
                      <a:pt x="0" y="107"/>
                    </a:moveTo>
                    <a:lnTo>
                      <a:pt x="9" y="114"/>
                    </a:lnTo>
                    <a:lnTo>
                      <a:pt x="17" y="114"/>
                    </a:lnTo>
                    <a:lnTo>
                      <a:pt x="42" y="122"/>
                    </a:lnTo>
                    <a:lnTo>
                      <a:pt x="59" y="114"/>
                    </a:lnTo>
                    <a:lnTo>
                      <a:pt x="67" y="91"/>
                    </a:lnTo>
                    <a:lnTo>
                      <a:pt x="83" y="76"/>
                    </a:lnTo>
                    <a:lnTo>
                      <a:pt x="101" y="61"/>
                    </a:lnTo>
                    <a:lnTo>
                      <a:pt x="109" y="61"/>
                    </a:lnTo>
                    <a:lnTo>
                      <a:pt x="101" y="45"/>
                    </a:lnTo>
                    <a:lnTo>
                      <a:pt x="134" y="23"/>
                    </a:lnTo>
                    <a:lnTo>
                      <a:pt x="134" y="14"/>
                    </a:lnTo>
                    <a:lnTo>
                      <a:pt x="117" y="14"/>
                    </a:lnTo>
                    <a:lnTo>
                      <a:pt x="117" y="0"/>
                    </a:lnTo>
                    <a:lnTo>
                      <a:pt x="109" y="14"/>
                    </a:lnTo>
                    <a:lnTo>
                      <a:pt x="109" y="0"/>
                    </a:lnTo>
                    <a:lnTo>
                      <a:pt x="101" y="0"/>
                    </a:lnTo>
                    <a:lnTo>
                      <a:pt x="92" y="0"/>
                    </a:lnTo>
                    <a:lnTo>
                      <a:pt x="92" y="23"/>
                    </a:lnTo>
                    <a:lnTo>
                      <a:pt x="83" y="23"/>
                    </a:lnTo>
                    <a:lnTo>
                      <a:pt x="67" y="37"/>
                    </a:lnTo>
                    <a:lnTo>
                      <a:pt x="33" y="68"/>
                    </a:lnTo>
                    <a:lnTo>
                      <a:pt x="0" y="10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3" name="Freeform 267"/>
              <p:cNvSpPr>
                <a:spLocks/>
              </p:cNvSpPr>
              <p:nvPr/>
            </p:nvSpPr>
            <p:spPr bwMode="auto">
              <a:xfrm>
                <a:off x="6790641" y="4558666"/>
                <a:ext cx="87048" cy="147448"/>
              </a:xfrm>
              <a:custGeom>
                <a:avLst/>
                <a:gdLst>
                  <a:gd name="T0" fmla="*/ 3 w 59"/>
                  <a:gd name="T1" fmla="*/ 7 h 85"/>
                  <a:gd name="T2" fmla="*/ 2 w 59"/>
                  <a:gd name="T3" fmla="*/ 15 h 85"/>
                  <a:gd name="T4" fmla="*/ 2 w 59"/>
                  <a:gd name="T5" fmla="*/ 7 h 85"/>
                  <a:gd name="T6" fmla="*/ 0 w 59"/>
                  <a:gd name="T7" fmla="*/ 0 h 85"/>
                  <a:gd name="T8" fmla="*/ 0 w 59"/>
                  <a:gd name="T9" fmla="*/ 7 h 85"/>
                  <a:gd name="T10" fmla="*/ 0 w 59"/>
                  <a:gd name="T11" fmla="*/ 26 h 85"/>
                  <a:gd name="T12" fmla="*/ 2 w 59"/>
                  <a:gd name="T13" fmla="*/ 41 h 85"/>
                  <a:gd name="T14" fmla="*/ 6 w 59"/>
                  <a:gd name="T15" fmla="*/ 61 h 85"/>
                  <a:gd name="T16" fmla="*/ 6 w 59"/>
                  <a:gd name="T17" fmla="*/ 61 h 85"/>
                  <a:gd name="T18" fmla="*/ 6 w 59"/>
                  <a:gd name="T19" fmla="*/ 41 h 85"/>
                  <a:gd name="T20" fmla="*/ 6 w 59"/>
                  <a:gd name="T21" fmla="*/ 21 h 85"/>
                  <a:gd name="T22" fmla="*/ 3 w 59"/>
                  <a:gd name="T23" fmla="*/ 7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9"/>
                  <a:gd name="T37" fmla="*/ 0 h 85"/>
                  <a:gd name="T38" fmla="*/ 59 w 59"/>
                  <a:gd name="T39" fmla="*/ 85 h 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9" h="85">
                    <a:moveTo>
                      <a:pt x="33" y="7"/>
                    </a:moveTo>
                    <a:lnTo>
                      <a:pt x="25" y="15"/>
                    </a:lnTo>
                    <a:lnTo>
                      <a:pt x="8" y="7"/>
                    </a:lnTo>
                    <a:lnTo>
                      <a:pt x="0" y="0"/>
                    </a:lnTo>
                    <a:lnTo>
                      <a:pt x="0" y="7"/>
                    </a:lnTo>
                    <a:lnTo>
                      <a:pt x="0" y="38"/>
                    </a:lnTo>
                    <a:lnTo>
                      <a:pt x="25" y="53"/>
                    </a:lnTo>
                    <a:lnTo>
                      <a:pt x="50" y="84"/>
                    </a:lnTo>
                    <a:lnTo>
                      <a:pt x="58" y="84"/>
                    </a:lnTo>
                    <a:lnTo>
                      <a:pt x="50" y="53"/>
                    </a:lnTo>
                    <a:lnTo>
                      <a:pt x="50" y="22"/>
                    </a:lnTo>
                    <a:lnTo>
                      <a:pt x="33"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4" name="Freeform 268"/>
              <p:cNvSpPr>
                <a:spLocks/>
              </p:cNvSpPr>
              <p:nvPr/>
            </p:nvSpPr>
            <p:spPr bwMode="auto">
              <a:xfrm>
                <a:off x="7002043" y="4558666"/>
                <a:ext cx="239826" cy="147448"/>
              </a:xfrm>
              <a:custGeom>
                <a:avLst/>
                <a:gdLst>
                  <a:gd name="T0" fmla="*/ 12 w 160"/>
                  <a:gd name="T1" fmla="*/ 21 h 85"/>
                  <a:gd name="T2" fmla="*/ 13 w 160"/>
                  <a:gd name="T3" fmla="*/ 21 h 85"/>
                  <a:gd name="T4" fmla="*/ 12 w 160"/>
                  <a:gd name="T5" fmla="*/ 26 h 85"/>
                  <a:gd name="T6" fmla="*/ 11 w 160"/>
                  <a:gd name="T7" fmla="*/ 26 h 85"/>
                  <a:gd name="T8" fmla="*/ 8 w 160"/>
                  <a:gd name="T9" fmla="*/ 26 h 85"/>
                  <a:gd name="T10" fmla="*/ 7 w 160"/>
                  <a:gd name="T11" fmla="*/ 41 h 85"/>
                  <a:gd name="T12" fmla="*/ 4 w 160"/>
                  <a:gd name="T13" fmla="*/ 41 h 85"/>
                  <a:gd name="T14" fmla="*/ 4 w 160"/>
                  <a:gd name="T15" fmla="*/ 57 h 85"/>
                  <a:gd name="T16" fmla="*/ 0 w 160"/>
                  <a:gd name="T17" fmla="*/ 57 h 85"/>
                  <a:gd name="T18" fmla="*/ 3 w 160"/>
                  <a:gd name="T19" fmla="*/ 61 h 85"/>
                  <a:gd name="T20" fmla="*/ 6 w 160"/>
                  <a:gd name="T21" fmla="*/ 61 h 85"/>
                  <a:gd name="T22" fmla="*/ 7 w 160"/>
                  <a:gd name="T23" fmla="*/ 57 h 85"/>
                  <a:gd name="T24" fmla="*/ 8 w 160"/>
                  <a:gd name="T25" fmla="*/ 61 h 85"/>
                  <a:gd name="T26" fmla="*/ 11 w 160"/>
                  <a:gd name="T27" fmla="*/ 57 h 85"/>
                  <a:gd name="T28" fmla="*/ 14 w 160"/>
                  <a:gd name="T29" fmla="*/ 26 h 85"/>
                  <a:gd name="T30" fmla="*/ 19 w 160"/>
                  <a:gd name="T31" fmla="*/ 26 h 85"/>
                  <a:gd name="T32" fmla="*/ 20 w 160"/>
                  <a:gd name="T33" fmla="*/ 26 h 85"/>
                  <a:gd name="T34" fmla="*/ 19 w 160"/>
                  <a:gd name="T35" fmla="*/ 21 h 85"/>
                  <a:gd name="T36" fmla="*/ 20 w 160"/>
                  <a:gd name="T37" fmla="*/ 21 h 85"/>
                  <a:gd name="T38" fmla="*/ 17 w 160"/>
                  <a:gd name="T39" fmla="*/ 15 h 85"/>
                  <a:gd name="T40" fmla="*/ 17 w 160"/>
                  <a:gd name="T41" fmla="*/ 7 h 85"/>
                  <a:gd name="T42" fmla="*/ 15 w 160"/>
                  <a:gd name="T43" fmla="*/ 0 h 85"/>
                  <a:gd name="T44" fmla="*/ 13 w 160"/>
                  <a:gd name="T45" fmla="*/ 15 h 85"/>
                  <a:gd name="T46" fmla="*/ 12 w 160"/>
                  <a:gd name="T47" fmla="*/ 21 h 8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0"/>
                  <a:gd name="T73" fmla="*/ 0 h 85"/>
                  <a:gd name="T74" fmla="*/ 160 w 160"/>
                  <a:gd name="T75" fmla="*/ 85 h 8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0" h="85">
                    <a:moveTo>
                      <a:pt x="92" y="22"/>
                    </a:moveTo>
                    <a:lnTo>
                      <a:pt x="101" y="22"/>
                    </a:lnTo>
                    <a:lnTo>
                      <a:pt x="92" y="38"/>
                    </a:lnTo>
                    <a:lnTo>
                      <a:pt x="84" y="38"/>
                    </a:lnTo>
                    <a:lnTo>
                      <a:pt x="67" y="38"/>
                    </a:lnTo>
                    <a:lnTo>
                      <a:pt x="50" y="53"/>
                    </a:lnTo>
                    <a:lnTo>
                      <a:pt x="34" y="53"/>
                    </a:lnTo>
                    <a:lnTo>
                      <a:pt x="34" y="76"/>
                    </a:lnTo>
                    <a:lnTo>
                      <a:pt x="0" y="76"/>
                    </a:lnTo>
                    <a:lnTo>
                      <a:pt x="17" y="84"/>
                    </a:lnTo>
                    <a:lnTo>
                      <a:pt x="42" y="84"/>
                    </a:lnTo>
                    <a:lnTo>
                      <a:pt x="50" y="76"/>
                    </a:lnTo>
                    <a:lnTo>
                      <a:pt x="67" y="84"/>
                    </a:lnTo>
                    <a:lnTo>
                      <a:pt x="84" y="76"/>
                    </a:lnTo>
                    <a:lnTo>
                      <a:pt x="109" y="38"/>
                    </a:lnTo>
                    <a:lnTo>
                      <a:pt x="143" y="38"/>
                    </a:lnTo>
                    <a:lnTo>
                      <a:pt x="151" y="38"/>
                    </a:lnTo>
                    <a:lnTo>
                      <a:pt x="143" y="22"/>
                    </a:lnTo>
                    <a:lnTo>
                      <a:pt x="159" y="22"/>
                    </a:lnTo>
                    <a:lnTo>
                      <a:pt x="134" y="15"/>
                    </a:lnTo>
                    <a:lnTo>
                      <a:pt x="134" y="7"/>
                    </a:lnTo>
                    <a:lnTo>
                      <a:pt x="117" y="0"/>
                    </a:lnTo>
                    <a:lnTo>
                      <a:pt x="101" y="15"/>
                    </a:lnTo>
                    <a:lnTo>
                      <a:pt x="92" y="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5" name="Freeform 269"/>
              <p:cNvSpPr>
                <a:spLocks/>
              </p:cNvSpPr>
              <p:nvPr/>
            </p:nvSpPr>
            <p:spPr bwMode="auto">
              <a:xfrm>
                <a:off x="7101526" y="4599525"/>
                <a:ext cx="51518" cy="26647"/>
              </a:xfrm>
              <a:custGeom>
                <a:avLst/>
                <a:gdLst>
                  <a:gd name="T0" fmla="*/ 0 w 34"/>
                  <a:gd name="T1" fmla="*/ 8 h 16"/>
                  <a:gd name="T2" fmla="*/ 3 w 34"/>
                  <a:gd name="T3" fmla="*/ 8 h 16"/>
                  <a:gd name="T4" fmla="*/ 3 w 34"/>
                  <a:gd name="T5" fmla="*/ 8 h 16"/>
                  <a:gd name="T6" fmla="*/ 5 w 34"/>
                  <a:gd name="T7" fmla="*/ 0 h 16"/>
                  <a:gd name="T8" fmla="*/ 3 w 34"/>
                  <a:gd name="T9" fmla="*/ 0 h 16"/>
                  <a:gd name="T10" fmla="*/ 0 w 34"/>
                  <a:gd name="T11" fmla="*/ 8 h 16"/>
                  <a:gd name="T12" fmla="*/ 0 60000 65536"/>
                  <a:gd name="T13" fmla="*/ 0 60000 65536"/>
                  <a:gd name="T14" fmla="*/ 0 60000 65536"/>
                  <a:gd name="T15" fmla="*/ 0 60000 65536"/>
                  <a:gd name="T16" fmla="*/ 0 60000 65536"/>
                  <a:gd name="T17" fmla="*/ 0 60000 65536"/>
                  <a:gd name="T18" fmla="*/ 0 w 34"/>
                  <a:gd name="T19" fmla="*/ 0 h 16"/>
                  <a:gd name="T20" fmla="*/ 34 w 34"/>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34" h="16">
                    <a:moveTo>
                      <a:pt x="0" y="15"/>
                    </a:moveTo>
                    <a:lnTo>
                      <a:pt x="17" y="15"/>
                    </a:lnTo>
                    <a:lnTo>
                      <a:pt x="25" y="15"/>
                    </a:lnTo>
                    <a:lnTo>
                      <a:pt x="33" y="0"/>
                    </a:lnTo>
                    <a:lnTo>
                      <a:pt x="25" y="0"/>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6" name="Freeform 271"/>
              <p:cNvSpPr>
                <a:spLocks/>
              </p:cNvSpPr>
              <p:nvPr/>
            </p:nvSpPr>
            <p:spPr bwMode="auto">
              <a:xfrm>
                <a:off x="6989607" y="4624396"/>
                <a:ext cx="238049" cy="214955"/>
              </a:xfrm>
              <a:custGeom>
                <a:avLst/>
                <a:gdLst>
                  <a:gd name="T0" fmla="*/ 3 w 159"/>
                  <a:gd name="T1" fmla="*/ 30 h 123"/>
                  <a:gd name="T2" fmla="*/ 3 w 159"/>
                  <a:gd name="T3" fmla="*/ 34 h 123"/>
                  <a:gd name="T4" fmla="*/ 6 w 159"/>
                  <a:gd name="T5" fmla="*/ 34 h 123"/>
                  <a:gd name="T6" fmla="*/ 7 w 159"/>
                  <a:gd name="T7" fmla="*/ 30 h 123"/>
                  <a:gd name="T8" fmla="*/ 9 w 159"/>
                  <a:gd name="T9" fmla="*/ 34 h 123"/>
                  <a:gd name="T10" fmla="*/ 12 w 159"/>
                  <a:gd name="T11" fmla="*/ 30 h 123"/>
                  <a:gd name="T12" fmla="*/ 14 w 159"/>
                  <a:gd name="T13" fmla="*/ 0 h 123"/>
                  <a:gd name="T14" fmla="*/ 19 w 159"/>
                  <a:gd name="T15" fmla="*/ 0 h 123"/>
                  <a:gd name="T16" fmla="*/ 18 w 159"/>
                  <a:gd name="T17" fmla="*/ 15 h 123"/>
                  <a:gd name="T18" fmla="*/ 19 w 159"/>
                  <a:gd name="T19" fmla="*/ 30 h 123"/>
                  <a:gd name="T20" fmla="*/ 18 w 159"/>
                  <a:gd name="T21" fmla="*/ 30 h 123"/>
                  <a:gd name="T22" fmla="*/ 20 w 159"/>
                  <a:gd name="T23" fmla="*/ 34 h 123"/>
                  <a:gd name="T24" fmla="*/ 19 w 159"/>
                  <a:gd name="T25" fmla="*/ 42 h 123"/>
                  <a:gd name="T26" fmla="*/ 16 w 159"/>
                  <a:gd name="T27" fmla="*/ 65 h 123"/>
                  <a:gd name="T28" fmla="*/ 14 w 159"/>
                  <a:gd name="T29" fmla="*/ 79 h 123"/>
                  <a:gd name="T30" fmla="*/ 16 w 159"/>
                  <a:gd name="T31" fmla="*/ 79 h 123"/>
                  <a:gd name="T32" fmla="*/ 14 w 159"/>
                  <a:gd name="T33" fmla="*/ 87 h 123"/>
                  <a:gd name="T34" fmla="*/ 13 w 159"/>
                  <a:gd name="T35" fmla="*/ 98 h 123"/>
                  <a:gd name="T36" fmla="*/ 12 w 159"/>
                  <a:gd name="T37" fmla="*/ 87 h 123"/>
                  <a:gd name="T38" fmla="*/ 8 w 159"/>
                  <a:gd name="T39" fmla="*/ 87 h 123"/>
                  <a:gd name="T40" fmla="*/ 6 w 159"/>
                  <a:gd name="T41" fmla="*/ 87 h 123"/>
                  <a:gd name="T42" fmla="*/ 6 w 159"/>
                  <a:gd name="T43" fmla="*/ 83 h 123"/>
                  <a:gd name="T44" fmla="*/ 3 w 159"/>
                  <a:gd name="T45" fmla="*/ 83 h 123"/>
                  <a:gd name="T46" fmla="*/ 3 w 159"/>
                  <a:gd name="T47" fmla="*/ 72 h 123"/>
                  <a:gd name="T48" fmla="*/ 3 w 159"/>
                  <a:gd name="T49" fmla="*/ 49 h 123"/>
                  <a:gd name="T50" fmla="*/ 0 w 159"/>
                  <a:gd name="T51" fmla="*/ 34 h 123"/>
                  <a:gd name="T52" fmla="*/ 3 w 159"/>
                  <a:gd name="T53" fmla="*/ 30 h 12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9"/>
                  <a:gd name="T82" fmla="*/ 0 h 123"/>
                  <a:gd name="T83" fmla="*/ 159 w 159"/>
                  <a:gd name="T84" fmla="*/ 123 h 123"/>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9" h="123">
                    <a:moveTo>
                      <a:pt x="8" y="38"/>
                    </a:moveTo>
                    <a:lnTo>
                      <a:pt x="24" y="46"/>
                    </a:lnTo>
                    <a:lnTo>
                      <a:pt x="50" y="46"/>
                    </a:lnTo>
                    <a:lnTo>
                      <a:pt x="58" y="38"/>
                    </a:lnTo>
                    <a:lnTo>
                      <a:pt x="74" y="46"/>
                    </a:lnTo>
                    <a:lnTo>
                      <a:pt x="92" y="38"/>
                    </a:lnTo>
                    <a:lnTo>
                      <a:pt x="116" y="0"/>
                    </a:lnTo>
                    <a:lnTo>
                      <a:pt x="150" y="0"/>
                    </a:lnTo>
                    <a:lnTo>
                      <a:pt x="142" y="15"/>
                    </a:lnTo>
                    <a:lnTo>
                      <a:pt x="150" y="30"/>
                    </a:lnTo>
                    <a:lnTo>
                      <a:pt x="142" y="38"/>
                    </a:lnTo>
                    <a:lnTo>
                      <a:pt x="158" y="46"/>
                    </a:lnTo>
                    <a:lnTo>
                      <a:pt x="150" y="54"/>
                    </a:lnTo>
                    <a:lnTo>
                      <a:pt x="125" y="77"/>
                    </a:lnTo>
                    <a:lnTo>
                      <a:pt x="116" y="91"/>
                    </a:lnTo>
                    <a:lnTo>
                      <a:pt x="125" y="91"/>
                    </a:lnTo>
                    <a:lnTo>
                      <a:pt x="116" y="107"/>
                    </a:lnTo>
                    <a:lnTo>
                      <a:pt x="100" y="122"/>
                    </a:lnTo>
                    <a:lnTo>
                      <a:pt x="92" y="107"/>
                    </a:lnTo>
                    <a:lnTo>
                      <a:pt x="66" y="107"/>
                    </a:lnTo>
                    <a:lnTo>
                      <a:pt x="50" y="107"/>
                    </a:lnTo>
                    <a:lnTo>
                      <a:pt x="50" y="99"/>
                    </a:lnTo>
                    <a:lnTo>
                      <a:pt x="24" y="99"/>
                    </a:lnTo>
                    <a:lnTo>
                      <a:pt x="16" y="84"/>
                    </a:lnTo>
                    <a:lnTo>
                      <a:pt x="8" y="61"/>
                    </a:lnTo>
                    <a:lnTo>
                      <a:pt x="0" y="46"/>
                    </a:lnTo>
                    <a:lnTo>
                      <a:pt x="8"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7" name="Freeform 272"/>
              <p:cNvSpPr>
                <a:spLocks/>
              </p:cNvSpPr>
              <p:nvPr/>
            </p:nvSpPr>
            <p:spPr bwMode="auto">
              <a:xfrm>
                <a:off x="7513671" y="4729208"/>
                <a:ext cx="238049" cy="227390"/>
              </a:xfrm>
              <a:custGeom>
                <a:avLst/>
                <a:gdLst>
                  <a:gd name="T0" fmla="*/ 20 w 159"/>
                  <a:gd name="T1" fmla="*/ 26 h 131"/>
                  <a:gd name="T2" fmla="*/ 20 w 159"/>
                  <a:gd name="T3" fmla="*/ 59 h 131"/>
                  <a:gd name="T4" fmla="*/ 20 w 159"/>
                  <a:gd name="T5" fmla="*/ 99 h 131"/>
                  <a:gd name="T6" fmla="*/ 17 w 159"/>
                  <a:gd name="T7" fmla="*/ 89 h 131"/>
                  <a:gd name="T8" fmla="*/ 14 w 159"/>
                  <a:gd name="T9" fmla="*/ 93 h 131"/>
                  <a:gd name="T10" fmla="*/ 14 w 159"/>
                  <a:gd name="T11" fmla="*/ 83 h 131"/>
                  <a:gd name="T12" fmla="*/ 14 w 159"/>
                  <a:gd name="T13" fmla="*/ 62 h 131"/>
                  <a:gd name="T14" fmla="*/ 4 w 159"/>
                  <a:gd name="T15" fmla="*/ 34 h 131"/>
                  <a:gd name="T16" fmla="*/ 3 w 159"/>
                  <a:gd name="T17" fmla="*/ 49 h 131"/>
                  <a:gd name="T18" fmla="*/ 3 w 159"/>
                  <a:gd name="T19" fmla="*/ 34 h 131"/>
                  <a:gd name="T20" fmla="*/ 3 w 159"/>
                  <a:gd name="T21" fmla="*/ 26 h 131"/>
                  <a:gd name="T22" fmla="*/ 4 w 159"/>
                  <a:gd name="T23" fmla="*/ 26 h 131"/>
                  <a:gd name="T24" fmla="*/ 6 w 159"/>
                  <a:gd name="T25" fmla="*/ 21 h 131"/>
                  <a:gd name="T26" fmla="*/ 3 w 159"/>
                  <a:gd name="T27" fmla="*/ 21 h 131"/>
                  <a:gd name="T28" fmla="*/ 3 w 159"/>
                  <a:gd name="T29" fmla="*/ 21 h 131"/>
                  <a:gd name="T30" fmla="*/ 0 w 159"/>
                  <a:gd name="T31" fmla="*/ 21 h 131"/>
                  <a:gd name="T32" fmla="*/ 3 w 159"/>
                  <a:gd name="T33" fmla="*/ 0 h 131"/>
                  <a:gd name="T34" fmla="*/ 3 w 159"/>
                  <a:gd name="T35" fmla="*/ 0 h 131"/>
                  <a:gd name="T36" fmla="*/ 6 w 159"/>
                  <a:gd name="T37" fmla="*/ 16 h 131"/>
                  <a:gd name="T38" fmla="*/ 6 w 159"/>
                  <a:gd name="T39" fmla="*/ 21 h 131"/>
                  <a:gd name="T40" fmla="*/ 8 w 159"/>
                  <a:gd name="T41" fmla="*/ 34 h 131"/>
                  <a:gd name="T42" fmla="*/ 10 w 159"/>
                  <a:gd name="T43" fmla="*/ 21 h 131"/>
                  <a:gd name="T44" fmla="*/ 14 w 159"/>
                  <a:gd name="T45" fmla="*/ 21 h 131"/>
                  <a:gd name="T46" fmla="*/ 20 w 159"/>
                  <a:gd name="T47" fmla="*/ 26 h 1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9"/>
                  <a:gd name="T73" fmla="*/ 0 h 131"/>
                  <a:gd name="T74" fmla="*/ 159 w 159"/>
                  <a:gd name="T75" fmla="*/ 131 h 1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9" h="131">
                    <a:moveTo>
                      <a:pt x="158" y="38"/>
                    </a:moveTo>
                    <a:lnTo>
                      <a:pt x="158" y="77"/>
                    </a:lnTo>
                    <a:lnTo>
                      <a:pt x="158" y="130"/>
                    </a:lnTo>
                    <a:lnTo>
                      <a:pt x="134" y="115"/>
                    </a:lnTo>
                    <a:lnTo>
                      <a:pt x="108" y="122"/>
                    </a:lnTo>
                    <a:lnTo>
                      <a:pt x="116" y="107"/>
                    </a:lnTo>
                    <a:lnTo>
                      <a:pt x="108" y="84"/>
                    </a:lnTo>
                    <a:lnTo>
                      <a:pt x="33" y="46"/>
                    </a:lnTo>
                    <a:lnTo>
                      <a:pt x="25" y="61"/>
                    </a:lnTo>
                    <a:lnTo>
                      <a:pt x="25" y="46"/>
                    </a:lnTo>
                    <a:lnTo>
                      <a:pt x="16" y="38"/>
                    </a:lnTo>
                    <a:lnTo>
                      <a:pt x="33" y="38"/>
                    </a:lnTo>
                    <a:lnTo>
                      <a:pt x="50" y="30"/>
                    </a:lnTo>
                    <a:lnTo>
                      <a:pt x="16" y="30"/>
                    </a:lnTo>
                    <a:lnTo>
                      <a:pt x="8" y="23"/>
                    </a:lnTo>
                    <a:lnTo>
                      <a:pt x="0" y="23"/>
                    </a:lnTo>
                    <a:lnTo>
                      <a:pt x="16" y="0"/>
                    </a:lnTo>
                    <a:lnTo>
                      <a:pt x="25" y="0"/>
                    </a:lnTo>
                    <a:lnTo>
                      <a:pt x="50" y="16"/>
                    </a:lnTo>
                    <a:lnTo>
                      <a:pt x="50" y="30"/>
                    </a:lnTo>
                    <a:lnTo>
                      <a:pt x="66" y="46"/>
                    </a:lnTo>
                    <a:lnTo>
                      <a:pt x="83" y="30"/>
                    </a:lnTo>
                    <a:lnTo>
                      <a:pt x="108" y="23"/>
                    </a:lnTo>
                    <a:lnTo>
                      <a:pt x="158"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8" name="Freeform 273"/>
              <p:cNvSpPr>
                <a:spLocks/>
              </p:cNvSpPr>
              <p:nvPr/>
            </p:nvSpPr>
            <p:spPr bwMode="auto">
              <a:xfrm>
                <a:off x="7749944" y="4798491"/>
                <a:ext cx="225614" cy="214955"/>
              </a:xfrm>
              <a:custGeom>
                <a:avLst/>
                <a:gdLst>
                  <a:gd name="T0" fmla="*/ 0 w 152"/>
                  <a:gd name="T1" fmla="*/ 79 h 123"/>
                  <a:gd name="T2" fmla="*/ 0 w 152"/>
                  <a:gd name="T3" fmla="*/ 30 h 123"/>
                  <a:gd name="T4" fmla="*/ 0 w 152"/>
                  <a:gd name="T5" fmla="*/ 0 h 123"/>
                  <a:gd name="T6" fmla="*/ 5 w 152"/>
                  <a:gd name="T7" fmla="*/ 7 h 123"/>
                  <a:gd name="T8" fmla="*/ 8 w 152"/>
                  <a:gd name="T9" fmla="*/ 30 h 123"/>
                  <a:gd name="T10" fmla="*/ 8 w 152"/>
                  <a:gd name="T11" fmla="*/ 30 h 123"/>
                  <a:gd name="T12" fmla="*/ 13 w 152"/>
                  <a:gd name="T13" fmla="*/ 49 h 123"/>
                  <a:gd name="T14" fmla="*/ 11 w 152"/>
                  <a:gd name="T15" fmla="*/ 56 h 123"/>
                  <a:gd name="T16" fmla="*/ 11 w 152"/>
                  <a:gd name="T17" fmla="*/ 56 h 123"/>
                  <a:gd name="T18" fmla="*/ 13 w 152"/>
                  <a:gd name="T19" fmla="*/ 64 h 123"/>
                  <a:gd name="T20" fmla="*/ 13 w 152"/>
                  <a:gd name="T21" fmla="*/ 79 h 123"/>
                  <a:gd name="T22" fmla="*/ 15 w 152"/>
                  <a:gd name="T23" fmla="*/ 79 h 123"/>
                  <a:gd name="T24" fmla="*/ 15 w 152"/>
                  <a:gd name="T25" fmla="*/ 87 h 123"/>
                  <a:gd name="T26" fmla="*/ 18 w 152"/>
                  <a:gd name="T27" fmla="*/ 91 h 123"/>
                  <a:gd name="T28" fmla="*/ 18 w 152"/>
                  <a:gd name="T29" fmla="*/ 98 h 123"/>
                  <a:gd name="T30" fmla="*/ 11 w 152"/>
                  <a:gd name="T31" fmla="*/ 91 h 123"/>
                  <a:gd name="T32" fmla="*/ 9 w 152"/>
                  <a:gd name="T33" fmla="*/ 64 h 123"/>
                  <a:gd name="T34" fmla="*/ 7 w 152"/>
                  <a:gd name="T35" fmla="*/ 64 h 123"/>
                  <a:gd name="T36" fmla="*/ 6 w 152"/>
                  <a:gd name="T37" fmla="*/ 64 h 123"/>
                  <a:gd name="T38" fmla="*/ 3 w 152"/>
                  <a:gd name="T39" fmla="*/ 72 h 123"/>
                  <a:gd name="T40" fmla="*/ 5 w 152"/>
                  <a:gd name="T41" fmla="*/ 79 h 123"/>
                  <a:gd name="T42" fmla="*/ 3 w 152"/>
                  <a:gd name="T43" fmla="*/ 79 h 123"/>
                  <a:gd name="T44" fmla="*/ 0 w 152"/>
                  <a:gd name="T45" fmla="*/ 79 h 12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2"/>
                  <a:gd name="T70" fmla="*/ 0 h 123"/>
                  <a:gd name="T71" fmla="*/ 152 w 152"/>
                  <a:gd name="T72" fmla="*/ 123 h 12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2" h="123">
                    <a:moveTo>
                      <a:pt x="0" y="91"/>
                    </a:moveTo>
                    <a:lnTo>
                      <a:pt x="0" y="38"/>
                    </a:lnTo>
                    <a:lnTo>
                      <a:pt x="0" y="0"/>
                    </a:lnTo>
                    <a:lnTo>
                      <a:pt x="42" y="7"/>
                    </a:lnTo>
                    <a:lnTo>
                      <a:pt x="68" y="30"/>
                    </a:lnTo>
                    <a:lnTo>
                      <a:pt x="68" y="38"/>
                    </a:lnTo>
                    <a:lnTo>
                      <a:pt x="110" y="61"/>
                    </a:lnTo>
                    <a:lnTo>
                      <a:pt x="93" y="68"/>
                    </a:lnTo>
                    <a:lnTo>
                      <a:pt x="101" y="68"/>
                    </a:lnTo>
                    <a:lnTo>
                      <a:pt x="110" y="76"/>
                    </a:lnTo>
                    <a:lnTo>
                      <a:pt x="118" y="91"/>
                    </a:lnTo>
                    <a:lnTo>
                      <a:pt x="126" y="91"/>
                    </a:lnTo>
                    <a:lnTo>
                      <a:pt x="126" y="107"/>
                    </a:lnTo>
                    <a:lnTo>
                      <a:pt x="151" y="115"/>
                    </a:lnTo>
                    <a:lnTo>
                      <a:pt x="151" y="122"/>
                    </a:lnTo>
                    <a:lnTo>
                      <a:pt x="101" y="115"/>
                    </a:lnTo>
                    <a:lnTo>
                      <a:pt x="76" y="76"/>
                    </a:lnTo>
                    <a:lnTo>
                      <a:pt x="59" y="76"/>
                    </a:lnTo>
                    <a:lnTo>
                      <a:pt x="50" y="76"/>
                    </a:lnTo>
                    <a:lnTo>
                      <a:pt x="26" y="84"/>
                    </a:lnTo>
                    <a:lnTo>
                      <a:pt x="42" y="91"/>
                    </a:lnTo>
                    <a:lnTo>
                      <a:pt x="17" y="91"/>
                    </a:lnTo>
                    <a:lnTo>
                      <a:pt x="0" y="9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19" name="Freeform 274"/>
              <p:cNvSpPr>
                <a:spLocks/>
              </p:cNvSpPr>
              <p:nvPr/>
            </p:nvSpPr>
            <p:spPr bwMode="auto">
              <a:xfrm>
                <a:off x="6716028" y="4691902"/>
                <a:ext cx="12435" cy="30200"/>
              </a:xfrm>
              <a:custGeom>
                <a:avLst/>
                <a:gdLst>
                  <a:gd name="T0" fmla="*/ 0 w 9"/>
                  <a:gd name="T1" fmla="*/ 8 h 17"/>
                  <a:gd name="T2" fmla="*/ 2 w 9"/>
                  <a:gd name="T3" fmla="*/ 16 h 17"/>
                  <a:gd name="T4" fmla="*/ 0 w 9"/>
                  <a:gd name="T5" fmla="*/ 0 h 17"/>
                  <a:gd name="T6" fmla="*/ 0 w 9"/>
                  <a:gd name="T7" fmla="*/ 8 h 17"/>
                  <a:gd name="T8" fmla="*/ 0 60000 65536"/>
                  <a:gd name="T9" fmla="*/ 0 60000 65536"/>
                  <a:gd name="T10" fmla="*/ 0 60000 65536"/>
                  <a:gd name="T11" fmla="*/ 0 60000 65536"/>
                  <a:gd name="T12" fmla="*/ 0 w 9"/>
                  <a:gd name="T13" fmla="*/ 0 h 17"/>
                  <a:gd name="T14" fmla="*/ 9 w 9"/>
                  <a:gd name="T15" fmla="*/ 17 h 17"/>
                </a:gdLst>
                <a:ahLst/>
                <a:cxnLst>
                  <a:cxn ang="T8">
                    <a:pos x="T0" y="T1"/>
                  </a:cxn>
                  <a:cxn ang="T9">
                    <a:pos x="T2" y="T3"/>
                  </a:cxn>
                  <a:cxn ang="T10">
                    <a:pos x="T4" y="T5"/>
                  </a:cxn>
                  <a:cxn ang="T11">
                    <a:pos x="T6" y="T7"/>
                  </a:cxn>
                </a:cxnLst>
                <a:rect l="T12" t="T13" r="T14" b="T15"/>
                <a:pathLst>
                  <a:path w="9" h="17">
                    <a:moveTo>
                      <a:pt x="0" y="8"/>
                    </a:moveTo>
                    <a:lnTo>
                      <a:pt x="8" y="16"/>
                    </a:lnTo>
                    <a:lnTo>
                      <a:pt x="0"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0" name="Freeform 275"/>
              <p:cNvSpPr>
                <a:spLocks/>
              </p:cNvSpPr>
              <p:nvPr/>
            </p:nvSpPr>
            <p:spPr bwMode="auto">
              <a:xfrm>
                <a:off x="6716028" y="4691902"/>
                <a:ext cx="12435" cy="30200"/>
              </a:xfrm>
              <a:custGeom>
                <a:avLst/>
                <a:gdLst>
                  <a:gd name="T0" fmla="*/ 0 w 9"/>
                  <a:gd name="T1" fmla="*/ 8 h 17"/>
                  <a:gd name="T2" fmla="*/ 2 w 9"/>
                  <a:gd name="T3" fmla="*/ 16 h 17"/>
                  <a:gd name="T4" fmla="*/ 0 w 9"/>
                  <a:gd name="T5" fmla="*/ 0 h 17"/>
                  <a:gd name="T6" fmla="*/ 0 w 9"/>
                  <a:gd name="T7" fmla="*/ 8 h 17"/>
                  <a:gd name="T8" fmla="*/ 0 60000 65536"/>
                  <a:gd name="T9" fmla="*/ 0 60000 65536"/>
                  <a:gd name="T10" fmla="*/ 0 60000 65536"/>
                  <a:gd name="T11" fmla="*/ 0 60000 65536"/>
                  <a:gd name="T12" fmla="*/ 0 w 9"/>
                  <a:gd name="T13" fmla="*/ 0 h 17"/>
                  <a:gd name="T14" fmla="*/ 9 w 9"/>
                  <a:gd name="T15" fmla="*/ 17 h 17"/>
                </a:gdLst>
                <a:ahLst/>
                <a:cxnLst>
                  <a:cxn ang="T8">
                    <a:pos x="T0" y="T1"/>
                  </a:cxn>
                  <a:cxn ang="T9">
                    <a:pos x="T2" y="T3"/>
                  </a:cxn>
                  <a:cxn ang="T10">
                    <a:pos x="T4" y="T5"/>
                  </a:cxn>
                  <a:cxn ang="T11">
                    <a:pos x="T6" y="T7"/>
                  </a:cxn>
                </a:cxnLst>
                <a:rect l="T12" t="T13" r="T14" b="T15"/>
                <a:pathLst>
                  <a:path w="9" h="17">
                    <a:moveTo>
                      <a:pt x="0" y="8"/>
                    </a:moveTo>
                    <a:lnTo>
                      <a:pt x="8" y="16"/>
                    </a:lnTo>
                    <a:lnTo>
                      <a:pt x="0"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1" name="Freeform 276"/>
              <p:cNvSpPr>
                <a:spLocks/>
              </p:cNvSpPr>
              <p:nvPr/>
            </p:nvSpPr>
            <p:spPr bwMode="auto">
              <a:xfrm>
                <a:off x="6753334" y="4757632"/>
                <a:ext cx="14212" cy="26647"/>
              </a:xfrm>
              <a:custGeom>
                <a:avLst/>
                <a:gdLst>
                  <a:gd name="T0" fmla="*/ 0 w 10"/>
                  <a:gd name="T1" fmla="*/ 0 h 15"/>
                  <a:gd name="T2" fmla="*/ 2 w 10"/>
                  <a:gd name="T3" fmla="*/ 14 h 15"/>
                  <a:gd name="T4" fmla="*/ 2 w 10"/>
                  <a:gd name="T5" fmla="*/ 7 h 15"/>
                  <a:gd name="T6" fmla="*/ 2 w 10"/>
                  <a:gd name="T7" fmla="*/ 0 h 15"/>
                  <a:gd name="T8" fmla="*/ 0 w 10"/>
                  <a:gd name="T9" fmla="*/ 0 h 15"/>
                  <a:gd name="T10" fmla="*/ 0 60000 65536"/>
                  <a:gd name="T11" fmla="*/ 0 60000 65536"/>
                  <a:gd name="T12" fmla="*/ 0 60000 65536"/>
                  <a:gd name="T13" fmla="*/ 0 60000 65536"/>
                  <a:gd name="T14" fmla="*/ 0 60000 65536"/>
                  <a:gd name="T15" fmla="*/ 0 w 10"/>
                  <a:gd name="T16" fmla="*/ 0 h 15"/>
                  <a:gd name="T17" fmla="*/ 10 w 10"/>
                  <a:gd name="T18" fmla="*/ 15 h 15"/>
                </a:gdLst>
                <a:ahLst/>
                <a:cxnLst>
                  <a:cxn ang="T10">
                    <a:pos x="T0" y="T1"/>
                  </a:cxn>
                  <a:cxn ang="T11">
                    <a:pos x="T2" y="T3"/>
                  </a:cxn>
                  <a:cxn ang="T12">
                    <a:pos x="T4" y="T5"/>
                  </a:cxn>
                  <a:cxn ang="T13">
                    <a:pos x="T6" y="T7"/>
                  </a:cxn>
                  <a:cxn ang="T14">
                    <a:pos x="T8" y="T9"/>
                  </a:cxn>
                </a:cxnLst>
                <a:rect l="T15" t="T16" r="T17" b="T18"/>
                <a:pathLst>
                  <a:path w="10" h="15">
                    <a:moveTo>
                      <a:pt x="0" y="0"/>
                    </a:moveTo>
                    <a:lnTo>
                      <a:pt x="9" y="14"/>
                    </a:lnTo>
                    <a:lnTo>
                      <a:pt x="9" y="7"/>
                    </a:lnTo>
                    <a:lnTo>
                      <a:pt x="9"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2" name="Freeform 277"/>
              <p:cNvSpPr>
                <a:spLocks/>
              </p:cNvSpPr>
              <p:nvPr/>
            </p:nvSpPr>
            <p:spPr bwMode="auto">
              <a:xfrm>
                <a:off x="6753334" y="4757632"/>
                <a:ext cx="14212" cy="26647"/>
              </a:xfrm>
              <a:custGeom>
                <a:avLst/>
                <a:gdLst>
                  <a:gd name="T0" fmla="*/ 0 w 10"/>
                  <a:gd name="T1" fmla="*/ 0 h 15"/>
                  <a:gd name="T2" fmla="*/ 2 w 10"/>
                  <a:gd name="T3" fmla="*/ 14 h 15"/>
                  <a:gd name="T4" fmla="*/ 2 w 10"/>
                  <a:gd name="T5" fmla="*/ 7 h 15"/>
                  <a:gd name="T6" fmla="*/ 2 w 10"/>
                  <a:gd name="T7" fmla="*/ 0 h 15"/>
                  <a:gd name="T8" fmla="*/ 0 w 10"/>
                  <a:gd name="T9" fmla="*/ 0 h 15"/>
                  <a:gd name="T10" fmla="*/ 0 60000 65536"/>
                  <a:gd name="T11" fmla="*/ 0 60000 65536"/>
                  <a:gd name="T12" fmla="*/ 0 60000 65536"/>
                  <a:gd name="T13" fmla="*/ 0 60000 65536"/>
                  <a:gd name="T14" fmla="*/ 0 60000 65536"/>
                  <a:gd name="T15" fmla="*/ 0 w 10"/>
                  <a:gd name="T16" fmla="*/ 0 h 15"/>
                  <a:gd name="T17" fmla="*/ 10 w 10"/>
                  <a:gd name="T18" fmla="*/ 15 h 15"/>
                </a:gdLst>
                <a:ahLst/>
                <a:cxnLst>
                  <a:cxn ang="T10">
                    <a:pos x="T0" y="T1"/>
                  </a:cxn>
                  <a:cxn ang="T11">
                    <a:pos x="T2" y="T3"/>
                  </a:cxn>
                  <a:cxn ang="T12">
                    <a:pos x="T4" y="T5"/>
                  </a:cxn>
                  <a:cxn ang="T13">
                    <a:pos x="T6" y="T7"/>
                  </a:cxn>
                  <a:cxn ang="T14">
                    <a:pos x="T8" y="T9"/>
                  </a:cxn>
                </a:cxnLst>
                <a:rect l="T15" t="T16" r="T17" b="T18"/>
                <a:pathLst>
                  <a:path w="10" h="15">
                    <a:moveTo>
                      <a:pt x="0" y="0"/>
                    </a:moveTo>
                    <a:lnTo>
                      <a:pt x="9" y="14"/>
                    </a:lnTo>
                    <a:lnTo>
                      <a:pt x="9" y="7"/>
                    </a:lnTo>
                    <a:lnTo>
                      <a:pt x="9"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3" name="Freeform 278"/>
              <p:cNvSpPr>
                <a:spLocks/>
              </p:cNvSpPr>
              <p:nvPr/>
            </p:nvSpPr>
            <p:spPr bwMode="auto">
              <a:xfrm>
                <a:off x="7089090" y="5009893"/>
                <a:ext cx="961080" cy="811854"/>
              </a:xfrm>
              <a:custGeom>
                <a:avLst/>
                <a:gdLst>
                  <a:gd name="T0" fmla="*/ 7 w 645"/>
                  <a:gd name="T1" fmla="*/ 306 h 467"/>
                  <a:gd name="T2" fmla="*/ 13 w 645"/>
                  <a:gd name="T3" fmla="*/ 283 h 467"/>
                  <a:gd name="T4" fmla="*/ 21 w 645"/>
                  <a:gd name="T5" fmla="*/ 277 h 467"/>
                  <a:gd name="T6" fmla="*/ 35 w 645"/>
                  <a:gd name="T7" fmla="*/ 252 h 467"/>
                  <a:gd name="T8" fmla="*/ 41 w 645"/>
                  <a:gd name="T9" fmla="*/ 277 h 467"/>
                  <a:gd name="T10" fmla="*/ 44 w 645"/>
                  <a:gd name="T11" fmla="*/ 306 h 467"/>
                  <a:gd name="T12" fmla="*/ 48 w 645"/>
                  <a:gd name="T13" fmla="*/ 283 h 467"/>
                  <a:gd name="T14" fmla="*/ 48 w 645"/>
                  <a:gd name="T15" fmla="*/ 306 h 467"/>
                  <a:gd name="T16" fmla="*/ 49 w 645"/>
                  <a:gd name="T17" fmla="*/ 306 h 467"/>
                  <a:gd name="T18" fmla="*/ 50 w 645"/>
                  <a:gd name="T19" fmla="*/ 313 h 467"/>
                  <a:gd name="T20" fmla="*/ 50 w 645"/>
                  <a:gd name="T21" fmla="*/ 336 h 467"/>
                  <a:gd name="T22" fmla="*/ 55 w 645"/>
                  <a:gd name="T23" fmla="*/ 347 h 467"/>
                  <a:gd name="T24" fmla="*/ 59 w 645"/>
                  <a:gd name="T25" fmla="*/ 353 h 467"/>
                  <a:gd name="T26" fmla="*/ 60 w 645"/>
                  <a:gd name="T27" fmla="*/ 347 h 467"/>
                  <a:gd name="T28" fmla="*/ 62 w 645"/>
                  <a:gd name="T29" fmla="*/ 353 h 467"/>
                  <a:gd name="T30" fmla="*/ 67 w 645"/>
                  <a:gd name="T31" fmla="*/ 342 h 467"/>
                  <a:gd name="T32" fmla="*/ 72 w 645"/>
                  <a:gd name="T33" fmla="*/ 313 h 467"/>
                  <a:gd name="T34" fmla="*/ 79 w 645"/>
                  <a:gd name="T35" fmla="*/ 217 h 467"/>
                  <a:gd name="T36" fmla="*/ 74 w 645"/>
                  <a:gd name="T37" fmla="*/ 159 h 467"/>
                  <a:gd name="T38" fmla="*/ 72 w 645"/>
                  <a:gd name="T39" fmla="*/ 142 h 467"/>
                  <a:gd name="T40" fmla="*/ 71 w 645"/>
                  <a:gd name="T41" fmla="*/ 142 h 467"/>
                  <a:gd name="T42" fmla="*/ 65 w 645"/>
                  <a:gd name="T43" fmla="*/ 96 h 467"/>
                  <a:gd name="T44" fmla="*/ 62 w 645"/>
                  <a:gd name="T45" fmla="*/ 65 h 467"/>
                  <a:gd name="T46" fmla="*/ 60 w 645"/>
                  <a:gd name="T47" fmla="*/ 49 h 467"/>
                  <a:gd name="T48" fmla="*/ 57 w 645"/>
                  <a:gd name="T49" fmla="*/ 0 h 467"/>
                  <a:gd name="T50" fmla="*/ 55 w 645"/>
                  <a:gd name="T51" fmla="*/ 22 h 467"/>
                  <a:gd name="T52" fmla="*/ 54 w 645"/>
                  <a:gd name="T53" fmla="*/ 82 h 467"/>
                  <a:gd name="T54" fmla="*/ 46 w 645"/>
                  <a:gd name="T55" fmla="*/ 61 h 467"/>
                  <a:gd name="T56" fmla="*/ 44 w 645"/>
                  <a:gd name="T57" fmla="*/ 56 h 467"/>
                  <a:gd name="T58" fmla="*/ 44 w 645"/>
                  <a:gd name="T59" fmla="*/ 26 h 467"/>
                  <a:gd name="T60" fmla="*/ 46 w 645"/>
                  <a:gd name="T61" fmla="*/ 22 h 467"/>
                  <a:gd name="T62" fmla="*/ 44 w 645"/>
                  <a:gd name="T63" fmla="*/ 23 h 467"/>
                  <a:gd name="T64" fmla="*/ 42 w 645"/>
                  <a:gd name="T65" fmla="*/ 22 h 467"/>
                  <a:gd name="T66" fmla="*/ 37 w 645"/>
                  <a:gd name="T67" fmla="*/ 22 h 467"/>
                  <a:gd name="T68" fmla="*/ 34 w 645"/>
                  <a:gd name="T69" fmla="*/ 22 h 467"/>
                  <a:gd name="T70" fmla="*/ 33 w 645"/>
                  <a:gd name="T71" fmla="*/ 26 h 467"/>
                  <a:gd name="T72" fmla="*/ 31 w 645"/>
                  <a:gd name="T73" fmla="*/ 49 h 467"/>
                  <a:gd name="T74" fmla="*/ 29 w 645"/>
                  <a:gd name="T75" fmla="*/ 49 h 467"/>
                  <a:gd name="T76" fmla="*/ 29 w 645"/>
                  <a:gd name="T77" fmla="*/ 49 h 467"/>
                  <a:gd name="T78" fmla="*/ 28 w 645"/>
                  <a:gd name="T79" fmla="*/ 33 h 467"/>
                  <a:gd name="T80" fmla="*/ 23 w 645"/>
                  <a:gd name="T81" fmla="*/ 49 h 467"/>
                  <a:gd name="T82" fmla="*/ 21 w 645"/>
                  <a:gd name="T83" fmla="*/ 65 h 467"/>
                  <a:gd name="T84" fmla="*/ 21 w 645"/>
                  <a:gd name="T85" fmla="*/ 68 h 467"/>
                  <a:gd name="T86" fmla="*/ 19 w 645"/>
                  <a:gd name="T87" fmla="*/ 65 h 467"/>
                  <a:gd name="T88" fmla="*/ 18 w 645"/>
                  <a:gd name="T89" fmla="*/ 91 h 467"/>
                  <a:gd name="T90" fmla="*/ 6 w 645"/>
                  <a:gd name="T91" fmla="*/ 116 h 467"/>
                  <a:gd name="T92" fmla="*/ 3 w 645"/>
                  <a:gd name="T93" fmla="*/ 130 h 467"/>
                  <a:gd name="T94" fmla="*/ 3 w 645"/>
                  <a:gd name="T95" fmla="*/ 153 h 467"/>
                  <a:gd name="T96" fmla="*/ 3 w 645"/>
                  <a:gd name="T97" fmla="*/ 189 h 467"/>
                  <a:gd name="T98" fmla="*/ 3 w 645"/>
                  <a:gd name="T99" fmla="*/ 189 h 467"/>
                  <a:gd name="T100" fmla="*/ 4 w 645"/>
                  <a:gd name="T101" fmla="*/ 224 h 467"/>
                  <a:gd name="T102" fmla="*/ 5 w 645"/>
                  <a:gd name="T103" fmla="*/ 277 h 467"/>
                  <a:gd name="T104" fmla="*/ 4 w 645"/>
                  <a:gd name="T105" fmla="*/ 289 h 467"/>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645"/>
                  <a:gd name="T160" fmla="*/ 0 h 467"/>
                  <a:gd name="T161" fmla="*/ 645 w 645"/>
                  <a:gd name="T162" fmla="*/ 467 h 467"/>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645" h="467">
                    <a:moveTo>
                      <a:pt x="34" y="374"/>
                    </a:moveTo>
                    <a:lnTo>
                      <a:pt x="59" y="397"/>
                    </a:lnTo>
                    <a:lnTo>
                      <a:pt x="84" y="397"/>
                    </a:lnTo>
                    <a:lnTo>
                      <a:pt x="109" y="366"/>
                    </a:lnTo>
                    <a:lnTo>
                      <a:pt x="160" y="366"/>
                    </a:lnTo>
                    <a:lnTo>
                      <a:pt x="176" y="359"/>
                    </a:lnTo>
                    <a:lnTo>
                      <a:pt x="210" y="336"/>
                    </a:lnTo>
                    <a:lnTo>
                      <a:pt x="293" y="328"/>
                    </a:lnTo>
                    <a:lnTo>
                      <a:pt x="335" y="344"/>
                    </a:lnTo>
                    <a:lnTo>
                      <a:pt x="335" y="359"/>
                    </a:lnTo>
                    <a:lnTo>
                      <a:pt x="343" y="359"/>
                    </a:lnTo>
                    <a:lnTo>
                      <a:pt x="360" y="397"/>
                    </a:lnTo>
                    <a:lnTo>
                      <a:pt x="393" y="344"/>
                    </a:lnTo>
                    <a:lnTo>
                      <a:pt x="393" y="366"/>
                    </a:lnTo>
                    <a:lnTo>
                      <a:pt x="385" y="397"/>
                    </a:lnTo>
                    <a:lnTo>
                      <a:pt x="393" y="397"/>
                    </a:lnTo>
                    <a:lnTo>
                      <a:pt x="393" y="374"/>
                    </a:lnTo>
                    <a:lnTo>
                      <a:pt x="401" y="397"/>
                    </a:lnTo>
                    <a:lnTo>
                      <a:pt x="393" y="405"/>
                    </a:lnTo>
                    <a:lnTo>
                      <a:pt x="410" y="405"/>
                    </a:lnTo>
                    <a:lnTo>
                      <a:pt x="419" y="420"/>
                    </a:lnTo>
                    <a:lnTo>
                      <a:pt x="419" y="435"/>
                    </a:lnTo>
                    <a:lnTo>
                      <a:pt x="435" y="443"/>
                    </a:lnTo>
                    <a:lnTo>
                      <a:pt x="451" y="450"/>
                    </a:lnTo>
                    <a:lnTo>
                      <a:pt x="469" y="450"/>
                    </a:lnTo>
                    <a:lnTo>
                      <a:pt x="485" y="458"/>
                    </a:lnTo>
                    <a:lnTo>
                      <a:pt x="502" y="443"/>
                    </a:lnTo>
                    <a:lnTo>
                      <a:pt x="502" y="450"/>
                    </a:lnTo>
                    <a:lnTo>
                      <a:pt x="511" y="450"/>
                    </a:lnTo>
                    <a:lnTo>
                      <a:pt x="511" y="458"/>
                    </a:lnTo>
                    <a:lnTo>
                      <a:pt x="535" y="466"/>
                    </a:lnTo>
                    <a:lnTo>
                      <a:pt x="552" y="443"/>
                    </a:lnTo>
                    <a:lnTo>
                      <a:pt x="585" y="443"/>
                    </a:lnTo>
                    <a:lnTo>
                      <a:pt x="593" y="405"/>
                    </a:lnTo>
                    <a:lnTo>
                      <a:pt x="635" y="321"/>
                    </a:lnTo>
                    <a:lnTo>
                      <a:pt x="644" y="282"/>
                    </a:lnTo>
                    <a:lnTo>
                      <a:pt x="635" y="237"/>
                    </a:lnTo>
                    <a:lnTo>
                      <a:pt x="611" y="206"/>
                    </a:lnTo>
                    <a:lnTo>
                      <a:pt x="603" y="198"/>
                    </a:lnTo>
                    <a:lnTo>
                      <a:pt x="593" y="183"/>
                    </a:lnTo>
                    <a:lnTo>
                      <a:pt x="585" y="167"/>
                    </a:lnTo>
                    <a:lnTo>
                      <a:pt x="585" y="183"/>
                    </a:lnTo>
                    <a:lnTo>
                      <a:pt x="561" y="152"/>
                    </a:lnTo>
                    <a:lnTo>
                      <a:pt x="535" y="122"/>
                    </a:lnTo>
                    <a:lnTo>
                      <a:pt x="519" y="91"/>
                    </a:lnTo>
                    <a:lnTo>
                      <a:pt x="511" y="84"/>
                    </a:lnTo>
                    <a:lnTo>
                      <a:pt x="511" y="68"/>
                    </a:lnTo>
                    <a:lnTo>
                      <a:pt x="502" y="61"/>
                    </a:lnTo>
                    <a:lnTo>
                      <a:pt x="485" y="61"/>
                    </a:lnTo>
                    <a:lnTo>
                      <a:pt x="469" y="0"/>
                    </a:lnTo>
                    <a:lnTo>
                      <a:pt x="460" y="0"/>
                    </a:lnTo>
                    <a:lnTo>
                      <a:pt x="451" y="22"/>
                    </a:lnTo>
                    <a:lnTo>
                      <a:pt x="451" y="68"/>
                    </a:lnTo>
                    <a:lnTo>
                      <a:pt x="443" y="106"/>
                    </a:lnTo>
                    <a:lnTo>
                      <a:pt x="419" y="106"/>
                    </a:lnTo>
                    <a:lnTo>
                      <a:pt x="385" y="76"/>
                    </a:lnTo>
                    <a:lnTo>
                      <a:pt x="368" y="76"/>
                    </a:lnTo>
                    <a:lnTo>
                      <a:pt x="368" y="68"/>
                    </a:lnTo>
                    <a:lnTo>
                      <a:pt x="351" y="68"/>
                    </a:lnTo>
                    <a:lnTo>
                      <a:pt x="360" y="38"/>
                    </a:lnTo>
                    <a:lnTo>
                      <a:pt x="368" y="38"/>
                    </a:lnTo>
                    <a:lnTo>
                      <a:pt x="385" y="22"/>
                    </a:lnTo>
                    <a:lnTo>
                      <a:pt x="368" y="22"/>
                    </a:lnTo>
                    <a:lnTo>
                      <a:pt x="360" y="30"/>
                    </a:lnTo>
                    <a:lnTo>
                      <a:pt x="360" y="22"/>
                    </a:lnTo>
                    <a:lnTo>
                      <a:pt x="351" y="22"/>
                    </a:lnTo>
                    <a:lnTo>
                      <a:pt x="301" y="7"/>
                    </a:lnTo>
                    <a:lnTo>
                      <a:pt x="310" y="22"/>
                    </a:lnTo>
                    <a:lnTo>
                      <a:pt x="301" y="22"/>
                    </a:lnTo>
                    <a:lnTo>
                      <a:pt x="285" y="22"/>
                    </a:lnTo>
                    <a:lnTo>
                      <a:pt x="268" y="30"/>
                    </a:lnTo>
                    <a:lnTo>
                      <a:pt x="268" y="38"/>
                    </a:lnTo>
                    <a:lnTo>
                      <a:pt x="260" y="38"/>
                    </a:lnTo>
                    <a:lnTo>
                      <a:pt x="260" y="61"/>
                    </a:lnTo>
                    <a:lnTo>
                      <a:pt x="260" y="68"/>
                    </a:lnTo>
                    <a:lnTo>
                      <a:pt x="243" y="61"/>
                    </a:lnTo>
                    <a:lnTo>
                      <a:pt x="243" y="68"/>
                    </a:lnTo>
                    <a:lnTo>
                      <a:pt x="243" y="61"/>
                    </a:lnTo>
                    <a:lnTo>
                      <a:pt x="234" y="45"/>
                    </a:lnTo>
                    <a:lnTo>
                      <a:pt x="226" y="45"/>
                    </a:lnTo>
                    <a:lnTo>
                      <a:pt x="201" y="61"/>
                    </a:lnTo>
                    <a:lnTo>
                      <a:pt x="192" y="61"/>
                    </a:lnTo>
                    <a:lnTo>
                      <a:pt x="184" y="84"/>
                    </a:lnTo>
                    <a:lnTo>
                      <a:pt x="176" y="84"/>
                    </a:lnTo>
                    <a:lnTo>
                      <a:pt x="160" y="84"/>
                    </a:lnTo>
                    <a:lnTo>
                      <a:pt x="176" y="91"/>
                    </a:lnTo>
                    <a:lnTo>
                      <a:pt x="160" y="106"/>
                    </a:lnTo>
                    <a:lnTo>
                      <a:pt x="160" y="84"/>
                    </a:lnTo>
                    <a:lnTo>
                      <a:pt x="142" y="106"/>
                    </a:lnTo>
                    <a:lnTo>
                      <a:pt x="151" y="115"/>
                    </a:lnTo>
                    <a:lnTo>
                      <a:pt x="126" y="129"/>
                    </a:lnTo>
                    <a:lnTo>
                      <a:pt x="50" y="152"/>
                    </a:lnTo>
                    <a:lnTo>
                      <a:pt x="26" y="183"/>
                    </a:lnTo>
                    <a:lnTo>
                      <a:pt x="8" y="167"/>
                    </a:lnTo>
                    <a:lnTo>
                      <a:pt x="8" y="183"/>
                    </a:lnTo>
                    <a:lnTo>
                      <a:pt x="8" y="198"/>
                    </a:lnTo>
                    <a:lnTo>
                      <a:pt x="0" y="198"/>
                    </a:lnTo>
                    <a:lnTo>
                      <a:pt x="26" y="244"/>
                    </a:lnTo>
                    <a:lnTo>
                      <a:pt x="8" y="229"/>
                    </a:lnTo>
                    <a:lnTo>
                      <a:pt x="8" y="244"/>
                    </a:lnTo>
                    <a:lnTo>
                      <a:pt x="0" y="237"/>
                    </a:lnTo>
                    <a:lnTo>
                      <a:pt x="34" y="290"/>
                    </a:lnTo>
                    <a:lnTo>
                      <a:pt x="42" y="328"/>
                    </a:lnTo>
                    <a:lnTo>
                      <a:pt x="42" y="359"/>
                    </a:lnTo>
                    <a:lnTo>
                      <a:pt x="34" y="366"/>
                    </a:lnTo>
                    <a:lnTo>
                      <a:pt x="34" y="37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4" name="Freeform 279"/>
              <p:cNvSpPr>
                <a:spLocks/>
              </p:cNvSpPr>
              <p:nvPr/>
            </p:nvSpPr>
            <p:spPr bwMode="auto">
              <a:xfrm>
                <a:off x="7639802" y="5713382"/>
                <a:ext cx="37306" cy="12435"/>
              </a:xfrm>
              <a:custGeom>
                <a:avLst/>
                <a:gdLst>
                  <a:gd name="T0" fmla="*/ 0 w 25"/>
                  <a:gd name="T1" fmla="*/ 0 h 8"/>
                  <a:gd name="T2" fmla="*/ 3 w 25"/>
                  <a:gd name="T3" fmla="*/ 4 h 8"/>
                  <a:gd name="T4" fmla="*/ 3 w 25"/>
                  <a:gd name="T5" fmla="*/ 0 h 8"/>
                  <a:gd name="T6" fmla="*/ 3 w 25"/>
                  <a:gd name="T7" fmla="*/ 0 h 8"/>
                  <a:gd name="T8" fmla="*/ 0 w 25"/>
                  <a:gd name="T9" fmla="*/ 0 h 8"/>
                  <a:gd name="T10" fmla="*/ 0 60000 65536"/>
                  <a:gd name="T11" fmla="*/ 0 60000 65536"/>
                  <a:gd name="T12" fmla="*/ 0 60000 65536"/>
                  <a:gd name="T13" fmla="*/ 0 60000 65536"/>
                  <a:gd name="T14" fmla="*/ 0 60000 65536"/>
                  <a:gd name="T15" fmla="*/ 0 w 25"/>
                  <a:gd name="T16" fmla="*/ 0 h 8"/>
                  <a:gd name="T17" fmla="*/ 25 w 25"/>
                  <a:gd name="T18" fmla="*/ 8 h 8"/>
                </a:gdLst>
                <a:ahLst/>
                <a:cxnLst>
                  <a:cxn ang="T10">
                    <a:pos x="T0" y="T1"/>
                  </a:cxn>
                  <a:cxn ang="T11">
                    <a:pos x="T2" y="T3"/>
                  </a:cxn>
                  <a:cxn ang="T12">
                    <a:pos x="T4" y="T5"/>
                  </a:cxn>
                  <a:cxn ang="T13">
                    <a:pos x="T6" y="T7"/>
                  </a:cxn>
                  <a:cxn ang="T14">
                    <a:pos x="T8" y="T9"/>
                  </a:cxn>
                </a:cxnLst>
                <a:rect l="T15" t="T16" r="T17" b="T18"/>
                <a:pathLst>
                  <a:path w="25" h="8">
                    <a:moveTo>
                      <a:pt x="0" y="0"/>
                    </a:moveTo>
                    <a:lnTo>
                      <a:pt x="24" y="7"/>
                    </a:lnTo>
                    <a:lnTo>
                      <a:pt x="24" y="0"/>
                    </a:lnTo>
                    <a:lnTo>
                      <a:pt x="1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5" name="Freeform 280"/>
              <p:cNvSpPr>
                <a:spLocks/>
              </p:cNvSpPr>
              <p:nvPr/>
            </p:nvSpPr>
            <p:spPr bwMode="auto">
              <a:xfrm>
                <a:off x="7639802" y="5713382"/>
                <a:ext cx="37306" cy="12435"/>
              </a:xfrm>
              <a:custGeom>
                <a:avLst/>
                <a:gdLst>
                  <a:gd name="T0" fmla="*/ 0 w 25"/>
                  <a:gd name="T1" fmla="*/ 0 h 8"/>
                  <a:gd name="T2" fmla="*/ 3 w 25"/>
                  <a:gd name="T3" fmla="*/ 4 h 8"/>
                  <a:gd name="T4" fmla="*/ 3 w 25"/>
                  <a:gd name="T5" fmla="*/ 0 h 8"/>
                  <a:gd name="T6" fmla="*/ 3 w 25"/>
                  <a:gd name="T7" fmla="*/ 0 h 8"/>
                  <a:gd name="T8" fmla="*/ 0 w 25"/>
                  <a:gd name="T9" fmla="*/ 0 h 8"/>
                  <a:gd name="T10" fmla="*/ 0 60000 65536"/>
                  <a:gd name="T11" fmla="*/ 0 60000 65536"/>
                  <a:gd name="T12" fmla="*/ 0 60000 65536"/>
                  <a:gd name="T13" fmla="*/ 0 60000 65536"/>
                  <a:gd name="T14" fmla="*/ 0 60000 65536"/>
                  <a:gd name="T15" fmla="*/ 0 w 25"/>
                  <a:gd name="T16" fmla="*/ 0 h 8"/>
                  <a:gd name="T17" fmla="*/ 25 w 25"/>
                  <a:gd name="T18" fmla="*/ 8 h 8"/>
                </a:gdLst>
                <a:ahLst/>
                <a:cxnLst>
                  <a:cxn ang="T10">
                    <a:pos x="T0" y="T1"/>
                  </a:cxn>
                  <a:cxn ang="T11">
                    <a:pos x="T2" y="T3"/>
                  </a:cxn>
                  <a:cxn ang="T12">
                    <a:pos x="T4" y="T5"/>
                  </a:cxn>
                  <a:cxn ang="T13">
                    <a:pos x="T6" y="T7"/>
                  </a:cxn>
                  <a:cxn ang="T14">
                    <a:pos x="T8" y="T9"/>
                  </a:cxn>
                </a:cxnLst>
                <a:rect l="T15" t="T16" r="T17" b="T18"/>
                <a:pathLst>
                  <a:path w="25" h="8">
                    <a:moveTo>
                      <a:pt x="0" y="0"/>
                    </a:moveTo>
                    <a:lnTo>
                      <a:pt x="24" y="7"/>
                    </a:lnTo>
                    <a:lnTo>
                      <a:pt x="24" y="0"/>
                    </a:lnTo>
                    <a:lnTo>
                      <a:pt x="1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6" name="Freeform 281"/>
              <p:cNvSpPr>
                <a:spLocks/>
              </p:cNvSpPr>
              <p:nvPr/>
            </p:nvSpPr>
            <p:spPr bwMode="auto">
              <a:xfrm>
                <a:off x="7838768" y="5873266"/>
                <a:ext cx="88824" cy="106589"/>
              </a:xfrm>
              <a:custGeom>
                <a:avLst/>
                <a:gdLst>
                  <a:gd name="T0" fmla="*/ 0 w 59"/>
                  <a:gd name="T1" fmla="*/ 0 h 62"/>
                  <a:gd name="T2" fmla="*/ 3 w 59"/>
                  <a:gd name="T3" fmla="*/ 33 h 62"/>
                  <a:gd name="T4" fmla="*/ 4 w 59"/>
                  <a:gd name="T5" fmla="*/ 41 h 62"/>
                  <a:gd name="T6" fmla="*/ 6 w 59"/>
                  <a:gd name="T7" fmla="*/ 25 h 62"/>
                  <a:gd name="T8" fmla="*/ 7 w 59"/>
                  <a:gd name="T9" fmla="*/ 33 h 62"/>
                  <a:gd name="T10" fmla="*/ 8 w 59"/>
                  <a:gd name="T11" fmla="*/ 0 h 62"/>
                  <a:gd name="T12" fmla="*/ 7 w 59"/>
                  <a:gd name="T13" fmla="*/ 0 h 62"/>
                  <a:gd name="T14" fmla="*/ 3 w 59"/>
                  <a:gd name="T15" fmla="*/ 14 h 62"/>
                  <a:gd name="T16" fmla="*/ 0 w 59"/>
                  <a:gd name="T17" fmla="*/ 0 h 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62"/>
                  <a:gd name="T29" fmla="*/ 59 w 59"/>
                  <a:gd name="T30" fmla="*/ 62 h 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62">
                    <a:moveTo>
                      <a:pt x="0" y="0"/>
                    </a:moveTo>
                    <a:lnTo>
                      <a:pt x="8" y="45"/>
                    </a:lnTo>
                    <a:lnTo>
                      <a:pt x="33" y="61"/>
                    </a:lnTo>
                    <a:lnTo>
                      <a:pt x="41" y="37"/>
                    </a:lnTo>
                    <a:lnTo>
                      <a:pt x="50" y="45"/>
                    </a:lnTo>
                    <a:lnTo>
                      <a:pt x="58" y="0"/>
                    </a:lnTo>
                    <a:lnTo>
                      <a:pt x="50" y="0"/>
                    </a:lnTo>
                    <a:lnTo>
                      <a:pt x="16" y="14"/>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7" name="Freeform 282"/>
              <p:cNvSpPr>
                <a:spLocks/>
              </p:cNvSpPr>
              <p:nvPr/>
            </p:nvSpPr>
            <p:spPr bwMode="auto">
              <a:xfrm>
                <a:off x="6664510" y="4583536"/>
                <a:ext cx="264697" cy="294897"/>
              </a:xfrm>
              <a:custGeom>
                <a:avLst/>
                <a:gdLst>
                  <a:gd name="T0" fmla="*/ 0 w 177"/>
                  <a:gd name="T1" fmla="*/ 0 h 169"/>
                  <a:gd name="T2" fmla="*/ 0 w 177"/>
                  <a:gd name="T3" fmla="*/ 7 h 169"/>
                  <a:gd name="T4" fmla="*/ 3 w 177"/>
                  <a:gd name="T5" fmla="*/ 28 h 169"/>
                  <a:gd name="T6" fmla="*/ 5 w 177"/>
                  <a:gd name="T7" fmla="*/ 41 h 169"/>
                  <a:gd name="T8" fmla="*/ 7 w 177"/>
                  <a:gd name="T9" fmla="*/ 49 h 169"/>
                  <a:gd name="T10" fmla="*/ 8 w 177"/>
                  <a:gd name="T11" fmla="*/ 65 h 169"/>
                  <a:gd name="T12" fmla="*/ 11 w 177"/>
                  <a:gd name="T13" fmla="*/ 80 h 169"/>
                  <a:gd name="T14" fmla="*/ 14 w 177"/>
                  <a:gd name="T15" fmla="*/ 106 h 169"/>
                  <a:gd name="T16" fmla="*/ 18 w 177"/>
                  <a:gd name="T17" fmla="*/ 134 h 169"/>
                  <a:gd name="T18" fmla="*/ 21 w 177"/>
                  <a:gd name="T19" fmla="*/ 134 h 169"/>
                  <a:gd name="T20" fmla="*/ 22 w 177"/>
                  <a:gd name="T21" fmla="*/ 106 h 169"/>
                  <a:gd name="T22" fmla="*/ 21 w 177"/>
                  <a:gd name="T23" fmla="*/ 90 h 169"/>
                  <a:gd name="T24" fmla="*/ 20 w 177"/>
                  <a:gd name="T25" fmla="*/ 90 h 169"/>
                  <a:gd name="T26" fmla="*/ 18 w 177"/>
                  <a:gd name="T27" fmla="*/ 80 h 169"/>
                  <a:gd name="T28" fmla="*/ 17 w 177"/>
                  <a:gd name="T29" fmla="*/ 80 h 169"/>
                  <a:gd name="T30" fmla="*/ 17 w 177"/>
                  <a:gd name="T31" fmla="*/ 72 h 169"/>
                  <a:gd name="T32" fmla="*/ 16 w 177"/>
                  <a:gd name="T33" fmla="*/ 65 h 169"/>
                  <a:gd name="T34" fmla="*/ 16 w 177"/>
                  <a:gd name="T35" fmla="*/ 57 h 169"/>
                  <a:gd name="T36" fmla="*/ 12 w 177"/>
                  <a:gd name="T37" fmla="*/ 41 h 169"/>
                  <a:gd name="T38" fmla="*/ 11 w 177"/>
                  <a:gd name="T39" fmla="*/ 41 h 169"/>
                  <a:gd name="T40" fmla="*/ 4 w 177"/>
                  <a:gd name="T41" fmla="*/ 7 h 169"/>
                  <a:gd name="T42" fmla="*/ 0 w 177"/>
                  <a:gd name="T43" fmla="*/ 0 h 16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77"/>
                  <a:gd name="T67" fmla="*/ 0 h 169"/>
                  <a:gd name="T68" fmla="*/ 177 w 177"/>
                  <a:gd name="T69" fmla="*/ 169 h 16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77" h="169">
                    <a:moveTo>
                      <a:pt x="0" y="0"/>
                    </a:moveTo>
                    <a:lnTo>
                      <a:pt x="0" y="7"/>
                    </a:lnTo>
                    <a:lnTo>
                      <a:pt x="25" y="30"/>
                    </a:lnTo>
                    <a:lnTo>
                      <a:pt x="42" y="53"/>
                    </a:lnTo>
                    <a:lnTo>
                      <a:pt x="59" y="61"/>
                    </a:lnTo>
                    <a:lnTo>
                      <a:pt x="67" y="77"/>
                    </a:lnTo>
                    <a:lnTo>
                      <a:pt x="84" y="100"/>
                    </a:lnTo>
                    <a:lnTo>
                      <a:pt x="109" y="130"/>
                    </a:lnTo>
                    <a:lnTo>
                      <a:pt x="142" y="168"/>
                    </a:lnTo>
                    <a:lnTo>
                      <a:pt x="168" y="168"/>
                    </a:lnTo>
                    <a:lnTo>
                      <a:pt x="176" y="130"/>
                    </a:lnTo>
                    <a:lnTo>
                      <a:pt x="168" y="114"/>
                    </a:lnTo>
                    <a:lnTo>
                      <a:pt x="159" y="114"/>
                    </a:lnTo>
                    <a:lnTo>
                      <a:pt x="142" y="100"/>
                    </a:lnTo>
                    <a:lnTo>
                      <a:pt x="134" y="100"/>
                    </a:lnTo>
                    <a:lnTo>
                      <a:pt x="134" y="84"/>
                    </a:lnTo>
                    <a:lnTo>
                      <a:pt x="126" y="77"/>
                    </a:lnTo>
                    <a:lnTo>
                      <a:pt x="126" y="69"/>
                    </a:lnTo>
                    <a:lnTo>
                      <a:pt x="92" y="53"/>
                    </a:lnTo>
                    <a:lnTo>
                      <a:pt x="84" y="53"/>
                    </a:lnTo>
                    <a:lnTo>
                      <a:pt x="34" y="7"/>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8" name="Freeform 283"/>
              <p:cNvSpPr>
                <a:spLocks/>
              </p:cNvSpPr>
              <p:nvPr/>
            </p:nvSpPr>
            <p:spPr bwMode="auto">
              <a:xfrm>
                <a:off x="6914995" y="4874880"/>
                <a:ext cx="214955" cy="71059"/>
              </a:xfrm>
              <a:custGeom>
                <a:avLst/>
                <a:gdLst>
                  <a:gd name="T0" fmla="*/ 0 w 143"/>
                  <a:gd name="T1" fmla="*/ 16 h 40"/>
                  <a:gd name="T2" fmla="*/ 6 w 143"/>
                  <a:gd name="T3" fmla="*/ 31 h 40"/>
                  <a:gd name="T4" fmla="*/ 19 w 143"/>
                  <a:gd name="T5" fmla="*/ 39 h 40"/>
                  <a:gd name="T6" fmla="*/ 19 w 143"/>
                  <a:gd name="T7" fmla="*/ 31 h 40"/>
                  <a:gd name="T8" fmla="*/ 15 w 143"/>
                  <a:gd name="T9" fmla="*/ 31 h 40"/>
                  <a:gd name="T10" fmla="*/ 15 w 143"/>
                  <a:gd name="T11" fmla="*/ 23 h 40"/>
                  <a:gd name="T12" fmla="*/ 10 w 143"/>
                  <a:gd name="T13" fmla="*/ 16 h 40"/>
                  <a:gd name="T14" fmla="*/ 10 w 143"/>
                  <a:gd name="T15" fmla="*/ 23 h 40"/>
                  <a:gd name="T16" fmla="*/ 8 w 143"/>
                  <a:gd name="T17" fmla="*/ 16 h 40"/>
                  <a:gd name="T18" fmla="*/ 3 w 143"/>
                  <a:gd name="T19" fmla="*/ 0 h 40"/>
                  <a:gd name="T20" fmla="*/ 3 w 143"/>
                  <a:gd name="T21" fmla="*/ 0 h 40"/>
                  <a:gd name="T22" fmla="*/ 0 w 143"/>
                  <a:gd name="T23" fmla="*/ 16 h 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40"/>
                  <a:gd name="T38" fmla="*/ 143 w 143"/>
                  <a:gd name="T39" fmla="*/ 40 h 4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40">
                    <a:moveTo>
                      <a:pt x="0" y="16"/>
                    </a:moveTo>
                    <a:lnTo>
                      <a:pt x="41" y="31"/>
                    </a:lnTo>
                    <a:lnTo>
                      <a:pt x="142" y="39"/>
                    </a:lnTo>
                    <a:lnTo>
                      <a:pt x="142" y="31"/>
                    </a:lnTo>
                    <a:lnTo>
                      <a:pt x="116" y="31"/>
                    </a:lnTo>
                    <a:lnTo>
                      <a:pt x="108" y="23"/>
                    </a:lnTo>
                    <a:lnTo>
                      <a:pt x="74" y="16"/>
                    </a:lnTo>
                    <a:lnTo>
                      <a:pt x="74" y="23"/>
                    </a:lnTo>
                    <a:lnTo>
                      <a:pt x="58" y="16"/>
                    </a:lnTo>
                    <a:lnTo>
                      <a:pt x="24" y="0"/>
                    </a:lnTo>
                    <a:lnTo>
                      <a:pt x="8" y="0"/>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29" name="Freeform 284"/>
              <p:cNvSpPr>
                <a:spLocks/>
              </p:cNvSpPr>
              <p:nvPr/>
            </p:nvSpPr>
            <p:spPr bwMode="auto">
              <a:xfrm>
                <a:off x="7128173" y="4944163"/>
                <a:ext cx="24871" cy="1776"/>
              </a:xfrm>
              <a:custGeom>
                <a:avLst/>
                <a:gdLst>
                  <a:gd name="T0" fmla="*/ 0 w 17"/>
                  <a:gd name="T1" fmla="*/ 0 h 1"/>
                  <a:gd name="T2" fmla="*/ 2 w 17"/>
                  <a:gd name="T3" fmla="*/ 0 h 1"/>
                  <a:gd name="T4" fmla="*/ 2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8" y="0"/>
                    </a:lnTo>
                    <a:lnTo>
                      <a:pt x="1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0" name="Freeform 285"/>
              <p:cNvSpPr>
                <a:spLocks/>
              </p:cNvSpPr>
              <p:nvPr/>
            </p:nvSpPr>
            <p:spPr bwMode="auto">
              <a:xfrm>
                <a:off x="7128173" y="4944163"/>
                <a:ext cx="24871" cy="1776"/>
              </a:xfrm>
              <a:custGeom>
                <a:avLst/>
                <a:gdLst>
                  <a:gd name="T0" fmla="*/ 0 w 17"/>
                  <a:gd name="T1" fmla="*/ 0 h 1"/>
                  <a:gd name="T2" fmla="*/ 2 w 17"/>
                  <a:gd name="T3" fmla="*/ 0 h 1"/>
                  <a:gd name="T4" fmla="*/ 2 w 17"/>
                  <a:gd name="T5" fmla="*/ 0 h 1"/>
                  <a:gd name="T6" fmla="*/ 0 w 17"/>
                  <a:gd name="T7" fmla="*/ 0 h 1"/>
                  <a:gd name="T8" fmla="*/ 0 60000 65536"/>
                  <a:gd name="T9" fmla="*/ 0 60000 65536"/>
                  <a:gd name="T10" fmla="*/ 0 60000 65536"/>
                  <a:gd name="T11" fmla="*/ 0 60000 65536"/>
                  <a:gd name="T12" fmla="*/ 0 w 17"/>
                  <a:gd name="T13" fmla="*/ 0 h 1"/>
                  <a:gd name="T14" fmla="*/ 17 w 17"/>
                  <a:gd name="T15" fmla="*/ 1 h 1"/>
                </a:gdLst>
                <a:ahLst/>
                <a:cxnLst>
                  <a:cxn ang="T8">
                    <a:pos x="T0" y="T1"/>
                  </a:cxn>
                  <a:cxn ang="T9">
                    <a:pos x="T2" y="T3"/>
                  </a:cxn>
                  <a:cxn ang="T10">
                    <a:pos x="T4" y="T5"/>
                  </a:cxn>
                  <a:cxn ang="T11">
                    <a:pos x="T6" y="T7"/>
                  </a:cxn>
                </a:cxnLst>
                <a:rect l="T12" t="T13" r="T14" b="T15"/>
                <a:pathLst>
                  <a:path w="17" h="1">
                    <a:moveTo>
                      <a:pt x="0" y="0"/>
                    </a:moveTo>
                    <a:lnTo>
                      <a:pt x="8" y="0"/>
                    </a:lnTo>
                    <a:lnTo>
                      <a:pt x="1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1" name="Freeform 286"/>
              <p:cNvSpPr>
                <a:spLocks/>
              </p:cNvSpPr>
              <p:nvPr/>
            </p:nvSpPr>
            <p:spPr bwMode="auto">
              <a:xfrm>
                <a:off x="7165479" y="4944163"/>
                <a:ext cx="186531" cy="12435"/>
              </a:xfrm>
              <a:custGeom>
                <a:avLst/>
                <a:gdLst>
                  <a:gd name="T0" fmla="*/ 0 w 126"/>
                  <a:gd name="T1" fmla="*/ 4 h 8"/>
                  <a:gd name="T2" fmla="*/ 3 w 126"/>
                  <a:gd name="T3" fmla="*/ 4 h 8"/>
                  <a:gd name="T4" fmla="*/ 6 w 126"/>
                  <a:gd name="T5" fmla="*/ 0 h 8"/>
                  <a:gd name="T6" fmla="*/ 11 w 126"/>
                  <a:gd name="T7" fmla="*/ 4 h 8"/>
                  <a:gd name="T8" fmla="*/ 15 w 126"/>
                  <a:gd name="T9" fmla="*/ 0 h 8"/>
                  <a:gd name="T10" fmla="*/ 11 w 126"/>
                  <a:gd name="T11" fmla="*/ 0 h 8"/>
                  <a:gd name="T12" fmla="*/ 9 w 126"/>
                  <a:gd name="T13" fmla="*/ 0 h 8"/>
                  <a:gd name="T14" fmla="*/ 6 w 126"/>
                  <a:gd name="T15" fmla="*/ 0 h 8"/>
                  <a:gd name="T16" fmla="*/ 3 w 126"/>
                  <a:gd name="T17" fmla="*/ 0 h 8"/>
                  <a:gd name="T18" fmla="*/ 4 w 126"/>
                  <a:gd name="T19" fmla="*/ 0 h 8"/>
                  <a:gd name="T20" fmla="*/ 0 w 126"/>
                  <a:gd name="T21" fmla="*/ 0 h 8"/>
                  <a:gd name="T22" fmla="*/ 0 w 126"/>
                  <a:gd name="T23" fmla="*/ 4 h 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8"/>
                  <a:gd name="T38" fmla="*/ 126 w 126"/>
                  <a:gd name="T39" fmla="*/ 8 h 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8">
                    <a:moveTo>
                      <a:pt x="0" y="7"/>
                    </a:moveTo>
                    <a:lnTo>
                      <a:pt x="8" y="7"/>
                    </a:lnTo>
                    <a:lnTo>
                      <a:pt x="50" y="0"/>
                    </a:lnTo>
                    <a:lnTo>
                      <a:pt x="91" y="7"/>
                    </a:lnTo>
                    <a:lnTo>
                      <a:pt x="125" y="0"/>
                    </a:lnTo>
                    <a:lnTo>
                      <a:pt x="100" y="0"/>
                    </a:lnTo>
                    <a:lnTo>
                      <a:pt x="75" y="0"/>
                    </a:lnTo>
                    <a:lnTo>
                      <a:pt x="50" y="0"/>
                    </a:lnTo>
                    <a:lnTo>
                      <a:pt x="25" y="0"/>
                    </a:lnTo>
                    <a:lnTo>
                      <a:pt x="34" y="0"/>
                    </a:lnTo>
                    <a:lnTo>
                      <a:pt x="0"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2" name="Freeform 287"/>
              <p:cNvSpPr>
                <a:spLocks/>
              </p:cNvSpPr>
              <p:nvPr/>
            </p:nvSpPr>
            <p:spPr bwMode="auto">
              <a:xfrm>
                <a:off x="7165479" y="4944163"/>
                <a:ext cx="186531" cy="12435"/>
              </a:xfrm>
              <a:custGeom>
                <a:avLst/>
                <a:gdLst>
                  <a:gd name="T0" fmla="*/ 0 w 126"/>
                  <a:gd name="T1" fmla="*/ 4 h 8"/>
                  <a:gd name="T2" fmla="*/ 3 w 126"/>
                  <a:gd name="T3" fmla="*/ 4 h 8"/>
                  <a:gd name="T4" fmla="*/ 6 w 126"/>
                  <a:gd name="T5" fmla="*/ 0 h 8"/>
                  <a:gd name="T6" fmla="*/ 11 w 126"/>
                  <a:gd name="T7" fmla="*/ 4 h 8"/>
                  <a:gd name="T8" fmla="*/ 15 w 126"/>
                  <a:gd name="T9" fmla="*/ 0 h 8"/>
                  <a:gd name="T10" fmla="*/ 11 w 126"/>
                  <a:gd name="T11" fmla="*/ 0 h 8"/>
                  <a:gd name="T12" fmla="*/ 9 w 126"/>
                  <a:gd name="T13" fmla="*/ 0 h 8"/>
                  <a:gd name="T14" fmla="*/ 6 w 126"/>
                  <a:gd name="T15" fmla="*/ 0 h 8"/>
                  <a:gd name="T16" fmla="*/ 3 w 126"/>
                  <a:gd name="T17" fmla="*/ 0 h 8"/>
                  <a:gd name="T18" fmla="*/ 4 w 126"/>
                  <a:gd name="T19" fmla="*/ 0 h 8"/>
                  <a:gd name="T20" fmla="*/ 0 w 126"/>
                  <a:gd name="T21" fmla="*/ 0 h 8"/>
                  <a:gd name="T22" fmla="*/ 0 w 126"/>
                  <a:gd name="T23" fmla="*/ 4 h 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6"/>
                  <a:gd name="T37" fmla="*/ 0 h 8"/>
                  <a:gd name="T38" fmla="*/ 126 w 126"/>
                  <a:gd name="T39" fmla="*/ 8 h 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6" h="8">
                    <a:moveTo>
                      <a:pt x="0" y="7"/>
                    </a:moveTo>
                    <a:lnTo>
                      <a:pt x="8" y="7"/>
                    </a:lnTo>
                    <a:lnTo>
                      <a:pt x="50" y="0"/>
                    </a:lnTo>
                    <a:lnTo>
                      <a:pt x="91" y="7"/>
                    </a:lnTo>
                    <a:lnTo>
                      <a:pt x="125" y="0"/>
                    </a:lnTo>
                    <a:lnTo>
                      <a:pt x="100" y="0"/>
                    </a:lnTo>
                    <a:lnTo>
                      <a:pt x="75" y="0"/>
                    </a:lnTo>
                    <a:lnTo>
                      <a:pt x="50" y="0"/>
                    </a:lnTo>
                    <a:lnTo>
                      <a:pt x="25" y="0"/>
                    </a:lnTo>
                    <a:lnTo>
                      <a:pt x="34" y="0"/>
                    </a:lnTo>
                    <a:lnTo>
                      <a:pt x="0"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3" name="Freeform 288"/>
              <p:cNvSpPr>
                <a:spLocks/>
              </p:cNvSpPr>
              <p:nvPr/>
            </p:nvSpPr>
            <p:spPr bwMode="auto">
              <a:xfrm>
                <a:off x="7225880" y="4983246"/>
                <a:ext cx="53295" cy="15988"/>
              </a:xfrm>
              <a:custGeom>
                <a:avLst/>
                <a:gdLst>
                  <a:gd name="T0" fmla="*/ 0 w 35"/>
                  <a:gd name="T1" fmla="*/ 0 h 10"/>
                  <a:gd name="T2" fmla="*/ 3 w 35"/>
                  <a:gd name="T3" fmla="*/ 5 h 10"/>
                  <a:gd name="T4" fmla="*/ 5 w 35"/>
                  <a:gd name="T5" fmla="*/ 5 h 10"/>
                  <a:gd name="T6" fmla="*/ 3 w 35"/>
                  <a:gd name="T7" fmla="*/ 0 h 10"/>
                  <a:gd name="T8" fmla="*/ 0 w 35"/>
                  <a:gd name="T9" fmla="*/ 0 h 10"/>
                  <a:gd name="T10" fmla="*/ 0 60000 65536"/>
                  <a:gd name="T11" fmla="*/ 0 60000 65536"/>
                  <a:gd name="T12" fmla="*/ 0 60000 65536"/>
                  <a:gd name="T13" fmla="*/ 0 60000 65536"/>
                  <a:gd name="T14" fmla="*/ 0 60000 65536"/>
                  <a:gd name="T15" fmla="*/ 0 w 35"/>
                  <a:gd name="T16" fmla="*/ 0 h 10"/>
                  <a:gd name="T17" fmla="*/ 35 w 35"/>
                  <a:gd name="T18" fmla="*/ 10 h 10"/>
                </a:gdLst>
                <a:ahLst/>
                <a:cxnLst>
                  <a:cxn ang="T10">
                    <a:pos x="T0" y="T1"/>
                  </a:cxn>
                  <a:cxn ang="T11">
                    <a:pos x="T2" y="T3"/>
                  </a:cxn>
                  <a:cxn ang="T12">
                    <a:pos x="T4" y="T5"/>
                  </a:cxn>
                  <a:cxn ang="T13">
                    <a:pos x="T6" y="T7"/>
                  </a:cxn>
                  <a:cxn ang="T14">
                    <a:pos x="T8" y="T9"/>
                  </a:cxn>
                </a:cxnLst>
                <a:rect l="T15" t="T16" r="T17" b="T18"/>
                <a:pathLst>
                  <a:path w="35" h="10">
                    <a:moveTo>
                      <a:pt x="0" y="0"/>
                    </a:moveTo>
                    <a:lnTo>
                      <a:pt x="17" y="9"/>
                    </a:lnTo>
                    <a:lnTo>
                      <a:pt x="34" y="9"/>
                    </a:lnTo>
                    <a:lnTo>
                      <a:pt x="17"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4" name="Freeform 289"/>
              <p:cNvSpPr>
                <a:spLocks/>
              </p:cNvSpPr>
              <p:nvPr/>
            </p:nvSpPr>
            <p:spPr bwMode="auto">
              <a:xfrm>
                <a:off x="7225880" y="4983246"/>
                <a:ext cx="53295" cy="15988"/>
              </a:xfrm>
              <a:custGeom>
                <a:avLst/>
                <a:gdLst>
                  <a:gd name="T0" fmla="*/ 0 w 35"/>
                  <a:gd name="T1" fmla="*/ 0 h 10"/>
                  <a:gd name="T2" fmla="*/ 3 w 35"/>
                  <a:gd name="T3" fmla="*/ 5 h 10"/>
                  <a:gd name="T4" fmla="*/ 5 w 35"/>
                  <a:gd name="T5" fmla="*/ 5 h 10"/>
                  <a:gd name="T6" fmla="*/ 3 w 35"/>
                  <a:gd name="T7" fmla="*/ 0 h 10"/>
                  <a:gd name="T8" fmla="*/ 0 w 35"/>
                  <a:gd name="T9" fmla="*/ 0 h 10"/>
                  <a:gd name="T10" fmla="*/ 0 60000 65536"/>
                  <a:gd name="T11" fmla="*/ 0 60000 65536"/>
                  <a:gd name="T12" fmla="*/ 0 60000 65536"/>
                  <a:gd name="T13" fmla="*/ 0 60000 65536"/>
                  <a:gd name="T14" fmla="*/ 0 60000 65536"/>
                  <a:gd name="T15" fmla="*/ 0 w 35"/>
                  <a:gd name="T16" fmla="*/ 0 h 10"/>
                  <a:gd name="T17" fmla="*/ 35 w 35"/>
                  <a:gd name="T18" fmla="*/ 10 h 10"/>
                </a:gdLst>
                <a:ahLst/>
                <a:cxnLst>
                  <a:cxn ang="T10">
                    <a:pos x="T0" y="T1"/>
                  </a:cxn>
                  <a:cxn ang="T11">
                    <a:pos x="T2" y="T3"/>
                  </a:cxn>
                  <a:cxn ang="T12">
                    <a:pos x="T4" y="T5"/>
                  </a:cxn>
                  <a:cxn ang="T13">
                    <a:pos x="T6" y="T7"/>
                  </a:cxn>
                  <a:cxn ang="T14">
                    <a:pos x="T8" y="T9"/>
                  </a:cxn>
                </a:cxnLst>
                <a:rect l="T15" t="T16" r="T17" b="T18"/>
                <a:pathLst>
                  <a:path w="35" h="10">
                    <a:moveTo>
                      <a:pt x="0" y="0"/>
                    </a:moveTo>
                    <a:lnTo>
                      <a:pt x="17" y="9"/>
                    </a:lnTo>
                    <a:lnTo>
                      <a:pt x="34" y="9"/>
                    </a:lnTo>
                    <a:lnTo>
                      <a:pt x="17"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5" name="Freeform 290"/>
              <p:cNvSpPr>
                <a:spLocks/>
              </p:cNvSpPr>
              <p:nvPr/>
            </p:nvSpPr>
            <p:spPr bwMode="auto">
              <a:xfrm>
                <a:off x="7327140" y="4944163"/>
                <a:ext cx="99483" cy="55071"/>
              </a:xfrm>
              <a:custGeom>
                <a:avLst/>
                <a:gdLst>
                  <a:gd name="T0" fmla="*/ 0 w 67"/>
                  <a:gd name="T1" fmla="*/ 19 h 32"/>
                  <a:gd name="T2" fmla="*/ 3 w 67"/>
                  <a:gd name="T3" fmla="*/ 19 h 32"/>
                  <a:gd name="T4" fmla="*/ 8 w 67"/>
                  <a:gd name="T5" fmla="*/ 0 h 32"/>
                  <a:gd name="T6" fmla="*/ 4 w 67"/>
                  <a:gd name="T7" fmla="*/ 0 h 32"/>
                  <a:gd name="T8" fmla="*/ 3 w 67"/>
                  <a:gd name="T9" fmla="*/ 16 h 32"/>
                  <a:gd name="T10" fmla="*/ 0 w 67"/>
                  <a:gd name="T11" fmla="*/ 19 h 32"/>
                  <a:gd name="T12" fmla="*/ 0 60000 65536"/>
                  <a:gd name="T13" fmla="*/ 0 60000 65536"/>
                  <a:gd name="T14" fmla="*/ 0 60000 65536"/>
                  <a:gd name="T15" fmla="*/ 0 60000 65536"/>
                  <a:gd name="T16" fmla="*/ 0 60000 65536"/>
                  <a:gd name="T17" fmla="*/ 0 60000 65536"/>
                  <a:gd name="T18" fmla="*/ 0 w 67"/>
                  <a:gd name="T19" fmla="*/ 0 h 32"/>
                  <a:gd name="T20" fmla="*/ 67 w 67"/>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67" h="32">
                    <a:moveTo>
                      <a:pt x="0" y="31"/>
                    </a:moveTo>
                    <a:lnTo>
                      <a:pt x="24" y="31"/>
                    </a:lnTo>
                    <a:lnTo>
                      <a:pt x="66" y="0"/>
                    </a:lnTo>
                    <a:lnTo>
                      <a:pt x="32" y="0"/>
                    </a:lnTo>
                    <a:lnTo>
                      <a:pt x="16" y="23"/>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6" name="Freeform 291"/>
              <p:cNvSpPr>
                <a:spLocks/>
              </p:cNvSpPr>
              <p:nvPr/>
            </p:nvSpPr>
            <p:spPr bwMode="auto">
              <a:xfrm>
                <a:off x="7588283" y="4864221"/>
                <a:ext cx="14212" cy="55071"/>
              </a:xfrm>
              <a:custGeom>
                <a:avLst/>
                <a:gdLst>
                  <a:gd name="T0" fmla="*/ 0 w 9"/>
                  <a:gd name="T1" fmla="*/ 30 h 31"/>
                  <a:gd name="T2" fmla="*/ 4 w 9"/>
                  <a:gd name="T3" fmla="*/ 7 h 31"/>
                  <a:gd name="T4" fmla="*/ 4 w 9"/>
                  <a:gd name="T5" fmla="*/ 0 h 31"/>
                  <a:gd name="T6" fmla="*/ 0 w 9"/>
                  <a:gd name="T7" fmla="*/ 30 h 31"/>
                  <a:gd name="T8" fmla="*/ 0 60000 65536"/>
                  <a:gd name="T9" fmla="*/ 0 60000 65536"/>
                  <a:gd name="T10" fmla="*/ 0 60000 65536"/>
                  <a:gd name="T11" fmla="*/ 0 60000 65536"/>
                  <a:gd name="T12" fmla="*/ 0 w 9"/>
                  <a:gd name="T13" fmla="*/ 0 h 31"/>
                  <a:gd name="T14" fmla="*/ 9 w 9"/>
                  <a:gd name="T15" fmla="*/ 31 h 31"/>
                </a:gdLst>
                <a:ahLst/>
                <a:cxnLst>
                  <a:cxn ang="T8">
                    <a:pos x="T0" y="T1"/>
                  </a:cxn>
                  <a:cxn ang="T9">
                    <a:pos x="T2" y="T3"/>
                  </a:cxn>
                  <a:cxn ang="T10">
                    <a:pos x="T4" y="T5"/>
                  </a:cxn>
                  <a:cxn ang="T11">
                    <a:pos x="T6" y="T7"/>
                  </a:cxn>
                </a:cxnLst>
                <a:rect l="T12" t="T13" r="T14" b="T15"/>
                <a:pathLst>
                  <a:path w="9" h="31">
                    <a:moveTo>
                      <a:pt x="0" y="30"/>
                    </a:moveTo>
                    <a:lnTo>
                      <a:pt x="8" y="7"/>
                    </a:lnTo>
                    <a:lnTo>
                      <a:pt x="8" y="0"/>
                    </a:lnTo>
                    <a:lnTo>
                      <a:pt x="0"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7" name="Freeform 292"/>
              <p:cNvSpPr>
                <a:spLocks/>
              </p:cNvSpPr>
              <p:nvPr/>
            </p:nvSpPr>
            <p:spPr bwMode="auto">
              <a:xfrm>
                <a:off x="7588283" y="4864221"/>
                <a:ext cx="14212" cy="55071"/>
              </a:xfrm>
              <a:custGeom>
                <a:avLst/>
                <a:gdLst>
                  <a:gd name="T0" fmla="*/ 0 w 9"/>
                  <a:gd name="T1" fmla="*/ 30 h 31"/>
                  <a:gd name="T2" fmla="*/ 4 w 9"/>
                  <a:gd name="T3" fmla="*/ 7 h 31"/>
                  <a:gd name="T4" fmla="*/ 4 w 9"/>
                  <a:gd name="T5" fmla="*/ 0 h 31"/>
                  <a:gd name="T6" fmla="*/ 0 w 9"/>
                  <a:gd name="T7" fmla="*/ 30 h 31"/>
                  <a:gd name="T8" fmla="*/ 0 60000 65536"/>
                  <a:gd name="T9" fmla="*/ 0 60000 65536"/>
                  <a:gd name="T10" fmla="*/ 0 60000 65536"/>
                  <a:gd name="T11" fmla="*/ 0 60000 65536"/>
                  <a:gd name="T12" fmla="*/ 0 w 9"/>
                  <a:gd name="T13" fmla="*/ 0 h 31"/>
                  <a:gd name="T14" fmla="*/ 9 w 9"/>
                  <a:gd name="T15" fmla="*/ 31 h 31"/>
                </a:gdLst>
                <a:ahLst/>
                <a:cxnLst>
                  <a:cxn ang="T8">
                    <a:pos x="T0" y="T1"/>
                  </a:cxn>
                  <a:cxn ang="T9">
                    <a:pos x="T2" y="T3"/>
                  </a:cxn>
                  <a:cxn ang="T10">
                    <a:pos x="T4" y="T5"/>
                  </a:cxn>
                  <a:cxn ang="T11">
                    <a:pos x="T6" y="T7"/>
                  </a:cxn>
                </a:cxnLst>
                <a:rect l="T12" t="T13" r="T14" b="T15"/>
                <a:pathLst>
                  <a:path w="9" h="31">
                    <a:moveTo>
                      <a:pt x="0" y="30"/>
                    </a:moveTo>
                    <a:lnTo>
                      <a:pt x="8" y="7"/>
                    </a:lnTo>
                    <a:lnTo>
                      <a:pt x="8" y="0"/>
                    </a:lnTo>
                    <a:lnTo>
                      <a:pt x="0"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8" name="Freeform 293"/>
              <p:cNvSpPr>
                <a:spLocks/>
              </p:cNvSpPr>
              <p:nvPr/>
            </p:nvSpPr>
            <p:spPr bwMode="auto">
              <a:xfrm>
                <a:off x="6914995" y="4770067"/>
                <a:ext cx="26647" cy="40859"/>
              </a:xfrm>
              <a:custGeom>
                <a:avLst/>
                <a:gdLst>
                  <a:gd name="T0" fmla="*/ 0 w 17"/>
                  <a:gd name="T1" fmla="*/ 7 h 24"/>
                  <a:gd name="T2" fmla="*/ 4 w 17"/>
                  <a:gd name="T3" fmla="*/ 12 h 24"/>
                  <a:gd name="T4" fmla="*/ 4 w 17"/>
                  <a:gd name="T5" fmla="*/ 12 h 24"/>
                  <a:gd name="T6" fmla="*/ 4 w 17"/>
                  <a:gd name="T7" fmla="*/ 12 h 24"/>
                  <a:gd name="T8" fmla="*/ 4 w 17"/>
                  <a:gd name="T9" fmla="*/ 0 h 24"/>
                  <a:gd name="T10" fmla="*/ 0 w 17"/>
                  <a:gd name="T11" fmla="*/ 7 h 24"/>
                  <a:gd name="T12" fmla="*/ 0 60000 65536"/>
                  <a:gd name="T13" fmla="*/ 0 60000 65536"/>
                  <a:gd name="T14" fmla="*/ 0 60000 65536"/>
                  <a:gd name="T15" fmla="*/ 0 60000 65536"/>
                  <a:gd name="T16" fmla="*/ 0 60000 65536"/>
                  <a:gd name="T17" fmla="*/ 0 60000 65536"/>
                  <a:gd name="T18" fmla="*/ 0 w 17"/>
                  <a:gd name="T19" fmla="*/ 0 h 24"/>
                  <a:gd name="T20" fmla="*/ 17 w 17"/>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17" h="24">
                    <a:moveTo>
                      <a:pt x="0" y="7"/>
                    </a:moveTo>
                    <a:lnTo>
                      <a:pt x="8" y="15"/>
                    </a:lnTo>
                    <a:lnTo>
                      <a:pt x="16" y="23"/>
                    </a:lnTo>
                    <a:lnTo>
                      <a:pt x="16" y="15"/>
                    </a:lnTo>
                    <a:lnTo>
                      <a:pt x="8"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39" name="Freeform 294"/>
              <p:cNvSpPr>
                <a:spLocks/>
              </p:cNvSpPr>
              <p:nvPr/>
            </p:nvSpPr>
            <p:spPr bwMode="auto">
              <a:xfrm>
                <a:off x="6914995" y="4770067"/>
                <a:ext cx="26647" cy="40859"/>
              </a:xfrm>
              <a:custGeom>
                <a:avLst/>
                <a:gdLst>
                  <a:gd name="T0" fmla="*/ 0 w 17"/>
                  <a:gd name="T1" fmla="*/ 7 h 24"/>
                  <a:gd name="T2" fmla="*/ 4 w 17"/>
                  <a:gd name="T3" fmla="*/ 12 h 24"/>
                  <a:gd name="T4" fmla="*/ 4 w 17"/>
                  <a:gd name="T5" fmla="*/ 12 h 24"/>
                  <a:gd name="T6" fmla="*/ 4 w 17"/>
                  <a:gd name="T7" fmla="*/ 12 h 24"/>
                  <a:gd name="T8" fmla="*/ 4 w 17"/>
                  <a:gd name="T9" fmla="*/ 0 h 24"/>
                  <a:gd name="T10" fmla="*/ 0 w 17"/>
                  <a:gd name="T11" fmla="*/ 7 h 24"/>
                  <a:gd name="T12" fmla="*/ 0 60000 65536"/>
                  <a:gd name="T13" fmla="*/ 0 60000 65536"/>
                  <a:gd name="T14" fmla="*/ 0 60000 65536"/>
                  <a:gd name="T15" fmla="*/ 0 60000 65536"/>
                  <a:gd name="T16" fmla="*/ 0 60000 65536"/>
                  <a:gd name="T17" fmla="*/ 0 60000 65536"/>
                  <a:gd name="T18" fmla="*/ 0 w 17"/>
                  <a:gd name="T19" fmla="*/ 0 h 24"/>
                  <a:gd name="T20" fmla="*/ 17 w 17"/>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17" h="24">
                    <a:moveTo>
                      <a:pt x="0" y="7"/>
                    </a:moveTo>
                    <a:lnTo>
                      <a:pt x="8" y="15"/>
                    </a:lnTo>
                    <a:lnTo>
                      <a:pt x="16" y="23"/>
                    </a:lnTo>
                    <a:lnTo>
                      <a:pt x="16" y="15"/>
                    </a:lnTo>
                    <a:lnTo>
                      <a:pt x="8"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0" name="Rectangle 295"/>
              <p:cNvSpPr>
                <a:spLocks noChangeArrowheads="1"/>
              </p:cNvSpPr>
              <p:nvPr/>
            </p:nvSpPr>
            <p:spPr bwMode="auto">
              <a:xfrm>
                <a:off x="6952301" y="4800268"/>
                <a:ext cx="24871" cy="8882"/>
              </a:xfrm>
              <a:prstGeom prst="rect">
                <a:avLst/>
              </a:prstGeom>
              <a:grpFill/>
              <a:ln w="0">
                <a:solidFill>
                  <a:schemeClr val="bg1">
                    <a:lumMod val="75000"/>
                  </a:schemeClr>
                </a:solidFill>
                <a:miter lim="800000"/>
                <a:headEnd/>
                <a:tailEnd/>
              </a:ln>
            </p:spPr>
            <p:txBody>
              <a:bodyPr wrap="none" anchor="ctr"/>
              <a:lstStyle/>
              <a:p>
                <a:pPr>
                  <a:defRPr/>
                </a:pPr>
                <a:endParaRPr lang="en-US" dirty="0"/>
              </a:p>
            </p:txBody>
          </p:sp>
          <p:sp>
            <p:nvSpPr>
              <p:cNvPr id="141" name="Rectangle 296"/>
              <p:cNvSpPr>
                <a:spLocks noChangeArrowheads="1"/>
              </p:cNvSpPr>
              <p:nvPr/>
            </p:nvSpPr>
            <p:spPr bwMode="auto">
              <a:xfrm>
                <a:off x="6952301" y="4798491"/>
                <a:ext cx="26647" cy="12435"/>
              </a:xfrm>
              <a:prstGeom prst="rect">
                <a:avLst/>
              </a:prstGeom>
              <a:grpFill/>
              <a:ln w="0">
                <a:solidFill>
                  <a:schemeClr val="bg1">
                    <a:lumMod val="75000"/>
                  </a:schemeClr>
                </a:solidFill>
                <a:miter lim="800000"/>
                <a:headEnd/>
                <a:tailEnd/>
              </a:ln>
            </p:spPr>
            <p:txBody>
              <a:bodyPr wrap="none" anchor="ctr"/>
              <a:lstStyle/>
              <a:p>
                <a:pPr>
                  <a:defRPr/>
                </a:pPr>
                <a:endParaRPr lang="en-US" dirty="0"/>
              </a:p>
            </p:txBody>
          </p:sp>
          <p:sp>
            <p:nvSpPr>
              <p:cNvPr id="142" name="Freeform 297"/>
              <p:cNvSpPr>
                <a:spLocks/>
              </p:cNvSpPr>
              <p:nvPr/>
            </p:nvSpPr>
            <p:spPr bwMode="auto">
              <a:xfrm>
                <a:off x="7225880" y="4691902"/>
                <a:ext cx="152778" cy="186531"/>
              </a:xfrm>
              <a:custGeom>
                <a:avLst/>
                <a:gdLst>
                  <a:gd name="T0" fmla="*/ 0 w 102"/>
                  <a:gd name="T1" fmla="*/ 45 h 108"/>
                  <a:gd name="T2" fmla="*/ 0 w 102"/>
                  <a:gd name="T3" fmla="*/ 49 h 108"/>
                  <a:gd name="T4" fmla="*/ 3 w 102"/>
                  <a:gd name="T5" fmla="*/ 49 h 108"/>
                  <a:gd name="T6" fmla="*/ 3 w 102"/>
                  <a:gd name="T7" fmla="*/ 60 h 108"/>
                  <a:gd name="T8" fmla="*/ 3 w 102"/>
                  <a:gd name="T9" fmla="*/ 77 h 108"/>
                  <a:gd name="T10" fmla="*/ 3 w 102"/>
                  <a:gd name="T11" fmla="*/ 72 h 108"/>
                  <a:gd name="T12" fmla="*/ 3 w 102"/>
                  <a:gd name="T13" fmla="*/ 49 h 108"/>
                  <a:gd name="T14" fmla="*/ 4 w 102"/>
                  <a:gd name="T15" fmla="*/ 45 h 108"/>
                  <a:gd name="T16" fmla="*/ 6 w 102"/>
                  <a:gd name="T17" fmla="*/ 45 h 108"/>
                  <a:gd name="T18" fmla="*/ 4 w 102"/>
                  <a:gd name="T19" fmla="*/ 49 h 108"/>
                  <a:gd name="T20" fmla="*/ 6 w 102"/>
                  <a:gd name="T21" fmla="*/ 60 h 108"/>
                  <a:gd name="T22" fmla="*/ 6 w 102"/>
                  <a:gd name="T23" fmla="*/ 66 h 108"/>
                  <a:gd name="T24" fmla="*/ 8 w 102"/>
                  <a:gd name="T25" fmla="*/ 66 h 108"/>
                  <a:gd name="T26" fmla="*/ 8 w 102"/>
                  <a:gd name="T27" fmla="*/ 77 h 108"/>
                  <a:gd name="T28" fmla="*/ 8 w 102"/>
                  <a:gd name="T29" fmla="*/ 72 h 108"/>
                  <a:gd name="T30" fmla="*/ 8 w 102"/>
                  <a:gd name="T31" fmla="*/ 66 h 108"/>
                  <a:gd name="T32" fmla="*/ 7 w 102"/>
                  <a:gd name="T33" fmla="*/ 49 h 108"/>
                  <a:gd name="T34" fmla="*/ 8 w 102"/>
                  <a:gd name="T35" fmla="*/ 49 h 108"/>
                  <a:gd name="T36" fmla="*/ 6 w 102"/>
                  <a:gd name="T37" fmla="*/ 41 h 108"/>
                  <a:gd name="T38" fmla="*/ 8 w 102"/>
                  <a:gd name="T39" fmla="*/ 27 h 108"/>
                  <a:gd name="T40" fmla="*/ 8 w 102"/>
                  <a:gd name="T41" fmla="*/ 27 h 108"/>
                  <a:gd name="T42" fmla="*/ 4 w 102"/>
                  <a:gd name="T43" fmla="*/ 34 h 108"/>
                  <a:gd name="T44" fmla="*/ 3 w 102"/>
                  <a:gd name="T45" fmla="*/ 27 h 108"/>
                  <a:gd name="T46" fmla="*/ 3 w 102"/>
                  <a:gd name="T47" fmla="*/ 18 h 108"/>
                  <a:gd name="T48" fmla="*/ 4 w 102"/>
                  <a:gd name="T49" fmla="*/ 16 h 108"/>
                  <a:gd name="T50" fmla="*/ 12 w 102"/>
                  <a:gd name="T51" fmla="*/ 16 h 108"/>
                  <a:gd name="T52" fmla="*/ 13 w 102"/>
                  <a:gd name="T53" fmla="*/ 0 h 108"/>
                  <a:gd name="T54" fmla="*/ 11 w 102"/>
                  <a:gd name="T55" fmla="*/ 8 h 108"/>
                  <a:gd name="T56" fmla="*/ 8 w 102"/>
                  <a:gd name="T57" fmla="*/ 16 h 108"/>
                  <a:gd name="T58" fmla="*/ 4 w 102"/>
                  <a:gd name="T59" fmla="*/ 8 h 108"/>
                  <a:gd name="T60" fmla="*/ 4 w 102"/>
                  <a:gd name="T61" fmla="*/ 16 h 108"/>
                  <a:gd name="T62" fmla="*/ 3 w 102"/>
                  <a:gd name="T63" fmla="*/ 16 h 108"/>
                  <a:gd name="T64" fmla="*/ 3 w 102"/>
                  <a:gd name="T65" fmla="*/ 27 h 108"/>
                  <a:gd name="T66" fmla="*/ 0 w 102"/>
                  <a:gd name="T67" fmla="*/ 45 h 10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02"/>
                  <a:gd name="T103" fmla="*/ 0 h 108"/>
                  <a:gd name="T104" fmla="*/ 102 w 102"/>
                  <a:gd name="T105" fmla="*/ 108 h 10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02" h="108">
                    <a:moveTo>
                      <a:pt x="0" y="61"/>
                    </a:moveTo>
                    <a:lnTo>
                      <a:pt x="0" y="69"/>
                    </a:lnTo>
                    <a:lnTo>
                      <a:pt x="8" y="69"/>
                    </a:lnTo>
                    <a:lnTo>
                      <a:pt x="8" y="84"/>
                    </a:lnTo>
                    <a:lnTo>
                      <a:pt x="8" y="107"/>
                    </a:lnTo>
                    <a:lnTo>
                      <a:pt x="17" y="100"/>
                    </a:lnTo>
                    <a:lnTo>
                      <a:pt x="17" y="69"/>
                    </a:lnTo>
                    <a:lnTo>
                      <a:pt x="34" y="61"/>
                    </a:lnTo>
                    <a:lnTo>
                      <a:pt x="42" y="61"/>
                    </a:lnTo>
                    <a:lnTo>
                      <a:pt x="34" y="69"/>
                    </a:lnTo>
                    <a:lnTo>
                      <a:pt x="42" y="84"/>
                    </a:lnTo>
                    <a:lnTo>
                      <a:pt x="42" y="91"/>
                    </a:lnTo>
                    <a:lnTo>
                      <a:pt x="59" y="91"/>
                    </a:lnTo>
                    <a:lnTo>
                      <a:pt x="59" y="107"/>
                    </a:lnTo>
                    <a:lnTo>
                      <a:pt x="68" y="100"/>
                    </a:lnTo>
                    <a:lnTo>
                      <a:pt x="68" y="91"/>
                    </a:lnTo>
                    <a:lnTo>
                      <a:pt x="50" y="69"/>
                    </a:lnTo>
                    <a:lnTo>
                      <a:pt x="59" y="69"/>
                    </a:lnTo>
                    <a:lnTo>
                      <a:pt x="42" y="53"/>
                    </a:lnTo>
                    <a:lnTo>
                      <a:pt x="59" y="39"/>
                    </a:lnTo>
                    <a:lnTo>
                      <a:pt x="68" y="39"/>
                    </a:lnTo>
                    <a:lnTo>
                      <a:pt x="34" y="46"/>
                    </a:lnTo>
                    <a:lnTo>
                      <a:pt x="17" y="39"/>
                    </a:lnTo>
                    <a:lnTo>
                      <a:pt x="17" y="23"/>
                    </a:lnTo>
                    <a:lnTo>
                      <a:pt x="34" y="16"/>
                    </a:lnTo>
                    <a:lnTo>
                      <a:pt x="93" y="16"/>
                    </a:lnTo>
                    <a:lnTo>
                      <a:pt x="101" y="0"/>
                    </a:lnTo>
                    <a:lnTo>
                      <a:pt x="85" y="8"/>
                    </a:lnTo>
                    <a:lnTo>
                      <a:pt x="59" y="16"/>
                    </a:lnTo>
                    <a:lnTo>
                      <a:pt x="34" y="8"/>
                    </a:lnTo>
                    <a:lnTo>
                      <a:pt x="34" y="16"/>
                    </a:lnTo>
                    <a:lnTo>
                      <a:pt x="17" y="16"/>
                    </a:lnTo>
                    <a:lnTo>
                      <a:pt x="17" y="39"/>
                    </a:lnTo>
                    <a:lnTo>
                      <a:pt x="0" y="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3" name="Freeform 298"/>
              <p:cNvSpPr>
                <a:spLocks/>
              </p:cNvSpPr>
              <p:nvPr/>
            </p:nvSpPr>
            <p:spPr bwMode="auto">
              <a:xfrm>
                <a:off x="7426623" y="4675914"/>
                <a:ext cx="26647" cy="83495"/>
              </a:xfrm>
              <a:custGeom>
                <a:avLst/>
                <a:gdLst>
                  <a:gd name="T0" fmla="*/ 0 w 18"/>
                  <a:gd name="T1" fmla="*/ 16 h 48"/>
                  <a:gd name="T2" fmla="*/ 2 w 18"/>
                  <a:gd name="T3" fmla="*/ 24 h 48"/>
                  <a:gd name="T4" fmla="*/ 2 w 18"/>
                  <a:gd name="T5" fmla="*/ 35 h 48"/>
                  <a:gd name="T6" fmla="*/ 2 w 18"/>
                  <a:gd name="T7" fmla="*/ 24 h 48"/>
                  <a:gd name="T8" fmla="*/ 2 w 18"/>
                  <a:gd name="T9" fmla="*/ 24 h 48"/>
                  <a:gd name="T10" fmla="*/ 2 w 18"/>
                  <a:gd name="T11" fmla="*/ 24 h 48"/>
                  <a:gd name="T12" fmla="*/ 2 w 18"/>
                  <a:gd name="T13" fmla="*/ 16 h 48"/>
                  <a:gd name="T14" fmla="*/ 2 w 18"/>
                  <a:gd name="T15" fmla="*/ 8 h 48"/>
                  <a:gd name="T16" fmla="*/ 2 w 18"/>
                  <a:gd name="T17" fmla="*/ 16 h 48"/>
                  <a:gd name="T18" fmla="*/ 2 w 18"/>
                  <a:gd name="T19" fmla="*/ 0 h 48"/>
                  <a:gd name="T20" fmla="*/ 0 w 18"/>
                  <a:gd name="T21" fmla="*/ 16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
                  <a:gd name="T34" fmla="*/ 0 h 48"/>
                  <a:gd name="T35" fmla="*/ 18 w 18"/>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 h="48">
                    <a:moveTo>
                      <a:pt x="0" y="16"/>
                    </a:moveTo>
                    <a:lnTo>
                      <a:pt x="8" y="31"/>
                    </a:lnTo>
                    <a:lnTo>
                      <a:pt x="17" y="47"/>
                    </a:lnTo>
                    <a:lnTo>
                      <a:pt x="8" y="31"/>
                    </a:lnTo>
                    <a:lnTo>
                      <a:pt x="8" y="24"/>
                    </a:lnTo>
                    <a:lnTo>
                      <a:pt x="17" y="24"/>
                    </a:lnTo>
                    <a:lnTo>
                      <a:pt x="17" y="16"/>
                    </a:lnTo>
                    <a:lnTo>
                      <a:pt x="17" y="8"/>
                    </a:lnTo>
                    <a:lnTo>
                      <a:pt x="17" y="16"/>
                    </a:lnTo>
                    <a:lnTo>
                      <a:pt x="8" y="0"/>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4" name="Freeform 299"/>
              <p:cNvSpPr>
                <a:spLocks/>
              </p:cNvSpPr>
              <p:nvPr/>
            </p:nvSpPr>
            <p:spPr bwMode="auto">
              <a:xfrm>
                <a:off x="7389317" y="4810927"/>
                <a:ext cx="37306" cy="28424"/>
              </a:xfrm>
              <a:custGeom>
                <a:avLst/>
                <a:gdLst>
                  <a:gd name="T0" fmla="*/ 0 w 26"/>
                  <a:gd name="T1" fmla="*/ 0 h 16"/>
                  <a:gd name="T2" fmla="*/ 2 w 26"/>
                  <a:gd name="T3" fmla="*/ 15 h 16"/>
                  <a:gd name="T4" fmla="*/ 2 w 26"/>
                  <a:gd name="T5" fmla="*/ 0 h 16"/>
                  <a:gd name="T6" fmla="*/ 0 w 26"/>
                  <a:gd name="T7" fmla="*/ 0 h 16"/>
                  <a:gd name="T8" fmla="*/ 0 60000 65536"/>
                  <a:gd name="T9" fmla="*/ 0 60000 65536"/>
                  <a:gd name="T10" fmla="*/ 0 60000 65536"/>
                  <a:gd name="T11" fmla="*/ 0 60000 65536"/>
                  <a:gd name="T12" fmla="*/ 0 w 26"/>
                  <a:gd name="T13" fmla="*/ 0 h 16"/>
                  <a:gd name="T14" fmla="*/ 26 w 26"/>
                  <a:gd name="T15" fmla="*/ 16 h 16"/>
                </a:gdLst>
                <a:ahLst/>
                <a:cxnLst>
                  <a:cxn ang="T8">
                    <a:pos x="T0" y="T1"/>
                  </a:cxn>
                  <a:cxn ang="T9">
                    <a:pos x="T2" y="T3"/>
                  </a:cxn>
                  <a:cxn ang="T10">
                    <a:pos x="T4" y="T5"/>
                  </a:cxn>
                  <a:cxn ang="T11">
                    <a:pos x="T6" y="T7"/>
                  </a:cxn>
                </a:cxnLst>
                <a:rect l="T12" t="T13" r="T14" b="T15"/>
                <a:pathLst>
                  <a:path w="26" h="16">
                    <a:moveTo>
                      <a:pt x="0" y="0"/>
                    </a:moveTo>
                    <a:lnTo>
                      <a:pt x="25" y="15"/>
                    </a:lnTo>
                    <a:lnTo>
                      <a:pt x="25"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5" name="Freeform 300"/>
              <p:cNvSpPr>
                <a:spLocks/>
              </p:cNvSpPr>
              <p:nvPr/>
            </p:nvSpPr>
            <p:spPr bwMode="auto">
              <a:xfrm>
                <a:off x="7389317" y="4810927"/>
                <a:ext cx="37306" cy="28424"/>
              </a:xfrm>
              <a:custGeom>
                <a:avLst/>
                <a:gdLst>
                  <a:gd name="T0" fmla="*/ 0 w 26"/>
                  <a:gd name="T1" fmla="*/ 0 h 16"/>
                  <a:gd name="T2" fmla="*/ 2 w 26"/>
                  <a:gd name="T3" fmla="*/ 15 h 16"/>
                  <a:gd name="T4" fmla="*/ 2 w 26"/>
                  <a:gd name="T5" fmla="*/ 0 h 16"/>
                  <a:gd name="T6" fmla="*/ 0 w 26"/>
                  <a:gd name="T7" fmla="*/ 0 h 16"/>
                  <a:gd name="T8" fmla="*/ 0 60000 65536"/>
                  <a:gd name="T9" fmla="*/ 0 60000 65536"/>
                  <a:gd name="T10" fmla="*/ 0 60000 65536"/>
                  <a:gd name="T11" fmla="*/ 0 60000 65536"/>
                  <a:gd name="T12" fmla="*/ 0 w 26"/>
                  <a:gd name="T13" fmla="*/ 0 h 16"/>
                  <a:gd name="T14" fmla="*/ 26 w 26"/>
                  <a:gd name="T15" fmla="*/ 16 h 16"/>
                </a:gdLst>
                <a:ahLst/>
                <a:cxnLst>
                  <a:cxn ang="T8">
                    <a:pos x="T0" y="T1"/>
                  </a:cxn>
                  <a:cxn ang="T9">
                    <a:pos x="T2" y="T3"/>
                  </a:cxn>
                  <a:cxn ang="T10">
                    <a:pos x="T4" y="T5"/>
                  </a:cxn>
                  <a:cxn ang="T11">
                    <a:pos x="T6" y="T7"/>
                  </a:cxn>
                </a:cxnLst>
                <a:rect l="T12" t="T13" r="T14" b="T15"/>
                <a:pathLst>
                  <a:path w="26" h="16">
                    <a:moveTo>
                      <a:pt x="0" y="0"/>
                    </a:moveTo>
                    <a:lnTo>
                      <a:pt x="25" y="15"/>
                    </a:lnTo>
                    <a:lnTo>
                      <a:pt x="25"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6" name="Freeform 301"/>
              <p:cNvSpPr>
                <a:spLocks/>
              </p:cNvSpPr>
              <p:nvPr/>
            </p:nvSpPr>
            <p:spPr bwMode="auto">
              <a:xfrm>
                <a:off x="7302269" y="4425429"/>
                <a:ext cx="63954" cy="83495"/>
              </a:xfrm>
              <a:custGeom>
                <a:avLst/>
                <a:gdLst>
                  <a:gd name="T0" fmla="*/ 0 w 43"/>
                  <a:gd name="T1" fmla="*/ 23 h 48"/>
                  <a:gd name="T2" fmla="*/ 3 w 43"/>
                  <a:gd name="T3" fmla="*/ 23 h 48"/>
                  <a:gd name="T4" fmla="*/ 3 w 43"/>
                  <a:gd name="T5" fmla="*/ 24 h 48"/>
                  <a:gd name="T6" fmla="*/ 3 w 43"/>
                  <a:gd name="T7" fmla="*/ 35 h 48"/>
                  <a:gd name="T8" fmla="*/ 3 w 43"/>
                  <a:gd name="T9" fmla="*/ 27 h 48"/>
                  <a:gd name="T10" fmla="*/ 3 w 43"/>
                  <a:gd name="T11" fmla="*/ 24 h 48"/>
                  <a:gd name="T12" fmla="*/ 5 w 43"/>
                  <a:gd name="T13" fmla="*/ 27 h 48"/>
                  <a:gd name="T14" fmla="*/ 5 w 43"/>
                  <a:gd name="T15" fmla="*/ 24 h 48"/>
                  <a:gd name="T16" fmla="*/ 4 w 43"/>
                  <a:gd name="T17" fmla="*/ 24 h 48"/>
                  <a:gd name="T18" fmla="*/ 4 w 43"/>
                  <a:gd name="T19" fmla="*/ 9 h 48"/>
                  <a:gd name="T20" fmla="*/ 3 w 43"/>
                  <a:gd name="T21" fmla="*/ 23 h 48"/>
                  <a:gd name="T22" fmla="*/ 3 w 43"/>
                  <a:gd name="T23" fmla="*/ 9 h 48"/>
                  <a:gd name="T24" fmla="*/ 3 w 43"/>
                  <a:gd name="T25" fmla="*/ 0 h 48"/>
                  <a:gd name="T26" fmla="*/ 0 w 43"/>
                  <a:gd name="T27" fmla="*/ 0 h 48"/>
                  <a:gd name="T28" fmla="*/ 0 w 43"/>
                  <a:gd name="T29" fmla="*/ 23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8"/>
                  <a:gd name="T47" fmla="*/ 43 w 43"/>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8">
                    <a:moveTo>
                      <a:pt x="0" y="23"/>
                    </a:moveTo>
                    <a:lnTo>
                      <a:pt x="8" y="23"/>
                    </a:lnTo>
                    <a:lnTo>
                      <a:pt x="8" y="31"/>
                    </a:lnTo>
                    <a:lnTo>
                      <a:pt x="17" y="47"/>
                    </a:lnTo>
                    <a:lnTo>
                      <a:pt x="17" y="39"/>
                    </a:lnTo>
                    <a:lnTo>
                      <a:pt x="17" y="31"/>
                    </a:lnTo>
                    <a:lnTo>
                      <a:pt x="42" y="39"/>
                    </a:lnTo>
                    <a:lnTo>
                      <a:pt x="42" y="31"/>
                    </a:lnTo>
                    <a:lnTo>
                      <a:pt x="34" y="31"/>
                    </a:lnTo>
                    <a:lnTo>
                      <a:pt x="34" y="9"/>
                    </a:lnTo>
                    <a:lnTo>
                      <a:pt x="17" y="23"/>
                    </a:lnTo>
                    <a:lnTo>
                      <a:pt x="17" y="9"/>
                    </a:lnTo>
                    <a:lnTo>
                      <a:pt x="8" y="0"/>
                    </a:lnTo>
                    <a:lnTo>
                      <a:pt x="0" y="0"/>
                    </a:lnTo>
                    <a:lnTo>
                      <a:pt x="0"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7" name="Freeform 302"/>
              <p:cNvSpPr>
                <a:spLocks/>
              </p:cNvSpPr>
              <p:nvPr/>
            </p:nvSpPr>
            <p:spPr bwMode="auto">
              <a:xfrm>
                <a:off x="7302269" y="4478724"/>
                <a:ext cx="101260" cy="108366"/>
              </a:xfrm>
              <a:custGeom>
                <a:avLst/>
                <a:gdLst>
                  <a:gd name="T0" fmla="*/ 0 w 68"/>
                  <a:gd name="T1" fmla="*/ 34 h 62"/>
                  <a:gd name="T2" fmla="*/ 3 w 68"/>
                  <a:gd name="T3" fmla="*/ 31 h 62"/>
                  <a:gd name="T4" fmla="*/ 3 w 68"/>
                  <a:gd name="T5" fmla="*/ 31 h 62"/>
                  <a:gd name="T6" fmla="*/ 4 w 68"/>
                  <a:gd name="T7" fmla="*/ 31 h 62"/>
                  <a:gd name="T8" fmla="*/ 5 w 68"/>
                  <a:gd name="T9" fmla="*/ 31 h 62"/>
                  <a:gd name="T10" fmla="*/ 4 w 68"/>
                  <a:gd name="T11" fmla="*/ 41 h 62"/>
                  <a:gd name="T12" fmla="*/ 6 w 68"/>
                  <a:gd name="T13" fmla="*/ 49 h 62"/>
                  <a:gd name="T14" fmla="*/ 7 w 68"/>
                  <a:gd name="T15" fmla="*/ 41 h 62"/>
                  <a:gd name="T16" fmla="*/ 6 w 68"/>
                  <a:gd name="T17" fmla="*/ 34 h 62"/>
                  <a:gd name="T18" fmla="*/ 7 w 68"/>
                  <a:gd name="T19" fmla="*/ 31 h 62"/>
                  <a:gd name="T20" fmla="*/ 8 w 68"/>
                  <a:gd name="T21" fmla="*/ 41 h 62"/>
                  <a:gd name="T22" fmla="*/ 8 w 68"/>
                  <a:gd name="T23" fmla="*/ 31 h 62"/>
                  <a:gd name="T24" fmla="*/ 8 w 68"/>
                  <a:gd name="T25" fmla="*/ 15 h 62"/>
                  <a:gd name="T26" fmla="*/ 6 w 68"/>
                  <a:gd name="T27" fmla="*/ 0 h 62"/>
                  <a:gd name="T28" fmla="*/ 6 w 68"/>
                  <a:gd name="T29" fmla="*/ 15 h 62"/>
                  <a:gd name="T30" fmla="*/ 5 w 68"/>
                  <a:gd name="T31" fmla="*/ 15 h 62"/>
                  <a:gd name="T32" fmla="*/ 4 w 68"/>
                  <a:gd name="T33" fmla="*/ 23 h 62"/>
                  <a:gd name="T34" fmla="*/ 3 w 68"/>
                  <a:gd name="T35" fmla="*/ 15 h 62"/>
                  <a:gd name="T36" fmla="*/ 0 w 68"/>
                  <a:gd name="T37" fmla="*/ 31 h 62"/>
                  <a:gd name="T38" fmla="*/ 0 w 68"/>
                  <a:gd name="T39" fmla="*/ 34 h 6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8"/>
                  <a:gd name="T61" fmla="*/ 0 h 62"/>
                  <a:gd name="T62" fmla="*/ 68 w 68"/>
                  <a:gd name="T63" fmla="*/ 62 h 6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8" h="62">
                    <a:moveTo>
                      <a:pt x="0" y="46"/>
                    </a:moveTo>
                    <a:lnTo>
                      <a:pt x="8" y="38"/>
                    </a:lnTo>
                    <a:lnTo>
                      <a:pt x="17" y="38"/>
                    </a:lnTo>
                    <a:lnTo>
                      <a:pt x="34" y="38"/>
                    </a:lnTo>
                    <a:lnTo>
                      <a:pt x="42" y="38"/>
                    </a:lnTo>
                    <a:lnTo>
                      <a:pt x="34" y="53"/>
                    </a:lnTo>
                    <a:lnTo>
                      <a:pt x="50" y="61"/>
                    </a:lnTo>
                    <a:lnTo>
                      <a:pt x="58" y="53"/>
                    </a:lnTo>
                    <a:lnTo>
                      <a:pt x="50" y="46"/>
                    </a:lnTo>
                    <a:lnTo>
                      <a:pt x="58" y="38"/>
                    </a:lnTo>
                    <a:lnTo>
                      <a:pt x="67" y="53"/>
                    </a:lnTo>
                    <a:lnTo>
                      <a:pt x="67" y="38"/>
                    </a:lnTo>
                    <a:lnTo>
                      <a:pt x="67" y="15"/>
                    </a:lnTo>
                    <a:lnTo>
                      <a:pt x="50" y="0"/>
                    </a:lnTo>
                    <a:lnTo>
                      <a:pt x="50" y="15"/>
                    </a:lnTo>
                    <a:lnTo>
                      <a:pt x="42" y="15"/>
                    </a:lnTo>
                    <a:lnTo>
                      <a:pt x="34" y="23"/>
                    </a:lnTo>
                    <a:lnTo>
                      <a:pt x="17" y="15"/>
                    </a:lnTo>
                    <a:lnTo>
                      <a:pt x="0" y="38"/>
                    </a:lnTo>
                    <a:lnTo>
                      <a:pt x="0" y="4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8" name="Freeform 303"/>
              <p:cNvSpPr>
                <a:spLocks/>
              </p:cNvSpPr>
              <p:nvPr/>
            </p:nvSpPr>
            <p:spPr bwMode="auto">
              <a:xfrm>
                <a:off x="7913381" y="4837574"/>
                <a:ext cx="99483" cy="67507"/>
              </a:xfrm>
              <a:custGeom>
                <a:avLst/>
                <a:gdLst>
                  <a:gd name="T0" fmla="*/ 0 w 67"/>
                  <a:gd name="T1" fmla="*/ 10 h 40"/>
                  <a:gd name="T2" fmla="*/ 3 w 67"/>
                  <a:gd name="T3" fmla="*/ 22 h 40"/>
                  <a:gd name="T4" fmla="*/ 5 w 67"/>
                  <a:gd name="T5" fmla="*/ 22 h 40"/>
                  <a:gd name="T6" fmla="*/ 7 w 67"/>
                  <a:gd name="T7" fmla="*/ 11 h 40"/>
                  <a:gd name="T8" fmla="*/ 8 w 67"/>
                  <a:gd name="T9" fmla="*/ 7 h 40"/>
                  <a:gd name="T10" fmla="*/ 8 w 67"/>
                  <a:gd name="T11" fmla="*/ 0 h 40"/>
                  <a:gd name="T12" fmla="*/ 7 w 67"/>
                  <a:gd name="T13" fmla="*/ 0 h 40"/>
                  <a:gd name="T14" fmla="*/ 7 w 67"/>
                  <a:gd name="T15" fmla="*/ 10 h 40"/>
                  <a:gd name="T16" fmla="*/ 6 w 67"/>
                  <a:gd name="T17" fmla="*/ 10 h 40"/>
                  <a:gd name="T18" fmla="*/ 5 w 67"/>
                  <a:gd name="T19" fmla="*/ 10 h 40"/>
                  <a:gd name="T20" fmla="*/ 0 w 67"/>
                  <a:gd name="T21" fmla="*/ 10 h 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7"/>
                  <a:gd name="T34" fmla="*/ 0 h 40"/>
                  <a:gd name="T35" fmla="*/ 67 w 67"/>
                  <a:gd name="T36" fmla="*/ 40 h 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7" h="40">
                    <a:moveTo>
                      <a:pt x="0" y="16"/>
                    </a:moveTo>
                    <a:lnTo>
                      <a:pt x="16" y="39"/>
                    </a:lnTo>
                    <a:lnTo>
                      <a:pt x="40" y="39"/>
                    </a:lnTo>
                    <a:lnTo>
                      <a:pt x="58" y="23"/>
                    </a:lnTo>
                    <a:lnTo>
                      <a:pt x="66" y="7"/>
                    </a:lnTo>
                    <a:lnTo>
                      <a:pt x="66" y="0"/>
                    </a:lnTo>
                    <a:lnTo>
                      <a:pt x="58" y="0"/>
                    </a:lnTo>
                    <a:lnTo>
                      <a:pt x="58" y="16"/>
                    </a:lnTo>
                    <a:lnTo>
                      <a:pt x="50" y="16"/>
                    </a:lnTo>
                    <a:lnTo>
                      <a:pt x="40" y="16"/>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49" name="Freeform 305"/>
              <p:cNvSpPr>
                <a:spLocks/>
              </p:cNvSpPr>
              <p:nvPr/>
            </p:nvSpPr>
            <p:spPr bwMode="auto">
              <a:xfrm>
                <a:off x="7987993" y="4810927"/>
                <a:ext cx="51518" cy="40859"/>
              </a:xfrm>
              <a:custGeom>
                <a:avLst/>
                <a:gdLst>
                  <a:gd name="T0" fmla="*/ 0 w 34"/>
                  <a:gd name="T1" fmla="*/ 0 h 24"/>
                  <a:gd name="T2" fmla="*/ 3 w 34"/>
                  <a:gd name="T3" fmla="*/ 12 h 24"/>
                  <a:gd name="T4" fmla="*/ 5 w 34"/>
                  <a:gd name="T5" fmla="*/ 12 h 24"/>
                  <a:gd name="T6" fmla="*/ 5 w 34"/>
                  <a:gd name="T7" fmla="*/ 12 h 24"/>
                  <a:gd name="T8" fmla="*/ 0 w 34"/>
                  <a:gd name="T9" fmla="*/ 0 h 24"/>
                  <a:gd name="T10" fmla="*/ 0 60000 65536"/>
                  <a:gd name="T11" fmla="*/ 0 60000 65536"/>
                  <a:gd name="T12" fmla="*/ 0 60000 65536"/>
                  <a:gd name="T13" fmla="*/ 0 60000 65536"/>
                  <a:gd name="T14" fmla="*/ 0 60000 65536"/>
                  <a:gd name="T15" fmla="*/ 0 w 34"/>
                  <a:gd name="T16" fmla="*/ 0 h 24"/>
                  <a:gd name="T17" fmla="*/ 34 w 34"/>
                  <a:gd name="T18" fmla="*/ 24 h 24"/>
                </a:gdLst>
                <a:ahLst/>
                <a:cxnLst>
                  <a:cxn ang="T10">
                    <a:pos x="T0" y="T1"/>
                  </a:cxn>
                  <a:cxn ang="T11">
                    <a:pos x="T2" y="T3"/>
                  </a:cxn>
                  <a:cxn ang="T12">
                    <a:pos x="T4" y="T5"/>
                  </a:cxn>
                  <a:cxn ang="T13">
                    <a:pos x="T6" y="T7"/>
                  </a:cxn>
                  <a:cxn ang="T14">
                    <a:pos x="T8" y="T9"/>
                  </a:cxn>
                </a:cxnLst>
                <a:rect l="T15" t="T16" r="T17" b="T18"/>
                <a:pathLst>
                  <a:path w="34" h="24">
                    <a:moveTo>
                      <a:pt x="0" y="0"/>
                    </a:moveTo>
                    <a:lnTo>
                      <a:pt x="17" y="16"/>
                    </a:lnTo>
                    <a:lnTo>
                      <a:pt x="33" y="23"/>
                    </a:lnTo>
                    <a:lnTo>
                      <a:pt x="33" y="16"/>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0" name="Freeform 306"/>
              <p:cNvSpPr>
                <a:spLocks/>
              </p:cNvSpPr>
              <p:nvPr/>
            </p:nvSpPr>
            <p:spPr bwMode="auto">
              <a:xfrm>
                <a:off x="7987993" y="4810927"/>
                <a:ext cx="51518" cy="40859"/>
              </a:xfrm>
              <a:custGeom>
                <a:avLst/>
                <a:gdLst>
                  <a:gd name="T0" fmla="*/ 0 w 34"/>
                  <a:gd name="T1" fmla="*/ 0 h 24"/>
                  <a:gd name="T2" fmla="*/ 3 w 34"/>
                  <a:gd name="T3" fmla="*/ 12 h 24"/>
                  <a:gd name="T4" fmla="*/ 5 w 34"/>
                  <a:gd name="T5" fmla="*/ 12 h 24"/>
                  <a:gd name="T6" fmla="*/ 5 w 34"/>
                  <a:gd name="T7" fmla="*/ 12 h 24"/>
                  <a:gd name="T8" fmla="*/ 0 w 34"/>
                  <a:gd name="T9" fmla="*/ 0 h 24"/>
                  <a:gd name="T10" fmla="*/ 0 60000 65536"/>
                  <a:gd name="T11" fmla="*/ 0 60000 65536"/>
                  <a:gd name="T12" fmla="*/ 0 60000 65536"/>
                  <a:gd name="T13" fmla="*/ 0 60000 65536"/>
                  <a:gd name="T14" fmla="*/ 0 60000 65536"/>
                  <a:gd name="T15" fmla="*/ 0 w 34"/>
                  <a:gd name="T16" fmla="*/ 0 h 24"/>
                  <a:gd name="T17" fmla="*/ 34 w 34"/>
                  <a:gd name="T18" fmla="*/ 24 h 24"/>
                </a:gdLst>
                <a:ahLst/>
                <a:cxnLst>
                  <a:cxn ang="T10">
                    <a:pos x="T0" y="T1"/>
                  </a:cxn>
                  <a:cxn ang="T11">
                    <a:pos x="T2" y="T3"/>
                  </a:cxn>
                  <a:cxn ang="T12">
                    <a:pos x="T4" y="T5"/>
                  </a:cxn>
                  <a:cxn ang="T13">
                    <a:pos x="T6" y="T7"/>
                  </a:cxn>
                  <a:cxn ang="T14">
                    <a:pos x="T8" y="T9"/>
                  </a:cxn>
                </a:cxnLst>
                <a:rect l="T15" t="T16" r="T17" b="T18"/>
                <a:pathLst>
                  <a:path w="34" h="24">
                    <a:moveTo>
                      <a:pt x="0" y="0"/>
                    </a:moveTo>
                    <a:lnTo>
                      <a:pt x="17" y="16"/>
                    </a:lnTo>
                    <a:lnTo>
                      <a:pt x="33" y="23"/>
                    </a:lnTo>
                    <a:lnTo>
                      <a:pt x="33" y="16"/>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1" name="Freeform 307"/>
              <p:cNvSpPr>
                <a:spLocks/>
              </p:cNvSpPr>
              <p:nvPr/>
            </p:nvSpPr>
            <p:spPr bwMode="auto">
              <a:xfrm>
                <a:off x="8075041" y="4864221"/>
                <a:ext cx="39083" cy="55071"/>
              </a:xfrm>
              <a:custGeom>
                <a:avLst/>
                <a:gdLst>
                  <a:gd name="T0" fmla="*/ 0 w 26"/>
                  <a:gd name="T1" fmla="*/ 0 h 31"/>
                  <a:gd name="T2" fmla="*/ 3 w 26"/>
                  <a:gd name="T3" fmla="*/ 30 h 31"/>
                  <a:gd name="T4" fmla="*/ 3 w 26"/>
                  <a:gd name="T5" fmla="*/ 22 h 31"/>
                  <a:gd name="T6" fmla="*/ 0 w 26"/>
                  <a:gd name="T7" fmla="*/ 0 h 31"/>
                  <a:gd name="T8" fmla="*/ 0 60000 65536"/>
                  <a:gd name="T9" fmla="*/ 0 60000 65536"/>
                  <a:gd name="T10" fmla="*/ 0 60000 65536"/>
                  <a:gd name="T11" fmla="*/ 0 60000 65536"/>
                  <a:gd name="T12" fmla="*/ 0 w 26"/>
                  <a:gd name="T13" fmla="*/ 0 h 31"/>
                  <a:gd name="T14" fmla="*/ 26 w 26"/>
                  <a:gd name="T15" fmla="*/ 31 h 31"/>
                </a:gdLst>
                <a:ahLst/>
                <a:cxnLst>
                  <a:cxn ang="T8">
                    <a:pos x="T0" y="T1"/>
                  </a:cxn>
                  <a:cxn ang="T9">
                    <a:pos x="T2" y="T3"/>
                  </a:cxn>
                  <a:cxn ang="T10">
                    <a:pos x="T4" y="T5"/>
                  </a:cxn>
                  <a:cxn ang="T11">
                    <a:pos x="T6" y="T7"/>
                  </a:cxn>
                </a:cxnLst>
                <a:rect l="T12" t="T13" r="T14" b="T15"/>
                <a:pathLst>
                  <a:path w="26" h="31">
                    <a:moveTo>
                      <a:pt x="0" y="0"/>
                    </a:moveTo>
                    <a:lnTo>
                      <a:pt x="8" y="30"/>
                    </a:lnTo>
                    <a:lnTo>
                      <a:pt x="25" y="22"/>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2" name="Freeform 309"/>
              <p:cNvSpPr>
                <a:spLocks/>
              </p:cNvSpPr>
              <p:nvPr/>
            </p:nvSpPr>
            <p:spPr bwMode="auto">
              <a:xfrm>
                <a:off x="8186960" y="4956599"/>
                <a:ext cx="26647" cy="28424"/>
              </a:xfrm>
              <a:custGeom>
                <a:avLst/>
                <a:gdLst>
                  <a:gd name="T0" fmla="*/ 0 w 18"/>
                  <a:gd name="T1" fmla="*/ 0 h 16"/>
                  <a:gd name="T2" fmla="*/ 0 w 18"/>
                  <a:gd name="T3" fmla="*/ 15 h 16"/>
                  <a:gd name="T4" fmla="*/ 2 w 18"/>
                  <a:gd name="T5" fmla="*/ 15 h 16"/>
                  <a:gd name="T6" fmla="*/ 0 w 18"/>
                  <a:gd name="T7" fmla="*/ 0 h 16"/>
                  <a:gd name="T8" fmla="*/ 0 60000 65536"/>
                  <a:gd name="T9" fmla="*/ 0 60000 65536"/>
                  <a:gd name="T10" fmla="*/ 0 60000 65536"/>
                  <a:gd name="T11" fmla="*/ 0 60000 65536"/>
                  <a:gd name="T12" fmla="*/ 0 w 18"/>
                  <a:gd name="T13" fmla="*/ 0 h 16"/>
                  <a:gd name="T14" fmla="*/ 18 w 18"/>
                  <a:gd name="T15" fmla="*/ 16 h 16"/>
                </a:gdLst>
                <a:ahLst/>
                <a:cxnLst>
                  <a:cxn ang="T8">
                    <a:pos x="T0" y="T1"/>
                  </a:cxn>
                  <a:cxn ang="T9">
                    <a:pos x="T2" y="T3"/>
                  </a:cxn>
                  <a:cxn ang="T10">
                    <a:pos x="T4" y="T5"/>
                  </a:cxn>
                  <a:cxn ang="T11">
                    <a:pos x="T6" y="T7"/>
                  </a:cxn>
                </a:cxnLst>
                <a:rect l="T12" t="T13" r="T14" b="T15"/>
                <a:pathLst>
                  <a:path w="18" h="16">
                    <a:moveTo>
                      <a:pt x="0" y="0"/>
                    </a:moveTo>
                    <a:lnTo>
                      <a:pt x="0" y="15"/>
                    </a:lnTo>
                    <a:lnTo>
                      <a:pt x="17" y="15"/>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3" name="Freeform 310"/>
              <p:cNvSpPr>
                <a:spLocks/>
              </p:cNvSpPr>
              <p:nvPr/>
            </p:nvSpPr>
            <p:spPr bwMode="auto">
              <a:xfrm>
                <a:off x="8186960" y="4956599"/>
                <a:ext cx="26647" cy="28424"/>
              </a:xfrm>
              <a:custGeom>
                <a:avLst/>
                <a:gdLst>
                  <a:gd name="T0" fmla="*/ 0 w 18"/>
                  <a:gd name="T1" fmla="*/ 0 h 16"/>
                  <a:gd name="T2" fmla="*/ 0 w 18"/>
                  <a:gd name="T3" fmla="*/ 15 h 16"/>
                  <a:gd name="T4" fmla="*/ 2 w 18"/>
                  <a:gd name="T5" fmla="*/ 15 h 16"/>
                  <a:gd name="T6" fmla="*/ 0 w 18"/>
                  <a:gd name="T7" fmla="*/ 0 h 16"/>
                  <a:gd name="T8" fmla="*/ 0 60000 65536"/>
                  <a:gd name="T9" fmla="*/ 0 60000 65536"/>
                  <a:gd name="T10" fmla="*/ 0 60000 65536"/>
                  <a:gd name="T11" fmla="*/ 0 60000 65536"/>
                  <a:gd name="T12" fmla="*/ 0 w 18"/>
                  <a:gd name="T13" fmla="*/ 0 h 16"/>
                  <a:gd name="T14" fmla="*/ 18 w 18"/>
                  <a:gd name="T15" fmla="*/ 16 h 16"/>
                </a:gdLst>
                <a:ahLst/>
                <a:cxnLst>
                  <a:cxn ang="T8">
                    <a:pos x="T0" y="T1"/>
                  </a:cxn>
                  <a:cxn ang="T9">
                    <a:pos x="T2" y="T3"/>
                  </a:cxn>
                  <a:cxn ang="T10">
                    <a:pos x="T4" y="T5"/>
                  </a:cxn>
                  <a:cxn ang="T11">
                    <a:pos x="T6" y="T7"/>
                  </a:cxn>
                </a:cxnLst>
                <a:rect l="T12" t="T13" r="T14" b="T15"/>
                <a:pathLst>
                  <a:path w="18" h="16">
                    <a:moveTo>
                      <a:pt x="0" y="0"/>
                    </a:moveTo>
                    <a:lnTo>
                      <a:pt x="0" y="15"/>
                    </a:lnTo>
                    <a:lnTo>
                      <a:pt x="17" y="15"/>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4" name="Freeform 311"/>
              <p:cNvSpPr>
                <a:spLocks/>
              </p:cNvSpPr>
              <p:nvPr/>
            </p:nvSpPr>
            <p:spPr bwMode="auto">
              <a:xfrm>
                <a:off x="6030304" y="3709505"/>
                <a:ext cx="687501" cy="810078"/>
              </a:xfrm>
              <a:custGeom>
                <a:avLst/>
                <a:gdLst>
                  <a:gd name="T0" fmla="*/ 45 w 461"/>
                  <a:gd name="T1" fmla="*/ 121 h 467"/>
                  <a:gd name="T2" fmla="*/ 45 w 461"/>
                  <a:gd name="T3" fmla="*/ 133 h 467"/>
                  <a:gd name="T4" fmla="*/ 40 w 461"/>
                  <a:gd name="T5" fmla="*/ 126 h 467"/>
                  <a:gd name="T6" fmla="*/ 38 w 461"/>
                  <a:gd name="T7" fmla="*/ 121 h 467"/>
                  <a:gd name="T8" fmla="*/ 38 w 461"/>
                  <a:gd name="T9" fmla="*/ 143 h 467"/>
                  <a:gd name="T10" fmla="*/ 24 w 461"/>
                  <a:gd name="T11" fmla="*/ 121 h 467"/>
                  <a:gd name="T12" fmla="*/ 24 w 461"/>
                  <a:gd name="T13" fmla="*/ 92 h 467"/>
                  <a:gd name="T14" fmla="*/ 20 w 461"/>
                  <a:gd name="T15" fmla="*/ 61 h 467"/>
                  <a:gd name="T16" fmla="*/ 20 w 461"/>
                  <a:gd name="T17" fmla="*/ 53 h 467"/>
                  <a:gd name="T18" fmla="*/ 24 w 461"/>
                  <a:gd name="T19" fmla="*/ 21 h 467"/>
                  <a:gd name="T20" fmla="*/ 19 w 461"/>
                  <a:gd name="T21" fmla="*/ 21 h 467"/>
                  <a:gd name="T22" fmla="*/ 14 w 461"/>
                  <a:gd name="T23" fmla="*/ 7 h 467"/>
                  <a:gd name="T24" fmla="*/ 12 w 461"/>
                  <a:gd name="T25" fmla="*/ 0 h 467"/>
                  <a:gd name="T26" fmla="*/ 10 w 461"/>
                  <a:gd name="T27" fmla="*/ 7 h 467"/>
                  <a:gd name="T28" fmla="*/ 10 w 461"/>
                  <a:gd name="T29" fmla="*/ 21 h 467"/>
                  <a:gd name="T30" fmla="*/ 12 w 461"/>
                  <a:gd name="T31" fmla="*/ 21 h 467"/>
                  <a:gd name="T32" fmla="*/ 12 w 461"/>
                  <a:gd name="T33" fmla="*/ 33 h 467"/>
                  <a:gd name="T34" fmla="*/ 12 w 461"/>
                  <a:gd name="T35" fmla="*/ 57 h 467"/>
                  <a:gd name="T36" fmla="*/ 14 w 461"/>
                  <a:gd name="T37" fmla="*/ 67 h 467"/>
                  <a:gd name="T38" fmla="*/ 14 w 461"/>
                  <a:gd name="T39" fmla="*/ 82 h 467"/>
                  <a:gd name="T40" fmla="*/ 5 w 461"/>
                  <a:gd name="T41" fmla="*/ 126 h 467"/>
                  <a:gd name="T42" fmla="*/ 3 w 461"/>
                  <a:gd name="T43" fmla="*/ 126 h 467"/>
                  <a:gd name="T44" fmla="*/ 4 w 461"/>
                  <a:gd name="T45" fmla="*/ 143 h 467"/>
                  <a:gd name="T46" fmla="*/ 5 w 461"/>
                  <a:gd name="T47" fmla="*/ 148 h 467"/>
                  <a:gd name="T48" fmla="*/ 5 w 461"/>
                  <a:gd name="T49" fmla="*/ 167 h 467"/>
                  <a:gd name="T50" fmla="*/ 0 w 461"/>
                  <a:gd name="T51" fmla="*/ 179 h 467"/>
                  <a:gd name="T52" fmla="*/ 4 w 461"/>
                  <a:gd name="T53" fmla="*/ 183 h 467"/>
                  <a:gd name="T54" fmla="*/ 3 w 461"/>
                  <a:gd name="T55" fmla="*/ 188 h 467"/>
                  <a:gd name="T56" fmla="*/ 7 w 461"/>
                  <a:gd name="T57" fmla="*/ 201 h 467"/>
                  <a:gd name="T58" fmla="*/ 8 w 461"/>
                  <a:gd name="T59" fmla="*/ 218 h 467"/>
                  <a:gd name="T60" fmla="*/ 12 w 461"/>
                  <a:gd name="T61" fmla="*/ 281 h 467"/>
                  <a:gd name="T62" fmla="*/ 19 w 461"/>
                  <a:gd name="T63" fmla="*/ 350 h 467"/>
                  <a:gd name="T64" fmla="*/ 20 w 461"/>
                  <a:gd name="T65" fmla="*/ 338 h 467"/>
                  <a:gd name="T66" fmla="*/ 20 w 461"/>
                  <a:gd name="T67" fmla="*/ 310 h 467"/>
                  <a:gd name="T68" fmla="*/ 24 w 461"/>
                  <a:gd name="T69" fmla="*/ 275 h 467"/>
                  <a:gd name="T70" fmla="*/ 24 w 461"/>
                  <a:gd name="T71" fmla="*/ 269 h 467"/>
                  <a:gd name="T72" fmla="*/ 27 w 461"/>
                  <a:gd name="T73" fmla="*/ 258 h 467"/>
                  <a:gd name="T74" fmla="*/ 33 w 461"/>
                  <a:gd name="T75" fmla="*/ 223 h 467"/>
                  <a:gd name="T76" fmla="*/ 37 w 461"/>
                  <a:gd name="T77" fmla="*/ 195 h 467"/>
                  <a:gd name="T78" fmla="*/ 39 w 461"/>
                  <a:gd name="T79" fmla="*/ 195 h 467"/>
                  <a:gd name="T80" fmla="*/ 39 w 461"/>
                  <a:gd name="T81" fmla="*/ 160 h 467"/>
                  <a:gd name="T82" fmla="*/ 39 w 461"/>
                  <a:gd name="T83" fmla="*/ 148 h 467"/>
                  <a:gd name="T84" fmla="*/ 40 w 461"/>
                  <a:gd name="T85" fmla="*/ 143 h 467"/>
                  <a:gd name="T86" fmla="*/ 42 w 461"/>
                  <a:gd name="T87" fmla="*/ 155 h 467"/>
                  <a:gd name="T88" fmla="*/ 44 w 461"/>
                  <a:gd name="T89" fmla="*/ 167 h 467"/>
                  <a:gd name="T90" fmla="*/ 45 w 461"/>
                  <a:gd name="T91" fmla="*/ 179 h 467"/>
                  <a:gd name="T92" fmla="*/ 46 w 461"/>
                  <a:gd name="T93" fmla="*/ 179 h 467"/>
                  <a:gd name="T94" fmla="*/ 49 w 461"/>
                  <a:gd name="T95" fmla="*/ 188 h 467"/>
                  <a:gd name="T96" fmla="*/ 50 w 461"/>
                  <a:gd name="T97" fmla="*/ 167 h 467"/>
                  <a:gd name="T98" fmla="*/ 55 w 461"/>
                  <a:gd name="T99" fmla="*/ 133 h 467"/>
                  <a:gd name="T100" fmla="*/ 55 w 461"/>
                  <a:gd name="T101" fmla="*/ 121 h 467"/>
                  <a:gd name="T102" fmla="*/ 50 w 461"/>
                  <a:gd name="T103" fmla="*/ 102 h 46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61"/>
                  <a:gd name="T157" fmla="*/ 0 h 467"/>
                  <a:gd name="T158" fmla="*/ 461 w 461"/>
                  <a:gd name="T159" fmla="*/ 467 h 46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61" h="467">
                    <a:moveTo>
                      <a:pt x="418" y="137"/>
                    </a:moveTo>
                    <a:lnTo>
                      <a:pt x="367" y="160"/>
                    </a:lnTo>
                    <a:lnTo>
                      <a:pt x="376" y="176"/>
                    </a:lnTo>
                    <a:lnTo>
                      <a:pt x="367" y="176"/>
                    </a:lnTo>
                    <a:lnTo>
                      <a:pt x="326" y="176"/>
                    </a:lnTo>
                    <a:lnTo>
                      <a:pt x="326" y="167"/>
                    </a:lnTo>
                    <a:lnTo>
                      <a:pt x="317" y="160"/>
                    </a:lnTo>
                    <a:lnTo>
                      <a:pt x="309" y="160"/>
                    </a:lnTo>
                    <a:lnTo>
                      <a:pt x="309" y="176"/>
                    </a:lnTo>
                    <a:lnTo>
                      <a:pt x="309" y="190"/>
                    </a:lnTo>
                    <a:lnTo>
                      <a:pt x="301" y="190"/>
                    </a:lnTo>
                    <a:lnTo>
                      <a:pt x="209" y="160"/>
                    </a:lnTo>
                    <a:lnTo>
                      <a:pt x="193" y="145"/>
                    </a:lnTo>
                    <a:lnTo>
                      <a:pt x="201" y="122"/>
                    </a:lnTo>
                    <a:lnTo>
                      <a:pt x="167" y="115"/>
                    </a:lnTo>
                    <a:lnTo>
                      <a:pt x="159" y="83"/>
                    </a:lnTo>
                    <a:lnTo>
                      <a:pt x="175" y="83"/>
                    </a:lnTo>
                    <a:lnTo>
                      <a:pt x="167" y="68"/>
                    </a:lnTo>
                    <a:lnTo>
                      <a:pt x="193" y="45"/>
                    </a:lnTo>
                    <a:lnTo>
                      <a:pt x="193" y="30"/>
                    </a:lnTo>
                    <a:lnTo>
                      <a:pt x="175" y="15"/>
                    </a:lnTo>
                    <a:lnTo>
                      <a:pt x="151" y="30"/>
                    </a:lnTo>
                    <a:lnTo>
                      <a:pt x="134" y="22"/>
                    </a:lnTo>
                    <a:lnTo>
                      <a:pt x="117" y="7"/>
                    </a:lnTo>
                    <a:lnTo>
                      <a:pt x="109" y="0"/>
                    </a:lnTo>
                    <a:lnTo>
                      <a:pt x="92" y="0"/>
                    </a:lnTo>
                    <a:lnTo>
                      <a:pt x="84" y="0"/>
                    </a:lnTo>
                    <a:lnTo>
                      <a:pt x="84" y="7"/>
                    </a:lnTo>
                    <a:lnTo>
                      <a:pt x="84" y="15"/>
                    </a:lnTo>
                    <a:lnTo>
                      <a:pt x="84" y="22"/>
                    </a:lnTo>
                    <a:lnTo>
                      <a:pt x="92" y="22"/>
                    </a:lnTo>
                    <a:lnTo>
                      <a:pt x="100" y="30"/>
                    </a:lnTo>
                    <a:lnTo>
                      <a:pt x="100" y="38"/>
                    </a:lnTo>
                    <a:lnTo>
                      <a:pt x="92" y="45"/>
                    </a:lnTo>
                    <a:lnTo>
                      <a:pt x="100" y="52"/>
                    </a:lnTo>
                    <a:lnTo>
                      <a:pt x="92" y="76"/>
                    </a:lnTo>
                    <a:lnTo>
                      <a:pt x="109" y="83"/>
                    </a:lnTo>
                    <a:lnTo>
                      <a:pt x="109" y="91"/>
                    </a:lnTo>
                    <a:lnTo>
                      <a:pt x="100" y="91"/>
                    </a:lnTo>
                    <a:lnTo>
                      <a:pt x="109" y="106"/>
                    </a:lnTo>
                    <a:lnTo>
                      <a:pt x="59" y="160"/>
                    </a:lnTo>
                    <a:lnTo>
                      <a:pt x="42" y="167"/>
                    </a:lnTo>
                    <a:lnTo>
                      <a:pt x="33" y="160"/>
                    </a:lnTo>
                    <a:lnTo>
                      <a:pt x="17" y="167"/>
                    </a:lnTo>
                    <a:lnTo>
                      <a:pt x="17" y="190"/>
                    </a:lnTo>
                    <a:lnTo>
                      <a:pt x="33" y="190"/>
                    </a:lnTo>
                    <a:lnTo>
                      <a:pt x="33" y="198"/>
                    </a:lnTo>
                    <a:lnTo>
                      <a:pt x="42" y="198"/>
                    </a:lnTo>
                    <a:lnTo>
                      <a:pt x="42" y="213"/>
                    </a:lnTo>
                    <a:lnTo>
                      <a:pt x="42" y="221"/>
                    </a:lnTo>
                    <a:lnTo>
                      <a:pt x="8" y="221"/>
                    </a:lnTo>
                    <a:lnTo>
                      <a:pt x="0" y="237"/>
                    </a:lnTo>
                    <a:lnTo>
                      <a:pt x="17" y="244"/>
                    </a:lnTo>
                    <a:lnTo>
                      <a:pt x="33" y="244"/>
                    </a:lnTo>
                    <a:lnTo>
                      <a:pt x="33" y="251"/>
                    </a:lnTo>
                    <a:lnTo>
                      <a:pt x="8" y="251"/>
                    </a:lnTo>
                    <a:lnTo>
                      <a:pt x="42" y="282"/>
                    </a:lnTo>
                    <a:lnTo>
                      <a:pt x="59" y="267"/>
                    </a:lnTo>
                    <a:lnTo>
                      <a:pt x="67" y="251"/>
                    </a:lnTo>
                    <a:lnTo>
                      <a:pt x="67" y="290"/>
                    </a:lnTo>
                    <a:lnTo>
                      <a:pt x="84" y="344"/>
                    </a:lnTo>
                    <a:lnTo>
                      <a:pt x="100" y="374"/>
                    </a:lnTo>
                    <a:lnTo>
                      <a:pt x="134" y="458"/>
                    </a:lnTo>
                    <a:lnTo>
                      <a:pt x="151" y="466"/>
                    </a:lnTo>
                    <a:lnTo>
                      <a:pt x="159" y="458"/>
                    </a:lnTo>
                    <a:lnTo>
                      <a:pt x="167" y="450"/>
                    </a:lnTo>
                    <a:lnTo>
                      <a:pt x="175" y="443"/>
                    </a:lnTo>
                    <a:lnTo>
                      <a:pt x="175" y="412"/>
                    </a:lnTo>
                    <a:lnTo>
                      <a:pt x="193" y="389"/>
                    </a:lnTo>
                    <a:lnTo>
                      <a:pt x="193" y="366"/>
                    </a:lnTo>
                    <a:lnTo>
                      <a:pt x="193" y="359"/>
                    </a:lnTo>
                    <a:lnTo>
                      <a:pt x="201" y="359"/>
                    </a:lnTo>
                    <a:lnTo>
                      <a:pt x="209" y="344"/>
                    </a:lnTo>
                    <a:lnTo>
                      <a:pt x="217" y="344"/>
                    </a:lnTo>
                    <a:lnTo>
                      <a:pt x="217" y="335"/>
                    </a:lnTo>
                    <a:lnTo>
                      <a:pt x="267" y="298"/>
                    </a:lnTo>
                    <a:lnTo>
                      <a:pt x="293" y="290"/>
                    </a:lnTo>
                    <a:lnTo>
                      <a:pt x="301" y="260"/>
                    </a:lnTo>
                    <a:lnTo>
                      <a:pt x="317" y="251"/>
                    </a:lnTo>
                    <a:lnTo>
                      <a:pt x="317" y="260"/>
                    </a:lnTo>
                    <a:lnTo>
                      <a:pt x="326" y="260"/>
                    </a:lnTo>
                    <a:lnTo>
                      <a:pt x="317" y="213"/>
                    </a:lnTo>
                    <a:lnTo>
                      <a:pt x="309" y="213"/>
                    </a:lnTo>
                    <a:lnTo>
                      <a:pt x="317" y="198"/>
                    </a:lnTo>
                    <a:lnTo>
                      <a:pt x="317" y="190"/>
                    </a:lnTo>
                    <a:lnTo>
                      <a:pt x="326" y="190"/>
                    </a:lnTo>
                    <a:lnTo>
                      <a:pt x="343" y="190"/>
                    </a:lnTo>
                    <a:lnTo>
                      <a:pt x="343" y="206"/>
                    </a:lnTo>
                    <a:lnTo>
                      <a:pt x="376" y="206"/>
                    </a:lnTo>
                    <a:lnTo>
                      <a:pt x="359" y="221"/>
                    </a:lnTo>
                    <a:lnTo>
                      <a:pt x="359" y="237"/>
                    </a:lnTo>
                    <a:lnTo>
                      <a:pt x="367" y="237"/>
                    </a:lnTo>
                    <a:lnTo>
                      <a:pt x="376" y="221"/>
                    </a:lnTo>
                    <a:lnTo>
                      <a:pt x="376" y="237"/>
                    </a:lnTo>
                    <a:lnTo>
                      <a:pt x="393" y="260"/>
                    </a:lnTo>
                    <a:lnTo>
                      <a:pt x="393" y="251"/>
                    </a:lnTo>
                    <a:lnTo>
                      <a:pt x="401" y="237"/>
                    </a:lnTo>
                    <a:lnTo>
                      <a:pt x="409" y="221"/>
                    </a:lnTo>
                    <a:lnTo>
                      <a:pt x="426" y="190"/>
                    </a:lnTo>
                    <a:lnTo>
                      <a:pt x="443" y="176"/>
                    </a:lnTo>
                    <a:lnTo>
                      <a:pt x="460" y="176"/>
                    </a:lnTo>
                    <a:lnTo>
                      <a:pt x="460" y="160"/>
                    </a:lnTo>
                    <a:lnTo>
                      <a:pt x="443" y="137"/>
                    </a:lnTo>
                    <a:lnTo>
                      <a:pt x="418" y="13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5" name="Freeform 57"/>
              <p:cNvSpPr>
                <a:spLocks/>
              </p:cNvSpPr>
              <p:nvPr/>
            </p:nvSpPr>
            <p:spPr bwMode="auto">
              <a:xfrm>
                <a:off x="4221863" y="3709514"/>
                <a:ext cx="476100" cy="518735"/>
              </a:xfrm>
              <a:custGeom>
                <a:avLst/>
                <a:gdLst>
                  <a:gd name="T0" fmla="*/ 12 w 319"/>
                  <a:gd name="T1" fmla="*/ 26 h 299"/>
                  <a:gd name="T2" fmla="*/ 13 w 319"/>
                  <a:gd name="T3" fmla="*/ 26 h 299"/>
                  <a:gd name="T4" fmla="*/ 14 w 319"/>
                  <a:gd name="T5" fmla="*/ 61 h 299"/>
                  <a:gd name="T6" fmla="*/ 9 w 319"/>
                  <a:gd name="T7" fmla="*/ 67 h 299"/>
                  <a:gd name="T8" fmla="*/ 9 w 319"/>
                  <a:gd name="T9" fmla="*/ 82 h 299"/>
                  <a:gd name="T10" fmla="*/ 6 w 319"/>
                  <a:gd name="T11" fmla="*/ 92 h 299"/>
                  <a:gd name="T12" fmla="*/ 3 w 319"/>
                  <a:gd name="T13" fmla="*/ 102 h 299"/>
                  <a:gd name="T14" fmla="*/ 0 w 319"/>
                  <a:gd name="T15" fmla="*/ 109 h 299"/>
                  <a:gd name="T16" fmla="*/ 0 w 319"/>
                  <a:gd name="T17" fmla="*/ 126 h 299"/>
                  <a:gd name="T18" fmla="*/ 7 w 319"/>
                  <a:gd name="T19" fmla="*/ 155 h 299"/>
                  <a:gd name="T20" fmla="*/ 19 w 319"/>
                  <a:gd name="T21" fmla="*/ 201 h 299"/>
                  <a:gd name="T22" fmla="*/ 20 w 319"/>
                  <a:gd name="T23" fmla="*/ 213 h 299"/>
                  <a:gd name="T24" fmla="*/ 21 w 319"/>
                  <a:gd name="T25" fmla="*/ 219 h 299"/>
                  <a:gd name="T26" fmla="*/ 24 w 319"/>
                  <a:gd name="T27" fmla="*/ 224 h 299"/>
                  <a:gd name="T28" fmla="*/ 24 w 319"/>
                  <a:gd name="T29" fmla="*/ 224 h 299"/>
                  <a:gd name="T30" fmla="*/ 27 w 319"/>
                  <a:gd name="T31" fmla="*/ 224 h 299"/>
                  <a:gd name="T32" fmla="*/ 39 w 319"/>
                  <a:gd name="T33" fmla="*/ 179 h 299"/>
                  <a:gd name="T34" fmla="*/ 38 w 319"/>
                  <a:gd name="T35" fmla="*/ 160 h 299"/>
                  <a:gd name="T36" fmla="*/ 38 w 319"/>
                  <a:gd name="T37" fmla="*/ 160 h 299"/>
                  <a:gd name="T38" fmla="*/ 35 w 319"/>
                  <a:gd name="T39" fmla="*/ 143 h 299"/>
                  <a:gd name="T40" fmla="*/ 35 w 319"/>
                  <a:gd name="T41" fmla="*/ 133 h 299"/>
                  <a:gd name="T42" fmla="*/ 35 w 319"/>
                  <a:gd name="T43" fmla="*/ 121 h 299"/>
                  <a:gd name="T44" fmla="*/ 35 w 319"/>
                  <a:gd name="T45" fmla="*/ 102 h 299"/>
                  <a:gd name="T46" fmla="*/ 35 w 319"/>
                  <a:gd name="T47" fmla="*/ 97 h 299"/>
                  <a:gd name="T48" fmla="*/ 35 w 319"/>
                  <a:gd name="T49" fmla="*/ 92 h 299"/>
                  <a:gd name="T50" fmla="*/ 35 w 319"/>
                  <a:gd name="T51" fmla="*/ 67 h 299"/>
                  <a:gd name="T52" fmla="*/ 32 w 319"/>
                  <a:gd name="T53" fmla="*/ 61 h 299"/>
                  <a:gd name="T54" fmla="*/ 30 w 319"/>
                  <a:gd name="T55" fmla="*/ 54 h 299"/>
                  <a:gd name="T56" fmla="*/ 33 w 319"/>
                  <a:gd name="T57" fmla="*/ 33 h 299"/>
                  <a:gd name="T58" fmla="*/ 32 w 319"/>
                  <a:gd name="T59" fmla="*/ 7 h 299"/>
                  <a:gd name="T60" fmla="*/ 33 w 319"/>
                  <a:gd name="T61" fmla="*/ 0 h 299"/>
                  <a:gd name="T62" fmla="*/ 32 w 319"/>
                  <a:gd name="T63" fmla="*/ 7 h 299"/>
                  <a:gd name="T64" fmla="*/ 29 w 319"/>
                  <a:gd name="T65" fmla="*/ 0 h 299"/>
                  <a:gd name="T66" fmla="*/ 27 w 319"/>
                  <a:gd name="T67" fmla="*/ 7 h 299"/>
                  <a:gd name="T68" fmla="*/ 24 w 319"/>
                  <a:gd name="T69" fmla="*/ 0 h 299"/>
                  <a:gd name="T70" fmla="*/ 21 w 319"/>
                  <a:gd name="T71" fmla="*/ 7 h 299"/>
                  <a:gd name="T72" fmla="*/ 19 w 319"/>
                  <a:gd name="T73" fmla="*/ 7 h 299"/>
                  <a:gd name="T74" fmla="*/ 12 w 319"/>
                  <a:gd name="T75" fmla="*/ 26 h 29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19"/>
                  <a:gd name="T115" fmla="*/ 0 h 299"/>
                  <a:gd name="T116" fmla="*/ 319 w 319"/>
                  <a:gd name="T117" fmla="*/ 299 h 29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19" h="299">
                    <a:moveTo>
                      <a:pt x="100" y="38"/>
                    </a:moveTo>
                    <a:lnTo>
                      <a:pt x="108" y="38"/>
                    </a:lnTo>
                    <a:lnTo>
                      <a:pt x="116" y="83"/>
                    </a:lnTo>
                    <a:lnTo>
                      <a:pt x="75" y="91"/>
                    </a:lnTo>
                    <a:lnTo>
                      <a:pt x="75" y="106"/>
                    </a:lnTo>
                    <a:lnTo>
                      <a:pt x="50" y="122"/>
                    </a:lnTo>
                    <a:lnTo>
                      <a:pt x="8" y="137"/>
                    </a:lnTo>
                    <a:lnTo>
                      <a:pt x="0" y="145"/>
                    </a:lnTo>
                    <a:lnTo>
                      <a:pt x="0" y="167"/>
                    </a:lnTo>
                    <a:lnTo>
                      <a:pt x="58" y="206"/>
                    </a:lnTo>
                    <a:lnTo>
                      <a:pt x="150" y="267"/>
                    </a:lnTo>
                    <a:lnTo>
                      <a:pt x="158" y="282"/>
                    </a:lnTo>
                    <a:lnTo>
                      <a:pt x="175" y="290"/>
                    </a:lnTo>
                    <a:lnTo>
                      <a:pt x="192" y="298"/>
                    </a:lnTo>
                    <a:lnTo>
                      <a:pt x="200" y="298"/>
                    </a:lnTo>
                    <a:lnTo>
                      <a:pt x="217" y="298"/>
                    </a:lnTo>
                    <a:lnTo>
                      <a:pt x="318" y="237"/>
                    </a:lnTo>
                    <a:lnTo>
                      <a:pt x="309" y="213"/>
                    </a:lnTo>
                    <a:lnTo>
                      <a:pt x="300" y="213"/>
                    </a:lnTo>
                    <a:lnTo>
                      <a:pt x="284" y="190"/>
                    </a:lnTo>
                    <a:lnTo>
                      <a:pt x="292" y="176"/>
                    </a:lnTo>
                    <a:lnTo>
                      <a:pt x="292" y="160"/>
                    </a:lnTo>
                    <a:lnTo>
                      <a:pt x="292" y="137"/>
                    </a:lnTo>
                    <a:lnTo>
                      <a:pt x="284" y="129"/>
                    </a:lnTo>
                    <a:lnTo>
                      <a:pt x="284" y="122"/>
                    </a:lnTo>
                    <a:lnTo>
                      <a:pt x="284" y="91"/>
                    </a:lnTo>
                    <a:lnTo>
                      <a:pt x="258" y="83"/>
                    </a:lnTo>
                    <a:lnTo>
                      <a:pt x="250" y="68"/>
                    </a:lnTo>
                    <a:lnTo>
                      <a:pt x="268" y="45"/>
                    </a:lnTo>
                    <a:lnTo>
                      <a:pt x="258" y="7"/>
                    </a:lnTo>
                    <a:lnTo>
                      <a:pt x="268" y="0"/>
                    </a:lnTo>
                    <a:lnTo>
                      <a:pt x="258" y="7"/>
                    </a:lnTo>
                    <a:lnTo>
                      <a:pt x="234" y="0"/>
                    </a:lnTo>
                    <a:lnTo>
                      <a:pt x="217" y="7"/>
                    </a:lnTo>
                    <a:lnTo>
                      <a:pt x="200" y="0"/>
                    </a:lnTo>
                    <a:lnTo>
                      <a:pt x="175" y="7"/>
                    </a:lnTo>
                    <a:lnTo>
                      <a:pt x="150" y="7"/>
                    </a:lnTo>
                    <a:lnTo>
                      <a:pt x="100"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6" name="Freeform 58"/>
              <p:cNvSpPr>
                <a:spLocks/>
              </p:cNvSpPr>
              <p:nvPr/>
            </p:nvSpPr>
            <p:spPr bwMode="auto">
              <a:xfrm>
                <a:off x="4932460" y="4134095"/>
                <a:ext cx="401487" cy="502747"/>
              </a:xfrm>
              <a:custGeom>
                <a:avLst/>
                <a:gdLst>
                  <a:gd name="T0" fmla="*/ 3 w 268"/>
                  <a:gd name="T1" fmla="*/ 125 h 291"/>
                  <a:gd name="T2" fmla="*/ 4 w 268"/>
                  <a:gd name="T3" fmla="*/ 143 h 291"/>
                  <a:gd name="T4" fmla="*/ 4 w 268"/>
                  <a:gd name="T5" fmla="*/ 153 h 291"/>
                  <a:gd name="T6" fmla="*/ 7 w 268"/>
                  <a:gd name="T7" fmla="*/ 158 h 291"/>
                  <a:gd name="T8" fmla="*/ 12 w 268"/>
                  <a:gd name="T9" fmla="*/ 191 h 291"/>
                  <a:gd name="T10" fmla="*/ 13 w 268"/>
                  <a:gd name="T11" fmla="*/ 201 h 291"/>
                  <a:gd name="T12" fmla="*/ 17 w 268"/>
                  <a:gd name="T13" fmla="*/ 201 h 291"/>
                  <a:gd name="T14" fmla="*/ 18 w 268"/>
                  <a:gd name="T15" fmla="*/ 207 h 291"/>
                  <a:gd name="T16" fmla="*/ 20 w 268"/>
                  <a:gd name="T17" fmla="*/ 207 h 291"/>
                  <a:gd name="T18" fmla="*/ 25 w 268"/>
                  <a:gd name="T19" fmla="*/ 201 h 291"/>
                  <a:gd name="T20" fmla="*/ 26 w 268"/>
                  <a:gd name="T21" fmla="*/ 201 h 291"/>
                  <a:gd name="T22" fmla="*/ 29 w 268"/>
                  <a:gd name="T23" fmla="*/ 201 h 291"/>
                  <a:gd name="T24" fmla="*/ 29 w 268"/>
                  <a:gd name="T25" fmla="*/ 186 h 291"/>
                  <a:gd name="T26" fmla="*/ 29 w 268"/>
                  <a:gd name="T27" fmla="*/ 186 h 291"/>
                  <a:gd name="T28" fmla="*/ 25 w 268"/>
                  <a:gd name="T29" fmla="*/ 170 h 291"/>
                  <a:gd name="T30" fmla="*/ 24 w 268"/>
                  <a:gd name="T31" fmla="*/ 158 h 291"/>
                  <a:gd name="T32" fmla="*/ 25 w 268"/>
                  <a:gd name="T33" fmla="*/ 153 h 291"/>
                  <a:gd name="T34" fmla="*/ 26 w 268"/>
                  <a:gd name="T35" fmla="*/ 136 h 291"/>
                  <a:gd name="T36" fmla="*/ 30 w 268"/>
                  <a:gd name="T37" fmla="*/ 104 h 291"/>
                  <a:gd name="T38" fmla="*/ 31 w 268"/>
                  <a:gd name="T39" fmla="*/ 66 h 291"/>
                  <a:gd name="T40" fmla="*/ 34 w 268"/>
                  <a:gd name="T41" fmla="*/ 59 h 291"/>
                  <a:gd name="T42" fmla="*/ 34 w 268"/>
                  <a:gd name="T43" fmla="*/ 53 h 291"/>
                  <a:gd name="T44" fmla="*/ 32 w 268"/>
                  <a:gd name="T45" fmla="*/ 49 h 291"/>
                  <a:gd name="T46" fmla="*/ 31 w 268"/>
                  <a:gd name="T47" fmla="*/ 7 h 291"/>
                  <a:gd name="T48" fmla="*/ 29 w 268"/>
                  <a:gd name="T49" fmla="*/ 0 h 291"/>
                  <a:gd name="T50" fmla="*/ 25 w 268"/>
                  <a:gd name="T51" fmla="*/ 15 h 291"/>
                  <a:gd name="T52" fmla="*/ 24 w 268"/>
                  <a:gd name="T53" fmla="*/ 7 h 291"/>
                  <a:gd name="T54" fmla="*/ 7 w 268"/>
                  <a:gd name="T55" fmla="*/ 7 h 291"/>
                  <a:gd name="T56" fmla="*/ 7 w 268"/>
                  <a:gd name="T57" fmla="*/ 26 h 291"/>
                  <a:gd name="T58" fmla="*/ 6 w 268"/>
                  <a:gd name="T59" fmla="*/ 33 h 291"/>
                  <a:gd name="T60" fmla="*/ 4 w 268"/>
                  <a:gd name="T61" fmla="*/ 41 h 291"/>
                  <a:gd name="T62" fmla="*/ 4 w 268"/>
                  <a:gd name="T63" fmla="*/ 72 h 291"/>
                  <a:gd name="T64" fmla="*/ 4 w 268"/>
                  <a:gd name="T65" fmla="*/ 82 h 291"/>
                  <a:gd name="T66" fmla="*/ 3 w 268"/>
                  <a:gd name="T67" fmla="*/ 82 h 291"/>
                  <a:gd name="T68" fmla="*/ 0 w 268"/>
                  <a:gd name="T69" fmla="*/ 104 h 291"/>
                  <a:gd name="T70" fmla="*/ 3 w 268"/>
                  <a:gd name="T71" fmla="*/ 125 h 291"/>
                  <a:gd name="T72" fmla="*/ 3 w 268"/>
                  <a:gd name="T73" fmla="*/ 125 h 29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8"/>
                  <a:gd name="T112" fmla="*/ 0 h 291"/>
                  <a:gd name="T113" fmla="*/ 268 w 268"/>
                  <a:gd name="T114" fmla="*/ 291 h 29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8" h="291">
                    <a:moveTo>
                      <a:pt x="16" y="176"/>
                    </a:moveTo>
                    <a:lnTo>
                      <a:pt x="33" y="198"/>
                    </a:lnTo>
                    <a:lnTo>
                      <a:pt x="33" y="214"/>
                    </a:lnTo>
                    <a:lnTo>
                      <a:pt x="50" y="221"/>
                    </a:lnTo>
                    <a:lnTo>
                      <a:pt x="92" y="267"/>
                    </a:lnTo>
                    <a:lnTo>
                      <a:pt x="100" y="282"/>
                    </a:lnTo>
                    <a:lnTo>
                      <a:pt x="134" y="282"/>
                    </a:lnTo>
                    <a:lnTo>
                      <a:pt x="142" y="290"/>
                    </a:lnTo>
                    <a:lnTo>
                      <a:pt x="158" y="290"/>
                    </a:lnTo>
                    <a:lnTo>
                      <a:pt x="192" y="282"/>
                    </a:lnTo>
                    <a:lnTo>
                      <a:pt x="200" y="282"/>
                    </a:lnTo>
                    <a:lnTo>
                      <a:pt x="225" y="282"/>
                    </a:lnTo>
                    <a:lnTo>
                      <a:pt x="225" y="260"/>
                    </a:lnTo>
                    <a:lnTo>
                      <a:pt x="217" y="260"/>
                    </a:lnTo>
                    <a:lnTo>
                      <a:pt x="192" y="237"/>
                    </a:lnTo>
                    <a:lnTo>
                      <a:pt x="184" y="221"/>
                    </a:lnTo>
                    <a:lnTo>
                      <a:pt x="192" y="214"/>
                    </a:lnTo>
                    <a:lnTo>
                      <a:pt x="200" y="190"/>
                    </a:lnTo>
                    <a:lnTo>
                      <a:pt x="234" y="145"/>
                    </a:lnTo>
                    <a:lnTo>
                      <a:pt x="242" y="91"/>
                    </a:lnTo>
                    <a:lnTo>
                      <a:pt x="267" y="83"/>
                    </a:lnTo>
                    <a:lnTo>
                      <a:pt x="267" y="76"/>
                    </a:lnTo>
                    <a:lnTo>
                      <a:pt x="250" y="68"/>
                    </a:lnTo>
                    <a:lnTo>
                      <a:pt x="242" y="7"/>
                    </a:lnTo>
                    <a:lnTo>
                      <a:pt x="225" y="0"/>
                    </a:lnTo>
                    <a:lnTo>
                      <a:pt x="192" y="15"/>
                    </a:lnTo>
                    <a:lnTo>
                      <a:pt x="184" y="7"/>
                    </a:lnTo>
                    <a:lnTo>
                      <a:pt x="50" y="7"/>
                    </a:lnTo>
                    <a:lnTo>
                      <a:pt x="50" y="38"/>
                    </a:lnTo>
                    <a:lnTo>
                      <a:pt x="42" y="45"/>
                    </a:lnTo>
                    <a:lnTo>
                      <a:pt x="33" y="53"/>
                    </a:lnTo>
                    <a:lnTo>
                      <a:pt x="33" y="99"/>
                    </a:lnTo>
                    <a:lnTo>
                      <a:pt x="33" y="115"/>
                    </a:lnTo>
                    <a:lnTo>
                      <a:pt x="24" y="115"/>
                    </a:lnTo>
                    <a:lnTo>
                      <a:pt x="0" y="145"/>
                    </a:lnTo>
                    <a:lnTo>
                      <a:pt x="24" y="176"/>
                    </a:lnTo>
                    <a:lnTo>
                      <a:pt x="16" y="17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7" name="Freeform 59"/>
              <p:cNvSpPr>
                <a:spLocks/>
              </p:cNvSpPr>
              <p:nvPr/>
            </p:nvSpPr>
            <p:spPr bwMode="auto">
              <a:xfrm>
                <a:off x="4996414" y="3867622"/>
                <a:ext cx="273580" cy="296674"/>
              </a:xfrm>
              <a:custGeom>
                <a:avLst/>
                <a:gdLst>
                  <a:gd name="T0" fmla="*/ 22 w 184"/>
                  <a:gd name="T1" fmla="*/ 125 h 170"/>
                  <a:gd name="T2" fmla="*/ 18 w 184"/>
                  <a:gd name="T3" fmla="*/ 135 h 170"/>
                  <a:gd name="T4" fmla="*/ 16 w 184"/>
                  <a:gd name="T5" fmla="*/ 129 h 170"/>
                  <a:gd name="T6" fmla="*/ 3 w 184"/>
                  <a:gd name="T7" fmla="*/ 129 h 170"/>
                  <a:gd name="T8" fmla="*/ 3 w 184"/>
                  <a:gd name="T9" fmla="*/ 42 h 170"/>
                  <a:gd name="T10" fmla="*/ 0 w 184"/>
                  <a:gd name="T11" fmla="*/ 28 h 170"/>
                  <a:gd name="T12" fmla="*/ 3 w 184"/>
                  <a:gd name="T13" fmla="*/ 0 h 170"/>
                  <a:gd name="T14" fmla="*/ 3 w 184"/>
                  <a:gd name="T15" fmla="*/ 15 h 170"/>
                  <a:gd name="T16" fmla="*/ 5 w 184"/>
                  <a:gd name="T17" fmla="*/ 15 h 170"/>
                  <a:gd name="T18" fmla="*/ 8 w 184"/>
                  <a:gd name="T19" fmla="*/ 24 h 170"/>
                  <a:gd name="T20" fmla="*/ 13 w 184"/>
                  <a:gd name="T21" fmla="*/ 15 h 170"/>
                  <a:gd name="T22" fmla="*/ 13 w 184"/>
                  <a:gd name="T23" fmla="*/ 15 h 170"/>
                  <a:gd name="T24" fmla="*/ 13 w 184"/>
                  <a:gd name="T25" fmla="*/ 24 h 170"/>
                  <a:gd name="T26" fmla="*/ 16 w 184"/>
                  <a:gd name="T27" fmla="*/ 15 h 170"/>
                  <a:gd name="T28" fmla="*/ 16 w 184"/>
                  <a:gd name="T29" fmla="*/ 24 h 170"/>
                  <a:gd name="T30" fmla="*/ 18 w 184"/>
                  <a:gd name="T31" fmla="*/ 15 h 170"/>
                  <a:gd name="T32" fmla="*/ 19 w 184"/>
                  <a:gd name="T33" fmla="*/ 34 h 170"/>
                  <a:gd name="T34" fmla="*/ 18 w 184"/>
                  <a:gd name="T35" fmla="*/ 64 h 170"/>
                  <a:gd name="T36" fmla="*/ 16 w 184"/>
                  <a:gd name="T37" fmla="*/ 42 h 170"/>
                  <a:gd name="T38" fmla="*/ 16 w 184"/>
                  <a:gd name="T39" fmla="*/ 28 h 170"/>
                  <a:gd name="T40" fmla="*/ 16 w 184"/>
                  <a:gd name="T41" fmla="*/ 28 h 170"/>
                  <a:gd name="T42" fmla="*/ 16 w 184"/>
                  <a:gd name="T43" fmla="*/ 34 h 170"/>
                  <a:gd name="T44" fmla="*/ 22 w 184"/>
                  <a:gd name="T45" fmla="*/ 125 h 17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4"/>
                  <a:gd name="T70" fmla="*/ 0 h 170"/>
                  <a:gd name="T71" fmla="*/ 184 w 184"/>
                  <a:gd name="T72" fmla="*/ 170 h 17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4" h="170">
                    <a:moveTo>
                      <a:pt x="183" y="153"/>
                    </a:moveTo>
                    <a:lnTo>
                      <a:pt x="150" y="169"/>
                    </a:lnTo>
                    <a:lnTo>
                      <a:pt x="142" y="160"/>
                    </a:lnTo>
                    <a:lnTo>
                      <a:pt x="8" y="160"/>
                    </a:lnTo>
                    <a:lnTo>
                      <a:pt x="8" y="54"/>
                    </a:lnTo>
                    <a:lnTo>
                      <a:pt x="0" y="38"/>
                    </a:lnTo>
                    <a:lnTo>
                      <a:pt x="8" y="0"/>
                    </a:lnTo>
                    <a:lnTo>
                      <a:pt x="8" y="15"/>
                    </a:lnTo>
                    <a:lnTo>
                      <a:pt x="42" y="15"/>
                    </a:lnTo>
                    <a:lnTo>
                      <a:pt x="66" y="24"/>
                    </a:lnTo>
                    <a:lnTo>
                      <a:pt x="108" y="15"/>
                    </a:lnTo>
                    <a:lnTo>
                      <a:pt x="116" y="15"/>
                    </a:lnTo>
                    <a:lnTo>
                      <a:pt x="116" y="24"/>
                    </a:lnTo>
                    <a:lnTo>
                      <a:pt x="133" y="15"/>
                    </a:lnTo>
                    <a:lnTo>
                      <a:pt x="133" y="24"/>
                    </a:lnTo>
                    <a:lnTo>
                      <a:pt x="150" y="15"/>
                    </a:lnTo>
                    <a:lnTo>
                      <a:pt x="158" y="46"/>
                    </a:lnTo>
                    <a:lnTo>
                      <a:pt x="150" y="76"/>
                    </a:lnTo>
                    <a:lnTo>
                      <a:pt x="142" y="54"/>
                    </a:lnTo>
                    <a:lnTo>
                      <a:pt x="133" y="31"/>
                    </a:lnTo>
                    <a:lnTo>
                      <a:pt x="133" y="38"/>
                    </a:lnTo>
                    <a:lnTo>
                      <a:pt x="133" y="46"/>
                    </a:lnTo>
                    <a:lnTo>
                      <a:pt x="183" y="15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8" name="Freeform 61"/>
              <p:cNvSpPr>
                <a:spLocks/>
              </p:cNvSpPr>
              <p:nvPr/>
            </p:nvSpPr>
            <p:spPr bwMode="auto">
              <a:xfrm>
                <a:off x="4646444" y="3842751"/>
                <a:ext cx="362405" cy="385499"/>
              </a:xfrm>
              <a:custGeom>
                <a:avLst/>
                <a:gdLst>
                  <a:gd name="T0" fmla="*/ 4 w 243"/>
                  <a:gd name="T1" fmla="*/ 117 h 223"/>
                  <a:gd name="T2" fmla="*/ 3 w 243"/>
                  <a:gd name="T3" fmla="*/ 99 h 223"/>
                  <a:gd name="T4" fmla="*/ 3 w 243"/>
                  <a:gd name="T5" fmla="*/ 99 h 223"/>
                  <a:gd name="T6" fmla="*/ 0 w 243"/>
                  <a:gd name="T7" fmla="*/ 82 h 223"/>
                  <a:gd name="T8" fmla="*/ 3 w 243"/>
                  <a:gd name="T9" fmla="*/ 73 h 223"/>
                  <a:gd name="T10" fmla="*/ 3 w 243"/>
                  <a:gd name="T11" fmla="*/ 60 h 223"/>
                  <a:gd name="T12" fmla="*/ 3 w 243"/>
                  <a:gd name="T13" fmla="*/ 46 h 223"/>
                  <a:gd name="T14" fmla="*/ 0 w 243"/>
                  <a:gd name="T15" fmla="*/ 41 h 223"/>
                  <a:gd name="T16" fmla="*/ 0 w 243"/>
                  <a:gd name="T17" fmla="*/ 34 h 223"/>
                  <a:gd name="T18" fmla="*/ 3 w 243"/>
                  <a:gd name="T19" fmla="*/ 27 h 223"/>
                  <a:gd name="T20" fmla="*/ 3 w 243"/>
                  <a:gd name="T21" fmla="*/ 18 h 223"/>
                  <a:gd name="T22" fmla="*/ 3 w 243"/>
                  <a:gd name="T23" fmla="*/ 7 h 223"/>
                  <a:gd name="T24" fmla="*/ 3 w 243"/>
                  <a:gd name="T25" fmla="*/ 0 h 223"/>
                  <a:gd name="T26" fmla="*/ 6 w 243"/>
                  <a:gd name="T27" fmla="*/ 0 h 223"/>
                  <a:gd name="T28" fmla="*/ 9 w 243"/>
                  <a:gd name="T29" fmla="*/ 7 h 223"/>
                  <a:gd name="T30" fmla="*/ 12 w 243"/>
                  <a:gd name="T31" fmla="*/ 7 h 223"/>
                  <a:gd name="T32" fmla="*/ 12 w 243"/>
                  <a:gd name="T33" fmla="*/ 18 h 223"/>
                  <a:gd name="T34" fmla="*/ 20 w 243"/>
                  <a:gd name="T35" fmla="*/ 34 h 223"/>
                  <a:gd name="T36" fmla="*/ 20 w 243"/>
                  <a:gd name="T37" fmla="*/ 27 h 223"/>
                  <a:gd name="T38" fmla="*/ 20 w 243"/>
                  <a:gd name="T39" fmla="*/ 15 h 223"/>
                  <a:gd name="T40" fmla="*/ 24 w 243"/>
                  <a:gd name="T41" fmla="*/ 0 h 223"/>
                  <a:gd name="T42" fmla="*/ 27 w 243"/>
                  <a:gd name="T43" fmla="*/ 7 h 223"/>
                  <a:gd name="T44" fmla="*/ 27 w 243"/>
                  <a:gd name="T45" fmla="*/ 15 h 223"/>
                  <a:gd name="T46" fmla="*/ 29 w 243"/>
                  <a:gd name="T47" fmla="*/ 15 h 223"/>
                  <a:gd name="T48" fmla="*/ 29 w 243"/>
                  <a:gd name="T49" fmla="*/ 41 h 223"/>
                  <a:gd name="T50" fmla="*/ 29 w 243"/>
                  <a:gd name="T51" fmla="*/ 50 h 223"/>
                  <a:gd name="T52" fmla="*/ 29 w 243"/>
                  <a:gd name="T53" fmla="*/ 126 h 223"/>
                  <a:gd name="T54" fmla="*/ 29 w 243"/>
                  <a:gd name="T55" fmla="*/ 149 h 223"/>
                  <a:gd name="T56" fmla="*/ 29 w 243"/>
                  <a:gd name="T57" fmla="*/ 155 h 223"/>
                  <a:gd name="T58" fmla="*/ 28 w 243"/>
                  <a:gd name="T59" fmla="*/ 160 h 223"/>
                  <a:gd name="T60" fmla="*/ 13 w 243"/>
                  <a:gd name="T61" fmla="*/ 117 h 223"/>
                  <a:gd name="T62" fmla="*/ 10 w 243"/>
                  <a:gd name="T63" fmla="*/ 121 h 223"/>
                  <a:gd name="T64" fmla="*/ 9 w 243"/>
                  <a:gd name="T65" fmla="*/ 117 h 223"/>
                  <a:gd name="T66" fmla="*/ 4 w 243"/>
                  <a:gd name="T67" fmla="*/ 117 h 22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3"/>
                  <a:gd name="T103" fmla="*/ 0 h 223"/>
                  <a:gd name="T104" fmla="*/ 243 w 243"/>
                  <a:gd name="T105" fmla="*/ 223 h 22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3" h="223">
                    <a:moveTo>
                      <a:pt x="34" y="161"/>
                    </a:moveTo>
                    <a:lnTo>
                      <a:pt x="25" y="137"/>
                    </a:lnTo>
                    <a:lnTo>
                      <a:pt x="16" y="137"/>
                    </a:lnTo>
                    <a:lnTo>
                      <a:pt x="0" y="114"/>
                    </a:lnTo>
                    <a:lnTo>
                      <a:pt x="8" y="100"/>
                    </a:lnTo>
                    <a:lnTo>
                      <a:pt x="8" y="84"/>
                    </a:lnTo>
                    <a:lnTo>
                      <a:pt x="8" y="61"/>
                    </a:lnTo>
                    <a:lnTo>
                      <a:pt x="0" y="53"/>
                    </a:lnTo>
                    <a:lnTo>
                      <a:pt x="0" y="46"/>
                    </a:lnTo>
                    <a:lnTo>
                      <a:pt x="8" y="39"/>
                    </a:lnTo>
                    <a:lnTo>
                      <a:pt x="8" y="30"/>
                    </a:lnTo>
                    <a:lnTo>
                      <a:pt x="25" y="7"/>
                    </a:lnTo>
                    <a:lnTo>
                      <a:pt x="25" y="0"/>
                    </a:lnTo>
                    <a:lnTo>
                      <a:pt x="50" y="0"/>
                    </a:lnTo>
                    <a:lnTo>
                      <a:pt x="75" y="7"/>
                    </a:lnTo>
                    <a:lnTo>
                      <a:pt x="100" y="7"/>
                    </a:lnTo>
                    <a:lnTo>
                      <a:pt x="100" y="30"/>
                    </a:lnTo>
                    <a:lnTo>
                      <a:pt x="158" y="46"/>
                    </a:lnTo>
                    <a:lnTo>
                      <a:pt x="167" y="39"/>
                    </a:lnTo>
                    <a:lnTo>
                      <a:pt x="167" y="15"/>
                    </a:lnTo>
                    <a:lnTo>
                      <a:pt x="192" y="0"/>
                    </a:lnTo>
                    <a:lnTo>
                      <a:pt x="217" y="7"/>
                    </a:lnTo>
                    <a:lnTo>
                      <a:pt x="217" y="15"/>
                    </a:lnTo>
                    <a:lnTo>
                      <a:pt x="242" y="15"/>
                    </a:lnTo>
                    <a:lnTo>
                      <a:pt x="234" y="53"/>
                    </a:lnTo>
                    <a:lnTo>
                      <a:pt x="242" y="69"/>
                    </a:lnTo>
                    <a:lnTo>
                      <a:pt x="242" y="175"/>
                    </a:lnTo>
                    <a:lnTo>
                      <a:pt x="242" y="206"/>
                    </a:lnTo>
                    <a:lnTo>
                      <a:pt x="234" y="214"/>
                    </a:lnTo>
                    <a:lnTo>
                      <a:pt x="226" y="222"/>
                    </a:lnTo>
                    <a:lnTo>
                      <a:pt x="108" y="161"/>
                    </a:lnTo>
                    <a:lnTo>
                      <a:pt x="84" y="168"/>
                    </a:lnTo>
                    <a:lnTo>
                      <a:pt x="75" y="161"/>
                    </a:lnTo>
                    <a:lnTo>
                      <a:pt x="34" y="1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59" name="Freeform 63"/>
              <p:cNvSpPr>
                <a:spLocks/>
              </p:cNvSpPr>
              <p:nvPr/>
            </p:nvSpPr>
            <p:spPr bwMode="auto">
              <a:xfrm>
                <a:off x="4134815" y="4066589"/>
                <a:ext cx="389052" cy="413922"/>
              </a:xfrm>
              <a:custGeom>
                <a:avLst/>
                <a:gdLst>
                  <a:gd name="T0" fmla="*/ 14 w 260"/>
                  <a:gd name="T1" fmla="*/ 0 h 238"/>
                  <a:gd name="T2" fmla="*/ 26 w 260"/>
                  <a:gd name="T3" fmla="*/ 49 h 238"/>
                  <a:gd name="T4" fmla="*/ 29 w 260"/>
                  <a:gd name="T5" fmla="*/ 61 h 238"/>
                  <a:gd name="T6" fmla="*/ 29 w 260"/>
                  <a:gd name="T7" fmla="*/ 65 h 238"/>
                  <a:gd name="T8" fmla="*/ 32 w 260"/>
                  <a:gd name="T9" fmla="*/ 69 h 238"/>
                  <a:gd name="T10" fmla="*/ 34 w 260"/>
                  <a:gd name="T11" fmla="*/ 69 h 238"/>
                  <a:gd name="T12" fmla="*/ 34 w 260"/>
                  <a:gd name="T13" fmla="*/ 107 h 238"/>
                  <a:gd name="T14" fmla="*/ 32 w 260"/>
                  <a:gd name="T15" fmla="*/ 117 h 238"/>
                  <a:gd name="T16" fmla="*/ 25 w 260"/>
                  <a:gd name="T17" fmla="*/ 124 h 238"/>
                  <a:gd name="T18" fmla="*/ 22 w 260"/>
                  <a:gd name="T19" fmla="*/ 124 h 238"/>
                  <a:gd name="T20" fmla="*/ 20 w 260"/>
                  <a:gd name="T21" fmla="*/ 137 h 238"/>
                  <a:gd name="T22" fmla="*/ 17 w 260"/>
                  <a:gd name="T23" fmla="*/ 142 h 238"/>
                  <a:gd name="T24" fmla="*/ 14 w 260"/>
                  <a:gd name="T25" fmla="*/ 166 h 238"/>
                  <a:gd name="T26" fmla="*/ 14 w 260"/>
                  <a:gd name="T27" fmla="*/ 178 h 238"/>
                  <a:gd name="T28" fmla="*/ 13 w 260"/>
                  <a:gd name="T29" fmla="*/ 184 h 238"/>
                  <a:gd name="T30" fmla="*/ 11 w 260"/>
                  <a:gd name="T31" fmla="*/ 178 h 238"/>
                  <a:gd name="T32" fmla="*/ 9 w 260"/>
                  <a:gd name="T33" fmla="*/ 184 h 238"/>
                  <a:gd name="T34" fmla="*/ 8 w 260"/>
                  <a:gd name="T35" fmla="*/ 184 h 238"/>
                  <a:gd name="T36" fmla="*/ 6 w 260"/>
                  <a:gd name="T37" fmla="*/ 154 h 238"/>
                  <a:gd name="T38" fmla="*/ 3 w 260"/>
                  <a:gd name="T39" fmla="*/ 160 h 238"/>
                  <a:gd name="T40" fmla="*/ 3 w 260"/>
                  <a:gd name="T41" fmla="*/ 160 h 238"/>
                  <a:gd name="T42" fmla="*/ 3 w 260"/>
                  <a:gd name="T43" fmla="*/ 154 h 238"/>
                  <a:gd name="T44" fmla="*/ 0 w 260"/>
                  <a:gd name="T45" fmla="*/ 124 h 238"/>
                  <a:gd name="T46" fmla="*/ 3 w 260"/>
                  <a:gd name="T47" fmla="*/ 117 h 238"/>
                  <a:gd name="T48" fmla="*/ 3 w 260"/>
                  <a:gd name="T49" fmla="*/ 124 h 238"/>
                  <a:gd name="T50" fmla="*/ 4 w 260"/>
                  <a:gd name="T51" fmla="*/ 117 h 238"/>
                  <a:gd name="T52" fmla="*/ 14 w 260"/>
                  <a:gd name="T53" fmla="*/ 117 h 238"/>
                  <a:gd name="T54" fmla="*/ 11 w 260"/>
                  <a:gd name="T55" fmla="*/ 0 h 238"/>
                  <a:gd name="T56" fmla="*/ 14 w 260"/>
                  <a:gd name="T57" fmla="*/ 0 h 23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60"/>
                  <a:gd name="T88" fmla="*/ 0 h 238"/>
                  <a:gd name="T89" fmla="*/ 260 w 260"/>
                  <a:gd name="T90" fmla="*/ 238 h 23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60" h="238">
                    <a:moveTo>
                      <a:pt x="116" y="0"/>
                    </a:moveTo>
                    <a:lnTo>
                      <a:pt x="208" y="61"/>
                    </a:lnTo>
                    <a:lnTo>
                      <a:pt x="217" y="76"/>
                    </a:lnTo>
                    <a:lnTo>
                      <a:pt x="234" y="84"/>
                    </a:lnTo>
                    <a:lnTo>
                      <a:pt x="250" y="92"/>
                    </a:lnTo>
                    <a:lnTo>
                      <a:pt x="259" y="92"/>
                    </a:lnTo>
                    <a:lnTo>
                      <a:pt x="259" y="138"/>
                    </a:lnTo>
                    <a:lnTo>
                      <a:pt x="250" y="153"/>
                    </a:lnTo>
                    <a:lnTo>
                      <a:pt x="200" y="160"/>
                    </a:lnTo>
                    <a:lnTo>
                      <a:pt x="175" y="160"/>
                    </a:lnTo>
                    <a:lnTo>
                      <a:pt x="158" y="176"/>
                    </a:lnTo>
                    <a:lnTo>
                      <a:pt x="134" y="183"/>
                    </a:lnTo>
                    <a:lnTo>
                      <a:pt x="116" y="214"/>
                    </a:lnTo>
                    <a:lnTo>
                      <a:pt x="108" y="229"/>
                    </a:lnTo>
                    <a:lnTo>
                      <a:pt x="100" y="237"/>
                    </a:lnTo>
                    <a:lnTo>
                      <a:pt x="84" y="229"/>
                    </a:lnTo>
                    <a:lnTo>
                      <a:pt x="74" y="237"/>
                    </a:lnTo>
                    <a:lnTo>
                      <a:pt x="66" y="237"/>
                    </a:lnTo>
                    <a:lnTo>
                      <a:pt x="50" y="199"/>
                    </a:lnTo>
                    <a:lnTo>
                      <a:pt x="24" y="206"/>
                    </a:lnTo>
                    <a:lnTo>
                      <a:pt x="8" y="206"/>
                    </a:lnTo>
                    <a:lnTo>
                      <a:pt x="16" y="199"/>
                    </a:lnTo>
                    <a:lnTo>
                      <a:pt x="0" y="160"/>
                    </a:lnTo>
                    <a:lnTo>
                      <a:pt x="16" y="153"/>
                    </a:lnTo>
                    <a:lnTo>
                      <a:pt x="24" y="160"/>
                    </a:lnTo>
                    <a:lnTo>
                      <a:pt x="33" y="153"/>
                    </a:lnTo>
                    <a:lnTo>
                      <a:pt x="108" y="153"/>
                    </a:lnTo>
                    <a:lnTo>
                      <a:pt x="84" y="0"/>
                    </a:lnTo>
                    <a:lnTo>
                      <a:pt x="116"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0" name="Freeform 65"/>
              <p:cNvSpPr>
                <a:spLocks/>
              </p:cNvSpPr>
              <p:nvPr/>
            </p:nvSpPr>
            <p:spPr bwMode="auto">
              <a:xfrm>
                <a:off x="4221863" y="4464523"/>
                <a:ext cx="152778" cy="161661"/>
              </a:xfrm>
              <a:custGeom>
                <a:avLst/>
                <a:gdLst>
                  <a:gd name="T0" fmla="*/ 12 w 102"/>
                  <a:gd name="T1" fmla="*/ 60 h 93"/>
                  <a:gd name="T2" fmla="*/ 12 w 102"/>
                  <a:gd name="T3" fmla="*/ 42 h 93"/>
                  <a:gd name="T4" fmla="*/ 13 w 102"/>
                  <a:gd name="T5" fmla="*/ 23 h 93"/>
                  <a:gd name="T6" fmla="*/ 12 w 102"/>
                  <a:gd name="T7" fmla="*/ 15 h 93"/>
                  <a:gd name="T8" fmla="*/ 10 w 102"/>
                  <a:gd name="T9" fmla="*/ 8 h 93"/>
                  <a:gd name="T10" fmla="*/ 8 w 102"/>
                  <a:gd name="T11" fmla="*/ 8 h 93"/>
                  <a:gd name="T12" fmla="*/ 7 w 102"/>
                  <a:gd name="T13" fmla="*/ 0 h 93"/>
                  <a:gd name="T14" fmla="*/ 6 w 102"/>
                  <a:gd name="T15" fmla="*/ 8 h 93"/>
                  <a:gd name="T16" fmla="*/ 3 w 102"/>
                  <a:gd name="T17" fmla="*/ 0 h 93"/>
                  <a:gd name="T18" fmla="*/ 3 w 102"/>
                  <a:gd name="T19" fmla="*/ 8 h 93"/>
                  <a:gd name="T20" fmla="*/ 3 w 102"/>
                  <a:gd name="T21" fmla="*/ 8 h 93"/>
                  <a:gd name="T22" fmla="*/ 3 w 102"/>
                  <a:gd name="T23" fmla="*/ 15 h 93"/>
                  <a:gd name="T24" fmla="*/ 3 w 102"/>
                  <a:gd name="T25" fmla="*/ 23 h 93"/>
                  <a:gd name="T26" fmla="*/ 3 w 102"/>
                  <a:gd name="T27" fmla="*/ 23 h 93"/>
                  <a:gd name="T28" fmla="*/ 3 w 102"/>
                  <a:gd name="T29" fmla="*/ 34 h 93"/>
                  <a:gd name="T30" fmla="*/ 0 w 102"/>
                  <a:gd name="T31" fmla="*/ 34 h 93"/>
                  <a:gd name="T32" fmla="*/ 0 w 102"/>
                  <a:gd name="T33" fmla="*/ 49 h 93"/>
                  <a:gd name="T34" fmla="*/ 3 w 102"/>
                  <a:gd name="T35" fmla="*/ 57 h 93"/>
                  <a:gd name="T36" fmla="*/ 3 w 102"/>
                  <a:gd name="T37" fmla="*/ 68 h 93"/>
                  <a:gd name="T38" fmla="*/ 6 w 102"/>
                  <a:gd name="T39" fmla="*/ 60 h 93"/>
                  <a:gd name="T40" fmla="*/ 8 w 102"/>
                  <a:gd name="T41" fmla="*/ 60 h 93"/>
                  <a:gd name="T42" fmla="*/ 12 w 102"/>
                  <a:gd name="T43" fmla="*/ 60 h 9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2"/>
                  <a:gd name="T67" fmla="*/ 0 h 93"/>
                  <a:gd name="T68" fmla="*/ 102 w 102"/>
                  <a:gd name="T69" fmla="*/ 93 h 9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2" h="93">
                    <a:moveTo>
                      <a:pt x="93" y="76"/>
                    </a:moveTo>
                    <a:lnTo>
                      <a:pt x="93" y="54"/>
                    </a:lnTo>
                    <a:lnTo>
                      <a:pt x="101" y="31"/>
                    </a:lnTo>
                    <a:lnTo>
                      <a:pt x="93" y="15"/>
                    </a:lnTo>
                    <a:lnTo>
                      <a:pt x="76" y="8"/>
                    </a:lnTo>
                    <a:lnTo>
                      <a:pt x="59" y="8"/>
                    </a:lnTo>
                    <a:lnTo>
                      <a:pt x="50" y="0"/>
                    </a:lnTo>
                    <a:lnTo>
                      <a:pt x="42" y="8"/>
                    </a:lnTo>
                    <a:lnTo>
                      <a:pt x="26" y="0"/>
                    </a:lnTo>
                    <a:lnTo>
                      <a:pt x="16" y="8"/>
                    </a:lnTo>
                    <a:lnTo>
                      <a:pt x="8" y="8"/>
                    </a:lnTo>
                    <a:lnTo>
                      <a:pt x="8" y="15"/>
                    </a:lnTo>
                    <a:lnTo>
                      <a:pt x="8" y="23"/>
                    </a:lnTo>
                    <a:lnTo>
                      <a:pt x="8" y="31"/>
                    </a:lnTo>
                    <a:lnTo>
                      <a:pt x="8" y="46"/>
                    </a:lnTo>
                    <a:lnTo>
                      <a:pt x="0" y="46"/>
                    </a:lnTo>
                    <a:lnTo>
                      <a:pt x="0" y="61"/>
                    </a:lnTo>
                    <a:lnTo>
                      <a:pt x="16" y="69"/>
                    </a:lnTo>
                    <a:lnTo>
                      <a:pt x="16" y="92"/>
                    </a:lnTo>
                    <a:lnTo>
                      <a:pt x="42" y="76"/>
                    </a:lnTo>
                    <a:lnTo>
                      <a:pt x="67" y="76"/>
                    </a:lnTo>
                    <a:lnTo>
                      <a:pt x="93" y="7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1" name="Freeform 67"/>
              <p:cNvSpPr>
                <a:spLocks/>
              </p:cNvSpPr>
              <p:nvPr/>
            </p:nvSpPr>
            <p:spPr bwMode="auto">
              <a:xfrm>
                <a:off x="4358653" y="4437875"/>
                <a:ext cx="90601" cy="163437"/>
              </a:xfrm>
              <a:custGeom>
                <a:avLst/>
                <a:gdLst>
                  <a:gd name="T0" fmla="*/ 0 w 60"/>
                  <a:gd name="T1" fmla="*/ 30 h 93"/>
                  <a:gd name="T2" fmla="*/ 0 w 60"/>
                  <a:gd name="T3" fmla="*/ 15 h 93"/>
                  <a:gd name="T4" fmla="*/ 0 w 60"/>
                  <a:gd name="T5" fmla="*/ 0 h 93"/>
                  <a:gd name="T6" fmla="*/ 5 w 60"/>
                  <a:gd name="T7" fmla="*/ 0 h 93"/>
                  <a:gd name="T8" fmla="*/ 8 w 60"/>
                  <a:gd name="T9" fmla="*/ 38 h 93"/>
                  <a:gd name="T10" fmla="*/ 9 w 60"/>
                  <a:gd name="T11" fmla="*/ 57 h 93"/>
                  <a:gd name="T12" fmla="*/ 9 w 60"/>
                  <a:gd name="T13" fmla="*/ 64 h 93"/>
                  <a:gd name="T14" fmla="*/ 3 w 60"/>
                  <a:gd name="T15" fmla="*/ 80 h 93"/>
                  <a:gd name="T16" fmla="*/ 0 w 60"/>
                  <a:gd name="T17" fmla="*/ 80 h 93"/>
                  <a:gd name="T18" fmla="*/ 0 w 60"/>
                  <a:gd name="T19" fmla="*/ 57 h 93"/>
                  <a:gd name="T20" fmla="*/ 3 w 60"/>
                  <a:gd name="T21" fmla="*/ 46 h 93"/>
                  <a:gd name="T22" fmla="*/ 0 w 60"/>
                  <a:gd name="T23" fmla="*/ 30 h 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0"/>
                  <a:gd name="T37" fmla="*/ 0 h 93"/>
                  <a:gd name="T38" fmla="*/ 60 w 60"/>
                  <a:gd name="T39" fmla="*/ 93 h 9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0" h="93">
                    <a:moveTo>
                      <a:pt x="0" y="30"/>
                    </a:moveTo>
                    <a:lnTo>
                      <a:pt x="0" y="15"/>
                    </a:lnTo>
                    <a:lnTo>
                      <a:pt x="0" y="0"/>
                    </a:lnTo>
                    <a:lnTo>
                      <a:pt x="34" y="0"/>
                    </a:lnTo>
                    <a:lnTo>
                      <a:pt x="51" y="38"/>
                    </a:lnTo>
                    <a:lnTo>
                      <a:pt x="59" y="69"/>
                    </a:lnTo>
                    <a:lnTo>
                      <a:pt x="59" y="76"/>
                    </a:lnTo>
                    <a:lnTo>
                      <a:pt x="8" y="92"/>
                    </a:lnTo>
                    <a:lnTo>
                      <a:pt x="0" y="92"/>
                    </a:lnTo>
                    <a:lnTo>
                      <a:pt x="0" y="69"/>
                    </a:lnTo>
                    <a:lnTo>
                      <a:pt x="8" y="46"/>
                    </a:lnTo>
                    <a:lnTo>
                      <a:pt x="0"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2" name="Freeform 69"/>
              <p:cNvSpPr>
                <a:spLocks/>
              </p:cNvSpPr>
              <p:nvPr/>
            </p:nvSpPr>
            <p:spPr bwMode="auto">
              <a:xfrm>
                <a:off x="4621574" y="4675925"/>
                <a:ext cx="136790" cy="163437"/>
              </a:xfrm>
              <a:custGeom>
                <a:avLst/>
                <a:gdLst>
                  <a:gd name="T0" fmla="*/ 3 w 92"/>
                  <a:gd name="T1" fmla="*/ 16 h 93"/>
                  <a:gd name="T2" fmla="*/ 5 w 92"/>
                  <a:gd name="T3" fmla="*/ 16 h 93"/>
                  <a:gd name="T4" fmla="*/ 5 w 92"/>
                  <a:gd name="T5" fmla="*/ 0 h 93"/>
                  <a:gd name="T6" fmla="*/ 9 w 92"/>
                  <a:gd name="T7" fmla="*/ 0 h 93"/>
                  <a:gd name="T8" fmla="*/ 9 w 92"/>
                  <a:gd name="T9" fmla="*/ 16 h 93"/>
                  <a:gd name="T10" fmla="*/ 9 w 92"/>
                  <a:gd name="T11" fmla="*/ 8 h 93"/>
                  <a:gd name="T12" fmla="*/ 11 w 92"/>
                  <a:gd name="T13" fmla="*/ 16 h 93"/>
                  <a:gd name="T14" fmla="*/ 11 w 92"/>
                  <a:gd name="T15" fmla="*/ 24 h 93"/>
                  <a:gd name="T16" fmla="*/ 11 w 92"/>
                  <a:gd name="T17" fmla="*/ 49 h 93"/>
                  <a:gd name="T18" fmla="*/ 8 w 92"/>
                  <a:gd name="T19" fmla="*/ 49 h 93"/>
                  <a:gd name="T20" fmla="*/ 6 w 92"/>
                  <a:gd name="T21" fmla="*/ 57 h 93"/>
                  <a:gd name="T22" fmla="*/ 6 w 92"/>
                  <a:gd name="T23" fmla="*/ 65 h 93"/>
                  <a:gd name="T24" fmla="*/ 5 w 92"/>
                  <a:gd name="T25" fmla="*/ 65 h 93"/>
                  <a:gd name="T26" fmla="*/ 5 w 92"/>
                  <a:gd name="T27" fmla="*/ 80 h 93"/>
                  <a:gd name="T28" fmla="*/ 3 w 92"/>
                  <a:gd name="T29" fmla="*/ 57 h 93"/>
                  <a:gd name="T30" fmla="*/ 0 w 92"/>
                  <a:gd name="T31" fmla="*/ 46 h 93"/>
                  <a:gd name="T32" fmla="*/ 3 w 92"/>
                  <a:gd name="T33" fmla="*/ 31 h 93"/>
                  <a:gd name="T34" fmla="*/ 3 w 92"/>
                  <a:gd name="T35" fmla="*/ 24 h 93"/>
                  <a:gd name="T36" fmla="*/ 3 w 92"/>
                  <a:gd name="T37" fmla="*/ 16 h 9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2"/>
                  <a:gd name="T58" fmla="*/ 0 h 93"/>
                  <a:gd name="T59" fmla="*/ 92 w 92"/>
                  <a:gd name="T60" fmla="*/ 93 h 9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2" h="93">
                    <a:moveTo>
                      <a:pt x="24" y="16"/>
                    </a:moveTo>
                    <a:lnTo>
                      <a:pt x="41" y="16"/>
                    </a:lnTo>
                    <a:lnTo>
                      <a:pt x="41" y="0"/>
                    </a:lnTo>
                    <a:lnTo>
                      <a:pt x="74" y="0"/>
                    </a:lnTo>
                    <a:lnTo>
                      <a:pt x="74" y="16"/>
                    </a:lnTo>
                    <a:lnTo>
                      <a:pt x="82" y="8"/>
                    </a:lnTo>
                    <a:lnTo>
                      <a:pt x="91" y="16"/>
                    </a:lnTo>
                    <a:lnTo>
                      <a:pt x="91" y="24"/>
                    </a:lnTo>
                    <a:lnTo>
                      <a:pt x="91" y="61"/>
                    </a:lnTo>
                    <a:lnTo>
                      <a:pt x="66" y="61"/>
                    </a:lnTo>
                    <a:lnTo>
                      <a:pt x="50" y="69"/>
                    </a:lnTo>
                    <a:lnTo>
                      <a:pt x="50" y="77"/>
                    </a:lnTo>
                    <a:lnTo>
                      <a:pt x="41" y="77"/>
                    </a:lnTo>
                    <a:lnTo>
                      <a:pt x="41" y="92"/>
                    </a:lnTo>
                    <a:lnTo>
                      <a:pt x="24" y="69"/>
                    </a:lnTo>
                    <a:lnTo>
                      <a:pt x="0" y="47"/>
                    </a:lnTo>
                    <a:lnTo>
                      <a:pt x="16" y="31"/>
                    </a:lnTo>
                    <a:lnTo>
                      <a:pt x="16" y="24"/>
                    </a:lnTo>
                    <a:lnTo>
                      <a:pt x="24"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3" name="Freeform 71"/>
              <p:cNvSpPr>
                <a:spLocks/>
              </p:cNvSpPr>
              <p:nvPr/>
            </p:nvSpPr>
            <p:spPr bwMode="auto">
              <a:xfrm>
                <a:off x="4621574" y="4384581"/>
                <a:ext cx="188308" cy="307333"/>
              </a:xfrm>
              <a:custGeom>
                <a:avLst/>
                <a:gdLst>
                  <a:gd name="T0" fmla="*/ 0 w 126"/>
                  <a:gd name="T1" fmla="*/ 94 h 177"/>
                  <a:gd name="T2" fmla="*/ 3 w 126"/>
                  <a:gd name="T3" fmla="*/ 75 h 177"/>
                  <a:gd name="T4" fmla="*/ 4 w 126"/>
                  <a:gd name="T5" fmla="*/ 75 h 177"/>
                  <a:gd name="T6" fmla="*/ 5 w 126"/>
                  <a:gd name="T7" fmla="*/ 82 h 177"/>
                  <a:gd name="T8" fmla="*/ 6 w 126"/>
                  <a:gd name="T9" fmla="*/ 75 h 177"/>
                  <a:gd name="T10" fmla="*/ 9 w 126"/>
                  <a:gd name="T11" fmla="*/ 55 h 177"/>
                  <a:gd name="T12" fmla="*/ 10 w 126"/>
                  <a:gd name="T13" fmla="*/ 33 h 177"/>
                  <a:gd name="T14" fmla="*/ 12 w 126"/>
                  <a:gd name="T15" fmla="*/ 22 h 177"/>
                  <a:gd name="T16" fmla="*/ 12 w 126"/>
                  <a:gd name="T17" fmla="*/ 15 h 177"/>
                  <a:gd name="T18" fmla="*/ 12 w 126"/>
                  <a:gd name="T19" fmla="*/ 0 h 177"/>
                  <a:gd name="T20" fmla="*/ 12 w 126"/>
                  <a:gd name="T21" fmla="*/ 15 h 177"/>
                  <a:gd name="T22" fmla="*/ 14 w 126"/>
                  <a:gd name="T23" fmla="*/ 41 h 177"/>
                  <a:gd name="T24" fmla="*/ 12 w 126"/>
                  <a:gd name="T25" fmla="*/ 41 h 177"/>
                  <a:gd name="T26" fmla="*/ 12 w 126"/>
                  <a:gd name="T27" fmla="*/ 49 h 177"/>
                  <a:gd name="T28" fmla="*/ 12 w 126"/>
                  <a:gd name="T29" fmla="*/ 55 h 177"/>
                  <a:gd name="T30" fmla="*/ 14 w 126"/>
                  <a:gd name="T31" fmla="*/ 68 h 177"/>
                  <a:gd name="T32" fmla="*/ 12 w 126"/>
                  <a:gd name="T33" fmla="*/ 89 h 177"/>
                  <a:gd name="T34" fmla="*/ 12 w 126"/>
                  <a:gd name="T35" fmla="*/ 94 h 177"/>
                  <a:gd name="T36" fmla="*/ 16 w 126"/>
                  <a:gd name="T37" fmla="*/ 117 h 177"/>
                  <a:gd name="T38" fmla="*/ 16 w 126"/>
                  <a:gd name="T39" fmla="*/ 134 h 177"/>
                  <a:gd name="T40" fmla="*/ 9 w 126"/>
                  <a:gd name="T41" fmla="*/ 127 h 177"/>
                  <a:gd name="T42" fmla="*/ 5 w 126"/>
                  <a:gd name="T43" fmla="*/ 127 h 177"/>
                  <a:gd name="T44" fmla="*/ 3 w 126"/>
                  <a:gd name="T45" fmla="*/ 127 h 177"/>
                  <a:gd name="T46" fmla="*/ 3 w 126"/>
                  <a:gd name="T47" fmla="*/ 117 h 177"/>
                  <a:gd name="T48" fmla="*/ 3 w 126"/>
                  <a:gd name="T49" fmla="*/ 109 h 177"/>
                  <a:gd name="T50" fmla="*/ 0 w 126"/>
                  <a:gd name="T51" fmla="*/ 104 h 177"/>
                  <a:gd name="T52" fmla="*/ 0 w 126"/>
                  <a:gd name="T53" fmla="*/ 94 h 17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6"/>
                  <a:gd name="T82" fmla="*/ 0 h 177"/>
                  <a:gd name="T83" fmla="*/ 126 w 126"/>
                  <a:gd name="T84" fmla="*/ 177 h 17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6" h="177">
                    <a:moveTo>
                      <a:pt x="0" y="122"/>
                    </a:moveTo>
                    <a:lnTo>
                      <a:pt x="25" y="99"/>
                    </a:lnTo>
                    <a:lnTo>
                      <a:pt x="33" y="99"/>
                    </a:lnTo>
                    <a:lnTo>
                      <a:pt x="41" y="106"/>
                    </a:lnTo>
                    <a:lnTo>
                      <a:pt x="50" y="99"/>
                    </a:lnTo>
                    <a:lnTo>
                      <a:pt x="75" y="69"/>
                    </a:lnTo>
                    <a:lnTo>
                      <a:pt x="83" y="45"/>
                    </a:lnTo>
                    <a:lnTo>
                      <a:pt x="91" y="22"/>
                    </a:lnTo>
                    <a:lnTo>
                      <a:pt x="91" y="15"/>
                    </a:lnTo>
                    <a:lnTo>
                      <a:pt x="91" y="0"/>
                    </a:lnTo>
                    <a:lnTo>
                      <a:pt x="91" y="15"/>
                    </a:lnTo>
                    <a:lnTo>
                      <a:pt x="117" y="53"/>
                    </a:lnTo>
                    <a:lnTo>
                      <a:pt x="91" y="53"/>
                    </a:lnTo>
                    <a:lnTo>
                      <a:pt x="91" y="61"/>
                    </a:lnTo>
                    <a:lnTo>
                      <a:pt x="100" y="69"/>
                    </a:lnTo>
                    <a:lnTo>
                      <a:pt x="117" y="92"/>
                    </a:lnTo>
                    <a:lnTo>
                      <a:pt x="91" y="115"/>
                    </a:lnTo>
                    <a:lnTo>
                      <a:pt x="100" y="122"/>
                    </a:lnTo>
                    <a:lnTo>
                      <a:pt x="125" y="153"/>
                    </a:lnTo>
                    <a:lnTo>
                      <a:pt x="125" y="176"/>
                    </a:lnTo>
                    <a:lnTo>
                      <a:pt x="75" y="167"/>
                    </a:lnTo>
                    <a:lnTo>
                      <a:pt x="41" y="167"/>
                    </a:lnTo>
                    <a:lnTo>
                      <a:pt x="25" y="167"/>
                    </a:lnTo>
                    <a:lnTo>
                      <a:pt x="25" y="153"/>
                    </a:lnTo>
                    <a:lnTo>
                      <a:pt x="16" y="145"/>
                    </a:lnTo>
                    <a:lnTo>
                      <a:pt x="0" y="137"/>
                    </a:lnTo>
                    <a:lnTo>
                      <a:pt x="0" y="1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4" name="Freeform 73"/>
              <p:cNvSpPr>
                <a:spLocks/>
              </p:cNvSpPr>
              <p:nvPr/>
            </p:nvSpPr>
            <p:spPr bwMode="auto">
              <a:xfrm>
                <a:off x="4484784" y="4373922"/>
                <a:ext cx="273580" cy="252262"/>
              </a:xfrm>
              <a:custGeom>
                <a:avLst/>
                <a:gdLst>
                  <a:gd name="T0" fmla="*/ 11 w 184"/>
                  <a:gd name="T1" fmla="*/ 92 h 146"/>
                  <a:gd name="T2" fmla="*/ 13 w 184"/>
                  <a:gd name="T3" fmla="*/ 77 h 146"/>
                  <a:gd name="T4" fmla="*/ 15 w 184"/>
                  <a:gd name="T5" fmla="*/ 77 h 146"/>
                  <a:gd name="T6" fmla="*/ 16 w 184"/>
                  <a:gd name="T7" fmla="*/ 82 h 146"/>
                  <a:gd name="T8" fmla="*/ 16 w 184"/>
                  <a:gd name="T9" fmla="*/ 77 h 146"/>
                  <a:gd name="T10" fmla="*/ 19 w 184"/>
                  <a:gd name="T11" fmla="*/ 53 h 146"/>
                  <a:gd name="T12" fmla="*/ 19 w 184"/>
                  <a:gd name="T13" fmla="*/ 41 h 146"/>
                  <a:gd name="T14" fmla="*/ 22 w 184"/>
                  <a:gd name="T15" fmla="*/ 18 h 146"/>
                  <a:gd name="T16" fmla="*/ 22 w 184"/>
                  <a:gd name="T17" fmla="*/ 18 h 146"/>
                  <a:gd name="T18" fmla="*/ 22 w 184"/>
                  <a:gd name="T19" fmla="*/ 7 h 146"/>
                  <a:gd name="T20" fmla="*/ 19 w 184"/>
                  <a:gd name="T21" fmla="*/ 0 h 146"/>
                  <a:gd name="T22" fmla="*/ 19 w 184"/>
                  <a:gd name="T23" fmla="*/ 0 h 146"/>
                  <a:gd name="T24" fmla="*/ 19 w 184"/>
                  <a:gd name="T25" fmla="*/ 7 h 146"/>
                  <a:gd name="T26" fmla="*/ 15 w 184"/>
                  <a:gd name="T27" fmla="*/ 7 h 146"/>
                  <a:gd name="T28" fmla="*/ 13 w 184"/>
                  <a:gd name="T29" fmla="*/ 18 h 146"/>
                  <a:gd name="T30" fmla="*/ 9 w 184"/>
                  <a:gd name="T31" fmla="*/ 7 h 146"/>
                  <a:gd name="T32" fmla="*/ 9 w 184"/>
                  <a:gd name="T33" fmla="*/ 7 h 146"/>
                  <a:gd name="T34" fmla="*/ 5 w 184"/>
                  <a:gd name="T35" fmla="*/ 0 h 146"/>
                  <a:gd name="T36" fmla="*/ 4 w 184"/>
                  <a:gd name="T37" fmla="*/ 0 h 146"/>
                  <a:gd name="T38" fmla="*/ 3 w 184"/>
                  <a:gd name="T39" fmla="*/ 18 h 146"/>
                  <a:gd name="T40" fmla="*/ 3 w 184"/>
                  <a:gd name="T41" fmla="*/ 18 h 146"/>
                  <a:gd name="T42" fmla="*/ 3 w 184"/>
                  <a:gd name="T43" fmla="*/ 41 h 146"/>
                  <a:gd name="T44" fmla="*/ 0 w 184"/>
                  <a:gd name="T45" fmla="*/ 60 h 146"/>
                  <a:gd name="T46" fmla="*/ 0 w 184"/>
                  <a:gd name="T47" fmla="*/ 82 h 146"/>
                  <a:gd name="T48" fmla="*/ 4 w 184"/>
                  <a:gd name="T49" fmla="*/ 82 h 146"/>
                  <a:gd name="T50" fmla="*/ 4 w 184"/>
                  <a:gd name="T51" fmla="*/ 87 h 146"/>
                  <a:gd name="T52" fmla="*/ 5 w 184"/>
                  <a:gd name="T53" fmla="*/ 104 h 146"/>
                  <a:gd name="T54" fmla="*/ 7 w 184"/>
                  <a:gd name="T55" fmla="*/ 104 h 146"/>
                  <a:gd name="T56" fmla="*/ 11 w 184"/>
                  <a:gd name="T57" fmla="*/ 104 h 146"/>
                  <a:gd name="T58" fmla="*/ 11 w 184"/>
                  <a:gd name="T59" fmla="*/ 92 h 1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84"/>
                  <a:gd name="T91" fmla="*/ 0 h 146"/>
                  <a:gd name="T92" fmla="*/ 184 w 184"/>
                  <a:gd name="T93" fmla="*/ 146 h 14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84" h="146">
                    <a:moveTo>
                      <a:pt x="92" y="129"/>
                    </a:moveTo>
                    <a:lnTo>
                      <a:pt x="117" y="107"/>
                    </a:lnTo>
                    <a:lnTo>
                      <a:pt x="125" y="107"/>
                    </a:lnTo>
                    <a:lnTo>
                      <a:pt x="133" y="114"/>
                    </a:lnTo>
                    <a:lnTo>
                      <a:pt x="142" y="107"/>
                    </a:lnTo>
                    <a:lnTo>
                      <a:pt x="167" y="76"/>
                    </a:lnTo>
                    <a:lnTo>
                      <a:pt x="175" y="53"/>
                    </a:lnTo>
                    <a:lnTo>
                      <a:pt x="183" y="30"/>
                    </a:lnTo>
                    <a:lnTo>
                      <a:pt x="183" y="23"/>
                    </a:lnTo>
                    <a:lnTo>
                      <a:pt x="183" y="7"/>
                    </a:lnTo>
                    <a:lnTo>
                      <a:pt x="175" y="0"/>
                    </a:lnTo>
                    <a:lnTo>
                      <a:pt x="167" y="0"/>
                    </a:lnTo>
                    <a:lnTo>
                      <a:pt x="159" y="7"/>
                    </a:lnTo>
                    <a:lnTo>
                      <a:pt x="125" y="7"/>
                    </a:lnTo>
                    <a:lnTo>
                      <a:pt x="108" y="23"/>
                    </a:lnTo>
                    <a:lnTo>
                      <a:pt x="83" y="7"/>
                    </a:lnTo>
                    <a:lnTo>
                      <a:pt x="75" y="7"/>
                    </a:lnTo>
                    <a:lnTo>
                      <a:pt x="42" y="0"/>
                    </a:lnTo>
                    <a:lnTo>
                      <a:pt x="33" y="0"/>
                    </a:lnTo>
                    <a:lnTo>
                      <a:pt x="16" y="23"/>
                    </a:lnTo>
                    <a:lnTo>
                      <a:pt x="16" y="30"/>
                    </a:lnTo>
                    <a:lnTo>
                      <a:pt x="16" y="53"/>
                    </a:lnTo>
                    <a:lnTo>
                      <a:pt x="0" y="84"/>
                    </a:lnTo>
                    <a:lnTo>
                      <a:pt x="0" y="114"/>
                    </a:lnTo>
                    <a:lnTo>
                      <a:pt x="33" y="114"/>
                    </a:lnTo>
                    <a:lnTo>
                      <a:pt x="33" y="122"/>
                    </a:lnTo>
                    <a:lnTo>
                      <a:pt x="42" y="145"/>
                    </a:lnTo>
                    <a:lnTo>
                      <a:pt x="58" y="145"/>
                    </a:lnTo>
                    <a:lnTo>
                      <a:pt x="92" y="145"/>
                    </a:lnTo>
                    <a:lnTo>
                      <a:pt x="92" y="12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5" name="Freeform 75"/>
              <p:cNvSpPr>
                <a:spLocks/>
              </p:cNvSpPr>
              <p:nvPr/>
            </p:nvSpPr>
            <p:spPr bwMode="auto">
              <a:xfrm>
                <a:off x="4433265" y="4121660"/>
                <a:ext cx="376616" cy="305556"/>
              </a:xfrm>
              <a:custGeom>
                <a:avLst/>
                <a:gdLst>
                  <a:gd name="T0" fmla="*/ 26 w 252"/>
                  <a:gd name="T1" fmla="*/ 109 h 176"/>
                  <a:gd name="T2" fmla="*/ 26 w 252"/>
                  <a:gd name="T3" fmla="*/ 103 h 176"/>
                  <a:gd name="T4" fmla="*/ 30 w 252"/>
                  <a:gd name="T5" fmla="*/ 74 h 176"/>
                  <a:gd name="T6" fmla="*/ 32 w 252"/>
                  <a:gd name="T7" fmla="*/ 33 h 176"/>
                  <a:gd name="T8" fmla="*/ 29 w 252"/>
                  <a:gd name="T9" fmla="*/ 22 h 176"/>
                  <a:gd name="T10" fmla="*/ 29 w 252"/>
                  <a:gd name="T11" fmla="*/ 7 h 176"/>
                  <a:gd name="T12" fmla="*/ 28 w 252"/>
                  <a:gd name="T13" fmla="*/ 0 h 176"/>
                  <a:gd name="T14" fmla="*/ 22 w 252"/>
                  <a:gd name="T15" fmla="*/ 0 h 176"/>
                  <a:gd name="T16" fmla="*/ 9 w 252"/>
                  <a:gd name="T17" fmla="*/ 49 h 176"/>
                  <a:gd name="T18" fmla="*/ 7 w 252"/>
                  <a:gd name="T19" fmla="*/ 49 h 176"/>
                  <a:gd name="T20" fmla="*/ 7 w 252"/>
                  <a:gd name="T21" fmla="*/ 83 h 176"/>
                  <a:gd name="T22" fmla="*/ 6 w 252"/>
                  <a:gd name="T23" fmla="*/ 93 h 176"/>
                  <a:gd name="T24" fmla="*/ 0 w 252"/>
                  <a:gd name="T25" fmla="*/ 98 h 176"/>
                  <a:gd name="T26" fmla="*/ 0 w 252"/>
                  <a:gd name="T27" fmla="*/ 109 h 176"/>
                  <a:gd name="T28" fmla="*/ 3 w 252"/>
                  <a:gd name="T29" fmla="*/ 128 h 176"/>
                  <a:gd name="T30" fmla="*/ 3 w 252"/>
                  <a:gd name="T31" fmla="*/ 128 h 176"/>
                  <a:gd name="T32" fmla="*/ 3 w 252"/>
                  <a:gd name="T33" fmla="*/ 133 h 176"/>
                  <a:gd name="T34" fmla="*/ 3 w 252"/>
                  <a:gd name="T35" fmla="*/ 128 h 176"/>
                  <a:gd name="T36" fmla="*/ 4 w 252"/>
                  <a:gd name="T37" fmla="*/ 128 h 176"/>
                  <a:gd name="T38" fmla="*/ 6 w 252"/>
                  <a:gd name="T39" fmla="*/ 133 h 176"/>
                  <a:gd name="T40" fmla="*/ 6 w 252"/>
                  <a:gd name="T41" fmla="*/ 128 h 176"/>
                  <a:gd name="T42" fmla="*/ 8 w 252"/>
                  <a:gd name="T43" fmla="*/ 109 h 176"/>
                  <a:gd name="T44" fmla="*/ 9 w 252"/>
                  <a:gd name="T45" fmla="*/ 109 h 176"/>
                  <a:gd name="T46" fmla="*/ 14 w 252"/>
                  <a:gd name="T47" fmla="*/ 116 h 176"/>
                  <a:gd name="T48" fmla="*/ 14 w 252"/>
                  <a:gd name="T49" fmla="*/ 116 h 176"/>
                  <a:gd name="T50" fmla="*/ 17 w 252"/>
                  <a:gd name="T51" fmla="*/ 128 h 176"/>
                  <a:gd name="T52" fmla="*/ 20 w 252"/>
                  <a:gd name="T53" fmla="*/ 116 h 176"/>
                  <a:gd name="T54" fmla="*/ 24 w 252"/>
                  <a:gd name="T55" fmla="*/ 116 h 176"/>
                  <a:gd name="T56" fmla="*/ 24 w 252"/>
                  <a:gd name="T57" fmla="*/ 109 h 176"/>
                  <a:gd name="T58" fmla="*/ 26 w 252"/>
                  <a:gd name="T59" fmla="*/ 109 h 17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52"/>
                  <a:gd name="T91" fmla="*/ 0 h 176"/>
                  <a:gd name="T92" fmla="*/ 252 w 252"/>
                  <a:gd name="T93" fmla="*/ 176 h 17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52" h="176">
                    <a:moveTo>
                      <a:pt x="209" y="145"/>
                    </a:moveTo>
                    <a:lnTo>
                      <a:pt x="209" y="137"/>
                    </a:lnTo>
                    <a:lnTo>
                      <a:pt x="243" y="98"/>
                    </a:lnTo>
                    <a:lnTo>
                      <a:pt x="251" y="45"/>
                    </a:lnTo>
                    <a:lnTo>
                      <a:pt x="226" y="23"/>
                    </a:lnTo>
                    <a:lnTo>
                      <a:pt x="226" y="7"/>
                    </a:lnTo>
                    <a:lnTo>
                      <a:pt x="217" y="0"/>
                    </a:lnTo>
                    <a:lnTo>
                      <a:pt x="176" y="0"/>
                    </a:lnTo>
                    <a:lnTo>
                      <a:pt x="76" y="61"/>
                    </a:lnTo>
                    <a:lnTo>
                      <a:pt x="59" y="61"/>
                    </a:lnTo>
                    <a:lnTo>
                      <a:pt x="59" y="107"/>
                    </a:lnTo>
                    <a:lnTo>
                      <a:pt x="50" y="122"/>
                    </a:lnTo>
                    <a:lnTo>
                      <a:pt x="0" y="129"/>
                    </a:lnTo>
                    <a:lnTo>
                      <a:pt x="0" y="145"/>
                    </a:lnTo>
                    <a:lnTo>
                      <a:pt x="17" y="168"/>
                    </a:lnTo>
                    <a:lnTo>
                      <a:pt x="26" y="168"/>
                    </a:lnTo>
                    <a:lnTo>
                      <a:pt x="26" y="175"/>
                    </a:lnTo>
                    <a:lnTo>
                      <a:pt x="26" y="168"/>
                    </a:lnTo>
                    <a:lnTo>
                      <a:pt x="34" y="168"/>
                    </a:lnTo>
                    <a:lnTo>
                      <a:pt x="50" y="175"/>
                    </a:lnTo>
                    <a:lnTo>
                      <a:pt x="50" y="168"/>
                    </a:lnTo>
                    <a:lnTo>
                      <a:pt x="67" y="145"/>
                    </a:lnTo>
                    <a:lnTo>
                      <a:pt x="76" y="145"/>
                    </a:lnTo>
                    <a:lnTo>
                      <a:pt x="109" y="152"/>
                    </a:lnTo>
                    <a:lnTo>
                      <a:pt x="117" y="152"/>
                    </a:lnTo>
                    <a:lnTo>
                      <a:pt x="142" y="168"/>
                    </a:lnTo>
                    <a:lnTo>
                      <a:pt x="159" y="152"/>
                    </a:lnTo>
                    <a:lnTo>
                      <a:pt x="193" y="152"/>
                    </a:lnTo>
                    <a:lnTo>
                      <a:pt x="201" y="145"/>
                    </a:lnTo>
                    <a:lnTo>
                      <a:pt x="209" y="14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6" name="Freeform 77"/>
              <p:cNvSpPr>
                <a:spLocks/>
              </p:cNvSpPr>
              <p:nvPr/>
            </p:nvSpPr>
            <p:spPr bwMode="auto">
              <a:xfrm>
                <a:off x="4745928" y="4121660"/>
                <a:ext cx="239827" cy="426358"/>
              </a:xfrm>
              <a:custGeom>
                <a:avLst/>
                <a:gdLst>
                  <a:gd name="T0" fmla="*/ 3 w 161"/>
                  <a:gd name="T1" fmla="*/ 8 h 246"/>
                  <a:gd name="T2" fmla="*/ 3 w 161"/>
                  <a:gd name="T3" fmla="*/ 20 h 246"/>
                  <a:gd name="T4" fmla="*/ 5 w 161"/>
                  <a:gd name="T5" fmla="*/ 34 h 246"/>
                  <a:gd name="T6" fmla="*/ 4 w 161"/>
                  <a:gd name="T7" fmla="*/ 75 h 246"/>
                  <a:gd name="T8" fmla="*/ 0 w 161"/>
                  <a:gd name="T9" fmla="*/ 101 h 246"/>
                  <a:gd name="T10" fmla="*/ 0 w 161"/>
                  <a:gd name="T11" fmla="*/ 108 h 246"/>
                  <a:gd name="T12" fmla="*/ 3 w 161"/>
                  <a:gd name="T13" fmla="*/ 114 h 246"/>
                  <a:gd name="T14" fmla="*/ 3 w 161"/>
                  <a:gd name="T15" fmla="*/ 125 h 246"/>
                  <a:gd name="T16" fmla="*/ 4 w 161"/>
                  <a:gd name="T17" fmla="*/ 153 h 246"/>
                  <a:gd name="T18" fmla="*/ 3 w 161"/>
                  <a:gd name="T19" fmla="*/ 153 h 246"/>
                  <a:gd name="T20" fmla="*/ 3 w 161"/>
                  <a:gd name="T21" fmla="*/ 160 h 246"/>
                  <a:gd name="T22" fmla="*/ 3 w 161"/>
                  <a:gd name="T23" fmla="*/ 166 h 246"/>
                  <a:gd name="T24" fmla="*/ 4 w 161"/>
                  <a:gd name="T25" fmla="*/ 181 h 246"/>
                  <a:gd name="T26" fmla="*/ 9 w 161"/>
                  <a:gd name="T27" fmla="*/ 171 h 246"/>
                  <a:gd name="T28" fmla="*/ 11 w 161"/>
                  <a:gd name="T29" fmla="*/ 166 h 246"/>
                  <a:gd name="T30" fmla="*/ 9 w 161"/>
                  <a:gd name="T31" fmla="*/ 166 h 246"/>
                  <a:gd name="T32" fmla="*/ 13 w 161"/>
                  <a:gd name="T33" fmla="*/ 160 h 246"/>
                  <a:gd name="T34" fmla="*/ 15 w 161"/>
                  <a:gd name="T35" fmla="*/ 147 h 246"/>
                  <a:gd name="T36" fmla="*/ 17 w 161"/>
                  <a:gd name="T37" fmla="*/ 137 h 246"/>
                  <a:gd name="T38" fmla="*/ 18 w 161"/>
                  <a:gd name="T39" fmla="*/ 137 h 246"/>
                  <a:gd name="T40" fmla="*/ 15 w 161"/>
                  <a:gd name="T41" fmla="*/ 114 h 246"/>
                  <a:gd name="T42" fmla="*/ 18 w 161"/>
                  <a:gd name="T43" fmla="*/ 92 h 246"/>
                  <a:gd name="T44" fmla="*/ 19 w 161"/>
                  <a:gd name="T45" fmla="*/ 92 h 246"/>
                  <a:gd name="T46" fmla="*/ 19 w 161"/>
                  <a:gd name="T47" fmla="*/ 81 h 246"/>
                  <a:gd name="T48" fmla="*/ 19 w 161"/>
                  <a:gd name="T49" fmla="*/ 49 h 246"/>
                  <a:gd name="T50" fmla="*/ 5 w 161"/>
                  <a:gd name="T51" fmla="*/ 0 h 246"/>
                  <a:gd name="T52" fmla="*/ 3 w 161"/>
                  <a:gd name="T53" fmla="*/ 8 h 2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61"/>
                  <a:gd name="T82" fmla="*/ 0 h 246"/>
                  <a:gd name="T83" fmla="*/ 161 w 161"/>
                  <a:gd name="T84" fmla="*/ 246 h 24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61" h="246">
                    <a:moveTo>
                      <a:pt x="18" y="8"/>
                    </a:moveTo>
                    <a:lnTo>
                      <a:pt x="18" y="23"/>
                    </a:lnTo>
                    <a:lnTo>
                      <a:pt x="42" y="46"/>
                    </a:lnTo>
                    <a:lnTo>
                      <a:pt x="34" y="99"/>
                    </a:lnTo>
                    <a:lnTo>
                      <a:pt x="0" y="137"/>
                    </a:lnTo>
                    <a:lnTo>
                      <a:pt x="0" y="145"/>
                    </a:lnTo>
                    <a:lnTo>
                      <a:pt x="9" y="153"/>
                    </a:lnTo>
                    <a:lnTo>
                      <a:pt x="9" y="168"/>
                    </a:lnTo>
                    <a:lnTo>
                      <a:pt x="34" y="206"/>
                    </a:lnTo>
                    <a:lnTo>
                      <a:pt x="9" y="206"/>
                    </a:lnTo>
                    <a:lnTo>
                      <a:pt x="9" y="214"/>
                    </a:lnTo>
                    <a:lnTo>
                      <a:pt x="18" y="222"/>
                    </a:lnTo>
                    <a:lnTo>
                      <a:pt x="34" y="245"/>
                    </a:lnTo>
                    <a:lnTo>
                      <a:pt x="76" y="229"/>
                    </a:lnTo>
                    <a:lnTo>
                      <a:pt x="92" y="222"/>
                    </a:lnTo>
                    <a:lnTo>
                      <a:pt x="76" y="222"/>
                    </a:lnTo>
                    <a:lnTo>
                      <a:pt x="109" y="214"/>
                    </a:lnTo>
                    <a:lnTo>
                      <a:pt x="126" y="198"/>
                    </a:lnTo>
                    <a:lnTo>
                      <a:pt x="143" y="184"/>
                    </a:lnTo>
                    <a:lnTo>
                      <a:pt x="151" y="184"/>
                    </a:lnTo>
                    <a:lnTo>
                      <a:pt x="126" y="153"/>
                    </a:lnTo>
                    <a:lnTo>
                      <a:pt x="151" y="123"/>
                    </a:lnTo>
                    <a:lnTo>
                      <a:pt x="160" y="123"/>
                    </a:lnTo>
                    <a:lnTo>
                      <a:pt x="160" y="107"/>
                    </a:lnTo>
                    <a:lnTo>
                      <a:pt x="160" y="61"/>
                    </a:lnTo>
                    <a:lnTo>
                      <a:pt x="42" y="0"/>
                    </a:lnTo>
                    <a:lnTo>
                      <a:pt x="18"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7" name="Freeform 79"/>
              <p:cNvSpPr>
                <a:spLocks/>
              </p:cNvSpPr>
              <p:nvPr/>
            </p:nvSpPr>
            <p:spPr bwMode="auto">
              <a:xfrm>
                <a:off x="4756587" y="4437875"/>
                <a:ext cx="316216" cy="216732"/>
              </a:xfrm>
              <a:custGeom>
                <a:avLst/>
                <a:gdLst>
                  <a:gd name="T0" fmla="*/ 17 w 211"/>
                  <a:gd name="T1" fmla="*/ 0 h 124"/>
                  <a:gd name="T2" fmla="*/ 20 w 211"/>
                  <a:gd name="T3" fmla="*/ 23 h 124"/>
                  <a:gd name="T4" fmla="*/ 20 w 211"/>
                  <a:gd name="T5" fmla="*/ 31 h 124"/>
                  <a:gd name="T6" fmla="*/ 21 w 211"/>
                  <a:gd name="T7" fmla="*/ 34 h 124"/>
                  <a:gd name="T8" fmla="*/ 27 w 211"/>
                  <a:gd name="T9" fmla="*/ 80 h 124"/>
                  <a:gd name="T10" fmla="*/ 18 w 211"/>
                  <a:gd name="T11" fmla="*/ 80 h 124"/>
                  <a:gd name="T12" fmla="*/ 17 w 211"/>
                  <a:gd name="T13" fmla="*/ 88 h 124"/>
                  <a:gd name="T14" fmla="*/ 13 w 211"/>
                  <a:gd name="T15" fmla="*/ 88 h 124"/>
                  <a:gd name="T16" fmla="*/ 12 w 211"/>
                  <a:gd name="T17" fmla="*/ 80 h 124"/>
                  <a:gd name="T18" fmla="*/ 11 w 211"/>
                  <a:gd name="T19" fmla="*/ 80 h 124"/>
                  <a:gd name="T20" fmla="*/ 8 w 211"/>
                  <a:gd name="T21" fmla="*/ 92 h 124"/>
                  <a:gd name="T22" fmla="*/ 6 w 211"/>
                  <a:gd name="T23" fmla="*/ 99 h 124"/>
                  <a:gd name="T24" fmla="*/ 4 w 211"/>
                  <a:gd name="T25" fmla="*/ 99 h 124"/>
                  <a:gd name="T26" fmla="*/ 3 w 211"/>
                  <a:gd name="T27" fmla="*/ 80 h 124"/>
                  <a:gd name="T28" fmla="*/ 0 w 211"/>
                  <a:gd name="T29" fmla="*/ 73 h 124"/>
                  <a:gd name="T30" fmla="*/ 3 w 211"/>
                  <a:gd name="T31" fmla="*/ 49 h 124"/>
                  <a:gd name="T32" fmla="*/ 8 w 211"/>
                  <a:gd name="T33" fmla="*/ 34 h 124"/>
                  <a:gd name="T34" fmla="*/ 11 w 211"/>
                  <a:gd name="T35" fmla="*/ 31 h 124"/>
                  <a:gd name="T36" fmla="*/ 8 w 211"/>
                  <a:gd name="T37" fmla="*/ 31 h 124"/>
                  <a:gd name="T38" fmla="*/ 13 w 211"/>
                  <a:gd name="T39" fmla="*/ 30 h 124"/>
                  <a:gd name="T40" fmla="*/ 15 w 211"/>
                  <a:gd name="T41" fmla="*/ 15 h 124"/>
                  <a:gd name="T42" fmla="*/ 17 w 211"/>
                  <a:gd name="T43" fmla="*/ 0 h 1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11"/>
                  <a:gd name="T67" fmla="*/ 0 h 124"/>
                  <a:gd name="T68" fmla="*/ 211 w 211"/>
                  <a:gd name="T69" fmla="*/ 124 h 1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11" h="124">
                    <a:moveTo>
                      <a:pt x="134" y="0"/>
                    </a:moveTo>
                    <a:lnTo>
                      <a:pt x="151" y="23"/>
                    </a:lnTo>
                    <a:lnTo>
                      <a:pt x="151" y="38"/>
                    </a:lnTo>
                    <a:lnTo>
                      <a:pt x="168" y="46"/>
                    </a:lnTo>
                    <a:lnTo>
                      <a:pt x="210" y="92"/>
                    </a:lnTo>
                    <a:lnTo>
                      <a:pt x="142" y="92"/>
                    </a:lnTo>
                    <a:lnTo>
                      <a:pt x="134" y="107"/>
                    </a:lnTo>
                    <a:lnTo>
                      <a:pt x="100" y="107"/>
                    </a:lnTo>
                    <a:lnTo>
                      <a:pt x="92" y="92"/>
                    </a:lnTo>
                    <a:lnTo>
                      <a:pt x="84" y="92"/>
                    </a:lnTo>
                    <a:lnTo>
                      <a:pt x="68" y="115"/>
                    </a:lnTo>
                    <a:lnTo>
                      <a:pt x="42" y="123"/>
                    </a:lnTo>
                    <a:lnTo>
                      <a:pt x="34" y="123"/>
                    </a:lnTo>
                    <a:lnTo>
                      <a:pt x="9" y="92"/>
                    </a:lnTo>
                    <a:lnTo>
                      <a:pt x="0" y="85"/>
                    </a:lnTo>
                    <a:lnTo>
                      <a:pt x="26" y="61"/>
                    </a:lnTo>
                    <a:lnTo>
                      <a:pt x="68" y="46"/>
                    </a:lnTo>
                    <a:lnTo>
                      <a:pt x="84" y="38"/>
                    </a:lnTo>
                    <a:lnTo>
                      <a:pt x="68" y="38"/>
                    </a:lnTo>
                    <a:lnTo>
                      <a:pt x="100" y="30"/>
                    </a:lnTo>
                    <a:lnTo>
                      <a:pt x="118" y="15"/>
                    </a:lnTo>
                    <a:lnTo>
                      <a:pt x="134"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8" name="Freeform 81"/>
              <p:cNvSpPr>
                <a:spLocks/>
              </p:cNvSpPr>
              <p:nvPr/>
            </p:nvSpPr>
            <p:spPr bwMode="auto">
              <a:xfrm>
                <a:off x="5220252" y="4624407"/>
                <a:ext cx="198967" cy="227391"/>
              </a:xfrm>
              <a:custGeom>
                <a:avLst/>
                <a:gdLst>
                  <a:gd name="T0" fmla="*/ 16 w 134"/>
                  <a:gd name="T1" fmla="*/ 8 h 131"/>
                  <a:gd name="T2" fmla="*/ 13 w 134"/>
                  <a:gd name="T3" fmla="*/ 0 h 131"/>
                  <a:gd name="T4" fmla="*/ 9 w 134"/>
                  <a:gd name="T5" fmla="*/ 8 h 131"/>
                  <a:gd name="T6" fmla="*/ 4 w 134"/>
                  <a:gd name="T7" fmla="*/ 0 h 131"/>
                  <a:gd name="T8" fmla="*/ 3 w 134"/>
                  <a:gd name="T9" fmla="*/ 0 h 131"/>
                  <a:gd name="T10" fmla="*/ 0 w 134"/>
                  <a:gd name="T11" fmla="*/ 0 h 131"/>
                  <a:gd name="T12" fmla="*/ 3 w 134"/>
                  <a:gd name="T13" fmla="*/ 8 h 131"/>
                  <a:gd name="T14" fmla="*/ 3 w 134"/>
                  <a:gd name="T15" fmla="*/ 27 h 131"/>
                  <a:gd name="T16" fmla="*/ 0 w 134"/>
                  <a:gd name="T17" fmla="*/ 50 h 131"/>
                  <a:gd name="T18" fmla="*/ 0 w 134"/>
                  <a:gd name="T19" fmla="*/ 59 h 131"/>
                  <a:gd name="T20" fmla="*/ 3 w 134"/>
                  <a:gd name="T21" fmla="*/ 59 h 131"/>
                  <a:gd name="T22" fmla="*/ 7 w 134"/>
                  <a:gd name="T23" fmla="*/ 76 h 131"/>
                  <a:gd name="T24" fmla="*/ 7 w 134"/>
                  <a:gd name="T25" fmla="*/ 94 h 131"/>
                  <a:gd name="T26" fmla="*/ 11 w 134"/>
                  <a:gd name="T27" fmla="*/ 99 h 131"/>
                  <a:gd name="T28" fmla="*/ 11 w 134"/>
                  <a:gd name="T29" fmla="*/ 76 h 131"/>
                  <a:gd name="T30" fmla="*/ 13 w 134"/>
                  <a:gd name="T31" fmla="*/ 76 h 131"/>
                  <a:gd name="T32" fmla="*/ 15 w 134"/>
                  <a:gd name="T33" fmla="*/ 62 h 131"/>
                  <a:gd name="T34" fmla="*/ 13 w 134"/>
                  <a:gd name="T35" fmla="*/ 59 h 131"/>
                  <a:gd name="T36" fmla="*/ 13 w 134"/>
                  <a:gd name="T37" fmla="*/ 21 h 131"/>
                  <a:gd name="T38" fmla="*/ 16 w 134"/>
                  <a:gd name="T39" fmla="*/ 8 h 13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4"/>
                  <a:gd name="T61" fmla="*/ 0 h 131"/>
                  <a:gd name="T62" fmla="*/ 134 w 134"/>
                  <a:gd name="T63" fmla="*/ 131 h 13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4" h="131">
                    <a:moveTo>
                      <a:pt x="133" y="8"/>
                    </a:moveTo>
                    <a:lnTo>
                      <a:pt x="108" y="0"/>
                    </a:lnTo>
                    <a:lnTo>
                      <a:pt x="82" y="8"/>
                    </a:lnTo>
                    <a:lnTo>
                      <a:pt x="32" y="0"/>
                    </a:lnTo>
                    <a:lnTo>
                      <a:pt x="8" y="0"/>
                    </a:lnTo>
                    <a:lnTo>
                      <a:pt x="0" y="0"/>
                    </a:lnTo>
                    <a:lnTo>
                      <a:pt x="8" y="8"/>
                    </a:lnTo>
                    <a:lnTo>
                      <a:pt x="24" y="39"/>
                    </a:lnTo>
                    <a:lnTo>
                      <a:pt x="0" y="62"/>
                    </a:lnTo>
                    <a:lnTo>
                      <a:pt x="0" y="77"/>
                    </a:lnTo>
                    <a:lnTo>
                      <a:pt x="8" y="77"/>
                    </a:lnTo>
                    <a:lnTo>
                      <a:pt x="58" y="100"/>
                    </a:lnTo>
                    <a:lnTo>
                      <a:pt x="58" y="123"/>
                    </a:lnTo>
                    <a:lnTo>
                      <a:pt x="92" y="130"/>
                    </a:lnTo>
                    <a:lnTo>
                      <a:pt x="100" y="100"/>
                    </a:lnTo>
                    <a:lnTo>
                      <a:pt x="108" y="100"/>
                    </a:lnTo>
                    <a:lnTo>
                      <a:pt x="124" y="84"/>
                    </a:lnTo>
                    <a:lnTo>
                      <a:pt x="108" y="77"/>
                    </a:lnTo>
                    <a:lnTo>
                      <a:pt x="108" y="30"/>
                    </a:lnTo>
                    <a:lnTo>
                      <a:pt x="133"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69" name="Freeform 82"/>
              <p:cNvSpPr>
                <a:spLocks/>
              </p:cNvSpPr>
              <p:nvPr/>
            </p:nvSpPr>
            <p:spPr bwMode="auto">
              <a:xfrm>
                <a:off x="5118992" y="4624407"/>
                <a:ext cx="140343" cy="147449"/>
              </a:xfrm>
              <a:custGeom>
                <a:avLst/>
                <a:gdLst>
                  <a:gd name="T0" fmla="*/ 9 w 93"/>
                  <a:gd name="T1" fmla="*/ 0 h 85"/>
                  <a:gd name="T2" fmla="*/ 10 w 93"/>
                  <a:gd name="T3" fmla="*/ 7 h 85"/>
                  <a:gd name="T4" fmla="*/ 13 w 93"/>
                  <a:gd name="T5" fmla="*/ 26 h 85"/>
                  <a:gd name="T6" fmla="*/ 9 w 93"/>
                  <a:gd name="T7" fmla="*/ 49 h 85"/>
                  <a:gd name="T8" fmla="*/ 9 w 93"/>
                  <a:gd name="T9" fmla="*/ 58 h 85"/>
                  <a:gd name="T10" fmla="*/ 4 w 93"/>
                  <a:gd name="T11" fmla="*/ 58 h 85"/>
                  <a:gd name="T12" fmla="*/ 3 w 93"/>
                  <a:gd name="T13" fmla="*/ 58 h 85"/>
                  <a:gd name="T14" fmla="*/ 0 w 93"/>
                  <a:gd name="T15" fmla="*/ 61 h 85"/>
                  <a:gd name="T16" fmla="*/ 3 w 93"/>
                  <a:gd name="T17" fmla="*/ 42 h 85"/>
                  <a:gd name="T18" fmla="*/ 3 w 93"/>
                  <a:gd name="T19" fmla="*/ 34 h 85"/>
                  <a:gd name="T20" fmla="*/ 3 w 93"/>
                  <a:gd name="T21" fmla="*/ 21 h 85"/>
                  <a:gd name="T22" fmla="*/ 3 w 93"/>
                  <a:gd name="T23" fmla="*/ 21 h 85"/>
                  <a:gd name="T24" fmla="*/ 3 w 93"/>
                  <a:gd name="T25" fmla="*/ 7 h 85"/>
                  <a:gd name="T26" fmla="*/ 4 w 93"/>
                  <a:gd name="T27" fmla="*/ 7 h 85"/>
                  <a:gd name="T28" fmla="*/ 9 w 93"/>
                  <a:gd name="T29" fmla="*/ 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3"/>
                  <a:gd name="T46" fmla="*/ 0 h 85"/>
                  <a:gd name="T47" fmla="*/ 93 w 93"/>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3" h="85">
                    <a:moveTo>
                      <a:pt x="67" y="0"/>
                    </a:moveTo>
                    <a:lnTo>
                      <a:pt x="75" y="7"/>
                    </a:lnTo>
                    <a:lnTo>
                      <a:pt x="92" y="38"/>
                    </a:lnTo>
                    <a:lnTo>
                      <a:pt x="67" y="61"/>
                    </a:lnTo>
                    <a:lnTo>
                      <a:pt x="67" y="77"/>
                    </a:lnTo>
                    <a:lnTo>
                      <a:pt x="33" y="77"/>
                    </a:lnTo>
                    <a:lnTo>
                      <a:pt x="17" y="77"/>
                    </a:lnTo>
                    <a:lnTo>
                      <a:pt x="0" y="84"/>
                    </a:lnTo>
                    <a:lnTo>
                      <a:pt x="9" y="54"/>
                    </a:lnTo>
                    <a:lnTo>
                      <a:pt x="17" y="46"/>
                    </a:lnTo>
                    <a:lnTo>
                      <a:pt x="25" y="30"/>
                    </a:lnTo>
                    <a:lnTo>
                      <a:pt x="17" y="30"/>
                    </a:lnTo>
                    <a:lnTo>
                      <a:pt x="17" y="7"/>
                    </a:lnTo>
                    <a:lnTo>
                      <a:pt x="33" y="7"/>
                    </a:lnTo>
                    <a:lnTo>
                      <a:pt x="67"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0" name="Freeform 84"/>
              <p:cNvSpPr>
                <a:spLocks/>
              </p:cNvSpPr>
              <p:nvPr/>
            </p:nvSpPr>
            <p:spPr bwMode="auto">
              <a:xfrm>
                <a:off x="5118992" y="4757644"/>
                <a:ext cx="252262" cy="266474"/>
              </a:xfrm>
              <a:custGeom>
                <a:avLst/>
                <a:gdLst>
                  <a:gd name="T0" fmla="*/ 7 w 169"/>
                  <a:gd name="T1" fmla="*/ 104 h 153"/>
                  <a:gd name="T2" fmla="*/ 3 w 169"/>
                  <a:gd name="T3" fmla="*/ 82 h 153"/>
                  <a:gd name="T4" fmla="*/ 3 w 169"/>
                  <a:gd name="T5" fmla="*/ 82 h 153"/>
                  <a:gd name="T6" fmla="*/ 0 w 169"/>
                  <a:gd name="T7" fmla="*/ 67 h 153"/>
                  <a:gd name="T8" fmla="*/ 0 w 169"/>
                  <a:gd name="T9" fmla="*/ 40 h 153"/>
                  <a:gd name="T10" fmla="*/ 3 w 169"/>
                  <a:gd name="T11" fmla="*/ 25 h 153"/>
                  <a:gd name="T12" fmla="*/ 3 w 169"/>
                  <a:gd name="T13" fmla="*/ 22 h 153"/>
                  <a:gd name="T14" fmla="*/ 3 w 169"/>
                  <a:gd name="T15" fmla="*/ 14 h 153"/>
                  <a:gd name="T16" fmla="*/ 3 w 169"/>
                  <a:gd name="T17" fmla="*/ 0 h 153"/>
                  <a:gd name="T18" fmla="*/ 4 w 169"/>
                  <a:gd name="T19" fmla="*/ 0 h 153"/>
                  <a:gd name="T20" fmla="*/ 8 w 169"/>
                  <a:gd name="T21" fmla="*/ 0 h 153"/>
                  <a:gd name="T22" fmla="*/ 9 w 169"/>
                  <a:gd name="T23" fmla="*/ 0 h 153"/>
                  <a:gd name="T24" fmla="*/ 16 w 169"/>
                  <a:gd name="T25" fmla="*/ 22 h 153"/>
                  <a:gd name="T26" fmla="*/ 16 w 169"/>
                  <a:gd name="T27" fmla="*/ 33 h 153"/>
                  <a:gd name="T28" fmla="*/ 20 w 169"/>
                  <a:gd name="T29" fmla="*/ 40 h 153"/>
                  <a:gd name="T30" fmla="*/ 19 w 169"/>
                  <a:gd name="T31" fmla="*/ 56 h 153"/>
                  <a:gd name="T32" fmla="*/ 20 w 169"/>
                  <a:gd name="T33" fmla="*/ 71 h 153"/>
                  <a:gd name="T34" fmla="*/ 20 w 169"/>
                  <a:gd name="T35" fmla="*/ 90 h 153"/>
                  <a:gd name="T36" fmla="*/ 20 w 169"/>
                  <a:gd name="T37" fmla="*/ 104 h 153"/>
                  <a:gd name="T38" fmla="*/ 20 w 169"/>
                  <a:gd name="T39" fmla="*/ 109 h 153"/>
                  <a:gd name="T40" fmla="*/ 19 w 169"/>
                  <a:gd name="T41" fmla="*/ 119 h 153"/>
                  <a:gd name="T42" fmla="*/ 14 w 169"/>
                  <a:gd name="T43" fmla="*/ 119 h 153"/>
                  <a:gd name="T44" fmla="*/ 12 w 169"/>
                  <a:gd name="T45" fmla="*/ 119 h 153"/>
                  <a:gd name="T46" fmla="*/ 9 w 169"/>
                  <a:gd name="T47" fmla="*/ 104 h 153"/>
                  <a:gd name="T48" fmla="*/ 8 w 169"/>
                  <a:gd name="T49" fmla="*/ 104 h 153"/>
                  <a:gd name="T50" fmla="*/ 7 w 169"/>
                  <a:gd name="T51" fmla="*/ 104 h 15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9"/>
                  <a:gd name="T79" fmla="*/ 0 h 153"/>
                  <a:gd name="T80" fmla="*/ 169 w 169"/>
                  <a:gd name="T81" fmla="*/ 153 h 15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9" h="153">
                    <a:moveTo>
                      <a:pt x="59" y="129"/>
                    </a:moveTo>
                    <a:lnTo>
                      <a:pt x="26" y="106"/>
                    </a:lnTo>
                    <a:lnTo>
                      <a:pt x="17" y="106"/>
                    </a:lnTo>
                    <a:lnTo>
                      <a:pt x="0" y="83"/>
                    </a:lnTo>
                    <a:lnTo>
                      <a:pt x="0" y="52"/>
                    </a:lnTo>
                    <a:lnTo>
                      <a:pt x="17" y="30"/>
                    </a:lnTo>
                    <a:lnTo>
                      <a:pt x="17" y="22"/>
                    </a:lnTo>
                    <a:lnTo>
                      <a:pt x="17" y="14"/>
                    </a:lnTo>
                    <a:lnTo>
                      <a:pt x="17" y="0"/>
                    </a:lnTo>
                    <a:lnTo>
                      <a:pt x="34" y="0"/>
                    </a:lnTo>
                    <a:lnTo>
                      <a:pt x="68" y="0"/>
                    </a:lnTo>
                    <a:lnTo>
                      <a:pt x="76" y="0"/>
                    </a:lnTo>
                    <a:lnTo>
                      <a:pt x="126" y="22"/>
                    </a:lnTo>
                    <a:lnTo>
                      <a:pt x="126" y="45"/>
                    </a:lnTo>
                    <a:lnTo>
                      <a:pt x="160" y="52"/>
                    </a:lnTo>
                    <a:lnTo>
                      <a:pt x="150" y="68"/>
                    </a:lnTo>
                    <a:lnTo>
                      <a:pt x="160" y="91"/>
                    </a:lnTo>
                    <a:lnTo>
                      <a:pt x="160" y="114"/>
                    </a:lnTo>
                    <a:lnTo>
                      <a:pt x="160" y="129"/>
                    </a:lnTo>
                    <a:lnTo>
                      <a:pt x="168" y="137"/>
                    </a:lnTo>
                    <a:lnTo>
                      <a:pt x="150" y="152"/>
                    </a:lnTo>
                    <a:lnTo>
                      <a:pt x="109" y="152"/>
                    </a:lnTo>
                    <a:lnTo>
                      <a:pt x="92" y="152"/>
                    </a:lnTo>
                    <a:lnTo>
                      <a:pt x="76" y="129"/>
                    </a:lnTo>
                    <a:lnTo>
                      <a:pt x="68" y="129"/>
                    </a:lnTo>
                    <a:lnTo>
                      <a:pt x="59" y="12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1" name="Freeform 85"/>
              <p:cNvSpPr>
                <a:spLocks/>
              </p:cNvSpPr>
              <p:nvPr/>
            </p:nvSpPr>
            <p:spPr bwMode="auto">
              <a:xfrm>
                <a:off x="4721057" y="4599536"/>
                <a:ext cx="437017" cy="477876"/>
              </a:xfrm>
              <a:custGeom>
                <a:avLst/>
                <a:gdLst>
                  <a:gd name="T0" fmla="*/ 29 w 293"/>
                  <a:gd name="T1" fmla="*/ 0 h 276"/>
                  <a:gd name="T2" fmla="*/ 20 w 293"/>
                  <a:gd name="T3" fmla="*/ 0 h 276"/>
                  <a:gd name="T4" fmla="*/ 20 w 293"/>
                  <a:gd name="T5" fmla="*/ 15 h 276"/>
                  <a:gd name="T6" fmla="*/ 15 w 293"/>
                  <a:gd name="T7" fmla="*/ 15 h 276"/>
                  <a:gd name="T8" fmla="*/ 14 w 293"/>
                  <a:gd name="T9" fmla="*/ 0 h 276"/>
                  <a:gd name="T10" fmla="*/ 13 w 293"/>
                  <a:gd name="T11" fmla="*/ 0 h 276"/>
                  <a:gd name="T12" fmla="*/ 12 w 293"/>
                  <a:gd name="T13" fmla="*/ 19 h 276"/>
                  <a:gd name="T14" fmla="*/ 9 w 293"/>
                  <a:gd name="T15" fmla="*/ 68 h 276"/>
                  <a:gd name="T16" fmla="*/ 7 w 293"/>
                  <a:gd name="T17" fmla="*/ 80 h 276"/>
                  <a:gd name="T18" fmla="*/ 6 w 293"/>
                  <a:gd name="T19" fmla="*/ 102 h 276"/>
                  <a:gd name="T20" fmla="*/ 3 w 293"/>
                  <a:gd name="T21" fmla="*/ 107 h 276"/>
                  <a:gd name="T22" fmla="*/ 3 w 293"/>
                  <a:gd name="T23" fmla="*/ 107 h 276"/>
                  <a:gd name="T24" fmla="*/ 0 w 293"/>
                  <a:gd name="T25" fmla="*/ 118 h 276"/>
                  <a:gd name="T26" fmla="*/ 0 w 293"/>
                  <a:gd name="T27" fmla="*/ 130 h 276"/>
                  <a:gd name="T28" fmla="*/ 3 w 293"/>
                  <a:gd name="T29" fmla="*/ 118 h 276"/>
                  <a:gd name="T30" fmla="*/ 7 w 293"/>
                  <a:gd name="T31" fmla="*/ 118 h 276"/>
                  <a:gd name="T32" fmla="*/ 8 w 293"/>
                  <a:gd name="T33" fmla="*/ 118 h 276"/>
                  <a:gd name="T34" fmla="*/ 8 w 293"/>
                  <a:gd name="T35" fmla="*/ 134 h 276"/>
                  <a:gd name="T36" fmla="*/ 10 w 293"/>
                  <a:gd name="T37" fmla="*/ 146 h 276"/>
                  <a:gd name="T38" fmla="*/ 13 w 293"/>
                  <a:gd name="T39" fmla="*/ 140 h 276"/>
                  <a:gd name="T40" fmla="*/ 13 w 293"/>
                  <a:gd name="T41" fmla="*/ 134 h 276"/>
                  <a:gd name="T42" fmla="*/ 15 w 293"/>
                  <a:gd name="T43" fmla="*/ 134 h 276"/>
                  <a:gd name="T44" fmla="*/ 17 w 293"/>
                  <a:gd name="T45" fmla="*/ 140 h 276"/>
                  <a:gd name="T46" fmla="*/ 17 w 293"/>
                  <a:gd name="T47" fmla="*/ 164 h 276"/>
                  <a:gd name="T48" fmla="*/ 20 w 293"/>
                  <a:gd name="T49" fmla="*/ 169 h 276"/>
                  <a:gd name="T50" fmla="*/ 17 w 293"/>
                  <a:gd name="T51" fmla="*/ 173 h 276"/>
                  <a:gd name="T52" fmla="*/ 17 w 293"/>
                  <a:gd name="T53" fmla="*/ 179 h 276"/>
                  <a:gd name="T54" fmla="*/ 20 w 293"/>
                  <a:gd name="T55" fmla="*/ 173 h 276"/>
                  <a:gd name="T56" fmla="*/ 27 w 293"/>
                  <a:gd name="T57" fmla="*/ 191 h 276"/>
                  <a:gd name="T58" fmla="*/ 28 w 293"/>
                  <a:gd name="T59" fmla="*/ 179 h 276"/>
                  <a:gd name="T60" fmla="*/ 30 w 293"/>
                  <a:gd name="T61" fmla="*/ 196 h 276"/>
                  <a:gd name="T62" fmla="*/ 33 w 293"/>
                  <a:gd name="T63" fmla="*/ 202 h 276"/>
                  <a:gd name="T64" fmla="*/ 33 w 293"/>
                  <a:gd name="T65" fmla="*/ 191 h 276"/>
                  <a:gd name="T66" fmla="*/ 30 w 293"/>
                  <a:gd name="T67" fmla="*/ 191 h 276"/>
                  <a:gd name="T68" fmla="*/ 30 w 293"/>
                  <a:gd name="T69" fmla="*/ 179 h 276"/>
                  <a:gd name="T70" fmla="*/ 30 w 293"/>
                  <a:gd name="T71" fmla="*/ 152 h 276"/>
                  <a:gd name="T72" fmla="*/ 30 w 293"/>
                  <a:gd name="T73" fmla="*/ 146 h 276"/>
                  <a:gd name="T74" fmla="*/ 35 w 293"/>
                  <a:gd name="T75" fmla="*/ 146 h 276"/>
                  <a:gd name="T76" fmla="*/ 33 w 293"/>
                  <a:gd name="T77" fmla="*/ 130 h 276"/>
                  <a:gd name="T78" fmla="*/ 33 w 293"/>
                  <a:gd name="T79" fmla="*/ 107 h 276"/>
                  <a:gd name="T80" fmla="*/ 33 w 293"/>
                  <a:gd name="T81" fmla="*/ 90 h 276"/>
                  <a:gd name="T82" fmla="*/ 33 w 293"/>
                  <a:gd name="T83" fmla="*/ 85 h 276"/>
                  <a:gd name="T84" fmla="*/ 30 w 293"/>
                  <a:gd name="T85" fmla="*/ 85 h 276"/>
                  <a:gd name="T86" fmla="*/ 33 w 293"/>
                  <a:gd name="T87" fmla="*/ 74 h 276"/>
                  <a:gd name="T88" fmla="*/ 34 w 293"/>
                  <a:gd name="T89" fmla="*/ 52 h 276"/>
                  <a:gd name="T90" fmla="*/ 35 w 293"/>
                  <a:gd name="T91" fmla="*/ 48 h 276"/>
                  <a:gd name="T92" fmla="*/ 35 w 293"/>
                  <a:gd name="T93" fmla="*/ 33 h 276"/>
                  <a:gd name="T94" fmla="*/ 35 w 293"/>
                  <a:gd name="T95" fmla="*/ 33 h 276"/>
                  <a:gd name="T96" fmla="*/ 35 w 293"/>
                  <a:gd name="T97" fmla="*/ 19 h 276"/>
                  <a:gd name="T98" fmla="*/ 34 w 293"/>
                  <a:gd name="T99" fmla="*/ 15 h 276"/>
                  <a:gd name="T100" fmla="*/ 29 w 293"/>
                  <a:gd name="T101" fmla="*/ 15 h 276"/>
                  <a:gd name="T102" fmla="*/ 29 w 293"/>
                  <a:gd name="T103" fmla="*/ 0 h 27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293"/>
                  <a:gd name="T157" fmla="*/ 0 h 276"/>
                  <a:gd name="T158" fmla="*/ 293 w 293"/>
                  <a:gd name="T159" fmla="*/ 276 h 27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293" h="276">
                    <a:moveTo>
                      <a:pt x="234" y="0"/>
                    </a:moveTo>
                    <a:lnTo>
                      <a:pt x="166" y="0"/>
                    </a:lnTo>
                    <a:lnTo>
                      <a:pt x="158" y="15"/>
                    </a:lnTo>
                    <a:lnTo>
                      <a:pt x="124" y="15"/>
                    </a:lnTo>
                    <a:lnTo>
                      <a:pt x="116" y="0"/>
                    </a:lnTo>
                    <a:lnTo>
                      <a:pt x="108" y="0"/>
                    </a:lnTo>
                    <a:lnTo>
                      <a:pt x="92" y="23"/>
                    </a:lnTo>
                    <a:lnTo>
                      <a:pt x="74" y="92"/>
                    </a:lnTo>
                    <a:lnTo>
                      <a:pt x="58" y="107"/>
                    </a:lnTo>
                    <a:lnTo>
                      <a:pt x="50" y="138"/>
                    </a:lnTo>
                    <a:lnTo>
                      <a:pt x="24" y="145"/>
                    </a:lnTo>
                    <a:lnTo>
                      <a:pt x="8" y="145"/>
                    </a:lnTo>
                    <a:lnTo>
                      <a:pt x="0" y="160"/>
                    </a:lnTo>
                    <a:lnTo>
                      <a:pt x="0" y="176"/>
                    </a:lnTo>
                    <a:lnTo>
                      <a:pt x="16" y="160"/>
                    </a:lnTo>
                    <a:lnTo>
                      <a:pt x="58" y="160"/>
                    </a:lnTo>
                    <a:lnTo>
                      <a:pt x="66" y="160"/>
                    </a:lnTo>
                    <a:lnTo>
                      <a:pt x="66" y="183"/>
                    </a:lnTo>
                    <a:lnTo>
                      <a:pt x="83" y="199"/>
                    </a:lnTo>
                    <a:lnTo>
                      <a:pt x="108" y="191"/>
                    </a:lnTo>
                    <a:lnTo>
                      <a:pt x="108" y="183"/>
                    </a:lnTo>
                    <a:lnTo>
                      <a:pt x="124" y="183"/>
                    </a:lnTo>
                    <a:lnTo>
                      <a:pt x="142" y="191"/>
                    </a:lnTo>
                    <a:lnTo>
                      <a:pt x="142" y="222"/>
                    </a:lnTo>
                    <a:lnTo>
                      <a:pt x="158" y="230"/>
                    </a:lnTo>
                    <a:lnTo>
                      <a:pt x="142" y="237"/>
                    </a:lnTo>
                    <a:lnTo>
                      <a:pt x="142" y="244"/>
                    </a:lnTo>
                    <a:lnTo>
                      <a:pt x="175" y="237"/>
                    </a:lnTo>
                    <a:lnTo>
                      <a:pt x="216" y="260"/>
                    </a:lnTo>
                    <a:lnTo>
                      <a:pt x="226" y="244"/>
                    </a:lnTo>
                    <a:lnTo>
                      <a:pt x="250" y="267"/>
                    </a:lnTo>
                    <a:lnTo>
                      <a:pt x="267" y="275"/>
                    </a:lnTo>
                    <a:lnTo>
                      <a:pt x="267" y="260"/>
                    </a:lnTo>
                    <a:lnTo>
                      <a:pt x="250" y="260"/>
                    </a:lnTo>
                    <a:lnTo>
                      <a:pt x="250" y="244"/>
                    </a:lnTo>
                    <a:lnTo>
                      <a:pt x="250" y="206"/>
                    </a:lnTo>
                    <a:lnTo>
                      <a:pt x="250" y="199"/>
                    </a:lnTo>
                    <a:lnTo>
                      <a:pt x="284" y="199"/>
                    </a:lnTo>
                    <a:lnTo>
                      <a:pt x="267" y="176"/>
                    </a:lnTo>
                    <a:lnTo>
                      <a:pt x="267" y="145"/>
                    </a:lnTo>
                    <a:lnTo>
                      <a:pt x="267" y="122"/>
                    </a:lnTo>
                    <a:lnTo>
                      <a:pt x="267" y="115"/>
                    </a:lnTo>
                    <a:lnTo>
                      <a:pt x="250" y="115"/>
                    </a:lnTo>
                    <a:lnTo>
                      <a:pt x="267" y="99"/>
                    </a:lnTo>
                    <a:lnTo>
                      <a:pt x="276" y="69"/>
                    </a:lnTo>
                    <a:lnTo>
                      <a:pt x="284" y="61"/>
                    </a:lnTo>
                    <a:lnTo>
                      <a:pt x="292" y="45"/>
                    </a:lnTo>
                    <a:lnTo>
                      <a:pt x="284" y="45"/>
                    </a:lnTo>
                    <a:lnTo>
                      <a:pt x="284" y="23"/>
                    </a:lnTo>
                    <a:lnTo>
                      <a:pt x="276" y="15"/>
                    </a:lnTo>
                    <a:lnTo>
                      <a:pt x="242" y="15"/>
                    </a:lnTo>
                    <a:lnTo>
                      <a:pt x="234"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2" name="Freeform 87"/>
              <p:cNvSpPr>
                <a:spLocks/>
              </p:cNvSpPr>
              <p:nvPr/>
            </p:nvSpPr>
            <p:spPr bwMode="auto">
              <a:xfrm>
                <a:off x="4932460" y="4944175"/>
                <a:ext cx="289568" cy="252262"/>
              </a:xfrm>
              <a:custGeom>
                <a:avLst/>
                <a:gdLst>
                  <a:gd name="T0" fmla="*/ 4 w 193"/>
                  <a:gd name="T1" fmla="*/ 26 h 146"/>
                  <a:gd name="T2" fmla="*/ 10 w 193"/>
                  <a:gd name="T3" fmla="*/ 45 h 146"/>
                  <a:gd name="T4" fmla="*/ 11 w 193"/>
                  <a:gd name="T5" fmla="*/ 33 h 146"/>
                  <a:gd name="T6" fmla="*/ 14 w 193"/>
                  <a:gd name="T7" fmla="*/ 49 h 146"/>
                  <a:gd name="T8" fmla="*/ 17 w 193"/>
                  <a:gd name="T9" fmla="*/ 53 h 146"/>
                  <a:gd name="T10" fmla="*/ 17 w 193"/>
                  <a:gd name="T11" fmla="*/ 45 h 146"/>
                  <a:gd name="T12" fmla="*/ 14 w 193"/>
                  <a:gd name="T13" fmla="*/ 45 h 146"/>
                  <a:gd name="T14" fmla="*/ 14 w 193"/>
                  <a:gd name="T15" fmla="*/ 33 h 146"/>
                  <a:gd name="T16" fmla="*/ 14 w 193"/>
                  <a:gd name="T17" fmla="*/ 7 h 146"/>
                  <a:gd name="T18" fmla="*/ 14 w 193"/>
                  <a:gd name="T19" fmla="*/ 0 h 146"/>
                  <a:gd name="T20" fmla="*/ 19 w 193"/>
                  <a:gd name="T21" fmla="*/ 0 h 146"/>
                  <a:gd name="T22" fmla="*/ 20 w 193"/>
                  <a:gd name="T23" fmla="*/ 0 h 146"/>
                  <a:gd name="T24" fmla="*/ 25 w 193"/>
                  <a:gd name="T25" fmla="*/ 18 h 146"/>
                  <a:gd name="T26" fmla="*/ 25 w 193"/>
                  <a:gd name="T27" fmla="*/ 26 h 146"/>
                  <a:gd name="T28" fmla="*/ 25 w 193"/>
                  <a:gd name="T29" fmla="*/ 33 h 146"/>
                  <a:gd name="T30" fmla="*/ 25 w 193"/>
                  <a:gd name="T31" fmla="*/ 45 h 146"/>
                  <a:gd name="T32" fmla="*/ 24 w 193"/>
                  <a:gd name="T33" fmla="*/ 53 h 146"/>
                  <a:gd name="T34" fmla="*/ 25 w 193"/>
                  <a:gd name="T35" fmla="*/ 60 h 146"/>
                  <a:gd name="T36" fmla="*/ 18 w 193"/>
                  <a:gd name="T37" fmla="*/ 77 h 146"/>
                  <a:gd name="T38" fmla="*/ 18 w 193"/>
                  <a:gd name="T39" fmla="*/ 83 h 146"/>
                  <a:gd name="T40" fmla="*/ 14 w 193"/>
                  <a:gd name="T41" fmla="*/ 83 h 146"/>
                  <a:gd name="T42" fmla="*/ 14 w 193"/>
                  <a:gd name="T43" fmla="*/ 87 h 146"/>
                  <a:gd name="T44" fmla="*/ 11 w 193"/>
                  <a:gd name="T45" fmla="*/ 104 h 146"/>
                  <a:gd name="T46" fmla="*/ 7 w 193"/>
                  <a:gd name="T47" fmla="*/ 104 h 146"/>
                  <a:gd name="T48" fmla="*/ 4 w 193"/>
                  <a:gd name="T49" fmla="*/ 92 h 146"/>
                  <a:gd name="T50" fmla="*/ 3 w 193"/>
                  <a:gd name="T51" fmla="*/ 104 h 146"/>
                  <a:gd name="T52" fmla="*/ 0 w 193"/>
                  <a:gd name="T53" fmla="*/ 87 h 146"/>
                  <a:gd name="T54" fmla="*/ 0 w 193"/>
                  <a:gd name="T55" fmla="*/ 53 h 146"/>
                  <a:gd name="T56" fmla="*/ 6 w 193"/>
                  <a:gd name="T57" fmla="*/ 49 h 146"/>
                  <a:gd name="T58" fmla="*/ 4 w 193"/>
                  <a:gd name="T59" fmla="*/ 26 h 1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93"/>
                  <a:gd name="T91" fmla="*/ 0 h 146"/>
                  <a:gd name="T92" fmla="*/ 193 w 193"/>
                  <a:gd name="T93" fmla="*/ 146 h 14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93" h="146">
                    <a:moveTo>
                      <a:pt x="33" y="38"/>
                    </a:moveTo>
                    <a:lnTo>
                      <a:pt x="74" y="61"/>
                    </a:lnTo>
                    <a:lnTo>
                      <a:pt x="84" y="45"/>
                    </a:lnTo>
                    <a:lnTo>
                      <a:pt x="108" y="68"/>
                    </a:lnTo>
                    <a:lnTo>
                      <a:pt x="125" y="76"/>
                    </a:lnTo>
                    <a:lnTo>
                      <a:pt x="125" y="61"/>
                    </a:lnTo>
                    <a:lnTo>
                      <a:pt x="108" y="61"/>
                    </a:lnTo>
                    <a:lnTo>
                      <a:pt x="108" y="45"/>
                    </a:lnTo>
                    <a:lnTo>
                      <a:pt x="108" y="7"/>
                    </a:lnTo>
                    <a:lnTo>
                      <a:pt x="108" y="0"/>
                    </a:lnTo>
                    <a:lnTo>
                      <a:pt x="142" y="0"/>
                    </a:lnTo>
                    <a:lnTo>
                      <a:pt x="150" y="0"/>
                    </a:lnTo>
                    <a:lnTo>
                      <a:pt x="184" y="23"/>
                    </a:lnTo>
                    <a:lnTo>
                      <a:pt x="192" y="38"/>
                    </a:lnTo>
                    <a:lnTo>
                      <a:pt x="184" y="45"/>
                    </a:lnTo>
                    <a:lnTo>
                      <a:pt x="184" y="61"/>
                    </a:lnTo>
                    <a:lnTo>
                      <a:pt x="175" y="76"/>
                    </a:lnTo>
                    <a:lnTo>
                      <a:pt x="184" y="84"/>
                    </a:lnTo>
                    <a:lnTo>
                      <a:pt x="134" y="107"/>
                    </a:lnTo>
                    <a:lnTo>
                      <a:pt x="134" y="115"/>
                    </a:lnTo>
                    <a:lnTo>
                      <a:pt x="108" y="115"/>
                    </a:lnTo>
                    <a:lnTo>
                      <a:pt x="108" y="122"/>
                    </a:lnTo>
                    <a:lnTo>
                      <a:pt x="84" y="145"/>
                    </a:lnTo>
                    <a:lnTo>
                      <a:pt x="50" y="145"/>
                    </a:lnTo>
                    <a:lnTo>
                      <a:pt x="33" y="129"/>
                    </a:lnTo>
                    <a:lnTo>
                      <a:pt x="24" y="145"/>
                    </a:lnTo>
                    <a:lnTo>
                      <a:pt x="0" y="122"/>
                    </a:lnTo>
                    <a:lnTo>
                      <a:pt x="0" y="76"/>
                    </a:lnTo>
                    <a:lnTo>
                      <a:pt x="42" y="68"/>
                    </a:lnTo>
                    <a:lnTo>
                      <a:pt x="33"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3" name="Freeform 89"/>
              <p:cNvSpPr>
                <a:spLocks/>
              </p:cNvSpPr>
              <p:nvPr/>
            </p:nvSpPr>
            <p:spPr bwMode="auto">
              <a:xfrm>
                <a:off x="5193604" y="4983258"/>
                <a:ext cx="76389" cy="186532"/>
              </a:xfrm>
              <a:custGeom>
                <a:avLst/>
                <a:gdLst>
                  <a:gd name="T0" fmla="*/ 3 w 51"/>
                  <a:gd name="T1" fmla="*/ 45 h 108"/>
                  <a:gd name="T2" fmla="*/ 0 w 51"/>
                  <a:gd name="T3" fmla="*/ 42 h 108"/>
                  <a:gd name="T4" fmla="*/ 3 w 51"/>
                  <a:gd name="T5" fmla="*/ 26 h 108"/>
                  <a:gd name="T6" fmla="*/ 3 w 51"/>
                  <a:gd name="T7" fmla="*/ 18 h 108"/>
                  <a:gd name="T8" fmla="*/ 3 w 51"/>
                  <a:gd name="T9" fmla="*/ 16 h 108"/>
                  <a:gd name="T10" fmla="*/ 3 w 51"/>
                  <a:gd name="T11" fmla="*/ 0 h 108"/>
                  <a:gd name="T12" fmla="*/ 3 w 51"/>
                  <a:gd name="T13" fmla="*/ 0 h 108"/>
                  <a:gd name="T14" fmla="*/ 3 w 51"/>
                  <a:gd name="T15" fmla="*/ 0 h 108"/>
                  <a:gd name="T16" fmla="*/ 6 w 51"/>
                  <a:gd name="T17" fmla="*/ 18 h 108"/>
                  <a:gd name="T18" fmla="*/ 3 w 51"/>
                  <a:gd name="T19" fmla="*/ 26 h 108"/>
                  <a:gd name="T20" fmla="*/ 6 w 51"/>
                  <a:gd name="T21" fmla="*/ 42 h 108"/>
                  <a:gd name="T22" fmla="*/ 7 w 51"/>
                  <a:gd name="T23" fmla="*/ 53 h 108"/>
                  <a:gd name="T24" fmla="*/ 7 w 51"/>
                  <a:gd name="T25" fmla="*/ 67 h 108"/>
                  <a:gd name="T26" fmla="*/ 6 w 51"/>
                  <a:gd name="T27" fmla="*/ 77 h 108"/>
                  <a:gd name="T28" fmla="*/ 3 w 51"/>
                  <a:gd name="T29" fmla="*/ 67 h 108"/>
                  <a:gd name="T30" fmla="*/ 3 w 51"/>
                  <a:gd name="T31" fmla="*/ 53 h 108"/>
                  <a:gd name="T32" fmla="*/ 3 w 51"/>
                  <a:gd name="T33" fmla="*/ 53 h 108"/>
                  <a:gd name="T34" fmla="*/ 3 w 51"/>
                  <a:gd name="T35" fmla="*/ 45 h 10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1"/>
                  <a:gd name="T55" fmla="*/ 0 h 108"/>
                  <a:gd name="T56" fmla="*/ 51 w 51"/>
                  <a:gd name="T57" fmla="*/ 108 h 10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1" h="108">
                    <a:moveTo>
                      <a:pt x="9" y="61"/>
                    </a:moveTo>
                    <a:lnTo>
                      <a:pt x="0" y="54"/>
                    </a:lnTo>
                    <a:lnTo>
                      <a:pt x="9" y="38"/>
                    </a:lnTo>
                    <a:lnTo>
                      <a:pt x="9" y="23"/>
                    </a:lnTo>
                    <a:lnTo>
                      <a:pt x="17" y="16"/>
                    </a:lnTo>
                    <a:lnTo>
                      <a:pt x="9" y="0"/>
                    </a:lnTo>
                    <a:lnTo>
                      <a:pt x="17" y="0"/>
                    </a:lnTo>
                    <a:lnTo>
                      <a:pt x="25" y="0"/>
                    </a:lnTo>
                    <a:lnTo>
                      <a:pt x="42" y="23"/>
                    </a:lnTo>
                    <a:lnTo>
                      <a:pt x="25" y="38"/>
                    </a:lnTo>
                    <a:lnTo>
                      <a:pt x="42" y="54"/>
                    </a:lnTo>
                    <a:lnTo>
                      <a:pt x="50" y="77"/>
                    </a:lnTo>
                    <a:lnTo>
                      <a:pt x="50" y="92"/>
                    </a:lnTo>
                    <a:lnTo>
                      <a:pt x="42" y="107"/>
                    </a:lnTo>
                    <a:lnTo>
                      <a:pt x="25" y="92"/>
                    </a:lnTo>
                    <a:lnTo>
                      <a:pt x="25" y="77"/>
                    </a:lnTo>
                    <a:lnTo>
                      <a:pt x="17" y="77"/>
                    </a:lnTo>
                    <a:lnTo>
                      <a:pt x="9" y="6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4" name="Freeform 91"/>
              <p:cNvSpPr>
                <a:spLocks/>
              </p:cNvSpPr>
              <p:nvPr/>
            </p:nvSpPr>
            <p:spPr bwMode="auto">
              <a:xfrm>
                <a:off x="4733493" y="4359710"/>
                <a:ext cx="63954" cy="55071"/>
              </a:xfrm>
              <a:custGeom>
                <a:avLst/>
                <a:gdLst>
                  <a:gd name="T0" fmla="*/ 0 w 43"/>
                  <a:gd name="T1" fmla="*/ 8 h 32"/>
                  <a:gd name="T2" fmla="*/ 3 w 43"/>
                  <a:gd name="T3" fmla="*/ 19 h 32"/>
                  <a:gd name="T4" fmla="*/ 3 w 43"/>
                  <a:gd name="T5" fmla="*/ 15 h 32"/>
                  <a:gd name="T6" fmla="*/ 5 w 43"/>
                  <a:gd name="T7" fmla="*/ 15 h 32"/>
                  <a:gd name="T8" fmla="*/ 3 w 43"/>
                  <a:gd name="T9" fmla="*/ 8 h 32"/>
                  <a:gd name="T10" fmla="*/ 3 w 43"/>
                  <a:gd name="T11" fmla="*/ 0 h 32"/>
                  <a:gd name="T12" fmla="*/ 0 w 43"/>
                  <a:gd name="T13" fmla="*/ 8 h 32"/>
                  <a:gd name="T14" fmla="*/ 0 60000 65536"/>
                  <a:gd name="T15" fmla="*/ 0 60000 65536"/>
                  <a:gd name="T16" fmla="*/ 0 60000 65536"/>
                  <a:gd name="T17" fmla="*/ 0 60000 65536"/>
                  <a:gd name="T18" fmla="*/ 0 60000 65536"/>
                  <a:gd name="T19" fmla="*/ 0 60000 65536"/>
                  <a:gd name="T20" fmla="*/ 0 60000 65536"/>
                  <a:gd name="T21" fmla="*/ 0 w 43"/>
                  <a:gd name="T22" fmla="*/ 0 h 32"/>
                  <a:gd name="T23" fmla="*/ 43 w 43"/>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32">
                    <a:moveTo>
                      <a:pt x="0" y="8"/>
                    </a:moveTo>
                    <a:lnTo>
                      <a:pt x="16" y="31"/>
                    </a:lnTo>
                    <a:lnTo>
                      <a:pt x="25" y="15"/>
                    </a:lnTo>
                    <a:lnTo>
                      <a:pt x="42" y="15"/>
                    </a:lnTo>
                    <a:lnTo>
                      <a:pt x="16" y="8"/>
                    </a:lnTo>
                    <a:lnTo>
                      <a:pt x="8"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5" name="Freeform 92"/>
              <p:cNvSpPr>
                <a:spLocks/>
              </p:cNvSpPr>
              <p:nvPr/>
            </p:nvSpPr>
            <p:spPr bwMode="auto">
              <a:xfrm>
                <a:off x="4733493" y="4359710"/>
                <a:ext cx="63954" cy="55071"/>
              </a:xfrm>
              <a:custGeom>
                <a:avLst/>
                <a:gdLst>
                  <a:gd name="T0" fmla="*/ 0 w 43"/>
                  <a:gd name="T1" fmla="*/ 8 h 32"/>
                  <a:gd name="T2" fmla="*/ 3 w 43"/>
                  <a:gd name="T3" fmla="*/ 19 h 32"/>
                  <a:gd name="T4" fmla="*/ 3 w 43"/>
                  <a:gd name="T5" fmla="*/ 15 h 32"/>
                  <a:gd name="T6" fmla="*/ 5 w 43"/>
                  <a:gd name="T7" fmla="*/ 15 h 32"/>
                  <a:gd name="T8" fmla="*/ 3 w 43"/>
                  <a:gd name="T9" fmla="*/ 8 h 32"/>
                  <a:gd name="T10" fmla="*/ 3 w 43"/>
                  <a:gd name="T11" fmla="*/ 0 h 32"/>
                  <a:gd name="T12" fmla="*/ 0 w 43"/>
                  <a:gd name="T13" fmla="*/ 8 h 32"/>
                  <a:gd name="T14" fmla="*/ 0 60000 65536"/>
                  <a:gd name="T15" fmla="*/ 0 60000 65536"/>
                  <a:gd name="T16" fmla="*/ 0 60000 65536"/>
                  <a:gd name="T17" fmla="*/ 0 60000 65536"/>
                  <a:gd name="T18" fmla="*/ 0 60000 65536"/>
                  <a:gd name="T19" fmla="*/ 0 60000 65536"/>
                  <a:gd name="T20" fmla="*/ 0 60000 65536"/>
                  <a:gd name="T21" fmla="*/ 0 w 43"/>
                  <a:gd name="T22" fmla="*/ 0 h 32"/>
                  <a:gd name="T23" fmla="*/ 43 w 43"/>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32">
                    <a:moveTo>
                      <a:pt x="0" y="8"/>
                    </a:moveTo>
                    <a:lnTo>
                      <a:pt x="16" y="31"/>
                    </a:lnTo>
                    <a:lnTo>
                      <a:pt x="25" y="15"/>
                    </a:lnTo>
                    <a:lnTo>
                      <a:pt x="42" y="15"/>
                    </a:lnTo>
                    <a:lnTo>
                      <a:pt x="16" y="8"/>
                    </a:lnTo>
                    <a:lnTo>
                      <a:pt x="8"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6" name="Freeform 93"/>
              <p:cNvSpPr>
                <a:spLocks/>
              </p:cNvSpPr>
              <p:nvPr/>
            </p:nvSpPr>
            <p:spPr bwMode="auto">
              <a:xfrm>
                <a:off x="5257558" y="3789456"/>
                <a:ext cx="26647" cy="55071"/>
              </a:xfrm>
              <a:custGeom>
                <a:avLst/>
                <a:gdLst>
                  <a:gd name="T0" fmla="*/ 2 w 18"/>
                  <a:gd name="T1" fmla="*/ 19 h 32"/>
                  <a:gd name="T2" fmla="*/ 0 w 18"/>
                  <a:gd name="T3" fmla="*/ 19 h 32"/>
                  <a:gd name="T4" fmla="*/ 2 w 18"/>
                  <a:gd name="T5" fmla="*/ 0 h 32"/>
                  <a:gd name="T6" fmla="*/ 2 w 18"/>
                  <a:gd name="T7" fmla="*/ 7 h 32"/>
                  <a:gd name="T8" fmla="*/ 2 w 18"/>
                  <a:gd name="T9" fmla="*/ 19 h 32"/>
                  <a:gd name="T10" fmla="*/ 0 60000 65536"/>
                  <a:gd name="T11" fmla="*/ 0 60000 65536"/>
                  <a:gd name="T12" fmla="*/ 0 60000 65536"/>
                  <a:gd name="T13" fmla="*/ 0 60000 65536"/>
                  <a:gd name="T14" fmla="*/ 0 60000 65536"/>
                  <a:gd name="T15" fmla="*/ 0 w 18"/>
                  <a:gd name="T16" fmla="*/ 0 h 32"/>
                  <a:gd name="T17" fmla="*/ 18 w 18"/>
                  <a:gd name="T18" fmla="*/ 32 h 32"/>
                </a:gdLst>
                <a:ahLst/>
                <a:cxnLst>
                  <a:cxn ang="T10">
                    <a:pos x="T0" y="T1"/>
                  </a:cxn>
                  <a:cxn ang="T11">
                    <a:pos x="T2" y="T3"/>
                  </a:cxn>
                  <a:cxn ang="T12">
                    <a:pos x="T4" y="T5"/>
                  </a:cxn>
                  <a:cxn ang="T13">
                    <a:pos x="T6" y="T7"/>
                  </a:cxn>
                  <a:cxn ang="T14">
                    <a:pos x="T8" y="T9"/>
                  </a:cxn>
                </a:cxnLst>
                <a:rect l="T15" t="T16" r="T17" b="T18"/>
                <a:pathLst>
                  <a:path w="18" h="32">
                    <a:moveTo>
                      <a:pt x="8" y="31"/>
                    </a:moveTo>
                    <a:lnTo>
                      <a:pt x="0" y="31"/>
                    </a:lnTo>
                    <a:lnTo>
                      <a:pt x="8" y="0"/>
                    </a:lnTo>
                    <a:lnTo>
                      <a:pt x="17" y="7"/>
                    </a:lnTo>
                    <a:lnTo>
                      <a:pt x="8"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7" name="Freeform 94"/>
              <p:cNvSpPr>
                <a:spLocks/>
              </p:cNvSpPr>
              <p:nvPr/>
            </p:nvSpPr>
            <p:spPr bwMode="auto">
              <a:xfrm>
                <a:off x="5257558" y="3789456"/>
                <a:ext cx="26647" cy="55071"/>
              </a:xfrm>
              <a:custGeom>
                <a:avLst/>
                <a:gdLst>
                  <a:gd name="T0" fmla="*/ 2 w 18"/>
                  <a:gd name="T1" fmla="*/ 19 h 32"/>
                  <a:gd name="T2" fmla="*/ 0 w 18"/>
                  <a:gd name="T3" fmla="*/ 19 h 32"/>
                  <a:gd name="T4" fmla="*/ 2 w 18"/>
                  <a:gd name="T5" fmla="*/ 0 h 32"/>
                  <a:gd name="T6" fmla="*/ 2 w 18"/>
                  <a:gd name="T7" fmla="*/ 7 h 32"/>
                  <a:gd name="T8" fmla="*/ 2 w 18"/>
                  <a:gd name="T9" fmla="*/ 19 h 32"/>
                  <a:gd name="T10" fmla="*/ 0 60000 65536"/>
                  <a:gd name="T11" fmla="*/ 0 60000 65536"/>
                  <a:gd name="T12" fmla="*/ 0 60000 65536"/>
                  <a:gd name="T13" fmla="*/ 0 60000 65536"/>
                  <a:gd name="T14" fmla="*/ 0 60000 65536"/>
                  <a:gd name="T15" fmla="*/ 0 w 18"/>
                  <a:gd name="T16" fmla="*/ 0 h 32"/>
                  <a:gd name="T17" fmla="*/ 18 w 18"/>
                  <a:gd name="T18" fmla="*/ 32 h 32"/>
                </a:gdLst>
                <a:ahLst/>
                <a:cxnLst>
                  <a:cxn ang="T10">
                    <a:pos x="T0" y="T1"/>
                  </a:cxn>
                  <a:cxn ang="T11">
                    <a:pos x="T2" y="T3"/>
                  </a:cxn>
                  <a:cxn ang="T12">
                    <a:pos x="T4" y="T5"/>
                  </a:cxn>
                  <a:cxn ang="T13">
                    <a:pos x="T6" y="T7"/>
                  </a:cxn>
                  <a:cxn ang="T14">
                    <a:pos x="T8" y="T9"/>
                  </a:cxn>
                </a:cxnLst>
                <a:rect l="T15" t="T16" r="T17" b="T18"/>
                <a:pathLst>
                  <a:path w="18" h="32">
                    <a:moveTo>
                      <a:pt x="8" y="31"/>
                    </a:moveTo>
                    <a:lnTo>
                      <a:pt x="0" y="31"/>
                    </a:lnTo>
                    <a:lnTo>
                      <a:pt x="8" y="0"/>
                    </a:lnTo>
                    <a:lnTo>
                      <a:pt x="17" y="7"/>
                    </a:lnTo>
                    <a:lnTo>
                      <a:pt x="8"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8" name="Freeform 95"/>
              <p:cNvSpPr>
                <a:spLocks/>
              </p:cNvSpPr>
              <p:nvPr/>
            </p:nvSpPr>
            <p:spPr bwMode="auto">
              <a:xfrm>
                <a:off x="5220252" y="3842751"/>
                <a:ext cx="49742" cy="108366"/>
              </a:xfrm>
              <a:custGeom>
                <a:avLst/>
                <a:gdLst>
                  <a:gd name="T0" fmla="*/ 2 w 34"/>
                  <a:gd name="T1" fmla="*/ 7 h 63"/>
                  <a:gd name="T2" fmla="*/ 2 w 34"/>
                  <a:gd name="T3" fmla="*/ 15 h 63"/>
                  <a:gd name="T4" fmla="*/ 2 w 34"/>
                  <a:gd name="T5" fmla="*/ 27 h 63"/>
                  <a:gd name="T6" fmla="*/ 2 w 34"/>
                  <a:gd name="T7" fmla="*/ 42 h 63"/>
                  <a:gd name="T8" fmla="*/ 0 w 34"/>
                  <a:gd name="T9" fmla="*/ 18 h 63"/>
                  <a:gd name="T10" fmla="*/ 2 w 34"/>
                  <a:gd name="T11" fmla="*/ 15 h 63"/>
                  <a:gd name="T12" fmla="*/ 2 w 34"/>
                  <a:gd name="T13" fmla="*/ 0 h 63"/>
                  <a:gd name="T14" fmla="*/ 3 w 34"/>
                  <a:gd name="T15" fmla="*/ 0 h 63"/>
                  <a:gd name="T16" fmla="*/ 2 w 34"/>
                  <a:gd name="T17" fmla="*/ 7 h 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
                  <a:gd name="T28" fmla="*/ 0 h 63"/>
                  <a:gd name="T29" fmla="*/ 34 w 34"/>
                  <a:gd name="T30" fmla="*/ 63 h 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 h="63">
                    <a:moveTo>
                      <a:pt x="25" y="7"/>
                    </a:moveTo>
                    <a:lnTo>
                      <a:pt x="25" y="15"/>
                    </a:lnTo>
                    <a:lnTo>
                      <a:pt x="25" y="39"/>
                    </a:lnTo>
                    <a:lnTo>
                      <a:pt x="8" y="62"/>
                    </a:lnTo>
                    <a:lnTo>
                      <a:pt x="0" y="30"/>
                    </a:lnTo>
                    <a:lnTo>
                      <a:pt x="8" y="15"/>
                    </a:lnTo>
                    <a:lnTo>
                      <a:pt x="25" y="0"/>
                    </a:lnTo>
                    <a:lnTo>
                      <a:pt x="33" y="0"/>
                    </a:lnTo>
                    <a:lnTo>
                      <a:pt x="25"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79" name="Freeform 96"/>
              <p:cNvSpPr>
                <a:spLocks/>
              </p:cNvSpPr>
              <p:nvPr/>
            </p:nvSpPr>
            <p:spPr bwMode="auto">
              <a:xfrm>
                <a:off x="4111720" y="3762809"/>
                <a:ext cx="286015" cy="239826"/>
              </a:xfrm>
              <a:custGeom>
                <a:avLst/>
                <a:gdLst>
                  <a:gd name="T0" fmla="*/ 20 w 192"/>
                  <a:gd name="T1" fmla="*/ 8 h 139"/>
                  <a:gd name="T2" fmla="*/ 22 w 192"/>
                  <a:gd name="T3" fmla="*/ 8 h 139"/>
                  <a:gd name="T4" fmla="*/ 23 w 192"/>
                  <a:gd name="T5" fmla="*/ 41 h 139"/>
                  <a:gd name="T6" fmla="*/ 18 w 192"/>
                  <a:gd name="T7" fmla="*/ 44 h 139"/>
                  <a:gd name="T8" fmla="*/ 18 w 192"/>
                  <a:gd name="T9" fmla="*/ 53 h 139"/>
                  <a:gd name="T10" fmla="*/ 15 w 192"/>
                  <a:gd name="T11" fmla="*/ 66 h 139"/>
                  <a:gd name="T12" fmla="*/ 10 w 192"/>
                  <a:gd name="T13" fmla="*/ 76 h 139"/>
                  <a:gd name="T14" fmla="*/ 9 w 192"/>
                  <a:gd name="T15" fmla="*/ 81 h 139"/>
                  <a:gd name="T16" fmla="*/ 9 w 192"/>
                  <a:gd name="T17" fmla="*/ 97 h 139"/>
                  <a:gd name="T18" fmla="*/ 0 w 192"/>
                  <a:gd name="T19" fmla="*/ 92 h 139"/>
                  <a:gd name="T20" fmla="*/ 3 w 192"/>
                  <a:gd name="T21" fmla="*/ 92 h 139"/>
                  <a:gd name="T22" fmla="*/ 5 w 192"/>
                  <a:gd name="T23" fmla="*/ 76 h 139"/>
                  <a:gd name="T24" fmla="*/ 6 w 192"/>
                  <a:gd name="T25" fmla="*/ 66 h 139"/>
                  <a:gd name="T26" fmla="*/ 6 w 192"/>
                  <a:gd name="T27" fmla="*/ 53 h 139"/>
                  <a:gd name="T28" fmla="*/ 8 w 192"/>
                  <a:gd name="T29" fmla="*/ 41 h 139"/>
                  <a:gd name="T30" fmla="*/ 9 w 192"/>
                  <a:gd name="T31" fmla="*/ 26 h 139"/>
                  <a:gd name="T32" fmla="*/ 12 w 192"/>
                  <a:gd name="T33" fmla="*/ 17 h 139"/>
                  <a:gd name="T34" fmla="*/ 14 w 192"/>
                  <a:gd name="T35" fmla="*/ 0 h 139"/>
                  <a:gd name="T36" fmla="*/ 15 w 192"/>
                  <a:gd name="T37" fmla="*/ 0 h 139"/>
                  <a:gd name="T38" fmla="*/ 16 w 192"/>
                  <a:gd name="T39" fmla="*/ 8 h 139"/>
                  <a:gd name="T40" fmla="*/ 20 w 192"/>
                  <a:gd name="T41" fmla="*/ 8 h 139"/>
                  <a:gd name="T42" fmla="*/ 20 w 192"/>
                  <a:gd name="T43" fmla="*/ 8 h 13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92"/>
                  <a:gd name="T67" fmla="*/ 0 h 139"/>
                  <a:gd name="T68" fmla="*/ 192 w 192"/>
                  <a:gd name="T69" fmla="*/ 139 h 13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92" h="139">
                    <a:moveTo>
                      <a:pt x="175" y="8"/>
                    </a:moveTo>
                    <a:lnTo>
                      <a:pt x="183" y="8"/>
                    </a:lnTo>
                    <a:lnTo>
                      <a:pt x="191" y="54"/>
                    </a:lnTo>
                    <a:lnTo>
                      <a:pt x="150" y="61"/>
                    </a:lnTo>
                    <a:lnTo>
                      <a:pt x="150" y="77"/>
                    </a:lnTo>
                    <a:lnTo>
                      <a:pt x="125" y="92"/>
                    </a:lnTo>
                    <a:lnTo>
                      <a:pt x="83" y="108"/>
                    </a:lnTo>
                    <a:lnTo>
                      <a:pt x="75" y="115"/>
                    </a:lnTo>
                    <a:lnTo>
                      <a:pt x="75" y="138"/>
                    </a:lnTo>
                    <a:lnTo>
                      <a:pt x="0" y="131"/>
                    </a:lnTo>
                    <a:lnTo>
                      <a:pt x="24" y="131"/>
                    </a:lnTo>
                    <a:lnTo>
                      <a:pt x="41" y="108"/>
                    </a:lnTo>
                    <a:lnTo>
                      <a:pt x="50" y="92"/>
                    </a:lnTo>
                    <a:lnTo>
                      <a:pt x="50" y="77"/>
                    </a:lnTo>
                    <a:lnTo>
                      <a:pt x="66" y="54"/>
                    </a:lnTo>
                    <a:lnTo>
                      <a:pt x="75" y="38"/>
                    </a:lnTo>
                    <a:lnTo>
                      <a:pt x="100" y="23"/>
                    </a:lnTo>
                    <a:lnTo>
                      <a:pt x="116" y="0"/>
                    </a:lnTo>
                    <a:lnTo>
                      <a:pt x="125" y="0"/>
                    </a:lnTo>
                    <a:lnTo>
                      <a:pt x="133" y="8"/>
                    </a:lnTo>
                    <a:lnTo>
                      <a:pt x="167" y="8"/>
                    </a:lnTo>
                    <a:lnTo>
                      <a:pt x="175"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0" name="Freeform 98"/>
              <p:cNvSpPr>
                <a:spLocks/>
              </p:cNvSpPr>
              <p:nvPr/>
            </p:nvSpPr>
            <p:spPr bwMode="auto">
              <a:xfrm>
                <a:off x="4596703" y="3709514"/>
                <a:ext cx="87048" cy="214955"/>
              </a:xfrm>
              <a:custGeom>
                <a:avLst/>
                <a:gdLst>
                  <a:gd name="T0" fmla="*/ 6 w 59"/>
                  <a:gd name="T1" fmla="*/ 64 h 123"/>
                  <a:gd name="T2" fmla="*/ 6 w 59"/>
                  <a:gd name="T3" fmla="*/ 71 h 123"/>
                  <a:gd name="T4" fmla="*/ 5 w 59"/>
                  <a:gd name="T5" fmla="*/ 87 h 123"/>
                  <a:gd name="T6" fmla="*/ 5 w 59"/>
                  <a:gd name="T7" fmla="*/ 91 h 123"/>
                  <a:gd name="T8" fmla="*/ 3 w 59"/>
                  <a:gd name="T9" fmla="*/ 98 h 123"/>
                  <a:gd name="T10" fmla="*/ 3 w 59"/>
                  <a:gd name="T11" fmla="*/ 79 h 123"/>
                  <a:gd name="T12" fmla="*/ 2 w 59"/>
                  <a:gd name="T13" fmla="*/ 71 h 123"/>
                  <a:gd name="T14" fmla="*/ 0 w 59"/>
                  <a:gd name="T15" fmla="*/ 56 h 123"/>
                  <a:gd name="T16" fmla="*/ 2 w 59"/>
                  <a:gd name="T17" fmla="*/ 33 h 123"/>
                  <a:gd name="T18" fmla="*/ 2 w 59"/>
                  <a:gd name="T19" fmla="*/ 7 h 123"/>
                  <a:gd name="T20" fmla="*/ 2 w 59"/>
                  <a:gd name="T21" fmla="*/ 0 h 123"/>
                  <a:gd name="T22" fmla="*/ 5 w 59"/>
                  <a:gd name="T23" fmla="*/ 0 h 123"/>
                  <a:gd name="T24" fmla="*/ 6 w 59"/>
                  <a:gd name="T25" fmla="*/ 7 h 123"/>
                  <a:gd name="T26" fmla="*/ 6 w 59"/>
                  <a:gd name="T27" fmla="*/ 0 h 123"/>
                  <a:gd name="T28" fmla="*/ 6 w 59"/>
                  <a:gd name="T29" fmla="*/ 15 h 123"/>
                  <a:gd name="T30" fmla="*/ 6 w 59"/>
                  <a:gd name="T31" fmla="*/ 30 h 123"/>
                  <a:gd name="T32" fmla="*/ 5 w 59"/>
                  <a:gd name="T33" fmla="*/ 40 h 123"/>
                  <a:gd name="T34" fmla="*/ 5 w 59"/>
                  <a:gd name="T35" fmla="*/ 56 h 123"/>
                  <a:gd name="T36" fmla="*/ 6 w 59"/>
                  <a:gd name="T37" fmla="*/ 56 h 123"/>
                  <a:gd name="T38" fmla="*/ 6 w 59"/>
                  <a:gd name="T39" fmla="*/ 64 h 1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9"/>
                  <a:gd name="T61" fmla="*/ 0 h 123"/>
                  <a:gd name="T62" fmla="*/ 59 w 59"/>
                  <a:gd name="T63" fmla="*/ 123 h 12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9" h="123">
                    <a:moveTo>
                      <a:pt x="58" y="76"/>
                    </a:moveTo>
                    <a:lnTo>
                      <a:pt x="58" y="83"/>
                    </a:lnTo>
                    <a:lnTo>
                      <a:pt x="42" y="106"/>
                    </a:lnTo>
                    <a:lnTo>
                      <a:pt x="42" y="115"/>
                    </a:lnTo>
                    <a:lnTo>
                      <a:pt x="33" y="122"/>
                    </a:lnTo>
                    <a:lnTo>
                      <a:pt x="33" y="91"/>
                    </a:lnTo>
                    <a:lnTo>
                      <a:pt x="8" y="83"/>
                    </a:lnTo>
                    <a:lnTo>
                      <a:pt x="0" y="68"/>
                    </a:lnTo>
                    <a:lnTo>
                      <a:pt x="17" y="45"/>
                    </a:lnTo>
                    <a:lnTo>
                      <a:pt x="8" y="7"/>
                    </a:lnTo>
                    <a:lnTo>
                      <a:pt x="17" y="0"/>
                    </a:lnTo>
                    <a:lnTo>
                      <a:pt x="42" y="0"/>
                    </a:lnTo>
                    <a:lnTo>
                      <a:pt x="50" y="7"/>
                    </a:lnTo>
                    <a:lnTo>
                      <a:pt x="58" y="0"/>
                    </a:lnTo>
                    <a:lnTo>
                      <a:pt x="50" y="15"/>
                    </a:lnTo>
                    <a:lnTo>
                      <a:pt x="58" y="38"/>
                    </a:lnTo>
                    <a:lnTo>
                      <a:pt x="42" y="52"/>
                    </a:lnTo>
                    <a:lnTo>
                      <a:pt x="42" y="68"/>
                    </a:lnTo>
                    <a:lnTo>
                      <a:pt x="58" y="68"/>
                    </a:lnTo>
                    <a:lnTo>
                      <a:pt x="58" y="7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1" name="Freeform 99"/>
              <p:cNvSpPr>
                <a:spLocks/>
              </p:cNvSpPr>
              <p:nvPr/>
            </p:nvSpPr>
            <p:spPr bwMode="auto">
              <a:xfrm>
                <a:off x="5207816" y="4267332"/>
                <a:ext cx="348193" cy="369510"/>
              </a:xfrm>
              <a:custGeom>
                <a:avLst/>
                <a:gdLst>
                  <a:gd name="T0" fmla="*/ 18 w 234"/>
                  <a:gd name="T1" fmla="*/ 60 h 214"/>
                  <a:gd name="T2" fmla="*/ 16 w 234"/>
                  <a:gd name="T3" fmla="*/ 60 h 214"/>
                  <a:gd name="T4" fmla="*/ 16 w 234"/>
                  <a:gd name="T5" fmla="*/ 71 h 214"/>
                  <a:gd name="T6" fmla="*/ 16 w 234"/>
                  <a:gd name="T7" fmla="*/ 81 h 214"/>
                  <a:gd name="T8" fmla="*/ 18 w 234"/>
                  <a:gd name="T9" fmla="*/ 81 h 214"/>
                  <a:gd name="T10" fmla="*/ 18 w 234"/>
                  <a:gd name="T11" fmla="*/ 87 h 214"/>
                  <a:gd name="T12" fmla="*/ 19 w 234"/>
                  <a:gd name="T13" fmla="*/ 97 h 214"/>
                  <a:gd name="T14" fmla="*/ 26 w 234"/>
                  <a:gd name="T15" fmla="*/ 103 h 214"/>
                  <a:gd name="T16" fmla="*/ 28 w 234"/>
                  <a:gd name="T17" fmla="*/ 103 h 214"/>
                  <a:gd name="T18" fmla="*/ 23 w 234"/>
                  <a:gd name="T19" fmla="*/ 136 h 214"/>
                  <a:gd name="T20" fmla="*/ 19 w 234"/>
                  <a:gd name="T21" fmla="*/ 136 h 214"/>
                  <a:gd name="T22" fmla="*/ 16 w 234"/>
                  <a:gd name="T23" fmla="*/ 152 h 214"/>
                  <a:gd name="T24" fmla="*/ 13 w 234"/>
                  <a:gd name="T25" fmla="*/ 147 h 214"/>
                  <a:gd name="T26" fmla="*/ 11 w 234"/>
                  <a:gd name="T27" fmla="*/ 152 h 214"/>
                  <a:gd name="T28" fmla="*/ 5 w 234"/>
                  <a:gd name="T29" fmla="*/ 147 h 214"/>
                  <a:gd name="T30" fmla="*/ 5 w 234"/>
                  <a:gd name="T31" fmla="*/ 130 h 214"/>
                  <a:gd name="T32" fmla="*/ 4 w 234"/>
                  <a:gd name="T33" fmla="*/ 130 h 214"/>
                  <a:gd name="T34" fmla="*/ 3 w 234"/>
                  <a:gd name="T35" fmla="*/ 115 h 214"/>
                  <a:gd name="T36" fmla="*/ 0 w 234"/>
                  <a:gd name="T37" fmla="*/ 103 h 214"/>
                  <a:gd name="T38" fmla="*/ 3 w 234"/>
                  <a:gd name="T39" fmla="*/ 97 h 214"/>
                  <a:gd name="T40" fmla="*/ 3 w 234"/>
                  <a:gd name="T41" fmla="*/ 81 h 214"/>
                  <a:gd name="T42" fmla="*/ 6 w 234"/>
                  <a:gd name="T43" fmla="*/ 48 h 214"/>
                  <a:gd name="T44" fmla="*/ 7 w 234"/>
                  <a:gd name="T45" fmla="*/ 14 h 214"/>
                  <a:gd name="T46" fmla="*/ 9 w 234"/>
                  <a:gd name="T47" fmla="*/ 7 h 214"/>
                  <a:gd name="T48" fmla="*/ 9 w 234"/>
                  <a:gd name="T49" fmla="*/ 0 h 214"/>
                  <a:gd name="T50" fmla="*/ 11 w 234"/>
                  <a:gd name="T51" fmla="*/ 26 h 214"/>
                  <a:gd name="T52" fmla="*/ 13 w 234"/>
                  <a:gd name="T53" fmla="*/ 41 h 214"/>
                  <a:gd name="T54" fmla="*/ 18 w 234"/>
                  <a:gd name="T55" fmla="*/ 60 h 21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34"/>
                  <a:gd name="T85" fmla="*/ 0 h 214"/>
                  <a:gd name="T86" fmla="*/ 234 w 234"/>
                  <a:gd name="T87" fmla="*/ 214 h 21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34" h="214">
                    <a:moveTo>
                      <a:pt x="150" y="84"/>
                    </a:moveTo>
                    <a:lnTo>
                      <a:pt x="141" y="84"/>
                    </a:lnTo>
                    <a:lnTo>
                      <a:pt x="141" y="99"/>
                    </a:lnTo>
                    <a:lnTo>
                      <a:pt x="141" y="114"/>
                    </a:lnTo>
                    <a:lnTo>
                      <a:pt x="150" y="114"/>
                    </a:lnTo>
                    <a:lnTo>
                      <a:pt x="150" y="122"/>
                    </a:lnTo>
                    <a:lnTo>
                      <a:pt x="167" y="137"/>
                    </a:lnTo>
                    <a:lnTo>
                      <a:pt x="217" y="145"/>
                    </a:lnTo>
                    <a:lnTo>
                      <a:pt x="233" y="145"/>
                    </a:lnTo>
                    <a:lnTo>
                      <a:pt x="191" y="190"/>
                    </a:lnTo>
                    <a:lnTo>
                      <a:pt x="158" y="190"/>
                    </a:lnTo>
                    <a:lnTo>
                      <a:pt x="141" y="213"/>
                    </a:lnTo>
                    <a:lnTo>
                      <a:pt x="116" y="206"/>
                    </a:lnTo>
                    <a:lnTo>
                      <a:pt x="91" y="213"/>
                    </a:lnTo>
                    <a:lnTo>
                      <a:pt x="41" y="206"/>
                    </a:lnTo>
                    <a:lnTo>
                      <a:pt x="41" y="183"/>
                    </a:lnTo>
                    <a:lnTo>
                      <a:pt x="33" y="183"/>
                    </a:lnTo>
                    <a:lnTo>
                      <a:pt x="8" y="160"/>
                    </a:lnTo>
                    <a:lnTo>
                      <a:pt x="0" y="145"/>
                    </a:lnTo>
                    <a:lnTo>
                      <a:pt x="8" y="137"/>
                    </a:lnTo>
                    <a:lnTo>
                      <a:pt x="16" y="114"/>
                    </a:lnTo>
                    <a:lnTo>
                      <a:pt x="50" y="68"/>
                    </a:lnTo>
                    <a:lnTo>
                      <a:pt x="58" y="14"/>
                    </a:lnTo>
                    <a:lnTo>
                      <a:pt x="83" y="7"/>
                    </a:lnTo>
                    <a:lnTo>
                      <a:pt x="83" y="0"/>
                    </a:lnTo>
                    <a:lnTo>
                      <a:pt x="100" y="38"/>
                    </a:lnTo>
                    <a:lnTo>
                      <a:pt x="116" y="53"/>
                    </a:lnTo>
                    <a:lnTo>
                      <a:pt x="150" y="8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2" name="Freeform 100"/>
              <p:cNvSpPr>
                <a:spLocks/>
              </p:cNvSpPr>
              <p:nvPr/>
            </p:nvSpPr>
            <p:spPr bwMode="auto">
              <a:xfrm>
                <a:off x="5381913" y="4425440"/>
                <a:ext cx="250485" cy="346416"/>
              </a:xfrm>
              <a:custGeom>
                <a:avLst/>
                <a:gdLst>
                  <a:gd name="T0" fmla="*/ 3 w 168"/>
                  <a:gd name="T1" fmla="*/ 90 h 200"/>
                  <a:gd name="T2" fmla="*/ 0 w 168"/>
                  <a:gd name="T3" fmla="*/ 107 h 200"/>
                  <a:gd name="T4" fmla="*/ 0 w 168"/>
                  <a:gd name="T5" fmla="*/ 141 h 200"/>
                  <a:gd name="T6" fmla="*/ 3 w 168"/>
                  <a:gd name="T7" fmla="*/ 147 h 200"/>
                  <a:gd name="T8" fmla="*/ 5 w 168"/>
                  <a:gd name="T9" fmla="*/ 125 h 200"/>
                  <a:gd name="T10" fmla="*/ 10 w 168"/>
                  <a:gd name="T11" fmla="*/ 107 h 200"/>
                  <a:gd name="T12" fmla="*/ 14 w 168"/>
                  <a:gd name="T13" fmla="*/ 86 h 200"/>
                  <a:gd name="T14" fmla="*/ 16 w 168"/>
                  <a:gd name="T15" fmla="*/ 68 h 200"/>
                  <a:gd name="T16" fmla="*/ 20 w 168"/>
                  <a:gd name="T17" fmla="*/ 20 h 200"/>
                  <a:gd name="T18" fmla="*/ 20 w 168"/>
                  <a:gd name="T19" fmla="*/ 0 h 200"/>
                  <a:gd name="T20" fmla="*/ 18 w 168"/>
                  <a:gd name="T21" fmla="*/ 0 h 200"/>
                  <a:gd name="T22" fmla="*/ 16 w 168"/>
                  <a:gd name="T23" fmla="*/ 8 h 200"/>
                  <a:gd name="T24" fmla="*/ 8 w 168"/>
                  <a:gd name="T25" fmla="*/ 20 h 200"/>
                  <a:gd name="T26" fmla="*/ 6 w 168"/>
                  <a:gd name="T27" fmla="*/ 20 h 200"/>
                  <a:gd name="T28" fmla="*/ 5 w 168"/>
                  <a:gd name="T29" fmla="*/ 8 h 200"/>
                  <a:gd name="T30" fmla="*/ 4 w 168"/>
                  <a:gd name="T31" fmla="*/ 20 h 200"/>
                  <a:gd name="T32" fmla="*/ 4 w 168"/>
                  <a:gd name="T33" fmla="*/ 20 h 200"/>
                  <a:gd name="T34" fmla="*/ 6 w 168"/>
                  <a:gd name="T35" fmla="*/ 34 h 200"/>
                  <a:gd name="T36" fmla="*/ 12 w 168"/>
                  <a:gd name="T37" fmla="*/ 42 h 200"/>
                  <a:gd name="T38" fmla="*/ 14 w 168"/>
                  <a:gd name="T39" fmla="*/ 42 h 200"/>
                  <a:gd name="T40" fmla="*/ 9 w 168"/>
                  <a:gd name="T41" fmla="*/ 75 h 200"/>
                  <a:gd name="T42" fmla="*/ 5 w 168"/>
                  <a:gd name="T43" fmla="*/ 75 h 200"/>
                  <a:gd name="T44" fmla="*/ 3 w 168"/>
                  <a:gd name="T45" fmla="*/ 90 h 2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68"/>
                  <a:gd name="T70" fmla="*/ 0 h 200"/>
                  <a:gd name="T71" fmla="*/ 168 w 168"/>
                  <a:gd name="T72" fmla="*/ 200 h 2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68" h="200">
                    <a:moveTo>
                      <a:pt x="25" y="122"/>
                    </a:moveTo>
                    <a:lnTo>
                      <a:pt x="0" y="145"/>
                    </a:lnTo>
                    <a:lnTo>
                      <a:pt x="0" y="192"/>
                    </a:lnTo>
                    <a:lnTo>
                      <a:pt x="16" y="199"/>
                    </a:lnTo>
                    <a:lnTo>
                      <a:pt x="42" y="169"/>
                    </a:lnTo>
                    <a:lnTo>
                      <a:pt x="84" y="145"/>
                    </a:lnTo>
                    <a:lnTo>
                      <a:pt x="117" y="115"/>
                    </a:lnTo>
                    <a:lnTo>
                      <a:pt x="134" y="92"/>
                    </a:lnTo>
                    <a:lnTo>
                      <a:pt x="167" y="23"/>
                    </a:lnTo>
                    <a:lnTo>
                      <a:pt x="167" y="0"/>
                    </a:lnTo>
                    <a:lnTo>
                      <a:pt x="150" y="0"/>
                    </a:lnTo>
                    <a:lnTo>
                      <a:pt x="134" y="8"/>
                    </a:lnTo>
                    <a:lnTo>
                      <a:pt x="67" y="31"/>
                    </a:lnTo>
                    <a:lnTo>
                      <a:pt x="50" y="23"/>
                    </a:lnTo>
                    <a:lnTo>
                      <a:pt x="42" y="8"/>
                    </a:lnTo>
                    <a:lnTo>
                      <a:pt x="34" y="23"/>
                    </a:lnTo>
                    <a:lnTo>
                      <a:pt x="34" y="31"/>
                    </a:lnTo>
                    <a:lnTo>
                      <a:pt x="50" y="46"/>
                    </a:lnTo>
                    <a:lnTo>
                      <a:pt x="100" y="54"/>
                    </a:lnTo>
                    <a:lnTo>
                      <a:pt x="117" y="54"/>
                    </a:lnTo>
                    <a:lnTo>
                      <a:pt x="75" y="99"/>
                    </a:lnTo>
                    <a:lnTo>
                      <a:pt x="42" y="99"/>
                    </a:lnTo>
                    <a:lnTo>
                      <a:pt x="25" y="1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3" name="Freeform 101"/>
              <p:cNvSpPr>
                <a:spLocks/>
              </p:cNvSpPr>
              <p:nvPr/>
            </p:nvSpPr>
            <p:spPr bwMode="auto">
              <a:xfrm>
                <a:off x="4021119" y="4000859"/>
                <a:ext cx="289568" cy="348192"/>
              </a:xfrm>
              <a:custGeom>
                <a:avLst/>
                <a:gdLst>
                  <a:gd name="T0" fmla="*/ 0 w 194"/>
                  <a:gd name="T1" fmla="*/ 75 h 200"/>
                  <a:gd name="T2" fmla="*/ 3 w 194"/>
                  <a:gd name="T3" fmla="*/ 71 h 200"/>
                  <a:gd name="T4" fmla="*/ 7 w 194"/>
                  <a:gd name="T5" fmla="*/ 71 h 200"/>
                  <a:gd name="T6" fmla="*/ 7 w 194"/>
                  <a:gd name="T7" fmla="*/ 64 h 200"/>
                  <a:gd name="T8" fmla="*/ 10 w 194"/>
                  <a:gd name="T9" fmla="*/ 57 h 200"/>
                  <a:gd name="T10" fmla="*/ 10 w 194"/>
                  <a:gd name="T11" fmla="*/ 23 h 200"/>
                  <a:gd name="T12" fmla="*/ 17 w 194"/>
                  <a:gd name="T13" fmla="*/ 23 h 200"/>
                  <a:gd name="T14" fmla="*/ 17 w 194"/>
                  <a:gd name="T15" fmla="*/ 0 h 200"/>
                  <a:gd name="T16" fmla="*/ 24 w 194"/>
                  <a:gd name="T17" fmla="*/ 26 h 200"/>
                  <a:gd name="T18" fmla="*/ 20 w 194"/>
                  <a:gd name="T19" fmla="*/ 26 h 200"/>
                  <a:gd name="T20" fmla="*/ 24 w 194"/>
                  <a:gd name="T21" fmla="*/ 151 h 200"/>
                  <a:gd name="T22" fmla="*/ 14 w 194"/>
                  <a:gd name="T23" fmla="*/ 151 h 200"/>
                  <a:gd name="T24" fmla="*/ 12 w 194"/>
                  <a:gd name="T25" fmla="*/ 157 h 200"/>
                  <a:gd name="T26" fmla="*/ 12 w 194"/>
                  <a:gd name="T27" fmla="*/ 151 h 200"/>
                  <a:gd name="T28" fmla="*/ 9 w 194"/>
                  <a:gd name="T29" fmla="*/ 157 h 200"/>
                  <a:gd name="T30" fmla="*/ 7 w 194"/>
                  <a:gd name="T31" fmla="*/ 139 h 200"/>
                  <a:gd name="T32" fmla="*/ 4 w 194"/>
                  <a:gd name="T33" fmla="*/ 132 h 200"/>
                  <a:gd name="T34" fmla="*/ 3 w 194"/>
                  <a:gd name="T35" fmla="*/ 132 h 200"/>
                  <a:gd name="T36" fmla="*/ 0 w 194"/>
                  <a:gd name="T37" fmla="*/ 139 h 200"/>
                  <a:gd name="T38" fmla="*/ 3 w 194"/>
                  <a:gd name="T39" fmla="*/ 114 h 200"/>
                  <a:gd name="T40" fmla="*/ 0 w 194"/>
                  <a:gd name="T41" fmla="*/ 104 h 200"/>
                  <a:gd name="T42" fmla="*/ 3 w 194"/>
                  <a:gd name="T43" fmla="*/ 91 h 200"/>
                  <a:gd name="T44" fmla="*/ 0 w 194"/>
                  <a:gd name="T45" fmla="*/ 75 h 2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4"/>
                  <a:gd name="T70" fmla="*/ 0 h 200"/>
                  <a:gd name="T71" fmla="*/ 194 w 194"/>
                  <a:gd name="T72" fmla="*/ 200 h 2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4" h="200">
                    <a:moveTo>
                      <a:pt x="0" y="99"/>
                    </a:moveTo>
                    <a:lnTo>
                      <a:pt x="9" y="92"/>
                    </a:lnTo>
                    <a:lnTo>
                      <a:pt x="59" y="92"/>
                    </a:lnTo>
                    <a:lnTo>
                      <a:pt x="59" y="77"/>
                    </a:lnTo>
                    <a:lnTo>
                      <a:pt x="84" y="69"/>
                    </a:lnTo>
                    <a:lnTo>
                      <a:pt x="84" y="23"/>
                    </a:lnTo>
                    <a:lnTo>
                      <a:pt x="135" y="23"/>
                    </a:lnTo>
                    <a:lnTo>
                      <a:pt x="135" y="0"/>
                    </a:lnTo>
                    <a:lnTo>
                      <a:pt x="193" y="38"/>
                    </a:lnTo>
                    <a:lnTo>
                      <a:pt x="160" y="38"/>
                    </a:lnTo>
                    <a:lnTo>
                      <a:pt x="185" y="192"/>
                    </a:lnTo>
                    <a:lnTo>
                      <a:pt x="110" y="192"/>
                    </a:lnTo>
                    <a:lnTo>
                      <a:pt x="101" y="199"/>
                    </a:lnTo>
                    <a:lnTo>
                      <a:pt x="92" y="192"/>
                    </a:lnTo>
                    <a:lnTo>
                      <a:pt x="76" y="199"/>
                    </a:lnTo>
                    <a:lnTo>
                      <a:pt x="59" y="176"/>
                    </a:lnTo>
                    <a:lnTo>
                      <a:pt x="34" y="168"/>
                    </a:lnTo>
                    <a:lnTo>
                      <a:pt x="9" y="168"/>
                    </a:lnTo>
                    <a:lnTo>
                      <a:pt x="0" y="176"/>
                    </a:lnTo>
                    <a:lnTo>
                      <a:pt x="9" y="145"/>
                    </a:lnTo>
                    <a:lnTo>
                      <a:pt x="0" y="130"/>
                    </a:lnTo>
                    <a:lnTo>
                      <a:pt x="9" y="115"/>
                    </a:lnTo>
                    <a:lnTo>
                      <a:pt x="0" y="9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4" name="Freeform 103"/>
              <p:cNvSpPr>
                <a:spLocks/>
              </p:cNvSpPr>
              <p:nvPr/>
            </p:nvSpPr>
            <p:spPr bwMode="auto">
              <a:xfrm>
                <a:off x="4021119" y="3988423"/>
                <a:ext cx="202520" cy="186532"/>
              </a:xfrm>
              <a:custGeom>
                <a:avLst/>
                <a:gdLst>
                  <a:gd name="T0" fmla="*/ 0 w 135"/>
                  <a:gd name="T1" fmla="*/ 77 h 108"/>
                  <a:gd name="T2" fmla="*/ 3 w 135"/>
                  <a:gd name="T3" fmla="*/ 72 h 108"/>
                  <a:gd name="T4" fmla="*/ 8 w 135"/>
                  <a:gd name="T5" fmla="*/ 72 h 108"/>
                  <a:gd name="T6" fmla="*/ 8 w 135"/>
                  <a:gd name="T7" fmla="*/ 60 h 108"/>
                  <a:gd name="T8" fmla="*/ 11 w 135"/>
                  <a:gd name="T9" fmla="*/ 53 h 108"/>
                  <a:gd name="T10" fmla="*/ 11 w 135"/>
                  <a:gd name="T11" fmla="*/ 18 h 108"/>
                  <a:gd name="T12" fmla="*/ 18 w 135"/>
                  <a:gd name="T13" fmla="*/ 18 h 108"/>
                  <a:gd name="T14" fmla="*/ 18 w 135"/>
                  <a:gd name="T15" fmla="*/ 7 h 108"/>
                  <a:gd name="T16" fmla="*/ 8 w 135"/>
                  <a:gd name="T17" fmla="*/ 0 h 108"/>
                  <a:gd name="T18" fmla="*/ 7 w 135"/>
                  <a:gd name="T19" fmla="*/ 16 h 108"/>
                  <a:gd name="T20" fmla="*/ 6 w 135"/>
                  <a:gd name="T21" fmla="*/ 18 h 108"/>
                  <a:gd name="T22" fmla="*/ 4 w 135"/>
                  <a:gd name="T23" fmla="*/ 41 h 108"/>
                  <a:gd name="T24" fmla="*/ 0 w 135"/>
                  <a:gd name="T25" fmla="*/ 66 h 108"/>
                  <a:gd name="T26" fmla="*/ 0 w 135"/>
                  <a:gd name="T27" fmla="*/ 77 h 1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5"/>
                  <a:gd name="T43" fmla="*/ 0 h 108"/>
                  <a:gd name="T44" fmla="*/ 135 w 135"/>
                  <a:gd name="T45" fmla="*/ 108 h 1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5" h="108">
                    <a:moveTo>
                      <a:pt x="0" y="107"/>
                    </a:moveTo>
                    <a:lnTo>
                      <a:pt x="9" y="100"/>
                    </a:lnTo>
                    <a:lnTo>
                      <a:pt x="59" y="100"/>
                    </a:lnTo>
                    <a:lnTo>
                      <a:pt x="59" y="84"/>
                    </a:lnTo>
                    <a:lnTo>
                      <a:pt x="83" y="77"/>
                    </a:lnTo>
                    <a:lnTo>
                      <a:pt x="83" y="30"/>
                    </a:lnTo>
                    <a:lnTo>
                      <a:pt x="134" y="30"/>
                    </a:lnTo>
                    <a:lnTo>
                      <a:pt x="134" y="7"/>
                    </a:lnTo>
                    <a:lnTo>
                      <a:pt x="59" y="0"/>
                    </a:lnTo>
                    <a:lnTo>
                      <a:pt x="50" y="16"/>
                    </a:lnTo>
                    <a:lnTo>
                      <a:pt x="42" y="30"/>
                    </a:lnTo>
                    <a:lnTo>
                      <a:pt x="33" y="53"/>
                    </a:lnTo>
                    <a:lnTo>
                      <a:pt x="0" y="91"/>
                    </a:lnTo>
                    <a:lnTo>
                      <a:pt x="0" y="10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5" name="Freeform 105"/>
              <p:cNvSpPr>
                <a:spLocks/>
              </p:cNvSpPr>
              <p:nvPr/>
            </p:nvSpPr>
            <p:spPr bwMode="auto">
              <a:xfrm>
                <a:off x="4010460" y="4292203"/>
                <a:ext cx="149225" cy="122578"/>
              </a:xfrm>
              <a:custGeom>
                <a:avLst/>
                <a:gdLst>
                  <a:gd name="T0" fmla="*/ 2 w 101"/>
                  <a:gd name="T1" fmla="*/ 42 h 70"/>
                  <a:gd name="T2" fmla="*/ 2 w 101"/>
                  <a:gd name="T3" fmla="*/ 42 h 70"/>
                  <a:gd name="T4" fmla="*/ 5 w 101"/>
                  <a:gd name="T5" fmla="*/ 35 h 70"/>
                  <a:gd name="T6" fmla="*/ 6 w 101"/>
                  <a:gd name="T7" fmla="*/ 42 h 70"/>
                  <a:gd name="T8" fmla="*/ 6 w 101"/>
                  <a:gd name="T9" fmla="*/ 35 h 70"/>
                  <a:gd name="T10" fmla="*/ 5 w 101"/>
                  <a:gd name="T11" fmla="*/ 35 h 70"/>
                  <a:gd name="T12" fmla="*/ 2 w 101"/>
                  <a:gd name="T13" fmla="*/ 35 h 70"/>
                  <a:gd name="T14" fmla="*/ 0 w 101"/>
                  <a:gd name="T15" fmla="*/ 31 h 70"/>
                  <a:gd name="T16" fmla="*/ 2 w 101"/>
                  <a:gd name="T17" fmla="*/ 8 h 70"/>
                  <a:gd name="T18" fmla="*/ 2 w 101"/>
                  <a:gd name="T19" fmla="*/ 0 h 70"/>
                  <a:gd name="T20" fmla="*/ 5 w 101"/>
                  <a:gd name="T21" fmla="*/ 0 h 70"/>
                  <a:gd name="T22" fmla="*/ 7 w 101"/>
                  <a:gd name="T23" fmla="*/ 8 h 70"/>
                  <a:gd name="T24" fmla="*/ 8 w 101"/>
                  <a:gd name="T25" fmla="*/ 31 h 70"/>
                  <a:gd name="T26" fmla="*/ 10 w 101"/>
                  <a:gd name="T27" fmla="*/ 57 h 70"/>
                  <a:gd name="T28" fmla="*/ 6 w 101"/>
                  <a:gd name="T29" fmla="*/ 57 h 70"/>
                  <a:gd name="T30" fmla="*/ 2 w 101"/>
                  <a:gd name="T31" fmla="*/ 57 h 70"/>
                  <a:gd name="T32" fmla="*/ 2 w 101"/>
                  <a:gd name="T33" fmla="*/ 42 h 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1"/>
                  <a:gd name="T52" fmla="*/ 0 h 70"/>
                  <a:gd name="T53" fmla="*/ 101 w 101"/>
                  <a:gd name="T54" fmla="*/ 70 h 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1" h="70">
                    <a:moveTo>
                      <a:pt x="8" y="54"/>
                    </a:moveTo>
                    <a:lnTo>
                      <a:pt x="17" y="54"/>
                    </a:lnTo>
                    <a:lnTo>
                      <a:pt x="42" y="46"/>
                    </a:lnTo>
                    <a:lnTo>
                      <a:pt x="50" y="54"/>
                    </a:lnTo>
                    <a:lnTo>
                      <a:pt x="58" y="46"/>
                    </a:lnTo>
                    <a:lnTo>
                      <a:pt x="42" y="46"/>
                    </a:lnTo>
                    <a:lnTo>
                      <a:pt x="8" y="46"/>
                    </a:lnTo>
                    <a:lnTo>
                      <a:pt x="0" y="31"/>
                    </a:lnTo>
                    <a:lnTo>
                      <a:pt x="8" y="8"/>
                    </a:lnTo>
                    <a:lnTo>
                      <a:pt x="17" y="0"/>
                    </a:lnTo>
                    <a:lnTo>
                      <a:pt x="42" y="0"/>
                    </a:lnTo>
                    <a:lnTo>
                      <a:pt x="67" y="8"/>
                    </a:lnTo>
                    <a:lnTo>
                      <a:pt x="84" y="31"/>
                    </a:lnTo>
                    <a:lnTo>
                      <a:pt x="100" y="69"/>
                    </a:lnTo>
                    <a:lnTo>
                      <a:pt x="58" y="69"/>
                    </a:lnTo>
                    <a:lnTo>
                      <a:pt x="8" y="69"/>
                    </a:lnTo>
                    <a:lnTo>
                      <a:pt x="8"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6" name="Freeform 107"/>
              <p:cNvSpPr>
                <a:spLocks/>
              </p:cNvSpPr>
              <p:nvPr/>
            </p:nvSpPr>
            <p:spPr bwMode="auto">
              <a:xfrm>
                <a:off x="4021119" y="4373922"/>
                <a:ext cx="76389" cy="12435"/>
              </a:xfrm>
              <a:custGeom>
                <a:avLst/>
                <a:gdLst>
                  <a:gd name="T0" fmla="*/ 0 w 51"/>
                  <a:gd name="T1" fmla="*/ 4 h 8"/>
                  <a:gd name="T2" fmla="*/ 3 w 51"/>
                  <a:gd name="T3" fmla="*/ 4 h 8"/>
                  <a:gd name="T4" fmla="*/ 4 w 51"/>
                  <a:gd name="T5" fmla="*/ 0 h 8"/>
                  <a:gd name="T6" fmla="*/ 6 w 51"/>
                  <a:gd name="T7" fmla="*/ 4 h 8"/>
                  <a:gd name="T8" fmla="*/ 7 w 51"/>
                  <a:gd name="T9" fmla="*/ 0 h 8"/>
                  <a:gd name="T10" fmla="*/ 4 w 51"/>
                  <a:gd name="T11" fmla="*/ 0 h 8"/>
                  <a:gd name="T12" fmla="*/ 0 w 51"/>
                  <a:gd name="T13" fmla="*/ 0 h 8"/>
                  <a:gd name="T14" fmla="*/ 0 w 51"/>
                  <a:gd name="T15" fmla="*/ 4 h 8"/>
                  <a:gd name="T16" fmla="*/ 0 60000 65536"/>
                  <a:gd name="T17" fmla="*/ 0 60000 65536"/>
                  <a:gd name="T18" fmla="*/ 0 60000 65536"/>
                  <a:gd name="T19" fmla="*/ 0 60000 65536"/>
                  <a:gd name="T20" fmla="*/ 0 60000 65536"/>
                  <a:gd name="T21" fmla="*/ 0 60000 65536"/>
                  <a:gd name="T22" fmla="*/ 0 60000 65536"/>
                  <a:gd name="T23" fmla="*/ 0 60000 65536"/>
                  <a:gd name="T24" fmla="*/ 0 w 51"/>
                  <a:gd name="T25" fmla="*/ 0 h 8"/>
                  <a:gd name="T26" fmla="*/ 51 w 51"/>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 h="8">
                    <a:moveTo>
                      <a:pt x="0" y="7"/>
                    </a:moveTo>
                    <a:lnTo>
                      <a:pt x="9" y="7"/>
                    </a:lnTo>
                    <a:lnTo>
                      <a:pt x="33" y="0"/>
                    </a:lnTo>
                    <a:lnTo>
                      <a:pt x="42" y="7"/>
                    </a:lnTo>
                    <a:lnTo>
                      <a:pt x="50" y="0"/>
                    </a:lnTo>
                    <a:lnTo>
                      <a:pt x="33" y="0"/>
                    </a:lnTo>
                    <a:lnTo>
                      <a:pt x="0"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7" name="Freeform 108"/>
              <p:cNvSpPr>
                <a:spLocks/>
              </p:cNvSpPr>
              <p:nvPr/>
            </p:nvSpPr>
            <p:spPr bwMode="auto">
              <a:xfrm>
                <a:off x="4021119" y="4373922"/>
                <a:ext cx="76389" cy="12435"/>
              </a:xfrm>
              <a:custGeom>
                <a:avLst/>
                <a:gdLst>
                  <a:gd name="T0" fmla="*/ 0 w 51"/>
                  <a:gd name="T1" fmla="*/ 4 h 8"/>
                  <a:gd name="T2" fmla="*/ 3 w 51"/>
                  <a:gd name="T3" fmla="*/ 4 h 8"/>
                  <a:gd name="T4" fmla="*/ 4 w 51"/>
                  <a:gd name="T5" fmla="*/ 0 h 8"/>
                  <a:gd name="T6" fmla="*/ 6 w 51"/>
                  <a:gd name="T7" fmla="*/ 4 h 8"/>
                  <a:gd name="T8" fmla="*/ 7 w 51"/>
                  <a:gd name="T9" fmla="*/ 0 h 8"/>
                  <a:gd name="T10" fmla="*/ 4 w 51"/>
                  <a:gd name="T11" fmla="*/ 0 h 8"/>
                  <a:gd name="T12" fmla="*/ 0 w 51"/>
                  <a:gd name="T13" fmla="*/ 0 h 8"/>
                  <a:gd name="T14" fmla="*/ 0 w 51"/>
                  <a:gd name="T15" fmla="*/ 4 h 8"/>
                  <a:gd name="T16" fmla="*/ 0 60000 65536"/>
                  <a:gd name="T17" fmla="*/ 0 60000 65536"/>
                  <a:gd name="T18" fmla="*/ 0 60000 65536"/>
                  <a:gd name="T19" fmla="*/ 0 60000 65536"/>
                  <a:gd name="T20" fmla="*/ 0 60000 65536"/>
                  <a:gd name="T21" fmla="*/ 0 60000 65536"/>
                  <a:gd name="T22" fmla="*/ 0 60000 65536"/>
                  <a:gd name="T23" fmla="*/ 0 60000 65536"/>
                  <a:gd name="T24" fmla="*/ 0 w 51"/>
                  <a:gd name="T25" fmla="*/ 0 h 8"/>
                  <a:gd name="T26" fmla="*/ 51 w 51"/>
                  <a:gd name="T27" fmla="*/ 8 h 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 h="8">
                    <a:moveTo>
                      <a:pt x="0" y="7"/>
                    </a:moveTo>
                    <a:lnTo>
                      <a:pt x="9" y="7"/>
                    </a:lnTo>
                    <a:lnTo>
                      <a:pt x="33" y="0"/>
                    </a:lnTo>
                    <a:lnTo>
                      <a:pt x="42" y="7"/>
                    </a:lnTo>
                    <a:lnTo>
                      <a:pt x="50" y="0"/>
                    </a:lnTo>
                    <a:lnTo>
                      <a:pt x="33" y="0"/>
                    </a:lnTo>
                    <a:lnTo>
                      <a:pt x="0"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8" name="Freeform 109"/>
              <p:cNvSpPr>
                <a:spLocks/>
              </p:cNvSpPr>
              <p:nvPr/>
            </p:nvSpPr>
            <p:spPr bwMode="auto">
              <a:xfrm>
                <a:off x="4021119" y="4413004"/>
                <a:ext cx="76389" cy="53295"/>
              </a:xfrm>
              <a:custGeom>
                <a:avLst/>
                <a:gdLst>
                  <a:gd name="T0" fmla="*/ 4 w 51"/>
                  <a:gd name="T1" fmla="*/ 18 h 31"/>
                  <a:gd name="T2" fmla="*/ 7 w 51"/>
                  <a:gd name="T3" fmla="*/ 7 h 31"/>
                  <a:gd name="T4" fmla="*/ 7 w 51"/>
                  <a:gd name="T5" fmla="*/ 0 h 31"/>
                  <a:gd name="T6" fmla="*/ 0 w 51"/>
                  <a:gd name="T7" fmla="*/ 0 h 31"/>
                  <a:gd name="T8" fmla="*/ 3 w 51"/>
                  <a:gd name="T9" fmla="*/ 7 h 31"/>
                  <a:gd name="T10" fmla="*/ 3 w 51"/>
                  <a:gd name="T11" fmla="*/ 15 h 31"/>
                  <a:gd name="T12" fmla="*/ 4 w 51"/>
                  <a:gd name="T13" fmla="*/ 18 h 31"/>
                  <a:gd name="T14" fmla="*/ 0 60000 65536"/>
                  <a:gd name="T15" fmla="*/ 0 60000 65536"/>
                  <a:gd name="T16" fmla="*/ 0 60000 65536"/>
                  <a:gd name="T17" fmla="*/ 0 60000 65536"/>
                  <a:gd name="T18" fmla="*/ 0 60000 65536"/>
                  <a:gd name="T19" fmla="*/ 0 60000 65536"/>
                  <a:gd name="T20" fmla="*/ 0 60000 65536"/>
                  <a:gd name="T21" fmla="*/ 0 w 51"/>
                  <a:gd name="T22" fmla="*/ 0 h 31"/>
                  <a:gd name="T23" fmla="*/ 51 w 5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31">
                    <a:moveTo>
                      <a:pt x="33" y="30"/>
                    </a:moveTo>
                    <a:lnTo>
                      <a:pt x="50" y="7"/>
                    </a:lnTo>
                    <a:lnTo>
                      <a:pt x="50" y="0"/>
                    </a:lnTo>
                    <a:lnTo>
                      <a:pt x="0" y="0"/>
                    </a:lnTo>
                    <a:lnTo>
                      <a:pt x="25" y="7"/>
                    </a:lnTo>
                    <a:lnTo>
                      <a:pt x="25" y="15"/>
                    </a:lnTo>
                    <a:lnTo>
                      <a:pt x="33"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89" name="Freeform 110"/>
              <p:cNvSpPr>
                <a:spLocks/>
              </p:cNvSpPr>
              <p:nvPr/>
            </p:nvSpPr>
            <p:spPr bwMode="auto">
              <a:xfrm>
                <a:off x="4021119" y="4413004"/>
                <a:ext cx="76389" cy="53295"/>
              </a:xfrm>
              <a:custGeom>
                <a:avLst/>
                <a:gdLst>
                  <a:gd name="T0" fmla="*/ 4 w 51"/>
                  <a:gd name="T1" fmla="*/ 18 h 31"/>
                  <a:gd name="T2" fmla="*/ 7 w 51"/>
                  <a:gd name="T3" fmla="*/ 7 h 31"/>
                  <a:gd name="T4" fmla="*/ 7 w 51"/>
                  <a:gd name="T5" fmla="*/ 0 h 31"/>
                  <a:gd name="T6" fmla="*/ 0 w 51"/>
                  <a:gd name="T7" fmla="*/ 0 h 31"/>
                  <a:gd name="T8" fmla="*/ 3 w 51"/>
                  <a:gd name="T9" fmla="*/ 7 h 31"/>
                  <a:gd name="T10" fmla="*/ 3 w 51"/>
                  <a:gd name="T11" fmla="*/ 15 h 31"/>
                  <a:gd name="T12" fmla="*/ 4 w 51"/>
                  <a:gd name="T13" fmla="*/ 18 h 31"/>
                  <a:gd name="T14" fmla="*/ 0 60000 65536"/>
                  <a:gd name="T15" fmla="*/ 0 60000 65536"/>
                  <a:gd name="T16" fmla="*/ 0 60000 65536"/>
                  <a:gd name="T17" fmla="*/ 0 60000 65536"/>
                  <a:gd name="T18" fmla="*/ 0 60000 65536"/>
                  <a:gd name="T19" fmla="*/ 0 60000 65536"/>
                  <a:gd name="T20" fmla="*/ 0 60000 65536"/>
                  <a:gd name="T21" fmla="*/ 0 w 51"/>
                  <a:gd name="T22" fmla="*/ 0 h 31"/>
                  <a:gd name="T23" fmla="*/ 51 w 51"/>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31">
                    <a:moveTo>
                      <a:pt x="33" y="30"/>
                    </a:moveTo>
                    <a:lnTo>
                      <a:pt x="50" y="7"/>
                    </a:lnTo>
                    <a:lnTo>
                      <a:pt x="50" y="0"/>
                    </a:lnTo>
                    <a:lnTo>
                      <a:pt x="0" y="0"/>
                    </a:lnTo>
                    <a:lnTo>
                      <a:pt x="25" y="7"/>
                    </a:lnTo>
                    <a:lnTo>
                      <a:pt x="25" y="15"/>
                    </a:lnTo>
                    <a:lnTo>
                      <a:pt x="33"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0" name="Freeform 111"/>
              <p:cNvSpPr>
                <a:spLocks/>
              </p:cNvSpPr>
              <p:nvPr/>
            </p:nvSpPr>
            <p:spPr bwMode="auto">
              <a:xfrm>
                <a:off x="4072637" y="4413004"/>
                <a:ext cx="163437" cy="135013"/>
              </a:xfrm>
              <a:custGeom>
                <a:avLst/>
                <a:gdLst>
                  <a:gd name="T0" fmla="*/ 11 w 110"/>
                  <a:gd name="T1" fmla="*/ 55 h 78"/>
                  <a:gd name="T2" fmla="*/ 13 w 110"/>
                  <a:gd name="T3" fmla="*/ 55 h 78"/>
                  <a:gd name="T4" fmla="*/ 13 w 110"/>
                  <a:gd name="T5" fmla="*/ 47 h 78"/>
                  <a:gd name="T6" fmla="*/ 13 w 110"/>
                  <a:gd name="T7" fmla="*/ 42 h 78"/>
                  <a:gd name="T8" fmla="*/ 13 w 110"/>
                  <a:gd name="T9" fmla="*/ 34 h 78"/>
                  <a:gd name="T10" fmla="*/ 13 w 110"/>
                  <a:gd name="T11" fmla="*/ 26 h 78"/>
                  <a:gd name="T12" fmla="*/ 11 w 110"/>
                  <a:gd name="T13" fmla="*/ 0 h 78"/>
                  <a:gd name="T14" fmla="*/ 8 w 110"/>
                  <a:gd name="T15" fmla="*/ 7 h 78"/>
                  <a:gd name="T16" fmla="*/ 6 w 110"/>
                  <a:gd name="T17" fmla="*/ 7 h 78"/>
                  <a:gd name="T18" fmla="*/ 7 w 110"/>
                  <a:gd name="T19" fmla="*/ 0 h 78"/>
                  <a:gd name="T20" fmla="*/ 3 w 110"/>
                  <a:gd name="T21" fmla="*/ 0 h 78"/>
                  <a:gd name="T22" fmla="*/ 3 w 110"/>
                  <a:gd name="T23" fmla="*/ 7 h 78"/>
                  <a:gd name="T24" fmla="*/ 0 w 110"/>
                  <a:gd name="T25" fmla="*/ 19 h 78"/>
                  <a:gd name="T26" fmla="*/ 3 w 110"/>
                  <a:gd name="T27" fmla="*/ 34 h 78"/>
                  <a:gd name="T28" fmla="*/ 5 w 110"/>
                  <a:gd name="T29" fmla="*/ 26 h 78"/>
                  <a:gd name="T30" fmla="*/ 6 w 110"/>
                  <a:gd name="T31" fmla="*/ 26 h 78"/>
                  <a:gd name="T32" fmla="*/ 8 w 110"/>
                  <a:gd name="T33" fmla="*/ 42 h 78"/>
                  <a:gd name="T34" fmla="*/ 8 w 110"/>
                  <a:gd name="T35" fmla="*/ 47 h 78"/>
                  <a:gd name="T36" fmla="*/ 9 w 110"/>
                  <a:gd name="T37" fmla="*/ 42 h 78"/>
                  <a:gd name="T38" fmla="*/ 11 w 110"/>
                  <a:gd name="T39" fmla="*/ 55 h 78"/>
                  <a:gd name="T40" fmla="*/ 11 w 110"/>
                  <a:gd name="T41" fmla="*/ 55 h 7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0"/>
                  <a:gd name="T64" fmla="*/ 0 h 78"/>
                  <a:gd name="T65" fmla="*/ 110 w 110"/>
                  <a:gd name="T66" fmla="*/ 78 h 7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0" h="78">
                    <a:moveTo>
                      <a:pt x="101" y="77"/>
                    </a:moveTo>
                    <a:lnTo>
                      <a:pt x="109" y="77"/>
                    </a:lnTo>
                    <a:lnTo>
                      <a:pt x="109" y="61"/>
                    </a:lnTo>
                    <a:lnTo>
                      <a:pt x="109" y="54"/>
                    </a:lnTo>
                    <a:lnTo>
                      <a:pt x="109" y="46"/>
                    </a:lnTo>
                    <a:lnTo>
                      <a:pt x="109" y="38"/>
                    </a:lnTo>
                    <a:lnTo>
                      <a:pt x="92" y="0"/>
                    </a:lnTo>
                    <a:lnTo>
                      <a:pt x="67" y="7"/>
                    </a:lnTo>
                    <a:lnTo>
                      <a:pt x="50" y="7"/>
                    </a:lnTo>
                    <a:lnTo>
                      <a:pt x="59" y="0"/>
                    </a:lnTo>
                    <a:lnTo>
                      <a:pt x="17" y="0"/>
                    </a:lnTo>
                    <a:lnTo>
                      <a:pt x="17" y="7"/>
                    </a:lnTo>
                    <a:lnTo>
                      <a:pt x="0" y="30"/>
                    </a:lnTo>
                    <a:lnTo>
                      <a:pt x="26" y="46"/>
                    </a:lnTo>
                    <a:lnTo>
                      <a:pt x="42" y="38"/>
                    </a:lnTo>
                    <a:lnTo>
                      <a:pt x="50" y="38"/>
                    </a:lnTo>
                    <a:lnTo>
                      <a:pt x="67" y="54"/>
                    </a:lnTo>
                    <a:lnTo>
                      <a:pt x="67" y="61"/>
                    </a:lnTo>
                    <a:lnTo>
                      <a:pt x="76" y="54"/>
                    </a:lnTo>
                    <a:lnTo>
                      <a:pt x="92" y="77"/>
                    </a:lnTo>
                    <a:lnTo>
                      <a:pt x="101" y="7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1" name="Freeform 113"/>
              <p:cNvSpPr>
                <a:spLocks/>
              </p:cNvSpPr>
              <p:nvPr/>
            </p:nvSpPr>
            <p:spPr bwMode="auto">
              <a:xfrm>
                <a:off x="4111720" y="4478735"/>
                <a:ext cx="62177" cy="81719"/>
              </a:xfrm>
              <a:custGeom>
                <a:avLst/>
                <a:gdLst>
                  <a:gd name="T0" fmla="*/ 0 w 42"/>
                  <a:gd name="T1" fmla="*/ 7 h 47"/>
                  <a:gd name="T2" fmla="*/ 2 w 42"/>
                  <a:gd name="T3" fmla="*/ 0 h 47"/>
                  <a:gd name="T4" fmla="*/ 2 w 42"/>
                  <a:gd name="T5" fmla="*/ 0 h 47"/>
                  <a:gd name="T6" fmla="*/ 5 w 42"/>
                  <a:gd name="T7" fmla="*/ 15 h 47"/>
                  <a:gd name="T8" fmla="*/ 5 w 42"/>
                  <a:gd name="T9" fmla="*/ 23 h 47"/>
                  <a:gd name="T10" fmla="*/ 2 w 42"/>
                  <a:gd name="T11" fmla="*/ 34 h 47"/>
                  <a:gd name="T12" fmla="*/ 2 w 42"/>
                  <a:gd name="T13" fmla="*/ 26 h 47"/>
                  <a:gd name="T14" fmla="*/ 0 w 42"/>
                  <a:gd name="T15" fmla="*/ 26 h 47"/>
                  <a:gd name="T16" fmla="*/ 0 w 42"/>
                  <a:gd name="T17" fmla="*/ 7 h 4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47"/>
                  <a:gd name="T29" fmla="*/ 42 w 42"/>
                  <a:gd name="T30" fmla="*/ 47 h 4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47">
                    <a:moveTo>
                      <a:pt x="0" y="7"/>
                    </a:moveTo>
                    <a:lnTo>
                      <a:pt x="16" y="0"/>
                    </a:lnTo>
                    <a:lnTo>
                      <a:pt x="24" y="0"/>
                    </a:lnTo>
                    <a:lnTo>
                      <a:pt x="41" y="15"/>
                    </a:lnTo>
                    <a:lnTo>
                      <a:pt x="41" y="23"/>
                    </a:lnTo>
                    <a:lnTo>
                      <a:pt x="24" y="46"/>
                    </a:lnTo>
                    <a:lnTo>
                      <a:pt x="16" y="38"/>
                    </a:lnTo>
                    <a:lnTo>
                      <a:pt x="0" y="38"/>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2" name="Freeform 115"/>
              <p:cNvSpPr>
                <a:spLocks/>
              </p:cNvSpPr>
              <p:nvPr/>
            </p:nvSpPr>
            <p:spPr bwMode="auto">
              <a:xfrm>
                <a:off x="4147250" y="4507158"/>
                <a:ext cx="101260" cy="119025"/>
              </a:xfrm>
              <a:custGeom>
                <a:avLst/>
                <a:gdLst>
                  <a:gd name="T0" fmla="*/ 8 w 68"/>
                  <a:gd name="T1" fmla="*/ 47 h 69"/>
                  <a:gd name="T2" fmla="*/ 8 w 68"/>
                  <a:gd name="T3" fmla="*/ 34 h 69"/>
                  <a:gd name="T4" fmla="*/ 7 w 68"/>
                  <a:gd name="T5" fmla="*/ 25 h 69"/>
                  <a:gd name="T6" fmla="*/ 7 w 68"/>
                  <a:gd name="T7" fmla="*/ 17 h 69"/>
                  <a:gd name="T8" fmla="*/ 5 w 68"/>
                  <a:gd name="T9" fmla="*/ 17 h 69"/>
                  <a:gd name="T10" fmla="*/ 3 w 68"/>
                  <a:gd name="T11" fmla="*/ 0 h 69"/>
                  <a:gd name="T12" fmla="*/ 3 w 68"/>
                  <a:gd name="T13" fmla="*/ 7 h 69"/>
                  <a:gd name="T14" fmla="*/ 0 w 68"/>
                  <a:gd name="T15" fmla="*/ 18 h 69"/>
                  <a:gd name="T16" fmla="*/ 7 w 68"/>
                  <a:gd name="T17" fmla="*/ 47 h 69"/>
                  <a:gd name="T18" fmla="*/ 8 w 68"/>
                  <a:gd name="T19" fmla="*/ 47 h 6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
                  <a:gd name="T31" fmla="*/ 0 h 69"/>
                  <a:gd name="T32" fmla="*/ 68 w 68"/>
                  <a:gd name="T33" fmla="*/ 69 h 6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 h="69">
                    <a:moveTo>
                      <a:pt x="67" y="68"/>
                    </a:moveTo>
                    <a:lnTo>
                      <a:pt x="67" y="46"/>
                    </a:lnTo>
                    <a:lnTo>
                      <a:pt x="51" y="37"/>
                    </a:lnTo>
                    <a:lnTo>
                      <a:pt x="51" y="23"/>
                    </a:lnTo>
                    <a:lnTo>
                      <a:pt x="42" y="23"/>
                    </a:lnTo>
                    <a:lnTo>
                      <a:pt x="26" y="0"/>
                    </a:lnTo>
                    <a:lnTo>
                      <a:pt x="17" y="7"/>
                    </a:lnTo>
                    <a:lnTo>
                      <a:pt x="0" y="30"/>
                    </a:lnTo>
                    <a:lnTo>
                      <a:pt x="51" y="68"/>
                    </a:lnTo>
                    <a:lnTo>
                      <a:pt x="67" y="6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3" name="Freeform 117"/>
              <p:cNvSpPr>
                <a:spLocks/>
              </p:cNvSpPr>
              <p:nvPr/>
            </p:nvSpPr>
            <p:spPr bwMode="auto">
              <a:xfrm>
                <a:off x="4296475" y="4345498"/>
                <a:ext cx="177649" cy="145672"/>
              </a:xfrm>
              <a:custGeom>
                <a:avLst/>
                <a:gdLst>
                  <a:gd name="T0" fmla="*/ 0 w 119"/>
                  <a:gd name="T1" fmla="*/ 53 h 84"/>
                  <a:gd name="T2" fmla="*/ 3 w 119"/>
                  <a:gd name="T3" fmla="*/ 41 h 84"/>
                  <a:gd name="T4" fmla="*/ 3 w 119"/>
                  <a:gd name="T5" fmla="*/ 21 h 84"/>
                  <a:gd name="T6" fmla="*/ 6 w 119"/>
                  <a:gd name="T7" fmla="*/ 15 h 84"/>
                  <a:gd name="T8" fmla="*/ 8 w 119"/>
                  <a:gd name="T9" fmla="*/ 0 h 84"/>
                  <a:gd name="T10" fmla="*/ 12 w 119"/>
                  <a:gd name="T11" fmla="*/ 0 h 84"/>
                  <a:gd name="T12" fmla="*/ 12 w 119"/>
                  <a:gd name="T13" fmla="*/ 15 h 84"/>
                  <a:gd name="T14" fmla="*/ 14 w 119"/>
                  <a:gd name="T15" fmla="*/ 26 h 84"/>
                  <a:gd name="T16" fmla="*/ 14 w 119"/>
                  <a:gd name="T17" fmla="*/ 26 h 84"/>
                  <a:gd name="T18" fmla="*/ 14 w 119"/>
                  <a:gd name="T19" fmla="*/ 33 h 84"/>
                  <a:gd name="T20" fmla="*/ 12 w 119"/>
                  <a:gd name="T21" fmla="*/ 41 h 84"/>
                  <a:gd name="T22" fmla="*/ 9 w 119"/>
                  <a:gd name="T23" fmla="*/ 41 h 84"/>
                  <a:gd name="T24" fmla="*/ 5 w 119"/>
                  <a:gd name="T25" fmla="*/ 41 h 84"/>
                  <a:gd name="T26" fmla="*/ 5 w 119"/>
                  <a:gd name="T27" fmla="*/ 53 h 84"/>
                  <a:gd name="T28" fmla="*/ 5 w 119"/>
                  <a:gd name="T29" fmla="*/ 60 h 84"/>
                  <a:gd name="T30" fmla="*/ 3 w 119"/>
                  <a:gd name="T31" fmla="*/ 57 h 84"/>
                  <a:gd name="T32" fmla="*/ 3 w 119"/>
                  <a:gd name="T33" fmla="*/ 57 h 84"/>
                  <a:gd name="T34" fmla="*/ 0 w 119"/>
                  <a:gd name="T35" fmla="*/ 53 h 8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19"/>
                  <a:gd name="T55" fmla="*/ 0 h 84"/>
                  <a:gd name="T56" fmla="*/ 119 w 119"/>
                  <a:gd name="T57" fmla="*/ 84 h 8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19" h="84">
                    <a:moveTo>
                      <a:pt x="0" y="68"/>
                    </a:moveTo>
                    <a:lnTo>
                      <a:pt x="8" y="53"/>
                    </a:lnTo>
                    <a:lnTo>
                      <a:pt x="26" y="23"/>
                    </a:lnTo>
                    <a:lnTo>
                      <a:pt x="50" y="15"/>
                    </a:lnTo>
                    <a:lnTo>
                      <a:pt x="67" y="0"/>
                    </a:lnTo>
                    <a:lnTo>
                      <a:pt x="92" y="0"/>
                    </a:lnTo>
                    <a:lnTo>
                      <a:pt x="92" y="15"/>
                    </a:lnTo>
                    <a:lnTo>
                      <a:pt x="109" y="38"/>
                    </a:lnTo>
                    <a:lnTo>
                      <a:pt x="118" y="38"/>
                    </a:lnTo>
                    <a:lnTo>
                      <a:pt x="118" y="45"/>
                    </a:lnTo>
                    <a:lnTo>
                      <a:pt x="100" y="53"/>
                    </a:lnTo>
                    <a:lnTo>
                      <a:pt x="76" y="53"/>
                    </a:lnTo>
                    <a:lnTo>
                      <a:pt x="42" y="53"/>
                    </a:lnTo>
                    <a:lnTo>
                      <a:pt x="42" y="68"/>
                    </a:lnTo>
                    <a:lnTo>
                      <a:pt x="42" y="83"/>
                    </a:lnTo>
                    <a:lnTo>
                      <a:pt x="26" y="76"/>
                    </a:lnTo>
                    <a:lnTo>
                      <a:pt x="8" y="76"/>
                    </a:lnTo>
                    <a:lnTo>
                      <a:pt x="0" y="6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4" name="Freeform 119"/>
              <p:cNvSpPr>
                <a:spLocks/>
              </p:cNvSpPr>
              <p:nvPr/>
            </p:nvSpPr>
            <p:spPr bwMode="auto">
              <a:xfrm>
                <a:off x="4410171" y="4437875"/>
                <a:ext cx="49742" cy="135013"/>
              </a:xfrm>
              <a:custGeom>
                <a:avLst/>
                <a:gdLst>
                  <a:gd name="T0" fmla="*/ 2 w 34"/>
                  <a:gd name="T1" fmla="*/ 0 h 77"/>
                  <a:gd name="T2" fmla="*/ 0 w 34"/>
                  <a:gd name="T3" fmla="*/ 0 h 77"/>
                  <a:gd name="T4" fmla="*/ 2 w 34"/>
                  <a:gd name="T5" fmla="*/ 38 h 77"/>
                  <a:gd name="T6" fmla="*/ 2 w 34"/>
                  <a:gd name="T7" fmla="*/ 57 h 77"/>
                  <a:gd name="T8" fmla="*/ 2 w 34"/>
                  <a:gd name="T9" fmla="*/ 64 h 77"/>
                  <a:gd name="T10" fmla="*/ 3 w 34"/>
                  <a:gd name="T11" fmla="*/ 64 h 77"/>
                  <a:gd name="T12" fmla="*/ 3 w 34"/>
                  <a:gd name="T13" fmla="*/ 38 h 77"/>
                  <a:gd name="T14" fmla="*/ 3 w 34"/>
                  <a:gd name="T15" fmla="*/ 23 h 77"/>
                  <a:gd name="T16" fmla="*/ 2 w 34"/>
                  <a:gd name="T17" fmla="*/ 15 h 77"/>
                  <a:gd name="T18" fmla="*/ 2 w 34"/>
                  <a:gd name="T19" fmla="*/ 0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4"/>
                  <a:gd name="T31" fmla="*/ 0 h 77"/>
                  <a:gd name="T32" fmla="*/ 34 w 3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4" h="77">
                    <a:moveTo>
                      <a:pt x="24" y="0"/>
                    </a:moveTo>
                    <a:lnTo>
                      <a:pt x="0" y="0"/>
                    </a:lnTo>
                    <a:lnTo>
                      <a:pt x="16" y="38"/>
                    </a:lnTo>
                    <a:lnTo>
                      <a:pt x="24" y="69"/>
                    </a:lnTo>
                    <a:lnTo>
                      <a:pt x="24" y="76"/>
                    </a:lnTo>
                    <a:lnTo>
                      <a:pt x="33" y="76"/>
                    </a:lnTo>
                    <a:lnTo>
                      <a:pt x="33" y="38"/>
                    </a:lnTo>
                    <a:lnTo>
                      <a:pt x="33" y="23"/>
                    </a:lnTo>
                    <a:lnTo>
                      <a:pt x="24" y="15"/>
                    </a:lnTo>
                    <a:lnTo>
                      <a:pt x="24"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5" name="Freeform 121"/>
              <p:cNvSpPr>
                <a:spLocks/>
              </p:cNvSpPr>
              <p:nvPr/>
            </p:nvSpPr>
            <p:spPr bwMode="auto">
              <a:xfrm>
                <a:off x="4447477" y="4413004"/>
                <a:ext cx="63954" cy="159884"/>
              </a:xfrm>
              <a:custGeom>
                <a:avLst/>
                <a:gdLst>
                  <a:gd name="T0" fmla="*/ 3 w 43"/>
                  <a:gd name="T1" fmla="*/ 7 h 92"/>
                  <a:gd name="T2" fmla="*/ 0 w 43"/>
                  <a:gd name="T3" fmla="*/ 15 h 92"/>
                  <a:gd name="T4" fmla="*/ 0 w 43"/>
                  <a:gd name="T5" fmla="*/ 23 h 92"/>
                  <a:gd name="T6" fmla="*/ 3 w 43"/>
                  <a:gd name="T7" fmla="*/ 26 h 92"/>
                  <a:gd name="T8" fmla="*/ 3 w 43"/>
                  <a:gd name="T9" fmla="*/ 41 h 92"/>
                  <a:gd name="T10" fmla="*/ 3 w 43"/>
                  <a:gd name="T11" fmla="*/ 68 h 92"/>
                  <a:gd name="T12" fmla="*/ 3 w 43"/>
                  <a:gd name="T13" fmla="*/ 68 h 92"/>
                  <a:gd name="T14" fmla="*/ 3 w 43"/>
                  <a:gd name="T15" fmla="*/ 49 h 92"/>
                  <a:gd name="T16" fmla="*/ 5 w 43"/>
                  <a:gd name="T17" fmla="*/ 23 h 92"/>
                  <a:gd name="T18" fmla="*/ 5 w 43"/>
                  <a:gd name="T19" fmla="*/ 7 h 92"/>
                  <a:gd name="T20" fmla="*/ 3 w 43"/>
                  <a:gd name="T21" fmla="*/ 0 h 92"/>
                  <a:gd name="T22" fmla="*/ 3 w 43"/>
                  <a:gd name="T23" fmla="*/ 0 h 92"/>
                  <a:gd name="T24" fmla="*/ 3 w 43"/>
                  <a:gd name="T25" fmla="*/ 7 h 9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92"/>
                  <a:gd name="T41" fmla="*/ 43 w 43"/>
                  <a:gd name="T42" fmla="*/ 92 h 9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92">
                    <a:moveTo>
                      <a:pt x="17" y="7"/>
                    </a:moveTo>
                    <a:lnTo>
                      <a:pt x="0" y="15"/>
                    </a:lnTo>
                    <a:lnTo>
                      <a:pt x="0" y="30"/>
                    </a:lnTo>
                    <a:lnTo>
                      <a:pt x="8" y="38"/>
                    </a:lnTo>
                    <a:lnTo>
                      <a:pt x="8" y="53"/>
                    </a:lnTo>
                    <a:lnTo>
                      <a:pt x="8" y="91"/>
                    </a:lnTo>
                    <a:lnTo>
                      <a:pt x="25" y="91"/>
                    </a:lnTo>
                    <a:lnTo>
                      <a:pt x="25" y="61"/>
                    </a:lnTo>
                    <a:lnTo>
                      <a:pt x="42" y="30"/>
                    </a:lnTo>
                    <a:lnTo>
                      <a:pt x="42" y="7"/>
                    </a:lnTo>
                    <a:lnTo>
                      <a:pt x="25" y="0"/>
                    </a:lnTo>
                    <a:lnTo>
                      <a:pt x="17" y="0"/>
                    </a:lnTo>
                    <a:lnTo>
                      <a:pt x="17"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6" name="Freeform 123"/>
              <p:cNvSpPr>
                <a:spLocks/>
              </p:cNvSpPr>
              <p:nvPr/>
            </p:nvSpPr>
            <p:spPr bwMode="auto">
              <a:xfrm>
                <a:off x="4646444" y="4675925"/>
                <a:ext cx="37306" cy="30200"/>
              </a:xfrm>
              <a:custGeom>
                <a:avLst/>
                <a:gdLst>
                  <a:gd name="T0" fmla="*/ 3 w 25"/>
                  <a:gd name="T1" fmla="*/ 0 h 17"/>
                  <a:gd name="T2" fmla="*/ 3 w 25"/>
                  <a:gd name="T3" fmla="*/ 16 h 17"/>
                  <a:gd name="T4" fmla="*/ 3 w 25"/>
                  <a:gd name="T5" fmla="*/ 16 h 17"/>
                  <a:gd name="T6" fmla="*/ 0 w 25"/>
                  <a:gd name="T7" fmla="*/ 16 h 17"/>
                  <a:gd name="T8" fmla="*/ 3 w 25"/>
                  <a:gd name="T9" fmla="*/ 0 h 17"/>
                  <a:gd name="T10" fmla="*/ 3 w 25"/>
                  <a:gd name="T11" fmla="*/ 0 h 17"/>
                  <a:gd name="T12" fmla="*/ 0 60000 65536"/>
                  <a:gd name="T13" fmla="*/ 0 60000 65536"/>
                  <a:gd name="T14" fmla="*/ 0 60000 65536"/>
                  <a:gd name="T15" fmla="*/ 0 60000 65536"/>
                  <a:gd name="T16" fmla="*/ 0 60000 65536"/>
                  <a:gd name="T17" fmla="*/ 0 60000 65536"/>
                  <a:gd name="T18" fmla="*/ 0 w 25"/>
                  <a:gd name="T19" fmla="*/ 0 h 17"/>
                  <a:gd name="T20" fmla="*/ 25 w 25"/>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25" h="17">
                    <a:moveTo>
                      <a:pt x="24" y="0"/>
                    </a:moveTo>
                    <a:lnTo>
                      <a:pt x="24" y="16"/>
                    </a:lnTo>
                    <a:lnTo>
                      <a:pt x="8" y="16"/>
                    </a:lnTo>
                    <a:lnTo>
                      <a:pt x="0" y="16"/>
                    </a:lnTo>
                    <a:lnTo>
                      <a:pt x="8" y="0"/>
                    </a:lnTo>
                    <a:lnTo>
                      <a:pt x="24"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7" name="Freeform 125"/>
              <p:cNvSpPr>
                <a:spLocks/>
              </p:cNvSpPr>
              <p:nvPr/>
            </p:nvSpPr>
            <p:spPr bwMode="auto">
              <a:xfrm>
                <a:off x="4681974" y="4636842"/>
                <a:ext cx="177649" cy="230944"/>
              </a:xfrm>
              <a:custGeom>
                <a:avLst/>
                <a:gdLst>
                  <a:gd name="T0" fmla="*/ 10 w 119"/>
                  <a:gd name="T1" fmla="*/ 8 h 132"/>
                  <a:gd name="T2" fmla="*/ 10 w 119"/>
                  <a:gd name="T3" fmla="*/ 31 h 132"/>
                  <a:gd name="T4" fmla="*/ 4 w 119"/>
                  <a:gd name="T5" fmla="*/ 23 h 132"/>
                  <a:gd name="T6" fmla="*/ 4 w 119"/>
                  <a:gd name="T7" fmla="*/ 33 h 132"/>
                  <a:gd name="T8" fmla="*/ 5 w 119"/>
                  <a:gd name="T9" fmla="*/ 31 h 132"/>
                  <a:gd name="T10" fmla="*/ 6 w 119"/>
                  <a:gd name="T11" fmla="*/ 33 h 132"/>
                  <a:gd name="T12" fmla="*/ 6 w 119"/>
                  <a:gd name="T13" fmla="*/ 35 h 132"/>
                  <a:gd name="T14" fmla="*/ 6 w 119"/>
                  <a:gd name="T15" fmla="*/ 72 h 132"/>
                  <a:gd name="T16" fmla="*/ 3 w 119"/>
                  <a:gd name="T17" fmla="*/ 72 h 132"/>
                  <a:gd name="T18" fmla="*/ 3 w 119"/>
                  <a:gd name="T19" fmla="*/ 80 h 132"/>
                  <a:gd name="T20" fmla="*/ 3 w 119"/>
                  <a:gd name="T21" fmla="*/ 87 h 132"/>
                  <a:gd name="T22" fmla="*/ 0 w 119"/>
                  <a:gd name="T23" fmla="*/ 87 h 132"/>
                  <a:gd name="T24" fmla="*/ 0 w 119"/>
                  <a:gd name="T25" fmla="*/ 94 h 132"/>
                  <a:gd name="T26" fmla="*/ 3 w 119"/>
                  <a:gd name="T27" fmla="*/ 107 h 132"/>
                  <a:gd name="T28" fmla="*/ 3 w 119"/>
                  <a:gd name="T29" fmla="*/ 98 h 132"/>
                  <a:gd name="T30" fmla="*/ 4 w 119"/>
                  <a:gd name="T31" fmla="*/ 98 h 132"/>
                  <a:gd name="T32" fmla="*/ 6 w 119"/>
                  <a:gd name="T33" fmla="*/ 98 h 132"/>
                  <a:gd name="T34" fmla="*/ 9 w 119"/>
                  <a:gd name="T35" fmla="*/ 94 h 132"/>
                  <a:gd name="T36" fmla="*/ 10 w 119"/>
                  <a:gd name="T37" fmla="*/ 72 h 132"/>
                  <a:gd name="T38" fmla="*/ 12 w 119"/>
                  <a:gd name="T39" fmla="*/ 58 h 132"/>
                  <a:gd name="T40" fmla="*/ 14 w 119"/>
                  <a:gd name="T41" fmla="*/ 0 h 132"/>
                  <a:gd name="T42" fmla="*/ 12 w 119"/>
                  <a:gd name="T43" fmla="*/ 8 h 132"/>
                  <a:gd name="T44" fmla="*/ 10 w 119"/>
                  <a:gd name="T45" fmla="*/ 8 h 13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9"/>
                  <a:gd name="T70" fmla="*/ 0 h 132"/>
                  <a:gd name="T71" fmla="*/ 119 w 119"/>
                  <a:gd name="T72" fmla="*/ 132 h 13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9" h="132">
                    <a:moveTo>
                      <a:pt x="84" y="8"/>
                    </a:moveTo>
                    <a:lnTo>
                      <a:pt x="84" y="31"/>
                    </a:lnTo>
                    <a:lnTo>
                      <a:pt x="34" y="23"/>
                    </a:lnTo>
                    <a:lnTo>
                      <a:pt x="34" y="39"/>
                    </a:lnTo>
                    <a:lnTo>
                      <a:pt x="42" y="31"/>
                    </a:lnTo>
                    <a:lnTo>
                      <a:pt x="50" y="39"/>
                    </a:lnTo>
                    <a:lnTo>
                      <a:pt x="50" y="47"/>
                    </a:lnTo>
                    <a:lnTo>
                      <a:pt x="50" y="84"/>
                    </a:lnTo>
                    <a:lnTo>
                      <a:pt x="26" y="84"/>
                    </a:lnTo>
                    <a:lnTo>
                      <a:pt x="9" y="92"/>
                    </a:lnTo>
                    <a:lnTo>
                      <a:pt x="9" y="100"/>
                    </a:lnTo>
                    <a:lnTo>
                      <a:pt x="0" y="100"/>
                    </a:lnTo>
                    <a:lnTo>
                      <a:pt x="0" y="115"/>
                    </a:lnTo>
                    <a:lnTo>
                      <a:pt x="26" y="131"/>
                    </a:lnTo>
                    <a:lnTo>
                      <a:pt x="26" y="122"/>
                    </a:lnTo>
                    <a:lnTo>
                      <a:pt x="34" y="122"/>
                    </a:lnTo>
                    <a:lnTo>
                      <a:pt x="50" y="122"/>
                    </a:lnTo>
                    <a:lnTo>
                      <a:pt x="76" y="115"/>
                    </a:lnTo>
                    <a:lnTo>
                      <a:pt x="84" y="84"/>
                    </a:lnTo>
                    <a:lnTo>
                      <a:pt x="100" y="70"/>
                    </a:lnTo>
                    <a:lnTo>
                      <a:pt x="118" y="0"/>
                    </a:lnTo>
                    <a:lnTo>
                      <a:pt x="92" y="8"/>
                    </a:lnTo>
                    <a:lnTo>
                      <a:pt x="84"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8" name="Freeform 127"/>
              <p:cNvSpPr>
                <a:spLocks/>
              </p:cNvSpPr>
              <p:nvPr/>
            </p:nvSpPr>
            <p:spPr bwMode="auto">
              <a:xfrm>
                <a:off x="5094121" y="4757644"/>
                <a:ext cx="53295" cy="42636"/>
              </a:xfrm>
              <a:custGeom>
                <a:avLst/>
                <a:gdLst>
                  <a:gd name="T0" fmla="*/ 5 w 35"/>
                  <a:gd name="T1" fmla="*/ 23 h 24"/>
                  <a:gd name="T2" fmla="*/ 3 w 35"/>
                  <a:gd name="T3" fmla="*/ 23 h 24"/>
                  <a:gd name="T4" fmla="*/ 0 w 35"/>
                  <a:gd name="T5" fmla="*/ 23 h 24"/>
                  <a:gd name="T6" fmla="*/ 3 w 35"/>
                  <a:gd name="T7" fmla="*/ 7 h 24"/>
                  <a:gd name="T8" fmla="*/ 5 w 35"/>
                  <a:gd name="T9" fmla="*/ 0 h 24"/>
                  <a:gd name="T10" fmla="*/ 5 w 35"/>
                  <a:gd name="T11" fmla="*/ 15 h 24"/>
                  <a:gd name="T12" fmla="*/ 5 w 35"/>
                  <a:gd name="T13" fmla="*/ 23 h 24"/>
                  <a:gd name="T14" fmla="*/ 0 60000 65536"/>
                  <a:gd name="T15" fmla="*/ 0 60000 65536"/>
                  <a:gd name="T16" fmla="*/ 0 60000 65536"/>
                  <a:gd name="T17" fmla="*/ 0 60000 65536"/>
                  <a:gd name="T18" fmla="*/ 0 60000 65536"/>
                  <a:gd name="T19" fmla="*/ 0 60000 65536"/>
                  <a:gd name="T20" fmla="*/ 0 60000 65536"/>
                  <a:gd name="T21" fmla="*/ 0 w 35"/>
                  <a:gd name="T22" fmla="*/ 0 h 24"/>
                  <a:gd name="T23" fmla="*/ 35 w 35"/>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24">
                    <a:moveTo>
                      <a:pt x="34" y="23"/>
                    </a:moveTo>
                    <a:lnTo>
                      <a:pt x="17" y="23"/>
                    </a:lnTo>
                    <a:lnTo>
                      <a:pt x="0" y="23"/>
                    </a:lnTo>
                    <a:lnTo>
                      <a:pt x="17" y="7"/>
                    </a:lnTo>
                    <a:lnTo>
                      <a:pt x="34" y="0"/>
                    </a:lnTo>
                    <a:lnTo>
                      <a:pt x="34" y="15"/>
                    </a:lnTo>
                    <a:lnTo>
                      <a:pt x="34"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199" name="Freeform 129"/>
              <p:cNvSpPr>
                <a:spLocks/>
              </p:cNvSpPr>
              <p:nvPr/>
            </p:nvSpPr>
            <p:spPr bwMode="auto">
              <a:xfrm>
                <a:off x="5118992" y="4798503"/>
                <a:ext cx="28424" cy="53295"/>
              </a:xfrm>
              <a:custGeom>
                <a:avLst/>
                <a:gdLst>
                  <a:gd name="T0" fmla="*/ 4 w 18"/>
                  <a:gd name="T1" fmla="*/ 0 h 31"/>
                  <a:gd name="T2" fmla="*/ 4 w 18"/>
                  <a:gd name="T3" fmla="*/ 7 h 31"/>
                  <a:gd name="T4" fmla="*/ 0 w 18"/>
                  <a:gd name="T5" fmla="*/ 18 h 31"/>
                  <a:gd name="T6" fmla="*/ 0 w 18"/>
                  <a:gd name="T7" fmla="*/ 7 h 31"/>
                  <a:gd name="T8" fmla="*/ 0 w 18"/>
                  <a:gd name="T9" fmla="*/ 0 h 31"/>
                  <a:gd name="T10" fmla="*/ 4 w 18"/>
                  <a:gd name="T11" fmla="*/ 0 h 31"/>
                  <a:gd name="T12" fmla="*/ 0 60000 65536"/>
                  <a:gd name="T13" fmla="*/ 0 60000 65536"/>
                  <a:gd name="T14" fmla="*/ 0 60000 65536"/>
                  <a:gd name="T15" fmla="*/ 0 60000 65536"/>
                  <a:gd name="T16" fmla="*/ 0 60000 65536"/>
                  <a:gd name="T17" fmla="*/ 0 60000 65536"/>
                  <a:gd name="T18" fmla="*/ 0 w 18"/>
                  <a:gd name="T19" fmla="*/ 0 h 31"/>
                  <a:gd name="T20" fmla="*/ 18 w 18"/>
                  <a:gd name="T21" fmla="*/ 31 h 31"/>
                </a:gdLst>
                <a:ahLst/>
                <a:cxnLst>
                  <a:cxn ang="T12">
                    <a:pos x="T0" y="T1"/>
                  </a:cxn>
                  <a:cxn ang="T13">
                    <a:pos x="T2" y="T3"/>
                  </a:cxn>
                  <a:cxn ang="T14">
                    <a:pos x="T4" y="T5"/>
                  </a:cxn>
                  <a:cxn ang="T15">
                    <a:pos x="T6" y="T7"/>
                  </a:cxn>
                  <a:cxn ang="T16">
                    <a:pos x="T8" y="T9"/>
                  </a:cxn>
                  <a:cxn ang="T17">
                    <a:pos x="T10" y="T11"/>
                  </a:cxn>
                </a:cxnLst>
                <a:rect l="T18" t="T19" r="T20" b="T21"/>
                <a:pathLst>
                  <a:path w="18" h="31">
                    <a:moveTo>
                      <a:pt x="17" y="0"/>
                    </a:moveTo>
                    <a:lnTo>
                      <a:pt x="17" y="7"/>
                    </a:lnTo>
                    <a:lnTo>
                      <a:pt x="0" y="30"/>
                    </a:lnTo>
                    <a:lnTo>
                      <a:pt x="0" y="7"/>
                    </a:lnTo>
                    <a:lnTo>
                      <a:pt x="0" y="0"/>
                    </a:lnTo>
                    <a:lnTo>
                      <a:pt x="17"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0" name="Freeform 131"/>
              <p:cNvSpPr>
                <a:spLocks/>
              </p:cNvSpPr>
              <p:nvPr/>
            </p:nvSpPr>
            <p:spPr bwMode="auto">
              <a:xfrm>
                <a:off x="4696186" y="5168013"/>
                <a:ext cx="312663" cy="335757"/>
              </a:xfrm>
              <a:custGeom>
                <a:avLst/>
                <a:gdLst>
                  <a:gd name="T0" fmla="*/ 9 w 210"/>
                  <a:gd name="T1" fmla="*/ 150 h 193"/>
                  <a:gd name="T2" fmla="*/ 8 w 210"/>
                  <a:gd name="T3" fmla="*/ 138 h 193"/>
                  <a:gd name="T4" fmla="*/ 5 w 210"/>
                  <a:gd name="T5" fmla="*/ 91 h 193"/>
                  <a:gd name="T6" fmla="*/ 5 w 210"/>
                  <a:gd name="T7" fmla="*/ 70 h 193"/>
                  <a:gd name="T8" fmla="*/ 0 w 210"/>
                  <a:gd name="T9" fmla="*/ 16 h 193"/>
                  <a:gd name="T10" fmla="*/ 0 w 210"/>
                  <a:gd name="T11" fmla="*/ 0 h 193"/>
                  <a:gd name="T12" fmla="*/ 3 w 210"/>
                  <a:gd name="T13" fmla="*/ 0 h 193"/>
                  <a:gd name="T14" fmla="*/ 5 w 210"/>
                  <a:gd name="T15" fmla="*/ 0 h 193"/>
                  <a:gd name="T16" fmla="*/ 11 w 210"/>
                  <a:gd name="T17" fmla="*/ 16 h 193"/>
                  <a:gd name="T18" fmla="*/ 15 w 210"/>
                  <a:gd name="T19" fmla="*/ 16 h 193"/>
                  <a:gd name="T20" fmla="*/ 19 w 210"/>
                  <a:gd name="T21" fmla="*/ 24 h 193"/>
                  <a:gd name="T22" fmla="*/ 22 w 210"/>
                  <a:gd name="T23" fmla="*/ 16 h 193"/>
                  <a:gd name="T24" fmla="*/ 23 w 210"/>
                  <a:gd name="T25" fmla="*/ 0 h 193"/>
                  <a:gd name="T26" fmla="*/ 24 w 210"/>
                  <a:gd name="T27" fmla="*/ 16 h 193"/>
                  <a:gd name="T28" fmla="*/ 23 w 210"/>
                  <a:gd name="T29" fmla="*/ 24 h 193"/>
                  <a:gd name="T30" fmla="*/ 22 w 210"/>
                  <a:gd name="T31" fmla="*/ 24 h 193"/>
                  <a:gd name="T32" fmla="*/ 18 w 210"/>
                  <a:gd name="T33" fmla="*/ 24 h 193"/>
                  <a:gd name="T34" fmla="*/ 16 w 210"/>
                  <a:gd name="T35" fmla="*/ 62 h 193"/>
                  <a:gd name="T36" fmla="*/ 16 w 210"/>
                  <a:gd name="T37" fmla="*/ 70 h 193"/>
                  <a:gd name="T38" fmla="*/ 16 w 210"/>
                  <a:gd name="T39" fmla="*/ 98 h 193"/>
                  <a:gd name="T40" fmla="*/ 16 w 210"/>
                  <a:gd name="T41" fmla="*/ 144 h 193"/>
                  <a:gd name="T42" fmla="*/ 13 w 210"/>
                  <a:gd name="T43" fmla="*/ 150 h 193"/>
                  <a:gd name="T44" fmla="*/ 11 w 210"/>
                  <a:gd name="T45" fmla="*/ 150 h 193"/>
                  <a:gd name="T46" fmla="*/ 9 w 210"/>
                  <a:gd name="T47" fmla="*/ 144 h 193"/>
                  <a:gd name="T48" fmla="*/ 9 w 210"/>
                  <a:gd name="T49" fmla="*/ 150 h 19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10"/>
                  <a:gd name="T76" fmla="*/ 0 h 193"/>
                  <a:gd name="T77" fmla="*/ 210 w 210"/>
                  <a:gd name="T78" fmla="*/ 193 h 19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10" h="193">
                    <a:moveTo>
                      <a:pt x="75" y="192"/>
                    </a:moveTo>
                    <a:lnTo>
                      <a:pt x="67" y="176"/>
                    </a:lnTo>
                    <a:lnTo>
                      <a:pt x="41" y="115"/>
                    </a:lnTo>
                    <a:lnTo>
                      <a:pt x="41" y="92"/>
                    </a:lnTo>
                    <a:lnTo>
                      <a:pt x="0" y="16"/>
                    </a:lnTo>
                    <a:lnTo>
                      <a:pt x="0" y="0"/>
                    </a:lnTo>
                    <a:lnTo>
                      <a:pt x="25" y="0"/>
                    </a:lnTo>
                    <a:lnTo>
                      <a:pt x="41" y="0"/>
                    </a:lnTo>
                    <a:lnTo>
                      <a:pt x="100" y="16"/>
                    </a:lnTo>
                    <a:lnTo>
                      <a:pt x="125" y="16"/>
                    </a:lnTo>
                    <a:lnTo>
                      <a:pt x="159" y="24"/>
                    </a:lnTo>
                    <a:lnTo>
                      <a:pt x="183" y="16"/>
                    </a:lnTo>
                    <a:lnTo>
                      <a:pt x="192" y="0"/>
                    </a:lnTo>
                    <a:lnTo>
                      <a:pt x="209" y="16"/>
                    </a:lnTo>
                    <a:lnTo>
                      <a:pt x="192" y="31"/>
                    </a:lnTo>
                    <a:lnTo>
                      <a:pt x="183" y="24"/>
                    </a:lnTo>
                    <a:lnTo>
                      <a:pt x="151" y="24"/>
                    </a:lnTo>
                    <a:lnTo>
                      <a:pt x="141" y="77"/>
                    </a:lnTo>
                    <a:lnTo>
                      <a:pt x="133" y="92"/>
                    </a:lnTo>
                    <a:lnTo>
                      <a:pt x="133" y="123"/>
                    </a:lnTo>
                    <a:lnTo>
                      <a:pt x="133" y="185"/>
                    </a:lnTo>
                    <a:lnTo>
                      <a:pt x="109" y="192"/>
                    </a:lnTo>
                    <a:lnTo>
                      <a:pt x="91" y="192"/>
                    </a:lnTo>
                    <a:lnTo>
                      <a:pt x="83" y="185"/>
                    </a:lnTo>
                    <a:lnTo>
                      <a:pt x="75" y="19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1" name="Freeform 133"/>
              <p:cNvSpPr>
                <a:spLocks/>
              </p:cNvSpPr>
              <p:nvPr/>
            </p:nvSpPr>
            <p:spPr bwMode="auto">
              <a:xfrm>
                <a:off x="4696186" y="4874892"/>
                <a:ext cx="302004" cy="337533"/>
              </a:xfrm>
              <a:custGeom>
                <a:avLst/>
                <a:gdLst>
                  <a:gd name="T0" fmla="*/ 0 w 202"/>
                  <a:gd name="T1" fmla="*/ 141 h 193"/>
                  <a:gd name="T2" fmla="*/ 3 w 202"/>
                  <a:gd name="T3" fmla="*/ 141 h 193"/>
                  <a:gd name="T4" fmla="*/ 5 w 202"/>
                  <a:gd name="T5" fmla="*/ 141 h 193"/>
                  <a:gd name="T6" fmla="*/ 12 w 202"/>
                  <a:gd name="T7" fmla="*/ 151 h 193"/>
                  <a:gd name="T8" fmla="*/ 16 w 202"/>
                  <a:gd name="T9" fmla="*/ 151 h 193"/>
                  <a:gd name="T10" fmla="*/ 20 w 202"/>
                  <a:gd name="T11" fmla="*/ 157 h 193"/>
                  <a:gd name="T12" fmla="*/ 24 w 202"/>
                  <a:gd name="T13" fmla="*/ 151 h 193"/>
                  <a:gd name="T14" fmla="*/ 20 w 202"/>
                  <a:gd name="T15" fmla="*/ 136 h 193"/>
                  <a:gd name="T16" fmla="*/ 20 w 202"/>
                  <a:gd name="T17" fmla="*/ 93 h 193"/>
                  <a:gd name="T18" fmla="*/ 25 w 202"/>
                  <a:gd name="T19" fmla="*/ 89 h 193"/>
                  <a:gd name="T20" fmla="*/ 24 w 202"/>
                  <a:gd name="T21" fmla="*/ 65 h 193"/>
                  <a:gd name="T22" fmla="*/ 20 w 202"/>
                  <a:gd name="T23" fmla="*/ 72 h 193"/>
                  <a:gd name="T24" fmla="*/ 20 w 202"/>
                  <a:gd name="T25" fmla="*/ 65 h 193"/>
                  <a:gd name="T26" fmla="*/ 22 w 202"/>
                  <a:gd name="T27" fmla="*/ 57 h 193"/>
                  <a:gd name="T28" fmla="*/ 20 w 202"/>
                  <a:gd name="T29" fmla="*/ 49 h 193"/>
                  <a:gd name="T30" fmla="*/ 20 w 202"/>
                  <a:gd name="T31" fmla="*/ 31 h 193"/>
                  <a:gd name="T32" fmla="*/ 17 w 202"/>
                  <a:gd name="T33" fmla="*/ 23 h 193"/>
                  <a:gd name="T34" fmla="*/ 16 w 202"/>
                  <a:gd name="T35" fmla="*/ 23 h 193"/>
                  <a:gd name="T36" fmla="*/ 16 w 202"/>
                  <a:gd name="T37" fmla="*/ 31 h 193"/>
                  <a:gd name="T38" fmla="*/ 12 w 202"/>
                  <a:gd name="T39" fmla="*/ 32 h 193"/>
                  <a:gd name="T40" fmla="*/ 10 w 202"/>
                  <a:gd name="T41" fmla="*/ 23 h 193"/>
                  <a:gd name="T42" fmla="*/ 10 w 202"/>
                  <a:gd name="T43" fmla="*/ 0 h 193"/>
                  <a:gd name="T44" fmla="*/ 9 w 202"/>
                  <a:gd name="T45" fmla="*/ 0 h 193"/>
                  <a:gd name="T46" fmla="*/ 4 w 202"/>
                  <a:gd name="T47" fmla="*/ 0 h 193"/>
                  <a:gd name="T48" fmla="*/ 3 w 202"/>
                  <a:gd name="T49" fmla="*/ 15 h 193"/>
                  <a:gd name="T50" fmla="*/ 3 w 202"/>
                  <a:gd name="T51" fmla="*/ 32 h 193"/>
                  <a:gd name="T52" fmla="*/ 3 w 202"/>
                  <a:gd name="T53" fmla="*/ 34 h 193"/>
                  <a:gd name="T54" fmla="*/ 4 w 202"/>
                  <a:gd name="T55" fmla="*/ 72 h 193"/>
                  <a:gd name="T56" fmla="*/ 4 w 202"/>
                  <a:gd name="T57" fmla="*/ 89 h 193"/>
                  <a:gd name="T58" fmla="*/ 3 w 202"/>
                  <a:gd name="T59" fmla="*/ 93 h 193"/>
                  <a:gd name="T60" fmla="*/ 0 w 202"/>
                  <a:gd name="T61" fmla="*/ 129 h 193"/>
                  <a:gd name="T62" fmla="*/ 0 w 202"/>
                  <a:gd name="T63" fmla="*/ 141 h 19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02"/>
                  <a:gd name="T97" fmla="*/ 0 h 193"/>
                  <a:gd name="T98" fmla="*/ 202 w 202"/>
                  <a:gd name="T99" fmla="*/ 193 h 19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02" h="193">
                    <a:moveTo>
                      <a:pt x="0" y="168"/>
                    </a:moveTo>
                    <a:lnTo>
                      <a:pt x="25" y="168"/>
                    </a:lnTo>
                    <a:lnTo>
                      <a:pt x="41" y="168"/>
                    </a:lnTo>
                    <a:lnTo>
                      <a:pt x="100" y="183"/>
                    </a:lnTo>
                    <a:lnTo>
                      <a:pt x="125" y="183"/>
                    </a:lnTo>
                    <a:lnTo>
                      <a:pt x="159" y="192"/>
                    </a:lnTo>
                    <a:lnTo>
                      <a:pt x="183" y="183"/>
                    </a:lnTo>
                    <a:lnTo>
                      <a:pt x="159" y="161"/>
                    </a:lnTo>
                    <a:lnTo>
                      <a:pt x="159" y="115"/>
                    </a:lnTo>
                    <a:lnTo>
                      <a:pt x="201" y="107"/>
                    </a:lnTo>
                    <a:lnTo>
                      <a:pt x="192" y="77"/>
                    </a:lnTo>
                    <a:lnTo>
                      <a:pt x="159" y="84"/>
                    </a:lnTo>
                    <a:lnTo>
                      <a:pt x="159" y="77"/>
                    </a:lnTo>
                    <a:lnTo>
                      <a:pt x="175" y="69"/>
                    </a:lnTo>
                    <a:lnTo>
                      <a:pt x="159" y="61"/>
                    </a:lnTo>
                    <a:lnTo>
                      <a:pt x="159" y="31"/>
                    </a:lnTo>
                    <a:lnTo>
                      <a:pt x="141" y="23"/>
                    </a:lnTo>
                    <a:lnTo>
                      <a:pt x="125" y="23"/>
                    </a:lnTo>
                    <a:lnTo>
                      <a:pt x="125" y="31"/>
                    </a:lnTo>
                    <a:lnTo>
                      <a:pt x="100" y="38"/>
                    </a:lnTo>
                    <a:lnTo>
                      <a:pt x="83" y="23"/>
                    </a:lnTo>
                    <a:lnTo>
                      <a:pt x="83" y="0"/>
                    </a:lnTo>
                    <a:lnTo>
                      <a:pt x="75" y="0"/>
                    </a:lnTo>
                    <a:lnTo>
                      <a:pt x="33" y="0"/>
                    </a:lnTo>
                    <a:lnTo>
                      <a:pt x="17" y="15"/>
                    </a:lnTo>
                    <a:lnTo>
                      <a:pt x="25" y="38"/>
                    </a:lnTo>
                    <a:lnTo>
                      <a:pt x="25" y="46"/>
                    </a:lnTo>
                    <a:lnTo>
                      <a:pt x="33" y="84"/>
                    </a:lnTo>
                    <a:lnTo>
                      <a:pt x="33" y="107"/>
                    </a:lnTo>
                    <a:lnTo>
                      <a:pt x="17" y="115"/>
                    </a:lnTo>
                    <a:lnTo>
                      <a:pt x="0" y="153"/>
                    </a:lnTo>
                    <a:lnTo>
                      <a:pt x="0" y="16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2" name="Freeform 135"/>
              <p:cNvSpPr>
                <a:spLocks/>
              </p:cNvSpPr>
              <p:nvPr/>
            </p:nvSpPr>
            <p:spPr bwMode="auto">
              <a:xfrm>
                <a:off x="4721057" y="4850021"/>
                <a:ext cx="14212" cy="28424"/>
              </a:xfrm>
              <a:custGeom>
                <a:avLst/>
                <a:gdLst>
                  <a:gd name="T0" fmla="*/ 4 w 9"/>
                  <a:gd name="T1" fmla="*/ 0 h 16"/>
                  <a:gd name="T2" fmla="*/ 0 w 9"/>
                  <a:gd name="T3" fmla="*/ 15 h 16"/>
                  <a:gd name="T4" fmla="*/ 0 w 9"/>
                  <a:gd name="T5" fmla="*/ 8 h 16"/>
                  <a:gd name="T6" fmla="*/ 0 w 9"/>
                  <a:gd name="T7" fmla="*/ 0 h 16"/>
                  <a:gd name="T8" fmla="*/ 4 w 9"/>
                  <a:gd name="T9" fmla="*/ 0 h 16"/>
                  <a:gd name="T10" fmla="*/ 0 60000 65536"/>
                  <a:gd name="T11" fmla="*/ 0 60000 65536"/>
                  <a:gd name="T12" fmla="*/ 0 60000 65536"/>
                  <a:gd name="T13" fmla="*/ 0 60000 65536"/>
                  <a:gd name="T14" fmla="*/ 0 60000 65536"/>
                  <a:gd name="T15" fmla="*/ 0 w 9"/>
                  <a:gd name="T16" fmla="*/ 0 h 16"/>
                  <a:gd name="T17" fmla="*/ 9 w 9"/>
                  <a:gd name="T18" fmla="*/ 16 h 16"/>
                </a:gdLst>
                <a:ahLst/>
                <a:cxnLst>
                  <a:cxn ang="T10">
                    <a:pos x="T0" y="T1"/>
                  </a:cxn>
                  <a:cxn ang="T11">
                    <a:pos x="T2" y="T3"/>
                  </a:cxn>
                  <a:cxn ang="T12">
                    <a:pos x="T4" y="T5"/>
                  </a:cxn>
                  <a:cxn ang="T13">
                    <a:pos x="T6" y="T7"/>
                  </a:cxn>
                  <a:cxn ang="T14">
                    <a:pos x="T8" y="T9"/>
                  </a:cxn>
                </a:cxnLst>
                <a:rect l="T15" t="T16" r="T17" b="T18"/>
                <a:pathLst>
                  <a:path w="9" h="16">
                    <a:moveTo>
                      <a:pt x="8" y="0"/>
                    </a:moveTo>
                    <a:lnTo>
                      <a:pt x="0" y="15"/>
                    </a:lnTo>
                    <a:lnTo>
                      <a:pt x="0" y="8"/>
                    </a:lnTo>
                    <a:lnTo>
                      <a:pt x="0" y="0"/>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3" name="Freeform 136"/>
              <p:cNvSpPr>
                <a:spLocks/>
              </p:cNvSpPr>
              <p:nvPr/>
            </p:nvSpPr>
            <p:spPr bwMode="auto">
              <a:xfrm>
                <a:off x="4721057" y="4850021"/>
                <a:ext cx="14212" cy="28424"/>
              </a:xfrm>
              <a:custGeom>
                <a:avLst/>
                <a:gdLst>
                  <a:gd name="T0" fmla="*/ 4 w 9"/>
                  <a:gd name="T1" fmla="*/ 0 h 16"/>
                  <a:gd name="T2" fmla="*/ 0 w 9"/>
                  <a:gd name="T3" fmla="*/ 15 h 16"/>
                  <a:gd name="T4" fmla="*/ 0 w 9"/>
                  <a:gd name="T5" fmla="*/ 8 h 16"/>
                  <a:gd name="T6" fmla="*/ 0 w 9"/>
                  <a:gd name="T7" fmla="*/ 0 h 16"/>
                  <a:gd name="T8" fmla="*/ 4 w 9"/>
                  <a:gd name="T9" fmla="*/ 0 h 16"/>
                  <a:gd name="T10" fmla="*/ 0 60000 65536"/>
                  <a:gd name="T11" fmla="*/ 0 60000 65536"/>
                  <a:gd name="T12" fmla="*/ 0 60000 65536"/>
                  <a:gd name="T13" fmla="*/ 0 60000 65536"/>
                  <a:gd name="T14" fmla="*/ 0 60000 65536"/>
                  <a:gd name="T15" fmla="*/ 0 w 9"/>
                  <a:gd name="T16" fmla="*/ 0 h 16"/>
                  <a:gd name="T17" fmla="*/ 9 w 9"/>
                  <a:gd name="T18" fmla="*/ 16 h 16"/>
                </a:gdLst>
                <a:ahLst/>
                <a:cxnLst>
                  <a:cxn ang="T10">
                    <a:pos x="T0" y="T1"/>
                  </a:cxn>
                  <a:cxn ang="T11">
                    <a:pos x="T2" y="T3"/>
                  </a:cxn>
                  <a:cxn ang="T12">
                    <a:pos x="T4" y="T5"/>
                  </a:cxn>
                  <a:cxn ang="T13">
                    <a:pos x="T6" y="T7"/>
                  </a:cxn>
                  <a:cxn ang="T14">
                    <a:pos x="T8" y="T9"/>
                  </a:cxn>
                </a:cxnLst>
                <a:rect l="T15" t="T16" r="T17" b="T18"/>
                <a:pathLst>
                  <a:path w="9" h="16">
                    <a:moveTo>
                      <a:pt x="8" y="0"/>
                    </a:moveTo>
                    <a:lnTo>
                      <a:pt x="0" y="15"/>
                    </a:lnTo>
                    <a:lnTo>
                      <a:pt x="0" y="8"/>
                    </a:lnTo>
                    <a:lnTo>
                      <a:pt x="0" y="0"/>
                    </a:lnTo>
                    <a:lnTo>
                      <a:pt x="8"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4" name="Freeform 137"/>
              <p:cNvSpPr>
                <a:spLocks/>
              </p:cNvSpPr>
              <p:nvPr/>
            </p:nvSpPr>
            <p:spPr bwMode="auto">
              <a:xfrm>
                <a:off x="4808105" y="5303026"/>
                <a:ext cx="387275" cy="385499"/>
              </a:xfrm>
              <a:custGeom>
                <a:avLst/>
                <a:gdLst>
                  <a:gd name="T0" fmla="*/ 29 w 260"/>
                  <a:gd name="T1" fmla="*/ 15 h 222"/>
                  <a:gd name="T2" fmla="*/ 29 w 260"/>
                  <a:gd name="T3" fmla="*/ 55 h 222"/>
                  <a:gd name="T4" fmla="*/ 29 w 260"/>
                  <a:gd name="T5" fmla="*/ 55 h 222"/>
                  <a:gd name="T6" fmla="*/ 28 w 260"/>
                  <a:gd name="T7" fmla="*/ 59 h 222"/>
                  <a:gd name="T8" fmla="*/ 29 w 260"/>
                  <a:gd name="T9" fmla="*/ 63 h 222"/>
                  <a:gd name="T10" fmla="*/ 29 w 260"/>
                  <a:gd name="T11" fmla="*/ 59 h 222"/>
                  <a:gd name="T12" fmla="*/ 31 w 260"/>
                  <a:gd name="T13" fmla="*/ 59 h 222"/>
                  <a:gd name="T14" fmla="*/ 31 w 260"/>
                  <a:gd name="T15" fmla="*/ 63 h 222"/>
                  <a:gd name="T16" fmla="*/ 31 w 260"/>
                  <a:gd name="T17" fmla="*/ 89 h 222"/>
                  <a:gd name="T18" fmla="*/ 29 w 260"/>
                  <a:gd name="T19" fmla="*/ 94 h 222"/>
                  <a:gd name="T20" fmla="*/ 26 w 260"/>
                  <a:gd name="T21" fmla="*/ 117 h 222"/>
                  <a:gd name="T22" fmla="*/ 23 w 260"/>
                  <a:gd name="T23" fmla="*/ 134 h 222"/>
                  <a:gd name="T24" fmla="*/ 20 w 260"/>
                  <a:gd name="T25" fmla="*/ 151 h 222"/>
                  <a:gd name="T26" fmla="*/ 16 w 260"/>
                  <a:gd name="T27" fmla="*/ 156 h 222"/>
                  <a:gd name="T28" fmla="*/ 14 w 260"/>
                  <a:gd name="T29" fmla="*/ 156 h 222"/>
                  <a:gd name="T30" fmla="*/ 10 w 260"/>
                  <a:gd name="T31" fmla="*/ 156 h 222"/>
                  <a:gd name="T32" fmla="*/ 7 w 260"/>
                  <a:gd name="T33" fmla="*/ 168 h 222"/>
                  <a:gd name="T34" fmla="*/ 6 w 260"/>
                  <a:gd name="T35" fmla="*/ 168 h 222"/>
                  <a:gd name="T36" fmla="*/ 4 w 260"/>
                  <a:gd name="T37" fmla="*/ 156 h 222"/>
                  <a:gd name="T38" fmla="*/ 3 w 260"/>
                  <a:gd name="T39" fmla="*/ 134 h 222"/>
                  <a:gd name="T40" fmla="*/ 3 w 260"/>
                  <a:gd name="T41" fmla="*/ 128 h 222"/>
                  <a:gd name="T42" fmla="*/ 3 w 260"/>
                  <a:gd name="T43" fmla="*/ 89 h 222"/>
                  <a:gd name="T44" fmla="*/ 0 w 260"/>
                  <a:gd name="T45" fmla="*/ 89 h 222"/>
                  <a:gd name="T46" fmla="*/ 3 w 260"/>
                  <a:gd name="T47" fmla="*/ 84 h 222"/>
                  <a:gd name="T48" fmla="*/ 3 w 260"/>
                  <a:gd name="T49" fmla="*/ 89 h 222"/>
                  <a:gd name="T50" fmla="*/ 4 w 260"/>
                  <a:gd name="T51" fmla="*/ 89 h 222"/>
                  <a:gd name="T52" fmla="*/ 7 w 260"/>
                  <a:gd name="T53" fmla="*/ 84 h 222"/>
                  <a:gd name="T54" fmla="*/ 7 w 260"/>
                  <a:gd name="T55" fmla="*/ 34 h 222"/>
                  <a:gd name="T56" fmla="*/ 8 w 260"/>
                  <a:gd name="T57" fmla="*/ 49 h 222"/>
                  <a:gd name="T58" fmla="*/ 8 w 260"/>
                  <a:gd name="T59" fmla="*/ 59 h 222"/>
                  <a:gd name="T60" fmla="*/ 10 w 260"/>
                  <a:gd name="T61" fmla="*/ 59 h 222"/>
                  <a:gd name="T62" fmla="*/ 14 w 260"/>
                  <a:gd name="T63" fmla="*/ 49 h 222"/>
                  <a:gd name="T64" fmla="*/ 15 w 260"/>
                  <a:gd name="T65" fmla="*/ 55 h 222"/>
                  <a:gd name="T66" fmla="*/ 16 w 260"/>
                  <a:gd name="T67" fmla="*/ 49 h 222"/>
                  <a:gd name="T68" fmla="*/ 21 w 260"/>
                  <a:gd name="T69" fmla="*/ 22 h 222"/>
                  <a:gd name="T70" fmla="*/ 24 w 260"/>
                  <a:gd name="T71" fmla="*/ 0 h 222"/>
                  <a:gd name="T72" fmla="*/ 28 w 260"/>
                  <a:gd name="T73" fmla="*/ 15 h 222"/>
                  <a:gd name="T74" fmla="*/ 29 w 260"/>
                  <a:gd name="T75" fmla="*/ 15 h 22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60"/>
                  <a:gd name="T115" fmla="*/ 0 h 222"/>
                  <a:gd name="T116" fmla="*/ 260 w 260"/>
                  <a:gd name="T117" fmla="*/ 222 h 22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60" h="222">
                    <a:moveTo>
                      <a:pt x="234" y="15"/>
                    </a:moveTo>
                    <a:lnTo>
                      <a:pt x="242" y="69"/>
                    </a:lnTo>
                    <a:lnTo>
                      <a:pt x="234" y="69"/>
                    </a:lnTo>
                    <a:lnTo>
                      <a:pt x="226" y="77"/>
                    </a:lnTo>
                    <a:lnTo>
                      <a:pt x="234" y="84"/>
                    </a:lnTo>
                    <a:lnTo>
                      <a:pt x="242" y="77"/>
                    </a:lnTo>
                    <a:lnTo>
                      <a:pt x="259" y="77"/>
                    </a:lnTo>
                    <a:lnTo>
                      <a:pt x="259" y="84"/>
                    </a:lnTo>
                    <a:lnTo>
                      <a:pt x="259" y="114"/>
                    </a:lnTo>
                    <a:lnTo>
                      <a:pt x="234" y="122"/>
                    </a:lnTo>
                    <a:lnTo>
                      <a:pt x="218" y="153"/>
                    </a:lnTo>
                    <a:lnTo>
                      <a:pt x="184" y="176"/>
                    </a:lnTo>
                    <a:lnTo>
                      <a:pt x="168" y="198"/>
                    </a:lnTo>
                    <a:lnTo>
                      <a:pt x="134" y="206"/>
                    </a:lnTo>
                    <a:lnTo>
                      <a:pt x="117" y="206"/>
                    </a:lnTo>
                    <a:lnTo>
                      <a:pt x="84" y="206"/>
                    </a:lnTo>
                    <a:lnTo>
                      <a:pt x="58" y="221"/>
                    </a:lnTo>
                    <a:lnTo>
                      <a:pt x="50" y="221"/>
                    </a:lnTo>
                    <a:lnTo>
                      <a:pt x="34" y="206"/>
                    </a:lnTo>
                    <a:lnTo>
                      <a:pt x="25" y="176"/>
                    </a:lnTo>
                    <a:lnTo>
                      <a:pt x="25" y="168"/>
                    </a:lnTo>
                    <a:lnTo>
                      <a:pt x="8" y="114"/>
                    </a:lnTo>
                    <a:lnTo>
                      <a:pt x="0" y="114"/>
                    </a:lnTo>
                    <a:lnTo>
                      <a:pt x="8" y="108"/>
                    </a:lnTo>
                    <a:lnTo>
                      <a:pt x="16" y="114"/>
                    </a:lnTo>
                    <a:lnTo>
                      <a:pt x="34" y="114"/>
                    </a:lnTo>
                    <a:lnTo>
                      <a:pt x="58" y="108"/>
                    </a:lnTo>
                    <a:lnTo>
                      <a:pt x="58" y="46"/>
                    </a:lnTo>
                    <a:lnTo>
                      <a:pt x="66" y="61"/>
                    </a:lnTo>
                    <a:lnTo>
                      <a:pt x="66" y="77"/>
                    </a:lnTo>
                    <a:lnTo>
                      <a:pt x="84" y="77"/>
                    </a:lnTo>
                    <a:lnTo>
                      <a:pt x="117" y="61"/>
                    </a:lnTo>
                    <a:lnTo>
                      <a:pt x="126" y="69"/>
                    </a:lnTo>
                    <a:lnTo>
                      <a:pt x="134" y="61"/>
                    </a:lnTo>
                    <a:lnTo>
                      <a:pt x="176" y="23"/>
                    </a:lnTo>
                    <a:lnTo>
                      <a:pt x="209" y="0"/>
                    </a:lnTo>
                    <a:lnTo>
                      <a:pt x="226" y="15"/>
                    </a:lnTo>
                    <a:lnTo>
                      <a:pt x="234"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5" name="Freeform 139"/>
              <p:cNvSpPr>
                <a:spLocks/>
              </p:cNvSpPr>
              <p:nvPr/>
            </p:nvSpPr>
            <p:spPr bwMode="auto">
              <a:xfrm>
                <a:off x="4895153" y="5194660"/>
                <a:ext cx="225615" cy="239826"/>
              </a:xfrm>
              <a:custGeom>
                <a:avLst/>
                <a:gdLst>
                  <a:gd name="T0" fmla="*/ 0 w 152"/>
                  <a:gd name="T1" fmla="*/ 83 h 138"/>
                  <a:gd name="T2" fmla="*/ 3 w 152"/>
                  <a:gd name="T3" fmla="*/ 95 h 138"/>
                  <a:gd name="T4" fmla="*/ 3 w 152"/>
                  <a:gd name="T5" fmla="*/ 105 h 138"/>
                  <a:gd name="T6" fmla="*/ 3 w 152"/>
                  <a:gd name="T7" fmla="*/ 105 h 138"/>
                  <a:gd name="T8" fmla="*/ 7 w 152"/>
                  <a:gd name="T9" fmla="*/ 95 h 138"/>
                  <a:gd name="T10" fmla="*/ 8 w 152"/>
                  <a:gd name="T11" fmla="*/ 100 h 138"/>
                  <a:gd name="T12" fmla="*/ 9 w 152"/>
                  <a:gd name="T13" fmla="*/ 95 h 138"/>
                  <a:gd name="T14" fmla="*/ 13 w 152"/>
                  <a:gd name="T15" fmla="*/ 64 h 138"/>
                  <a:gd name="T16" fmla="*/ 18 w 152"/>
                  <a:gd name="T17" fmla="*/ 49 h 138"/>
                  <a:gd name="T18" fmla="*/ 15 w 152"/>
                  <a:gd name="T19" fmla="*/ 49 h 138"/>
                  <a:gd name="T20" fmla="*/ 13 w 152"/>
                  <a:gd name="T21" fmla="*/ 33 h 138"/>
                  <a:gd name="T22" fmla="*/ 11 w 152"/>
                  <a:gd name="T23" fmla="*/ 22 h 138"/>
                  <a:gd name="T24" fmla="*/ 9 w 152"/>
                  <a:gd name="T25" fmla="*/ 0 h 138"/>
                  <a:gd name="T26" fmla="*/ 7 w 152"/>
                  <a:gd name="T27" fmla="*/ 15 h 138"/>
                  <a:gd name="T28" fmla="*/ 6 w 152"/>
                  <a:gd name="T29" fmla="*/ 8 h 138"/>
                  <a:gd name="T30" fmla="*/ 3 w 152"/>
                  <a:gd name="T31" fmla="*/ 8 h 138"/>
                  <a:gd name="T32" fmla="*/ 3 w 152"/>
                  <a:gd name="T33" fmla="*/ 49 h 138"/>
                  <a:gd name="T34" fmla="*/ 0 w 152"/>
                  <a:gd name="T35" fmla="*/ 60 h 138"/>
                  <a:gd name="T36" fmla="*/ 0 w 152"/>
                  <a:gd name="T37" fmla="*/ 83 h 13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2"/>
                  <a:gd name="T58" fmla="*/ 0 h 138"/>
                  <a:gd name="T59" fmla="*/ 152 w 152"/>
                  <a:gd name="T60" fmla="*/ 138 h 13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2" h="138">
                    <a:moveTo>
                      <a:pt x="0" y="107"/>
                    </a:moveTo>
                    <a:lnTo>
                      <a:pt x="8" y="122"/>
                    </a:lnTo>
                    <a:lnTo>
                      <a:pt x="8" y="137"/>
                    </a:lnTo>
                    <a:lnTo>
                      <a:pt x="26" y="137"/>
                    </a:lnTo>
                    <a:lnTo>
                      <a:pt x="59" y="122"/>
                    </a:lnTo>
                    <a:lnTo>
                      <a:pt x="68" y="130"/>
                    </a:lnTo>
                    <a:lnTo>
                      <a:pt x="76" y="122"/>
                    </a:lnTo>
                    <a:lnTo>
                      <a:pt x="118" y="83"/>
                    </a:lnTo>
                    <a:lnTo>
                      <a:pt x="151" y="61"/>
                    </a:lnTo>
                    <a:lnTo>
                      <a:pt x="126" y="61"/>
                    </a:lnTo>
                    <a:lnTo>
                      <a:pt x="118" y="45"/>
                    </a:lnTo>
                    <a:lnTo>
                      <a:pt x="100" y="23"/>
                    </a:lnTo>
                    <a:lnTo>
                      <a:pt x="76" y="0"/>
                    </a:lnTo>
                    <a:lnTo>
                      <a:pt x="59" y="15"/>
                    </a:lnTo>
                    <a:lnTo>
                      <a:pt x="50" y="8"/>
                    </a:lnTo>
                    <a:lnTo>
                      <a:pt x="18" y="8"/>
                    </a:lnTo>
                    <a:lnTo>
                      <a:pt x="8" y="61"/>
                    </a:lnTo>
                    <a:lnTo>
                      <a:pt x="0" y="76"/>
                    </a:lnTo>
                    <a:lnTo>
                      <a:pt x="0" y="10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6" name="Freeform 141"/>
              <p:cNvSpPr>
                <a:spLocks/>
              </p:cNvSpPr>
              <p:nvPr/>
            </p:nvSpPr>
            <p:spPr bwMode="auto">
              <a:xfrm>
                <a:off x="5007073" y="5141366"/>
                <a:ext cx="202520" cy="188308"/>
              </a:xfrm>
              <a:custGeom>
                <a:avLst/>
                <a:gdLst>
                  <a:gd name="T0" fmla="*/ 11 w 135"/>
                  <a:gd name="T1" fmla="*/ 0 h 108"/>
                  <a:gd name="T2" fmla="*/ 8 w 135"/>
                  <a:gd name="T3" fmla="*/ 0 h 108"/>
                  <a:gd name="T4" fmla="*/ 8 w 135"/>
                  <a:gd name="T5" fmla="*/ 8 h 108"/>
                  <a:gd name="T6" fmla="*/ 4 w 135"/>
                  <a:gd name="T7" fmla="*/ 27 h 108"/>
                  <a:gd name="T8" fmla="*/ 0 w 135"/>
                  <a:gd name="T9" fmla="*/ 27 h 108"/>
                  <a:gd name="T10" fmla="*/ 3 w 135"/>
                  <a:gd name="T11" fmla="*/ 41 h 108"/>
                  <a:gd name="T12" fmla="*/ 6 w 135"/>
                  <a:gd name="T13" fmla="*/ 64 h 108"/>
                  <a:gd name="T14" fmla="*/ 7 w 135"/>
                  <a:gd name="T15" fmla="*/ 74 h 108"/>
                  <a:gd name="T16" fmla="*/ 10 w 135"/>
                  <a:gd name="T17" fmla="*/ 74 h 108"/>
                  <a:gd name="T18" fmla="*/ 12 w 135"/>
                  <a:gd name="T19" fmla="*/ 83 h 108"/>
                  <a:gd name="T20" fmla="*/ 13 w 135"/>
                  <a:gd name="T21" fmla="*/ 83 h 108"/>
                  <a:gd name="T22" fmla="*/ 17 w 135"/>
                  <a:gd name="T23" fmla="*/ 57 h 108"/>
                  <a:gd name="T24" fmla="*/ 18 w 135"/>
                  <a:gd name="T25" fmla="*/ 27 h 108"/>
                  <a:gd name="T26" fmla="*/ 17 w 135"/>
                  <a:gd name="T27" fmla="*/ 8 h 108"/>
                  <a:gd name="T28" fmla="*/ 13 w 135"/>
                  <a:gd name="T29" fmla="*/ 0 h 108"/>
                  <a:gd name="T30" fmla="*/ 11 w 135"/>
                  <a:gd name="T31" fmla="*/ 0 h 1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5"/>
                  <a:gd name="T49" fmla="*/ 0 h 108"/>
                  <a:gd name="T50" fmla="*/ 135 w 135"/>
                  <a:gd name="T51" fmla="*/ 108 h 10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5" h="108">
                    <a:moveTo>
                      <a:pt x="84" y="0"/>
                    </a:moveTo>
                    <a:lnTo>
                      <a:pt x="58" y="0"/>
                    </a:lnTo>
                    <a:lnTo>
                      <a:pt x="58" y="8"/>
                    </a:lnTo>
                    <a:lnTo>
                      <a:pt x="34" y="30"/>
                    </a:lnTo>
                    <a:lnTo>
                      <a:pt x="0" y="30"/>
                    </a:lnTo>
                    <a:lnTo>
                      <a:pt x="24" y="53"/>
                    </a:lnTo>
                    <a:lnTo>
                      <a:pt x="42" y="76"/>
                    </a:lnTo>
                    <a:lnTo>
                      <a:pt x="50" y="91"/>
                    </a:lnTo>
                    <a:lnTo>
                      <a:pt x="75" y="91"/>
                    </a:lnTo>
                    <a:lnTo>
                      <a:pt x="92" y="107"/>
                    </a:lnTo>
                    <a:lnTo>
                      <a:pt x="100" y="107"/>
                    </a:lnTo>
                    <a:lnTo>
                      <a:pt x="125" y="69"/>
                    </a:lnTo>
                    <a:lnTo>
                      <a:pt x="134" y="30"/>
                    </a:lnTo>
                    <a:lnTo>
                      <a:pt x="125" y="8"/>
                    </a:lnTo>
                    <a:lnTo>
                      <a:pt x="100" y="0"/>
                    </a:lnTo>
                    <a:lnTo>
                      <a:pt x="84"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7" name="Freeform 143"/>
              <p:cNvSpPr>
                <a:spLocks/>
              </p:cNvSpPr>
              <p:nvPr/>
            </p:nvSpPr>
            <p:spPr bwMode="auto">
              <a:xfrm>
                <a:off x="5133204" y="4997470"/>
                <a:ext cx="250485" cy="437017"/>
              </a:xfrm>
              <a:custGeom>
                <a:avLst/>
                <a:gdLst>
                  <a:gd name="T0" fmla="*/ 5 w 168"/>
                  <a:gd name="T1" fmla="*/ 187 h 252"/>
                  <a:gd name="T2" fmla="*/ 5 w 168"/>
                  <a:gd name="T3" fmla="*/ 182 h 252"/>
                  <a:gd name="T4" fmla="*/ 5 w 168"/>
                  <a:gd name="T5" fmla="*/ 177 h 252"/>
                  <a:gd name="T6" fmla="*/ 10 w 168"/>
                  <a:gd name="T7" fmla="*/ 166 h 252"/>
                  <a:gd name="T8" fmla="*/ 11 w 168"/>
                  <a:gd name="T9" fmla="*/ 160 h 252"/>
                  <a:gd name="T10" fmla="*/ 11 w 168"/>
                  <a:gd name="T11" fmla="*/ 142 h 252"/>
                  <a:gd name="T12" fmla="*/ 8 w 168"/>
                  <a:gd name="T13" fmla="*/ 114 h 252"/>
                  <a:gd name="T14" fmla="*/ 13 w 168"/>
                  <a:gd name="T15" fmla="*/ 87 h 252"/>
                  <a:gd name="T16" fmla="*/ 17 w 168"/>
                  <a:gd name="T17" fmla="*/ 74 h 252"/>
                  <a:gd name="T18" fmla="*/ 20 w 168"/>
                  <a:gd name="T19" fmla="*/ 57 h 252"/>
                  <a:gd name="T20" fmla="*/ 19 w 168"/>
                  <a:gd name="T21" fmla="*/ 0 h 252"/>
                  <a:gd name="T22" fmla="*/ 17 w 168"/>
                  <a:gd name="T23" fmla="*/ 14 h 252"/>
                  <a:gd name="T24" fmla="*/ 12 w 168"/>
                  <a:gd name="T25" fmla="*/ 14 h 252"/>
                  <a:gd name="T26" fmla="*/ 10 w 168"/>
                  <a:gd name="T27" fmla="*/ 14 h 252"/>
                  <a:gd name="T28" fmla="*/ 8 w 168"/>
                  <a:gd name="T29" fmla="*/ 21 h 252"/>
                  <a:gd name="T30" fmla="*/ 10 w 168"/>
                  <a:gd name="T31" fmla="*/ 33 h 252"/>
                  <a:gd name="T32" fmla="*/ 11 w 168"/>
                  <a:gd name="T33" fmla="*/ 53 h 252"/>
                  <a:gd name="T34" fmla="*/ 11 w 168"/>
                  <a:gd name="T35" fmla="*/ 61 h 252"/>
                  <a:gd name="T36" fmla="*/ 10 w 168"/>
                  <a:gd name="T37" fmla="*/ 74 h 252"/>
                  <a:gd name="T38" fmla="*/ 8 w 168"/>
                  <a:gd name="T39" fmla="*/ 61 h 252"/>
                  <a:gd name="T40" fmla="*/ 8 w 168"/>
                  <a:gd name="T41" fmla="*/ 53 h 252"/>
                  <a:gd name="T42" fmla="*/ 7 w 168"/>
                  <a:gd name="T43" fmla="*/ 53 h 252"/>
                  <a:gd name="T44" fmla="*/ 6 w 168"/>
                  <a:gd name="T45" fmla="*/ 41 h 252"/>
                  <a:gd name="T46" fmla="*/ 0 w 168"/>
                  <a:gd name="T47" fmla="*/ 57 h 252"/>
                  <a:gd name="T48" fmla="*/ 0 w 168"/>
                  <a:gd name="T49" fmla="*/ 61 h 252"/>
                  <a:gd name="T50" fmla="*/ 3 w 168"/>
                  <a:gd name="T51" fmla="*/ 61 h 252"/>
                  <a:gd name="T52" fmla="*/ 5 w 168"/>
                  <a:gd name="T53" fmla="*/ 67 h 252"/>
                  <a:gd name="T54" fmla="*/ 6 w 168"/>
                  <a:gd name="T55" fmla="*/ 87 h 252"/>
                  <a:gd name="T56" fmla="*/ 5 w 168"/>
                  <a:gd name="T57" fmla="*/ 114 h 252"/>
                  <a:gd name="T58" fmla="*/ 3 w 168"/>
                  <a:gd name="T59" fmla="*/ 142 h 252"/>
                  <a:gd name="T60" fmla="*/ 3 w 168"/>
                  <a:gd name="T61" fmla="*/ 182 h 252"/>
                  <a:gd name="T62" fmla="*/ 3 w 168"/>
                  <a:gd name="T63" fmla="*/ 187 h 252"/>
                  <a:gd name="T64" fmla="*/ 5 w 168"/>
                  <a:gd name="T65" fmla="*/ 187 h 25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8"/>
                  <a:gd name="T100" fmla="*/ 0 h 252"/>
                  <a:gd name="T101" fmla="*/ 168 w 168"/>
                  <a:gd name="T102" fmla="*/ 252 h 25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8" h="252">
                    <a:moveTo>
                      <a:pt x="41" y="251"/>
                    </a:moveTo>
                    <a:lnTo>
                      <a:pt x="41" y="244"/>
                    </a:lnTo>
                    <a:lnTo>
                      <a:pt x="41" y="236"/>
                    </a:lnTo>
                    <a:lnTo>
                      <a:pt x="83" y="221"/>
                    </a:lnTo>
                    <a:lnTo>
                      <a:pt x="91" y="213"/>
                    </a:lnTo>
                    <a:lnTo>
                      <a:pt x="91" y="190"/>
                    </a:lnTo>
                    <a:lnTo>
                      <a:pt x="67" y="152"/>
                    </a:lnTo>
                    <a:lnTo>
                      <a:pt x="109" y="114"/>
                    </a:lnTo>
                    <a:lnTo>
                      <a:pt x="141" y="98"/>
                    </a:lnTo>
                    <a:lnTo>
                      <a:pt x="167" y="76"/>
                    </a:lnTo>
                    <a:lnTo>
                      <a:pt x="159" y="0"/>
                    </a:lnTo>
                    <a:lnTo>
                      <a:pt x="141" y="14"/>
                    </a:lnTo>
                    <a:lnTo>
                      <a:pt x="100" y="14"/>
                    </a:lnTo>
                    <a:lnTo>
                      <a:pt x="83" y="14"/>
                    </a:lnTo>
                    <a:lnTo>
                      <a:pt x="67" y="30"/>
                    </a:lnTo>
                    <a:lnTo>
                      <a:pt x="83" y="45"/>
                    </a:lnTo>
                    <a:lnTo>
                      <a:pt x="91" y="68"/>
                    </a:lnTo>
                    <a:lnTo>
                      <a:pt x="91" y="84"/>
                    </a:lnTo>
                    <a:lnTo>
                      <a:pt x="83" y="98"/>
                    </a:lnTo>
                    <a:lnTo>
                      <a:pt x="67" y="84"/>
                    </a:lnTo>
                    <a:lnTo>
                      <a:pt x="67" y="68"/>
                    </a:lnTo>
                    <a:lnTo>
                      <a:pt x="59" y="68"/>
                    </a:lnTo>
                    <a:lnTo>
                      <a:pt x="50" y="53"/>
                    </a:lnTo>
                    <a:lnTo>
                      <a:pt x="0" y="76"/>
                    </a:lnTo>
                    <a:lnTo>
                      <a:pt x="0" y="84"/>
                    </a:lnTo>
                    <a:lnTo>
                      <a:pt x="17" y="84"/>
                    </a:lnTo>
                    <a:lnTo>
                      <a:pt x="41" y="91"/>
                    </a:lnTo>
                    <a:lnTo>
                      <a:pt x="50" y="114"/>
                    </a:lnTo>
                    <a:lnTo>
                      <a:pt x="41" y="152"/>
                    </a:lnTo>
                    <a:lnTo>
                      <a:pt x="17" y="190"/>
                    </a:lnTo>
                    <a:lnTo>
                      <a:pt x="25" y="244"/>
                    </a:lnTo>
                    <a:lnTo>
                      <a:pt x="25" y="251"/>
                    </a:lnTo>
                    <a:lnTo>
                      <a:pt x="41" y="25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8" name="Freeform 144"/>
              <p:cNvSpPr>
                <a:spLocks/>
              </p:cNvSpPr>
              <p:nvPr/>
            </p:nvSpPr>
            <p:spPr bwMode="auto">
              <a:xfrm>
                <a:off x="5145639" y="5422051"/>
                <a:ext cx="26647" cy="28424"/>
              </a:xfrm>
              <a:custGeom>
                <a:avLst/>
                <a:gdLst>
                  <a:gd name="T0" fmla="*/ 2 w 18"/>
                  <a:gd name="T1" fmla="*/ 8 h 16"/>
                  <a:gd name="T2" fmla="*/ 2 w 18"/>
                  <a:gd name="T3" fmla="*/ 0 h 16"/>
                  <a:gd name="T4" fmla="*/ 2 w 18"/>
                  <a:gd name="T5" fmla="*/ 0 h 16"/>
                  <a:gd name="T6" fmla="*/ 0 w 18"/>
                  <a:gd name="T7" fmla="*/ 8 h 16"/>
                  <a:gd name="T8" fmla="*/ 2 w 18"/>
                  <a:gd name="T9" fmla="*/ 15 h 16"/>
                  <a:gd name="T10" fmla="*/ 2 w 18"/>
                  <a:gd name="T11" fmla="*/ 8 h 16"/>
                  <a:gd name="T12" fmla="*/ 0 60000 65536"/>
                  <a:gd name="T13" fmla="*/ 0 60000 65536"/>
                  <a:gd name="T14" fmla="*/ 0 60000 65536"/>
                  <a:gd name="T15" fmla="*/ 0 60000 65536"/>
                  <a:gd name="T16" fmla="*/ 0 60000 65536"/>
                  <a:gd name="T17" fmla="*/ 0 60000 65536"/>
                  <a:gd name="T18" fmla="*/ 0 w 18"/>
                  <a:gd name="T19" fmla="*/ 0 h 16"/>
                  <a:gd name="T20" fmla="*/ 18 w 1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8" h="16">
                    <a:moveTo>
                      <a:pt x="17" y="8"/>
                    </a:moveTo>
                    <a:lnTo>
                      <a:pt x="17" y="0"/>
                    </a:lnTo>
                    <a:lnTo>
                      <a:pt x="9" y="0"/>
                    </a:lnTo>
                    <a:lnTo>
                      <a:pt x="0" y="8"/>
                    </a:lnTo>
                    <a:lnTo>
                      <a:pt x="9" y="15"/>
                    </a:lnTo>
                    <a:lnTo>
                      <a:pt x="17"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09" name="Freeform 145"/>
              <p:cNvSpPr>
                <a:spLocks/>
              </p:cNvSpPr>
              <p:nvPr/>
            </p:nvSpPr>
            <p:spPr bwMode="auto">
              <a:xfrm>
                <a:off x="5145639" y="5422051"/>
                <a:ext cx="26647" cy="28424"/>
              </a:xfrm>
              <a:custGeom>
                <a:avLst/>
                <a:gdLst>
                  <a:gd name="T0" fmla="*/ 2 w 18"/>
                  <a:gd name="T1" fmla="*/ 8 h 16"/>
                  <a:gd name="T2" fmla="*/ 2 w 18"/>
                  <a:gd name="T3" fmla="*/ 0 h 16"/>
                  <a:gd name="T4" fmla="*/ 2 w 18"/>
                  <a:gd name="T5" fmla="*/ 0 h 16"/>
                  <a:gd name="T6" fmla="*/ 0 w 18"/>
                  <a:gd name="T7" fmla="*/ 8 h 16"/>
                  <a:gd name="T8" fmla="*/ 2 w 18"/>
                  <a:gd name="T9" fmla="*/ 15 h 16"/>
                  <a:gd name="T10" fmla="*/ 2 w 18"/>
                  <a:gd name="T11" fmla="*/ 8 h 16"/>
                  <a:gd name="T12" fmla="*/ 0 60000 65536"/>
                  <a:gd name="T13" fmla="*/ 0 60000 65536"/>
                  <a:gd name="T14" fmla="*/ 0 60000 65536"/>
                  <a:gd name="T15" fmla="*/ 0 60000 65536"/>
                  <a:gd name="T16" fmla="*/ 0 60000 65536"/>
                  <a:gd name="T17" fmla="*/ 0 60000 65536"/>
                  <a:gd name="T18" fmla="*/ 0 w 18"/>
                  <a:gd name="T19" fmla="*/ 0 h 16"/>
                  <a:gd name="T20" fmla="*/ 18 w 1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18" h="16">
                    <a:moveTo>
                      <a:pt x="17" y="8"/>
                    </a:moveTo>
                    <a:lnTo>
                      <a:pt x="17" y="0"/>
                    </a:lnTo>
                    <a:lnTo>
                      <a:pt x="9" y="0"/>
                    </a:lnTo>
                    <a:lnTo>
                      <a:pt x="0" y="8"/>
                    </a:lnTo>
                    <a:lnTo>
                      <a:pt x="9" y="15"/>
                    </a:lnTo>
                    <a:lnTo>
                      <a:pt x="17"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0" name="Freeform 147"/>
              <p:cNvSpPr>
                <a:spLocks/>
              </p:cNvSpPr>
              <p:nvPr/>
            </p:nvSpPr>
            <p:spPr bwMode="auto">
              <a:xfrm>
                <a:off x="5170510" y="3762809"/>
                <a:ext cx="62177" cy="28424"/>
              </a:xfrm>
              <a:custGeom>
                <a:avLst/>
                <a:gdLst>
                  <a:gd name="T0" fmla="*/ 0 w 42"/>
                  <a:gd name="T1" fmla="*/ 8 h 16"/>
                  <a:gd name="T2" fmla="*/ 2 w 42"/>
                  <a:gd name="T3" fmla="*/ 15 h 16"/>
                  <a:gd name="T4" fmla="*/ 2 w 42"/>
                  <a:gd name="T5" fmla="*/ 15 h 16"/>
                  <a:gd name="T6" fmla="*/ 4 w 42"/>
                  <a:gd name="T7" fmla="*/ 8 h 16"/>
                  <a:gd name="T8" fmla="*/ 5 w 42"/>
                  <a:gd name="T9" fmla="*/ 0 h 16"/>
                  <a:gd name="T10" fmla="*/ 0 w 42"/>
                  <a:gd name="T11" fmla="*/ 8 h 16"/>
                  <a:gd name="T12" fmla="*/ 0 60000 65536"/>
                  <a:gd name="T13" fmla="*/ 0 60000 65536"/>
                  <a:gd name="T14" fmla="*/ 0 60000 65536"/>
                  <a:gd name="T15" fmla="*/ 0 60000 65536"/>
                  <a:gd name="T16" fmla="*/ 0 60000 65536"/>
                  <a:gd name="T17" fmla="*/ 0 60000 65536"/>
                  <a:gd name="T18" fmla="*/ 0 w 42"/>
                  <a:gd name="T19" fmla="*/ 0 h 16"/>
                  <a:gd name="T20" fmla="*/ 42 w 42"/>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42" h="16">
                    <a:moveTo>
                      <a:pt x="0" y="8"/>
                    </a:moveTo>
                    <a:lnTo>
                      <a:pt x="16" y="15"/>
                    </a:lnTo>
                    <a:lnTo>
                      <a:pt x="25" y="15"/>
                    </a:lnTo>
                    <a:lnTo>
                      <a:pt x="33" y="8"/>
                    </a:lnTo>
                    <a:lnTo>
                      <a:pt x="41"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1" name="Freeform 148"/>
              <p:cNvSpPr>
                <a:spLocks/>
              </p:cNvSpPr>
              <p:nvPr/>
            </p:nvSpPr>
            <p:spPr bwMode="auto">
              <a:xfrm>
                <a:off x="5170510" y="3762809"/>
                <a:ext cx="62177" cy="28424"/>
              </a:xfrm>
              <a:custGeom>
                <a:avLst/>
                <a:gdLst>
                  <a:gd name="T0" fmla="*/ 0 w 42"/>
                  <a:gd name="T1" fmla="*/ 8 h 16"/>
                  <a:gd name="T2" fmla="*/ 2 w 42"/>
                  <a:gd name="T3" fmla="*/ 15 h 16"/>
                  <a:gd name="T4" fmla="*/ 2 w 42"/>
                  <a:gd name="T5" fmla="*/ 15 h 16"/>
                  <a:gd name="T6" fmla="*/ 4 w 42"/>
                  <a:gd name="T7" fmla="*/ 8 h 16"/>
                  <a:gd name="T8" fmla="*/ 5 w 42"/>
                  <a:gd name="T9" fmla="*/ 0 h 16"/>
                  <a:gd name="T10" fmla="*/ 0 w 42"/>
                  <a:gd name="T11" fmla="*/ 8 h 16"/>
                  <a:gd name="T12" fmla="*/ 0 60000 65536"/>
                  <a:gd name="T13" fmla="*/ 0 60000 65536"/>
                  <a:gd name="T14" fmla="*/ 0 60000 65536"/>
                  <a:gd name="T15" fmla="*/ 0 60000 65536"/>
                  <a:gd name="T16" fmla="*/ 0 60000 65536"/>
                  <a:gd name="T17" fmla="*/ 0 60000 65536"/>
                  <a:gd name="T18" fmla="*/ 0 w 42"/>
                  <a:gd name="T19" fmla="*/ 0 h 16"/>
                  <a:gd name="T20" fmla="*/ 42 w 42"/>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42" h="16">
                    <a:moveTo>
                      <a:pt x="0" y="8"/>
                    </a:moveTo>
                    <a:lnTo>
                      <a:pt x="16" y="15"/>
                    </a:lnTo>
                    <a:lnTo>
                      <a:pt x="25" y="15"/>
                    </a:lnTo>
                    <a:lnTo>
                      <a:pt x="33" y="8"/>
                    </a:lnTo>
                    <a:lnTo>
                      <a:pt x="41"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2" name="Freeform 151"/>
              <p:cNvSpPr>
                <a:spLocks/>
              </p:cNvSpPr>
              <p:nvPr/>
            </p:nvSpPr>
            <p:spPr bwMode="auto">
              <a:xfrm>
                <a:off x="5483149" y="2169313"/>
                <a:ext cx="39083" cy="67507"/>
              </a:xfrm>
              <a:custGeom>
                <a:avLst/>
                <a:gdLst>
                  <a:gd name="T0" fmla="*/ 0 w 26"/>
                  <a:gd name="T1" fmla="*/ 26 h 39"/>
                  <a:gd name="T2" fmla="*/ 3 w 26"/>
                  <a:gd name="T3" fmla="*/ 19 h 39"/>
                  <a:gd name="T4" fmla="*/ 3 w 26"/>
                  <a:gd name="T5" fmla="*/ 15 h 39"/>
                  <a:gd name="T6" fmla="*/ 3 w 26"/>
                  <a:gd name="T7" fmla="*/ 0 h 39"/>
                  <a:gd name="T8" fmla="*/ 0 w 26"/>
                  <a:gd name="T9" fmla="*/ 15 h 39"/>
                  <a:gd name="T10" fmla="*/ 0 w 26"/>
                  <a:gd name="T11" fmla="*/ 26 h 39"/>
                  <a:gd name="T12" fmla="*/ 0 60000 65536"/>
                  <a:gd name="T13" fmla="*/ 0 60000 65536"/>
                  <a:gd name="T14" fmla="*/ 0 60000 65536"/>
                  <a:gd name="T15" fmla="*/ 0 60000 65536"/>
                  <a:gd name="T16" fmla="*/ 0 60000 65536"/>
                  <a:gd name="T17" fmla="*/ 0 60000 65536"/>
                  <a:gd name="T18" fmla="*/ 0 w 26"/>
                  <a:gd name="T19" fmla="*/ 0 h 39"/>
                  <a:gd name="T20" fmla="*/ 26 w 26"/>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6" h="39">
                    <a:moveTo>
                      <a:pt x="0" y="38"/>
                    </a:moveTo>
                    <a:lnTo>
                      <a:pt x="17" y="31"/>
                    </a:lnTo>
                    <a:lnTo>
                      <a:pt x="25" y="15"/>
                    </a:lnTo>
                    <a:lnTo>
                      <a:pt x="8" y="0"/>
                    </a:lnTo>
                    <a:lnTo>
                      <a:pt x="0" y="15"/>
                    </a:lnTo>
                    <a:lnTo>
                      <a:pt x="0"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3" name="Freeform 153"/>
              <p:cNvSpPr>
                <a:spLocks/>
              </p:cNvSpPr>
              <p:nvPr/>
            </p:nvSpPr>
            <p:spPr bwMode="auto">
              <a:xfrm>
                <a:off x="5568420" y="2210173"/>
                <a:ext cx="39083" cy="67507"/>
              </a:xfrm>
              <a:custGeom>
                <a:avLst/>
                <a:gdLst>
                  <a:gd name="T0" fmla="*/ 0 w 26"/>
                  <a:gd name="T1" fmla="*/ 26 h 39"/>
                  <a:gd name="T2" fmla="*/ 3 w 26"/>
                  <a:gd name="T3" fmla="*/ 19 h 39"/>
                  <a:gd name="T4" fmla="*/ 3 w 26"/>
                  <a:gd name="T5" fmla="*/ 15 h 39"/>
                  <a:gd name="T6" fmla="*/ 3 w 26"/>
                  <a:gd name="T7" fmla="*/ 0 h 39"/>
                  <a:gd name="T8" fmla="*/ 0 w 26"/>
                  <a:gd name="T9" fmla="*/ 15 h 39"/>
                  <a:gd name="T10" fmla="*/ 0 w 26"/>
                  <a:gd name="T11" fmla="*/ 26 h 39"/>
                  <a:gd name="T12" fmla="*/ 0 60000 65536"/>
                  <a:gd name="T13" fmla="*/ 0 60000 65536"/>
                  <a:gd name="T14" fmla="*/ 0 60000 65536"/>
                  <a:gd name="T15" fmla="*/ 0 60000 65536"/>
                  <a:gd name="T16" fmla="*/ 0 60000 65536"/>
                  <a:gd name="T17" fmla="*/ 0 60000 65536"/>
                  <a:gd name="T18" fmla="*/ 0 w 26"/>
                  <a:gd name="T19" fmla="*/ 0 h 39"/>
                  <a:gd name="T20" fmla="*/ 26 w 26"/>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6" h="39">
                    <a:moveTo>
                      <a:pt x="0" y="38"/>
                    </a:moveTo>
                    <a:lnTo>
                      <a:pt x="17" y="31"/>
                    </a:lnTo>
                    <a:lnTo>
                      <a:pt x="25" y="15"/>
                    </a:lnTo>
                    <a:lnTo>
                      <a:pt x="8" y="0"/>
                    </a:lnTo>
                    <a:lnTo>
                      <a:pt x="0" y="15"/>
                    </a:lnTo>
                    <a:lnTo>
                      <a:pt x="0"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4" name="Freeform 155"/>
              <p:cNvSpPr>
                <a:spLocks/>
              </p:cNvSpPr>
              <p:nvPr/>
            </p:nvSpPr>
            <p:spPr bwMode="auto">
              <a:xfrm>
                <a:off x="4209407" y="3482143"/>
                <a:ext cx="277132" cy="255815"/>
              </a:xfrm>
              <a:custGeom>
                <a:avLst/>
                <a:gdLst>
                  <a:gd name="T0" fmla="*/ 3 w 185"/>
                  <a:gd name="T1" fmla="*/ 26 h 147"/>
                  <a:gd name="T2" fmla="*/ 7 w 185"/>
                  <a:gd name="T3" fmla="*/ 26 h 147"/>
                  <a:gd name="T4" fmla="*/ 7 w 185"/>
                  <a:gd name="T5" fmla="*/ 34 h 147"/>
                  <a:gd name="T6" fmla="*/ 4 w 185"/>
                  <a:gd name="T7" fmla="*/ 41 h 147"/>
                  <a:gd name="T8" fmla="*/ 4 w 185"/>
                  <a:gd name="T9" fmla="*/ 62 h 147"/>
                  <a:gd name="T10" fmla="*/ 3 w 185"/>
                  <a:gd name="T11" fmla="*/ 66 h 147"/>
                  <a:gd name="T12" fmla="*/ 4 w 185"/>
                  <a:gd name="T13" fmla="*/ 91 h 147"/>
                  <a:gd name="T14" fmla="*/ 3 w 185"/>
                  <a:gd name="T15" fmla="*/ 103 h 147"/>
                  <a:gd name="T16" fmla="*/ 8 w 185"/>
                  <a:gd name="T17" fmla="*/ 114 h 147"/>
                  <a:gd name="T18" fmla="*/ 8 w 185"/>
                  <a:gd name="T19" fmla="*/ 108 h 147"/>
                  <a:gd name="T20" fmla="*/ 14 w 185"/>
                  <a:gd name="T21" fmla="*/ 108 h 147"/>
                  <a:gd name="T22" fmla="*/ 19 w 185"/>
                  <a:gd name="T23" fmla="*/ 75 h 147"/>
                  <a:gd name="T24" fmla="*/ 17 w 185"/>
                  <a:gd name="T25" fmla="*/ 66 h 147"/>
                  <a:gd name="T26" fmla="*/ 20 w 185"/>
                  <a:gd name="T27" fmla="*/ 41 h 147"/>
                  <a:gd name="T28" fmla="*/ 24 w 185"/>
                  <a:gd name="T29" fmla="*/ 26 h 147"/>
                  <a:gd name="T30" fmla="*/ 24 w 185"/>
                  <a:gd name="T31" fmla="*/ 23 h 147"/>
                  <a:gd name="T32" fmla="*/ 17 w 185"/>
                  <a:gd name="T33" fmla="*/ 15 h 147"/>
                  <a:gd name="T34" fmla="*/ 15 w 185"/>
                  <a:gd name="T35" fmla="*/ 8 h 147"/>
                  <a:gd name="T36" fmla="*/ 14 w 185"/>
                  <a:gd name="T37" fmla="*/ 8 h 147"/>
                  <a:gd name="T38" fmla="*/ 11 w 185"/>
                  <a:gd name="T39" fmla="*/ 8 h 147"/>
                  <a:gd name="T40" fmla="*/ 9 w 185"/>
                  <a:gd name="T41" fmla="*/ 8 h 147"/>
                  <a:gd name="T42" fmla="*/ 3 w 185"/>
                  <a:gd name="T43" fmla="*/ 0 h 147"/>
                  <a:gd name="T44" fmla="*/ 3 w 185"/>
                  <a:gd name="T45" fmla="*/ 8 h 147"/>
                  <a:gd name="T46" fmla="*/ 0 w 185"/>
                  <a:gd name="T47" fmla="*/ 8 h 147"/>
                  <a:gd name="T48" fmla="*/ 0 w 185"/>
                  <a:gd name="T49" fmla="*/ 15 h 147"/>
                  <a:gd name="T50" fmla="*/ 3 w 185"/>
                  <a:gd name="T51" fmla="*/ 26 h 14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85"/>
                  <a:gd name="T79" fmla="*/ 0 h 147"/>
                  <a:gd name="T80" fmla="*/ 185 w 185"/>
                  <a:gd name="T81" fmla="*/ 147 h 14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85" h="147">
                    <a:moveTo>
                      <a:pt x="8" y="38"/>
                    </a:moveTo>
                    <a:lnTo>
                      <a:pt x="50" y="38"/>
                    </a:lnTo>
                    <a:lnTo>
                      <a:pt x="50" y="46"/>
                    </a:lnTo>
                    <a:lnTo>
                      <a:pt x="34" y="53"/>
                    </a:lnTo>
                    <a:lnTo>
                      <a:pt x="34" y="76"/>
                    </a:lnTo>
                    <a:lnTo>
                      <a:pt x="24" y="84"/>
                    </a:lnTo>
                    <a:lnTo>
                      <a:pt x="34" y="115"/>
                    </a:lnTo>
                    <a:lnTo>
                      <a:pt x="24" y="130"/>
                    </a:lnTo>
                    <a:lnTo>
                      <a:pt x="58" y="146"/>
                    </a:lnTo>
                    <a:lnTo>
                      <a:pt x="66" y="137"/>
                    </a:lnTo>
                    <a:lnTo>
                      <a:pt x="108" y="137"/>
                    </a:lnTo>
                    <a:lnTo>
                      <a:pt x="150" y="99"/>
                    </a:lnTo>
                    <a:lnTo>
                      <a:pt x="134" y="84"/>
                    </a:lnTo>
                    <a:lnTo>
                      <a:pt x="158" y="53"/>
                    </a:lnTo>
                    <a:lnTo>
                      <a:pt x="184" y="38"/>
                    </a:lnTo>
                    <a:lnTo>
                      <a:pt x="184" y="23"/>
                    </a:lnTo>
                    <a:lnTo>
                      <a:pt x="134" y="15"/>
                    </a:lnTo>
                    <a:lnTo>
                      <a:pt x="117" y="8"/>
                    </a:lnTo>
                    <a:lnTo>
                      <a:pt x="108" y="8"/>
                    </a:lnTo>
                    <a:lnTo>
                      <a:pt x="84" y="8"/>
                    </a:lnTo>
                    <a:lnTo>
                      <a:pt x="75" y="8"/>
                    </a:lnTo>
                    <a:lnTo>
                      <a:pt x="16" y="0"/>
                    </a:lnTo>
                    <a:lnTo>
                      <a:pt x="8" y="8"/>
                    </a:lnTo>
                    <a:lnTo>
                      <a:pt x="0" y="8"/>
                    </a:lnTo>
                    <a:lnTo>
                      <a:pt x="0" y="15"/>
                    </a:lnTo>
                    <a:lnTo>
                      <a:pt x="8"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5" name="Line 156"/>
              <p:cNvSpPr>
                <a:spLocks noChangeShapeType="1"/>
              </p:cNvSpPr>
              <p:nvPr/>
            </p:nvSpPr>
            <p:spPr bwMode="auto">
              <a:xfrm>
                <a:off x="5044356" y="3668675"/>
                <a:ext cx="1776" cy="12435"/>
              </a:xfrm>
              <a:prstGeom prst="line">
                <a:avLst/>
              </a:prstGeom>
              <a:grpFill/>
              <a:ln w="0">
                <a:solidFill>
                  <a:schemeClr val="bg1">
                    <a:lumMod val="75000"/>
                  </a:schemeClr>
                </a:solidFill>
                <a:round/>
                <a:headEnd type="none" w="sm" len="sm"/>
                <a:tailEnd type="none" w="sm" len="sm"/>
              </a:ln>
            </p:spPr>
            <p:txBody>
              <a:bodyPr wrap="none" anchor="ctr"/>
              <a:lstStyle/>
              <a:p>
                <a:pPr>
                  <a:defRPr/>
                </a:pPr>
                <a:endParaRPr lang="en-US" dirty="0"/>
              </a:p>
            </p:txBody>
          </p:sp>
          <p:sp>
            <p:nvSpPr>
              <p:cNvPr id="216" name="Freeform 158"/>
              <p:cNvSpPr>
                <a:spLocks/>
              </p:cNvSpPr>
              <p:nvPr/>
            </p:nvSpPr>
            <p:spPr bwMode="auto">
              <a:xfrm>
                <a:off x="5133181" y="2712921"/>
                <a:ext cx="62177" cy="95931"/>
              </a:xfrm>
              <a:custGeom>
                <a:avLst/>
                <a:gdLst>
                  <a:gd name="T0" fmla="*/ 0 w 42"/>
                  <a:gd name="T1" fmla="*/ 15 h 55"/>
                  <a:gd name="T2" fmla="*/ 2 w 42"/>
                  <a:gd name="T3" fmla="*/ 27 h 55"/>
                  <a:gd name="T4" fmla="*/ 2 w 42"/>
                  <a:gd name="T5" fmla="*/ 42 h 55"/>
                  <a:gd name="T6" fmla="*/ 2 w 42"/>
                  <a:gd name="T7" fmla="*/ 34 h 55"/>
                  <a:gd name="T8" fmla="*/ 5 w 42"/>
                  <a:gd name="T9" fmla="*/ 34 h 55"/>
                  <a:gd name="T10" fmla="*/ 5 w 42"/>
                  <a:gd name="T11" fmla="*/ 27 h 55"/>
                  <a:gd name="T12" fmla="*/ 2 w 42"/>
                  <a:gd name="T13" fmla="*/ 0 h 55"/>
                  <a:gd name="T14" fmla="*/ 2 w 42"/>
                  <a:gd name="T15" fmla="*/ 0 h 55"/>
                  <a:gd name="T16" fmla="*/ 0 w 42"/>
                  <a:gd name="T17" fmla="*/ 15 h 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55"/>
                  <a:gd name="T29" fmla="*/ 42 w 42"/>
                  <a:gd name="T30" fmla="*/ 55 h 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55">
                    <a:moveTo>
                      <a:pt x="0" y="15"/>
                    </a:moveTo>
                    <a:lnTo>
                      <a:pt x="8" y="31"/>
                    </a:lnTo>
                    <a:lnTo>
                      <a:pt x="16" y="54"/>
                    </a:lnTo>
                    <a:lnTo>
                      <a:pt x="24" y="46"/>
                    </a:lnTo>
                    <a:lnTo>
                      <a:pt x="41" y="46"/>
                    </a:lnTo>
                    <a:lnTo>
                      <a:pt x="41" y="31"/>
                    </a:lnTo>
                    <a:lnTo>
                      <a:pt x="16" y="0"/>
                    </a:lnTo>
                    <a:lnTo>
                      <a:pt x="8" y="0"/>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7" name="Freeform 159"/>
              <p:cNvSpPr>
                <a:spLocks/>
              </p:cNvSpPr>
              <p:nvPr/>
            </p:nvSpPr>
            <p:spPr bwMode="auto">
              <a:xfrm>
                <a:off x="5133181" y="2712921"/>
                <a:ext cx="62177" cy="95931"/>
              </a:xfrm>
              <a:custGeom>
                <a:avLst/>
                <a:gdLst>
                  <a:gd name="T0" fmla="*/ 0 w 42"/>
                  <a:gd name="T1" fmla="*/ 15 h 55"/>
                  <a:gd name="T2" fmla="*/ 2 w 42"/>
                  <a:gd name="T3" fmla="*/ 27 h 55"/>
                  <a:gd name="T4" fmla="*/ 2 w 42"/>
                  <a:gd name="T5" fmla="*/ 42 h 55"/>
                  <a:gd name="T6" fmla="*/ 2 w 42"/>
                  <a:gd name="T7" fmla="*/ 34 h 55"/>
                  <a:gd name="T8" fmla="*/ 5 w 42"/>
                  <a:gd name="T9" fmla="*/ 34 h 55"/>
                  <a:gd name="T10" fmla="*/ 5 w 42"/>
                  <a:gd name="T11" fmla="*/ 27 h 55"/>
                  <a:gd name="T12" fmla="*/ 2 w 42"/>
                  <a:gd name="T13" fmla="*/ 0 h 55"/>
                  <a:gd name="T14" fmla="*/ 2 w 42"/>
                  <a:gd name="T15" fmla="*/ 0 h 55"/>
                  <a:gd name="T16" fmla="*/ 0 w 42"/>
                  <a:gd name="T17" fmla="*/ 15 h 5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55"/>
                  <a:gd name="T29" fmla="*/ 42 w 42"/>
                  <a:gd name="T30" fmla="*/ 55 h 5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55">
                    <a:moveTo>
                      <a:pt x="0" y="15"/>
                    </a:moveTo>
                    <a:lnTo>
                      <a:pt x="8" y="31"/>
                    </a:lnTo>
                    <a:lnTo>
                      <a:pt x="16" y="54"/>
                    </a:lnTo>
                    <a:lnTo>
                      <a:pt x="24" y="46"/>
                    </a:lnTo>
                    <a:lnTo>
                      <a:pt x="41" y="46"/>
                    </a:lnTo>
                    <a:lnTo>
                      <a:pt x="41" y="31"/>
                    </a:lnTo>
                    <a:lnTo>
                      <a:pt x="16" y="0"/>
                    </a:lnTo>
                    <a:lnTo>
                      <a:pt x="8" y="0"/>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8" name="Freeform 160"/>
              <p:cNvSpPr>
                <a:spLocks/>
              </p:cNvSpPr>
              <p:nvPr/>
            </p:nvSpPr>
            <p:spPr bwMode="auto">
              <a:xfrm>
                <a:off x="5230887" y="2648967"/>
                <a:ext cx="53295" cy="90601"/>
              </a:xfrm>
              <a:custGeom>
                <a:avLst/>
                <a:gdLst>
                  <a:gd name="T0" fmla="*/ 0 w 35"/>
                  <a:gd name="T1" fmla="*/ 25 h 53"/>
                  <a:gd name="T2" fmla="*/ 3 w 35"/>
                  <a:gd name="T3" fmla="*/ 30 h 53"/>
                  <a:gd name="T4" fmla="*/ 3 w 35"/>
                  <a:gd name="T5" fmla="*/ 33 h 53"/>
                  <a:gd name="T6" fmla="*/ 5 w 35"/>
                  <a:gd name="T7" fmla="*/ 33 h 53"/>
                  <a:gd name="T8" fmla="*/ 3 w 35"/>
                  <a:gd name="T9" fmla="*/ 17 h 53"/>
                  <a:gd name="T10" fmla="*/ 3 w 35"/>
                  <a:gd name="T11" fmla="*/ 7 h 53"/>
                  <a:gd name="T12" fmla="*/ 3 w 35"/>
                  <a:gd name="T13" fmla="*/ 7 h 53"/>
                  <a:gd name="T14" fmla="*/ 0 w 35"/>
                  <a:gd name="T15" fmla="*/ 0 h 53"/>
                  <a:gd name="T16" fmla="*/ 3 w 35"/>
                  <a:gd name="T17" fmla="*/ 7 h 53"/>
                  <a:gd name="T18" fmla="*/ 3 w 35"/>
                  <a:gd name="T19" fmla="*/ 13 h 53"/>
                  <a:gd name="T20" fmla="*/ 0 w 35"/>
                  <a:gd name="T21" fmla="*/ 13 h 53"/>
                  <a:gd name="T22" fmla="*/ 0 w 35"/>
                  <a:gd name="T23" fmla="*/ 25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53"/>
                  <a:gd name="T38" fmla="*/ 35 w 3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53">
                    <a:moveTo>
                      <a:pt x="0" y="37"/>
                    </a:moveTo>
                    <a:lnTo>
                      <a:pt x="25" y="45"/>
                    </a:lnTo>
                    <a:lnTo>
                      <a:pt x="25" y="52"/>
                    </a:lnTo>
                    <a:lnTo>
                      <a:pt x="34" y="52"/>
                    </a:lnTo>
                    <a:lnTo>
                      <a:pt x="25" y="29"/>
                    </a:lnTo>
                    <a:lnTo>
                      <a:pt x="25" y="7"/>
                    </a:lnTo>
                    <a:lnTo>
                      <a:pt x="17" y="7"/>
                    </a:lnTo>
                    <a:lnTo>
                      <a:pt x="0" y="0"/>
                    </a:lnTo>
                    <a:lnTo>
                      <a:pt x="17" y="7"/>
                    </a:lnTo>
                    <a:lnTo>
                      <a:pt x="17" y="23"/>
                    </a:lnTo>
                    <a:lnTo>
                      <a:pt x="0" y="23"/>
                    </a:lnTo>
                    <a:lnTo>
                      <a:pt x="0" y="3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19" name="Freeform 161"/>
              <p:cNvSpPr>
                <a:spLocks/>
              </p:cNvSpPr>
              <p:nvPr/>
            </p:nvSpPr>
            <p:spPr bwMode="auto">
              <a:xfrm>
                <a:off x="5230887" y="2648967"/>
                <a:ext cx="53295" cy="90601"/>
              </a:xfrm>
              <a:custGeom>
                <a:avLst/>
                <a:gdLst>
                  <a:gd name="T0" fmla="*/ 0 w 35"/>
                  <a:gd name="T1" fmla="*/ 25 h 53"/>
                  <a:gd name="T2" fmla="*/ 3 w 35"/>
                  <a:gd name="T3" fmla="*/ 30 h 53"/>
                  <a:gd name="T4" fmla="*/ 3 w 35"/>
                  <a:gd name="T5" fmla="*/ 33 h 53"/>
                  <a:gd name="T6" fmla="*/ 5 w 35"/>
                  <a:gd name="T7" fmla="*/ 33 h 53"/>
                  <a:gd name="T8" fmla="*/ 3 w 35"/>
                  <a:gd name="T9" fmla="*/ 17 h 53"/>
                  <a:gd name="T10" fmla="*/ 3 w 35"/>
                  <a:gd name="T11" fmla="*/ 7 h 53"/>
                  <a:gd name="T12" fmla="*/ 3 w 35"/>
                  <a:gd name="T13" fmla="*/ 7 h 53"/>
                  <a:gd name="T14" fmla="*/ 0 w 35"/>
                  <a:gd name="T15" fmla="*/ 0 h 53"/>
                  <a:gd name="T16" fmla="*/ 3 w 35"/>
                  <a:gd name="T17" fmla="*/ 7 h 53"/>
                  <a:gd name="T18" fmla="*/ 3 w 35"/>
                  <a:gd name="T19" fmla="*/ 13 h 53"/>
                  <a:gd name="T20" fmla="*/ 0 w 35"/>
                  <a:gd name="T21" fmla="*/ 13 h 53"/>
                  <a:gd name="T22" fmla="*/ 0 w 35"/>
                  <a:gd name="T23" fmla="*/ 25 h 5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
                  <a:gd name="T37" fmla="*/ 0 h 53"/>
                  <a:gd name="T38" fmla="*/ 35 w 35"/>
                  <a:gd name="T39" fmla="*/ 53 h 5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 h="53">
                    <a:moveTo>
                      <a:pt x="0" y="37"/>
                    </a:moveTo>
                    <a:lnTo>
                      <a:pt x="25" y="45"/>
                    </a:lnTo>
                    <a:lnTo>
                      <a:pt x="25" y="52"/>
                    </a:lnTo>
                    <a:lnTo>
                      <a:pt x="34" y="52"/>
                    </a:lnTo>
                    <a:lnTo>
                      <a:pt x="25" y="29"/>
                    </a:lnTo>
                    <a:lnTo>
                      <a:pt x="25" y="7"/>
                    </a:lnTo>
                    <a:lnTo>
                      <a:pt x="17" y="7"/>
                    </a:lnTo>
                    <a:lnTo>
                      <a:pt x="0" y="0"/>
                    </a:lnTo>
                    <a:lnTo>
                      <a:pt x="17" y="7"/>
                    </a:lnTo>
                    <a:lnTo>
                      <a:pt x="17" y="23"/>
                    </a:lnTo>
                    <a:lnTo>
                      <a:pt x="0" y="23"/>
                    </a:lnTo>
                    <a:lnTo>
                      <a:pt x="0" y="3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0" name="Freeform 162"/>
              <p:cNvSpPr>
                <a:spLocks/>
              </p:cNvSpPr>
              <p:nvPr/>
            </p:nvSpPr>
            <p:spPr bwMode="auto">
              <a:xfrm>
                <a:off x="4820519" y="3270740"/>
                <a:ext cx="138566" cy="67507"/>
              </a:xfrm>
              <a:custGeom>
                <a:avLst/>
                <a:gdLst>
                  <a:gd name="T0" fmla="*/ 11 w 93"/>
                  <a:gd name="T1" fmla="*/ 8 h 39"/>
                  <a:gd name="T2" fmla="*/ 8 w 93"/>
                  <a:gd name="T3" fmla="*/ 0 h 39"/>
                  <a:gd name="T4" fmla="*/ 6 w 93"/>
                  <a:gd name="T5" fmla="*/ 8 h 39"/>
                  <a:gd name="T6" fmla="*/ 5 w 93"/>
                  <a:gd name="T7" fmla="*/ 0 h 39"/>
                  <a:gd name="T8" fmla="*/ 3 w 93"/>
                  <a:gd name="T9" fmla="*/ 0 h 39"/>
                  <a:gd name="T10" fmla="*/ 0 w 93"/>
                  <a:gd name="T11" fmla="*/ 15 h 39"/>
                  <a:gd name="T12" fmla="*/ 0 w 93"/>
                  <a:gd name="T13" fmla="*/ 26 h 39"/>
                  <a:gd name="T14" fmla="*/ 3 w 93"/>
                  <a:gd name="T15" fmla="*/ 26 h 39"/>
                  <a:gd name="T16" fmla="*/ 7 w 93"/>
                  <a:gd name="T17" fmla="*/ 15 h 39"/>
                  <a:gd name="T18" fmla="*/ 9 w 93"/>
                  <a:gd name="T19" fmla="*/ 19 h 39"/>
                  <a:gd name="T20" fmla="*/ 11 w 93"/>
                  <a:gd name="T21" fmla="*/ 8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39"/>
                  <a:gd name="T35" fmla="*/ 93 w 93"/>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39">
                    <a:moveTo>
                      <a:pt x="92" y="8"/>
                    </a:moveTo>
                    <a:lnTo>
                      <a:pt x="67" y="0"/>
                    </a:lnTo>
                    <a:lnTo>
                      <a:pt x="50" y="8"/>
                    </a:lnTo>
                    <a:lnTo>
                      <a:pt x="41" y="0"/>
                    </a:lnTo>
                    <a:lnTo>
                      <a:pt x="25" y="0"/>
                    </a:lnTo>
                    <a:lnTo>
                      <a:pt x="0" y="15"/>
                    </a:lnTo>
                    <a:lnTo>
                      <a:pt x="0" y="38"/>
                    </a:lnTo>
                    <a:lnTo>
                      <a:pt x="17" y="38"/>
                    </a:lnTo>
                    <a:lnTo>
                      <a:pt x="58" y="15"/>
                    </a:lnTo>
                    <a:lnTo>
                      <a:pt x="75" y="23"/>
                    </a:lnTo>
                    <a:lnTo>
                      <a:pt x="92"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1" name="Freeform 164"/>
              <p:cNvSpPr>
                <a:spLocks/>
              </p:cNvSpPr>
              <p:nvPr/>
            </p:nvSpPr>
            <p:spPr bwMode="auto">
              <a:xfrm>
                <a:off x="5518678" y="3018477"/>
                <a:ext cx="973515" cy="559596"/>
              </a:xfrm>
              <a:custGeom>
                <a:avLst/>
                <a:gdLst>
                  <a:gd name="T0" fmla="*/ 76 w 652"/>
                  <a:gd name="T1" fmla="*/ 130 h 322"/>
                  <a:gd name="T2" fmla="*/ 74 w 652"/>
                  <a:gd name="T3" fmla="*/ 153 h 322"/>
                  <a:gd name="T4" fmla="*/ 70 w 652"/>
                  <a:gd name="T5" fmla="*/ 182 h 322"/>
                  <a:gd name="T6" fmla="*/ 66 w 652"/>
                  <a:gd name="T7" fmla="*/ 188 h 322"/>
                  <a:gd name="T8" fmla="*/ 66 w 652"/>
                  <a:gd name="T9" fmla="*/ 224 h 322"/>
                  <a:gd name="T10" fmla="*/ 56 w 652"/>
                  <a:gd name="T11" fmla="*/ 217 h 322"/>
                  <a:gd name="T12" fmla="*/ 53 w 652"/>
                  <a:gd name="T13" fmla="*/ 217 h 322"/>
                  <a:gd name="T14" fmla="*/ 49 w 652"/>
                  <a:gd name="T15" fmla="*/ 217 h 322"/>
                  <a:gd name="T16" fmla="*/ 43 w 652"/>
                  <a:gd name="T17" fmla="*/ 246 h 322"/>
                  <a:gd name="T18" fmla="*/ 40 w 652"/>
                  <a:gd name="T19" fmla="*/ 241 h 322"/>
                  <a:gd name="T20" fmla="*/ 39 w 652"/>
                  <a:gd name="T21" fmla="*/ 235 h 322"/>
                  <a:gd name="T22" fmla="*/ 36 w 652"/>
                  <a:gd name="T23" fmla="*/ 204 h 322"/>
                  <a:gd name="T24" fmla="*/ 25 w 652"/>
                  <a:gd name="T25" fmla="*/ 182 h 322"/>
                  <a:gd name="T26" fmla="*/ 19 w 652"/>
                  <a:gd name="T27" fmla="*/ 182 h 322"/>
                  <a:gd name="T28" fmla="*/ 17 w 652"/>
                  <a:gd name="T29" fmla="*/ 241 h 322"/>
                  <a:gd name="T30" fmla="*/ 12 w 652"/>
                  <a:gd name="T31" fmla="*/ 235 h 322"/>
                  <a:gd name="T32" fmla="*/ 10 w 652"/>
                  <a:gd name="T33" fmla="*/ 217 h 322"/>
                  <a:gd name="T34" fmla="*/ 7 w 652"/>
                  <a:gd name="T35" fmla="*/ 199 h 322"/>
                  <a:gd name="T36" fmla="*/ 9 w 652"/>
                  <a:gd name="T37" fmla="*/ 188 h 322"/>
                  <a:gd name="T38" fmla="*/ 15 w 652"/>
                  <a:gd name="T39" fmla="*/ 182 h 322"/>
                  <a:gd name="T40" fmla="*/ 12 w 652"/>
                  <a:gd name="T41" fmla="*/ 153 h 322"/>
                  <a:gd name="T42" fmla="*/ 5 w 652"/>
                  <a:gd name="T43" fmla="*/ 158 h 322"/>
                  <a:gd name="T44" fmla="*/ 5 w 652"/>
                  <a:gd name="T45" fmla="*/ 153 h 322"/>
                  <a:gd name="T46" fmla="*/ 3 w 652"/>
                  <a:gd name="T47" fmla="*/ 141 h 322"/>
                  <a:gd name="T48" fmla="*/ 3 w 652"/>
                  <a:gd name="T49" fmla="*/ 90 h 322"/>
                  <a:gd name="T50" fmla="*/ 5 w 652"/>
                  <a:gd name="T51" fmla="*/ 106 h 322"/>
                  <a:gd name="T52" fmla="*/ 7 w 652"/>
                  <a:gd name="T53" fmla="*/ 64 h 322"/>
                  <a:gd name="T54" fmla="*/ 12 w 652"/>
                  <a:gd name="T55" fmla="*/ 64 h 322"/>
                  <a:gd name="T56" fmla="*/ 17 w 652"/>
                  <a:gd name="T57" fmla="*/ 90 h 322"/>
                  <a:gd name="T58" fmla="*/ 24 w 652"/>
                  <a:gd name="T59" fmla="*/ 83 h 322"/>
                  <a:gd name="T60" fmla="*/ 29 w 652"/>
                  <a:gd name="T61" fmla="*/ 90 h 322"/>
                  <a:gd name="T62" fmla="*/ 25 w 652"/>
                  <a:gd name="T63" fmla="*/ 64 h 322"/>
                  <a:gd name="T64" fmla="*/ 29 w 652"/>
                  <a:gd name="T65" fmla="*/ 57 h 322"/>
                  <a:gd name="T66" fmla="*/ 29 w 652"/>
                  <a:gd name="T67" fmla="*/ 22 h 322"/>
                  <a:gd name="T68" fmla="*/ 43 w 652"/>
                  <a:gd name="T69" fmla="*/ 15 h 322"/>
                  <a:gd name="T70" fmla="*/ 43 w 652"/>
                  <a:gd name="T71" fmla="*/ 0 h 322"/>
                  <a:gd name="T72" fmla="*/ 49 w 652"/>
                  <a:gd name="T73" fmla="*/ 22 h 322"/>
                  <a:gd name="T74" fmla="*/ 50 w 652"/>
                  <a:gd name="T75" fmla="*/ 22 h 322"/>
                  <a:gd name="T76" fmla="*/ 53 w 652"/>
                  <a:gd name="T77" fmla="*/ 42 h 322"/>
                  <a:gd name="T78" fmla="*/ 56 w 652"/>
                  <a:gd name="T79" fmla="*/ 22 h 322"/>
                  <a:gd name="T80" fmla="*/ 61 w 652"/>
                  <a:gd name="T81" fmla="*/ 42 h 322"/>
                  <a:gd name="T82" fmla="*/ 67 w 652"/>
                  <a:gd name="T83" fmla="*/ 75 h 322"/>
                  <a:gd name="T84" fmla="*/ 73 w 652"/>
                  <a:gd name="T85" fmla="*/ 83 h 322"/>
                  <a:gd name="T86" fmla="*/ 79 w 652"/>
                  <a:gd name="T87" fmla="*/ 110 h 322"/>
                  <a:gd name="T88" fmla="*/ 80 w 652"/>
                  <a:gd name="T89" fmla="*/ 117 h 32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52"/>
                  <a:gd name="T136" fmla="*/ 0 h 322"/>
                  <a:gd name="T137" fmla="*/ 652 w 652"/>
                  <a:gd name="T138" fmla="*/ 322 h 32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52" h="322">
                    <a:moveTo>
                      <a:pt x="635" y="160"/>
                    </a:moveTo>
                    <a:lnTo>
                      <a:pt x="617" y="168"/>
                    </a:lnTo>
                    <a:lnTo>
                      <a:pt x="609" y="199"/>
                    </a:lnTo>
                    <a:lnTo>
                      <a:pt x="601" y="199"/>
                    </a:lnTo>
                    <a:lnTo>
                      <a:pt x="567" y="199"/>
                    </a:lnTo>
                    <a:lnTo>
                      <a:pt x="559" y="237"/>
                    </a:lnTo>
                    <a:lnTo>
                      <a:pt x="535" y="237"/>
                    </a:lnTo>
                    <a:lnTo>
                      <a:pt x="535" y="244"/>
                    </a:lnTo>
                    <a:lnTo>
                      <a:pt x="543" y="283"/>
                    </a:lnTo>
                    <a:lnTo>
                      <a:pt x="535" y="291"/>
                    </a:lnTo>
                    <a:lnTo>
                      <a:pt x="509" y="283"/>
                    </a:lnTo>
                    <a:lnTo>
                      <a:pt x="451" y="283"/>
                    </a:lnTo>
                    <a:lnTo>
                      <a:pt x="434" y="275"/>
                    </a:lnTo>
                    <a:lnTo>
                      <a:pt x="426" y="283"/>
                    </a:lnTo>
                    <a:lnTo>
                      <a:pt x="426" y="291"/>
                    </a:lnTo>
                    <a:lnTo>
                      <a:pt x="392" y="283"/>
                    </a:lnTo>
                    <a:lnTo>
                      <a:pt x="384" y="291"/>
                    </a:lnTo>
                    <a:lnTo>
                      <a:pt x="350" y="321"/>
                    </a:lnTo>
                    <a:lnTo>
                      <a:pt x="342" y="314"/>
                    </a:lnTo>
                    <a:lnTo>
                      <a:pt x="325" y="314"/>
                    </a:lnTo>
                    <a:lnTo>
                      <a:pt x="325" y="305"/>
                    </a:lnTo>
                    <a:lnTo>
                      <a:pt x="317" y="305"/>
                    </a:lnTo>
                    <a:lnTo>
                      <a:pt x="317" y="283"/>
                    </a:lnTo>
                    <a:lnTo>
                      <a:pt x="292" y="267"/>
                    </a:lnTo>
                    <a:lnTo>
                      <a:pt x="242" y="267"/>
                    </a:lnTo>
                    <a:lnTo>
                      <a:pt x="208" y="237"/>
                    </a:lnTo>
                    <a:lnTo>
                      <a:pt x="192" y="230"/>
                    </a:lnTo>
                    <a:lnTo>
                      <a:pt x="150" y="237"/>
                    </a:lnTo>
                    <a:lnTo>
                      <a:pt x="150" y="314"/>
                    </a:lnTo>
                    <a:lnTo>
                      <a:pt x="142" y="314"/>
                    </a:lnTo>
                    <a:lnTo>
                      <a:pt x="124" y="291"/>
                    </a:lnTo>
                    <a:lnTo>
                      <a:pt x="92" y="305"/>
                    </a:lnTo>
                    <a:lnTo>
                      <a:pt x="92" y="283"/>
                    </a:lnTo>
                    <a:lnTo>
                      <a:pt x="83" y="283"/>
                    </a:lnTo>
                    <a:lnTo>
                      <a:pt x="74" y="260"/>
                    </a:lnTo>
                    <a:lnTo>
                      <a:pt x="58" y="260"/>
                    </a:lnTo>
                    <a:lnTo>
                      <a:pt x="83" y="260"/>
                    </a:lnTo>
                    <a:lnTo>
                      <a:pt x="74" y="244"/>
                    </a:lnTo>
                    <a:lnTo>
                      <a:pt x="83" y="237"/>
                    </a:lnTo>
                    <a:lnTo>
                      <a:pt x="124" y="237"/>
                    </a:lnTo>
                    <a:lnTo>
                      <a:pt x="108" y="206"/>
                    </a:lnTo>
                    <a:lnTo>
                      <a:pt x="92" y="199"/>
                    </a:lnTo>
                    <a:lnTo>
                      <a:pt x="74" y="191"/>
                    </a:lnTo>
                    <a:lnTo>
                      <a:pt x="41" y="206"/>
                    </a:lnTo>
                    <a:lnTo>
                      <a:pt x="33" y="206"/>
                    </a:lnTo>
                    <a:lnTo>
                      <a:pt x="41" y="199"/>
                    </a:lnTo>
                    <a:lnTo>
                      <a:pt x="33" y="183"/>
                    </a:lnTo>
                    <a:lnTo>
                      <a:pt x="8" y="183"/>
                    </a:lnTo>
                    <a:lnTo>
                      <a:pt x="0" y="160"/>
                    </a:lnTo>
                    <a:lnTo>
                      <a:pt x="8" y="115"/>
                    </a:lnTo>
                    <a:lnTo>
                      <a:pt x="33" y="138"/>
                    </a:lnTo>
                    <a:lnTo>
                      <a:pt x="41" y="138"/>
                    </a:lnTo>
                    <a:lnTo>
                      <a:pt x="33" y="115"/>
                    </a:lnTo>
                    <a:lnTo>
                      <a:pt x="58" y="84"/>
                    </a:lnTo>
                    <a:lnTo>
                      <a:pt x="83" y="99"/>
                    </a:lnTo>
                    <a:lnTo>
                      <a:pt x="92" y="84"/>
                    </a:lnTo>
                    <a:lnTo>
                      <a:pt x="108" y="99"/>
                    </a:lnTo>
                    <a:lnTo>
                      <a:pt x="142" y="115"/>
                    </a:lnTo>
                    <a:lnTo>
                      <a:pt x="158" y="107"/>
                    </a:lnTo>
                    <a:lnTo>
                      <a:pt x="184" y="107"/>
                    </a:lnTo>
                    <a:lnTo>
                      <a:pt x="192" y="115"/>
                    </a:lnTo>
                    <a:lnTo>
                      <a:pt x="234" y="115"/>
                    </a:lnTo>
                    <a:lnTo>
                      <a:pt x="242" y="99"/>
                    </a:lnTo>
                    <a:lnTo>
                      <a:pt x="208" y="84"/>
                    </a:lnTo>
                    <a:lnTo>
                      <a:pt x="234" y="76"/>
                    </a:lnTo>
                    <a:lnTo>
                      <a:pt x="225" y="69"/>
                    </a:lnTo>
                    <a:lnTo>
                      <a:pt x="234" y="61"/>
                    </a:lnTo>
                    <a:lnTo>
                      <a:pt x="234" y="31"/>
                    </a:lnTo>
                    <a:lnTo>
                      <a:pt x="250" y="38"/>
                    </a:lnTo>
                    <a:lnTo>
                      <a:pt x="342" y="15"/>
                    </a:lnTo>
                    <a:lnTo>
                      <a:pt x="342" y="0"/>
                    </a:lnTo>
                    <a:lnTo>
                      <a:pt x="350" y="0"/>
                    </a:lnTo>
                    <a:lnTo>
                      <a:pt x="384" y="0"/>
                    </a:lnTo>
                    <a:lnTo>
                      <a:pt x="392" y="23"/>
                    </a:lnTo>
                    <a:lnTo>
                      <a:pt x="392" y="31"/>
                    </a:lnTo>
                    <a:lnTo>
                      <a:pt x="401" y="31"/>
                    </a:lnTo>
                    <a:lnTo>
                      <a:pt x="426" y="38"/>
                    </a:lnTo>
                    <a:lnTo>
                      <a:pt x="426" y="54"/>
                    </a:lnTo>
                    <a:lnTo>
                      <a:pt x="442" y="54"/>
                    </a:lnTo>
                    <a:lnTo>
                      <a:pt x="459" y="31"/>
                    </a:lnTo>
                    <a:lnTo>
                      <a:pt x="484" y="23"/>
                    </a:lnTo>
                    <a:lnTo>
                      <a:pt x="493" y="54"/>
                    </a:lnTo>
                    <a:lnTo>
                      <a:pt x="535" y="115"/>
                    </a:lnTo>
                    <a:lnTo>
                      <a:pt x="543" y="99"/>
                    </a:lnTo>
                    <a:lnTo>
                      <a:pt x="551" y="115"/>
                    </a:lnTo>
                    <a:lnTo>
                      <a:pt x="585" y="107"/>
                    </a:lnTo>
                    <a:lnTo>
                      <a:pt x="609" y="138"/>
                    </a:lnTo>
                    <a:lnTo>
                      <a:pt x="635" y="145"/>
                    </a:lnTo>
                    <a:lnTo>
                      <a:pt x="635" y="138"/>
                    </a:lnTo>
                    <a:lnTo>
                      <a:pt x="651" y="153"/>
                    </a:lnTo>
                    <a:lnTo>
                      <a:pt x="635" y="16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2" name="Freeform 165"/>
              <p:cNvSpPr>
                <a:spLocks/>
              </p:cNvSpPr>
              <p:nvPr/>
            </p:nvSpPr>
            <p:spPr bwMode="auto">
              <a:xfrm>
                <a:off x="5058568" y="1467598"/>
                <a:ext cx="3853202" cy="2098040"/>
              </a:xfrm>
              <a:custGeom>
                <a:avLst/>
                <a:gdLst>
                  <a:gd name="T0" fmla="*/ 156 w 2583"/>
                  <a:gd name="T1" fmla="*/ 180 h 1209"/>
                  <a:gd name="T2" fmla="*/ 153 w 2583"/>
                  <a:gd name="T3" fmla="*/ 62 h 1209"/>
                  <a:gd name="T4" fmla="*/ 144 w 2583"/>
                  <a:gd name="T5" fmla="*/ 62 h 1209"/>
                  <a:gd name="T6" fmla="*/ 104 w 2583"/>
                  <a:gd name="T7" fmla="*/ 189 h 1209"/>
                  <a:gd name="T8" fmla="*/ 98 w 2583"/>
                  <a:gd name="T9" fmla="*/ 230 h 1209"/>
                  <a:gd name="T10" fmla="*/ 92 w 2583"/>
                  <a:gd name="T11" fmla="*/ 294 h 1209"/>
                  <a:gd name="T12" fmla="*/ 86 w 2583"/>
                  <a:gd name="T13" fmla="*/ 415 h 1209"/>
                  <a:gd name="T14" fmla="*/ 88 w 2583"/>
                  <a:gd name="T15" fmla="*/ 213 h 1209"/>
                  <a:gd name="T16" fmla="*/ 78 w 2583"/>
                  <a:gd name="T17" fmla="*/ 323 h 1209"/>
                  <a:gd name="T18" fmla="*/ 67 w 2583"/>
                  <a:gd name="T19" fmla="*/ 347 h 1209"/>
                  <a:gd name="T20" fmla="*/ 54 w 2583"/>
                  <a:gd name="T21" fmla="*/ 347 h 1209"/>
                  <a:gd name="T22" fmla="*/ 37 w 2583"/>
                  <a:gd name="T23" fmla="*/ 357 h 1209"/>
                  <a:gd name="T24" fmla="*/ 29 w 2583"/>
                  <a:gd name="T25" fmla="*/ 422 h 1209"/>
                  <a:gd name="T26" fmla="*/ 19 w 2583"/>
                  <a:gd name="T27" fmla="*/ 484 h 1209"/>
                  <a:gd name="T28" fmla="*/ 23 w 2583"/>
                  <a:gd name="T29" fmla="*/ 427 h 1209"/>
                  <a:gd name="T30" fmla="*/ 9 w 2583"/>
                  <a:gd name="T31" fmla="*/ 317 h 1209"/>
                  <a:gd name="T32" fmla="*/ 6 w 2583"/>
                  <a:gd name="T33" fmla="*/ 439 h 1209"/>
                  <a:gd name="T34" fmla="*/ 5 w 2583"/>
                  <a:gd name="T35" fmla="*/ 548 h 1209"/>
                  <a:gd name="T36" fmla="*/ 0 w 2583"/>
                  <a:gd name="T37" fmla="*/ 599 h 1209"/>
                  <a:gd name="T38" fmla="*/ 7 w 2583"/>
                  <a:gd name="T39" fmla="*/ 668 h 1209"/>
                  <a:gd name="T40" fmla="*/ 8 w 2583"/>
                  <a:gd name="T41" fmla="*/ 721 h 1209"/>
                  <a:gd name="T42" fmla="*/ 17 w 2583"/>
                  <a:gd name="T43" fmla="*/ 750 h 1209"/>
                  <a:gd name="T44" fmla="*/ 24 w 2583"/>
                  <a:gd name="T45" fmla="*/ 803 h 1209"/>
                  <a:gd name="T46" fmla="*/ 23 w 2583"/>
                  <a:gd name="T47" fmla="*/ 837 h 1209"/>
                  <a:gd name="T48" fmla="*/ 33 w 2583"/>
                  <a:gd name="T49" fmla="*/ 888 h 1209"/>
                  <a:gd name="T50" fmla="*/ 39 w 2583"/>
                  <a:gd name="T51" fmla="*/ 888 h 1209"/>
                  <a:gd name="T52" fmla="*/ 42 w 2583"/>
                  <a:gd name="T53" fmla="*/ 830 h 1209"/>
                  <a:gd name="T54" fmla="*/ 39 w 2583"/>
                  <a:gd name="T55" fmla="*/ 762 h 1209"/>
                  <a:gd name="T56" fmla="*/ 50 w 2583"/>
                  <a:gd name="T57" fmla="*/ 738 h 1209"/>
                  <a:gd name="T58" fmla="*/ 67 w 2583"/>
                  <a:gd name="T59" fmla="*/ 762 h 1209"/>
                  <a:gd name="T60" fmla="*/ 67 w 2583"/>
                  <a:gd name="T61" fmla="*/ 698 h 1209"/>
                  <a:gd name="T62" fmla="*/ 86 w 2583"/>
                  <a:gd name="T63" fmla="*/ 693 h 1209"/>
                  <a:gd name="T64" fmla="*/ 95 w 2583"/>
                  <a:gd name="T65" fmla="*/ 698 h 1209"/>
                  <a:gd name="T66" fmla="*/ 110 w 2583"/>
                  <a:gd name="T67" fmla="*/ 755 h 1209"/>
                  <a:gd name="T68" fmla="*/ 125 w 2583"/>
                  <a:gd name="T69" fmla="*/ 762 h 1209"/>
                  <a:gd name="T70" fmla="*/ 146 w 2583"/>
                  <a:gd name="T71" fmla="*/ 750 h 1209"/>
                  <a:gd name="T72" fmla="*/ 168 w 2583"/>
                  <a:gd name="T73" fmla="*/ 784 h 1209"/>
                  <a:gd name="T74" fmla="*/ 182 w 2583"/>
                  <a:gd name="T75" fmla="*/ 738 h 1209"/>
                  <a:gd name="T76" fmla="*/ 194 w 2583"/>
                  <a:gd name="T77" fmla="*/ 733 h 1209"/>
                  <a:gd name="T78" fmla="*/ 209 w 2583"/>
                  <a:gd name="T79" fmla="*/ 803 h 1209"/>
                  <a:gd name="T80" fmla="*/ 203 w 2583"/>
                  <a:gd name="T81" fmla="*/ 883 h 1209"/>
                  <a:gd name="T82" fmla="*/ 221 w 2583"/>
                  <a:gd name="T83" fmla="*/ 755 h 1209"/>
                  <a:gd name="T84" fmla="*/ 215 w 2583"/>
                  <a:gd name="T85" fmla="*/ 716 h 1209"/>
                  <a:gd name="T86" fmla="*/ 225 w 2583"/>
                  <a:gd name="T87" fmla="*/ 599 h 1209"/>
                  <a:gd name="T88" fmla="*/ 242 w 2583"/>
                  <a:gd name="T89" fmla="*/ 595 h 1209"/>
                  <a:gd name="T90" fmla="*/ 253 w 2583"/>
                  <a:gd name="T91" fmla="*/ 543 h 1209"/>
                  <a:gd name="T92" fmla="*/ 267 w 2583"/>
                  <a:gd name="T93" fmla="*/ 519 h 1209"/>
                  <a:gd name="T94" fmla="*/ 249 w 2583"/>
                  <a:gd name="T95" fmla="*/ 675 h 1209"/>
                  <a:gd name="T96" fmla="*/ 263 w 2583"/>
                  <a:gd name="T97" fmla="*/ 693 h 1209"/>
                  <a:gd name="T98" fmla="*/ 263 w 2583"/>
                  <a:gd name="T99" fmla="*/ 623 h 1209"/>
                  <a:gd name="T100" fmla="*/ 271 w 2583"/>
                  <a:gd name="T101" fmla="*/ 577 h 1209"/>
                  <a:gd name="T102" fmla="*/ 297 w 2583"/>
                  <a:gd name="T103" fmla="*/ 519 h 1209"/>
                  <a:gd name="T104" fmla="*/ 298 w 2583"/>
                  <a:gd name="T105" fmla="*/ 443 h 1209"/>
                  <a:gd name="T106" fmla="*/ 312 w 2583"/>
                  <a:gd name="T107" fmla="*/ 479 h 1209"/>
                  <a:gd name="T108" fmla="*/ 308 w 2583"/>
                  <a:gd name="T109" fmla="*/ 398 h 1209"/>
                  <a:gd name="T110" fmla="*/ 275 w 2583"/>
                  <a:gd name="T111" fmla="*/ 335 h 1209"/>
                  <a:gd name="T112" fmla="*/ 266 w 2583"/>
                  <a:gd name="T113" fmla="*/ 323 h 1209"/>
                  <a:gd name="T114" fmla="*/ 244 w 2583"/>
                  <a:gd name="T115" fmla="*/ 288 h 1209"/>
                  <a:gd name="T116" fmla="*/ 221 w 2583"/>
                  <a:gd name="T117" fmla="*/ 208 h 1209"/>
                  <a:gd name="T118" fmla="*/ 203 w 2583"/>
                  <a:gd name="T119" fmla="*/ 288 h 1209"/>
                  <a:gd name="T120" fmla="*/ 187 w 2583"/>
                  <a:gd name="T121" fmla="*/ 180 h 1209"/>
                  <a:gd name="T122" fmla="*/ 168 w 2583"/>
                  <a:gd name="T123" fmla="*/ 189 h 12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83"/>
                  <a:gd name="T187" fmla="*/ 0 h 1209"/>
                  <a:gd name="T188" fmla="*/ 2583 w 2583"/>
                  <a:gd name="T189" fmla="*/ 1209 h 12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83" h="1209">
                    <a:moveTo>
                      <a:pt x="1311" y="221"/>
                    </a:moveTo>
                    <a:lnTo>
                      <a:pt x="1303" y="229"/>
                    </a:lnTo>
                    <a:lnTo>
                      <a:pt x="1311" y="251"/>
                    </a:lnTo>
                    <a:lnTo>
                      <a:pt x="1269" y="267"/>
                    </a:lnTo>
                    <a:lnTo>
                      <a:pt x="1261" y="267"/>
                    </a:lnTo>
                    <a:lnTo>
                      <a:pt x="1269" y="237"/>
                    </a:lnTo>
                    <a:lnTo>
                      <a:pt x="1369" y="152"/>
                    </a:lnTo>
                    <a:lnTo>
                      <a:pt x="1369" y="99"/>
                    </a:lnTo>
                    <a:lnTo>
                      <a:pt x="1337" y="61"/>
                    </a:lnTo>
                    <a:lnTo>
                      <a:pt x="1286" y="61"/>
                    </a:lnTo>
                    <a:lnTo>
                      <a:pt x="1286" y="84"/>
                    </a:lnTo>
                    <a:lnTo>
                      <a:pt x="1253" y="84"/>
                    </a:lnTo>
                    <a:lnTo>
                      <a:pt x="1269" y="45"/>
                    </a:lnTo>
                    <a:lnTo>
                      <a:pt x="1219" y="30"/>
                    </a:lnTo>
                    <a:lnTo>
                      <a:pt x="1253" y="15"/>
                    </a:lnTo>
                    <a:lnTo>
                      <a:pt x="1219" y="0"/>
                    </a:lnTo>
                    <a:lnTo>
                      <a:pt x="1169" y="45"/>
                    </a:lnTo>
                    <a:lnTo>
                      <a:pt x="1169" y="84"/>
                    </a:lnTo>
                    <a:lnTo>
                      <a:pt x="1144" y="84"/>
                    </a:lnTo>
                    <a:lnTo>
                      <a:pt x="1052" y="99"/>
                    </a:lnTo>
                    <a:lnTo>
                      <a:pt x="968" y="145"/>
                    </a:lnTo>
                    <a:lnTo>
                      <a:pt x="944" y="183"/>
                    </a:lnTo>
                    <a:lnTo>
                      <a:pt x="952" y="229"/>
                    </a:lnTo>
                    <a:lnTo>
                      <a:pt x="844" y="251"/>
                    </a:lnTo>
                    <a:lnTo>
                      <a:pt x="852" y="305"/>
                    </a:lnTo>
                    <a:lnTo>
                      <a:pt x="876" y="336"/>
                    </a:lnTo>
                    <a:lnTo>
                      <a:pt x="860" y="344"/>
                    </a:lnTo>
                    <a:lnTo>
                      <a:pt x="826" y="305"/>
                    </a:lnTo>
                    <a:lnTo>
                      <a:pt x="802" y="298"/>
                    </a:lnTo>
                    <a:lnTo>
                      <a:pt x="793" y="305"/>
                    </a:lnTo>
                    <a:lnTo>
                      <a:pt x="768" y="282"/>
                    </a:lnTo>
                    <a:lnTo>
                      <a:pt x="751" y="267"/>
                    </a:lnTo>
                    <a:lnTo>
                      <a:pt x="751" y="275"/>
                    </a:lnTo>
                    <a:lnTo>
                      <a:pt x="760" y="305"/>
                    </a:lnTo>
                    <a:lnTo>
                      <a:pt x="735" y="351"/>
                    </a:lnTo>
                    <a:lnTo>
                      <a:pt x="751" y="389"/>
                    </a:lnTo>
                    <a:lnTo>
                      <a:pt x="743" y="428"/>
                    </a:lnTo>
                    <a:lnTo>
                      <a:pt x="743" y="459"/>
                    </a:lnTo>
                    <a:lnTo>
                      <a:pt x="751" y="466"/>
                    </a:lnTo>
                    <a:lnTo>
                      <a:pt x="760" y="511"/>
                    </a:lnTo>
                    <a:lnTo>
                      <a:pt x="701" y="558"/>
                    </a:lnTo>
                    <a:lnTo>
                      <a:pt x="693" y="550"/>
                    </a:lnTo>
                    <a:lnTo>
                      <a:pt x="735" y="504"/>
                    </a:lnTo>
                    <a:lnTo>
                      <a:pt x="743" y="473"/>
                    </a:lnTo>
                    <a:lnTo>
                      <a:pt x="718" y="459"/>
                    </a:lnTo>
                    <a:lnTo>
                      <a:pt x="718" y="359"/>
                    </a:lnTo>
                    <a:lnTo>
                      <a:pt x="710" y="344"/>
                    </a:lnTo>
                    <a:lnTo>
                      <a:pt x="718" y="282"/>
                    </a:lnTo>
                    <a:lnTo>
                      <a:pt x="701" y="275"/>
                    </a:lnTo>
                    <a:lnTo>
                      <a:pt x="710" y="267"/>
                    </a:lnTo>
                    <a:lnTo>
                      <a:pt x="701" y="251"/>
                    </a:lnTo>
                    <a:lnTo>
                      <a:pt x="684" y="260"/>
                    </a:lnTo>
                    <a:lnTo>
                      <a:pt x="634" y="382"/>
                    </a:lnTo>
                    <a:lnTo>
                      <a:pt x="634" y="428"/>
                    </a:lnTo>
                    <a:lnTo>
                      <a:pt x="659" y="466"/>
                    </a:lnTo>
                    <a:lnTo>
                      <a:pt x="659" y="481"/>
                    </a:lnTo>
                    <a:lnTo>
                      <a:pt x="634" y="466"/>
                    </a:lnTo>
                    <a:lnTo>
                      <a:pt x="509" y="389"/>
                    </a:lnTo>
                    <a:lnTo>
                      <a:pt x="501" y="405"/>
                    </a:lnTo>
                    <a:lnTo>
                      <a:pt x="543" y="459"/>
                    </a:lnTo>
                    <a:lnTo>
                      <a:pt x="517" y="466"/>
                    </a:lnTo>
                    <a:lnTo>
                      <a:pt x="509" y="459"/>
                    </a:lnTo>
                    <a:lnTo>
                      <a:pt x="451" y="473"/>
                    </a:lnTo>
                    <a:lnTo>
                      <a:pt x="442" y="489"/>
                    </a:lnTo>
                    <a:lnTo>
                      <a:pt x="433" y="473"/>
                    </a:lnTo>
                    <a:lnTo>
                      <a:pt x="433" y="459"/>
                    </a:lnTo>
                    <a:lnTo>
                      <a:pt x="333" y="511"/>
                    </a:lnTo>
                    <a:lnTo>
                      <a:pt x="333" y="527"/>
                    </a:lnTo>
                    <a:lnTo>
                      <a:pt x="309" y="543"/>
                    </a:lnTo>
                    <a:lnTo>
                      <a:pt x="283" y="520"/>
                    </a:lnTo>
                    <a:lnTo>
                      <a:pt x="309" y="504"/>
                    </a:lnTo>
                    <a:lnTo>
                      <a:pt x="300" y="473"/>
                    </a:lnTo>
                    <a:lnTo>
                      <a:pt x="258" y="466"/>
                    </a:lnTo>
                    <a:lnTo>
                      <a:pt x="267" y="481"/>
                    </a:lnTo>
                    <a:lnTo>
                      <a:pt x="267" y="527"/>
                    </a:lnTo>
                    <a:lnTo>
                      <a:pt x="283" y="550"/>
                    </a:lnTo>
                    <a:lnTo>
                      <a:pt x="267" y="565"/>
                    </a:lnTo>
                    <a:lnTo>
                      <a:pt x="241" y="558"/>
                    </a:lnTo>
                    <a:lnTo>
                      <a:pt x="200" y="588"/>
                    </a:lnTo>
                    <a:lnTo>
                      <a:pt x="216" y="626"/>
                    </a:lnTo>
                    <a:lnTo>
                      <a:pt x="158" y="604"/>
                    </a:lnTo>
                    <a:lnTo>
                      <a:pt x="150" y="611"/>
                    </a:lnTo>
                    <a:lnTo>
                      <a:pt x="166" y="642"/>
                    </a:lnTo>
                    <a:lnTo>
                      <a:pt x="150" y="642"/>
                    </a:lnTo>
                    <a:lnTo>
                      <a:pt x="116" y="626"/>
                    </a:lnTo>
                    <a:lnTo>
                      <a:pt x="116" y="565"/>
                    </a:lnTo>
                    <a:lnTo>
                      <a:pt x="91" y="550"/>
                    </a:lnTo>
                    <a:lnTo>
                      <a:pt x="74" y="527"/>
                    </a:lnTo>
                    <a:lnTo>
                      <a:pt x="100" y="543"/>
                    </a:lnTo>
                    <a:lnTo>
                      <a:pt x="183" y="565"/>
                    </a:lnTo>
                    <a:lnTo>
                      <a:pt x="233" y="543"/>
                    </a:lnTo>
                    <a:lnTo>
                      <a:pt x="216" y="511"/>
                    </a:lnTo>
                    <a:lnTo>
                      <a:pt x="158" y="459"/>
                    </a:lnTo>
                    <a:lnTo>
                      <a:pt x="100" y="435"/>
                    </a:lnTo>
                    <a:lnTo>
                      <a:pt x="100" y="428"/>
                    </a:lnTo>
                    <a:lnTo>
                      <a:pt x="74" y="420"/>
                    </a:lnTo>
                    <a:lnTo>
                      <a:pt x="58" y="428"/>
                    </a:lnTo>
                    <a:lnTo>
                      <a:pt x="24" y="459"/>
                    </a:lnTo>
                    <a:lnTo>
                      <a:pt x="24" y="481"/>
                    </a:lnTo>
                    <a:lnTo>
                      <a:pt x="50" y="504"/>
                    </a:lnTo>
                    <a:lnTo>
                      <a:pt x="41" y="527"/>
                    </a:lnTo>
                    <a:lnTo>
                      <a:pt x="50" y="581"/>
                    </a:lnTo>
                    <a:lnTo>
                      <a:pt x="41" y="604"/>
                    </a:lnTo>
                    <a:lnTo>
                      <a:pt x="58" y="634"/>
                    </a:lnTo>
                    <a:lnTo>
                      <a:pt x="50" y="649"/>
                    </a:lnTo>
                    <a:lnTo>
                      <a:pt x="66" y="672"/>
                    </a:lnTo>
                    <a:lnTo>
                      <a:pt x="66" y="680"/>
                    </a:lnTo>
                    <a:lnTo>
                      <a:pt x="41" y="726"/>
                    </a:lnTo>
                    <a:lnTo>
                      <a:pt x="8" y="749"/>
                    </a:lnTo>
                    <a:lnTo>
                      <a:pt x="16" y="749"/>
                    </a:lnTo>
                    <a:lnTo>
                      <a:pt x="41" y="764"/>
                    </a:lnTo>
                    <a:lnTo>
                      <a:pt x="16" y="787"/>
                    </a:lnTo>
                    <a:lnTo>
                      <a:pt x="8" y="794"/>
                    </a:lnTo>
                    <a:lnTo>
                      <a:pt x="0" y="794"/>
                    </a:lnTo>
                    <a:lnTo>
                      <a:pt x="8" y="825"/>
                    </a:lnTo>
                    <a:lnTo>
                      <a:pt x="8" y="833"/>
                    </a:lnTo>
                    <a:lnTo>
                      <a:pt x="8" y="848"/>
                    </a:lnTo>
                    <a:lnTo>
                      <a:pt x="16" y="871"/>
                    </a:lnTo>
                    <a:lnTo>
                      <a:pt x="50" y="878"/>
                    </a:lnTo>
                    <a:lnTo>
                      <a:pt x="58" y="886"/>
                    </a:lnTo>
                    <a:lnTo>
                      <a:pt x="58" y="909"/>
                    </a:lnTo>
                    <a:lnTo>
                      <a:pt x="74" y="932"/>
                    </a:lnTo>
                    <a:lnTo>
                      <a:pt x="91" y="932"/>
                    </a:lnTo>
                    <a:lnTo>
                      <a:pt x="74" y="955"/>
                    </a:lnTo>
                    <a:lnTo>
                      <a:pt x="66" y="948"/>
                    </a:lnTo>
                    <a:lnTo>
                      <a:pt x="66" y="955"/>
                    </a:lnTo>
                    <a:lnTo>
                      <a:pt x="74" y="970"/>
                    </a:lnTo>
                    <a:lnTo>
                      <a:pt x="108" y="970"/>
                    </a:lnTo>
                    <a:lnTo>
                      <a:pt x="116" y="978"/>
                    </a:lnTo>
                    <a:lnTo>
                      <a:pt x="108" y="978"/>
                    </a:lnTo>
                    <a:lnTo>
                      <a:pt x="116" y="993"/>
                    </a:lnTo>
                    <a:lnTo>
                      <a:pt x="133" y="993"/>
                    </a:lnTo>
                    <a:lnTo>
                      <a:pt x="141" y="1009"/>
                    </a:lnTo>
                    <a:lnTo>
                      <a:pt x="150" y="1016"/>
                    </a:lnTo>
                    <a:lnTo>
                      <a:pt x="158" y="1009"/>
                    </a:lnTo>
                    <a:lnTo>
                      <a:pt x="208" y="1039"/>
                    </a:lnTo>
                    <a:lnTo>
                      <a:pt x="200" y="1077"/>
                    </a:lnTo>
                    <a:lnTo>
                      <a:pt x="191" y="1062"/>
                    </a:lnTo>
                    <a:lnTo>
                      <a:pt x="183" y="1077"/>
                    </a:lnTo>
                    <a:lnTo>
                      <a:pt x="183" y="1093"/>
                    </a:lnTo>
                    <a:lnTo>
                      <a:pt x="191" y="1085"/>
                    </a:lnTo>
                    <a:lnTo>
                      <a:pt x="200" y="1093"/>
                    </a:lnTo>
                    <a:lnTo>
                      <a:pt x="166" y="1100"/>
                    </a:lnTo>
                    <a:lnTo>
                      <a:pt x="183" y="1108"/>
                    </a:lnTo>
                    <a:lnTo>
                      <a:pt x="158" y="1131"/>
                    </a:lnTo>
                    <a:lnTo>
                      <a:pt x="150" y="1131"/>
                    </a:lnTo>
                    <a:lnTo>
                      <a:pt x="158" y="1131"/>
                    </a:lnTo>
                    <a:lnTo>
                      <a:pt x="200" y="1169"/>
                    </a:lnTo>
                    <a:lnTo>
                      <a:pt x="250" y="1169"/>
                    </a:lnTo>
                    <a:lnTo>
                      <a:pt x="267" y="1177"/>
                    </a:lnTo>
                    <a:lnTo>
                      <a:pt x="291" y="1177"/>
                    </a:lnTo>
                    <a:lnTo>
                      <a:pt x="309" y="1199"/>
                    </a:lnTo>
                    <a:lnTo>
                      <a:pt x="317" y="1208"/>
                    </a:lnTo>
                    <a:lnTo>
                      <a:pt x="333" y="1208"/>
                    </a:lnTo>
                    <a:lnTo>
                      <a:pt x="342" y="1199"/>
                    </a:lnTo>
                    <a:lnTo>
                      <a:pt x="317" y="1177"/>
                    </a:lnTo>
                    <a:lnTo>
                      <a:pt x="317" y="1161"/>
                    </a:lnTo>
                    <a:lnTo>
                      <a:pt x="309" y="1138"/>
                    </a:lnTo>
                    <a:lnTo>
                      <a:pt x="333" y="1108"/>
                    </a:lnTo>
                    <a:lnTo>
                      <a:pt x="342" y="1124"/>
                    </a:lnTo>
                    <a:lnTo>
                      <a:pt x="350" y="1108"/>
                    </a:lnTo>
                    <a:lnTo>
                      <a:pt x="350" y="1100"/>
                    </a:lnTo>
                    <a:lnTo>
                      <a:pt x="342" y="1100"/>
                    </a:lnTo>
                    <a:lnTo>
                      <a:pt x="350" y="1093"/>
                    </a:lnTo>
                    <a:lnTo>
                      <a:pt x="342" y="1077"/>
                    </a:lnTo>
                    <a:lnTo>
                      <a:pt x="317" y="1077"/>
                    </a:lnTo>
                    <a:lnTo>
                      <a:pt x="309" y="1054"/>
                    </a:lnTo>
                    <a:lnTo>
                      <a:pt x="317" y="1009"/>
                    </a:lnTo>
                    <a:lnTo>
                      <a:pt x="342" y="1032"/>
                    </a:lnTo>
                    <a:lnTo>
                      <a:pt x="350" y="1032"/>
                    </a:lnTo>
                    <a:lnTo>
                      <a:pt x="342" y="1009"/>
                    </a:lnTo>
                    <a:lnTo>
                      <a:pt x="367" y="978"/>
                    </a:lnTo>
                    <a:lnTo>
                      <a:pt x="392" y="993"/>
                    </a:lnTo>
                    <a:lnTo>
                      <a:pt x="401" y="978"/>
                    </a:lnTo>
                    <a:lnTo>
                      <a:pt x="417" y="993"/>
                    </a:lnTo>
                    <a:lnTo>
                      <a:pt x="451" y="1009"/>
                    </a:lnTo>
                    <a:lnTo>
                      <a:pt x="467" y="1001"/>
                    </a:lnTo>
                    <a:lnTo>
                      <a:pt x="493" y="1001"/>
                    </a:lnTo>
                    <a:lnTo>
                      <a:pt x="501" y="1009"/>
                    </a:lnTo>
                    <a:lnTo>
                      <a:pt x="543" y="1009"/>
                    </a:lnTo>
                    <a:lnTo>
                      <a:pt x="551" y="993"/>
                    </a:lnTo>
                    <a:lnTo>
                      <a:pt x="517" y="978"/>
                    </a:lnTo>
                    <a:lnTo>
                      <a:pt x="543" y="970"/>
                    </a:lnTo>
                    <a:lnTo>
                      <a:pt x="534" y="963"/>
                    </a:lnTo>
                    <a:lnTo>
                      <a:pt x="543" y="955"/>
                    </a:lnTo>
                    <a:lnTo>
                      <a:pt x="543" y="925"/>
                    </a:lnTo>
                    <a:lnTo>
                      <a:pt x="559" y="932"/>
                    </a:lnTo>
                    <a:lnTo>
                      <a:pt x="651" y="909"/>
                    </a:lnTo>
                    <a:lnTo>
                      <a:pt x="651" y="894"/>
                    </a:lnTo>
                    <a:lnTo>
                      <a:pt x="659" y="894"/>
                    </a:lnTo>
                    <a:lnTo>
                      <a:pt x="693" y="894"/>
                    </a:lnTo>
                    <a:lnTo>
                      <a:pt x="701" y="917"/>
                    </a:lnTo>
                    <a:lnTo>
                      <a:pt x="701" y="925"/>
                    </a:lnTo>
                    <a:lnTo>
                      <a:pt x="710" y="925"/>
                    </a:lnTo>
                    <a:lnTo>
                      <a:pt x="735" y="932"/>
                    </a:lnTo>
                    <a:lnTo>
                      <a:pt x="735" y="948"/>
                    </a:lnTo>
                    <a:lnTo>
                      <a:pt x="751" y="948"/>
                    </a:lnTo>
                    <a:lnTo>
                      <a:pt x="768" y="925"/>
                    </a:lnTo>
                    <a:lnTo>
                      <a:pt x="793" y="917"/>
                    </a:lnTo>
                    <a:lnTo>
                      <a:pt x="802" y="948"/>
                    </a:lnTo>
                    <a:lnTo>
                      <a:pt x="844" y="1009"/>
                    </a:lnTo>
                    <a:lnTo>
                      <a:pt x="852" y="993"/>
                    </a:lnTo>
                    <a:lnTo>
                      <a:pt x="860" y="1009"/>
                    </a:lnTo>
                    <a:lnTo>
                      <a:pt x="894" y="1001"/>
                    </a:lnTo>
                    <a:lnTo>
                      <a:pt x="918" y="1032"/>
                    </a:lnTo>
                    <a:lnTo>
                      <a:pt x="944" y="1039"/>
                    </a:lnTo>
                    <a:lnTo>
                      <a:pt x="944" y="1032"/>
                    </a:lnTo>
                    <a:lnTo>
                      <a:pt x="960" y="1047"/>
                    </a:lnTo>
                    <a:lnTo>
                      <a:pt x="968" y="1039"/>
                    </a:lnTo>
                    <a:lnTo>
                      <a:pt x="1018" y="1009"/>
                    </a:lnTo>
                    <a:lnTo>
                      <a:pt x="1060" y="1016"/>
                    </a:lnTo>
                    <a:lnTo>
                      <a:pt x="1077" y="1032"/>
                    </a:lnTo>
                    <a:lnTo>
                      <a:pt x="1119" y="1032"/>
                    </a:lnTo>
                    <a:lnTo>
                      <a:pt x="1119" y="993"/>
                    </a:lnTo>
                    <a:lnTo>
                      <a:pt x="1144" y="978"/>
                    </a:lnTo>
                    <a:lnTo>
                      <a:pt x="1186" y="993"/>
                    </a:lnTo>
                    <a:lnTo>
                      <a:pt x="1203" y="1016"/>
                    </a:lnTo>
                    <a:lnTo>
                      <a:pt x="1211" y="1016"/>
                    </a:lnTo>
                    <a:lnTo>
                      <a:pt x="1236" y="1009"/>
                    </a:lnTo>
                    <a:lnTo>
                      <a:pt x="1295" y="1039"/>
                    </a:lnTo>
                    <a:lnTo>
                      <a:pt x="1319" y="1047"/>
                    </a:lnTo>
                    <a:lnTo>
                      <a:pt x="1361" y="1039"/>
                    </a:lnTo>
                    <a:lnTo>
                      <a:pt x="1387" y="1016"/>
                    </a:lnTo>
                    <a:lnTo>
                      <a:pt x="1411" y="1032"/>
                    </a:lnTo>
                    <a:lnTo>
                      <a:pt x="1437" y="1039"/>
                    </a:lnTo>
                    <a:lnTo>
                      <a:pt x="1461" y="1032"/>
                    </a:lnTo>
                    <a:lnTo>
                      <a:pt x="1470" y="993"/>
                    </a:lnTo>
                    <a:lnTo>
                      <a:pt x="1487" y="978"/>
                    </a:lnTo>
                    <a:lnTo>
                      <a:pt x="1487" y="970"/>
                    </a:lnTo>
                    <a:lnTo>
                      <a:pt x="1470" y="970"/>
                    </a:lnTo>
                    <a:lnTo>
                      <a:pt x="1487" y="955"/>
                    </a:lnTo>
                    <a:lnTo>
                      <a:pt x="1521" y="948"/>
                    </a:lnTo>
                    <a:lnTo>
                      <a:pt x="1553" y="955"/>
                    </a:lnTo>
                    <a:lnTo>
                      <a:pt x="1571" y="970"/>
                    </a:lnTo>
                    <a:lnTo>
                      <a:pt x="1595" y="1039"/>
                    </a:lnTo>
                    <a:lnTo>
                      <a:pt x="1612" y="1039"/>
                    </a:lnTo>
                    <a:lnTo>
                      <a:pt x="1646" y="1054"/>
                    </a:lnTo>
                    <a:lnTo>
                      <a:pt x="1646" y="1077"/>
                    </a:lnTo>
                    <a:lnTo>
                      <a:pt x="1662" y="1077"/>
                    </a:lnTo>
                    <a:lnTo>
                      <a:pt x="1704" y="1062"/>
                    </a:lnTo>
                    <a:lnTo>
                      <a:pt x="1704" y="1085"/>
                    </a:lnTo>
                    <a:lnTo>
                      <a:pt x="1671" y="1138"/>
                    </a:lnTo>
                    <a:lnTo>
                      <a:pt x="1662" y="1131"/>
                    </a:lnTo>
                    <a:lnTo>
                      <a:pt x="1646" y="1138"/>
                    </a:lnTo>
                    <a:lnTo>
                      <a:pt x="1646" y="1185"/>
                    </a:lnTo>
                    <a:lnTo>
                      <a:pt x="1654" y="1169"/>
                    </a:lnTo>
                    <a:lnTo>
                      <a:pt x="1662" y="1169"/>
                    </a:lnTo>
                    <a:lnTo>
                      <a:pt x="1662" y="1177"/>
                    </a:lnTo>
                    <a:lnTo>
                      <a:pt x="1671" y="1185"/>
                    </a:lnTo>
                    <a:lnTo>
                      <a:pt x="1704" y="1169"/>
                    </a:lnTo>
                    <a:lnTo>
                      <a:pt x="1796" y="1062"/>
                    </a:lnTo>
                    <a:lnTo>
                      <a:pt x="1796" y="1001"/>
                    </a:lnTo>
                    <a:lnTo>
                      <a:pt x="1804" y="978"/>
                    </a:lnTo>
                    <a:lnTo>
                      <a:pt x="1804" y="955"/>
                    </a:lnTo>
                    <a:lnTo>
                      <a:pt x="1780" y="925"/>
                    </a:lnTo>
                    <a:lnTo>
                      <a:pt x="1771" y="925"/>
                    </a:lnTo>
                    <a:lnTo>
                      <a:pt x="1762" y="948"/>
                    </a:lnTo>
                    <a:lnTo>
                      <a:pt x="1746" y="948"/>
                    </a:lnTo>
                    <a:lnTo>
                      <a:pt x="1754" y="925"/>
                    </a:lnTo>
                    <a:lnTo>
                      <a:pt x="1746" y="925"/>
                    </a:lnTo>
                    <a:lnTo>
                      <a:pt x="1729" y="917"/>
                    </a:lnTo>
                    <a:lnTo>
                      <a:pt x="1712" y="917"/>
                    </a:lnTo>
                    <a:lnTo>
                      <a:pt x="1712" y="909"/>
                    </a:lnTo>
                    <a:lnTo>
                      <a:pt x="1830" y="794"/>
                    </a:lnTo>
                    <a:lnTo>
                      <a:pt x="1872" y="787"/>
                    </a:lnTo>
                    <a:lnTo>
                      <a:pt x="1880" y="794"/>
                    </a:lnTo>
                    <a:lnTo>
                      <a:pt x="1896" y="787"/>
                    </a:lnTo>
                    <a:lnTo>
                      <a:pt x="1922" y="794"/>
                    </a:lnTo>
                    <a:lnTo>
                      <a:pt x="1930" y="772"/>
                    </a:lnTo>
                    <a:lnTo>
                      <a:pt x="1964" y="787"/>
                    </a:lnTo>
                    <a:lnTo>
                      <a:pt x="1972" y="787"/>
                    </a:lnTo>
                    <a:lnTo>
                      <a:pt x="1964" y="794"/>
                    </a:lnTo>
                    <a:lnTo>
                      <a:pt x="1964" y="803"/>
                    </a:lnTo>
                    <a:lnTo>
                      <a:pt x="2022" y="794"/>
                    </a:lnTo>
                    <a:lnTo>
                      <a:pt x="2014" y="787"/>
                    </a:lnTo>
                    <a:lnTo>
                      <a:pt x="2055" y="718"/>
                    </a:lnTo>
                    <a:lnTo>
                      <a:pt x="2105" y="710"/>
                    </a:lnTo>
                    <a:lnTo>
                      <a:pt x="2105" y="726"/>
                    </a:lnTo>
                    <a:lnTo>
                      <a:pt x="2105" y="749"/>
                    </a:lnTo>
                    <a:lnTo>
                      <a:pt x="2155" y="718"/>
                    </a:lnTo>
                    <a:lnTo>
                      <a:pt x="2155" y="688"/>
                    </a:lnTo>
                    <a:lnTo>
                      <a:pt x="2172" y="688"/>
                    </a:lnTo>
                    <a:lnTo>
                      <a:pt x="2164" y="703"/>
                    </a:lnTo>
                    <a:lnTo>
                      <a:pt x="2155" y="749"/>
                    </a:lnTo>
                    <a:lnTo>
                      <a:pt x="2139" y="756"/>
                    </a:lnTo>
                    <a:lnTo>
                      <a:pt x="2072" y="825"/>
                    </a:lnTo>
                    <a:lnTo>
                      <a:pt x="2055" y="833"/>
                    </a:lnTo>
                    <a:lnTo>
                      <a:pt x="2030" y="894"/>
                    </a:lnTo>
                    <a:lnTo>
                      <a:pt x="2055" y="1009"/>
                    </a:lnTo>
                    <a:lnTo>
                      <a:pt x="2072" y="993"/>
                    </a:lnTo>
                    <a:lnTo>
                      <a:pt x="2105" y="955"/>
                    </a:lnTo>
                    <a:lnTo>
                      <a:pt x="2105" y="925"/>
                    </a:lnTo>
                    <a:lnTo>
                      <a:pt x="2114" y="925"/>
                    </a:lnTo>
                    <a:lnTo>
                      <a:pt x="2139" y="917"/>
                    </a:lnTo>
                    <a:lnTo>
                      <a:pt x="2139" y="886"/>
                    </a:lnTo>
                    <a:lnTo>
                      <a:pt x="2147" y="878"/>
                    </a:lnTo>
                    <a:lnTo>
                      <a:pt x="2155" y="878"/>
                    </a:lnTo>
                    <a:lnTo>
                      <a:pt x="2155" y="855"/>
                    </a:lnTo>
                    <a:lnTo>
                      <a:pt x="2155" y="841"/>
                    </a:lnTo>
                    <a:lnTo>
                      <a:pt x="2139" y="825"/>
                    </a:lnTo>
                    <a:lnTo>
                      <a:pt x="2155" y="794"/>
                    </a:lnTo>
                    <a:lnTo>
                      <a:pt x="2155" y="772"/>
                    </a:lnTo>
                    <a:lnTo>
                      <a:pt x="2172" y="772"/>
                    </a:lnTo>
                    <a:lnTo>
                      <a:pt x="2205" y="756"/>
                    </a:lnTo>
                    <a:lnTo>
                      <a:pt x="2205" y="772"/>
                    </a:lnTo>
                    <a:lnTo>
                      <a:pt x="2214" y="764"/>
                    </a:lnTo>
                    <a:lnTo>
                      <a:pt x="2247" y="756"/>
                    </a:lnTo>
                    <a:lnTo>
                      <a:pt x="2264" y="772"/>
                    </a:lnTo>
                    <a:lnTo>
                      <a:pt x="2273" y="756"/>
                    </a:lnTo>
                    <a:lnTo>
                      <a:pt x="2373" y="688"/>
                    </a:lnTo>
                    <a:lnTo>
                      <a:pt x="2407" y="703"/>
                    </a:lnTo>
                    <a:lnTo>
                      <a:pt x="2415" y="688"/>
                    </a:lnTo>
                    <a:lnTo>
                      <a:pt x="2397" y="634"/>
                    </a:lnTo>
                    <a:lnTo>
                      <a:pt x="2381" y="634"/>
                    </a:lnTo>
                    <a:lnTo>
                      <a:pt x="2381" y="611"/>
                    </a:lnTo>
                    <a:lnTo>
                      <a:pt x="2397" y="611"/>
                    </a:lnTo>
                    <a:lnTo>
                      <a:pt x="2415" y="604"/>
                    </a:lnTo>
                    <a:lnTo>
                      <a:pt x="2431" y="588"/>
                    </a:lnTo>
                    <a:lnTo>
                      <a:pt x="2423" y="565"/>
                    </a:lnTo>
                    <a:lnTo>
                      <a:pt x="2431" y="558"/>
                    </a:lnTo>
                    <a:lnTo>
                      <a:pt x="2448" y="588"/>
                    </a:lnTo>
                    <a:lnTo>
                      <a:pt x="2465" y="588"/>
                    </a:lnTo>
                    <a:lnTo>
                      <a:pt x="2481" y="604"/>
                    </a:lnTo>
                    <a:lnTo>
                      <a:pt x="2531" y="634"/>
                    </a:lnTo>
                    <a:lnTo>
                      <a:pt x="2548" y="604"/>
                    </a:lnTo>
                    <a:lnTo>
                      <a:pt x="2548" y="588"/>
                    </a:lnTo>
                    <a:lnTo>
                      <a:pt x="2565" y="588"/>
                    </a:lnTo>
                    <a:lnTo>
                      <a:pt x="2582" y="565"/>
                    </a:lnTo>
                    <a:lnTo>
                      <a:pt x="2557" y="543"/>
                    </a:lnTo>
                    <a:lnTo>
                      <a:pt x="2507" y="527"/>
                    </a:lnTo>
                    <a:lnTo>
                      <a:pt x="2415" y="459"/>
                    </a:lnTo>
                    <a:lnTo>
                      <a:pt x="2356" y="420"/>
                    </a:lnTo>
                    <a:lnTo>
                      <a:pt x="2273" y="405"/>
                    </a:lnTo>
                    <a:lnTo>
                      <a:pt x="2273" y="459"/>
                    </a:lnTo>
                    <a:lnTo>
                      <a:pt x="2256" y="466"/>
                    </a:lnTo>
                    <a:lnTo>
                      <a:pt x="2239" y="443"/>
                    </a:lnTo>
                    <a:lnTo>
                      <a:pt x="2239" y="428"/>
                    </a:lnTo>
                    <a:lnTo>
                      <a:pt x="2247" y="428"/>
                    </a:lnTo>
                    <a:lnTo>
                      <a:pt x="2256" y="420"/>
                    </a:lnTo>
                    <a:lnTo>
                      <a:pt x="2239" y="420"/>
                    </a:lnTo>
                    <a:lnTo>
                      <a:pt x="2214" y="435"/>
                    </a:lnTo>
                    <a:lnTo>
                      <a:pt x="2164" y="428"/>
                    </a:lnTo>
                    <a:lnTo>
                      <a:pt x="2114" y="428"/>
                    </a:lnTo>
                    <a:lnTo>
                      <a:pt x="2097" y="420"/>
                    </a:lnTo>
                    <a:lnTo>
                      <a:pt x="2105" y="397"/>
                    </a:lnTo>
                    <a:lnTo>
                      <a:pt x="2088" y="374"/>
                    </a:lnTo>
                    <a:lnTo>
                      <a:pt x="2047" y="359"/>
                    </a:lnTo>
                    <a:lnTo>
                      <a:pt x="1980" y="382"/>
                    </a:lnTo>
                    <a:lnTo>
                      <a:pt x="1972" y="351"/>
                    </a:lnTo>
                    <a:lnTo>
                      <a:pt x="1954" y="351"/>
                    </a:lnTo>
                    <a:lnTo>
                      <a:pt x="1946" y="344"/>
                    </a:lnTo>
                    <a:lnTo>
                      <a:pt x="1946" y="313"/>
                    </a:lnTo>
                    <a:lnTo>
                      <a:pt x="1872" y="298"/>
                    </a:lnTo>
                    <a:lnTo>
                      <a:pt x="1796" y="275"/>
                    </a:lnTo>
                    <a:lnTo>
                      <a:pt x="1771" y="313"/>
                    </a:lnTo>
                    <a:lnTo>
                      <a:pt x="1796" y="344"/>
                    </a:lnTo>
                    <a:lnTo>
                      <a:pt x="1721" y="344"/>
                    </a:lnTo>
                    <a:lnTo>
                      <a:pt x="1704" y="351"/>
                    </a:lnTo>
                    <a:lnTo>
                      <a:pt x="1671" y="328"/>
                    </a:lnTo>
                    <a:lnTo>
                      <a:pt x="1654" y="382"/>
                    </a:lnTo>
                    <a:lnTo>
                      <a:pt x="1629" y="374"/>
                    </a:lnTo>
                    <a:lnTo>
                      <a:pt x="1612" y="336"/>
                    </a:lnTo>
                    <a:lnTo>
                      <a:pt x="1621" y="282"/>
                    </a:lnTo>
                    <a:lnTo>
                      <a:pt x="1604" y="260"/>
                    </a:lnTo>
                    <a:lnTo>
                      <a:pt x="1545" y="237"/>
                    </a:lnTo>
                    <a:lnTo>
                      <a:pt x="1521" y="237"/>
                    </a:lnTo>
                    <a:lnTo>
                      <a:pt x="1512" y="260"/>
                    </a:lnTo>
                    <a:lnTo>
                      <a:pt x="1521" y="275"/>
                    </a:lnTo>
                    <a:lnTo>
                      <a:pt x="1445" y="267"/>
                    </a:lnTo>
                    <a:lnTo>
                      <a:pt x="1453" y="237"/>
                    </a:lnTo>
                    <a:lnTo>
                      <a:pt x="1403" y="229"/>
                    </a:lnTo>
                    <a:lnTo>
                      <a:pt x="1369" y="251"/>
                    </a:lnTo>
                    <a:lnTo>
                      <a:pt x="1311" y="22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3" name="Freeform 166"/>
              <p:cNvSpPr>
                <a:spLocks/>
              </p:cNvSpPr>
              <p:nvPr/>
            </p:nvSpPr>
            <p:spPr bwMode="auto">
              <a:xfrm>
                <a:off x="4532728" y="2091148"/>
                <a:ext cx="625324" cy="811858"/>
              </a:xfrm>
              <a:custGeom>
                <a:avLst/>
                <a:gdLst>
                  <a:gd name="T0" fmla="*/ 12 w 419"/>
                  <a:gd name="T1" fmla="*/ 328 h 468"/>
                  <a:gd name="T2" fmla="*/ 12 w 419"/>
                  <a:gd name="T3" fmla="*/ 328 h 468"/>
                  <a:gd name="T4" fmla="*/ 6 w 419"/>
                  <a:gd name="T5" fmla="*/ 351 h 468"/>
                  <a:gd name="T6" fmla="*/ 3 w 419"/>
                  <a:gd name="T7" fmla="*/ 339 h 468"/>
                  <a:gd name="T8" fmla="*/ 0 w 419"/>
                  <a:gd name="T9" fmla="*/ 282 h 468"/>
                  <a:gd name="T10" fmla="*/ 0 w 419"/>
                  <a:gd name="T11" fmla="*/ 264 h 468"/>
                  <a:gd name="T12" fmla="*/ 6 w 419"/>
                  <a:gd name="T13" fmla="*/ 236 h 468"/>
                  <a:gd name="T14" fmla="*/ 12 w 419"/>
                  <a:gd name="T15" fmla="*/ 189 h 468"/>
                  <a:gd name="T16" fmla="*/ 17 w 419"/>
                  <a:gd name="T17" fmla="*/ 144 h 468"/>
                  <a:gd name="T18" fmla="*/ 24 w 419"/>
                  <a:gd name="T19" fmla="*/ 92 h 468"/>
                  <a:gd name="T20" fmla="*/ 17 w 419"/>
                  <a:gd name="T21" fmla="*/ 109 h 468"/>
                  <a:gd name="T22" fmla="*/ 19 w 419"/>
                  <a:gd name="T23" fmla="*/ 82 h 468"/>
                  <a:gd name="T24" fmla="*/ 24 w 419"/>
                  <a:gd name="T25" fmla="*/ 82 h 468"/>
                  <a:gd name="T26" fmla="*/ 24 w 419"/>
                  <a:gd name="T27" fmla="*/ 57 h 468"/>
                  <a:gd name="T28" fmla="*/ 27 w 419"/>
                  <a:gd name="T29" fmla="*/ 34 h 468"/>
                  <a:gd name="T30" fmla="*/ 32 w 419"/>
                  <a:gd name="T31" fmla="*/ 26 h 468"/>
                  <a:gd name="T32" fmla="*/ 38 w 419"/>
                  <a:gd name="T33" fmla="*/ 21 h 468"/>
                  <a:gd name="T34" fmla="*/ 45 w 419"/>
                  <a:gd name="T35" fmla="*/ 0 h 468"/>
                  <a:gd name="T36" fmla="*/ 51 w 419"/>
                  <a:gd name="T37" fmla="*/ 26 h 468"/>
                  <a:gd name="T38" fmla="*/ 46 w 419"/>
                  <a:gd name="T39" fmla="*/ 34 h 468"/>
                  <a:gd name="T40" fmla="*/ 50 w 419"/>
                  <a:gd name="T41" fmla="*/ 54 h 468"/>
                  <a:gd name="T42" fmla="*/ 49 w 419"/>
                  <a:gd name="T43" fmla="*/ 54 h 468"/>
                  <a:gd name="T44" fmla="*/ 42 w 419"/>
                  <a:gd name="T45" fmla="*/ 49 h 468"/>
                  <a:gd name="T46" fmla="*/ 39 w 419"/>
                  <a:gd name="T47" fmla="*/ 82 h 468"/>
                  <a:gd name="T48" fmla="*/ 32 w 419"/>
                  <a:gd name="T49" fmla="*/ 61 h 468"/>
                  <a:gd name="T50" fmla="*/ 29 w 419"/>
                  <a:gd name="T51" fmla="*/ 76 h 468"/>
                  <a:gd name="T52" fmla="*/ 27 w 419"/>
                  <a:gd name="T53" fmla="*/ 87 h 468"/>
                  <a:gd name="T54" fmla="*/ 25 w 419"/>
                  <a:gd name="T55" fmla="*/ 98 h 468"/>
                  <a:gd name="T56" fmla="*/ 24 w 419"/>
                  <a:gd name="T57" fmla="*/ 109 h 468"/>
                  <a:gd name="T58" fmla="*/ 24 w 419"/>
                  <a:gd name="T59" fmla="*/ 139 h 468"/>
                  <a:gd name="T60" fmla="*/ 19 w 419"/>
                  <a:gd name="T61" fmla="*/ 179 h 468"/>
                  <a:gd name="T62" fmla="*/ 19 w 419"/>
                  <a:gd name="T63" fmla="*/ 208 h 468"/>
                  <a:gd name="T64" fmla="*/ 16 w 419"/>
                  <a:gd name="T65" fmla="*/ 219 h 468"/>
                  <a:gd name="T66" fmla="*/ 16 w 419"/>
                  <a:gd name="T67" fmla="*/ 276 h 468"/>
                  <a:gd name="T68" fmla="*/ 14 w 419"/>
                  <a:gd name="T69" fmla="*/ 311 h 468"/>
                  <a:gd name="T70" fmla="*/ 12 w 419"/>
                  <a:gd name="T71" fmla="*/ 335 h 4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19"/>
                  <a:gd name="T109" fmla="*/ 0 h 468"/>
                  <a:gd name="T110" fmla="*/ 419 w 419"/>
                  <a:gd name="T111" fmla="*/ 468 h 4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19" h="468">
                    <a:moveTo>
                      <a:pt x="100" y="444"/>
                    </a:moveTo>
                    <a:lnTo>
                      <a:pt x="100" y="436"/>
                    </a:lnTo>
                    <a:lnTo>
                      <a:pt x="92" y="429"/>
                    </a:lnTo>
                    <a:lnTo>
                      <a:pt x="92" y="436"/>
                    </a:lnTo>
                    <a:lnTo>
                      <a:pt x="84" y="436"/>
                    </a:lnTo>
                    <a:lnTo>
                      <a:pt x="50" y="467"/>
                    </a:lnTo>
                    <a:lnTo>
                      <a:pt x="33" y="467"/>
                    </a:lnTo>
                    <a:lnTo>
                      <a:pt x="9" y="451"/>
                    </a:lnTo>
                    <a:lnTo>
                      <a:pt x="9" y="398"/>
                    </a:lnTo>
                    <a:lnTo>
                      <a:pt x="0" y="375"/>
                    </a:lnTo>
                    <a:lnTo>
                      <a:pt x="9" y="359"/>
                    </a:lnTo>
                    <a:lnTo>
                      <a:pt x="0" y="352"/>
                    </a:lnTo>
                    <a:lnTo>
                      <a:pt x="42" y="322"/>
                    </a:lnTo>
                    <a:lnTo>
                      <a:pt x="50" y="314"/>
                    </a:lnTo>
                    <a:lnTo>
                      <a:pt x="75" y="306"/>
                    </a:lnTo>
                    <a:lnTo>
                      <a:pt x="100" y="252"/>
                    </a:lnTo>
                    <a:lnTo>
                      <a:pt x="126" y="237"/>
                    </a:lnTo>
                    <a:lnTo>
                      <a:pt x="142" y="191"/>
                    </a:lnTo>
                    <a:lnTo>
                      <a:pt x="159" y="145"/>
                    </a:lnTo>
                    <a:lnTo>
                      <a:pt x="184" y="122"/>
                    </a:lnTo>
                    <a:lnTo>
                      <a:pt x="150" y="130"/>
                    </a:lnTo>
                    <a:lnTo>
                      <a:pt x="134" y="145"/>
                    </a:lnTo>
                    <a:lnTo>
                      <a:pt x="142" y="122"/>
                    </a:lnTo>
                    <a:lnTo>
                      <a:pt x="150" y="107"/>
                    </a:lnTo>
                    <a:lnTo>
                      <a:pt x="184" y="84"/>
                    </a:lnTo>
                    <a:lnTo>
                      <a:pt x="184" y="107"/>
                    </a:lnTo>
                    <a:lnTo>
                      <a:pt x="192" y="100"/>
                    </a:lnTo>
                    <a:lnTo>
                      <a:pt x="192" y="76"/>
                    </a:lnTo>
                    <a:lnTo>
                      <a:pt x="209" y="69"/>
                    </a:lnTo>
                    <a:lnTo>
                      <a:pt x="218" y="46"/>
                    </a:lnTo>
                    <a:lnTo>
                      <a:pt x="242" y="46"/>
                    </a:lnTo>
                    <a:lnTo>
                      <a:pt x="260" y="38"/>
                    </a:lnTo>
                    <a:lnTo>
                      <a:pt x="292" y="15"/>
                    </a:lnTo>
                    <a:lnTo>
                      <a:pt x="310" y="23"/>
                    </a:lnTo>
                    <a:lnTo>
                      <a:pt x="334" y="0"/>
                    </a:lnTo>
                    <a:lnTo>
                      <a:pt x="360" y="0"/>
                    </a:lnTo>
                    <a:lnTo>
                      <a:pt x="376" y="15"/>
                    </a:lnTo>
                    <a:lnTo>
                      <a:pt x="418" y="38"/>
                    </a:lnTo>
                    <a:lnTo>
                      <a:pt x="402" y="46"/>
                    </a:lnTo>
                    <a:lnTo>
                      <a:pt x="376" y="46"/>
                    </a:lnTo>
                    <a:lnTo>
                      <a:pt x="402" y="61"/>
                    </a:lnTo>
                    <a:lnTo>
                      <a:pt x="410" y="69"/>
                    </a:lnTo>
                    <a:lnTo>
                      <a:pt x="376" y="100"/>
                    </a:lnTo>
                    <a:lnTo>
                      <a:pt x="393" y="69"/>
                    </a:lnTo>
                    <a:lnTo>
                      <a:pt x="360" y="46"/>
                    </a:lnTo>
                    <a:lnTo>
                      <a:pt x="342" y="61"/>
                    </a:lnTo>
                    <a:lnTo>
                      <a:pt x="334" y="100"/>
                    </a:lnTo>
                    <a:lnTo>
                      <a:pt x="318" y="107"/>
                    </a:lnTo>
                    <a:lnTo>
                      <a:pt x="284" y="107"/>
                    </a:lnTo>
                    <a:lnTo>
                      <a:pt x="260" y="84"/>
                    </a:lnTo>
                    <a:lnTo>
                      <a:pt x="250" y="100"/>
                    </a:lnTo>
                    <a:lnTo>
                      <a:pt x="242" y="100"/>
                    </a:lnTo>
                    <a:lnTo>
                      <a:pt x="242" y="114"/>
                    </a:lnTo>
                    <a:lnTo>
                      <a:pt x="218" y="114"/>
                    </a:lnTo>
                    <a:lnTo>
                      <a:pt x="209" y="114"/>
                    </a:lnTo>
                    <a:lnTo>
                      <a:pt x="209" y="130"/>
                    </a:lnTo>
                    <a:lnTo>
                      <a:pt x="200" y="130"/>
                    </a:lnTo>
                    <a:lnTo>
                      <a:pt x="192" y="145"/>
                    </a:lnTo>
                    <a:lnTo>
                      <a:pt x="184" y="161"/>
                    </a:lnTo>
                    <a:lnTo>
                      <a:pt x="184" y="184"/>
                    </a:lnTo>
                    <a:lnTo>
                      <a:pt x="159" y="206"/>
                    </a:lnTo>
                    <a:lnTo>
                      <a:pt x="150" y="237"/>
                    </a:lnTo>
                    <a:lnTo>
                      <a:pt x="142" y="252"/>
                    </a:lnTo>
                    <a:lnTo>
                      <a:pt x="150" y="275"/>
                    </a:lnTo>
                    <a:lnTo>
                      <a:pt x="134" y="283"/>
                    </a:lnTo>
                    <a:lnTo>
                      <a:pt x="126" y="291"/>
                    </a:lnTo>
                    <a:lnTo>
                      <a:pt x="109" y="329"/>
                    </a:lnTo>
                    <a:lnTo>
                      <a:pt x="126" y="367"/>
                    </a:lnTo>
                    <a:lnTo>
                      <a:pt x="126" y="406"/>
                    </a:lnTo>
                    <a:lnTo>
                      <a:pt x="109" y="413"/>
                    </a:lnTo>
                    <a:lnTo>
                      <a:pt x="109" y="444"/>
                    </a:lnTo>
                    <a:lnTo>
                      <a:pt x="100" y="44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4" name="Freeform 167"/>
              <p:cNvSpPr>
                <a:spLocks/>
              </p:cNvSpPr>
              <p:nvPr/>
            </p:nvSpPr>
            <p:spPr bwMode="auto">
              <a:xfrm>
                <a:off x="5031921" y="3551426"/>
                <a:ext cx="449451" cy="186532"/>
              </a:xfrm>
              <a:custGeom>
                <a:avLst/>
                <a:gdLst>
                  <a:gd name="T0" fmla="*/ 36 w 302"/>
                  <a:gd name="T1" fmla="*/ 26 h 108"/>
                  <a:gd name="T2" fmla="*/ 34 w 302"/>
                  <a:gd name="T3" fmla="*/ 26 h 108"/>
                  <a:gd name="T4" fmla="*/ 33 w 302"/>
                  <a:gd name="T5" fmla="*/ 8 h 108"/>
                  <a:gd name="T6" fmla="*/ 29 w 302"/>
                  <a:gd name="T7" fmla="*/ 8 h 108"/>
                  <a:gd name="T8" fmla="*/ 26 w 302"/>
                  <a:gd name="T9" fmla="*/ 15 h 108"/>
                  <a:gd name="T10" fmla="*/ 20 w 302"/>
                  <a:gd name="T11" fmla="*/ 15 h 108"/>
                  <a:gd name="T12" fmla="*/ 18 w 302"/>
                  <a:gd name="T13" fmla="*/ 0 h 108"/>
                  <a:gd name="T14" fmla="*/ 13 w 302"/>
                  <a:gd name="T15" fmla="*/ 0 h 108"/>
                  <a:gd name="T16" fmla="*/ 9 w 302"/>
                  <a:gd name="T17" fmla="*/ 15 h 108"/>
                  <a:gd name="T18" fmla="*/ 8 w 302"/>
                  <a:gd name="T19" fmla="*/ 15 h 108"/>
                  <a:gd name="T20" fmla="*/ 5 w 302"/>
                  <a:gd name="T21" fmla="*/ 15 h 108"/>
                  <a:gd name="T22" fmla="*/ 4 w 302"/>
                  <a:gd name="T23" fmla="*/ 0 h 108"/>
                  <a:gd name="T24" fmla="*/ 3 w 302"/>
                  <a:gd name="T25" fmla="*/ 0 h 108"/>
                  <a:gd name="T26" fmla="*/ 3 w 302"/>
                  <a:gd name="T27" fmla="*/ 8 h 108"/>
                  <a:gd name="T28" fmla="*/ 0 w 302"/>
                  <a:gd name="T29" fmla="*/ 18 h 108"/>
                  <a:gd name="T30" fmla="*/ 3 w 302"/>
                  <a:gd name="T31" fmla="*/ 18 h 108"/>
                  <a:gd name="T32" fmla="*/ 3 w 302"/>
                  <a:gd name="T33" fmla="*/ 26 h 108"/>
                  <a:gd name="T34" fmla="*/ 3 w 302"/>
                  <a:gd name="T35" fmla="*/ 15 h 108"/>
                  <a:gd name="T36" fmla="*/ 5 w 302"/>
                  <a:gd name="T37" fmla="*/ 15 h 108"/>
                  <a:gd name="T38" fmla="*/ 7 w 302"/>
                  <a:gd name="T39" fmla="*/ 18 h 108"/>
                  <a:gd name="T40" fmla="*/ 5 w 302"/>
                  <a:gd name="T41" fmla="*/ 18 h 108"/>
                  <a:gd name="T42" fmla="*/ 5 w 302"/>
                  <a:gd name="T43" fmla="*/ 26 h 108"/>
                  <a:gd name="T44" fmla="*/ 3 w 302"/>
                  <a:gd name="T45" fmla="*/ 26 h 108"/>
                  <a:gd name="T46" fmla="*/ 3 w 302"/>
                  <a:gd name="T47" fmla="*/ 34 h 108"/>
                  <a:gd name="T48" fmla="*/ 3 w 302"/>
                  <a:gd name="T49" fmla="*/ 41 h 108"/>
                  <a:gd name="T50" fmla="*/ 3 w 302"/>
                  <a:gd name="T51" fmla="*/ 34 h 108"/>
                  <a:gd name="T52" fmla="*/ 3 w 302"/>
                  <a:gd name="T53" fmla="*/ 41 h 108"/>
                  <a:gd name="T54" fmla="*/ 3 w 302"/>
                  <a:gd name="T55" fmla="*/ 45 h 108"/>
                  <a:gd name="T56" fmla="*/ 3 w 302"/>
                  <a:gd name="T57" fmla="*/ 53 h 108"/>
                  <a:gd name="T58" fmla="*/ 3 w 302"/>
                  <a:gd name="T59" fmla="*/ 59 h 108"/>
                  <a:gd name="T60" fmla="*/ 3 w 302"/>
                  <a:gd name="T61" fmla="*/ 67 h 108"/>
                  <a:gd name="T62" fmla="*/ 4 w 302"/>
                  <a:gd name="T63" fmla="*/ 67 h 108"/>
                  <a:gd name="T64" fmla="*/ 4 w 302"/>
                  <a:gd name="T65" fmla="*/ 72 h 108"/>
                  <a:gd name="T66" fmla="*/ 7 w 302"/>
                  <a:gd name="T67" fmla="*/ 77 h 108"/>
                  <a:gd name="T68" fmla="*/ 9 w 302"/>
                  <a:gd name="T69" fmla="*/ 72 h 108"/>
                  <a:gd name="T70" fmla="*/ 9 w 302"/>
                  <a:gd name="T71" fmla="*/ 72 h 108"/>
                  <a:gd name="T72" fmla="*/ 13 w 302"/>
                  <a:gd name="T73" fmla="*/ 77 h 108"/>
                  <a:gd name="T74" fmla="*/ 13 w 302"/>
                  <a:gd name="T75" fmla="*/ 77 h 108"/>
                  <a:gd name="T76" fmla="*/ 16 w 302"/>
                  <a:gd name="T77" fmla="*/ 72 h 108"/>
                  <a:gd name="T78" fmla="*/ 19 w 302"/>
                  <a:gd name="T79" fmla="*/ 72 h 108"/>
                  <a:gd name="T80" fmla="*/ 19 w 302"/>
                  <a:gd name="T81" fmla="*/ 77 h 108"/>
                  <a:gd name="T82" fmla="*/ 19 w 302"/>
                  <a:gd name="T83" fmla="*/ 77 h 108"/>
                  <a:gd name="T84" fmla="*/ 19 w 302"/>
                  <a:gd name="T85" fmla="*/ 72 h 108"/>
                  <a:gd name="T86" fmla="*/ 23 w 302"/>
                  <a:gd name="T87" fmla="*/ 67 h 108"/>
                  <a:gd name="T88" fmla="*/ 23 w 302"/>
                  <a:gd name="T89" fmla="*/ 72 h 108"/>
                  <a:gd name="T90" fmla="*/ 28 w 302"/>
                  <a:gd name="T91" fmla="*/ 67 h 108"/>
                  <a:gd name="T92" fmla="*/ 32 w 302"/>
                  <a:gd name="T93" fmla="*/ 67 h 108"/>
                  <a:gd name="T94" fmla="*/ 32 w 302"/>
                  <a:gd name="T95" fmla="*/ 59 h 108"/>
                  <a:gd name="T96" fmla="*/ 36 w 302"/>
                  <a:gd name="T97" fmla="*/ 67 h 108"/>
                  <a:gd name="T98" fmla="*/ 34 w 302"/>
                  <a:gd name="T99" fmla="*/ 34 h 108"/>
                  <a:gd name="T100" fmla="*/ 36 w 302"/>
                  <a:gd name="T101" fmla="*/ 26 h 10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02"/>
                  <a:gd name="T154" fmla="*/ 0 h 108"/>
                  <a:gd name="T155" fmla="*/ 302 w 302"/>
                  <a:gd name="T156" fmla="*/ 108 h 10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02" h="108">
                    <a:moveTo>
                      <a:pt x="301" y="38"/>
                    </a:moveTo>
                    <a:lnTo>
                      <a:pt x="284" y="38"/>
                    </a:lnTo>
                    <a:lnTo>
                      <a:pt x="276" y="8"/>
                    </a:lnTo>
                    <a:lnTo>
                      <a:pt x="250" y="8"/>
                    </a:lnTo>
                    <a:lnTo>
                      <a:pt x="218" y="15"/>
                    </a:lnTo>
                    <a:lnTo>
                      <a:pt x="176" y="15"/>
                    </a:lnTo>
                    <a:lnTo>
                      <a:pt x="150" y="0"/>
                    </a:lnTo>
                    <a:lnTo>
                      <a:pt x="117" y="0"/>
                    </a:lnTo>
                    <a:lnTo>
                      <a:pt x="84" y="15"/>
                    </a:lnTo>
                    <a:lnTo>
                      <a:pt x="67" y="15"/>
                    </a:lnTo>
                    <a:lnTo>
                      <a:pt x="42" y="15"/>
                    </a:lnTo>
                    <a:lnTo>
                      <a:pt x="33" y="0"/>
                    </a:lnTo>
                    <a:lnTo>
                      <a:pt x="17" y="0"/>
                    </a:lnTo>
                    <a:lnTo>
                      <a:pt x="8" y="8"/>
                    </a:lnTo>
                    <a:lnTo>
                      <a:pt x="0" y="23"/>
                    </a:lnTo>
                    <a:lnTo>
                      <a:pt x="8" y="23"/>
                    </a:lnTo>
                    <a:lnTo>
                      <a:pt x="8" y="38"/>
                    </a:lnTo>
                    <a:lnTo>
                      <a:pt x="25" y="15"/>
                    </a:lnTo>
                    <a:lnTo>
                      <a:pt x="42" y="15"/>
                    </a:lnTo>
                    <a:lnTo>
                      <a:pt x="58" y="23"/>
                    </a:lnTo>
                    <a:lnTo>
                      <a:pt x="42" y="23"/>
                    </a:lnTo>
                    <a:lnTo>
                      <a:pt x="42" y="38"/>
                    </a:lnTo>
                    <a:lnTo>
                      <a:pt x="17" y="38"/>
                    </a:lnTo>
                    <a:lnTo>
                      <a:pt x="8" y="46"/>
                    </a:lnTo>
                    <a:lnTo>
                      <a:pt x="8" y="53"/>
                    </a:lnTo>
                    <a:lnTo>
                      <a:pt x="17" y="46"/>
                    </a:lnTo>
                    <a:lnTo>
                      <a:pt x="17" y="53"/>
                    </a:lnTo>
                    <a:lnTo>
                      <a:pt x="8" y="61"/>
                    </a:lnTo>
                    <a:lnTo>
                      <a:pt x="8" y="76"/>
                    </a:lnTo>
                    <a:lnTo>
                      <a:pt x="17" y="83"/>
                    </a:lnTo>
                    <a:lnTo>
                      <a:pt x="25" y="92"/>
                    </a:lnTo>
                    <a:lnTo>
                      <a:pt x="33" y="92"/>
                    </a:lnTo>
                    <a:lnTo>
                      <a:pt x="33" y="99"/>
                    </a:lnTo>
                    <a:lnTo>
                      <a:pt x="58" y="107"/>
                    </a:lnTo>
                    <a:lnTo>
                      <a:pt x="75" y="99"/>
                    </a:lnTo>
                    <a:lnTo>
                      <a:pt x="84" y="99"/>
                    </a:lnTo>
                    <a:lnTo>
                      <a:pt x="108" y="107"/>
                    </a:lnTo>
                    <a:lnTo>
                      <a:pt x="117" y="107"/>
                    </a:lnTo>
                    <a:lnTo>
                      <a:pt x="134" y="99"/>
                    </a:lnTo>
                    <a:lnTo>
                      <a:pt x="158" y="99"/>
                    </a:lnTo>
                    <a:lnTo>
                      <a:pt x="158" y="107"/>
                    </a:lnTo>
                    <a:lnTo>
                      <a:pt x="167" y="107"/>
                    </a:lnTo>
                    <a:lnTo>
                      <a:pt x="167" y="99"/>
                    </a:lnTo>
                    <a:lnTo>
                      <a:pt x="200" y="92"/>
                    </a:lnTo>
                    <a:lnTo>
                      <a:pt x="208" y="99"/>
                    </a:lnTo>
                    <a:lnTo>
                      <a:pt x="234" y="92"/>
                    </a:lnTo>
                    <a:lnTo>
                      <a:pt x="268" y="92"/>
                    </a:lnTo>
                    <a:lnTo>
                      <a:pt x="268" y="83"/>
                    </a:lnTo>
                    <a:lnTo>
                      <a:pt x="301" y="92"/>
                    </a:lnTo>
                    <a:lnTo>
                      <a:pt x="284" y="46"/>
                    </a:lnTo>
                    <a:lnTo>
                      <a:pt x="301"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5" name="Freeform 168"/>
              <p:cNvSpPr>
                <a:spLocks/>
              </p:cNvSpPr>
              <p:nvPr/>
            </p:nvSpPr>
            <p:spPr bwMode="auto">
              <a:xfrm>
                <a:off x="4907567" y="2171090"/>
                <a:ext cx="250485" cy="623550"/>
              </a:xfrm>
              <a:custGeom>
                <a:avLst/>
                <a:gdLst>
                  <a:gd name="T0" fmla="*/ 15 w 168"/>
                  <a:gd name="T1" fmla="*/ 42 h 360"/>
                  <a:gd name="T2" fmla="*/ 15 w 168"/>
                  <a:gd name="T3" fmla="*/ 55 h 360"/>
                  <a:gd name="T4" fmla="*/ 19 w 168"/>
                  <a:gd name="T5" fmla="*/ 75 h 360"/>
                  <a:gd name="T6" fmla="*/ 17 w 168"/>
                  <a:gd name="T7" fmla="*/ 90 h 360"/>
                  <a:gd name="T8" fmla="*/ 19 w 168"/>
                  <a:gd name="T9" fmla="*/ 131 h 360"/>
                  <a:gd name="T10" fmla="*/ 17 w 168"/>
                  <a:gd name="T11" fmla="*/ 147 h 360"/>
                  <a:gd name="T12" fmla="*/ 19 w 168"/>
                  <a:gd name="T13" fmla="*/ 169 h 360"/>
                  <a:gd name="T14" fmla="*/ 19 w 168"/>
                  <a:gd name="T15" fmla="*/ 179 h 360"/>
                  <a:gd name="T16" fmla="*/ 20 w 168"/>
                  <a:gd name="T17" fmla="*/ 198 h 360"/>
                  <a:gd name="T18" fmla="*/ 20 w 168"/>
                  <a:gd name="T19" fmla="*/ 203 h 360"/>
                  <a:gd name="T20" fmla="*/ 17 w 168"/>
                  <a:gd name="T21" fmla="*/ 237 h 360"/>
                  <a:gd name="T22" fmla="*/ 13 w 168"/>
                  <a:gd name="T23" fmla="*/ 254 h 360"/>
                  <a:gd name="T24" fmla="*/ 12 w 168"/>
                  <a:gd name="T25" fmla="*/ 254 h 360"/>
                  <a:gd name="T26" fmla="*/ 7 w 168"/>
                  <a:gd name="T27" fmla="*/ 265 h 360"/>
                  <a:gd name="T28" fmla="*/ 3 w 168"/>
                  <a:gd name="T29" fmla="*/ 254 h 360"/>
                  <a:gd name="T30" fmla="*/ 3 w 168"/>
                  <a:gd name="T31" fmla="*/ 231 h 360"/>
                  <a:gd name="T32" fmla="*/ 3 w 168"/>
                  <a:gd name="T33" fmla="*/ 209 h 360"/>
                  <a:gd name="T34" fmla="*/ 3 w 168"/>
                  <a:gd name="T35" fmla="*/ 198 h 360"/>
                  <a:gd name="T36" fmla="*/ 7 w 168"/>
                  <a:gd name="T37" fmla="*/ 152 h 360"/>
                  <a:gd name="T38" fmla="*/ 8 w 168"/>
                  <a:gd name="T39" fmla="*/ 147 h 360"/>
                  <a:gd name="T40" fmla="*/ 8 w 168"/>
                  <a:gd name="T41" fmla="*/ 135 h 360"/>
                  <a:gd name="T42" fmla="*/ 7 w 168"/>
                  <a:gd name="T43" fmla="*/ 131 h 360"/>
                  <a:gd name="T44" fmla="*/ 7 w 168"/>
                  <a:gd name="T45" fmla="*/ 131 h 360"/>
                  <a:gd name="T46" fmla="*/ 5 w 168"/>
                  <a:gd name="T47" fmla="*/ 60 h 360"/>
                  <a:gd name="T48" fmla="*/ 0 w 168"/>
                  <a:gd name="T49" fmla="*/ 42 h 360"/>
                  <a:gd name="T50" fmla="*/ 3 w 168"/>
                  <a:gd name="T51" fmla="*/ 26 h 360"/>
                  <a:gd name="T52" fmla="*/ 4 w 168"/>
                  <a:gd name="T53" fmla="*/ 48 h 360"/>
                  <a:gd name="T54" fmla="*/ 8 w 168"/>
                  <a:gd name="T55" fmla="*/ 48 h 360"/>
                  <a:gd name="T56" fmla="*/ 10 w 168"/>
                  <a:gd name="T57" fmla="*/ 42 h 360"/>
                  <a:gd name="T58" fmla="*/ 11 w 168"/>
                  <a:gd name="T59" fmla="*/ 15 h 360"/>
                  <a:gd name="T60" fmla="*/ 13 w 168"/>
                  <a:gd name="T61" fmla="*/ 0 h 360"/>
                  <a:gd name="T62" fmla="*/ 17 w 168"/>
                  <a:gd name="T63" fmla="*/ 20 h 360"/>
                  <a:gd name="T64" fmla="*/ 15 w 168"/>
                  <a:gd name="T65" fmla="*/ 42 h 3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8"/>
                  <a:gd name="T100" fmla="*/ 0 h 360"/>
                  <a:gd name="T101" fmla="*/ 168 w 168"/>
                  <a:gd name="T102" fmla="*/ 360 h 3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8" h="360">
                    <a:moveTo>
                      <a:pt x="125" y="54"/>
                    </a:moveTo>
                    <a:lnTo>
                      <a:pt x="125" y="76"/>
                    </a:lnTo>
                    <a:lnTo>
                      <a:pt x="151" y="99"/>
                    </a:lnTo>
                    <a:lnTo>
                      <a:pt x="142" y="122"/>
                    </a:lnTo>
                    <a:lnTo>
                      <a:pt x="151" y="176"/>
                    </a:lnTo>
                    <a:lnTo>
                      <a:pt x="142" y="199"/>
                    </a:lnTo>
                    <a:lnTo>
                      <a:pt x="159" y="229"/>
                    </a:lnTo>
                    <a:lnTo>
                      <a:pt x="151" y="244"/>
                    </a:lnTo>
                    <a:lnTo>
                      <a:pt x="167" y="267"/>
                    </a:lnTo>
                    <a:lnTo>
                      <a:pt x="167" y="275"/>
                    </a:lnTo>
                    <a:lnTo>
                      <a:pt x="142" y="321"/>
                    </a:lnTo>
                    <a:lnTo>
                      <a:pt x="109" y="344"/>
                    </a:lnTo>
                    <a:lnTo>
                      <a:pt x="101" y="344"/>
                    </a:lnTo>
                    <a:lnTo>
                      <a:pt x="51" y="359"/>
                    </a:lnTo>
                    <a:lnTo>
                      <a:pt x="9" y="344"/>
                    </a:lnTo>
                    <a:lnTo>
                      <a:pt x="17" y="313"/>
                    </a:lnTo>
                    <a:lnTo>
                      <a:pt x="9" y="283"/>
                    </a:lnTo>
                    <a:lnTo>
                      <a:pt x="17" y="267"/>
                    </a:lnTo>
                    <a:lnTo>
                      <a:pt x="59" y="206"/>
                    </a:lnTo>
                    <a:lnTo>
                      <a:pt x="67" y="199"/>
                    </a:lnTo>
                    <a:lnTo>
                      <a:pt x="67" y="183"/>
                    </a:lnTo>
                    <a:lnTo>
                      <a:pt x="59" y="176"/>
                    </a:lnTo>
                    <a:lnTo>
                      <a:pt x="51" y="176"/>
                    </a:lnTo>
                    <a:lnTo>
                      <a:pt x="42" y="84"/>
                    </a:lnTo>
                    <a:lnTo>
                      <a:pt x="0" y="54"/>
                    </a:lnTo>
                    <a:lnTo>
                      <a:pt x="9" y="38"/>
                    </a:lnTo>
                    <a:lnTo>
                      <a:pt x="34" y="61"/>
                    </a:lnTo>
                    <a:lnTo>
                      <a:pt x="67" y="61"/>
                    </a:lnTo>
                    <a:lnTo>
                      <a:pt x="83" y="54"/>
                    </a:lnTo>
                    <a:lnTo>
                      <a:pt x="91" y="15"/>
                    </a:lnTo>
                    <a:lnTo>
                      <a:pt x="109" y="0"/>
                    </a:lnTo>
                    <a:lnTo>
                      <a:pt x="142" y="23"/>
                    </a:lnTo>
                    <a:lnTo>
                      <a:pt x="125"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6" name="Freeform 169"/>
              <p:cNvSpPr>
                <a:spLocks/>
              </p:cNvSpPr>
              <p:nvPr/>
            </p:nvSpPr>
            <p:spPr bwMode="auto">
              <a:xfrm>
                <a:off x="4969744" y="2977618"/>
                <a:ext cx="225614" cy="214956"/>
              </a:xfrm>
              <a:custGeom>
                <a:avLst/>
                <a:gdLst>
                  <a:gd name="T0" fmla="*/ 17 w 151"/>
                  <a:gd name="T1" fmla="*/ 83 h 123"/>
                  <a:gd name="T2" fmla="*/ 16 w 151"/>
                  <a:gd name="T3" fmla="*/ 72 h 123"/>
                  <a:gd name="T4" fmla="*/ 16 w 151"/>
                  <a:gd name="T5" fmla="*/ 65 h 123"/>
                  <a:gd name="T6" fmla="*/ 17 w 151"/>
                  <a:gd name="T7" fmla="*/ 72 h 123"/>
                  <a:gd name="T8" fmla="*/ 19 w 151"/>
                  <a:gd name="T9" fmla="*/ 49 h 123"/>
                  <a:gd name="T10" fmla="*/ 17 w 151"/>
                  <a:gd name="T11" fmla="*/ 49 h 123"/>
                  <a:gd name="T12" fmla="*/ 14 w 151"/>
                  <a:gd name="T13" fmla="*/ 30 h 123"/>
                  <a:gd name="T14" fmla="*/ 14 w 151"/>
                  <a:gd name="T15" fmla="*/ 15 h 123"/>
                  <a:gd name="T16" fmla="*/ 14 w 151"/>
                  <a:gd name="T17" fmla="*/ 7 h 123"/>
                  <a:gd name="T18" fmla="*/ 9 w 151"/>
                  <a:gd name="T19" fmla="*/ 0 h 123"/>
                  <a:gd name="T20" fmla="*/ 7 w 151"/>
                  <a:gd name="T21" fmla="*/ 15 h 123"/>
                  <a:gd name="T22" fmla="*/ 7 w 151"/>
                  <a:gd name="T23" fmla="*/ 23 h 123"/>
                  <a:gd name="T24" fmla="*/ 5 w 151"/>
                  <a:gd name="T25" fmla="*/ 30 h 123"/>
                  <a:gd name="T26" fmla="*/ 5 w 151"/>
                  <a:gd name="T27" fmla="*/ 42 h 123"/>
                  <a:gd name="T28" fmla="*/ 3 w 151"/>
                  <a:gd name="T29" fmla="*/ 42 h 123"/>
                  <a:gd name="T30" fmla="*/ 3 w 151"/>
                  <a:gd name="T31" fmla="*/ 49 h 123"/>
                  <a:gd name="T32" fmla="*/ 0 w 151"/>
                  <a:gd name="T33" fmla="*/ 49 h 123"/>
                  <a:gd name="T34" fmla="*/ 3 w 151"/>
                  <a:gd name="T35" fmla="*/ 72 h 123"/>
                  <a:gd name="T36" fmla="*/ 0 w 151"/>
                  <a:gd name="T37" fmla="*/ 83 h 123"/>
                  <a:gd name="T38" fmla="*/ 0 w 151"/>
                  <a:gd name="T39" fmla="*/ 98 h 123"/>
                  <a:gd name="T40" fmla="*/ 3 w 151"/>
                  <a:gd name="T41" fmla="*/ 87 h 123"/>
                  <a:gd name="T42" fmla="*/ 5 w 151"/>
                  <a:gd name="T43" fmla="*/ 87 h 123"/>
                  <a:gd name="T44" fmla="*/ 8 w 151"/>
                  <a:gd name="T45" fmla="*/ 98 h 123"/>
                  <a:gd name="T46" fmla="*/ 9 w 151"/>
                  <a:gd name="T47" fmla="*/ 98 h 123"/>
                  <a:gd name="T48" fmla="*/ 10 w 151"/>
                  <a:gd name="T49" fmla="*/ 98 h 123"/>
                  <a:gd name="T50" fmla="*/ 12 w 151"/>
                  <a:gd name="T51" fmla="*/ 98 h 123"/>
                  <a:gd name="T52" fmla="*/ 14 w 151"/>
                  <a:gd name="T53" fmla="*/ 98 h 123"/>
                  <a:gd name="T54" fmla="*/ 16 w 151"/>
                  <a:gd name="T55" fmla="*/ 83 h 123"/>
                  <a:gd name="T56" fmla="*/ 17 w 151"/>
                  <a:gd name="T57" fmla="*/ 83 h 12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51"/>
                  <a:gd name="T88" fmla="*/ 0 h 123"/>
                  <a:gd name="T89" fmla="*/ 151 w 151"/>
                  <a:gd name="T90" fmla="*/ 123 h 12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51" h="123">
                    <a:moveTo>
                      <a:pt x="134" y="99"/>
                    </a:moveTo>
                    <a:lnTo>
                      <a:pt x="126" y="84"/>
                    </a:lnTo>
                    <a:lnTo>
                      <a:pt x="126" y="77"/>
                    </a:lnTo>
                    <a:lnTo>
                      <a:pt x="134" y="84"/>
                    </a:lnTo>
                    <a:lnTo>
                      <a:pt x="150" y="61"/>
                    </a:lnTo>
                    <a:lnTo>
                      <a:pt x="134" y="61"/>
                    </a:lnTo>
                    <a:lnTo>
                      <a:pt x="117" y="38"/>
                    </a:lnTo>
                    <a:lnTo>
                      <a:pt x="117" y="15"/>
                    </a:lnTo>
                    <a:lnTo>
                      <a:pt x="109" y="7"/>
                    </a:lnTo>
                    <a:lnTo>
                      <a:pt x="75" y="0"/>
                    </a:lnTo>
                    <a:lnTo>
                      <a:pt x="59" y="15"/>
                    </a:lnTo>
                    <a:lnTo>
                      <a:pt x="59" y="23"/>
                    </a:lnTo>
                    <a:lnTo>
                      <a:pt x="42" y="38"/>
                    </a:lnTo>
                    <a:lnTo>
                      <a:pt x="42" y="54"/>
                    </a:lnTo>
                    <a:lnTo>
                      <a:pt x="25" y="54"/>
                    </a:lnTo>
                    <a:lnTo>
                      <a:pt x="9" y="61"/>
                    </a:lnTo>
                    <a:lnTo>
                      <a:pt x="0" y="61"/>
                    </a:lnTo>
                    <a:lnTo>
                      <a:pt x="9" y="84"/>
                    </a:lnTo>
                    <a:lnTo>
                      <a:pt x="0" y="99"/>
                    </a:lnTo>
                    <a:lnTo>
                      <a:pt x="0" y="122"/>
                    </a:lnTo>
                    <a:lnTo>
                      <a:pt x="17" y="107"/>
                    </a:lnTo>
                    <a:lnTo>
                      <a:pt x="42" y="107"/>
                    </a:lnTo>
                    <a:lnTo>
                      <a:pt x="67" y="122"/>
                    </a:lnTo>
                    <a:lnTo>
                      <a:pt x="75" y="122"/>
                    </a:lnTo>
                    <a:lnTo>
                      <a:pt x="84" y="122"/>
                    </a:lnTo>
                    <a:lnTo>
                      <a:pt x="100" y="122"/>
                    </a:lnTo>
                    <a:lnTo>
                      <a:pt x="117" y="122"/>
                    </a:lnTo>
                    <a:lnTo>
                      <a:pt x="126" y="99"/>
                    </a:lnTo>
                    <a:lnTo>
                      <a:pt x="134" y="9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7" name="Freeform 171"/>
              <p:cNvSpPr>
                <a:spLocks/>
              </p:cNvSpPr>
              <p:nvPr/>
            </p:nvSpPr>
            <p:spPr bwMode="auto">
              <a:xfrm>
                <a:off x="4932438" y="3151715"/>
                <a:ext cx="438792" cy="319769"/>
              </a:xfrm>
              <a:custGeom>
                <a:avLst/>
                <a:gdLst>
                  <a:gd name="T0" fmla="*/ 15 w 294"/>
                  <a:gd name="T1" fmla="*/ 124 h 184"/>
                  <a:gd name="T2" fmla="*/ 12 w 294"/>
                  <a:gd name="T3" fmla="*/ 124 h 184"/>
                  <a:gd name="T4" fmla="*/ 12 w 294"/>
                  <a:gd name="T5" fmla="*/ 117 h 184"/>
                  <a:gd name="T6" fmla="*/ 14 w 294"/>
                  <a:gd name="T7" fmla="*/ 100 h 184"/>
                  <a:gd name="T8" fmla="*/ 17 w 294"/>
                  <a:gd name="T9" fmla="*/ 100 h 184"/>
                  <a:gd name="T10" fmla="*/ 17 w 294"/>
                  <a:gd name="T11" fmla="*/ 95 h 184"/>
                  <a:gd name="T12" fmla="*/ 15 w 294"/>
                  <a:gd name="T13" fmla="*/ 83 h 184"/>
                  <a:gd name="T14" fmla="*/ 15 w 294"/>
                  <a:gd name="T15" fmla="*/ 68 h 184"/>
                  <a:gd name="T16" fmla="*/ 12 w 294"/>
                  <a:gd name="T17" fmla="*/ 64 h 184"/>
                  <a:gd name="T18" fmla="*/ 9 w 294"/>
                  <a:gd name="T19" fmla="*/ 68 h 184"/>
                  <a:gd name="T20" fmla="*/ 6 w 294"/>
                  <a:gd name="T21" fmla="*/ 83 h 184"/>
                  <a:gd name="T22" fmla="*/ 5 w 294"/>
                  <a:gd name="T23" fmla="*/ 83 h 184"/>
                  <a:gd name="T24" fmla="*/ 3 w 294"/>
                  <a:gd name="T25" fmla="*/ 83 h 184"/>
                  <a:gd name="T26" fmla="*/ 0 w 294"/>
                  <a:gd name="T27" fmla="*/ 68 h 184"/>
                  <a:gd name="T28" fmla="*/ 3 w 294"/>
                  <a:gd name="T29" fmla="*/ 61 h 184"/>
                  <a:gd name="T30" fmla="*/ 3 w 294"/>
                  <a:gd name="T31" fmla="*/ 49 h 184"/>
                  <a:gd name="T32" fmla="*/ 4 w 294"/>
                  <a:gd name="T33" fmla="*/ 34 h 184"/>
                  <a:gd name="T34" fmla="*/ 3 w 294"/>
                  <a:gd name="T35" fmla="*/ 23 h 184"/>
                  <a:gd name="T36" fmla="*/ 5 w 294"/>
                  <a:gd name="T37" fmla="*/ 7 h 184"/>
                  <a:gd name="T38" fmla="*/ 8 w 294"/>
                  <a:gd name="T39" fmla="*/ 7 h 184"/>
                  <a:gd name="T40" fmla="*/ 12 w 294"/>
                  <a:gd name="T41" fmla="*/ 23 h 184"/>
                  <a:gd name="T42" fmla="*/ 12 w 294"/>
                  <a:gd name="T43" fmla="*/ 23 h 184"/>
                  <a:gd name="T44" fmla="*/ 14 w 294"/>
                  <a:gd name="T45" fmla="*/ 23 h 184"/>
                  <a:gd name="T46" fmla="*/ 15 w 294"/>
                  <a:gd name="T47" fmla="*/ 23 h 184"/>
                  <a:gd name="T48" fmla="*/ 17 w 294"/>
                  <a:gd name="T49" fmla="*/ 23 h 184"/>
                  <a:gd name="T50" fmla="*/ 19 w 294"/>
                  <a:gd name="T51" fmla="*/ 0 h 184"/>
                  <a:gd name="T52" fmla="*/ 20 w 294"/>
                  <a:gd name="T53" fmla="*/ 0 h 184"/>
                  <a:gd name="T54" fmla="*/ 24 w 294"/>
                  <a:gd name="T55" fmla="*/ 0 h 184"/>
                  <a:gd name="T56" fmla="*/ 24 w 294"/>
                  <a:gd name="T57" fmla="*/ 7 h 184"/>
                  <a:gd name="T58" fmla="*/ 24 w 294"/>
                  <a:gd name="T59" fmla="*/ 7 h 184"/>
                  <a:gd name="T60" fmla="*/ 24 w 294"/>
                  <a:gd name="T61" fmla="*/ 23 h 184"/>
                  <a:gd name="T62" fmla="*/ 27 w 294"/>
                  <a:gd name="T63" fmla="*/ 23 h 184"/>
                  <a:gd name="T64" fmla="*/ 28 w 294"/>
                  <a:gd name="T65" fmla="*/ 26 h 184"/>
                  <a:gd name="T66" fmla="*/ 29 w 294"/>
                  <a:gd name="T67" fmla="*/ 34 h 184"/>
                  <a:gd name="T68" fmla="*/ 29 w 294"/>
                  <a:gd name="T69" fmla="*/ 26 h 184"/>
                  <a:gd name="T70" fmla="*/ 36 w 294"/>
                  <a:gd name="T71" fmla="*/ 56 h 184"/>
                  <a:gd name="T72" fmla="*/ 35 w 294"/>
                  <a:gd name="T73" fmla="*/ 83 h 184"/>
                  <a:gd name="T74" fmla="*/ 34 w 294"/>
                  <a:gd name="T75" fmla="*/ 68 h 184"/>
                  <a:gd name="T76" fmla="*/ 33 w 294"/>
                  <a:gd name="T77" fmla="*/ 83 h 184"/>
                  <a:gd name="T78" fmla="*/ 33 w 294"/>
                  <a:gd name="T79" fmla="*/ 95 h 184"/>
                  <a:gd name="T80" fmla="*/ 31 w 294"/>
                  <a:gd name="T81" fmla="*/ 95 h 184"/>
                  <a:gd name="T82" fmla="*/ 24 w 294"/>
                  <a:gd name="T83" fmla="*/ 117 h 184"/>
                  <a:gd name="T84" fmla="*/ 28 w 294"/>
                  <a:gd name="T85" fmla="*/ 124 h 184"/>
                  <a:gd name="T86" fmla="*/ 29 w 294"/>
                  <a:gd name="T87" fmla="*/ 124 h 184"/>
                  <a:gd name="T88" fmla="*/ 28 w 294"/>
                  <a:gd name="T89" fmla="*/ 124 h 184"/>
                  <a:gd name="T90" fmla="*/ 24 w 294"/>
                  <a:gd name="T91" fmla="*/ 141 h 184"/>
                  <a:gd name="T92" fmla="*/ 24 w 294"/>
                  <a:gd name="T93" fmla="*/ 141 h 184"/>
                  <a:gd name="T94" fmla="*/ 24 w 294"/>
                  <a:gd name="T95" fmla="*/ 130 h 184"/>
                  <a:gd name="T96" fmla="*/ 21 w 294"/>
                  <a:gd name="T97" fmla="*/ 124 h 184"/>
                  <a:gd name="T98" fmla="*/ 24 w 294"/>
                  <a:gd name="T99" fmla="*/ 117 h 184"/>
                  <a:gd name="T100" fmla="*/ 20 w 294"/>
                  <a:gd name="T101" fmla="*/ 106 h 184"/>
                  <a:gd name="T102" fmla="*/ 20 w 294"/>
                  <a:gd name="T103" fmla="*/ 100 h 184"/>
                  <a:gd name="T104" fmla="*/ 17 w 294"/>
                  <a:gd name="T105" fmla="*/ 100 h 184"/>
                  <a:gd name="T106" fmla="*/ 17 w 294"/>
                  <a:gd name="T107" fmla="*/ 117 h 184"/>
                  <a:gd name="T108" fmla="*/ 15 w 294"/>
                  <a:gd name="T109" fmla="*/ 117 h 184"/>
                  <a:gd name="T110" fmla="*/ 15 w 294"/>
                  <a:gd name="T111" fmla="*/ 124 h 1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94"/>
                  <a:gd name="T169" fmla="*/ 0 h 184"/>
                  <a:gd name="T170" fmla="*/ 294 w 294"/>
                  <a:gd name="T171" fmla="*/ 184 h 18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94" h="184">
                    <a:moveTo>
                      <a:pt x="125" y="160"/>
                    </a:moveTo>
                    <a:lnTo>
                      <a:pt x="100" y="160"/>
                    </a:lnTo>
                    <a:lnTo>
                      <a:pt x="100" y="153"/>
                    </a:lnTo>
                    <a:lnTo>
                      <a:pt x="109" y="129"/>
                    </a:lnTo>
                    <a:lnTo>
                      <a:pt x="134" y="129"/>
                    </a:lnTo>
                    <a:lnTo>
                      <a:pt x="134" y="122"/>
                    </a:lnTo>
                    <a:lnTo>
                      <a:pt x="125" y="107"/>
                    </a:lnTo>
                    <a:lnTo>
                      <a:pt x="125" y="91"/>
                    </a:lnTo>
                    <a:lnTo>
                      <a:pt x="92" y="84"/>
                    </a:lnTo>
                    <a:lnTo>
                      <a:pt x="75" y="91"/>
                    </a:lnTo>
                    <a:lnTo>
                      <a:pt x="50" y="107"/>
                    </a:lnTo>
                    <a:lnTo>
                      <a:pt x="42" y="107"/>
                    </a:lnTo>
                    <a:lnTo>
                      <a:pt x="17" y="107"/>
                    </a:lnTo>
                    <a:lnTo>
                      <a:pt x="0" y="91"/>
                    </a:lnTo>
                    <a:lnTo>
                      <a:pt x="17" y="77"/>
                    </a:lnTo>
                    <a:lnTo>
                      <a:pt x="25" y="61"/>
                    </a:lnTo>
                    <a:lnTo>
                      <a:pt x="34" y="46"/>
                    </a:lnTo>
                    <a:lnTo>
                      <a:pt x="25" y="23"/>
                    </a:lnTo>
                    <a:lnTo>
                      <a:pt x="42" y="7"/>
                    </a:lnTo>
                    <a:lnTo>
                      <a:pt x="67" y="7"/>
                    </a:lnTo>
                    <a:lnTo>
                      <a:pt x="92" y="23"/>
                    </a:lnTo>
                    <a:lnTo>
                      <a:pt x="100" y="23"/>
                    </a:lnTo>
                    <a:lnTo>
                      <a:pt x="109" y="23"/>
                    </a:lnTo>
                    <a:lnTo>
                      <a:pt x="125" y="23"/>
                    </a:lnTo>
                    <a:lnTo>
                      <a:pt x="142" y="23"/>
                    </a:lnTo>
                    <a:lnTo>
                      <a:pt x="151" y="0"/>
                    </a:lnTo>
                    <a:lnTo>
                      <a:pt x="159" y="0"/>
                    </a:lnTo>
                    <a:lnTo>
                      <a:pt x="193" y="0"/>
                    </a:lnTo>
                    <a:lnTo>
                      <a:pt x="201" y="7"/>
                    </a:lnTo>
                    <a:lnTo>
                      <a:pt x="193" y="7"/>
                    </a:lnTo>
                    <a:lnTo>
                      <a:pt x="201" y="23"/>
                    </a:lnTo>
                    <a:lnTo>
                      <a:pt x="217" y="23"/>
                    </a:lnTo>
                    <a:lnTo>
                      <a:pt x="225" y="38"/>
                    </a:lnTo>
                    <a:lnTo>
                      <a:pt x="234" y="46"/>
                    </a:lnTo>
                    <a:lnTo>
                      <a:pt x="243" y="38"/>
                    </a:lnTo>
                    <a:lnTo>
                      <a:pt x="293" y="68"/>
                    </a:lnTo>
                    <a:lnTo>
                      <a:pt x="285" y="107"/>
                    </a:lnTo>
                    <a:lnTo>
                      <a:pt x="275" y="91"/>
                    </a:lnTo>
                    <a:lnTo>
                      <a:pt x="267" y="107"/>
                    </a:lnTo>
                    <a:lnTo>
                      <a:pt x="267" y="122"/>
                    </a:lnTo>
                    <a:lnTo>
                      <a:pt x="251" y="122"/>
                    </a:lnTo>
                    <a:lnTo>
                      <a:pt x="201" y="153"/>
                    </a:lnTo>
                    <a:lnTo>
                      <a:pt x="225" y="160"/>
                    </a:lnTo>
                    <a:lnTo>
                      <a:pt x="234" y="160"/>
                    </a:lnTo>
                    <a:lnTo>
                      <a:pt x="225" y="160"/>
                    </a:lnTo>
                    <a:lnTo>
                      <a:pt x="193" y="183"/>
                    </a:lnTo>
                    <a:lnTo>
                      <a:pt x="184" y="183"/>
                    </a:lnTo>
                    <a:lnTo>
                      <a:pt x="184" y="168"/>
                    </a:lnTo>
                    <a:lnTo>
                      <a:pt x="175" y="160"/>
                    </a:lnTo>
                    <a:lnTo>
                      <a:pt x="193" y="153"/>
                    </a:lnTo>
                    <a:lnTo>
                      <a:pt x="159" y="138"/>
                    </a:lnTo>
                    <a:lnTo>
                      <a:pt x="159" y="129"/>
                    </a:lnTo>
                    <a:lnTo>
                      <a:pt x="142" y="129"/>
                    </a:lnTo>
                    <a:lnTo>
                      <a:pt x="134" y="153"/>
                    </a:lnTo>
                    <a:lnTo>
                      <a:pt x="125" y="153"/>
                    </a:lnTo>
                    <a:lnTo>
                      <a:pt x="125" y="16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8" name="Freeform 172"/>
              <p:cNvSpPr>
                <a:spLocks/>
              </p:cNvSpPr>
              <p:nvPr/>
            </p:nvSpPr>
            <p:spPr bwMode="auto">
              <a:xfrm>
                <a:off x="4921779" y="2901229"/>
                <a:ext cx="161660" cy="106590"/>
              </a:xfrm>
              <a:custGeom>
                <a:avLst/>
                <a:gdLst>
                  <a:gd name="T0" fmla="*/ 6 w 109"/>
                  <a:gd name="T1" fmla="*/ 0 h 62"/>
                  <a:gd name="T2" fmla="*/ 6 w 109"/>
                  <a:gd name="T3" fmla="*/ 15 h 62"/>
                  <a:gd name="T4" fmla="*/ 4 w 109"/>
                  <a:gd name="T5" fmla="*/ 15 h 62"/>
                  <a:gd name="T6" fmla="*/ 3 w 109"/>
                  <a:gd name="T7" fmla="*/ 7 h 62"/>
                  <a:gd name="T8" fmla="*/ 3 w 109"/>
                  <a:gd name="T9" fmla="*/ 15 h 62"/>
                  <a:gd name="T10" fmla="*/ 0 w 109"/>
                  <a:gd name="T11" fmla="*/ 18 h 62"/>
                  <a:gd name="T12" fmla="*/ 0 w 109"/>
                  <a:gd name="T13" fmla="*/ 37 h 62"/>
                  <a:gd name="T14" fmla="*/ 3 w 109"/>
                  <a:gd name="T15" fmla="*/ 33 h 62"/>
                  <a:gd name="T16" fmla="*/ 7 w 109"/>
                  <a:gd name="T17" fmla="*/ 33 h 62"/>
                  <a:gd name="T18" fmla="*/ 11 w 109"/>
                  <a:gd name="T19" fmla="*/ 41 h 62"/>
                  <a:gd name="T20" fmla="*/ 13 w 109"/>
                  <a:gd name="T21" fmla="*/ 33 h 62"/>
                  <a:gd name="T22" fmla="*/ 11 w 109"/>
                  <a:gd name="T23" fmla="*/ 15 h 62"/>
                  <a:gd name="T24" fmla="*/ 11 w 109"/>
                  <a:gd name="T25" fmla="*/ 7 h 62"/>
                  <a:gd name="T26" fmla="*/ 9 w 109"/>
                  <a:gd name="T27" fmla="*/ 7 h 62"/>
                  <a:gd name="T28" fmla="*/ 7 w 109"/>
                  <a:gd name="T29" fmla="*/ 0 h 62"/>
                  <a:gd name="T30" fmla="*/ 6 w 109"/>
                  <a:gd name="T31" fmla="*/ 0 h 6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09"/>
                  <a:gd name="T49" fmla="*/ 0 h 62"/>
                  <a:gd name="T50" fmla="*/ 109 w 109"/>
                  <a:gd name="T51" fmla="*/ 62 h 6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09" h="62">
                    <a:moveTo>
                      <a:pt x="50" y="0"/>
                    </a:moveTo>
                    <a:lnTo>
                      <a:pt x="50" y="23"/>
                    </a:lnTo>
                    <a:lnTo>
                      <a:pt x="32" y="23"/>
                    </a:lnTo>
                    <a:lnTo>
                      <a:pt x="24" y="7"/>
                    </a:lnTo>
                    <a:lnTo>
                      <a:pt x="8" y="15"/>
                    </a:lnTo>
                    <a:lnTo>
                      <a:pt x="0" y="30"/>
                    </a:lnTo>
                    <a:lnTo>
                      <a:pt x="0" y="53"/>
                    </a:lnTo>
                    <a:lnTo>
                      <a:pt x="8" y="45"/>
                    </a:lnTo>
                    <a:lnTo>
                      <a:pt x="58" y="45"/>
                    </a:lnTo>
                    <a:lnTo>
                      <a:pt x="92" y="61"/>
                    </a:lnTo>
                    <a:lnTo>
                      <a:pt x="108" y="45"/>
                    </a:lnTo>
                    <a:lnTo>
                      <a:pt x="100" y="23"/>
                    </a:lnTo>
                    <a:lnTo>
                      <a:pt x="100" y="7"/>
                    </a:lnTo>
                    <a:lnTo>
                      <a:pt x="82" y="7"/>
                    </a:lnTo>
                    <a:lnTo>
                      <a:pt x="58" y="0"/>
                    </a:lnTo>
                    <a:lnTo>
                      <a:pt x="5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29" name="Freeform 173"/>
              <p:cNvSpPr>
                <a:spLocks/>
              </p:cNvSpPr>
              <p:nvPr/>
            </p:nvSpPr>
            <p:spPr bwMode="auto">
              <a:xfrm>
                <a:off x="4921779" y="2977618"/>
                <a:ext cx="138566" cy="108366"/>
              </a:xfrm>
              <a:custGeom>
                <a:avLst/>
                <a:gdLst>
                  <a:gd name="T0" fmla="*/ 0 w 93"/>
                  <a:gd name="T1" fmla="*/ 23 h 62"/>
                  <a:gd name="T2" fmla="*/ 0 w 93"/>
                  <a:gd name="T3" fmla="*/ 15 h 62"/>
                  <a:gd name="T4" fmla="*/ 0 w 93"/>
                  <a:gd name="T5" fmla="*/ 7 h 62"/>
                  <a:gd name="T6" fmla="*/ 3 w 93"/>
                  <a:gd name="T7" fmla="*/ 0 h 62"/>
                  <a:gd name="T8" fmla="*/ 7 w 93"/>
                  <a:gd name="T9" fmla="*/ 0 h 62"/>
                  <a:gd name="T10" fmla="*/ 11 w 93"/>
                  <a:gd name="T11" fmla="*/ 15 h 62"/>
                  <a:gd name="T12" fmla="*/ 11 w 93"/>
                  <a:gd name="T13" fmla="*/ 23 h 62"/>
                  <a:gd name="T14" fmla="*/ 9 w 93"/>
                  <a:gd name="T15" fmla="*/ 31 h 62"/>
                  <a:gd name="T16" fmla="*/ 9 w 93"/>
                  <a:gd name="T17" fmla="*/ 42 h 62"/>
                  <a:gd name="T18" fmla="*/ 7 w 93"/>
                  <a:gd name="T19" fmla="*/ 42 h 62"/>
                  <a:gd name="T20" fmla="*/ 5 w 93"/>
                  <a:gd name="T21" fmla="*/ 49 h 62"/>
                  <a:gd name="T22" fmla="*/ 4 w 93"/>
                  <a:gd name="T23" fmla="*/ 49 h 62"/>
                  <a:gd name="T24" fmla="*/ 3 w 93"/>
                  <a:gd name="T25" fmla="*/ 42 h 62"/>
                  <a:gd name="T26" fmla="*/ 3 w 93"/>
                  <a:gd name="T27" fmla="*/ 23 h 62"/>
                  <a:gd name="T28" fmla="*/ 0 w 93"/>
                  <a:gd name="T29" fmla="*/ 23 h 6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3"/>
                  <a:gd name="T46" fmla="*/ 0 h 62"/>
                  <a:gd name="T47" fmla="*/ 93 w 93"/>
                  <a:gd name="T48" fmla="*/ 62 h 6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3" h="62">
                    <a:moveTo>
                      <a:pt x="0" y="23"/>
                    </a:moveTo>
                    <a:lnTo>
                      <a:pt x="0" y="15"/>
                    </a:lnTo>
                    <a:lnTo>
                      <a:pt x="0" y="7"/>
                    </a:lnTo>
                    <a:lnTo>
                      <a:pt x="8" y="0"/>
                    </a:lnTo>
                    <a:lnTo>
                      <a:pt x="58" y="0"/>
                    </a:lnTo>
                    <a:lnTo>
                      <a:pt x="92" y="15"/>
                    </a:lnTo>
                    <a:lnTo>
                      <a:pt x="92" y="23"/>
                    </a:lnTo>
                    <a:lnTo>
                      <a:pt x="74" y="38"/>
                    </a:lnTo>
                    <a:lnTo>
                      <a:pt x="74" y="54"/>
                    </a:lnTo>
                    <a:lnTo>
                      <a:pt x="58" y="54"/>
                    </a:lnTo>
                    <a:lnTo>
                      <a:pt x="41" y="61"/>
                    </a:lnTo>
                    <a:lnTo>
                      <a:pt x="32" y="61"/>
                    </a:lnTo>
                    <a:lnTo>
                      <a:pt x="24" y="54"/>
                    </a:lnTo>
                    <a:lnTo>
                      <a:pt x="24" y="23"/>
                    </a:lnTo>
                    <a:lnTo>
                      <a:pt x="0"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0" name="Freeform 174"/>
              <p:cNvSpPr>
                <a:spLocks/>
              </p:cNvSpPr>
              <p:nvPr/>
            </p:nvSpPr>
            <p:spPr bwMode="auto">
              <a:xfrm>
                <a:off x="4983956" y="2831946"/>
                <a:ext cx="99483" cy="81719"/>
              </a:xfrm>
              <a:custGeom>
                <a:avLst/>
                <a:gdLst>
                  <a:gd name="T0" fmla="*/ 3 w 67"/>
                  <a:gd name="T1" fmla="*/ 26 h 47"/>
                  <a:gd name="T2" fmla="*/ 0 w 67"/>
                  <a:gd name="T3" fmla="*/ 23 h 47"/>
                  <a:gd name="T4" fmla="*/ 0 w 67"/>
                  <a:gd name="T5" fmla="*/ 7 h 47"/>
                  <a:gd name="T6" fmla="*/ 3 w 67"/>
                  <a:gd name="T7" fmla="*/ 0 h 47"/>
                  <a:gd name="T8" fmla="*/ 8 w 67"/>
                  <a:gd name="T9" fmla="*/ 0 h 47"/>
                  <a:gd name="T10" fmla="*/ 7 w 67"/>
                  <a:gd name="T11" fmla="*/ 7 h 47"/>
                  <a:gd name="T12" fmla="*/ 6 w 67"/>
                  <a:gd name="T13" fmla="*/ 7 h 47"/>
                  <a:gd name="T14" fmla="*/ 7 w 67"/>
                  <a:gd name="T15" fmla="*/ 26 h 47"/>
                  <a:gd name="T16" fmla="*/ 7 w 67"/>
                  <a:gd name="T17" fmla="*/ 34 h 47"/>
                  <a:gd name="T18" fmla="*/ 5 w 67"/>
                  <a:gd name="T19" fmla="*/ 34 h 47"/>
                  <a:gd name="T20" fmla="*/ 3 w 67"/>
                  <a:gd name="T21" fmla="*/ 26 h 47"/>
                  <a:gd name="T22" fmla="*/ 3 w 67"/>
                  <a:gd name="T23" fmla="*/ 26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7"/>
                  <a:gd name="T37" fmla="*/ 0 h 47"/>
                  <a:gd name="T38" fmla="*/ 67 w 67"/>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7" h="47">
                    <a:moveTo>
                      <a:pt x="8" y="38"/>
                    </a:moveTo>
                    <a:lnTo>
                      <a:pt x="0" y="23"/>
                    </a:lnTo>
                    <a:lnTo>
                      <a:pt x="0" y="7"/>
                    </a:lnTo>
                    <a:lnTo>
                      <a:pt x="8" y="0"/>
                    </a:lnTo>
                    <a:lnTo>
                      <a:pt x="66" y="0"/>
                    </a:lnTo>
                    <a:lnTo>
                      <a:pt x="58" y="7"/>
                    </a:lnTo>
                    <a:lnTo>
                      <a:pt x="50" y="7"/>
                    </a:lnTo>
                    <a:lnTo>
                      <a:pt x="58" y="38"/>
                    </a:lnTo>
                    <a:lnTo>
                      <a:pt x="58" y="46"/>
                    </a:lnTo>
                    <a:lnTo>
                      <a:pt x="41" y="46"/>
                    </a:lnTo>
                    <a:lnTo>
                      <a:pt x="16" y="38"/>
                    </a:lnTo>
                    <a:lnTo>
                      <a:pt x="8"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1" name="Freeform 175"/>
              <p:cNvSpPr>
                <a:spLocks/>
              </p:cNvSpPr>
              <p:nvPr/>
            </p:nvSpPr>
            <p:spPr bwMode="auto">
              <a:xfrm>
                <a:off x="4882696" y="3018478"/>
                <a:ext cx="76389" cy="56848"/>
              </a:xfrm>
              <a:custGeom>
                <a:avLst/>
                <a:gdLst>
                  <a:gd name="T0" fmla="*/ 7 w 51"/>
                  <a:gd name="T1" fmla="*/ 0 h 32"/>
                  <a:gd name="T2" fmla="*/ 7 w 51"/>
                  <a:gd name="T3" fmla="*/ 31 h 32"/>
                  <a:gd name="T4" fmla="*/ 3 w 51"/>
                  <a:gd name="T5" fmla="*/ 31 h 32"/>
                  <a:gd name="T6" fmla="*/ 0 w 51"/>
                  <a:gd name="T7" fmla="*/ 23 h 32"/>
                  <a:gd name="T8" fmla="*/ 3 w 51"/>
                  <a:gd name="T9" fmla="*/ 15 h 32"/>
                  <a:gd name="T10" fmla="*/ 3 w 51"/>
                  <a:gd name="T11" fmla="*/ 0 h 32"/>
                  <a:gd name="T12" fmla="*/ 7 w 51"/>
                  <a:gd name="T13" fmla="*/ 0 h 32"/>
                  <a:gd name="T14" fmla="*/ 0 60000 65536"/>
                  <a:gd name="T15" fmla="*/ 0 60000 65536"/>
                  <a:gd name="T16" fmla="*/ 0 60000 65536"/>
                  <a:gd name="T17" fmla="*/ 0 60000 65536"/>
                  <a:gd name="T18" fmla="*/ 0 60000 65536"/>
                  <a:gd name="T19" fmla="*/ 0 60000 65536"/>
                  <a:gd name="T20" fmla="*/ 0 60000 65536"/>
                  <a:gd name="T21" fmla="*/ 0 w 51"/>
                  <a:gd name="T22" fmla="*/ 0 h 32"/>
                  <a:gd name="T23" fmla="*/ 51 w 51"/>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32">
                    <a:moveTo>
                      <a:pt x="50" y="0"/>
                    </a:moveTo>
                    <a:lnTo>
                      <a:pt x="50" y="31"/>
                    </a:lnTo>
                    <a:lnTo>
                      <a:pt x="26" y="31"/>
                    </a:lnTo>
                    <a:lnTo>
                      <a:pt x="0" y="23"/>
                    </a:lnTo>
                    <a:lnTo>
                      <a:pt x="16" y="15"/>
                    </a:lnTo>
                    <a:lnTo>
                      <a:pt x="26" y="0"/>
                    </a:lnTo>
                    <a:lnTo>
                      <a:pt x="5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2" name="Freeform 176"/>
              <p:cNvSpPr>
                <a:spLocks/>
              </p:cNvSpPr>
              <p:nvPr/>
            </p:nvSpPr>
            <p:spPr bwMode="auto">
              <a:xfrm>
                <a:off x="5044356" y="3297387"/>
                <a:ext cx="90601" cy="122578"/>
              </a:xfrm>
              <a:custGeom>
                <a:avLst/>
                <a:gdLst>
                  <a:gd name="T0" fmla="*/ 0 w 60"/>
                  <a:gd name="T1" fmla="*/ 7 h 70"/>
                  <a:gd name="T2" fmla="*/ 3 w 60"/>
                  <a:gd name="T3" fmla="*/ 7 h 70"/>
                  <a:gd name="T4" fmla="*/ 3 w 60"/>
                  <a:gd name="T5" fmla="*/ 35 h 70"/>
                  <a:gd name="T6" fmla="*/ 3 w 60"/>
                  <a:gd name="T7" fmla="*/ 57 h 70"/>
                  <a:gd name="T8" fmla="*/ 5 w 60"/>
                  <a:gd name="T9" fmla="*/ 35 h 70"/>
                  <a:gd name="T10" fmla="*/ 9 w 60"/>
                  <a:gd name="T11" fmla="*/ 35 h 70"/>
                  <a:gd name="T12" fmla="*/ 9 w 60"/>
                  <a:gd name="T13" fmla="*/ 35 h 70"/>
                  <a:gd name="T14" fmla="*/ 8 w 60"/>
                  <a:gd name="T15" fmla="*/ 23 h 70"/>
                  <a:gd name="T16" fmla="*/ 8 w 60"/>
                  <a:gd name="T17" fmla="*/ 7 h 70"/>
                  <a:gd name="T18" fmla="*/ 3 w 60"/>
                  <a:gd name="T19" fmla="*/ 0 h 70"/>
                  <a:gd name="T20" fmla="*/ 0 w 60"/>
                  <a:gd name="T21" fmla="*/ 7 h 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0"/>
                  <a:gd name="T34" fmla="*/ 0 h 70"/>
                  <a:gd name="T35" fmla="*/ 60 w 60"/>
                  <a:gd name="T36" fmla="*/ 70 h 7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0" h="70">
                    <a:moveTo>
                      <a:pt x="0" y="7"/>
                    </a:moveTo>
                    <a:lnTo>
                      <a:pt x="9" y="7"/>
                    </a:lnTo>
                    <a:lnTo>
                      <a:pt x="25" y="38"/>
                    </a:lnTo>
                    <a:lnTo>
                      <a:pt x="25" y="69"/>
                    </a:lnTo>
                    <a:lnTo>
                      <a:pt x="34" y="45"/>
                    </a:lnTo>
                    <a:lnTo>
                      <a:pt x="59" y="45"/>
                    </a:lnTo>
                    <a:lnTo>
                      <a:pt x="59" y="38"/>
                    </a:lnTo>
                    <a:lnTo>
                      <a:pt x="50" y="23"/>
                    </a:lnTo>
                    <a:lnTo>
                      <a:pt x="50" y="7"/>
                    </a:lnTo>
                    <a:lnTo>
                      <a:pt x="17"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3" name="Freeform 177"/>
              <p:cNvSpPr>
                <a:spLocks/>
              </p:cNvSpPr>
              <p:nvPr/>
            </p:nvSpPr>
            <p:spPr bwMode="auto">
              <a:xfrm>
                <a:off x="4681953" y="2265244"/>
                <a:ext cx="303779" cy="756787"/>
              </a:xfrm>
              <a:custGeom>
                <a:avLst/>
                <a:gdLst>
                  <a:gd name="T0" fmla="*/ 0 w 203"/>
                  <a:gd name="T1" fmla="*/ 260 h 436"/>
                  <a:gd name="T2" fmla="*/ 3 w 203"/>
                  <a:gd name="T3" fmla="*/ 260 h 436"/>
                  <a:gd name="T4" fmla="*/ 3 w 203"/>
                  <a:gd name="T5" fmla="*/ 236 h 436"/>
                  <a:gd name="T6" fmla="*/ 3 w 203"/>
                  <a:gd name="T7" fmla="*/ 230 h 436"/>
                  <a:gd name="T8" fmla="*/ 3 w 203"/>
                  <a:gd name="T9" fmla="*/ 208 h 436"/>
                  <a:gd name="T10" fmla="*/ 3 w 203"/>
                  <a:gd name="T11" fmla="*/ 202 h 436"/>
                  <a:gd name="T12" fmla="*/ 3 w 203"/>
                  <a:gd name="T13" fmla="*/ 174 h 436"/>
                  <a:gd name="T14" fmla="*/ 3 w 203"/>
                  <a:gd name="T15" fmla="*/ 144 h 436"/>
                  <a:gd name="T16" fmla="*/ 4 w 203"/>
                  <a:gd name="T17" fmla="*/ 139 h 436"/>
                  <a:gd name="T18" fmla="*/ 6 w 203"/>
                  <a:gd name="T19" fmla="*/ 133 h 436"/>
                  <a:gd name="T20" fmla="*/ 5 w 203"/>
                  <a:gd name="T21" fmla="*/ 116 h 436"/>
                  <a:gd name="T22" fmla="*/ 6 w 203"/>
                  <a:gd name="T23" fmla="*/ 103 h 436"/>
                  <a:gd name="T24" fmla="*/ 7 w 203"/>
                  <a:gd name="T25" fmla="*/ 82 h 436"/>
                  <a:gd name="T26" fmla="*/ 11 w 203"/>
                  <a:gd name="T27" fmla="*/ 62 h 436"/>
                  <a:gd name="T28" fmla="*/ 11 w 203"/>
                  <a:gd name="T29" fmla="*/ 49 h 436"/>
                  <a:gd name="T30" fmla="*/ 12 w 203"/>
                  <a:gd name="T31" fmla="*/ 33 h 436"/>
                  <a:gd name="T32" fmla="*/ 13 w 203"/>
                  <a:gd name="T33" fmla="*/ 21 h 436"/>
                  <a:gd name="T34" fmla="*/ 14 w 203"/>
                  <a:gd name="T35" fmla="*/ 21 h 436"/>
                  <a:gd name="T36" fmla="*/ 14 w 203"/>
                  <a:gd name="T37" fmla="*/ 14 h 436"/>
                  <a:gd name="T38" fmla="*/ 14 w 203"/>
                  <a:gd name="T39" fmla="*/ 14 h 436"/>
                  <a:gd name="T40" fmla="*/ 18 w 203"/>
                  <a:gd name="T41" fmla="*/ 14 h 436"/>
                  <a:gd name="T42" fmla="*/ 18 w 203"/>
                  <a:gd name="T43" fmla="*/ 0 h 436"/>
                  <a:gd name="T44" fmla="*/ 19 w 203"/>
                  <a:gd name="T45" fmla="*/ 0 h 436"/>
                  <a:gd name="T46" fmla="*/ 24 w 203"/>
                  <a:gd name="T47" fmla="*/ 21 h 436"/>
                  <a:gd name="T48" fmla="*/ 25 w 203"/>
                  <a:gd name="T49" fmla="*/ 93 h 436"/>
                  <a:gd name="T50" fmla="*/ 24 w 203"/>
                  <a:gd name="T51" fmla="*/ 93 h 436"/>
                  <a:gd name="T52" fmla="*/ 20 w 203"/>
                  <a:gd name="T53" fmla="*/ 103 h 436"/>
                  <a:gd name="T54" fmla="*/ 20 w 203"/>
                  <a:gd name="T55" fmla="*/ 109 h 436"/>
                  <a:gd name="T56" fmla="*/ 20 w 203"/>
                  <a:gd name="T57" fmla="*/ 116 h 436"/>
                  <a:gd name="T58" fmla="*/ 21 w 203"/>
                  <a:gd name="T59" fmla="*/ 127 h 436"/>
                  <a:gd name="T60" fmla="*/ 19 w 203"/>
                  <a:gd name="T61" fmla="*/ 139 h 436"/>
                  <a:gd name="T62" fmla="*/ 14 w 203"/>
                  <a:gd name="T63" fmla="*/ 161 h 436"/>
                  <a:gd name="T64" fmla="*/ 13 w 203"/>
                  <a:gd name="T65" fmla="*/ 185 h 436"/>
                  <a:gd name="T66" fmla="*/ 13 w 203"/>
                  <a:gd name="T67" fmla="*/ 220 h 436"/>
                  <a:gd name="T68" fmla="*/ 14 w 203"/>
                  <a:gd name="T69" fmla="*/ 236 h 436"/>
                  <a:gd name="T70" fmla="*/ 14 w 203"/>
                  <a:gd name="T71" fmla="*/ 248 h 436"/>
                  <a:gd name="T72" fmla="*/ 14 w 203"/>
                  <a:gd name="T73" fmla="*/ 254 h 436"/>
                  <a:gd name="T74" fmla="*/ 12 w 203"/>
                  <a:gd name="T75" fmla="*/ 266 h 436"/>
                  <a:gd name="T76" fmla="*/ 11 w 203"/>
                  <a:gd name="T77" fmla="*/ 317 h 436"/>
                  <a:gd name="T78" fmla="*/ 7 w 203"/>
                  <a:gd name="T79" fmla="*/ 317 h 436"/>
                  <a:gd name="T80" fmla="*/ 6 w 203"/>
                  <a:gd name="T81" fmla="*/ 322 h 436"/>
                  <a:gd name="T82" fmla="*/ 6 w 203"/>
                  <a:gd name="T83" fmla="*/ 329 h 436"/>
                  <a:gd name="T84" fmla="*/ 4 w 203"/>
                  <a:gd name="T85" fmla="*/ 329 h 436"/>
                  <a:gd name="T86" fmla="*/ 3 w 203"/>
                  <a:gd name="T87" fmla="*/ 317 h 436"/>
                  <a:gd name="T88" fmla="*/ 4 w 203"/>
                  <a:gd name="T89" fmla="*/ 313 h 436"/>
                  <a:gd name="T90" fmla="*/ 3 w 203"/>
                  <a:gd name="T91" fmla="*/ 300 h 436"/>
                  <a:gd name="T92" fmla="*/ 0 w 203"/>
                  <a:gd name="T93" fmla="*/ 260 h 4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03"/>
                  <a:gd name="T142" fmla="*/ 0 h 436"/>
                  <a:gd name="T143" fmla="*/ 203 w 203"/>
                  <a:gd name="T144" fmla="*/ 436 h 4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03" h="436">
                    <a:moveTo>
                      <a:pt x="0" y="344"/>
                    </a:moveTo>
                    <a:lnTo>
                      <a:pt x="9" y="344"/>
                    </a:lnTo>
                    <a:lnTo>
                      <a:pt x="9" y="313"/>
                    </a:lnTo>
                    <a:lnTo>
                      <a:pt x="26" y="305"/>
                    </a:lnTo>
                    <a:lnTo>
                      <a:pt x="26" y="274"/>
                    </a:lnTo>
                    <a:lnTo>
                      <a:pt x="26" y="267"/>
                    </a:lnTo>
                    <a:lnTo>
                      <a:pt x="9" y="229"/>
                    </a:lnTo>
                    <a:lnTo>
                      <a:pt x="26" y="190"/>
                    </a:lnTo>
                    <a:lnTo>
                      <a:pt x="34" y="183"/>
                    </a:lnTo>
                    <a:lnTo>
                      <a:pt x="50" y="175"/>
                    </a:lnTo>
                    <a:lnTo>
                      <a:pt x="42" y="152"/>
                    </a:lnTo>
                    <a:lnTo>
                      <a:pt x="50" y="136"/>
                    </a:lnTo>
                    <a:lnTo>
                      <a:pt x="59" y="106"/>
                    </a:lnTo>
                    <a:lnTo>
                      <a:pt x="84" y="84"/>
                    </a:lnTo>
                    <a:lnTo>
                      <a:pt x="84" y="61"/>
                    </a:lnTo>
                    <a:lnTo>
                      <a:pt x="92" y="45"/>
                    </a:lnTo>
                    <a:lnTo>
                      <a:pt x="100" y="30"/>
                    </a:lnTo>
                    <a:lnTo>
                      <a:pt x="110" y="30"/>
                    </a:lnTo>
                    <a:lnTo>
                      <a:pt x="110" y="14"/>
                    </a:lnTo>
                    <a:lnTo>
                      <a:pt x="118" y="14"/>
                    </a:lnTo>
                    <a:lnTo>
                      <a:pt x="143" y="14"/>
                    </a:lnTo>
                    <a:lnTo>
                      <a:pt x="143" y="0"/>
                    </a:lnTo>
                    <a:lnTo>
                      <a:pt x="151" y="0"/>
                    </a:lnTo>
                    <a:lnTo>
                      <a:pt x="193" y="30"/>
                    </a:lnTo>
                    <a:lnTo>
                      <a:pt x="202" y="122"/>
                    </a:lnTo>
                    <a:lnTo>
                      <a:pt x="185" y="122"/>
                    </a:lnTo>
                    <a:lnTo>
                      <a:pt x="160" y="136"/>
                    </a:lnTo>
                    <a:lnTo>
                      <a:pt x="160" y="145"/>
                    </a:lnTo>
                    <a:lnTo>
                      <a:pt x="160" y="152"/>
                    </a:lnTo>
                    <a:lnTo>
                      <a:pt x="168" y="167"/>
                    </a:lnTo>
                    <a:lnTo>
                      <a:pt x="151" y="183"/>
                    </a:lnTo>
                    <a:lnTo>
                      <a:pt x="118" y="213"/>
                    </a:lnTo>
                    <a:lnTo>
                      <a:pt x="100" y="244"/>
                    </a:lnTo>
                    <a:lnTo>
                      <a:pt x="100" y="290"/>
                    </a:lnTo>
                    <a:lnTo>
                      <a:pt x="118" y="313"/>
                    </a:lnTo>
                    <a:lnTo>
                      <a:pt x="110" y="328"/>
                    </a:lnTo>
                    <a:lnTo>
                      <a:pt x="110" y="335"/>
                    </a:lnTo>
                    <a:lnTo>
                      <a:pt x="92" y="351"/>
                    </a:lnTo>
                    <a:lnTo>
                      <a:pt x="84" y="419"/>
                    </a:lnTo>
                    <a:lnTo>
                      <a:pt x="59" y="419"/>
                    </a:lnTo>
                    <a:lnTo>
                      <a:pt x="50" y="427"/>
                    </a:lnTo>
                    <a:lnTo>
                      <a:pt x="50" y="435"/>
                    </a:lnTo>
                    <a:lnTo>
                      <a:pt x="34" y="435"/>
                    </a:lnTo>
                    <a:lnTo>
                      <a:pt x="26" y="419"/>
                    </a:lnTo>
                    <a:lnTo>
                      <a:pt x="34" y="412"/>
                    </a:lnTo>
                    <a:lnTo>
                      <a:pt x="26" y="396"/>
                    </a:lnTo>
                    <a:lnTo>
                      <a:pt x="0" y="34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4" name="Freeform 178"/>
              <p:cNvSpPr>
                <a:spLocks/>
              </p:cNvSpPr>
              <p:nvPr/>
            </p:nvSpPr>
            <p:spPr bwMode="auto">
              <a:xfrm>
                <a:off x="4234278" y="3018478"/>
                <a:ext cx="63954" cy="67507"/>
              </a:xfrm>
              <a:custGeom>
                <a:avLst/>
                <a:gdLst>
                  <a:gd name="T0" fmla="*/ 5 w 42"/>
                  <a:gd name="T1" fmla="*/ 26 h 39"/>
                  <a:gd name="T2" fmla="*/ 5 w 42"/>
                  <a:gd name="T3" fmla="*/ 19 h 39"/>
                  <a:gd name="T4" fmla="*/ 3 w 42"/>
                  <a:gd name="T5" fmla="*/ 19 h 39"/>
                  <a:gd name="T6" fmla="*/ 0 w 42"/>
                  <a:gd name="T7" fmla="*/ 19 h 39"/>
                  <a:gd name="T8" fmla="*/ 3 w 42"/>
                  <a:gd name="T9" fmla="*/ 0 h 39"/>
                  <a:gd name="T10" fmla="*/ 5 w 42"/>
                  <a:gd name="T11" fmla="*/ 15 h 39"/>
                  <a:gd name="T12" fmla="*/ 7 w 42"/>
                  <a:gd name="T13" fmla="*/ 19 h 39"/>
                  <a:gd name="T14" fmla="*/ 5 w 42"/>
                  <a:gd name="T15" fmla="*/ 26 h 39"/>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39"/>
                  <a:gd name="T26" fmla="*/ 42 w 42"/>
                  <a:gd name="T27" fmla="*/ 39 h 3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39">
                    <a:moveTo>
                      <a:pt x="33" y="38"/>
                    </a:moveTo>
                    <a:lnTo>
                      <a:pt x="33" y="31"/>
                    </a:lnTo>
                    <a:lnTo>
                      <a:pt x="8" y="31"/>
                    </a:lnTo>
                    <a:lnTo>
                      <a:pt x="0" y="23"/>
                    </a:lnTo>
                    <a:lnTo>
                      <a:pt x="8" y="0"/>
                    </a:lnTo>
                    <a:lnTo>
                      <a:pt x="33" y="15"/>
                    </a:lnTo>
                    <a:lnTo>
                      <a:pt x="41" y="31"/>
                    </a:lnTo>
                    <a:lnTo>
                      <a:pt x="33"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5" name="Freeform 179"/>
              <p:cNvSpPr>
                <a:spLocks/>
              </p:cNvSpPr>
              <p:nvPr/>
            </p:nvSpPr>
            <p:spPr bwMode="auto">
              <a:xfrm>
                <a:off x="4234278" y="3018478"/>
                <a:ext cx="63954" cy="67507"/>
              </a:xfrm>
              <a:custGeom>
                <a:avLst/>
                <a:gdLst>
                  <a:gd name="T0" fmla="*/ 5 w 42"/>
                  <a:gd name="T1" fmla="*/ 26 h 39"/>
                  <a:gd name="T2" fmla="*/ 5 w 42"/>
                  <a:gd name="T3" fmla="*/ 19 h 39"/>
                  <a:gd name="T4" fmla="*/ 3 w 42"/>
                  <a:gd name="T5" fmla="*/ 19 h 39"/>
                  <a:gd name="T6" fmla="*/ 0 w 42"/>
                  <a:gd name="T7" fmla="*/ 19 h 39"/>
                  <a:gd name="T8" fmla="*/ 3 w 42"/>
                  <a:gd name="T9" fmla="*/ 0 h 39"/>
                  <a:gd name="T10" fmla="*/ 5 w 42"/>
                  <a:gd name="T11" fmla="*/ 15 h 39"/>
                  <a:gd name="T12" fmla="*/ 7 w 42"/>
                  <a:gd name="T13" fmla="*/ 19 h 39"/>
                  <a:gd name="T14" fmla="*/ 5 w 42"/>
                  <a:gd name="T15" fmla="*/ 26 h 39"/>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39"/>
                  <a:gd name="T26" fmla="*/ 42 w 42"/>
                  <a:gd name="T27" fmla="*/ 39 h 3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39">
                    <a:moveTo>
                      <a:pt x="33" y="38"/>
                    </a:moveTo>
                    <a:lnTo>
                      <a:pt x="33" y="31"/>
                    </a:lnTo>
                    <a:lnTo>
                      <a:pt x="8" y="31"/>
                    </a:lnTo>
                    <a:lnTo>
                      <a:pt x="0" y="23"/>
                    </a:lnTo>
                    <a:lnTo>
                      <a:pt x="8" y="0"/>
                    </a:lnTo>
                    <a:lnTo>
                      <a:pt x="33" y="15"/>
                    </a:lnTo>
                    <a:lnTo>
                      <a:pt x="41" y="31"/>
                    </a:lnTo>
                    <a:lnTo>
                      <a:pt x="33"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6" name="Freeform 180"/>
              <p:cNvSpPr>
                <a:spLocks/>
              </p:cNvSpPr>
              <p:nvPr/>
            </p:nvSpPr>
            <p:spPr bwMode="auto">
              <a:xfrm>
                <a:off x="4172101" y="3018478"/>
                <a:ext cx="113695" cy="174096"/>
              </a:xfrm>
              <a:custGeom>
                <a:avLst/>
                <a:gdLst>
                  <a:gd name="T0" fmla="*/ 6 w 76"/>
                  <a:gd name="T1" fmla="*/ 0 h 100"/>
                  <a:gd name="T2" fmla="*/ 5 w 76"/>
                  <a:gd name="T3" fmla="*/ 23 h 100"/>
                  <a:gd name="T4" fmla="*/ 6 w 76"/>
                  <a:gd name="T5" fmla="*/ 25 h 100"/>
                  <a:gd name="T6" fmla="*/ 9 w 76"/>
                  <a:gd name="T7" fmla="*/ 25 h 100"/>
                  <a:gd name="T8" fmla="*/ 9 w 76"/>
                  <a:gd name="T9" fmla="*/ 26 h 100"/>
                  <a:gd name="T10" fmla="*/ 9 w 76"/>
                  <a:gd name="T11" fmla="*/ 49 h 100"/>
                  <a:gd name="T12" fmla="*/ 7 w 76"/>
                  <a:gd name="T13" fmla="*/ 67 h 100"/>
                  <a:gd name="T14" fmla="*/ 3 w 76"/>
                  <a:gd name="T15" fmla="*/ 75 h 100"/>
                  <a:gd name="T16" fmla="*/ 0 w 76"/>
                  <a:gd name="T17" fmla="*/ 67 h 100"/>
                  <a:gd name="T18" fmla="*/ 3 w 76"/>
                  <a:gd name="T19" fmla="*/ 67 h 100"/>
                  <a:gd name="T20" fmla="*/ 3 w 76"/>
                  <a:gd name="T21" fmla="*/ 49 h 100"/>
                  <a:gd name="T22" fmla="*/ 3 w 76"/>
                  <a:gd name="T23" fmla="*/ 42 h 100"/>
                  <a:gd name="T24" fmla="*/ 3 w 76"/>
                  <a:gd name="T25" fmla="*/ 26 h 100"/>
                  <a:gd name="T26" fmla="*/ 3 w 76"/>
                  <a:gd name="T27" fmla="*/ 26 h 100"/>
                  <a:gd name="T28" fmla="*/ 3 w 76"/>
                  <a:gd name="T29" fmla="*/ 25 h 100"/>
                  <a:gd name="T30" fmla="*/ 4 w 76"/>
                  <a:gd name="T31" fmla="*/ 25 h 100"/>
                  <a:gd name="T32" fmla="*/ 5 w 76"/>
                  <a:gd name="T33" fmla="*/ 23 h 100"/>
                  <a:gd name="T34" fmla="*/ 4 w 76"/>
                  <a:gd name="T35" fmla="*/ 23 h 100"/>
                  <a:gd name="T36" fmla="*/ 4 w 76"/>
                  <a:gd name="T37" fmla="*/ 15 h 100"/>
                  <a:gd name="T38" fmla="*/ 6 w 76"/>
                  <a:gd name="T39" fmla="*/ 0 h 10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76"/>
                  <a:gd name="T61" fmla="*/ 0 h 100"/>
                  <a:gd name="T62" fmla="*/ 76 w 76"/>
                  <a:gd name="T63" fmla="*/ 100 h 10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76" h="100">
                    <a:moveTo>
                      <a:pt x="50" y="0"/>
                    </a:moveTo>
                    <a:lnTo>
                      <a:pt x="42" y="23"/>
                    </a:lnTo>
                    <a:lnTo>
                      <a:pt x="50" y="31"/>
                    </a:lnTo>
                    <a:lnTo>
                      <a:pt x="75" y="31"/>
                    </a:lnTo>
                    <a:lnTo>
                      <a:pt x="75" y="38"/>
                    </a:lnTo>
                    <a:lnTo>
                      <a:pt x="75" y="61"/>
                    </a:lnTo>
                    <a:lnTo>
                      <a:pt x="59" y="84"/>
                    </a:lnTo>
                    <a:lnTo>
                      <a:pt x="9" y="99"/>
                    </a:lnTo>
                    <a:lnTo>
                      <a:pt x="0" y="84"/>
                    </a:lnTo>
                    <a:lnTo>
                      <a:pt x="9" y="84"/>
                    </a:lnTo>
                    <a:lnTo>
                      <a:pt x="25" y="61"/>
                    </a:lnTo>
                    <a:lnTo>
                      <a:pt x="9" y="54"/>
                    </a:lnTo>
                    <a:lnTo>
                      <a:pt x="25" y="38"/>
                    </a:lnTo>
                    <a:lnTo>
                      <a:pt x="9" y="38"/>
                    </a:lnTo>
                    <a:lnTo>
                      <a:pt x="9" y="31"/>
                    </a:lnTo>
                    <a:lnTo>
                      <a:pt x="34" y="31"/>
                    </a:lnTo>
                    <a:lnTo>
                      <a:pt x="42" y="23"/>
                    </a:lnTo>
                    <a:lnTo>
                      <a:pt x="34" y="23"/>
                    </a:lnTo>
                    <a:lnTo>
                      <a:pt x="34" y="15"/>
                    </a:lnTo>
                    <a:lnTo>
                      <a:pt x="5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7" name="Freeform 181"/>
              <p:cNvSpPr>
                <a:spLocks/>
              </p:cNvSpPr>
              <p:nvPr/>
            </p:nvSpPr>
            <p:spPr bwMode="auto">
              <a:xfrm>
                <a:off x="4607340" y="2926100"/>
                <a:ext cx="76389" cy="122578"/>
              </a:xfrm>
              <a:custGeom>
                <a:avLst/>
                <a:gdLst>
                  <a:gd name="T0" fmla="*/ 3 w 51"/>
                  <a:gd name="T1" fmla="*/ 57 h 70"/>
                  <a:gd name="T2" fmla="*/ 3 w 51"/>
                  <a:gd name="T3" fmla="*/ 57 h 70"/>
                  <a:gd name="T4" fmla="*/ 4 w 51"/>
                  <a:gd name="T5" fmla="*/ 57 h 70"/>
                  <a:gd name="T6" fmla="*/ 6 w 51"/>
                  <a:gd name="T7" fmla="*/ 35 h 70"/>
                  <a:gd name="T8" fmla="*/ 7 w 51"/>
                  <a:gd name="T9" fmla="*/ 35 h 70"/>
                  <a:gd name="T10" fmla="*/ 7 w 51"/>
                  <a:gd name="T11" fmla="*/ 30 h 70"/>
                  <a:gd name="T12" fmla="*/ 6 w 51"/>
                  <a:gd name="T13" fmla="*/ 30 h 70"/>
                  <a:gd name="T14" fmla="*/ 6 w 51"/>
                  <a:gd name="T15" fmla="*/ 0 h 70"/>
                  <a:gd name="T16" fmla="*/ 3 w 51"/>
                  <a:gd name="T17" fmla="*/ 8 h 70"/>
                  <a:gd name="T18" fmla="*/ 0 w 51"/>
                  <a:gd name="T19" fmla="*/ 30 h 70"/>
                  <a:gd name="T20" fmla="*/ 0 w 51"/>
                  <a:gd name="T21" fmla="*/ 35 h 70"/>
                  <a:gd name="T22" fmla="*/ 3 w 51"/>
                  <a:gd name="T23" fmla="*/ 41 h 70"/>
                  <a:gd name="T24" fmla="*/ 3 w 51"/>
                  <a:gd name="T25" fmla="*/ 57 h 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
                  <a:gd name="T40" fmla="*/ 0 h 70"/>
                  <a:gd name="T41" fmla="*/ 51 w 51"/>
                  <a:gd name="T42" fmla="*/ 70 h 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 h="70">
                    <a:moveTo>
                      <a:pt x="9" y="69"/>
                    </a:moveTo>
                    <a:lnTo>
                      <a:pt x="25" y="69"/>
                    </a:lnTo>
                    <a:lnTo>
                      <a:pt x="34" y="69"/>
                    </a:lnTo>
                    <a:lnTo>
                      <a:pt x="42" y="38"/>
                    </a:lnTo>
                    <a:lnTo>
                      <a:pt x="50" y="38"/>
                    </a:lnTo>
                    <a:lnTo>
                      <a:pt x="50" y="30"/>
                    </a:lnTo>
                    <a:lnTo>
                      <a:pt x="42" y="30"/>
                    </a:lnTo>
                    <a:lnTo>
                      <a:pt x="42" y="0"/>
                    </a:lnTo>
                    <a:lnTo>
                      <a:pt x="9" y="8"/>
                    </a:lnTo>
                    <a:lnTo>
                      <a:pt x="0" y="30"/>
                    </a:lnTo>
                    <a:lnTo>
                      <a:pt x="0" y="46"/>
                    </a:lnTo>
                    <a:lnTo>
                      <a:pt x="9" y="53"/>
                    </a:lnTo>
                    <a:lnTo>
                      <a:pt x="9" y="6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8" name="Freeform 183"/>
              <p:cNvSpPr>
                <a:spLocks/>
              </p:cNvSpPr>
              <p:nvPr/>
            </p:nvSpPr>
            <p:spPr bwMode="auto">
              <a:xfrm>
                <a:off x="4484763" y="3205010"/>
                <a:ext cx="88824" cy="67507"/>
              </a:xfrm>
              <a:custGeom>
                <a:avLst/>
                <a:gdLst>
                  <a:gd name="T0" fmla="*/ 5 w 60"/>
                  <a:gd name="T1" fmla="*/ 26 h 39"/>
                  <a:gd name="T2" fmla="*/ 4 w 60"/>
                  <a:gd name="T3" fmla="*/ 26 h 39"/>
                  <a:gd name="T4" fmla="*/ 4 w 60"/>
                  <a:gd name="T5" fmla="*/ 19 h 39"/>
                  <a:gd name="T6" fmla="*/ 3 w 60"/>
                  <a:gd name="T7" fmla="*/ 19 h 39"/>
                  <a:gd name="T8" fmla="*/ 3 w 60"/>
                  <a:gd name="T9" fmla="*/ 15 h 39"/>
                  <a:gd name="T10" fmla="*/ 0 w 60"/>
                  <a:gd name="T11" fmla="*/ 8 h 39"/>
                  <a:gd name="T12" fmla="*/ 0 w 60"/>
                  <a:gd name="T13" fmla="*/ 0 h 39"/>
                  <a:gd name="T14" fmla="*/ 3 w 60"/>
                  <a:gd name="T15" fmla="*/ 0 h 39"/>
                  <a:gd name="T16" fmla="*/ 5 w 60"/>
                  <a:gd name="T17" fmla="*/ 0 h 39"/>
                  <a:gd name="T18" fmla="*/ 7 w 60"/>
                  <a:gd name="T19" fmla="*/ 8 h 39"/>
                  <a:gd name="T20" fmla="*/ 7 w 60"/>
                  <a:gd name="T21" fmla="*/ 19 h 39"/>
                  <a:gd name="T22" fmla="*/ 5 w 60"/>
                  <a:gd name="T23" fmla="*/ 19 h 39"/>
                  <a:gd name="T24" fmla="*/ 5 w 60"/>
                  <a:gd name="T25" fmla="*/ 26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39"/>
                  <a:gd name="T41" fmla="*/ 60 w 60"/>
                  <a:gd name="T42" fmla="*/ 39 h 3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39">
                    <a:moveTo>
                      <a:pt x="42" y="38"/>
                    </a:moveTo>
                    <a:lnTo>
                      <a:pt x="33" y="38"/>
                    </a:lnTo>
                    <a:lnTo>
                      <a:pt x="33" y="31"/>
                    </a:lnTo>
                    <a:lnTo>
                      <a:pt x="25" y="31"/>
                    </a:lnTo>
                    <a:lnTo>
                      <a:pt x="25" y="15"/>
                    </a:lnTo>
                    <a:lnTo>
                      <a:pt x="0" y="8"/>
                    </a:lnTo>
                    <a:lnTo>
                      <a:pt x="0" y="0"/>
                    </a:lnTo>
                    <a:lnTo>
                      <a:pt x="17" y="0"/>
                    </a:lnTo>
                    <a:lnTo>
                      <a:pt x="42" y="0"/>
                    </a:lnTo>
                    <a:lnTo>
                      <a:pt x="59" y="8"/>
                    </a:lnTo>
                    <a:lnTo>
                      <a:pt x="59" y="31"/>
                    </a:lnTo>
                    <a:lnTo>
                      <a:pt x="42" y="31"/>
                    </a:lnTo>
                    <a:lnTo>
                      <a:pt x="42"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39" name="Rectangle 184"/>
              <p:cNvSpPr>
                <a:spLocks noChangeArrowheads="1"/>
              </p:cNvSpPr>
              <p:nvPr/>
            </p:nvSpPr>
            <p:spPr bwMode="auto">
              <a:xfrm>
                <a:off x="4548716" y="3260081"/>
                <a:ext cx="21318" cy="10659"/>
              </a:xfrm>
              <a:prstGeom prst="rect">
                <a:avLst/>
              </a:prstGeom>
              <a:grpFill/>
              <a:ln w="0">
                <a:solidFill>
                  <a:schemeClr val="bg1">
                    <a:lumMod val="75000"/>
                  </a:schemeClr>
                </a:solidFill>
                <a:miter lim="800000"/>
                <a:headEnd/>
                <a:tailEnd/>
              </a:ln>
            </p:spPr>
            <p:txBody>
              <a:bodyPr wrap="none" anchor="ctr"/>
              <a:lstStyle/>
              <a:p>
                <a:pPr>
                  <a:defRPr/>
                </a:pPr>
                <a:endParaRPr lang="en-US" dirty="0"/>
              </a:p>
            </p:txBody>
          </p:sp>
          <p:sp>
            <p:nvSpPr>
              <p:cNvPr id="240" name="Rectangle 185"/>
              <p:cNvSpPr>
                <a:spLocks noChangeArrowheads="1"/>
              </p:cNvSpPr>
              <p:nvPr/>
            </p:nvSpPr>
            <p:spPr bwMode="auto">
              <a:xfrm>
                <a:off x="4546940" y="3260081"/>
                <a:ext cx="24871" cy="10659"/>
              </a:xfrm>
              <a:prstGeom prst="rect">
                <a:avLst/>
              </a:prstGeom>
              <a:grpFill/>
              <a:ln w="0">
                <a:solidFill>
                  <a:schemeClr val="bg1">
                    <a:lumMod val="75000"/>
                  </a:schemeClr>
                </a:solidFill>
                <a:miter lim="800000"/>
                <a:headEnd/>
                <a:tailEnd/>
              </a:ln>
            </p:spPr>
            <p:txBody>
              <a:bodyPr wrap="none" anchor="ctr"/>
              <a:lstStyle/>
              <a:p>
                <a:pPr>
                  <a:defRPr/>
                </a:pPr>
                <a:endParaRPr lang="en-US" dirty="0"/>
              </a:p>
            </p:txBody>
          </p:sp>
          <p:sp>
            <p:nvSpPr>
              <p:cNvPr id="241" name="Freeform 186"/>
              <p:cNvSpPr>
                <a:spLocks/>
              </p:cNvSpPr>
              <p:nvPr/>
            </p:nvSpPr>
            <p:spPr bwMode="auto">
              <a:xfrm>
                <a:off x="4756565" y="3046902"/>
                <a:ext cx="229167" cy="239827"/>
              </a:xfrm>
              <a:custGeom>
                <a:avLst/>
                <a:gdLst>
                  <a:gd name="T0" fmla="*/ 17 w 153"/>
                  <a:gd name="T1" fmla="*/ 105 h 138"/>
                  <a:gd name="T2" fmla="*/ 19 w 153"/>
                  <a:gd name="T3" fmla="*/ 95 h 138"/>
                  <a:gd name="T4" fmla="*/ 20 w 153"/>
                  <a:gd name="T5" fmla="*/ 82 h 138"/>
                  <a:gd name="T6" fmla="*/ 19 w 153"/>
                  <a:gd name="T7" fmla="*/ 49 h 138"/>
                  <a:gd name="T8" fmla="*/ 20 w 153"/>
                  <a:gd name="T9" fmla="*/ 33 h 138"/>
                  <a:gd name="T10" fmla="*/ 19 w 153"/>
                  <a:gd name="T11" fmla="*/ 22 h 138"/>
                  <a:gd name="T12" fmla="*/ 17 w 153"/>
                  <a:gd name="T13" fmla="*/ 15 h 138"/>
                  <a:gd name="T14" fmla="*/ 14 w 153"/>
                  <a:gd name="T15" fmla="*/ 15 h 138"/>
                  <a:gd name="T16" fmla="*/ 11 w 153"/>
                  <a:gd name="T17" fmla="*/ 7 h 138"/>
                  <a:gd name="T18" fmla="*/ 11 w 153"/>
                  <a:gd name="T19" fmla="*/ 15 h 138"/>
                  <a:gd name="T20" fmla="*/ 8 w 153"/>
                  <a:gd name="T21" fmla="*/ 15 h 138"/>
                  <a:gd name="T22" fmla="*/ 8 w 153"/>
                  <a:gd name="T23" fmla="*/ 0 h 138"/>
                  <a:gd name="T24" fmla="*/ 0 w 153"/>
                  <a:gd name="T25" fmla="*/ 22 h 138"/>
                  <a:gd name="T26" fmla="*/ 3 w 153"/>
                  <a:gd name="T27" fmla="*/ 68 h 138"/>
                  <a:gd name="T28" fmla="*/ 3 w 153"/>
                  <a:gd name="T29" fmla="*/ 75 h 138"/>
                  <a:gd name="T30" fmla="*/ 6 w 153"/>
                  <a:gd name="T31" fmla="*/ 82 h 138"/>
                  <a:gd name="T32" fmla="*/ 7 w 153"/>
                  <a:gd name="T33" fmla="*/ 82 h 138"/>
                  <a:gd name="T34" fmla="*/ 8 w 153"/>
                  <a:gd name="T35" fmla="*/ 100 h 138"/>
                  <a:gd name="T36" fmla="*/ 11 w 153"/>
                  <a:gd name="T37" fmla="*/ 100 h 138"/>
                  <a:gd name="T38" fmla="*/ 12 w 153"/>
                  <a:gd name="T39" fmla="*/ 105 h 138"/>
                  <a:gd name="T40" fmla="*/ 14 w 153"/>
                  <a:gd name="T41" fmla="*/ 100 h 138"/>
                  <a:gd name="T42" fmla="*/ 17 w 153"/>
                  <a:gd name="T43" fmla="*/ 105 h 13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3"/>
                  <a:gd name="T67" fmla="*/ 0 h 138"/>
                  <a:gd name="T68" fmla="*/ 153 w 153"/>
                  <a:gd name="T69" fmla="*/ 138 h 13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3" h="138">
                    <a:moveTo>
                      <a:pt x="135" y="137"/>
                    </a:moveTo>
                    <a:lnTo>
                      <a:pt x="143" y="122"/>
                    </a:lnTo>
                    <a:lnTo>
                      <a:pt x="152" y="106"/>
                    </a:lnTo>
                    <a:lnTo>
                      <a:pt x="143" y="61"/>
                    </a:lnTo>
                    <a:lnTo>
                      <a:pt x="152" y="45"/>
                    </a:lnTo>
                    <a:lnTo>
                      <a:pt x="143" y="23"/>
                    </a:lnTo>
                    <a:lnTo>
                      <a:pt x="135" y="15"/>
                    </a:lnTo>
                    <a:lnTo>
                      <a:pt x="110" y="15"/>
                    </a:lnTo>
                    <a:lnTo>
                      <a:pt x="84" y="7"/>
                    </a:lnTo>
                    <a:lnTo>
                      <a:pt x="84" y="15"/>
                    </a:lnTo>
                    <a:lnTo>
                      <a:pt x="68" y="15"/>
                    </a:lnTo>
                    <a:lnTo>
                      <a:pt x="59" y="0"/>
                    </a:lnTo>
                    <a:lnTo>
                      <a:pt x="0" y="23"/>
                    </a:lnTo>
                    <a:lnTo>
                      <a:pt x="9" y="91"/>
                    </a:lnTo>
                    <a:lnTo>
                      <a:pt x="26" y="99"/>
                    </a:lnTo>
                    <a:lnTo>
                      <a:pt x="42" y="106"/>
                    </a:lnTo>
                    <a:lnTo>
                      <a:pt x="50" y="106"/>
                    </a:lnTo>
                    <a:lnTo>
                      <a:pt x="68" y="129"/>
                    </a:lnTo>
                    <a:lnTo>
                      <a:pt x="84" y="129"/>
                    </a:lnTo>
                    <a:lnTo>
                      <a:pt x="93" y="137"/>
                    </a:lnTo>
                    <a:lnTo>
                      <a:pt x="110" y="129"/>
                    </a:lnTo>
                    <a:lnTo>
                      <a:pt x="135" y="13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2" name="Freeform 187"/>
              <p:cNvSpPr>
                <a:spLocks/>
              </p:cNvSpPr>
              <p:nvPr/>
            </p:nvSpPr>
            <p:spPr bwMode="auto">
              <a:xfrm>
                <a:off x="4571811" y="3046902"/>
                <a:ext cx="202520" cy="307334"/>
              </a:xfrm>
              <a:custGeom>
                <a:avLst/>
                <a:gdLst>
                  <a:gd name="T0" fmla="*/ 10 w 135"/>
                  <a:gd name="T1" fmla="*/ 22 h 177"/>
                  <a:gd name="T2" fmla="*/ 15 w 135"/>
                  <a:gd name="T3" fmla="*/ 7 h 177"/>
                  <a:gd name="T4" fmla="*/ 15 w 135"/>
                  <a:gd name="T5" fmla="*/ 15 h 177"/>
                  <a:gd name="T6" fmla="*/ 14 w 135"/>
                  <a:gd name="T7" fmla="*/ 15 h 177"/>
                  <a:gd name="T8" fmla="*/ 17 w 135"/>
                  <a:gd name="T9" fmla="*/ 22 h 177"/>
                  <a:gd name="T10" fmla="*/ 18 w 135"/>
                  <a:gd name="T11" fmla="*/ 67 h 177"/>
                  <a:gd name="T12" fmla="*/ 17 w 135"/>
                  <a:gd name="T13" fmla="*/ 67 h 177"/>
                  <a:gd name="T14" fmla="*/ 14 w 135"/>
                  <a:gd name="T15" fmla="*/ 75 h 177"/>
                  <a:gd name="T16" fmla="*/ 11 w 135"/>
                  <a:gd name="T17" fmla="*/ 83 h 177"/>
                  <a:gd name="T18" fmla="*/ 13 w 135"/>
                  <a:gd name="T19" fmla="*/ 98 h 177"/>
                  <a:gd name="T20" fmla="*/ 15 w 135"/>
                  <a:gd name="T21" fmla="*/ 109 h 177"/>
                  <a:gd name="T22" fmla="*/ 14 w 135"/>
                  <a:gd name="T23" fmla="*/ 116 h 177"/>
                  <a:gd name="T24" fmla="*/ 14 w 135"/>
                  <a:gd name="T25" fmla="*/ 128 h 177"/>
                  <a:gd name="T26" fmla="*/ 8 w 135"/>
                  <a:gd name="T27" fmla="*/ 134 h 177"/>
                  <a:gd name="T28" fmla="*/ 7 w 135"/>
                  <a:gd name="T29" fmla="*/ 134 h 177"/>
                  <a:gd name="T30" fmla="*/ 3 w 135"/>
                  <a:gd name="T31" fmla="*/ 134 h 177"/>
                  <a:gd name="T32" fmla="*/ 3 w 135"/>
                  <a:gd name="T33" fmla="*/ 109 h 177"/>
                  <a:gd name="T34" fmla="*/ 0 w 135"/>
                  <a:gd name="T35" fmla="*/ 98 h 177"/>
                  <a:gd name="T36" fmla="*/ 0 w 135"/>
                  <a:gd name="T37" fmla="*/ 94 h 177"/>
                  <a:gd name="T38" fmla="*/ 0 w 135"/>
                  <a:gd name="T39" fmla="*/ 75 h 177"/>
                  <a:gd name="T40" fmla="*/ 0 w 135"/>
                  <a:gd name="T41" fmla="*/ 55 h 177"/>
                  <a:gd name="T42" fmla="*/ 3 w 135"/>
                  <a:gd name="T43" fmla="*/ 49 h 177"/>
                  <a:gd name="T44" fmla="*/ 3 w 135"/>
                  <a:gd name="T45" fmla="*/ 26 h 177"/>
                  <a:gd name="T46" fmla="*/ 4 w 135"/>
                  <a:gd name="T47" fmla="*/ 26 h 177"/>
                  <a:gd name="T48" fmla="*/ 7 w 135"/>
                  <a:gd name="T49" fmla="*/ 15 h 177"/>
                  <a:gd name="T50" fmla="*/ 4 w 135"/>
                  <a:gd name="T51" fmla="*/ 15 h 177"/>
                  <a:gd name="T52" fmla="*/ 7 w 135"/>
                  <a:gd name="T53" fmla="*/ 7 h 177"/>
                  <a:gd name="T54" fmla="*/ 4 w 135"/>
                  <a:gd name="T55" fmla="*/ 0 h 177"/>
                  <a:gd name="T56" fmla="*/ 7 w 135"/>
                  <a:gd name="T57" fmla="*/ 0 h 177"/>
                  <a:gd name="T58" fmla="*/ 8 w 135"/>
                  <a:gd name="T59" fmla="*/ 0 h 177"/>
                  <a:gd name="T60" fmla="*/ 8 w 135"/>
                  <a:gd name="T61" fmla="*/ 7 h 177"/>
                  <a:gd name="T62" fmla="*/ 10 w 135"/>
                  <a:gd name="T63" fmla="*/ 15 h 177"/>
                  <a:gd name="T64" fmla="*/ 8 w 135"/>
                  <a:gd name="T65" fmla="*/ 22 h 177"/>
                  <a:gd name="T66" fmla="*/ 10 w 135"/>
                  <a:gd name="T67" fmla="*/ 22 h 17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35"/>
                  <a:gd name="T103" fmla="*/ 0 h 177"/>
                  <a:gd name="T104" fmla="*/ 135 w 135"/>
                  <a:gd name="T105" fmla="*/ 177 h 17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35" h="177">
                    <a:moveTo>
                      <a:pt x="75" y="23"/>
                    </a:moveTo>
                    <a:lnTo>
                      <a:pt x="116" y="7"/>
                    </a:lnTo>
                    <a:lnTo>
                      <a:pt x="116" y="15"/>
                    </a:lnTo>
                    <a:lnTo>
                      <a:pt x="108" y="15"/>
                    </a:lnTo>
                    <a:lnTo>
                      <a:pt x="125" y="23"/>
                    </a:lnTo>
                    <a:lnTo>
                      <a:pt x="134" y="91"/>
                    </a:lnTo>
                    <a:lnTo>
                      <a:pt x="125" y="91"/>
                    </a:lnTo>
                    <a:lnTo>
                      <a:pt x="108" y="99"/>
                    </a:lnTo>
                    <a:lnTo>
                      <a:pt x="84" y="107"/>
                    </a:lnTo>
                    <a:lnTo>
                      <a:pt x="100" y="129"/>
                    </a:lnTo>
                    <a:lnTo>
                      <a:pt x="116" y="145"/>
                    </a:lnTo>
                    <a:lnTo>
                      <a:pt x="108" y="152"/>
                    </a:lnTo>
                    <a:lnTo>
                      <a:pt x="108" y="168"/>
                    </a:lnTo>
                    <a:lnTo>
                      <a:pt x="66" y="176"/>
                    </a:lnTo>
                    <a:lnTo>
                      <a:pt x="50" y="176"/>
                    </a:lnTo>
                    <a:lnTo>
                      <a:pt x="16" y="176"/>
                    </a:lnTo>
                    <a:lnTo>
                      <a:pt x="24" y="145"/>
                    </a:lnTo>
                    <a:lnTo>
                      <a:pt x="0" y="129"/>
                    </a:lnTo>
                    <a:lnTo>
                      <a:pt x="0" y="122"/>
                    </a:lnTo>
                    <a:lnTo>
                      <a:pt x="0" y="99"/>
                    </a:lnTo>
                    <a:lnTo>
                      <a:pt x="0" y="68"/>
                    </a:lnTo>
                    <a:lnTo>
                      <a:pt x="8" y="61"/>
                    </a:lnTo>
                    <a:lnTo>
                      <a:pt x="16" y="38"/>
                    </a:lnTo>
                    <a:lnTo>
                      <a:pt x="34" y="38"/>
                    </a:lnTo>
                    <a:lnTo>
                      <a:pt x="50" y="15"/>
                    </a:lnTo>
                    <a:lnTo>
                      <a:pt x="34" y="15"/>
                    </a:lnTo>
                    <a:lnTo>
                      <a:pt x="50" y="7"/>
                    </a:lnTo>
                    <a:lnTo>
                      <a:pt x="34" y="0"/>
                    </a:lnTo>
                    <a:lnTo>
                      <a:pt x="50" y="0"/>
                    </a:lnTo>
                    <a:lnTo>
                      <a:pt x="58" y="0"/>
                    </a:lnTo>
                    <a:lnTo>
                      <a:pt x="58" y="7"/>
                    </a:lnTo>
                    <a:lnTo>
                      <a:pt x="75" y="15"/>
                    </a:lnTo>
                    <a:lnTo>
                      <a:pt x="66" y="23"/>
                    </a:lnTo>
                    <a:lnTo>
                      <a:pt x="75" y="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3" name="Freeform 188"/>
              <p:cNvSpPr>
                <a:spLocks/>
              </p:cNvSpPr>
              <p:nvPr/>
            </p:nvSpPr>
            <p:spPr bwMode="auto">
              <a:xfrm>
                <a:off x="4646423" y="3284952"/>
                <a:ext cx="174096" cy="94154"/>
              </a:xfrm>
              <a:custGeom>
                <a:avLst/>
                <a:gdLst>
                  <a:gd name="T0" fmla="*/ 0 w 117"/>
                  <a:gd name="T1" fmla="*/ 27 h 54"/>
                  <a:gd name="T2" fmla="*/ 3 w 117"/>
                  <a:gd name="T3" fmla="*/ 27 h 54"/>
                  <a:gd name="T4" fmla="*/ 7 w 117"/>
                  <a:gd name="T5" fmla="*/ 27 h 54"/>
                  <a:gd name="T6" fmla="*/ 7 w 117"/>
                  <a:gd name="T7" fmla="*/ 15 h 54"/>
                  <a:gd name="T8" fmla="*/ 8 w 117"/>
                  <a:gd name="T9" fmla="*/ 7 h 54"/>
                  <a:gd name="T10" fmla="*/ 9 w 117"/>
                  <a:gd name="T11" fmla="*/ 7 h 54"/>
                  <a:gd name="T12" fmla="*/ 9 w 117"/>
                  <a:gd name="T13" fmla="*/ 0 h 54"/>
                  <a:gd name="T14" fmla="*/ 13 w 117"/>
                  <a:gd name="T15" fmla="*/ 7 h 54"/>
                  <a:gd name="T16" fmla="*/ 13 w 117"/>
                  <a:gd name="T17" fmla="*/ 27 h 54"/>
                  <a:gd name="T18" fmla="*/ 13 w 117"/>
                  <a:gd name="T19" fmla="*/ 34 h 54"/>
                  <a:gd name="T20" fmla="*/ 8 w 117"/>
                  <a:gd name="T21" fmla="*/ 41 h 54"/>
                  <a:gd name="T22" fmla="*/ 6 w 117"/>
                  <a:gd name="T23" fmla="*/ 34 h 54"/>
                  <a:gd name="T24" fmla="*/ 3 w 117"/>
                  <a:gd name="T25" fmla="*/ 34 h 54"/>
                  <a:gd name="T26" fmla="*/ 3 w 117"/>
                  <a:gd name="T27" fmla="*/ 34 h 54"/>
                  <a:gd name="T28" fmla="*/ 0 w 117"/>
                  <a:gd name="T29" fmla="*/ 27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
                  <a:gd name="T46" fmla="*/ 0 h 54"/>
                  <a:gd name="T47" fmla="*/ 117 w 117"/>
                  <a:gd name="T48" fmla="*/ 54 h 5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 h="54">
                    <a:moveTo>
                      <a:pt x="0" y="38"/>
                    </a:moveTo>
                    <a:lnTo>
                      <a:pt x="16" y="38"/>
                    </a:lnTo>
                    <a:lnTo>
                      <a:pt x="58" y="30"/>
                    </a:lnTo>
                    <a:lnTo>
                      <a:pt x="58" y="15"/>
                    </a:lnTo>
                    <a:lnTo>
                      <a:pt x="66" y="7"/>
                    </a:lnTo>
                    <a:lnTo>
                      <a:pt x="83" y="7"/>
                    </a:lnTo>
                    <a:lnTo>
                      <a:pt x="83" y="0"/>
                    </a:lnTo>
                    <a:lnTo>
                      <a:pt x="116" y="7"/>
                    </a:lnTo>
                    <a:lnTo>
                      <a:pt x="116" y="30"/>
                    </a:lnTo>
                    <a:lnTo>
                      <a:pt x="108" y="46"/>
                    </a:lnTo>
                    <a:lnTo>
                      <a:pt x="66" y="53"/>
                    </a:lnTo>
                    <a:lnTo>
                      <a:pt x="50" y="46"/>
                    </a:lnTo>
                    <a:lnTo>
                      <a:pt x="16" y="46"/>
                    </a:lnTo>
                    <a:lnTo>
                      <a:pt x="8" y="46"/>
                    </a:lnTo>
                    <a:lnTo>
                      <a:pt x="0"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4" name="Freeform 189"/>
              <p:cNvSpPr>
                <a:spLocks/>
              </p:cNvSpPr>
              <p:nvPr/>
            </p:nvSpPr>
            <p:spPr bwMode="auto">
              <a:xfrm>
                <a:off x="4646423" y="3354235"/>
                <a:ext cx="14212" cy="12435"/>
              </a:xfrm>
              <a:custGeom>
                <a:avLst/>
                <a:gdLst>
                  <a:gd name="T0" fmla="*/ 4 w 9"/>
                  <a:gd name="T1" fmla="*/ 4 h 8"/>
                  <a:gd name="T2" fmla="*/ 0 w 9"/>
                  <a:gd name="T3" fmla="*/ 0 h 8"/>
                  <a:gd name="T4" fmla="*/ 4 w 9"/>
                  <a:gd name="T5" fmla="*/ 4 h 8"/>
                  <a:gd name="T6" fmla="*/ 0 60000 65536"/>
                  <a:gd name="T7" fmla="*/ 0 60000 65536"/>
                  <a:gd name="T8" fmla="*/ 0 60000 65536"/>
                  <a:gd name="T9" fmla="*/ 0 w 9"/>
                  <a:gd name="T10" fmla="*/ 0 h 8"/>
                  <a:gd name="T11" fmla="*/ 9 w 9"/>
                  <a:gd name="T12" fmla="*/ 8 h 8"/>
                </a:gdLst>
                <a:ahLst/>
                <a:cxnLst>
                  <a:cxn ang="T6">
                    <a:pos x="T0" y="T1"/>
                  </a:cxn>
                  <a:cxn ang="T7">
                    <a:pos x="T2" y="T3"/>
                  </a:cxn>
                  <a:cxn ang="T8">
                    <a:pos x="T4" y="T5"/>
                  </a:cxn>
                </a:cxnLst>
                <a:rect l="T9" t="T10" r="T11" b="T12"/>
                <a:pathLst>
                  <a:path w="9" h="8">
                    <a:moveTo>
                      <a:pt x="8" y="7"/>
                    </a:moveTo>
                    <a:lnTo>
                      <a:pt x="0" y="0"/>
                    </a:lnTo>
                    <a:lnTo>
                      <a:pt x="8"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5" name="Freeform 190"/>
              <p:cNvSpPr>
                <a:spLocks/>
              </p:cNvSpPr>
              <p:nvPr/>
            </p:nvSpPr>
            <p:spPr bwMode="auto">
              <a:xfrm>
                <a:off x="4646423" y="3354235"/>
                <a:ext cx="14212" cy="12435"/>
              </a:xfrm>
              <a:custGeom>
                <a:avLst/>
                <a:gdLst>
                  <a:gd name="T0" fmla="*/ 4 w 9"/>
                  <a:gd name="T1" fmla="*/ 4 h 8"/>
                  <a:gd name="T2" fmla="*/ 0 w 9"/>
                  <a:gd name="T3" fmla="*/ 0 h 8"/>
                  <a:gd name="T4" fmla="*/ 4 w 9"/>
                  <a:gd name="T5" fmla="*/ 4 h 8"/>
                  <a:gd name="T6" fmla="*/ 0 60000 65536"/>
                  <a:gd name="T7" fmla="*/ 0 60000 65536"/>
                  <a:gd name="T8" fmla="*/ 0 60000 65536"/>
                  <a:gd name="T9" fmla="*/ 0 w 9"/>
                  <a:gd name="T10" fmla="*/ 0 h 8"/>
                  <a:gd name="T11" fmla="*/ 9 w 9"/>
                  <a:gd name="T12" fmla="*/ 8 h 8"/>
                </a:gdLst>
                <a:ahLst/>
                <a:cxnLst>
                  <a:cxn ang="T6">
                    <a:pos x="T0" y="T1"/>
                  </a:cxn>
                  <a:cxn ang="T7">
                    <a:pos x="T2" y="T3"/>
                  </a:cxn>
                  <a:cxn ang="T8">
                    <a:pos x="T4" y="T5"/>
                  </a:cxn>
                </a:cxnLst>
                <a:rect l="T9" t="T10" r="T11" b="T12"/>
                <a:pathLst>
                  <a:path w="9" h="8">
                    <a:moveTo>
                      <a:pt x="8" y="7"/>
                    </a:moveTo>
                    <a:lnTo>
                      <a:pt x="0" y="0"/>
                    </a:lnTo>
                    <a:lnTo>
                      <a:pt x="8"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6" name="Freeform 191"/>
              <p:cNvSpPr>
                <a:spLocks/>
              </p:cNvSpPr>
              <p:nvPr/>
            </p:nvSpPr>
            <p:spPr bwMode="auto">
              <a:xfrm>
                <a:off x="4646423" y="3354235"/>
                <a:ext cx="14212" cy="12435"/>
              </a:xfrm>
              <a:custGeom>
                <a:avLst/>
                <a:gdLst>
                  <a:gd name="T0" fmla="*/ 4 w 9"/>
                  <a:gd name="T1" fmla="*/ 4 h 8"/>
                  <a:gd name="T2" fmla="*/ 0 w 9"/>
                  <a:gd name="T3" fmla="*/ 0 h 8"/>
                  <a:gd name="T4" fmla="*/ 4 w 9"/>
                  <a:gd name="T5" fmla="*/ 4 h 8"/>
                  <a:gd name="T6" fmla="*/ 0 60000 65536"/>
                  <a:gd name="T7" fmla="*/ 0 60000 65536"/>
                  <a:gd name="T8" fmla="*/ 0 60000 65536"/>
                  <a:gd name="T9" fmla="*/ 0 w 9"/>
                  <a:gd name="T10" fmla="*/ 0 h 8"/>
                  <a:gd name="T11" fmla="*/ 9 w 9"/>
                  <a:gd name="T12" fmla="*/ 8 h 8"/>
                </a:gdLst>
                <a:ahLst/>
                <a:cxnLst>
                  <a:cxn ang="T6">
                    <a:pos x="T0" y="T1"/>
                  </a:cxn>
                  <a:cxn ang="T7">
                    <a:pos x="T2" y="T3"/>
                  </a:cxn>
                  <a:cxn ang="T8">
                    <a:pos x="T4" y="T5"/>
                  </a:cxn>
                </a:cxnLst>
                <a:rect l="T9" t="T10" r="T11" b="T12"/>
                <a:pathLst>
                  <a:path w="9" h="8">
                    <a:moveTo>
                      <a:pt x="8" y="7"/>
                    </a:moveTo>
                    <a:lnTo>
                      <a:pt x="0" y="0"/>
                    </a:lnTo>
                    <a:lnTo>
                      <a:pt x="8"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7" name="Freeform 192"/>
              <p:cNvSpPr>
                <a:spLocks/>
              </p:cNvSpPr>
              <p:nvPr/>
            </p:nvSpPr>
            <p:spPr bwMode="auto">
              <a:xfrm>
                <a:off x="4646423" y="3354235"/>
                <a:ext cx="14212" cy="12435"/>
              </a:xfrm>
              <a:custGeom>
                <a:avLst/>
                <a:gdLst>
                  <a:gd name="T0" fmla="*/ 4 w 9"/>
                  <a:gd name="T1" fmla="*/ 4 h 8"/>
                  <a:gd name="T2" fmla="*/ 0 w 9"/>
                  <a:gd name="T3" fmla="*/ 0 h 8"/>
                  <a:gd name="T4" fmla="*/ 4 w 9"/>
                  <a:gd name="T5" fmla="*/ 4 h 8"/>
                  <a:gd name="T6" fmla="*/ 0 60000 65536"/>
                  <a:gd name="T7" fmla="*/ 0 60000 65536"/>
                  <a:gd name="T8" fmla="*/ 0 60000 65536"/>
                  <a:gd name="T9" fmla="*/ 0 w 9"/>
                  <a:gd name="T10" fmla="*/ 0 h 8"/>
                  <a:gd name="T11" fmla="*/ 9 w 9"/>
                  <a:gd name="T12" fmla="*/ 8 h 8"/>
                </a:gdLst>
                <a:ahLst/>
                <a:cxnLst>
                  <a:cxn ang="T6">
                    <a:pos x="T0" y="T1"/>
                  </a:cxn>
                  <a:cxn ang="T7">
                    <a:pos x="T2" y="T3"/>
                  </a:cxn>
                  <a:cxn ang="T8">
                    <a:pos x="T4" y="T5"/>
                  </a:cxn>
                </a:cxnLst>
                <a:rect l="T9" t="T10" r="T11" b="T12"/>
                <a:pathLst>
                  <a:path w="9" h="8">
                    <a:moveTo>
                      <a:pt x="8" y="7"/>
                    </a:moveTo>
                    <a:lnTo>
                      <a:pt x="0" y="0"/>
                    </a:lnTo>
                    <a:lnTo>
                      <a:pt x="8"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8" name="Freeform 193"/>
              <p:cNvSpPr>
                <a:spLocks/>
              </p:cNvSpPr>
              <p:nvPr/>
            </p:nvSpPr>
            <p:spPr bwMode="auto">
              <a:xfrm>
                <a:off x="4571811" y="3354235"/>
                <a:ext cx="101260" cy="65730"/>
              </a:xfrm>
              <a:custGeom>
                <a:avLst/>
                <a:gdLst>
                  <a:gd name="T0" fmla="*/ 3 w 67"/>
                  <a:gd name="T1" fmla="*/ 21 h 39"/>
                  <a:gd name="T2" fmla="*/ 5 w 67"/>
                  <a:gd name="T3" fmla="*/ 11 h 39"/>
                  <a:gd name="T4" fmla="*/ 8 w 67"/>
                  <a:gd name="T5" fmla="*/ 11 h 39"/>
                  <a:gd name="T6" fmla="*/ 8 w 67"/>
                  <a:gd name="T7" fmla="*/ 9 h 39"/>
                  <a:gd name="T8" fmla="*/ 9 w 67"/>
                  <a:gd name="T9" fmla="*/ 11 h 39"/>
                  <a:gd name="T10" fmla="*/ 10 w 67"/>
                  <a:gd name="T11" fmla="*/ 7 h 39"/>
                  <a:gd name="T12" fmla="*/ 9 w 67"/>
                  <a:gd name="T13" fmla="*/ 7 h 39"/>
                  <a:gd name="T14" fmla="*/ 8 w 67"/>
                  <a:gd name="T15" fmla="*/ 0 h 39"/>
                  <a:gd name="T16" fmla="*/ 3 w 67"/>
                  <a:gd name="T17" fmla="*/ 0 h 39"/>
                  <a:gd name="T18" fmla="*/ 3 w 67"/>
                  <a:gd name="T19" fmla="*/ 0 h 39"/>
                  <a:gd name="T20" fmla="*/ 0 w 67"/>
                  <a:gd name="T21" fmla="*/ 9 h 39"/>
                  <a:gd name="T22" fmla="*/ 0 w 67"/>
                  <a:gd name="T23" fmla="*/ 11 h 39"/>
                  <a:gd name="T24" fmla="*/ 3 w 67"/>
                  <a:gd name="T25" fmla="*/ 9 h 39"/>
                  <a:gd name="T26" fmla="*/ 3 w 67"/>
                  <a:gd name="T27" fmla="*/ 21 h 39"/>
                  <a:gd name="T28" fmla="*/ 3 w 67"/>
                  <a:gd name="T29" fmla="*/ 21 h 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7"/>
                  <a:gd name="T46" fmla="*/ 0 h 39"/>
                  <a:gd name="T47" fmla="*/ 67 w 67"/>
                  <a:gd name="T48" fmla="*/ 39 h 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7" h="39">
                    <a:moveTo>
                      <a:pt x="16" y="38"/>
                    </a:moveTo>
                    <a:lnTo>
                      <a:pt x="34" y="23"/>
                    </a:lnTo>
                    <a:lnTo>
                      <a:pt x="50" y="23"/>
                    </a:lnTo>
                    <a:lnTo>
                      <a:pt x="50" y="14"/>
                    </a:lnTo>
                    <a:lnTo>
                      <a:pt x="58" y="23"/>
                    </a:lnTo>
                    <a:lnTo>
                      <a:pt x="66" y="7"/>
                    </a:lnTo>
                    <a:lnTo>
                      <a:pt x="58" y="7"/>
                    </a:lnTo>
                    <a:lnTo>
                      <a:pt x="50" y="0"/>
                    </a:lnTo>
                    <a:lnTo>
                      <a:pt x="16" y="0"/>
                    </a:lnTo>
                    <a:lnTo>
                      <a:pt x="8" y="0"/>
                    </a:lnTo>
                    <a:lnTo>
                      <a:pt x="0" y="14"/>
                    </a:lnTo>
                    <a:lnTo>
                      <a:pt x="0" y="23"/>
                    </a:lnTo>
                    <a:lnTo>
                      <a:pt x="8" y="14"/>
                    </a:lnTo>
                    <a:lnTo>
                      <a:pt x="8" y="38"/>
                    </a:lnTo>
                    <a:lnTo>
                      <a:pt x="16"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49" name="Freeform 194"/>
              <p:cNvSpPr>
                <a:spLocks/>
              </p:cNvSpPr>
              <p:nvPr/>
            </p:nvSpPr>
            <p:spPr bwMode="auto">
              <a:xfrm>
                <a:off x="4308890" y="3205010"/>
                <a:ext cx="300226" cy="321546"/>
              </a:xfrm>
              <a:custGeom>
                <a:avLst/>
                <a:gdLst>
                  <a:gd name="T0" fmla="*/ 14 w 201"/>
                  <a:gd name="T1" fmla="*/ 0 h 185"/>
                  <a:gd name="T2" fmla="*/ 12 w 201"/>
                  <a:gd name="T3" fmla="*/ 8 h 185"/>
                  <a:gd name="T4" fmla="*/ 12 w 201"/>
                  <a:gd name="T5" fmla="*/ 23 h 185"/>
                  <a:gd name="T6" fmla="*/ 10 w 201"/>
                  <a:gd name="T7" fmla="*/ 26 h 185"/>
                  <a:gd name="T8" fmla="*/ 8 w 201"/>
                  <a:gd name="T9" fmla="*/ 34 h 185"/>
                  <a:gd name="T10" fmla="*/ 7 w 201"/>
                  <a:gd name="T11" fmla="*/ 34 h 185"/>
                  <a:gd name="T12" fmla="*/ 6 w 201"/>
                  <a:gd name="T13" fmla="*/ 26 h 185"/>
                  <a:gd name="T14" fmla="*/ 5 w 201"/>
                  <a:gd name="T15" fmla="*/ 26 h 185"/>
                  <a:gd name="T16" fmla="*/ 6 w 201"/>
                  <a:gd name="T17" fmla="*/ 41 h 185"/>
                  <a:gd name="T18" fmla="*/ 4 w 201"/>
                  <a:gd name="T19" fmla="*/ 49 h 185"/>
                  <a:gd name="T20" fmla="*/ 4 w 201"/>
                  <a:gd name="T21" fmla="*/ 41 h 185"/>
                  <a:gd name="T22" fmla="*/ 0 w 201"/>
                  <a:gd name="T23" fmla="*/ 49 h 185"/>
                  <a:gd name="T24" fmla="*/ 0 w 201"/>
                  <a:gd name="T25" fmla="*/ 60 h 185"/>
                  <a:gd name="T26" fmla="*/ 5 w 201"/>
                  <a:gd name="T27" fmla="*/ 64 h 185"/>
                  <a:gd name="T28" fmla="*/ 7 w 201"/>
                  <a:gd name="T29" fmla="*/ 83 h 185"/>
                  <a:gd name="T30" fmla="*/ 7 w 201"/>
                  <a:gd name="T31" fmla="*/ 96 h 185"/>
                  <a:gd name="T32" fmla="*/ 6 w 201"/>
                  <a:gd name="T33" fmla="*/ 130 h 185"/>
                  <a:gd name="T34" fmla="*/ 8 w 201"/>
                  <a:gd name="T35" fmla="*/ 136 h 185"/>
                  <a:gd name="T36" fmla="*/ 14 w 201"/>
                  <a:gd name="T37" fmla="*/ 142 h 185"/>
                  <a:gd name="T38" fmla="*/ 14 w 201"/>
                  <a:gd name="T39" fmla="*/ 136 h 185"/>
                  <a:gd name="T40" fmla="*/ 17 w 201"/>
                  <a:gd name="T41" fmla="*/ 130 h 185"/>
                  <a:gd name="T42" fmla="*/ 21 w 201"/>
                  <a:gd name="T43" fmla="*/ 136 h 185"/>
                  <a:gd name="T44" fmla="*/ 24 w 201"/>
                  <a:gd name="T45" fmla="*/ 136 h 185"/>
                  <a:gd name="T46" fmla="*/ 24 w 201"/>
                  <a:gd name="T47" fmla="*/ 124 h 185"/>
                  <a:gd name="T48" fmla="*/ 24 w 201"/>
                  <a:gd name="T49" fmla="*/ 105 h 185"/>
                  <a:gd name="T50" fmla="*/ 24 w 201"/>
                  <a:gd name="T51" fmla="*/ 96 h 185"/>
                  <a:gd name="T52" fmla="*/ 24 w 201"/>
                  <a:gd name="T53" fmla="*/ 75 h 185"/>
                  <a:gd name="T54" fmla="*/ 21 w 201"/>
                  <a:gd name="T55" fmla="*/ 83 h 185"/>
                  <a:gd name="T56" fmla="*/ 21 w 201"/>
                  <a:gd name="T57" fmla="*/ 75 h 185"/>
                  <a:gd name="T58" fmla="*/ 24 w 201"/>
                  <a:gd name="T59" fmla="*/ 64 h 185"/>
                  <a:gd name="T60" fmla="*/ 24 w 201"/>
                  <a:gd name="T61" fmla="*/ 64 h 185"/>
                  <a:gd name="T62" fmla="*/ 24 w 201"/>
                  <a:gd name="T63" fmla="*/ 41 h 185"/>
                  <a:gd name="T64" fmla="*/ 21 w 201"/>
                  <a:gd name="T65" fmla="*/ 26 h 185"/>
                  <a:gd name="T66" fmla="*/ 20 w 201"/>
                  <a:gd name="T67" fmla="*/ 26 h 185"/>
                  <a:gd name="T68" fmla="*/ 19 w 201"/>
                  <a:gd name="T69" fmla="*/ 26 h 185"/>
                  <a:gd name="T70" fmla="*/ 19 w 201"/>
                  <a:gd name="T71" fmla="*/ 23 h 185"/>
                  <a:gd name="T72" fmla="*/ 17 w 201"/>
                  <a:gd name="T73" fmla="*/ 23 h 185"/>
                  <a:gd name="T74" fmla="*/ 17 w 201"/>
                  <a:gd name="T75" fmla="*/ 15 h 185"/>
                  <a:gd name="T76" fmla="*/ 14 w 201"/>
                  <a:gd name="T77" fmla="*/ 8 h 185"/>
                  <a:gd name="T78" fmla="*/ 14 w 201"/>
                  <a:gd name="T79" fmla="*/ 0 h 18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01"/>
                  <a:gd name="T121" fmla="*/ 0 h 185"/>
                  <a:gd name="T122" fmla="*/ 201 w 201"/>
                  <a:gd name="T123" fmla="*/ 185 h 185"/>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01" h="185">
                    <a:moveTo>
                      <a:pt x="117" y="0"/>
                    </a:moveTo>
                    <a:lnTo>
                      <a:pt x="100" y="8"/>
                    </a:lnTo>
                    <a:lnTo>
                      <a:pt x="100" y="31"/>
                    </a:lnTo>
                    <a:lnTo>
                      <a:pt x="84" y="38"/>
                    </a:lnTo>
                    <a:lnTo>
                      <a:pt x="67" y="46"/>
                    </a:lnTo>
                    <a:lnTo>
                      <a:pt x="58" y="46"/>
                    </a:lnTo>
                    <a:lnTo>
                      <a:pt x="50" y="38"/>
                    </a:lnTo>
                    <a:lnTo>
                      <a:pt x="42" y="38"/>
                    </a:lnTo>
                    <a:lnTo>
                      <a:pt x="50" y="53"/>
                    </a:lnTo>
                    <a:lnTo>
                      <a:pt x="34" y="61"/>
                    </a:lnTo>
                    <a:lnTo>
                      <a:pt x="34" y="53"/>
                    </a:lnTo>
                    <a:lnTo>
                      <a:pt x="0" y="61"/>
                    </a:lnTo>
                    <a:lnTo>
                      <a:pt x="0" y="76"/>
                    </a:lnTo>
                    <a:lnTo>
                      <a:pt x="42" y="84"/>
                    </a:lnTo>
                    <a:lnTo>
                      <a:pt x="58" y="107"/>
                    </a:lnTo>
                    <a:lnTo>
                      <a:pt x="58" y="123"/>
                    </a:lnTo>
                    <a:lnTo>
                      <a:pt x="50" y="168"/>
                    </a:lnTo>
                    <a:lnTo>
                      <a:pt x="67" y="176"/>
                    </a:lnTo>
                    <a:lnTo>
                      <a:pt x="117" y="184"/>
                    </a:lnTo>
                    <a:lnTo>
                      <a:pt x="117" y="176"/>
                    </a:lnTo>
                    <a:lnTo>
                      <a:pt x="142" y="168"/>
                    </a:lnTo>
                    <a:lnTo>
                      <a:pt x="176" y="176"/>
                    </a:lnTo>
                    <a:lnTo>
                      <a:pt x="184" y="176"/>
                    </a:lnTo>
                    <a:lnTo>
                      <a:pt x="192" y="160"/>
                    </a:lnTo>
                    <a:lnTo>
                      <a:pt x="184" y="137"/>
                    </a:lnTo>
                    <a:lnTo>
                      <a:pt x="184" y="123"/>
                    </a:lnTo>
                    <a:lnTo>
                      <a:pt x="184" y="99"/>
                    </a:lnTo>
                    <a:lnTo>
                      <a:pt x="176" y="107"/>
                    </a:lnTo>
                    <a:lnTo>
                      <a:pt x="176" y="99"/>
                    </a:lnTo>
                    <a:lnTo>
                      <a:pt x="184" y="84"/>
                    </a:lnTo>
                    <a:lnTo>
                      <a:pt x="192" y="84"/>
                    </a:lnTo>
                    <a:lnTo>
                      <a:pt x="200" y="53"/>
                    </a:lnTo>
                    <a:lnTo>
                      <a:pt x="176" y="38"/>
                    </a:lnTo>
                    <a:lnTo>
                      <a:pt x="159" y="38"/>
                    </a:lnTo>
                    <a:lnTo>
                      <a:pt x="150" y="38"/>
                    </a:lnTo>
                    <a:lnTo>
                      <a:pt x="150" y="31"/>
                    </a:lnTo>
                    <a:lnTo>
                      <a:pt x="142" y="31"/>
                    </a:lnTo>
                    <a:lnTo>
                      <a:pt x="142" y="15"/>
                    </a:lnTo>
                    <a:lnTo>
                      <a:pt x="117" y="8"/>
                    </a:lnTo>
                    <a:lnTo>
                      <a:pt x="117"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0" name="Freeform 195"/>
              <p:cNvSpPr>
                <a:spLocks/>
              </p:cNvSpPr>
              <p:nvPr/>
            </p:nvSpPr>
            <p:spPr bwMode="auto">
              <a:xfrm>
                <a:off x="4209407" y="3551426"/>
                <a:ext cx="76389" cy="159885"/>
              </a:xfrm>
              <a:custGeom>
                <a:avLst/>
                <a:gdLst>
                  <a:gd name="T0" fmla="*/ 3 w 51"/>
                  <a:gd name="T1" fmla="*/ 63 h 93"/>
                  <a:gd name="T2" fmla="*/ 4 w 51"/>
                  <a:gd name="T3" fmla="*/ 53 h 93"/>
                  <a:gd name="T4" fmla="*/ 3 w 51"/>
                  <a:gd name="T5" fmla="*/ 34 h 93"/>
                  <a:gd name="T6" fmla="*/ 4 w 51"/>
                  <a:gd name="T7" fmla="*/ 26 h 93"/>
                  <a:gd name="T8" fmla="*/ 4 w 51"/>
                  <a:gd name="T9" fmla="*/ 15 h 93"/>
                  <a:gd name="T10" fmla="*/ 7 w 51"/>
                  <a:gd name="T11" fmla="*/ 8 h 93"/>
                  <a:gd name="T12" fmla="*/ 7 w 51"/>
                  <a:gd name="T13" fmla="*/ 0 h 93"/>
                  <a:gd name="T14" fmla="*/ 3 w 51"/>
                  <a:gd name="T15" fmla="*/ 0 h 93"/>
                  <a:gd name="T16" fmla="*/ 3 w 51"/>
                  <a:gd name="T17" fmla="*/ 15 h 93"/>
                  <a:gd name="T18" fmla="*/ 0 w 51"/>
                  <a:gd name="T19" fmla="*/ 41 h 93"/>
                  <a:gd name="T20" fmla="*/ 3 w 51"/>
                  <a:gd name="T21" fmla="*/ 41 h 93"/>
                  <a:gd name="T22" fmla="*/ 0 w 51"/>
                  <a:gd name="T23" fmla="*/ 63 h 93"/>
                  <a:gd name="T24" fmla="*/ 3 w 51"/>
                  <a:gd name="T25" fmla="*/ 63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1"/>
                  <a:gd name="T40" fmla="*/ 0 h 93"/>
                  <a:gd name="T41" fmla="*/ 51 w 51"/>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1" h="93">
                    <a:moveTo>
                      <a:pt x="24" y="92"/>
                    </a:moveTo>
                    <a:lnTo>
                      <a:pt x="34" y="77"/>
                    </a:lnTo>
                    <a:lnTo>
                      <a:pt x="24" y="46"/>
                    </a:lnTo>
                    <a:lnTo>
                      <a:pt x="34" y="38"/>
                    </a:lnTo>
                    <a:lnTo>
                      <a:pt x="34" y="15"/>
                    </a:lnTo>
                    <a:lnTo>
                      <a:pt x="50" y="8"/>
                    </a:lnTo>
                    <a:lnTo>
                      <a:pt x="50" y="0"/>
                    </a:lnTo>
                    <a:lnTo>
                      <a:pt x="8" y="0"/>
                    </a:lnTo>
                    <a:lnTo>
                      <a:pt x="8" y="15"/>
                    </a:lnTo>
                    <a:lnTo>
                      <a:pt x="0" y="61"/>
                    </a:lnTo>
                    <a:lnTo>
                      <a:pt x="8" y="61"/>
                    </a:lnTo>
                    <a:lnTo>
                      <a:pt x="0" y="92"/>
                    </a:lnTo>
                    <a:lnTo>
                      <a:pt x="24" y="9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1" name="Freeform 196"/>
              <p:cNvSpPr>
                <a:spLocks/>
              </p:cNvSpPr>
              <p:nvPr/>
            </p:nvSpPr>
            <p:spPr bwMode="auto">
              <a:xfrm>
                <a:off x="4584246" y="3364894"/>
                <a:ext cx="275356" cy="317993"/>
              </a:xfrm>
              <a:custGeom>
                <a:avLst/>
                <a:gdLst>
                  <a:gd name="T0" fmla="*/ 3 w 185"/>
                  <a:gd name="T1" fmla="*/ 49 h 184"/>
                  <a:gd name="T2" fmla="*/ 3 w 185"/>
                  <a:gd name="T3" fmla="*/ 46 h 184"/>
                  <a:gd name="T4" fmla="*/ 6 w 185"/>
                  <a:gd name="T5" fmla="*/ 49 h 184"/>
                  <a:gd name="T6" fmla="*/ 8 w 185"/>
                  <a:gd name="T7" fmla="*/ 68 h 184"/>
                  <a:gd name="T8" fmla="*/ 9 w 185"/>
                  <a:gd name="T9" fmla="*/ 68 h 184"/>
                  <a:gd name="T10" fmla="*/ 11 w 185"/>
                  <a:gd name="T11" fmla="*/ 83 h 184"/>
                  <a:gd name="T12" fmla="*/ 13 w 185"/>
                  <a:gd name="T13" fmla="*/ 88 h 184"/>
                  <a:gd name="T14" fmla="*/ 15 w 185"/>
                  <a:gd name="T15" fmla="*/ 104 h 184"/>
                  <a:gd name="T16" fmla="*/ 16 w 185"/>
                  <a:gd name="T17" fmla="*/ 104 h 184"/>
                  <a:gd name="T18" fmla="*/ 18 w 185"/>
                  <a:gd name="T19" fmla="*/ 121 h 184"/>
                  <a:gd name="T20" fmla="*/ 16 w 185"/>
                  <a:gd name="T21" fmla="*/ 131 h 184"/>
                  <a:gd name="T22" fmla="*/ 18 w 185"/>
                  <a:gd name="T23" fmla="*/ 131 h 184"/>
                  <a:gd name="T24" fmla="*/ 19 w 185"/>
                  <a:gd name="T25" fmla="*/ 121 h 184"/>
                  <a:gd name="T26" fmla="*/ 19 w 185"/>
                  <a:gd name="T27" fmla="*/ 116 h 184"/>
                  <a:gd name="T28" fmla="*/ 19 w 185"/>
                  <a:gd name="T29" fmla="*/ 110 h 184"/>
                  <a:gd name="T30" fmla="*/ 19 w 185"/>
                  <a:gd name="T31" fmla="*/ 92 h 184"/>
                  <a:gd name="T32" fmla="*/ 20 w 185"/>
                  <a:gd name="T33" fmla="*/ 110 h 184"/>
                  <a:gd name="T34" fmla="*/ 22 w 185"/>
                  <a:gd name="T35" fmla="*/ 104 h 184"/>
                  <a:gd name="T36" fmla="*/ 16 w 185"/>
                  <a:gd name="T37" fmla="*/ 83 h 184"/>
                  <a:gd name="T38" fmla="*/ 18 w 185"/>
                  <a:gd name="T39" fmla="*/ 77 h 184"/>
                  <a:gd name="T40" fmla="*/ 16 w 185"/>
                  <a:gd name="T41" fmla="*/ 77 h 184"/>
                  <a:gd name="T42" fmla="*/ 13 w 185"/>
                  <a:gd name="T43" fmla="*/ 68 h 184"/>
                  <a:gd name="T44" fmla="*/ 13 w 185"/>
                  <a:gd name="T45" fmla="*/ 53 h 184"/>
                  <a:gd name="T46" fmla="*/ 11 w 185"/>
                  <a:gd name="T47" fmla="*/ 46 h 184"/>
                  <a:gd name="T48" fmla="*/ 11 w 185"/>
                  <a:gd name="T49" fmla="*/ 19 h 184"/>
                  <a:gd name="T50" fmla="*/ 13 w 185"/>
                  <a:gd name="T51" fmla="*/ 19 h 184"/>
                  <a:gd name="T52" fmla="*/ 13 w 185"/>
                  <a:gd name="T53" fmla="*/ 15 h 184"/>
                  <a:gd name="T54" fmla="*/ 13 w 185"/>
                  <a:gd name="T55" fmla="*/ 7 h 184"/>
                  <a:gd name="T56" fmla="*/ 11 w 185"/>
                  <a:gd name="T57" fmla="*/ 0 h 184"/>
                  <a:gd name="T58" fmla="*/ 7 w 185"/>
                  <a:gd name="T59" fmla="*/ 0 h 184"/>
                  <a:gd name="T60" fmla="*/ 6 w 185"/>
                  <a:gd name="T61" fmla="*/ 15 h 184"/>
                  <a:gd name="T62" fmla="*/ 5 w 185"/>
                  <a:gd name="T63" fmla="*/ 7 h 184"/>
                  <a:gd name="T64" fmla="*/ 5 w 185"/>
                  <a:gd name="T65" fmla="*/ 15 h 184"/>
                  <a:gd name="T66" fmla="*/ 3 w 185"/>
                  <a:gd name="T67" fmla="*/ 15 h 184"/>
                  <a:gd name="T68" fmla="*/ 3 w 185"/>
                  <a:gd name="T69" fmla="*/ 19 h 184"/>
                  <a:gd name="T70" fmla="*/ 0 w 185"/>
                  <a:gd name="T71" fmla="*/ 19 h 184"/>
                  <a:gd name="T72" fmla="*/ 0 w 185"/>
                  <a:gd name="T73" fmla="*/ 33 h 184"/>
                  <a:gd name="T74" fmla="*/ 3 w 185"/>
                  <a:gd name="T75" fmla="*/ 49 h 1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85"/>
                  <a:gd name="T115" fmla="*/ 0 h 184"/>
                  <a:gd name="T116" fmla="*/ 185 w 185"/>
                  <a:gd name="T117" fmla="*/ 184 h 18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85" h="184">
                    <a:moveTo>
                      <a:pt x="8" y="68"/>
                    </a:moveTo>
                    <a:lnTo>
                      <a:pt x="26" y="61"/>
                    </a:lnTo>
                    <a:lnTo>
                      <a:pt x="50" y="68"/>
                    </a:lnTo>
                    <a:lnTo>
                      <a:pt x="67" y="92"/>
                    </a:lnTo>
                    <a:lnTo>
                      <a:pt x="76" y="92"/>
                    </a:lnTo>
                    <a:lnTo>
                      <a:pt x="92" y="115"/>
                    </a:lnTo>
                    <a:lnTo>
                      <a:pt x="108" y="122"/>
                    </a:lnTo>
                    <a:lnTo>
                      <a:pt x="126" y="145"/>
                    </a:lnTo>
                    <a:lnTo>
                      <a:pt x="142" y="145"/>
                    </a:lnTo>
                    <a:lnTo>
                      <a:pt x="150" y="168"/>
                    </a:lnTo>
                    <a:lnTo>
                      <a:pt x="142" y="183"/>
                    </a:lnTo>
                    <a:lnTo>
                      <a:pt x="150" y="183"/>
                    </a:lnTo>
                    <a:lnTo>
                      <a:pt x="159" y="168"/>
                    </a:lnTo>
                    <a:lnTo>
                      <a:pt x="159" y="160"/>
                    </a:lnTo>
                    <a:lnTo>
                      <a:pt x="159" y="153"/>
                    </a:lnTo>
                    <a:lnTo>
                      <a:pt x="159" y="129"/>
                    </a:lnTo>
                    <a:lnTo>
                      <a:pt x="176" y="153"/>
                    </a:lnTo>
                    <a:lnTo>
                      <a:pt x="184" y="145"/>
                    </a:lnTo>
                    <a:lnTo>
                      <a:pt x="142" y="115"/>
                    </a:lnTo>
                    <a:lnTo>
                      <a:pt x="150" y="106"/>
                    </a:lnTo>
                    <a:lnTo>
                      <a:pt x="142" y="106"/>
                    </a:lnTo>
                    <a:lnTo>
                      <a:pt x="117" y="92"/>
                    </a:lnTo>
                    <a:lnTo>
                      <a:pt x="108" y="76"/>
                    </a:lnTo>
                    <a:lnTo>
                      <a:pt x="92" y="61"/>
                    </a:lnTo>
                    <a:lnTo>
                      <a:pt x="92" y="31"/>
                    </a:lnTo>
                    <a:lnTo>
                      <a:pt x="108" y="31"/>
                    </a:lnTo>
                    <a:lnTo>
                      <a:pt x="108" y="15"/>
                    </a:lnTo>
                    <a:lnTo>
                      <a:pt x="108" y="7"/>
                    </a:lnTo>
                    <a:lnTo>
                      <a:pt x="92" y="0"/>
                    </a:lnTo>
                    <a:lnTo>
                      <a:pt x="58" y="0"/>
                    </a:lnTo>
                    <a:lnTo>
                      <a:pt x="50" y="15"/>
                    </a:lnTo>
                    <a:lnTo>
                      <a:pt x="42" y="7"/>
                    </a:lnTo>
                    <a:lnTo>
                      <a:pt x="42" y="15"/>
                    </a:lnTo>
                    <a:lnTo>
                      <a:pt x="26" y="15"/>
                    </a:lnTo>
                    <a:lnTo>
                      <a:pt x="8" y="31"/>
                    </a:lnTo>
                    <a:lnTo>
                      <a:pt x="0" y="31"/>
                    </a:lnTo>
                    <a:lnTo>
                      <a:pt x="0" y="45"/>
                    </a:lnTo>
                    <a:lnTo>
                      <a:pt x="8" y="6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2" name="Freeform 197"/>
              <p:cNvSpPr>
                <a:spLocks/>
              </p:cNvSpPr>
              <p:nvPr/>
            </p:nvSpPr>
            <p:spPr bwMode="auto">
              <a:xfrm>
                <a:off x="4895131" y="3309823"/>
                <a:ext cx="225614" cy="190085"/>
              </a:xfrm>
              <a:custGeom>
                <a:avLst/>
                <a:gdLst>
                  <a:gd name="T0" fmla="*/ 3 w 152"/>
                  <a:gd name="T1" fmla="*/ 65 h 109"/>
                  <a:gd name="T2" fmla="*/ 5 w 152"/>
                  <a:gd name="T3" fmla="*/ 65 h 109"/>
                  <a:gd name="T4" fmla="*/ 5 w 152"/>
                  <a:gd name="T5" fmla="*/ 74 h 109"/>
                  <a:gd name="T6" fmla="*/ 6 w 152"/>
                  <a:gd name="T7" fmla="*/ 78 h 109"/>
                  <a:gd name="T8" fmla="*/ 7 w 152"/>
                  <a:gd name="T9" fmla="*/ 78 h 109"/>
                  <a:gd name="T10" fmla="*/ 11 w 152"/>
                  <a:gd name="T11" fmla="*/ 84 h 109"/>
                  <a:gd name="T12" fmla="*/ 13 w 152"/>
                  <a:gd name="T13" fmla="*/ 74 h 109"/>
                  <a:gd name="T14" fmla="*/ 16 w 152"/>
                  <a:gd name="T15" fmla="*/ 78 h 109"/>
                  <a:gd name="T16" fmla="*/ 16 w 152"/>
                  <a:gd name="T17" fmla="*/ 74 h 109"/>
                  <a:gd name="T18" fmla="*/ 18 w 152"/>
                  <a:gd name="T19" fmla="*/ 65 h 109"/>
                  <a:gd name="T20" fmla="*/ 18 w 152"/>
                  <a:gd name="T21" fmla="*/ 57 h 109"/>
                  <a:gd name="T22" fmla="*/ 15 w 152"/>
                  <a:gd name="T23" fmla="*/ 57 h 109"/>
                  <a:gd name="T24" fmla="*/ 15 w 152"/>
                  <a:gd name="T25" fmla="*/ 50 h 109"/>
                  <a:gd name="T26" fmla="*/ 15 w 152"/>
                  <a:gd name="T27" fmla="*/ 27 h 109"/>
                  <a:gd name="T28" fmla="*/ 13 w 152"/>
                  <a:gd name="T29" fmla="*/ 0 h 109"/>
                  <a:gd name="T30" fmla="*/ 11 w 152"/>
                  <a:gd name="T31" fmla="*/ 0 h 109"/>
                  <a:gd name="T32" fmla="*/ 9 w 152"/>
                  <a:gd name="T33" fmla="*/ 16 h 109"/>
                  <a:gd name="T34" fmla="*/ 8 w 152"/>
                  <a:gd name="T35" fmla="*/ 16 h 109"/>
                  <a:gd name="T36" fmla="*/ 5 w 152"/>
                  <a:gd name="T37" fmla="*/ 16 h 109"/>
                  <a:gd name="T38" fmla="*/ 3 w 152"/>
                  <a:gd name="T39" fmla="*/ 16 h 109"/>
                  <a:gd name="T40" fmla="*/ 3 w 152"/>
                  <a:gd name="T41" fmla="*/ 35 h 109"/>
                  <a:gd name="T42" fmla="*/ 0 w 152"/>
                  <a:gd name="T43" fmla="*/ 35 h 109"/>
                  <a:gd name="T44" fmla="*/ 3 w 152"/>
                  <a:gd name="T45" fmla="*/ 65 h 10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2"/>
                  <a:gd name="T70" fmla="*/ 0 h 109"/>
                  <a:gd name="T71" fmla="*/ 152 w 152"/>
                  <a:gd name="T72" fmla="*/ 109 h 10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2" h="109">
                    <a:moveTo>
                      <a:pt x="18" y="77"/>
                    </a:moveTo>
                    <a:lnTo>
                      <a:pt x="42" y="77"/>
                    </a:lnTo>
                    <a:lnTo>
                      <a:pt x="42" y="92"/>
                    </a:lnTo>
                    <a:lnTo>
                      <a:pt x="50" y="100"/>
                    </a:lnTo>
                    <a:lnTo>
                      <a:pt x="59" y="100"/>
                    </a:lnTo>
                    <a:lnTo>
                      <a:pt x="92" y="108"/>
                    </a:lnTo>
                    <a:lnTo>
                      <a:pt x="110" y="92"/>
                    </a:lnTo>
                    <a:lnTo>
                      <a:pt x="134" y="100"/>
                    </a:lnTo>
                    <a:lnTo>
                      <a:pt x="134" y="92"/>
                    </a:lnTo>
                    <a:lnTo>
                      <a:pt x="151" y="77"/>
                    </a:lnTo>
                    <a:lnTo>
                      <a:pt x="151" y="69"/>
                    </a:lnTo>
                    <a:lnTo>
                      <a:pt x="126" y="69"/>
                    </a:lnTo>
                    <a:lnTo>
                      <a:pt x="126" y="62"/>
                    </a:lnTo>
                    <a:lnTo>
                      <a:pt x="126" y="31"/>
                    </a:lnTo>
                    <a:lnTo>
                      <a:pt x="110" y="0"/>
                    </a:lnTo>
                    <a:lnTo>
                      <a:pt x="100" y="0"/>
                    </a:lnTo>
                    <a:lnTo>
                      <a:pt x="76" y="16"/>
                    </a:lnTo>
                    <a:lnTo>
                      <a:pt x="68" y="16"/>
                    </a:lnTo>
                    <a:lnTo>
                      <a:pt x="42" y="16"/>
                    </a:lnTo>
                    <a:lnTo>
                      <a:pt x="26" y="16"/>
                    </a:lnTo>
                    <a:lnTo>
                      <a:pt x="18" y="47"/>
                    </a:lnTo>
                    <a:lnTo>
                      <a:pt x="0" y="47"/>
                    </a:lnTo>
                    <a:lnTo>
                      <a:pt x="18" y="7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3" name="Freeform 198"/>
              <p:cNvSpPr>
                <a:spLocks/>
              </p:cNvSpPr>
              <p:nvPr/>
            </p:nvSpPr>
            <p:spPr bwMode="auto">
              <a:xfrm>
                <a:off x="4895131" y="3563862"/>
                <a:ext cx="151001" cy="135014"/>
              </a:xfrm>
              <a:custGeom>
                <a:avLst/>
                <a:gdLst>
                  <a:gd name="T0" fmla="*/ 3 w 102"/>
                  <a:gd name="T1" fmla="*/ 7 h 77"/>
                  <a:gd name="T2" fmla="*/ 6 w 102"/>
                  <a:gd name="T3" fmla="*/ 0 h 77"/>
                  <a:gd name="T4" fmla="*/ 8 w 102"/>
                  <a:gd name="T5" fmla="*/ 0 h 77"/>
                  <a:gd name="T6" fmla="*/ 10 w 102"/>
                  <a:gd name="T7" fmla="*/ 7 h 77"/>
                  <a:gd name="T8" fmla="*/ 11 w 102"/>
                  <a:gd name="T9" fmla="*/ 0 h 77"/>
                  <a:gd name="T10" fmla="*/ 10 w 102"/>
                  <a:gd name="T11" fmla="*/ 15 h 77"/>
                  <a:gd name="T12" fmla="*/ 8 w 102"/>
                  <a:gd name="T13" fmla="*/ 7 h 77"/>
                  <a:gd name="T14" fmla="*/ 7 w 102"/>
                  <a:gd name="T15" fmla="*/ 15 h 77"/>
                  <a:gd name="T16" fmla="*/ 7 w 102"/>
                  <a:gd name="T17" fmla="*/ 30 h 77"/>
                  <a:gd name="T18" fmla="*/ 6 w 102"/>
                  <a:gd name="T19" fmla="*/ 30 h 77"/>
                  <a:gd name="T20" fmla="*/ 5 w 102"/>
                  <a:gd name="T21" fmla="*/ 15 h 77"/>
                  <a:gd name="T22" fmla="*/ 5 w 102"/>
                  <a:gd name="T23" fmla="*/ 30 h 77"/>
                  <a:gd name="T24" fmla="*/ 6 w 102"/>
                  <a:gd name="T25" fmla="*/ 38 h 77"/>
                  <a:gd name="T26" fmla="*/ 8 w 102"/>
                  <a:gd name="T27" fmla="*/ 57 h 77"/>
                  <a:gd name="T28" fmla="*/ 7 w 102"/>
                  <a:gd name="T29" fmla="*/ 57 h 77"/>
                  <a:gd name="T30" fmla="*/ 7 w 102"/>
                  <a:gd name="T31" fmla="*/ 64 h 77"/>
                  <a:gd name="T32" fmla="*/ 5 w 102"/>
                  <a:gd name="T33" fmla="*/ 57 h 77"/>
                  <a:gd name="T34" fmla="*/ 3 w 102"/>
                  <a:gd name="T35" fmla="*/ 57 h 77"/>
                  <a:gd name="T36" fmla="*/ 0 w 102"/>
                  <a:gd name="T37" fmla="*/ 38 h 77"/>
                  <a:gd name="T38" fmla="*/ 3 w 102"/>
                  <a:gd name="T39" fmla="*/ 15 h 77"/>
                  <a:gd name="T40" fmla="*/ 3 w 102"/>
                  <a:gd name="T41" fmla="*/ 7 h 7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2"/>
                  <a:gd name="T64" fmla="*/ 0 h 77"/>
                  <a:gd name="T65" fmla="*/ 102 w 102"/>
                  <a:gd name="T66" fmla="*/ 77 h 7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2" h="77">
                    <a:moveTo>
                      <a:pt x="18" y="7"/>
                    </a:moveTo>
                    <a:lnTo>
                      <a:pt x="50" y="0"/>
                    </a:lnTo>
                    <a:lnTo>
                      <a:pt x="68" y="0"/>
                    </a:lnTo>
                    <a:lnTo>
                      <a:pt x="93" y="7"/>
                    </a:lnTo>
                    <a:lnTo>
                      <a:pt x="101" y="0"/>
                    </a:lnTo>
                    <a:lnTo>
                      <a:pt x="93" y="15"/>
                    </a:lnTo>
                    <a:lnTo>
                      <a:pt x="68" y="7"/>
                    </a:lnTo>
                    <a:lnTo>
                      <a:pt x="60" y="15"/>
                    </a:lnTo>
                    <a:lnTo>
                      <a:pt x="60" y="30"/>
                    </a:lnTo>
                    <a:lnTo>
                      <a:pt x="50" y="30"/>
                    </a:lnTo>
                    <a:lnTo>
                      <a:pt x="42" y="15"/>
                    </a:lnTo>
                    <a:lnTo>
                      <a:pt x="42" y="30"/>
                    </a:lnTo>
                    <a:lnTo>
                      <a:pt x="50" y="46"/>
                    </a:lnTo>
                    <a:lnTo>
                      <a:pt x="68" y="69"/>
                    </a:lnTo>
                    <a:lnTo>
                      <a:pt x="60" y="69"/>
                    </a:lnTo>
                    <a:lnTo>
                      <a:pt x="60" y="76"/>
                    </a:lnTo>
                    <a:lnTo>
                      <a:pt x="42" y="69"/>
                    </a:lnTo>
                    <a:lnTo>
                      <a:pt x="18" y="69"/>
                    </a:lnTo>
                    <a:lnTo>
                      <a:pt x="0" y="38"/>
                    </a:lnTo>
                    <a:lnTo>
                      <a:pt x="18" y="15"/>
                    </a:lnTo>
                    <a:lnTo>
                      <a:pt x="18"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5" name="Freeform 201"/>
              <p:cNvSpPr>
                <a:spLocks/>
              </p:cNvSpPr>
              <p:nvPr/>
            </p:nvSpPr>
            <p:spPr bwMode="auto">
              <a:xfrm>
                <a:off x="4246713" y="2872805"/>
                <a:ext cx="39083" cy="56848"/>
              </a:xfrm>
              <a:custGeom>
                <a:avLst/>
                <a:gdLst>
                  <a:gd name="T0" fmla="*/ 0 w 26"/>
                  <a:gd name="T1" fmla="*/ 31 h 32"/>
                  <a:gd name="T2" fmla="*/ 3 w 26"/>
                  <a:gd name="T3" fmla="*/ 15 h 32"/>
                  <a:gd name="T4" fmla="*/ 3 w 26"/>
                  <a:gd name="T5" fmla="*/ 0 h 32"/>
                  <a:gd name="T6" fmla="*/ 0 w 26"/>
                  <a:gd name="T7" fmla="*/ 15 h 32"/>
                  <a:gd name="T8" fmla="*/ 0 w 26"/>
                  <a:gd name="T9" fmla="*/ 31 h 32"/>
                  <a:gd name="T10" fmla="*/ 0 60000 65536"/>
                  <a:gd name="T11" fmla="*/ 0 60000 65536"/>
                  <a:gd name="T12" fmla="*/ 0 60000 65536"/>
                  <a:gd name="T13" fmla="*/ 0 60000 65536"/>
                  <a:gd name="T14" fmla="*/ 0 60000 65536"/>
                  <a:gd name="T15" fmla="*/ 0 w 26"/>
                  <a:gd name="T16" fmla="*/ 0 h 32"/>
                  <a:gd name="T17" fmla="*/ 26 w 26"/>
                  <a:gd name="T18" fmla="*/ 32 h 32"/>
                </a:gdLst>
                <a:ahLst/>
                <a:cxnLst>
                  <a:cxn ang="T10">
                    <a:pos x="T0" y="T1"/>
                  </a:cxn>
                  <a:cxn ang="T11">
                    <a:pos x="T2" y="T3"/>
                  </a:cxn>
                  <a:cxn ang="T12">
                    <a:pos x="T4" y="T5"/>
                  </a:cxn>
                  <a:cxn ang="T13">
                    <a:pos x="T6" y="T7"/>
                  </a:cxn>
                  <a:cxn ang="T14">
                    <a:pos x="T8" y="T9"/>
                  </a:cxn>
                </a:cxnLst>
                <a:rect l="T15" t="T16" r="T17" b="T18"/>
                <a:pathLst>
                  <a:path w="26" h="32">
                    <a:moveTo>
                      <a:pt x="0" y="31"/>
                    </a:moveTo>
                    <a:lnTo>
                      <a:pt x="9" y="15"/>
                    </a:lnTo>
                    <a:lnTo>
                      <a:pt x="25" y="0"/>
                    </a:lnTo>
                    <a:lnTo>
                      <a:pt x="0" y="15"/>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6" name="Freeform 202"/>
              <p:cNvSpPr>
                <a:spLocks/>
              </p:cNvSpPr>
              <p:nvPr/>
            </p:nvSpPr>
            <p:spPr bwMode="auto">
              <a:xfrm>
                <a:off x="4246713" y="2872805"/>
                <a:ext cx="39083" cy="56848"/>
              </a:xfrm>
              <a:custGeom>
                <a:avLst/>
                <a:gdLst>
                  <a:gd name="T0" fmla="*/ 0 w 26"/>
                  <a:gd name="T1" fmla="*/ 31 h 32"/>
                  <a:gd name="T2" fmla="*/ 3 w 26"/>
                  <a:gd name="T3" fmla="*/ 15 h 32"/>
                  <a:gd name="T4" fmla="*/ 3 w 26"/>
                  <a:gd name="T5" fmla="*/ 0 h 32"/>
                  <a:gd name="T6" fmla="*/ 0 w 26"/>
                  <a:gd name="T7" fmla="*/ 15 h 32"/>
                  <a:gd name="T8" fmla="*/ 0 w 26"/>
                  <a:gd name="T9" fmla="*/ 31 h 32"/>
                  <a:gd name="T10" fmla="*/ 0 60000 65536"/>
                  <a:gd name="T11" fmla="*/ 0 60000 65536"/>
                  <a:gd name="T12" fmla="*/ 0 60000 65536"/>
                  <a:gd name="T13" fmla="*/ 0 60000 65536"/>
                  <a:gd name="T14" fmla="*/ 0 60000 65536"/>
                  <a:gd name="T15" fmla="*/ 0 w 26"/>
                  <a:gd name="T16" fmla="*/ 0 h 32"/>
                  <a:gd name="T17" fmla="*/ 26 w 26"/>
                  <a:gd name="T18" fmla="*/ 32 h 32"/>
                </a:gdLst>
                <a:ahLst/>
                <a:cxnLst>
                  <a:cxn ang="T10">
                    <a:pos x="T0" y="T1"/>
                  </a:cxn>
                  <a:cxn ang="T11">
                    <a:pos x="T2" y="T3"/>
                  </a:cxn>
                  <a:cxn ang="T12">
                    <a:pos x="T4" y="T5"/>
                  </a:cxn>
                  <a:cxn ang="T13">
                    <a:pos x="T6" y="T7"/>
                  </a:cxn>
                  <a:cxn ang="T14">
                    <a:pos x="T8" y="T9"/>
                  </a:cxn>
                </a:cxnLst>
                <a:rect l="T15" t="T16" r="T17" b="T18"/>
                <a:pathLst>
                  <a:path w="26" h="32">
                    <a:moveTo>
                      <a:pt x="0" y="31"/>
                    </a:moveTo>
                    <a:lnTo>
                      <a:pt x="9" y="15"/>
                    </a:lnTo>
                    <a:lnTo>
                      <a:pt x="25" y="0"/>
                    </a:lnTo>
                    <a:lnTo>
                      <a:pt x="0" y="15"/>
                    </a:lnTo>
                    <a:lnTo>
                      <a:pt x="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7" name="Freeform 203"/>
              <p:cNvSpPr>
                <a:spLocks/>
              </p:cNvSpPr>
              <p:nvPr/>
            </p:nvSpPr>
            <p:spPr bwMode="auto">
              <a:xfrm>
                <a:off x="4658858" y="3006042"/>
                <a:ext cx="14212" cy="42636"/>
              </a:xfrm>
              <a:custGeom>
                <a:avLst/>
                <a:gdLst>
                  <a:gd name="T0" fmla="*/ 0 w 9"/>
                  <a:gd name="T1" fmla="*/ 7 h 24"/>
                  <a:gd name="T2" fmla="*/ 0 w 9"/>
                  <a:gd name="T3" fmla="*/ 23 h 24"/>
                  <a:gd name="T4" fmla="*/ 4 w 9"/>
                  <a:gd name="T5" fmla="*/ 23 h 24"/>
                  <a:gd name="T6" fmla="*/ 4 w 9"/>
                  <a:gd name="T7" fmla="*/ 7 h 24"/>
                  <a:gd name="T8" fmla="*/ 4 w 9"/>
                  <a:gd name="T9" fmla="*/ 0 h 24"/>
                  <a:gd name="T10" fmla="*/ 0 w 9"/>
                  <a:gd name="T11" fmla="*/ 7 h 24"/>
                  <a:gd name="T12" fmla="*/ 0 60000 65536"/>
                  <a:gd name="T13" fmla="*/ 0 60000 65536"/>
                  <a:gd name="T14" fmla="*/ 0 60000 65536"/>
                  <a:gd name="T15" fmla="*/ 0 60000 65536"/>
                  <a:gd name="T16" fmla="*/ 0 60000 65536"/>
                  <a:gd name="T17" fmla="*/ 0 60000 65536"/>
                  <a:gd name="T18" fmla="*/ 0 w 9"/>
                  <a:gd name="T19" fmla="*/ 0 h 24"/>
                  <a:gd name="T20" fmla="*/ 9 w 9"/>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9" h="24">
                    <a:moveTo>
                      <a:pt x="0" y="7"/>
                    </a:moveTo>
                    <a:lnTo>
                      <a:pt x="0" y="23"/>
                    </a:lnTo>
                    <a:lnTo>
                      <a:pt x="8" y="23"/>
                    </a:lnTo>
                    <a:lnTo>
                      <a:pt x="8" y="7"/>
                    </a:lnTo>
                    <a:lnTo>
                      <a:pt x="8"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8" name="Freeform 204"/>
              <p:cNvSpPr>
                <a:spLocks/>
              </p:cNvSpPr>
              <p:nvPr/>
            </p:nvSpPr>
            <p:spPr bwMode="auto">
              <a:xfrm>
                <a:off x="4658858" y="3006042"/>
                <a:ext cx="14212" cy="42636"/>
              </a:xfrm>
              <a:custGeom>
                <a:avLst/>
                <a:gdLst>
                  <a:gd name="T0" fmla="*/ 0 w 9"/>
                  <a:gd name="T1" fmla="*/ 7 h 24"/>
                  <a:gd name="T2" fmla="*/ 0 w 9"/>
                  <a:gd name="T3" fmla="*/ 23 h 24"/>
                  <a:gd name="T4" fmla="*/ 4 w 9"/>
                  <a:gd name="T5" fmla="*/ 23 h 24"/>
                  <a:gd name="T6" fmla="*/ 4 w 9"/>
                  <a:gd name="T7" fmla="*/ 7 h 24"/>
                  <a:gd name="T8" fmla="*/ 4 w 9"/>
                  <a:gd name="T9" fmla="*/ 0 h 24"/>
                  <a:gd name="T10" fmla="*/ 0 w 9"/>
                  <a:gd name="T11" fmla="*/ 7 h 24"/>
                  <a:gd name="T12" fmla="*/ 0 60000 65536"/>
                  <a:gd name="T13" fmla="*/ 0 60000 65536"/>
                  <a:gd name="T14" fmla="*/ 0 60000 65536"/>
                  <a:gd name="T15" fmla="*/ 0 60000 65536"/>
                  <a:gd name="T16" fmla="*/ 0 60000 65536"/>
                  <a:gd name="T17" fmla="*/ 0 60000 65536"/>
                  <a:gd name="T18" fmla="*/ 0 w 9"/>
                  <a:gd name="T19" fmla="*/ 0 h 24"/>
                  <a:gd name="T20" fmla="*/ 9 w 9"/>
                  <a:gd name="T21" fmla="*/ 24 h 24"/>
                </a:gdLst>
                <a:ahLst/>
                <a:cxnLst>
                  <a:cxn ang="T12">
                    <a:pos x="T0" y="T1"/>
                  </a:cxn>
                  <a:cxn ang="T13">
                    <a:pos x="T2" y="T3"/>
                  </a:cxn>
                  <a:cxn ang="T14">
                    <a:pos x="T4" y="T5"/>
                  </a:cxn>
                  <a:cxn ang="T15">
                    <a:pos x="T6" y="T7"/>
                  </a:cxn>
                  <a:cxn ang="T16">
                    <a:pos x="T8" y="T9"/>
                  </a:cxn>
                  <a:cxn ang="T17">
                    <a:pos x="T10" y="T11"/>
                  </a:cxn>
                </a:cxnLst>
                <a:rect l="T18" t="T19" r="T20" b="T21"/>
                <a:pathLst>
                  <a:path w="9" h="24">
                    <a:moveTo>
                      <a:pt x="0" y="7"/>
                    </a:moveTo>
                    <a:lnTo>
                      <a:pt x="0" y="23"/>
                    </a:lnTo>
                    <a:lnTo>
                      <a:pt x="8" y="23"/>
                    </a:lnTo>
                    <a:lnTo>
                      <a:pt x="8" y="7"/>
                    </a:lnTo>
                    <a:lnTo>
                      <a:pt x="8" y="0"/>
                    </a:lnTo>
                    <a:lnTo>
                      <a:pt x="0"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59" name="Freeform 205"/>
              <p:cNvSpPr>
                <a:spLocks/>
              </p:cNvSpPr>
              <p:nvPr/>
            </p:nvSpPr>
            <p:spPr bwMode="auto">
              <a:xfrm>
                <a:off x="4681953" y="2993607"/>
                <a:ext cx="40859" cy="28424"/>
              </a:xfrm>
              <a:custGeom>
                <a:avLst/>
                <a:gdLst>
                  <a:gd name="T0" fmla="*/ 0 w 27"/>
                  <a:gd name="T1" fmla="*/ 8 h 16"/>
                  <a:gd name="T2" fmla="*/ 0 w 27"/>
                  <a:gd name="T3" fmla="*/ 15 h 16"/>
                  <a:gd name="T4" fmla="*/ 4 w 27"/>
                  <a:gd name="T5" fmla="*/ 15 h 16"/>
                  <a:gd name="T6" fmla="*/ 4 w 27"/>
                  <a:gd name="T7" fmla="*/ 8 h 16"/>
                  <a:gd name="T8" fmla="*/ 4 w 27"/>
                  <a:gd name="T9" fmla="*/ 0 h 16"/>
                  <a:gd name="T10" fmla="*/ 0 w 27"/>
                  <a:gd name="T11" fmla="*/ 8 h 16"/>
                  <a:gd name="T12" fmla="*/ 0 60000 65536"/>
                  <a:gd name="T13" fmla="*/ 0 60000 65536"/>
                  <a:gd name="T14" fmla="*/ 0 60000 65536"/>
                  <a:gd name="T15" fmla="*/ 0 60000 65536"/>
                  <a:gd name="T16" fmla="*/ 0 60000 65536"/>
                  <a:gd name="T17" fmla="*/ 0 60000 65536"/>
                  <a:gd name="T18" fmla="*/ 0 w 27"/>
                  <a:gd name="T19" fmla="*/ 0 h 16"/>
                  <a:gd name="T20" fmla="*/ 27 w 27"/>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7" h="16">
                    <a:moveTo>
                      <a:pt x="0" y="8"/>
                    </a:moveTo>
                    <a:lnTo>
                      <a:pt x="0" y="15"/>
                    </a:lnTo>
                    <a:lnTo>
                      <a:pt x="26" y="15"/>
                    </a:lnTo>
                    <a:lnTo>
                      <a:pt x="26" y="8"/>
                    </a:lnTo>
                    <a:lnTo>
                      <a:pt x="26"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0" name="Freeform 206"/>
              <p:cNvSpPr>
                <a:spLocks/>
              </p:cNvSpPr>
              <p:nvPr/>
            </p:nvSpPr>
            <p:spPr bwMode="auto">
              <a:xfrm>
                <a:off x="4681953" y="2993607"/>
                <a:ext cx="40859" cy="28424"/>
              </a:xfrm>
              <a:custGeom>
                <a:avLst/>
                <a:gdLst>
                  <a:gd name="T0" fmla="*/ 0 w 27"/>
                  <a:gd name="T1" fmla="*/ 8 h 16"/>
                  <a:gd name="T2" fmla="*/ 0 w 27"/>
                  <a:gd name="T3" fmla="*/ 15 h 16"/>
                  <a:gd name="T4" fmla="*/ 4 w 27"/>
                  <a:gd name="T5" fmla="*/ 15 h 16"/>
                  <a:gd name="T6" fmla="*/ 4 w 27"/>
                  <a:gd name="T7" fmla="*/ 8 h 16"/>
                  <a:gd name="T8" fmla="*/ 4 w 27"/>
                  <a:gd name="T9" fmla="*/ 0 h 16"/>
                  <a:gd name="T10" fmla="*/ 0 w 27"/>
                  <a:gd name="T11" fmla="*/ 8 h 16"/>
                  <a:gd name="T12" fmla="*/ 0 60000 65536"/>
                  <a:gd name="T13" fmla="*/ 0 60000 65536"/>
                  <a:gd name="T14" fmla="*/ 0 60000 65536"/>
                  <a:gd name="T15" fmla="*/ 0 60000 65536"/>
                  <a:gd name="T16" fmla="*/ 0 60000 65536"/>
                  <a:gd name="T17" fmla="*/ 0 60000 65536"/>
                  <a:gd name="T18" fmla="*/ 0 w 27"/>
                  <a:gd name="T19" fmla="*/ 0 h 16"/>
                  <a:gd name="T20" fmla="*/ 27 w 27"/>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7" h="16">
                    <a:moveTo>
                      <a:pt x="0" y="8"/>
                    </a:moveTo>
                    <a:lnTo>
                      <a:pt x="0" y="15"/>
                    </a:lnTo>
                    <a:lnTo>
                      <a:pt x="26" y="15"/>
                    </a:lnTo>
                    <a:lnTo>
                      <a:pt x="26" y="8"/>
                    </a:lnTo>
                    <a:lnTo>
                      <a:pt x="26" y="0"/>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1" name="Freeform 207"/>
              <p:cNvSpPr>
                <a:spLocks/>
              </p:cNvSpPr>
              <p:nvPr/>
            </p:nvSpPr>
            <p:spPr bwMode="auto">
              <a:xfrm>
                <a:off x="4681953" y="3046902"/>
                <a:ext cx="40859" cy="15988"/>
              </a:xfrm>
              <a:custGeom>
                <a:avLst/>
                <a:gdLst>
                  <a:gd name="T0" fmla="*/ 0 w 27"/>
                  <a:gd name="T1" fmla="*/ 0 h 8"/>
                  <a:gd name="T2" fmla="*/ 0 w 27"/>
                  <a:gd name="T3" fmla="*/ 27 h 8"/>
                  <a:gd name="T4" fmla="*/ 4 w 27"/>
                  <a:gd name="T5" fmla="*/ 0 h 8"/>
                  <a:gd name="T6" fmla="*/ 0 w 27"/>
                  <a:gd name="T7" fmla="*/ 0 h 8"/>
                  <a:gd name="T8" fmla="*/ 0 60000 65536"/>
                  <a:gd name="T9" fmla="*/ 0 60000 65536"/>
                  <a:gd name="T10" fmla="*/ 0 60000 65536"/>
                  <a:gd name="T11" fmla="*/ 0 60000 65536"/>
                  <a:gd name="T12" fmla="*/ 0 w 27"/>
                  <a:gd name="T13" fmla="*/ 0 h 8"/>
                  <a:gd name="T14" fmla="*/ 27 w 27"/>
                  <a:gd name="T15" fmla="*/ 8 h 8"/>
                </a:gdLst>
                <a:ahLst/>
                <a:cxnLst>
                  <a:cxn ang="T8">
                    <a:pos x="T0" y="T1"/>
                  </a:cxn>
                  <a:cxn ang="T9">
                    <a:pos x="T2" y="T3"/>
                  </a:cxn>
                  <a:cxn ang="T10">
                    <a:pos x="T4" y="T5"/>
                  </a:cxn>
                  <a:cxn ang="T11">
                    <a:pos x="T6" y="T7"/>
                  </a:cxn>
                </a:cxnLst>
                <a:rect l="T12" t="T13" r="T14" b="T15"/>
                <a:pathLst>
                  <a:path w="27" h="8">
                    <a:moveTo>
                      <a:pt x="0" y="0"/>
                    </a:moveTo>
                    <a:lnTo>
                      <a:pt x="0" y="7"/>
                    </a:lnTo>
                    <a:lnTo>
                      <a:pt x="2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2" name="Freeform 208"/>
              <p:cNvSpPr>
                <a:spLocks/>
              </p:cNvSpPr>
              <p:nvPr/>
            </p:nvSpPr>
            <p:spPr bwMode="auto">
              <a:xfrm>
                <a:off x="4681953" y="3046902"/>
                <a:ext cx="40859" cy="15988"/>
              </a:xfrm>
              <a:custGeom>
                <a:avLst/>
                <a:gdLst>
                  <a:gd name="T0" fmla="*/ 0 w 27"/>
                  <a:gd name="T1" fmla="*/ 0 h 8"/>
                  <a:gd name="T2" fmla="*/ 0 w 27"/>
                  <a:gd name="T3" fmla="*/ 27 h 8"/>
                  <a:gd name="T4" fmla="*/ 4 w 27"/>
                  <a:gd name="T5" fmla="*/ 0 h 8"/>
                  <a:gd name="T6" fmla="*/ 0 w 27"/>
                  <a:gd name="T7" fmla="*/ 0 h 8"/>
                  <a:gd name="T8" fmla="*/ 0 60000 65536"/>
                  <a:gd name="T9" fmla="*/ 0 60000 65536"/>
                  <a:gd name="T10" fmla="*/ 0 60000 65536"/>
                  <a:gd name="T11" fmla="*/ 0 60000 65536"/>
                  <a:gd name="T12" fmla="*/ 0 w 27"/>
                  <a:gd name="T13" fmla="*/ 0 h 8"/>
                  <a:gd name="T14" fmla="*/ 27 w 27"/>
                  <a:gd name="T15" fmla="*/ 8 h 8"/>
                </a:gdLst>
                <a:ahLst/>
                <a:cxnLst>
                  <a:cxn ang="T8">
                    <a:pos x="T0" y="T1"/>
                  </a:cxn>
                  <a:cxn ang="T9">
                    <a:pos x="T2" y="T3"/>
                  </a:cxn>
                  <a:cxn ang="T10">
                    <a:pos x="T4" y="T5"/>
                  </a:cxn>
                  <a:cxn ang="T11">
                    <a:pos x="T6" y="T7"/>
                  </a:cxn>
                </a:cxnLst>
                <a:rect l="T12" t="T13" r="T14" b="T15"/>
                <a:pathLst>
                  <a:path w="27" h="8">
                    <a:moveTo>
                      <a:pt x="0" y="0"/>
                    </a:moveTo>
                    <a:lnTo>
                      <a:pt x="0" y="7"/>
                    </a:lnTo>
                    <a:lnTo>
                      <a:pt x="26"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3" name="Freeform 209"/>
              <p:cNvSpPr>
                <a:spLocks/>
              </p:cNvSpPr>
              <p:nvPr/>
            </p:nvSpPr>
            <p:spPr bwMode="auto">
              <a:xfrm>
                <a:off x="4260925" y="2872805"/>
                <a:ext cx="198967" cy="389052"/>
              </a:xfrm>
              <a:custGeom>
                <a:avLst/>
                <a:gdLst>
                  <a:gd name="T0" fmla="*/ 3 w 134"/>
                  <a:gd name="T1" fmla="*/ 179 h 223"/>
                  <a:gd name="T2" fmla="*/ 4 w 134"/>
                  <a:gd name="T3" fmla="*/ 167 h 223"/>
                  <a:gd name="T4" fmla="*/ 6 w 134"/>
                  <a:gd name="T5" fmla="*/ 179 h 223"/>
                  <a:gd name="T6" fmla="*/ 6 w 134"/>
                  <a:gd name="T7" fmla="*/ 167 h 223"/>
                  <a:gd name="T8" fmla="*/ 8 w 134"/>
                  <a:gd name="T9" fmla="*/ 162 h 223"/>
                  <a:gd name="T10" fmla="*/ 9 w 134"/>
                  <a:gd name="T11" fmla="*/ 167 h 223"/>
                  <a:gd name="T12" fmla="*/ 9 w 134"/>
                  <a:gd name="T13" fmla="*/ 162 h 223"/>
                  <a:gd name="T14" fmla="*/ 15 w 134"/>
                  <a:gd name="T15" fmla="*/ 162 h 223"/>
                  <a:gd name="T16" fmla="*/ 16 w 134"/>
                  <a:gd name="T17" fmla="*/ 155 h 223"/>
                  <a:gd name="T18" fmla="*/ 13 w 134"/>
                  <a:gd name="T19" fmla="*/ 155 h 223"/>
                  <a:gd name="T20" fmla="*/ 16 w 134"/>
                  <a:gd name="T21" fmla="*/ 129 h 223"/>
                  <a:gd name="T22" fmla="*/ 15 w 134"/>
                  <a:gd name="T23" fmla="*/ 124 h 223"/>
                  <a:gd name="T24" fmla="*/ 13 w 134"/>
                  <a:gd name="T25" fmla="*/ 124 h 223"/>
                  <a:gd name="T26" fmla="*/ 11 w 134"/>
                  <a:gd name="T27" fmla="*/ 124 h 223"/>
                  <a:gd name="T28" fmla="*/ 13 w 134"/>
                  <a:gd name="T29" fmla="*/ 119 h 223"/>
                  <a:gd name="T30" fmla="*/ 13 w 134"/>
                  <a:gd name="T31" fmla="*/ 114 h 223"/>
                  <a:gd name="T32" fmla="*/ 11 w 134"/>
                  <a:gd name="T33" fmla="*/ 91 h 223"/>
                  <a:gd name="T34" fmla="*/ 11 w 134"/>
                  <a:gd name="T35" fmla="*/ 83 h 223"/>
                  <a:gd name="T36" fmla="*/ 9 w 134"/>
                  <a:gd name="T37" fmla="*/ 64 h 223"/>
                  <a:gd name="T38" fmla="*/ 6 w 134"/>
                  <a:gd name="T39" fmla="*/ 56 h 223"/>
                  <a:gd name="T40" fmla="*/ 9 w 134"/>
                  <a:gd name="T41" fmla="*/ 27 h 223"/>
                  <a:gd name="T42" fmla="*/ 9 w 134"/>
                  <a:gd name="T43" fmla="*/ 23 h 223"/>
                  <a:gd name="T44" fmla="*/ 5 w 134"/>
                  <a:gd name="T45" fmla="*/ 27 h 223"/>
                  <a:gd name="T46" fmla="*/ 5 w 134"/>
                  <a:gd name="T47" fmla="*/ 15 h 223"/>
                  <a:gd name="T48" fmla="*/ 8 w 134"/>
                  <a:gd name="T49" fmla="*/ 0 h 223"/>
                  <a:gd name="T50" fmla="*/ 6 w 134"/>
                  <a:gd name="T51" fmla="*/ 0 h 223"/>
                  <a:gd name="T52" fmla="*/ 4 w 134"/>
                  <a:gd name="T53" fmla="*/ 0 h 223"/>
                  <a:gd name="T54" fmla="*/ 3 w 134"/>
                  <a:gd name="T55" fmla="*/ 27 h 223"/>
                  <a:gd name="T56" fmla="*/ 0 w 134"/>
                  <a:gd name="T57" fmla="*/ 27 h 223"/>
                  <a:gd name="T58" fmla="*/ 3 w 134"/>
                  <a:gd name="T59" fmla="*/ 27 h 223"/>
                  <a:gd name="T60" fmla="*/ 3 w 134"/>
                  <a:gd name="T61" fmla="*/ 27 h 223"/>
                  <a:gd name="T62" fmla="*/ 3 w 134"/>
                  <a:gd name="T63" fmla="*/ 49 h 223"/>
                  <a:gd name="T64" fmla="*/ 3 w 134"/>
                  <a:gd name="T65" fmla="*/ 49 h 223"/>
                  <a:gd name="T66" fmla="*/ 3 w 134"/>
                  <a:gd name="T67" fmla="*/ 56 h 223"/>
                  <a:gd name="T68" fmla="*/ 3 w 134"/>
                  <a:gd name="T69" fmla="*/ 64 h 223"/>
                  <a:gd name="T70" fmla="*/ 3 w 134"/>
                  <a:gd name="T71" fmla="*/ 64 h 223"/>
                  <a:gd name="T72" fmla="*/ 4 w 134"/>
                  <a:gd name="T73" fmla="*/ 71 h 223"/>
                  <a:gd name="T74" fmla="*/ 3 w 134"/>
                  <a:gd name="T75" fmla="*/ 79 h 223"/>
                  <a:gd name="T76" fmla="*/ 4 w 134"/>
                  <a:gd name="T77" fmla="*/ 83 h 223"/>
                  <a:gd name="T78" fmla="*/ 6 w 134"/>
                  <a:gd name="T79" fmla="*/ 79 h 223"/>
                  <a:gd name="T80" fmla="*/ 6 w 134"/>
                  <a:gd name="T81" fmla="*/ 83 h 223"/>
                  <a:gd name="T82" fmla="*/ 6 w 134"/>
                  <a:gd name="T83" fmla="*/ 91 h 223"/>
                  <a:gd name="T84" fmla="*/ 8 w 134"/>
                  <a:gd name="T85" fmla="*/ 91 h 223"/>
                  <a:gd name="T86" fmla="*/ 8 w 134"/>
                  <a:gd name="T87" fmla="*/ 114 h 223"/>
                  <a:gd name="T88" fmla="*/ 4 w 134"/>
                  <a:gd name="T89" fmla="*/ 114 h 223"/>
                  <a:gd name="T90" fmla="*/ 5 w 134"/>
                  <a:gd name="T91" fmla="*/ 119 h 223"/>
                  <a:gd name="T92" fmla="*/ 4 w 134"/>
                  <a:gd name="T93" fmla="*/ 124 h 223"/>
                  <a:gd name="T94" fmla="*/ 5 w 134"/>
                  <a:gd name="T95" fmla="*/ 124 h 223"/>
                  <a:gd name="T96" fmla="*/ 5 w 134"/>
                  <a:gd name="T97" fmla="*/ 129 h 223"/>
                  <a:gd name="T98" fmla="*/ 3 w 134"/>
                  <a:gd name="T99" fmla="*/ 134 h 223"/>
                  <a:gd name="T100" fmla="*/ 4 w 134"/>
                  <a:gd name="T101" fmla="*/ 147 h 223"/>
                  <a:gd name="T102" fmla="*/ 5 w 134"/>
                  <a:gd name="T103" fmla="*/ 147 h 223"/>
                  <a:gd name="T104" fmla="*/ 6 w 134"/>
                  <a:gd name="T105" fmla="*/ 155 h 223"/>
                  <a:gd name="T106" fmla="*/ 8 w 134"/>
                  <a:gd name="T107" fmla="*/ 147 h 223"/>
                  <a:gd name="T108" fmla="*/ 8 w 134"/>
                  <a:gd name="T109" fmla="*/ 155 h 223"/>
                  <a:gd name="T110" fmla="*/ 5 w 134"/>
                  <a:gd name="T111" fmla="*/ 155 h 223"/>
                  <a:gd name="T112" fmla="*/ 3 w 134"/>
                  <a:gd name="T113" fmla="*/ 179 h 22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34"/>
                  <a:gd name="T172" fmla="*/ 0 h 223"/>
                  <a:gd name="T173" fmla="*/ 134 w 134"/>
                  <a:gd name="T174" fmla="*/ 223 h 22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34" h="223">
                    <a:moveTo>
                      <a:pt x="24" y="222"/>
                    </a:moveTo>
                    <a:lnTo>
                      <a:pt x="32" y="206"/>
                    </a:lnTo>
                    <a:lnTo>
                      <a:pt x="50" y="222"/>
                    </a:lnTo>
                    <a:lnTo>
                      <a:pt x="50" y="206"/>
                    </a:lnTo>
                    <a:lnTo>
                      <a:pt x="66" y="199"/>
                    </a:lnTo>
                    <a:lnTo>
                      <a:pt x="74" y="206"/>
                    </a:lnTo>
                    <a:lnTo>
                      <a:pt x="83" y="199"/>
                    </a:lnTo>
                    <a:lnTo>
                      <a:pt x="124" y="199"/>
                    </a:lnTo>
                    <a:lnTo>
                      <a:pt x="133" y="191"/>
                    </a:lnTo>
                    <a:lnTo>
                      <a:pt x="116" y="191"/>
                    </a:lnTo>
                    <a:lnTo>
                      <a:pt x="133" y="160"/>
                    </a:lnTo>
                    <a:lnTo>
                      <a:pt x="124" y="153"/>
                    </a:lnTo>
                    <a:lnTo>
                      <a:pt x="116" y="153"/>
                    </a:lnTo>
                    <a:lnTo>
                      <a:pt x="100" y="153"/>
                    </a:lnTo>
                    <a:lnTo>
                      <a:pt x="116" y="145"/>
                    </a:lnTo>
                    <a:lnTo>
                      <a:pt x="116" y="138"/>
                    </a:lnTo>
                    <a:lnTo>
                      <a:pt x="100" y="115"/>
                    </a:lnTo>
                    <a:lnTo>
                      <a:pt x="91" y="107"/>
                    </a:lnTo>
                    <a:lnTo>
                      <a:pt x="74" y="76"/>
                    </a:lnTo>
                    <a:lnTo>
                      <a:pt x="50" y="68"/>
                    </a:lnTo>
                    <a:lnTo>
                      <a:pt x="83" y="31"/>
                    </a:lnTo>
                    <a:lnTo>
                      <a:pt x="74" y="23"/>
                    </a:lnTo>
                    <a:lnTo>
                      <a:pt x="41" y="31"/>
                    </a:lnTo>
                    <a:lnTo>
                      <a:pt x="41" y="15"/>
                    </a:lnTo>
                    <a:lnTo>
                      <a:pt x="66" y="0"/>
                    </a:lnTo>
                    <a:lnTo>
                      <a:pt x="50" y="0"/>
                    </a:lnTo>
                    <a:lnTo>
                      <a:pt x="32" y="0"/>
                    </a:lnTo>
                    <a:lnTo>
                      <a:pt x="16" y="31"/>
                    </a:lnTo>
                    <a:lnTo>
                      <a:pt x="0" y="31"/>
                    </a:lnTo>
                    <a:lnTo>
                      <a:pt x="16" y="38"/>
                    </a:lnTo>
                    <a:lnTo>
                      <a:pt x="24" y="38"/>
                    </a:lnTo>
                    <a:lnTo>
                      <a:pt x="16" y="61"/>
                    </a:lnTo>
                    <a:lnTo>
                      <a:pt x="24" y="61"/>
                    </a:lnTo>
                    <a:lnTo>
                      <a:pt x="24" y="68"/>
                    </a:lnTo>
                    <a:lnTo>
                      <a:pt x="16" y="76"/>
                    </a:lnTo>
                    <a:lnTo>
                      <a:pt x="24" y="76"/>
                    </a:lnTo>
                    <a:lnTo>
                      <a:pt x="32" y="84"/>
                    </a:lnTo>
                    <a:lnTo>
                      <a:pt x="24" y="99"/>
                    </a:lnTo>
                    <a:lnTo>
                      <a:pt x="32" y="107"/>
                    </a:lnTo>
                    <a:lnTo>
                      <a:pt x="50" y="99"/>
                    </a:lnTo>
                    <a:lnTo>
                      <a:pt x="50" y="107"/>
                    </a:lnTo>
                    <a:lnTo>
                      <a:pt x="50" y="115"/>
                    </a:lnTo>
                    <a:lnTo>
                      <a:pt x="66" y="115"/>
                    </a:lnTo>
                    <a:lnTo>
                      <a:pt x="66" y="138"/>
                    </a:lnTo>
                    <a:lnTo>
                      <a:pt x="32" y="138"/>
                    </a:lnTo>
                    <a:lnTo>
                      <a:pt x="41" y="145"/>
                    </a:lnTo>
                    <a:lnTo>
                      <a:pt x="32" y="153"/>
                    </a:lnTo>
                    <a:lnTo>
                      <a:pt x="41" y="153"/>
                    </a:lnTo>
                    <a:lnTo>
                      <a:pt x="41" y="160"/>
                    </a:lnTo>
                    <a:lnTo>
                      <a:pt x="24" y="168"/>
                    </a:lnTo>
                    <a:lnTo>
                      <a:pt x="32" y="183"/>
                    </a:lnTo>
                    <a:lnTo>
                      <a:pt x="41" y="183"/>
                    </a:lnTo>
                    <a:lnTo>
                      <a:pt x="50" y="191"/>
                    </a:lnTo>
                    <a:lnTo>
                      <a:pt x="66" y="183"/>
                    </a:lnTo>
                    <a:lnTo>
                      <a:pt x="66" y="191"/>
                    </a:lnTo>
                    <a:lnTo>
                      <a:pt x="41" y="191"/>
                    </a:lnTo>
                    <a:lnTo>
                      <a:pt x="24" y="222"/>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4" name="Freeform 210"/>
              <p:cNvSpPr>
                <a:spLocks/>
              </p:cNvSpPr>
              <p:nvPr/>
            </p:nvSpPr>
            <p:spPr bwMode="auto">
              <a:xfrm>
                <a:off x="4607340" y="3576297"/>
                <a:ext cx="53295" cy="81719"/>
              </a:xfrm>
              <a:custGeom>
                <a:avLst/>
                <a:gdLst>
                  <a:gd name="T0" fmla="*/ 0 w 35"/>
                  <a:gd name="T1" fmla="*/ 0 h 47"/>
                  <a:gd name="T2" fmla="*/ 3 w 35"/>
                  <a:gd name="T3" fmla="*/ 26 h 47"/>
                  <a:gd name="T4" fmla="*/ 3 w 35"/>
                  <a:gd name="T5" fmla="*/ 34 h 47"/>
                  <a:gd name="T6" fmla="*/ 3 w 35"/>
                  <a:gd name="T7" fmla="*/ 26 h 47"/>
                  <a:gd name="T8" fmla="*/ 5 w 35"/>
                  <a:gd name="T9" fmla="*/ 7 h 47"/>
                  <a:gd name="T10" fmla="*/ 3 w 35"/>
                  <a:gd name="T11" fmla="*/ 0 h 47"/>
                  <a:gd name="T12" fmla="*/ 0 w 35"/>
                  <a:gd name="T13" fmla="*/ 0 h 47"/>
                  <a:gd name="T14" fmla="*/ 0 60000 65536"/>
                  <a:gd name="T15" fmla="*/ 0 60000 65536"/>
                  <a:gd name="T16" fmla="*/ 0 60000 65536"/>
                  <a:gd name="T17" fmla="*/ 0 60000 65536"/>
                  <a:gd name="T18" fmla="*/ 0 60000 65536"/>
                  <a:gd name="T19" fmla="*/ 0 60000 65536"/>
                  <a:gd name="T20" fmla="*/ 0 60000 65536"/>
                  <a:gd name="T21" fmla="*/ 0 w 35"/>
                  <a:gd name="T22" fmla="*/ 0 h 47"/>
                  <a:gd name="T23" fmla="*/ 35 w 35"/>
                  <a:gd name="T24" fmla="*/ 47 h 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7">
                    <a:moveTo>
                      <a:pt x="0" y="0"/>
                    </a:moveTo>
                    <a:lnTo>
                      <a:pt x="9" y="38"/>
                    </a:lnTo>
                    <a:lnTo>
                      <a:pt x="9" y="46"/>
                    </a:lnTo>
                    <a:lnTo>
                      <a:pt x="25" y="38"/>
                    </a:lnTo>
                    <a:lnTo>
                      <a:pt x="34" y="7"/>
                    </a:lnTo>
                    <a:lnTo>
                      <a:pt x="25"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5" name="Freeform 211"/>
              <p:cNvSpPr>
                <a:spLocks/>
              </p:cNvSpPr>
              <p:nvPr/>
            </p:nvSpPr>
            <p:spPr bwMode="auto">
              <a:xfrm>
                <a:off x="4721035" y="3681110"/>
                <a:ext cx="76389" cy="42636"/>
              </a:xfrm>
              <a:custGeom>
                <a:avLst/>
                <a:gdLst>
                  <a:gd name="T0" fmla="*/ 0 w 51"/>
                  <a:gd name="T1" fmla="*/ 0 h 24"/>
                  <a:gd name="T2" fmla="*/ 0 w 51"/>
                  <a:gd name="T3" fmla="*/ 7 h 24"/>
                  <a:gd name="T4" fmla="*/ 4 w 51"/>
                  <a:gd name="T5" fmla="*/ 23 h 24"/>
                  <a:gd name="T6" fmla="*/ 7 w 51"/>
                  <a:gd name="T7" fmla="*/ 0 h 24"/>
                  <a:gd name="T8" fmla="*/ 3 w 51"/>
                  <a:gd name="T9" fmla="*/ 0 h 24"/>
                  <a:gd name="T10" fmla="*/ 3 w 51"/>
                  <a:gd name="T11" fmla="*/ 0 h 24"/>
                  <a:gd name="T12" fmla="*/ 0 w 51"/>
                  <a:gd name="T13" fmla="*/ 0 h 24"/>
                  <a:gd name="T14" fmla="*/ 0 60000 65536"/>
                  <a:gd name="T15" fmla="*/ 0 60000 65536"/>
                  <a:gd name="T16" fmla="*/ 0 60000 65536"/>
                  <a:gd name="T17" fmla="*/ 0 60000 65536"/>
                  <a:gd name="T18" fmla="*/ 0 60000 65536"/>
                  <a:gd name="T19" fmla="*/ 0 60000 65536"/>
                  <a:gd name="T20" fmla="*/ 0 60000 65536"/>
                  <a:gd name="T21" fmla="*/ 0 w 51"/>
                  <a:gd name="T22" fmla="*/ 0 h 24"/>
                  <a:gd name="T23" fmla="*/ 51 w 51"/>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 h="24">
                    <a:moveTo>
                      <a:pt x="0" y="0"/>
                    </a:moveTo>
                    <a:lnTo>
                      <a:pt x="0" y="7"/>
                    </a:lnTo>
                    <a:lnTo>
                      <a:pt x="33" y="23"/>
                    </a:lnTo>
                    <a:lnTo>
                      <a:pt x="50" y="0"/>
                    </a:lnTo>
                    <a:lnTo>
                      <a:pt x="24" y="0"/>
                    </a:lnTo>
                    <a:lnTo>
                      <a:pt x="8" y="0"/>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6" name="Freeform 212"/>
              <p:cNvSpPr>
                <a:spLocks/>
              </p:cNvSpPr>
              <p:nvPr/>
            </p:nvSpPr>
            <p:spPr bwMode="auto">
              <a:xfrm>
                <a:off x="4882696" y="3524779"/>
                <a:ext cx="40859" cy="108366"/>
              </a:xfrm>
              <a:custGeom>
                <a:avLst/>
                <a:gdLst>
                  <a:gd name="T0" fmla="*/ 0 w 27"/>
                  <a:gd name="T1" fmla="*/ 0 h 62"/>
                  <a:gd name="T2" fmla="*/ 3 w 27"/>
                  <a:gd name="T3" fmla="*/ 0 h 62"/>
                  <a:gd name="T4" fmla="*/ 3 w 27"/>
                  <a:gd name="T5" fmla="*/ 14 h 62"/>
                  <a:gd name="T6" fmla="*/ 3 w 27"/>
                  <a:gd name="T7" fmla="*/ 23 h 62"/>
                  <a:gd name="T8" fmla="*/ 4 w 27"/>
                  <a:gd name="T9" fmla="*/ 30 h 62"/>
                  <a:gd name="T10" fmla="*/ 4 w 27"/>
                  <a:gd name="T11" fmla="*/ 31 h 62"/>
                  <a:gd name="T12" fmla="*/ 3 w 27"/>
                  <a:gd name="T13" fmla="*/ 49 h 62"/>
                  <a:gd name="T14" fmla="*/ 0 w 27"/>
                  <a:gd name="T15" fmla="*/ 41 h 62"/>
                  <a:gd name="T16" fmla="*/ 0 w 27"/>
                  <a:gd name="T17" fmla="*/ 14 h 62"/>
                  <a:gd name="T18" fmla="*/ 0 w 27"/>
                  <a:gd name="T19" fmla="*/ 0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
                  <a:gd name="T31" fmla="*/ 0 h 62"/>
                  <a:gd name="T32" fmla="*/ 27 w 27"/>
                  <a:gd name="T33" fmla="*/ 62 h 6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 h="62">
                    <a:moveTo>
                      <a:pt x="0" y="0"/>
                    </a:moveTo>
                    <a:lnTo>
                      <a:pt x="8" y="0"/>
                    </a:lnTo>
                    <a:lnTo>
                      <a:pt x="16" y="14"/>
                    </a:lnTo>
                    <a:lnTo>
                      <a:pt x="16" y="23"/>
                    </a:lnTo>
                    <a:lnTo>
                      <a:pt x="26" y="30"/>
                    </a:lnTo>
                    <a:lnTo>
                      <a:pt x="26" y="37"/>
                    </a:lnTo>
                    <a:lnTo>
                      <a:pt x="8" y="61"/>
                    </a:lnTo>
                    <a:lnTo>
                      <a:pt x="0" y="53"/>
                    </a:lnTo>
                    <a:lnTo>
                      <a:pt x="0" y="14"/>
                    </a:lnTo>
                    <a:lnTo>
                      <a:pt x="0"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7" name="Freeform 213"/>
              <p:cNvSpPr>
                <a:spLocks/>
              </p:cNvSpPr>
              <p:nvPr/>
            </p:nvSpPr>
            <p:spPr bwMode="auto">
              <a:xfrm>
                <a:off x="4957308" y="3471484"/>
                <a:ext cx="138566" cy="106590"/>
              </a:xfrm>
              <a:custGeom>
                <a:avLst/>
                <a:gdLst>
                  <a:gd name="T0" fmla="*/ 11 w 93"/>
                  <a:gd name="T1" fmla="*/ 7 h 62"/>
                  <a:gd name="T2" fmla="*/ 11 w 93"/>
                  <a:gd name="T3" fmla="*/ 15 h 62"/>
                  <a:gd name="T4" fmla="*/ 10 w 93"/>
                  <a:gd name="T5" fmla="*/ 15 h 62"/>
                  <a:gd name="T6" fmla="*/ 9 w 93"/>
                  <a:gd name="T7" fmla="*/ 19 h 62"/>
                  <a:gd name="T8" fmla="*/ 10 w 93"/>
                  <a:gd name="T9" fmla="*/ 33 h 62"/>
                  <a:gd name="T10" fmla="*/ 8 w 93"/>
                  <a:gd name="T11" fmla="*/ 33 h 62"/>
                  <a:gd name="T12" fmla="*/ 7 w 93"/>
                  <a:gd name="T13" fmla="*/ 38 h 62"/>
                  <a:gd name="T14" fmla="*/ 6 w 93"/>
                  <a:gd name="T15" fmla="*/ 41 h 62"/>
                  <a:gd name="T16" fmla="*/ 3 w 93"/>
                  <a:gd name="T17" fmla="*/ 38 h 62"/>
                  <a:gd name="T18" fmla="*/ 3 w 93"/>
                  <a:gd name="T19" fmla="*/ 38 h 62"/>
                  <a:gd name="T20" fmla="*/ 3 w 93"/>
                  <a:gd name="T21" fmla="*/ 33 h 62"/>
                  <a:gd name="T22" fmla="*/ 0 w 93"/>
                  <a:gd name="T23" fmla="*/ 19 h 62"/>
                  <a:gd name="T24" fmla="*/ 3 w 93"/>
                  <a:gd name="T25" fmla="*/ 15 h 62"/>
                  <a:gd name="T26" fmla="*/ 0 w 93"/>
                  <a:gd name="T27" fmla="*/ 7 h 62"/>
                  <a:gd name="T28" fmla="*/ 0 w 93"/>
                  <a:gd name="T29" fmla="*/ 0 h 62"/>
                  <a:gd name="T30" fmla="*/ 3 w 93"/>
                  <a:gd name="T31" fmla="*/ 7 h 62"/>
                  <a:gd name="T32" fmla="*/ 3 w 93"/>
                  <a:gd name="T33" fmla="*/ 7 h 62"/>
                  <a:gd name="T34" fmla="*/ 6 w 93"/>
                  <a:gd name="T35" fmla="*/ 15 h 62"/>
                  <a:gd name="T36" fmla="*/ 8 w 93"/>
                  <a:gd name="T37" fmla="*/ 0 h 62"/>
                  <a:gd name="T38" fmla="*/ 11 w 93"/>
                  <a:gd name="T39" fmla="*/ 7 h 6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3"/>
                  <a:gd name="T61" fmla="*/ 0 h 62"/>
                  <a:gd name="T62" fmla="*/ 93 w 93"/>
                  <a:gd name="T63" fmla="*/ 62 h 6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3" h="62">
                    <a:moveTo>
                      <a:pt x="92" y="7"/>
                    </a:moveTo>
                    <a:lnTo>
                      <a:pt x="92" y="15"/>
                    </a:lnTo>
                    <a:lnTo>
                      <a:pt x="83" y="15"/>
                    </a:lnTo>
                    <a:lnTo>
                      <a:pt x="75" y="31"/>
                    </a:lnTo>
                    <a:lnTo>
                      <a:pt x="83" y="45"/>
                    </a:lnTo>
                    <a:lnTo>
                      <a:pt x="67" y="45"/>
                    </a:lnTo>
                    <a:lnTo>
                      <a:pt x="58" y="54"/>
                    </a:lnTo>
                    <a:lnTo>
                      <a:pt x="50" y="61"/>
                    </a:lnTo>
                    <a:lnTo>
                      <a:pt x="25" y="54"/>
                    </a:lnTo>
                    <a:lnTo>
                      <a:pt x="8" y="54"/>
                    </a:lnTo>
                    <a:lnTo>
                      <a:pt x="8" y="45"/>
                    </a:lnTo>
                    <a:lnTo>
                      <a:pt x="0" y="31"/>
                    </a:lnTo>
                    <a:lnTo>
                      <a:pt x="8" y="23"/>
                    </a:lnTo>
                    <a:lnTo>
                      <a:pt x="0" y="7"/>
                    </a:lnTo>
                    <a:lnTo>
                      <a:pt x="0" y="0"/>
                    </a:lnTo>
                    <a:lnTo>
                      <a:pt x="8" y="7"/>
                    </a:lnTo>
                    <a:lnTo>
                      <a:pt x="17" y="7"/>
                    </a:lnTo>
                    <a:lnTo>
                      <a:pt x="50" y="15"/>
                    </a:lnTo>
                    <a:lnTo>
                      <a:pt x="67" y="0"/>
                    </a:lnTo>
                    <a:lnTo>
                      <a:pt x="92"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8" name="Freeform 214"/>
              <p:cNvSpPr>
                <a:spLocks/>
              </p:cNvSpPr>
              <p:nvPr/>
            </p:nvSpPr>
            <p:spPr bwMode="auto">
              <a:xfrm>
                <a:off x="4808083" y="3297387"/>
                <a:ext cx="151001" cy="122578"/>
              </a:xfrm>
              <a:custGeom>
                <a:avLst/>
                <a:gdLst>
                  <a:gd name="T0" fmla="*/ 4 w 101"/>
                  <a:gd name="T1" fmla="*/ 57 h 70"/>
                  <a:gd name="T2" fmla="*/ 7 w 101"/>
                  <a:gd name="T3" fmla="*/ 42 h 70"/>
                  <a:gd name="T4" fmla="*/ 9 w 101"/>
                  <a:gd name="T5" fmla="*/ 42 h 70"/>
                  <a:gd name="T6" fmla="*/ 10 w 101"/>
                  <a:gd name="T7" fmla="*/ 23 h 70"/>
                  <a:gd name="T8" fmla="*/ 12 w 101"/>
                  <a:gd name="T9" fmla="*/ 23 h 70"/>
                  <a:gd name="T10" fmla="*/ 10 w 101"/>
                  <a:gd name="T11" fmla="*/ 7 h 70"/>
                  <a:gd name="T12" fmla="*/ 8 w 101"/>
                  <a:gd name="T13" fmla="*/ 0 h 70"/>
                  <a:gd name="T14" fmla="*/ 3 w 101"/>
                  <a:gd name="T15" fmla="*/ 23 h 70"/>
                  <a:gd name="T16" fmla="*/ 3 w 101"/>
                  <a:gd name="T17" fmla="*/ 23 h 70"/>
                  <a:gd name="T18" fmla="*/ 0 w 101"/>
                  <a:gd name="T19" fmla="*/ 35 h 70"/>
                  <a:gd name="T20" fmla="*/ 0 w 101"/>
                  <a:gd name="T21" fmla="*/ 35 h 70"/>
                  <a:gd name="T22" fmla="*/ 3 w 101"/>
                  <a:gd name="T23" fmla="*/ 57 h 70"/>
                  <a:gd name="T24" fmla="*/ 4 w 101"/>
                  <a:gd name="T25" fmla="*/ 57 h 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1"/>
                  <a:gd name="T40" fmla="*/ 0 h 70"/>
                  <a:gd name="T41" fmla="*/ 101 w 101"/>
                  <a:gd name="T42" fmla="*/ 70 h 7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1" h="70">
                    <a:moveTo>
                      <a:pt x="34" y="69"/>
                    </a:moveTo>
                    <a:lnTo>
                      <a:pt x="58" y="54"/>
                    </a:lnTo>
                    <a:lnTo>
                      <a:pt x="76" y="54"/>
                    </a:lnTo>
                    <a:lnTo>
                      <a:pt x="84" y="23"/>
                    </a:lnTo>
                    <a:lnTo>
                      <a:pt x="100" y="23"/>
                    </a:lnTo>
                    <a:lnTo>
                      <a:pt x="84" y="7"/>
                    </a:lnTo>
                    <a:lnTo>
                      <a:pt x="66" y="0"/>
                    </a:lnTo>
                    <a:lnTo>
                      <a:pt x="25" y="23"/>
                    </a:lnTo>
                    <a:lnTo>
                      <a:pt x="8" y="23"/>
                    </a:lnTo>
                    <a:lnTo>
                      <a:pt x="0" y="38"/>
                    </a:lnTo>
                    <a:lnTo>
                      <a:pt x="0" y="45"/>
                    </a:lnTo>
                    <a:lnTo>
                      <a:pt x="25" y="69"/>
                    </a:lnTo>
                    <a:lnTo>
                      <a:pt x="34" y="6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69" name="Freeform 215"/>
              <p:cNvSpPr>
                <a:spLocks/>
              </p:cNvSpPr>
              <p:nvPr/>
            </p:nvSpPr>
            <p:spPr bwMode="auto">
              <a:xfrm>
                <a:off x="4745906" y="3364894"/>
                <a:ext cx="63954" cy="55071"/>
              </a:xfrm>
              <a:custGeom>
                <a:avLst/>
                <a:gdLst>
                  <a:gd name="T0" fmla="*/ 5 w 43"/>
                  <a:gd name="T1" fmla="*/ 7 h 32"/>
                  <a:gd name="T2" fmla="*/ 4 w 43"/>
                  <a:gd name="T3" fmla="*/ 7 h 32"/>
                  <a:gd name="T4" fmla="*/ 3 w 43"/>
                  <a:gd name="T5" fmla="*/ 19 h 32"/>
                  <a:gd name="T6" fmla="*/ 3 w 43"/>
                  <a:gd name="T7" fmla="*/ 19 h 32"/>
                  <a:gd name="T8" fmla="*/ 0 w 43"/>
                  <a:gd name="T9" fmla="*/ 19 h 32"/>
                  <a:gd name="T10" fmla="*/ 0 w 43"/>
                  <a:gd name="T11" fmla="*/ 15 h 32"/>
                  <a:gd name="T12" fmla="*/ 0 w 43"/>
                  <a:gd name="T13" fmla="*/ 7 h 32"/>
                  <a:gd name="T14" fmla="*/ 5 w 43"/>
                  <a:gd name="T15" fmla="*/ 0 h 32"/>
                  <a:gd name="T16" fmla="*/ 5 w 43"/>
                  <a:gd name="T17" fmla="*/ 7 h 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
                  <a:gd name="T28" fmla="*/ 0 h 32"/>
                  <a:gd name="T29" fmla="*/ 43 w 43"/>
                  <a:gd name="T30" fmla="*/ 32 h 3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 h="32">
                    <a:moveTo>
                      <a:pt x="42" y="7"/>
                    </a:moveTo>
                    <a:lnTo>
                      <a:pt x="34" y="7"/>
                    </a:lnTo>
                    <a:lnTo>
                      <a:pt x="17" y="31"/>
                    </a:lnTo>
                    <a:lnTo>
                      <a:pt x="8" y="31"/>
                    </a:lnTo>
                    <a:lnTo>
                      <a:pt x="0" y="31"/>
                    </a:lnTo>
                    <a:lnTo>
                      <a:pt x="0" y="15"/>
                    </a:lnTo>
                    <a:lnTo>
                      <a:pt x="0" y="7"/>
                    </a:lnTo>
                    <a:lnTo>
                      <a:pt x="42" y="0"/>
                    </a:lnTo>
                    <a:lnTo>
                      <a:pt x="42" y="7"/>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0" name="Freeform 216"/>
              <p:cNvSpPr>
                <a:spLocks/>
              </p:cNvSpPr>
              <p:nvPr/>
            </p:nvSpPr>
            <p:spPr bwMode="auto">
              <a:xfrm>
                <a:off x="4745906" y="3377330"/>
                <a:ext cx="138566" cy="149226"/>
              </a:xfrm>
              <a:custGeom>
                <a:avLst/>
                <a:gdLst>
                  <a:gd name="T0" fmla="*/ 5 w 93"/>
                  <a:gd name="T1" fmla="*/ 0 h 86"/>
                  <a:gd name="T2" fmla="*/ 8 w 93"/>
                  <a:gd name="T3" fmla="*/ 21 h 86"/>
                  <a:gd name="T4" fmla="*/ 9 w 93"/>
                  <a:gd name="T5" fmla="*/ 21 h 86"/>
                  <a:gd name="T6" fmla="*/ 11 w 93"/>
                  <a:gd name="T7" fmla="*/ 21 h 86"/>
                  <a:gd name="T8" fmla="*/ 11 w 93"/>
                  <a:gd name="T9" fmla="*/ 26 h 86"/>
                  <a:gd name="T10" fmla="*/ 9 w 93"/>
                  <a:gd name="T11" fmla="*/ 26 h 86"/>
                  <a:gd name="T12" fmla="*/ 9 w 93"/>
                  <a:gd name="T13" fmla="*/ 21 h 86"/>
                  <a:gd name="T14" fmla="*/ 6 w 93"/>
                  <a:gd name="T15" fmla="*/ 21 h 86"/>
                  <a:gd name="T16" fmla="*/ 5 w 93"/>
                  <a:gd name="T17" fmla="*/ 21 h 86"/>
                  <a:gd name="T18" fmla="*/ 5 w 93"/>
                  <a:gd name="T19" fmla="*/ 21 h 86"/>
                  <a:gd name="T20" fmla="*/ 4 w 93"/>
                  <a:gd name="T21" fmla="*/ 21 h 86"/>
                  <a:gd name="T22" fmla="*/ 5 w 93"/>
                  <a:gd name="T23" fmla="*/ 26 h 86"/>
                  <a:gd name="T24" fmla="*/ 7 w 93"/>
                  <a:gd name="T25" fmla="*/ 54 h 86"/>
                  <a:gd name="T26" fmla="*/ 8 w 93"/>
                  <a:gd name="T27" fmla="*/ 58 h 86"/>
                  <a:gd name="T28" fmla="*/ 8 w 93"/>
                  <a:gd name="T29" fmla="*/ 62 h 86"/>
                  <a:gd name="T30" fmla="*/ 6 w 93"/>
                  <a:gd name="T31" fmla="*/ 54 h 86"/>
                  <a:gd name="T32" fmla="*/ 5 w 93"/>
                  <a:gd name="T33" fmla="*/ 54 h 86"/>
                  <a:gd name="T34" fmla="*/ 3 w 93"/>
                  <a:gd name="T35" fmla="*/ 42 h 86"/>
                  <a:gd name="T36" fmla="*/ 3 w 93"/>
                  <a:gd name="T37" fmla="*/ 21 h 86"/>
                  <a:gd name="T38" fmla="*/ 3 w 93"/>
                  <a:gd name="T39" fmla="*/ 21 h 86"/>
                  <a:gd name="T40" fmla="*/ 0 w 93"/>
                  <a:gd name="T41" fmla="*/ 26 h 86"/>
                  <a:gd name="T42" fmla="*/ 0 w 93"/>
                  <a:gd name="T43" fmla="*/ 21 h 86"/>
                  <a:gd name="T44" fmla="*/ 3 w 93"/>
                  <a:gd name="T45" fmla="*/ 21 h 86"/>
                  <a:gd name="T46" fmla="*/ 4 w 93"/>
                  <a:gd name="T47" fmla="*/ 0 h 86"/>
                  <a:gd name="T48" fmla="*/ 5 w 93"/>
                  <a:gd name="T49" fmla="*/ 0 h 8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3"/>
                  <a:gd name="T76" fmla="*/ 0 h 86"/>
                  <a:gd name="T77" fmla="*/ 93 w 93"/>
                  <a:gd name="T78" fmla="*/ 86 h 8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3" h="86">
                    <a:moveTo>
                      <a:pt x="42" y="0"/>
                    </a:moveTo>
                    <a:lnTo>
                      <a:pt x="67" y="24"/>
                    </a:lnTo>
                    <a:lnTo>
                      <a:pt x="76" y="24"/>
                    </a:lnTo>
                    <a:lnTo>
                      <a:pt x="92" y="31"/>
                    </a:lnTo>
                    <a:lnTo>
                      <a:pt x="92" y="38"/>
                    </a:lnTo>
                    <a:lnTo>
                      <a:pt x="76" y="38"/>
                    </a:lnTo>
                    <a:lnTo>
                      <a:pt x="76" y="31"/>
                    </a:lnTo>
                    <a:lnTo>
                      <a:pt x="50" y="24"/>
                    </a:lnTo>
                    <a:lnTo>
                      <a:pt x="42" y="31"/>
                    </a:lnTo>
                    <a:lnTo>
                      <a:pt x="42" y="24"/>
                    </a:lnTo>
                    <a:lnTo>
                      <a:pt x="34" y="31"/>
                    </a:lnTo>
                    <a:lnTo>
                      <a:pt x="42" y="38"/>
                    </a:lnTo>
                    <a:lnTo>
                      <a:pt x="58" y="69"/>
                    </a:lnTo>
                    <a:lnTo>
                      <a:pt x="67" y="77"/>
                    </a:lnTo>
                    <a:lnTo>
                      <a:pt x="67" y="85"/>
                    </a:lnTo>
                    <a:lnTo>
                      <a:pt x="50" y="69"/>
                    </a:lnTo>
                    <a:lnTo>
                      <a:pt x="42" y="69"/>
                    </a:lnTo>
                    <a:lnTo>
                      <a:pt x="17" y="54"/>
                    </a:lnTo>
                    <a:lnTo>
                      <a:pt x="17" y="31"/>
                    </a:lnTo>
                    <a:lnTo>
                      <a:pt x="8" y="31"/>
                    </a:lnTo>
                    <a:lnTo>
                      <a:pt x="0" y="38"/>
                    </a:lnTo>
                    <a:lnTo>
                      <a:pt x="0" y="24"/>
                    </a:lnTo>
                    <a:lnTo>
                      <a:pt x="17" y="24"/>
                    </a:lnTo>
                    <a:lnTo>
                      <a:pt x="34" y="0"/>
                    </a:lnTo>
                    <a:lnTo>
                      <a:pt x="42"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1" name="Freeform 217"/>
              <p:cNvSpPr>
                <a:spLocks/>
              </p:cNvSpPr>
              <p:nvPr/>
            </p:nvSpPr>
            <p:spPr bwMode="auto">
              <a:xfrm>
                <a:off x="4745906" y="3377330"/>
                <a:ext cx="138566" cy="149226"/>
              </a:xfrm>
              <a:custGeom>
                <a:avLst/>
                <a:gdLst>
                  <a:gd name="T0" fmla="*/ 5 w 93"/>
                  <a:gd name="T1" fmla="*/ 0 h 86"/>
                  <a:gd name="T2" fmla="*/ 8 w 93"/>
                  <a:gd name="T3" fmla="*/ 21 h 86"/>
                  <a:gd name="T4" fmla="*/ 9 w 93"/>
                  <a:gd name="T5" fmla="*/ 21 h 86"/>
                  <a:gd name="T6" fmla="*/ 11 w 93"/>
                  <a:gd name="T7" fmla="*/ 21 h 86"/>
                  <a:gd name="T8" fmla="*/ 11 w 93"/>
                  <a:gd name="T9" fmla="*/ 26 h 86"/>
                  <a:gd name="T10" fmla="*/ 9 w 93"/>
                  <a:gd name="T11" fmla="*/ 26 h 86"/>
                  <a:gd name="T12" fmla="*/ 9 w 93"/>
                  <a:gd name="T13" fmla="*/ 21 h 86"/>
                  <a:gd name="T14" fmla="*/ 6 w 93"/>
                  <a:gd name="T15" fmla="*/ 21 h 86"/>
                  <a:gd name="T16" fmla="*/ 5 w 93"/>
                  <a:gd name="T17" fmla="*/ 21 h 86"/>
                  <a:gd name="T18" fmla="*/ 5 w 93"/>
                  <a:gd name="T19" fmla="*/ 21 h 86"/>
                  <a:gd name="T20" fmla="*/ 4 w 93"/>
                  <a:gd name="T21" fmla="*/ 21 h 86"/>
                  <a:gd name="T22" fmla="*/ 5 w 93"/>
                  <a:gd name="T23" fmla="*/ 26 h 86"/>
                  <a:gd name="T24" fmla="*/ 7 w 93"/>
                  <a:gd name="T25" fmla="*/ 54 h 86"/>
                  <a:gd name="T26" fmla="*/ 8 w 93"/>
                  <a:gd name="T27" fmla="*/ 58 h 86"/>
                  <a:gd name="T28" fmla="*/ 8 w 93"/>
                  <a:gd name="T29" fmla="*/ 62 h 86"/>
                  <a:gd name="T30" fmla="*/ 6 w 93"/>
                  <a:gd name="T31" fmla="*/ 54 h 86"/>
                  <a:gd name="T32" fmla="*/ 5 w 93"/>
                  <a:gd name="T33" fmla="*/ 54 h 86"/>
                  <a:gd name="T34" fmla="*/ 3 w 93"/>
                  <a:gd name="T35" fmla="*/ 42 h 86"/>
                  <a:gd name="T36" fmla="*/ 3 w 93"/>
                  <a:gd name="T37" fmla="*/ 21 h 86"/>
                  <a:gd name="T38" fmla="*/ 3 w 93"/>
                  <a:gd name="T39" fmla="*/ 21 h 86"/>
                  <a:gd name="T40" fmla="*/ 0 w 93"/>
                  <a:gd name="T41" fmla="*/ 26 h 86"/>
                  <a:gd name="T42" fmla="*/ 0 w 93"/>
                  <a:gd name="T43" fmla="*/ 21 h 86"/>
                  <a:gd name="T44" fmla="*/ 3 w 93"/>
                  <a:gd name="T45" fmla="*/ 21 h 86"/>
                  <a:gd name="T46" fmla="*/ 4 w 93"/>
                  <a:gd name="T47" fmla="*/ 0 h 86"/>
                  <a:gd name="T48" fmla="*/ 5 w 93"/>
                  <a:gd name="T49" fmla="*/ 0 h 8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93"/>
                  <a:gd name="T76" fmla="*/ 0 h 86"/>
                  <a:gd name="T77" fmla="*/ 93 w 93"/>
                  <a:gd name="T78" fmla="*/ 86 h 8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93" h="86">
                    <a:moveTo>
                      <a:pt x="42" y="0"/>
                    </a:moveTo>
                    <a:lnTo>
                      <a:pt x="67" y="24"/>
                    </a:lnTo>
                    <a:lnTo>
                      <a:pt x="76" y="24"/>
                    </a:lnTo>
                    <a:lnTo>
                      <a:pt x="92" y="31"/>
                    </a:lnTo>
                    <a:lnTo>
                      <a:pt x="92" y="38"/>
                    </a:lnTo>
                    <a:lnTo>
                      <a:pt x="76" y="38"/>
                    </a:lnTo>
                    <a:lnTo>
                      <a:pt x="76" y="31"/>
                    </a:lnTo>
                    <a:lnTo>
                      <a:pt x="50" y="24"/>
                    </a:lnTo>
                    <a:lnTo>
                      <a:pt x="42" y="31"/>
                    </a:lnTo>
                    <a:lnTo>
                      <a:pt x="42" y="24"/>
                    </a:lnTo>
                    <a:lnTo>
                      <a:pt x="34" y="31"/>
                    </a:lnTo>
                    <a:lnTo>
                      <a:pt x="42" y="38"/>
                    </a:lnTo>
                    <a:lnTo>
                      <a:pt x="58" y="69"/>
                    </a:lnTo>
                    <a:lnTo>
                      <a:pt x="67" y="77"/>
                    </a:lnTo>
                    <a:lnTo>
                      <a:pt x="67" y="85"/>
                    </a:lnTo>
                    <a:lnTo>
                      <a:pt x="50" y="69"/>
                    </a:lnTo>
                    <a:lnTo>
                      <a:pt x="42" y="69"/>
                    </a:lnTo>
                    <a:lnTo>
                      <a:pt x="17" y="54"/>
                    </a:lnTo>
                    <a:lnTo>
                      <a:pt x="17" y="31"/>
                    </a:lnTo>
                    <a:lnTo>
                      <a:pt x="8" y="31"/>
                    </a:lnTo>
                    <a:lnTo>
                      <a:pt x="0" y="38"/>
                    </a:lnTo>
                    <a:lnTo>
                      <a:pt x="0" y="24"/>
                    </a:lnTo>
                    <a:lnTo>
                      <a:pt x="17" y="24"/>
                    </a:lnTo>
                    <a:lnTo>
                      <a:pt x="34" y="0"/>
                    </a:lnTo>
                    <a:lnTo>
                      <a:pt x="42" y="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2" name="Freeform 218"/>
              <p:cNvSpPr>
                <a:spLocks/>
              </p:cNvSpPr>
              <p:nvPr/>
            </p:nvSpPr>
            <p:spPr bwMode="auto">
              <a:xfrm>
                <a:off x="4847166" y="3499908"/>
                <a:ext cx="47965" cy="53295"/>
              </a:xfrm>
              <a:custGeom>
                <a:avLst/>
                <a:gdLst>
                  <a:gd name="T0" fmla="*/ 0 w 33"/>
                  <a:gd name="T1" fmla="*/ 15 h 31"/>
                  <a:gd name="T2" fmla="*/ 2 w 33"/>
                  <a:gd name="T3" fmla="*/ 18 h 31"/>
                  <a:gd name="T4" fmla="*/ 2 w 33"/>
                  <a:gd name="T5" fmla="*/ 15 h 31"/>
                  <a:gd name="T6" fmla="*/ 2 w 33"/>
                  <a:gd name="T7" fmla="*/ 15 h 31"/>
                  <a:gd name="T8" fmla="*/ 2 w 33"/>
                  <a:gd name="T9" fmla="*/ 7 h 31"/>
                  <a:gd name="T10" fmla="*/ 2 w 33"/>
                  <a:gd name="T11" fmla="*/ 0 h 31"/>
                  <a:gd name="T12" fmla="*/ 2 w 33"/>
                  <a:gd name="T13" fmla="*/ 0 h 31"/>
                  <a:gd name="T14" fmla="*/ 0 w 33"/>
                  <a:gd name="T15" fmla="*/ 7 h 31"/>
                  <a:gd name="T16" fmla="*/ 0 w 33"/>
                  <a:gd name="T17" fmla="*/ 15 h 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
                  <a:gd name="T28" fmla="*/ 0 h 31"/>
                  <a:gd name="T29" fmla="*/ 33 w 33"/>
                  <a:gd name="T30" fmla="*/ 31 h 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 h="31">
                    <a:moveTo>
                      <a:pt x="0" y="15"/>
                    </a:moveTo>
                    <a:lnTo>
                      <a:pt x="24" y="30"/>
                    </a:lnTo>
                    <a:lnTo>
                      <a:pt x="24" y="15"/>
                    </a:lnTo>
                    <a:lnTo>
                      <a:pt x="32" y="15"/>
                    </a:lnTo>
                    <a:lnTo>
                      <a:pt x="32" y="7"/>
                    </a:lnTo>
                    <a:lnTo>
                      <a:pt x="24" y="0"/>
                    </a:lnTo>
                    <a:lnTo>
                      <a:pt x="8" y="0"/>
                    </a:lnTo>
                    <a:lnTo>
                      <a:pt x="0" y="7"/>
                    </a:lnTo>
                    <a:lnTo>
                      <a:pt x="0"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3" name="Freeform 219"/>
              <p:cNvSpPr>
                <a:spLocks/>
              </p:cNvSpPr>
              <p:nvPr/>
            </p:nvSpPr>
            <p:spPr bwMode="auto">
              <a:xfrm>
                <a:off x="4857825" y="3389765"/>
                <a:ext cx="113695" cy="163437"/>
              </a:xfrm>
              <a:custGeom>
                <a:avLst/>
                <a:gdLst>
                  <a:gd name="T0" fmla="*/ 3 w 76"/>
                  <a:gd name="T1" fmla="*/ 30 h 93"/>
                  <a:gd name="T2" fmla="*/ 3 w 76"/>
                  <a:gd name="T3" fmla="*/ 23 h 93"/>
                  <a:gd name="T4" fmla="*/ 0 w 76"/>
                  <a:gd name="T5" fmla="*/ 16 h 93"/>
                  <a:gd name="T6" fmla="*/ 3 w 76"/>
                  <a:gd name="T7" fmla="*/ 0 h 93"/>
                  <a:gd name="T8" fmla="*/ 5 w 76"/>
                  <a:gd name="T9" fmla="*/ 30 h 93"/>
                  <a:gd name="T10" fmla="*/ 8 w 76"/>
                  <a:gd name="T11" fmla="*/ 30 h 93"/>
                  <a:gd name="T12" fmla="*/ 8 w 76"/>
                  <a:gd name="T13" fmla="*/ 46 h 93"/>
                  <a:gd name="T14" fmla="*/ 8 w 76"/>
                  <a:gd name="T15" fmla="*/ 46 h 93"/>
                  <a:gd name="T16" fmla="*/ 9 w 76"/>
                  <a:gd name="T17" fmla="*/ 57 h 93"/>
                  <a:gd name="T18" fmla="*/ 8 w 76"/>
                  <a:gd name="T19" fmla="*/ 65 h 93"/>
                  <a:gd name="T20" fmla="*/ 5 w 76"/>
                  <a:gd name="T21" fmla="*/ 65 h 93"/>
                  <a:gd name="T22" fmla="*/ 4 w 76"/>
                  <a:gd name="T23" fmla="*/ 80 h 93"/>
                  <a:gd name="T24" fmla="*/ 3 w 76"/>
                  <a:gd name="T25" fmla="*/ 65 h 93"/>
                  <a:gd name="T26" fmla="*/ 3 w 76"/>
                  <a:gd name="T27" fmla="*/ 57 h 93"/>
                  <a:gd name="T28" fmla="*/ 3 w 76"/>
                  <a:gd name="T29" fmla="*/ 50 h 93"/>
                  <a:gd name="T30" fmla="*/ 3 w 76"/>
                  <a:gd name="T31" fmla="*/ 30 h 9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6"/>
                  <a:gd name="T49" fmla="*/ 0 h 93"/>
                  <a:gd name="T50" fmla="*/ 76 w 76"/>
                  <a:gd name="T51" fmla="*/ 93 h 9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6" h="93">
                    <a:moveTo>
                      <a:pt x="16" y="30"/>
                    </a:moveTo>
                    <a:lnTo>
                      <a:pt x="16" y="23"/>
                    </a:lnTo>
                    <a:lnTo>
                      <a:pt x="0" y="16"/>
                    </a:lnTo>
                    <a:lnTo>
                      <a:pt x="25" y="0"/>
                    </a:lnTo>
                    <a:lnTo>
                      <a:pt x="42" y="30"/>
                    </a:lnTo>
                    <a:lnTo>
                      <a:pt x="67" y="30"/>
                    </a:lnTo>
                    <a:lnTo>
                      <a:pt x="67" y="46"/>
                    </a:lnTo>
                    <a:lnTo>
                      <a:pt x="67" y="54"/>
                    </a:lnTo>
                    <a:lnTo>
                      <a:pt x="75" y="69"/>
                    </a:lnTo>
                    <a:lnTo>
                      <a:pt x="67" y="77"/>
                    </a:lnTo>
                    <a:lnTo>
                      <a:pt x="42" y="77"/>
                    </a:lnTo>
                    <a:lnTo>
                      <a:pt x="33" y="92"/>
                    </a:lnTo>
                    <a:lnTo>
                      <a:pt x="25" y="77"/>
                    </a:lnTo>
                    <a:lnTo>
                      <a:pt x="25" y="69"/>
                    </a:lnTo>
                    <a:lnTo>
                      <a:pt x="16" y="62"/>
                    </a:lnTo>
                    <a:lnTo>
                      <a:pt x="16"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4" name="Freeform 221"/>
              <p:cNvSpPr>
                <a:spLocks/>
              </p:cNvSpPr>
              <p:nvPr/>
            </p:nvSpPr>
            <p:spPr bwMode="auto">
              <a:xfrm>
                <a:off x="4907567" y="3524779"/>
                <a:ext cx="63954" cy="53295"/>
              </a:xfrm>
              <a:custGeom>
                <a:avLst/>
                <a:gdLst>
                  <a:gd name="T0" fmla="*/ 3 w 43"/>
                  <a:gd name="T1" fmla="*/ 18 h 31"/>
                  <a:gd name="T2" fmla="*/ 0 w 43"/>
                  <a:gd name="T3" fmla="*/ 15 h 31"/>
                  <a:gd name="T4" fmla="*/ 0 w 43"/>
                  <a:gd name="T5" fmla="*/ 14 h 31"/>
                  <a:gd name="T6" fmla="*/ 3 w 43"/>
                  <a:gd name="T7" fmla="*/ 0 h 31"/>
                  <a:gd name="T8" fmla="*/ 4 w 43"/>
                  <a:gd name="T9" fmla="*/ 0 h 31"/>
                  <a:gd name="T10" fmla="*/ 5 w 43"/>
                  <a:gd name="T11" fmla="*/ 14 h 31"/>
                  <a:gd name="T12" fmla="*/ 5 w 43"/>
                  <a:gd name="T13" fmla="*/ 15 h 31"/>
                  <a:gd name="T14" fmla="*/ 3 w 43"/>
                  <a:gd name="T15" fmla="*/ 18 h 31"/>
                  <a:gd name="T16" fmla="*/ 0 60000 65536"/>
                  <a:gd name="T17" fmla="*/ 0 60000 65536"/>
                  <a:gd name="T18" fmla="*/ 0 60000 65536"/>
                  <a:gd name="T19" fmla="*/ 0 60000 65536"/>
                  <a:gd name="T20" fmla="*/ 0 60000 65536"/>
                  <a:gd name="T21" fmla="*/ 0 60000 65536"/>
                  <a:gd name="T22" fmla="*/ 0 60000 65536"/>
                  <a:gd name="T23" fmla="*/ 0 60000 65536"/>
                  <a:gd name="T24" fmla="*/ 0 w 43"/>
                  <a:gd name="T25" fmla="*/ 0 h 31"/>
                  <a:gd name="T26" fmla="*/ 43 w 43"/>
                  <a:gd name="T27" fmla="*/ 31 h 3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3" h="31">
                    <a:moveTo>
                      <a:pt x="9" y="30"/>
                    </a:moveTo>
                    <a:lnTo>
                      <a:pt x="0" y="23"/>
                    </a:lnTo>
                    <a:lnTo>
                      <a:pt x="0" y="14"/>
                    </a:lnTo>
                    <a:lnTo>
                      <a:pt x="9" y="0"/>
                    </a:lnTo>
                    <a:lnTo>
                      <a:pt x="34" y="0"/>
                    </a:lnTo>
                    <a:lnTo>
                      <a:pt x="42" y="14"/>
                    </a:lnTo>
                    <a:lnTo>
                      <a:pt x="42" y="23"/>
                    </a:lnTo>
                    <a:lnTo>
                      <a:pt x="9" y="3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5" name="Freeform 223"/>
              <p:cNvSpPr>
                <a:spLocks/>
              </p:cNvSpPr>
              <p:nvPr/>
            </p:nvSpPr>
            <p:spPr bwMode="auto">
              <a:xfrm>
                <a:off x="4795648" y="3418189"/>
                <a:ext cx="88824" cy="94154"/>
              </a:xfrm>
              <a:custGeom>
                <a:avLst/>
                <a:gdLst>
                  <a:gd name="T0" fmla="*/ 3 w 59"/>
                  <a:gd name="T1" fmla="*/ 14 h 54"/>
                  <a:gd name="T2" fmla="*/ 3 w 59"/>
                  <a:gd name="T3" fmla="*/ 33 h 54"/>
                  <a:gd name="T4" fmla="*/ 4 w 59"/>
                  <a:gd name="T5" fmla="*/ 41 h 54"/>
                  <a:gd name="T6" fmla="*/ 6 w 59"/>
                  <a:gd name="T7" fmla="*/ 33 h 54"/>
                  <a:gd name="T8" fmla="*/ 8 w 59"/>
                  <a:gd name="T9" fmla="*/ 33 h 54"/>
                  <a:gd name="T10" fmla="*/ 8 w 59"/>
                  <a:gd name="T11" fmla="*/ 14 h 54"/>
                  <a:gd name="T12" fmla="*/ 6 w 59"/>
                  <a:gd name="T13" fmla="*/ 14 h 54"/>
                  <a:gd name="T14" fmla="*/ 6 w 59"/>
                  <a:gd name="T15" fmla="*/ 7 h 54"/>
                  <a:gd name="T16" fmla="*/ 3 w 59"/>
                  <a:gd name="T17" fmla="*/ 0 h 54"/>
                  <a:gd name="T18" fmla="*/ 3 w 59"/>
                  <a:gd name="T19" fmla="*/ 7 h 54"/>
                  <a:gd name="T20" fmla="*/ 3 w 59"/>
                  <a:gd name="T21" fmla="*/ 0 h 54"/>
                  <a:gd name="T22" fmla="*/ 0 w 59"/>
                  <a:gd name="T23" fmla="*/ 7 h 54"/>
                  <a:gd name="T24" fmla="*/ 3 w 59"/>
                  <a:gd name="T25" fmla="*/ 14 h 5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54"/>
                  <a:gd name="T41" fmla="*/ 59 w 59"/>
                  <a:gd name="T42" fmla="*/ 54 h 5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54">
                    <a:moveTo>
                      <a:pt x="8" y="14"/>
                    </a:moveTo>
                    <a:lnTo>
                      <a:pt x="24" y="45"/>
                    </a:lnTo>
                    <a:lnTo>
                      <a:pt x="33" y="53"/>
                    </a:lnTo>
                    <a:lnTo>
                      <a:pt x="42" y="45"/>
                    </a:lnTo>
                    <a:lnTo>
                      <a:pt x="58" y="45"/>
                    </a:lnTo>
                    <a:lnTo>
                      <a:pt x="58" y="14"/>
                    </a:lnTo>
                    <a:lnTo>
                      <a:pt x="42" y="14"/>
                    </a:lnTo>
                    <a:lnTo>
                      <a:pt x="42" y="7"/>
                    </a:lnTo>
                    <a:lnTo>
                      <a:pt x="16" y="0"/>
                    </a:lnTo>
                    <a:lnTo>
                      <a:pt x="8" y="7"/>
                    </a:lnTo>
                    <a:lnTo>
                      <a:pt x="8" y="0"/>
                    </a:lnTo>
                    <a:lnTo>
                      <a:pt x="0" y="7"/>
                    </a:lnTo>
                    <a:lnTo>
                      <a:pt x="8" y="1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6" name="Freeform 224"/>
              <p:cNvSpPr>
                <a:spLocks/>
              </p:cNvSpPr>
              <p:nvPr/>
            </p:nvSpPr>
            <p:spPr bwMode="auto">
              <a:xfrm>
                <a:off x="4696165" y="3205010"/>
                <a:ext cx="163437" cy="94154"/>
              </a:xfrm>
              <a:custGeom>
                <a:avLst/>
                <a:gdLst>
                  <a:gd name="T0" fmla="*/ 13 w 110"/>
                  <a:gd name="T1" fmla="*/ 26 h 55"/>
                  <a:gd name="T2" fmla="*/ 11 w 110"/>
                  <a:gd name="T3" fmla="*/ 13 h 55"/>
                  <a:gd name="T4" fmla="*/ 9 w 110"/>
                  <a:gd name="T5" fmla="*/ 13 h 55"/>
                  <a:gd name="T6" fmla="*/ 8 w 110"/>
                  <a:gd name="T7" fmla="*/ 8 h 55"/>
                  <a:gd name="T8" fmla="*/ 6 w 110"/>
                  <a:gd name="T9" fmla="*/ 0 h 55"/>
                  <a:gd name="T10" fmla="*/ 5 w 110"/>
                  <a:gd name="T11" fmla="*/ 0 h 55"/>
                  <a:gd name="T12" fmla="*/ 3 w 110"/>
                  <a:gd name="T13" fmla="*/ 8 h 55"/>
                  <a:gd name="T14" fmla="*/ 0 w 110"/>
                  <a:gd name="T15" fmla="*/ 13 h 55"/>
                  <a:gd name="T16" fmla="*/ 3 w 110"/>
                  <a:gd name="T17" fmla="*/ 26 h 55"/>
                  <a:gd name="T18" fmla="*/ 4 w 110"/>
                  <a:gd name="T19" fmla="*/ 35 h 55"/>
                  <a:gd name="T20" fmla="*/ 6 w 110"/>
                  <a:gd name="T21" fmla="*/ 35 h 55"/>
                  <a:gd name="T22" fmla="*/ 6 w 110"/>
                  <a:gd name="T23" fmla="*/ 32 h 55"/>
                  <a:gd name="T24" fmla="*/ 9 w 110"/>
                  <a:gd name="T25" fmla="*/ 35 h 55"/>
                  <a:gd name="T26" fmla="*/ 13 w 110"/>
                  <a:gd name="T27" fmla="*/ 26 h 5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
                  <a:gd name="T43" fmla="*/ 0 h 55"/>
                  <a:gd name="T44" fmla="*/ 110 w 110"/>
                  <a:gd name="T45" fmla="*/ 55 h 5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 h="55">
                    <a:moveTo>
                      <a:pt x="109" y="38"/>
                    </a:moveTo>
                    <a:lnTo>
                      <a:pt x="91" y="16"/>
                    </a:lnTo>
                    <a:lnTo>
                      <a:pt x="83" y="16"/>
                    </a:lnTo>
                    <a:lnTo>
                      <a:pt x="67" y="8"/>
                    </a:lnTo>
                    <a:lnTo>
                      <a:pt x="50" y="0"/>
                    </a:lnTo>
                    <a:lnTo>
                      <a:pt x="41" y="0"/>
                    </a:lnTo>
                    <a:lnTo>
                      <a:pt x="25" y="8"/>
                    </a:lnTo>
                    <a:lnTo>
                      <a:pt x="0" y="16"/>
                    </a:lnTo>
                    <a:lnTo>
                      <a:pt x="17" y="38"/>
                    </a:lnTo>
                    <a:lnTo>
                      <a:pt x="33" y="54"/>
                    </a:lnTo>
                    <a:lnTo>
                      <a:pt x="50" y="54"/>
                    </a:lnTo>
                    <a:lnTo>
                      <a:pt x="50" y="47"/>
                    </a:lnTo>
                    <a:lnTo>
                      <a:pt x="83" y="54"/>
                    </a:lnTo>
                    <a:lnTo>
                      <a:pt x="109"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7" name="Freeform 313"/>
              <p:cNvSpPr>
                <a:spLocks/>
              </p:cNvSpPr>
              <p:nvPr/>
            </p:nvSpPr>
            <p:spPr bwMode="auto">
              <a:xfrm>
                <a:off x="5868644" y="3709528"/>
                <a:ext cx="387274" cy="413923"/>
              </a:xfrm>
              <a:custGeom>
                <a:avLst/>
                <a:gdLst>
                  <a:gd name="T0" fmla="*/ 3 w 260"/>
                  <a:gd name="T1" fmla="*/ 160 h 238"/>
                  <a:gd name="T2" fmla="*/ 3 w 260"/>
                  <a:gd name="T3" fmla="*/ 148 h 238"/>
                  <a:gd name="T4" fmla="*/ 3 w 260"/>
                  <a:gd name="T5" fmla="*/ 137 h 238"/>
                  <a:gd name="T6" fmla="*/ 3 w 260"/>
                  <a:gd name="T7" fmla="*/ 124 h 238"/>
                  <a:gd name="T8" fmla="*/ 3 w 260"/>
                  <a:gd name="T9" fmla="*/ 112 h 238"/>
                  <a:gd name="T10" fmla="*/ 0 w 260"/>
                  <a:gd name="T11" fmla="*/ 101 h 238"/>
                  <a:gd name="T12" fmla="*/ 3 w 260"/>
                  <a:gd name="T13" fmla="*/ 107 h 238"/>
                  <a:gd name="T14" fmla="*/ 10 w 260"/>
                  <a:gd name="T15" fmla="*/ 101 h 238"/>
                  <a:gd name="T16" fmla="*/ 10 w 260"/>
                  <a:gd name="T17" fmla="*/ 91 h 238"/>
                  <a:gd name="T18" fmla="*/ 11 w 260"/>
                  <a:gd name="T19" fmla="*/ 82 h 238"/>
                  <a:gd name="T20" fmla="*/ 15 w 260"/>
                  <a:gd name="T21" fmla="*/ 69 h 238"/>
                  <a:gd name="T22" fmla="*/ 15 w 260"/>
                  <a:gd name="T23" fmla="*/ 61 h 238"/>
                  <a:gd name="T24" fmla="*/ 17 w 260"/>
                  <a:gd name="T25" fmla="*/ 56 h 238"/>
                  <a:gd name="T26" fmla="*/ 17 w 260"/>
                  <a:gd name="T27" fmla="*/ 40 h 238"/>
                  <a:gd name="T28" fmla="*/ 18 w 260"/>
                  <a:gd name="T29" fmla="*/ 40 h 238"/>
                  <a:gd name="T30" fmla="*/ 19 w 260"/>
                  <a:gd name="T31" fmla="*/ 26 h 238"/>
                  <a:gd name="T32" fmla="*/ 19 w 260"/>
                  <a:gd name="T33" fmla="*/ 15 h 238"/>
                  <a:gd name="T34" fmla="*/ 20 w 260"/>
                  <a:gd name="T35" fmla="*/ 7 h 238"/>
                  <a:gd name="T36" fmla="*/ 24 w 260"/>
                  <a:gd name="T37" fmla="*/ 0 h 238"/>
                  <a:gd name="T38" fmla="*/ 24 w 260"/>
                  <a:gd name="T39" fmla="*/ 0 h 238"/>
                  <a:gd name="T40" fmla="*/ 28 w 260"/>
                  <a:gd name="T41" fmla="*/ 7 h 238"/>
                  <a:gd name="T42" fmla="*/ 29 w 260"/>
                  <a:gd name="T43" fmla="*/ 15 h 238"/>
                  <a:gd name="T44" fmla="*/ 31 w 260"/>
                  <a:gd name="T45" fmla="*/ 23 h 238"/>
                  <a:gd name="T46" fmla="*/ 30 w 260"/>
                  <a:gd name="T47" fmla="*/ 26 h 238"/>
                  <a:gd name="T48" fmla="*/ 28 w 260"/>
                  <a:gd name="T49" fmla="*/ 33 h 238"/>
                  <a:gd name="T50" fmla="*/ 24 w 260"/>
                  <a:gd name="T51" fmla="*/ 26 h 238"/>
                  <a:gd name="T52" fmla="*/ 24 w 260"/>
                  <a:gd name="T53" fmla="*/ 33 h 238"/>
                  <a:gd name="T54" fmla="*/ 24 w 260"/>
                  <a:gd name="T55" fmla="*/ 40 h 238"/>
                  <a:gd name="T56" fmla="*/ 24 w 260"/>
                  <a:gd name="T57" fmla="*/ 61 h 238"/>
                  <a:gd name="T58" fmla="*/ 26 w 260"/>
                  <a:gd name="T59" fmla="*/ 65 h 238"/>
                  <a:gd name="T60" fmla="*/ 26 w 260"/>
                  <a:gd name="T61" fmla="*/ 69 h 238"/>
                  <a:gd name="T62" fmla="*/ 24 w 260"/>
                  <a:gd name="T63" fmla="*/ 69 h 238"/>
                  <a:gd name="T64" fmla="*/ 26 w 260"/>
                  <a:gd name="T65" fmla="*/ 82 h 238"/>
                  <a:gd name="T66" fmla="*/ 20 w 260"/>
                  <a:gd name="T67" fmla="*/ 124 h 238"/>
                  <a:gd name="T68" fmla="*/ 18 w 260"/>
                  <a:gd name="T69" fmla="*/ 130 h 238"/>
                  <a:gd name="T70" fmla="*/ 17 w 260"/>
                  <a:gd name="T71" fmla="*/ 124 h 238"/>
                  <a:gd name="T72" fmla="*/ 15 w 260"/>
                  <a:gd name="T73" fmla="*/ 130 h 238"/>
                  <a:gd name="T74" fmla="*/ 15 w 260"/>
                  <a:gd name="T75" fmla="*/ 148 h 238"/>
                  <a:gd name="T76" fmla="*/ 17 w 260"/>
                  <a:gd name="T77" fmla="*/ 148 h 238"/>
                  <a:gd name="T78" fmla="*/ 17 w 260"/>
                  <a:gd name="T79" fmla="*/ 154 h 238"/>
                  <a:gd name="T80" fmla="*/ 18 w 260"/>
                  <a:gd name="T81" fmla="*/ 154 h 238"/>
                  <a:gd name="T82" fmla="*/ 18 w 260"/>
                  <a:gd name="T83" fmla="*/ 165 h 238"/>
                  <a:gd name="T84" fmla="*/ 18 w 260"/>
                  <a:gd name="T85" fmla="*/ 171 h 238"/>
                  <a:gd name="T86" fmla="*/ 14 w 260"/>
                  <a:gd name="T87" fmla="*/ 171 h 238"/>
                  <a:gd name="T88" fmla="*/ 13 w 260"/>
                  <a:gd name="T89" fmla="*/ 184 h 238"/>
                  <a:gd name="T90" fmla="*/ 12 w 260"/>
                  <a:gd name="T91" fmla="*/ 171 h 238"/>
                  <a:gd name="T92" fmla="*/ 11 w 260"/>
                  <a:gd name="T93" fmla="*/ 160 h 238"/>
                  <a:gd name="T94" fmla="*/ 7 w 260"/>
                  <a:gd name="T95" fmla="*/ 160 h 238"/>
                  <a:gd name="T96" fmla="*/ 5 w 260"/>
                  <a:gd name="T97" fmla="*/ 160 h 238"/>
                  <a:gd name="T98" fmla="*/ 3 w 260"/>
                  <a:gd name="T99" fmla="*/ 160 h 23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60"/>
                  <a:gd name="T151" fmla="*/ 0 h 238"/>
                  <a:gd name="T152" fmla="*/ 260 w 260"/>
                  <a:gd name="T153" fmla="*/ 238 h 23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60" h="238">
                    <a:moveTo>
                      <a:pt x="8" y="206"/>
                    </a:moveTo>
                    <a:lnTo>
                      <a:pt x="8" y="190"/>
                    </a:lnTo>
                    <a:lnTo>
                      <a:pt x="24" y="176"/>
                    </a:lnTo>
                    <a:lnTo>
                      <a:pt x="16" y="160"/>
                    </a:lnTo>
                    <a:lnTo>
                      <a:pt x="8" y="145"/>
                    </a:lnTo>
                    <a:lnTo>
                      <a:pt x="0" y="129"/>
                    </a:lnTo>
                    <a:lnTo>
                      <a:pt x="16" y="137"/>
                    </a:lnTo>
                    <a:lnTo>
                      <a:pt x="83" y="129"/>
                    </a:lnTo>
                    <a:lnTo>
                      <a:pt x="83" y="115"/>
                    </a:lnTo>
                    <a:lnTo>
                      <a:pt x="91" y="106"/>
                    </a:lnTo>
                    <a:lnTo>
                      <a:pt x="125" y="91"/>
                    </a:lnTo>
                    <a:lnTo>
                      <a:pt x="125" y="76"/>
                    </a:lnTo>
                    <a:lnTo>
                      <a:pt x="141" y="68"/>
                    </a:lnTo>
                    <a:lnTo>
                      <a:pt x="141" y="52"/>
                    </a:lnTo>
                    <a:lnTo>
                      <a:pt x="150" y="52"/>
                    </a:lnTo>
                    <a:lnTo>
                      <a:pt x="158" y="38"/>
                    </a:lnTo>
                    <a:lnTo>
                      <a:pt x="158" y="15"/>
                    </a:lnTo>
                    <a:lnTo>
                      <a:pt x="175" y="7"/>
                    </a:lnTo>
                    <a:lnTo>
                      <a:pt x="200" y="0"/>
                    </a:lnTo>
                    <a:lnTo>
                      <a:pt x="208" y="0"/>
                    </a:lnTo>
                    <a:lnTo>
                      <a:pt x="225" y="7"/>
                    </a:lnTo>
                    <a:lnTo>
                      <a:pt x="242" y="15"/>
                    </a:lnTo>
                    <a:lnTo>
                      <a:pt x="259" y="30"/>
                    </a:lnTo>
                    <a:lnTo>
                      <a:pt x="250" y="38"/>
                    </a:lnTo>
                    <a:lnTo>
                      <a:pt x="225" y="45"/>
                    </a:lnTo>
                    <a:lnTo>
                      <a:pt x="208" y="38"/>
                    </a:lnTo>
                    <a:lnTo>
                      <a:pt x="200" y="45"/>
                    </a:lnTo>
                    <a:lnTo>
                      <a:pt x="208" y="52"/>
                    </a:lnTo>
                    <a:lnTo>
                      <a:pt x="200" y="76"/>
                    </a:lnTo>
                    <a:lnTo>
                      <a:pt x="217" y="83"/>
                    </a:lnTo>
                    <a:lnTo>
                      <a:pt x="217" y="91"/>
                    </a:lnTo>
                    <a:lnTo>
                      <a:pt x="208" y="91"/>
                    </a:lnTo>
                    <a:lnTo>
                      <a:pt x="217" y="106"/>
                    </a:lnTo>
                    <a:lnTo>
                      <a:pt x="167" y="160"/>
                    </a:lnTo>
                    <a:lnTo>
                      <a:pt x="150" y="167"/>
                    </a:lnTo>
                    <a:lnTo>
                      <a:pt x="141" y="160"/>
                    </a:lnTo>
                    <a:lnTo>
                      <a:pt x="125" y="167"/>
                    </a:lnTo>
                    <a:lnTo>
                      <a:pt x="125" y="190"/>
                    </a:lnTo>
                    <a:lnTo>
                      <a:pt x="141" y="190"/>
                    </a:lnTo>
                    <a:lnTo>
                      <a:pt x="141" y="198"/>
                    </a:lnTo>
                    <a:lnTo>
                      <a:pt x="150" y="198"/>
                    </a:lnTo>
                    <a:lnTo>
                      <a:pt x="150" y="213"/>
                    </a:lnTo>
                    <a:lnTo>
                      <a:pt x="150" y="221"/>
                    </a:lnTo>
                    <a:lnTo>
                      <a:pt x="116" y="221"/>
                    </a:lnTo>
                    <a:lnTo>
                      <a:pt x="108" y="237"/>
                    </a:lnTo>
                    <a:lnTo>
                      <a:pt x="100" y="221"/>
                    </a:lnTo>
                    <a:lnTo>
                      <a:pt x="91" y="206"/>
                    </a:lnTo>
                    <a:lnTo>
                      <a:pt x="58" y="206"/>
                    </a:lnTo>
                    <a:lnTo>
                      <a:pt x="41" y="206"/>
                    </a:lnTo>
                    <a:lnTo>
                      <a:pt x="8" y="20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8" name="Freeform 314"/>
              <p:cNvSpPr>
                <a:spLocks/>
              </p:cNvSpPr>
              <p:nvPr/>
            </p:nvSpPr>
            <p:spPr bwMode="auto">
              <a:xfrm>
                <a:off x="5854432" y="3656233"/>
                <a:ext cx="339309" cy="294898"/>
              </a:xfrm>
              <a:custGeom>
                <a:avLst/>
                <a:gdLst>
                  <a:gd name="T0" fmla="*/ 28 w 227"/>
                  <a:gd name="T1" fmla="*/ 21 h 170"/>
                  <a:gd name="T2" fmla="*/ 26 w 227"/>
                  <a:gd name="T3" fmla="*/ 21 h 170"/>
                  <a:gd name="T4" fmla="*/ 24 w 227"/>
                  <a:gd name="T5" fmla="*/ 26 h 170"/>
                  <a:gd name="T6" fmla="*/ 20 w 227"/>
                  <a:gd name="T7" fmla="*/ 35 h 170"/>
                  <a:gd name="T8" fmla="*/ 20 w 227"/>
                  <a:gd name="T9" fmla="*/ 54 h 170"/>
                  <a:gd name="T10" fmla="*/ 20 w 227"/>
                  <a:gd name="T11" fmla="*/ 61 h 170"/>
                  <a:gd name="T12" fmla="*/ 19 w 227"/>
                  <a:gd name="T13" fmla="*/ 61 h 170"/>
                  <a:gd name="T14" fmla="*/ 19 w 227"/>
                  <a:gd name="T15" fmla="*/ 75 h 170"/>
                  <a:gd name="T16" fmla="*/ 17 w 227"/>
                  <a:gd name="T17" fmla="*/ 83 h 170"/>
                  <a:gd name="T18" fmla="*/ 17 w 227"/>
                  <a:gd name="T19" fmla="*/ 92 h 170"/>
                  <a:gd name="T20" fmla="*/ 12 w 227"/>
                  <a:gd name="T21" fmla="*/ 103 h 170"/>
                  <a:gd name="T22" fmla="*/ 12 w 227"/>
                  <a:gd name="T23" fmla="*/ 110 h 170"/>
                  <a:gd name="T24" fmla="*/ 12 w 227"/>
                  <a:gd name="T25" fmla="*/ 121 h 170"/>
                  <a:gd name="T26" fmla="*/ 3 w 227"/>
                  <a:gd name="T27" fmla="*/ 127 h 170"/>
                  <a:gd name="T28" fmla="*/ 3 w 227"/>
                  <a:gd name="T29" fmla="*/ 121 h 170"/>
                  <a:gd name="T30" fmla="*/ 3 w 227"/>
                  <a:gd name="T31" fmla="*/ 110 h 170"/>
                  <a:gd name="T32" fmla="*/ 3 w 227"/>
                  <a:gd name="T33" fmla="*/ 103 h 170"/>
                  <a:gd name="T34" fmla="*/ 0 w 227"/>
                  <a:gd name="T35" fmla="*/ 92 h 170"/>
                  <a:gd name="T36" fmla="*/ 0 w 227"/>
                  <a:gd name="T37" fmla="*/ 61 h 170"/>
                  <a:gd name="T38" fmla="*/ 3 w 227"/>
                  <a:gd name="T39" fmla="*/ 54 h 170"/>
                  <a:gd name="T40" fmla="*/ 3 w 227"/>
                  <a:gd name="T41" fmla="*/ 49 h 170"/>
                  <a:gd name="T42" fmla="*/ 4 w 227"/>
                  <a:gd name="T43" fmla="*/ 49 h 170"/>
                  <a:gd name="T44" fmla="*/ 4 w 227"/>
                  <a:gd name="T45" fmla="*/ 35 h 170"/>
                  <a:gd name="T46" fmla="*/ 7 w 227"/>
                  <a:gd name="T47" fmla="*/ 35 h 170"/>
                  <a:gd name="T48" fmla="*/ 8 w 227"/>
                  <a:gd name="T49" fmla="*/ 21 h 170"/>
                  <a:gd name="T50" fmla="*/ 9 w 227"/>
                  <a:gd name="T51" fmla="*/ 21 h 170"/>
                  <a:gd name="T52" fmla="*/ 9 w 227"/>
                  <a:gd name="T53" fmla="*/ 21 h 170"/>
                  <a:gd name="T54" fmla="*/ 14 w 227"/>
                  <a:gd name="T55" fmla="*/ 21 h 170"/>
                  <a:gd name="T56" fmla="*/ 17 w 227"/>
                  <a:gd name="T57" fmla="*/ 21 h 170"/>
                  <a:gd name="T58" fmla="*/ 17 w 227"/>
                  <a:gd name="T59" fmla="*/ 21 h 170"/>
                  <a:gd name="T60" fmla="*/ 19 w 227"/>
                  <a:gd name="T61" fmla="*/ 21 h 170"/>
                  <a:gd name="T62" fmla="*/ 20 w 227"/>
                  <a:gd name="T63" fmla="*/ 0 h 170"/>
                  <a:gd name="T64" fmla="*/ 20 w 227"/>
                  <a:gd name="T65" fmla="*/ 16 h 170"/>
                  <a:gd name="T66" fmla="*/ 22 w 227"/>
                  <a:gd name="T67" fmla="*/ 26 h 170"/>
                  <a:gd name="T68" fmla="*/ 24 w 227"/>
                  <a:gd name="T69" fmla="*/ 21 h 170"/>
                  <a:gd name="T70" fmla="*/ 29 w 227"/>
                  <a:gd name="T71" fmla="*/ 21 h 170"/>
                  <a:gd name="T72" fmla="*/ 28 w 227"/>
                  <a:gd name="T73" fmla="*/ 21 h 17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27"/>
                  <a:gd name="T112" fmla="*/ 0 h 170"/>
                  <a:gd name="T113" fmla="*/ 227 w 227"/>
                  <a:gd name="T114" fmla="*/ 170 h 17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27" h="170">
                    <a:moveTo>
                      <a:pt x="217" y="31"/>
                    </a:moveTo>
                    <a:lnTo>
                      <a:pt x="209" y="31"/>
                    </a:lnTo>
                    <a:lnTo>
                      <a:pt x="184" y="38"/>
                    </a:lnTo>
                    <a:lnTo>
                      <a:pt x="167" y="47"/>
                    </a:lnTo>
                    <a:lnTo>
                      <a:pt x="167" y="69"/>
                    </a:lnTo>
                    <a:lnTo>
                      <a:pt x="159" y="84"/>
                    </a:lnTo>
                    <a:lnTo>
                      <a:pt x="150" y="84"/>
                    </a:lnTo>
                    <a:lnTo>
                      <a:pt x="150" y="99"/>
                    </a:lnTo>
                    <a:lnTo>
                      <a:pt x="134" y="108"/>
                    </a:lnTo>
                    <a:lnTo>
                      <a:pt x="134" y="122"/>
                    </a:lnTo>
                    <a:lnTo>
                      <a:pt x="100" y="138"/>
                    </a:lnTo>
                    <a:lnTo>
                      <a:pt x="92" y="146"/>
                    </a:lnTo>
                    <a:lnTo>
                      <a:pt x="92" y="161"/>
                    </a:lnTo>
                    <a:lnTo>
                      <a:pt x="25" y="169"/>
                    </a:lnTo>
                    <a:lnTo>
                      <a:pt x="9" y="161"/>
                    </a:lnTo>
                    <a:lnTo>
                      <a:pt x="17" y="146"/>
                    </a:lnTo>
                    <a:lnTo>
                      <a:pt x="17" y="138"/>
                    </a:lnTo>
                    <a:lnTo>
                      <a:pt x="0" y="122"/>
                    </a:lnTo>
                    <a:lnTo>
                      <a:pt x="0" y="84"/>
                    </a:lnTo>
                    <a:lnTo>
                      <a:pt x="9" y="69"/>
                    </a:lnTo>
                    <a:lnTo>
                      <a:pt x="9" y="61"/>
                    </a:lnTo>
                    <a:lnTo>
                      <a:pt x="33" y="61"/>
                    </a:lnTo>
                    <a:lnTo>
                      <a:pt x="33" y="47"/>
                    </a:lnTo>
                    <a:lnTo>
                      <a:pt x="59" y="47"/>
                    </a:lnTo>
                    <a:lnTo>
                      <a:pt x="67" y="31"/>
                    </a:lnTo>
                    <a:lnTo>
                      <a:pt x="75" y="31"/>
                    </a:lnTo>
                    <a:lnTo>
                      <a:pt x="75" y="23"/>
                    </a:lnTo>
                    <a:lnTo>
                      <a:pt x="117" y="31"/>
                    </a:lnTo>
                    <a:lnTo>
                      <a:pt x="134" y="31"/>
                    </a:lnTo>
                    <a:lnTo>
                      <a:pt x="134" y="23"/>
                    </a:lnTo>
                    <a:lnTo>
                      <a:pt x="150" y="23"/>
                    </a:lnTo>
                    <a:lnTo>
                      <a:pt x="159" y="0"/>
                    </a:lnTo>
                    <a:lnTo>
                      <a:pt x="167" y="16"/>
                    </a:lnTo>
                    <a:lnTo>
                      <a:pt x="176" y="38"/>
                    </a:lnTo>
                    <a:lnTo>
                      <a:pt x="201" y="23"/>
                    </a:lnTo>
                    <a:lnTo>
                      <a:pt x="226" y="31"/>
                    </a:lnTo>
                    <a:lnTo>
                      <a:pt x="217"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79" name="Freeform 316"/>
              <p:cNvSpPr>
                <a:spLocks/>
              </p:cNvSpPr>
              <p:nvPr/>
            </p:nvSpPr>
            <p:spPr bwMode="auto">
              <a:xfrm>
                <a:off x="5456499" y="3615374"/>
                <a:ext cx="451228" cy="454782"/>
              </a:xfrm>
              <a:custGeom>
                <a:avLst/>
                <a:gdLst>
                  <a:gd name="T0" fmla="*/ 35 w 302"/>
                  <a:gd name="T1" fmla="*/ 206 h 261"/>
                  <a:gd name="T2" fmla="*/ 28 w 302"/>
                  <a:gd name="T3" fmla="*/ 200 h 261"/>
                  <a:gd name="T4" fmla="*/ 24 w 302"/>
                  <a:gd name="T5" fmla="*/ 182 h 261"/>
                  <a:gd name="T6" fmla="*/ 21 w 302"/>
                  <a:gd name="T7" fmla="*/ 194 h 261"/>
                  <a:gd name="T8" fmla="*/ 19 w 302"/>
                  <a:gd name="T9" fmla="*/ 194 h 261"/>
                  <a:gd name="T10" fmla="*/ 16 w 302"/>
                  <a:gd name="T11" fmla="*/ 170 h 261"/>
                  <a:gd name="T12" fmla="*/ 12 w 302"/>
                  <a:gd name="T13" fmla="*/ 146 h 261"/>
                  <a:gd name="T14" fmla="*/ 10 w 302"/>
                  <a:gd name="T15" fmla="*/ 140 h 261"/>
                  <a:gd name="T16" fmla="*/ 9 w 302"/>
                  <a:gd name="T17" fmla="*/ 140 h 261"/>
                  <a:gd name="T18" fmla="*/ 8 w 302"/>
                  <a:gd name="T19" fmla="*/ 133 h 261"/>
                  <a:gd name="T20" fmla="*/ 6 w 302"/>
                  <a:gd name="T21" fmla="*/ 110 h 261"/>
                  <a:gd name="T22" fmla="*/ 4 w 302"/>
                  <a:gd name="T23" fmla="*/ 106 h 261"/>
                  <a:gd name="T24" fmla="*/ 3 w 302"/>
                  <a:gd name="T25" fmla="*/ 82 h 261"/>
                  <a:gd name="T26" fmla="*/ 4 w 302"/>
                  <a:gd name="T27" fmla="*/ 73 h 261"/>
                  <a:gd name="T28" fmla="*/ 4 w 302"/>
                  <a:gd name="T29" fmla="*/ 57 h 261"/>
                  <a:gd name="T30" fmla="*/ 3 w 302"/>
                  <a:gd name="T31" fmla="*/ 57 h 261"/>
                  <a:gd name="T32" fmla="*/ 3 w 302"/>
                  <a:gd name="T33" fmla="*/ 42 h 261"/>
                  <a:gd name="T34" fmla="*/ 0 w 302"/>
                  <a:gd name="T35" fmla="*/ 8 h 261"/>
                  <a:gd name="T36" fmla="*/ 3 w 302"/>
                  <a:gd name="T37" fmla="*/ 0 h 261"/>
                  <a:gd name="T38" fmla="*/ 3 w 302"/>
                  <a:gd name="T39" fmla="*/ 15 h 261"/>
                  <a:gd name="T40" fmla="*/ 4 w 302"/>
                  <a:gd name="T41" fmla="*/ 15 h 261"/>
                  <a:gd name="T42" fmla="*/ 5 w 302"/>
                  <a:gd name="T43" fmla="*/ 15 h 261"/>
                  <a:gd name="T44" fmla="*/ 8 w 302"/>
                  <a:gd name="T45" fmla="*/ 8 h 261"/>
                  <a:gd name="T46" fmla="*/ 9 w 302"/>
                  <a:gd name="T47" fmla="*/ 8 h 261"/>
                  <a:gd name="T48" fmla="*/ 8 w 302"/>
                  <a:gd name="T49" fmla="*/ 15 h 261"/>
                  <a:gd name="T50" fmla="*/ 10 w 302"/>
                  <a:gd name="T51" fmla="*/ 23 h 261"/>
                  <a:gd name="T52" fmla="*/ 10 w 302"/>
                  <a:gd name="T53" fmla="*/ 33 h 261"/>
                  <a:gd name="T54" fmla="*/ 16 w 302"/>
                  <a:gd name="T55" fmla="*/ 49 h 261"/>
                  <a:gd name="T56" fmla="*/ 20 w 302"/>
                  <a:gd name="T57" fmla="*/ 49 h 261"/>
                  <a:gd name="T58" fmla="*/ 20 w 302"/>
                  <a:gd name="T59" fmla="*/ 33 h 261"/>
                  <a:gd name="T60" fmla="*/ 24 w 302"/>
                  <a:gd name="T61" fmla="*/ 26 h 261"/>
                  <a:gd name="T62" fmla="*/ 28 w 302"/>
                  <a:gd name="T63" fmla="*/ 26 h 261"/>
                  <a:gd name="T64" fmla="*/ 34 w 302"/>
                  <a:gd name="T65" fmla="*/ 49 h 261"/>
                  <a:gd name="T66" fmla="*/ 34 w 302"/>
                  <a:gd name="T67" fmla="*/ 57 h 261"/>
                  <a:gd name="T68" fmla="*/ 34 w 302"/>
                  <a:gd name="T69" fmla="*/ 69 h 261"/>
                  <a:gd name="T70" fmla="*/ 34 w 302"/>
                  <a:gd name="T71" fmla="*/ 73 h 261"/>
                  <a:gd name="T72" fmla="*/ 34 w 302"/>
                  <a:gd name="T73" fmla="*/ 82 h 261"/>
                  <a:gd name="T74" fmla="*/ 34 w 302"/>
                  <a:gd name="T75" fmla="*/ 116 h 261"/>
                  <a:gd name="T76" fmla="*/ 35 w 302"/>
                  <a:gd name="T77" fmla="*/ 126 h 261"/>
                  <a:gd name="T78" fmla="*/ 35 w 302"/>
                  <a:gd name="T79" fmla="*/ 133 h 261"/>
                  <a:gd name="T80" fmla="*/ 34 w 302"/>
                  <a:gd name="T81" fmla="*/ 146 h 261"/>
                  <a:gd name="T82" fmla="*/ 35 w 302"/>
                  <a:gd name="T83" fmla="*/ 158 h 261"/>
                  <a:gd name="T84" fmla="*/ 36 w 302"/>
                  <a:gd name="T85" fmla="*/ 170 h 261"/>
                  <a:gd name="T86" fmla="*/ 38 w 302"/>
                  <a:gd name="T87" fmla="*/ 182 h 261"/>
                  <a:gd name="T88" fmla="*/ 35 w 302"/>
                  <a:gd name="T89" fmla="*/ 194 h 261"/>
                  <a:gd name="T90" fmla="*/ 35 w 302"/>
                  <a:gd name="T91" fmla="*/ 206 h 261"/>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02"/>
                  <a:gd name="T139" fmla="*/ 0 h 261"/>
                  <a:gd name="T140" fmla="*/ 302 w 302"/>
                  <a:gd name="T141" fmla="*/ 261 h 261"/>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02" h="261">
                    <a:moveTo>
                      <a:pt x="284" y="260"/>
                    </a:moveTo>
                    <a:lnTo>
                      <a:pt x="217" y="252"/>
                    </a:lnTo>
                    <a:lnTo>
                      <a:pt x="201" y="230"/>
                    </a:lnTo>
                    <a:lnTo>
                      <a:pt x="176" y="244"/>
                    </a:lnTo>
                    <a:lnTo>
                      <a:pt x="150" y="244"/>
                    </a:lnTo>
                    <a:lnTo>
                      <a:pt x="126" y="214"/>
                    </a:lnTo>
                    <a:lnTo>
                      <a:pt x="100" y="183"/>
                    </a:lnTo>
                    <a:lnTo>
                      <a:pt x="84" y="176"/>
                    </a:lnTo>
                    <a:lnTo>
                      <a:pt x="76" y="176"/>
                    </a:lnTo>
                    <a:lnTo>
                      <a:pt x="67" y="169"/>
                    </a:lnTo>
                    <a:lnTo>
                      <a:pt x="50" y="137"/>
                    </a:lnTo>
                    <a:lnTo>
                      <a:pt x="34" y="130"/>
                    </a:lnTo>
                    <a:lnTo>
                      <a:pt x="25" y="106"/>
                    </a:lnTo>
                    <a:lnTo>
                      <a:pt x="34" y="92"/>
                    </a:lnTo>
                    <a:lnTo>
                      <a:pt x="34" y="69"/>
                    </a:lnTo>
                    <a:lnTo>
                      <a:pt x="25" y="69"/>
                    </a:lnTo>
                    <a:lnTo>
                      <a:pt x="17" y="54"/>
                    </a:lnTo>
                    <a:lnTo>
                      <a:pt x="0" y="8"/>
                    </a:lnTo>
                    <a:lnTo>
                      <a:pt x="17" y="0"/>
                    </a:lnTo>
                    <a:lnTo>
                      <a:pt x="25" y="15"/>
                    </a:lnTo>
                    <a:lnTo>
                      <a:pt x="34" y="15"/>
                    </a:lnTo>
                    <a:lnTo>
                      <a:pt x="42" y="15"/>
                    </a:lnTo>
                    <a:lnTo>
                      <a:pt x="67" y="8"/>
                    </a:lnTo>
                    <a:lnTo>
                      <a:pt x="76" y="8"/>
                    </a:lnTo>
                    <a:lnTo>
                      <a:pt x="67" y="15"/>
                    </a:lnTo>
                    <a:lnTo>
                      <a:pt x="84" y="23"/>
                    </a:lnTo>
                    <a:lnTo>
                      <a:pt x="84" y="45"/>
                    </a:lnTo>
                    <a:lnTo>
                      <a:pt x="126" y="61"/>
                    </a:lnTo>
                    <a:lnTo>
                      <a:pt x="167" y="61"/>
                    </a:lnTo>
                    <a:lnTo>
                      <a:pt x="167" y="45"/>
                    </a:lnTo>
                    <a:lnTo>
                      <a:pt x="184" y="38"/>
                    </a:lnTo>
                    <a:lnTo>
                      <a:pt x="217" y="38"/>
                    </a:lnTo>
                    <a:lnTo>
                      <a:pt x="276" y="61"/>
                    </a:lnTo>
                    <a:lnTo>
                      <a:pt x="276" y="69"/>
                    </a:lnTo>
                    <a:lnTo>
                      <a:pt x="276" y="84"/>
                    </a:lnTo>
                    <a:lnTo>
                      <a:pt x="276" y="92"/>
                    </a:lnTo>
                    <a:lnTo>
                      <a:pt x="267" y="106"/>
                    </a:lnTo>
                    <a:lnTo>
                      <a:pt x="267" y="145"/>
                    </a:lnTo>
                    <a:lnTo>
                      <a:pt x="284" y="160"/>
                    </a:lnTo>
                    <a:lnTo>
                      <a:pt x="284" y="169"/>
                    </a:lnTo>
                    <a:lnTo>
                      <a:pt x="276" y="183"/>
                    </a:lnTo>
                    <a:lnTo>
                      <a:pt x="284" y="199"/>
                    </a:lnTo>
                    <a:lnTo>
                      <a:pt x="293" y="214"/>
                    </a:lnTo>
                    <a:lnTo>
                      <a:pt x="301" y="230"/>
                    </a:lnTo>
                    <a:lnTo>
                      <a:pt x="284" y="244"/>
                    </a:lnTo>
                    <a:lnTo>
                      <a:pt x="284" y="260"/>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0" name="Freeform 318"/>
              <p:cNvSpPr>
                <a:spLocks/>
              </p:cNvSpPr>
              <p:nvPr/>
            </p:nvSpPr>
            <p:spPr bwMode="auto">
              <a:xfrm>
                <a:off x="6017869" y="3576291"/>
                <a:ext cx="175872" cy="147449"/>
              </a:xfrm>
              <a:custGeom>
                <a:avLst/>
                <a:gdLst>
                  <a:gd name="T0" fmla="*/ 12 w 118"/>
                  <a:gd name="T1" fmla="*/ 21 h 85"/>
                  <a:gd name="T2" fmla="*/ 12 w 118"/>
                  <a:gd name="T3" fmla="*/ 34 h 85"/>
                  <a:gd name="T4" fmla="*/ 14 w 118"/>
                  <a:gd name="T5" fmla="*/ 34 h 85"/>
                  <a:gd name="T6" fmla="*/ 14 w 118"/>
                  <a:gd name="T7" fmla="*/ 58 h 85"/>
                  <a:gd name="T8" fmla="*/ 11 w 118"/>
                  <a:gd name="T9" fmla="*/ 53 h 85"/>
                  <a:gd name="T10" fmla="*/ 8 w 118"/>
                  <a:gd name="T11" fmla="*/ 61 h 85"/>
                  <a:gd name="T12" fmla="*/ 7 w 118"/>
                  <a:gd name="T13" fmla="*/ 49 h 85"/>
                  <a:gd name="T14" fmla="*/ 6 w 118"/>
                  <a:gd name="T15" fmla="*/ 34 h 85"/>
                  <a:gd name="T16" fmla="*/ 5 w 118"/>
                  <a:gd name="T17" fmla="*/ 53 h 85"/>
                  <a:gd name="T18" fmla="*/ 3 w 118"/>
                  <a:gd name="T19" fmla="*/ 53 h 85"/>
                  <a:gd name="T20" fmla="*/ 3 w 118"/>
                  <a:gd name="T21" fmla="*/ 58 h 85"/>
                  <a:gd name="T22" fmla="*/ 3 w 118"/>
                  <a:gd name="T23" fmla="*/ 58 h 85"/>
                  <a:gd name="T24" fmla="*/ 0 w 118"/>
                  <a:gd name="T25" fmla="*/ 58 h 85"/>
                  <a:gd name="T26" fmla="*/ 3 w 118"/>
                  <a:gd name="T27" fmla="*/ 49 h 85"/>
                  <a:gd name="T28" fmla="*/ 3 w 118"/>
                  <a:gd name="T29" fmla="*/ 26 h 85"/>
                  <a:gd name="T30" fmla="*/ 0 w 118"/>
                  <a:gd name="T31" fmla="*/ 21 h 85"/>
                  <a:gd name="T32" fmla="*/ 3 w 118"/>
                  <a:gd name="T33" fmla="*/ 21 h 85"/>
                  <a:gd name="T34" fmla="*/ 3 w 118"/>
                  <a:gd name="T35" fmla="*/ 7 h 85"/>
                  <a:gd name="T36" fmla="*/ 3 w 118"/>
                  <a:gd name="T37" fmla="*/ 0 h 85"/>
                  <a:gd name="T38" fmla="*/ 6 w 118"/>
                  <a:gd name="T39" fmla="*/ 0 h 85"/>
                  <a:gd name="T40" fmla="*/ 6 w 118"/>
                  <a:gd name="T41" fmla="*/ 7 h 85"/>
                  <a:gd name="T42" fmla="*/ 6 w 118"/>
                  <a:gd name="T43" fmla="*/ 21 h 85"/>
                  <a:gd name="T44" fmla="*/ 3 w 118"/>
                  <a:gd name="T45" fmla="*/ 21 h 85"/>
                  <a:gd name="T46" fmla="*/ 3 w 118"/>
                  <a:gd name="T47" fmla="*/ 21 h 85"/>
                  <a:gd name="T48" fmla="*/ 7 w 118"/>
                  <a:gd name="T49" fmla="*/ 21 h 85"/>
                  <a:gd name="T50" fmla="*/ 8 w 118"/>
                  <a:gd name="T51" fmla="*/ 21 h 85"/>
                  <a:gd name="T52" fmla="*/ 12 w 118"/>
                  <a:gd name="T53" fmla="*/ 21 h 85"/>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8"/>
                  <a:gd name="T82" fmla="*/ 0 h 85"/>
                  <a:gd name="T83" fmla="*/ 118 w 118"/>
                  <a:gd name="T84" fmla="*/ 85 h 85"/>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8" h="85">
                    <a:moveTo>
                      <a:pt x="100" y="31"/>
                    </a:moveTo>
                    <a:lnTo>
                      <a:pt x="100" y="46"/>
                    </a:lnTo>
                    <a:lnTo>
                      <a:pt x="117" y="46"/>
                    </a:lnTo>
                    <a:lnTo>
                      <a:pt x="117" y="77"/>
                    </a:lnTo>
                    <a:lnTo>
                      <a:pt x="92" y="68"/>
                    </a:lnTo>
                    <a:lnTo>
                      <a:pt x="67" y="84"/>
                    </a:lnTo>
                    <a:lnTo>
                      <a:pt x="58" y="61"/>
                    </a:lnTo>
                    <a:lnTo>
                      <a:pt x="50" y="46"/>
                    </a:lnTo>
                    <a:lnTo>
                      <a:pt x="41" y="68"/>
                    </a:lnTo>
                    <a:lnTo>
                      <a:pt x="25" y="68"/>
                    </a:lnTo>
                    <a:lnTo>
                      <a:pt x="25" y="77"/>
                    </a:lnTo>
                    <a:lnTo>
                      <a:pt x="8" y="77"/>
                    </a:lnTo>
                    <a:lnTo>
                      <a:pt x="0" y="77"/>
                    </a:lnTo>
                    <a:lnTo>
                      <a:pt x="8" y="61"/>
                    </a:lnTo>
                    <a:lnTo>
                      <a:pt x="8" y="38"/>
                    </a:lnTo>
                    <a:lnTo>
                      <a:pt x="0" y="31"/>
                    </a:lnTo>
                    <a:lnTo>
                      <a:pt x="16" y="31"/>
                    </a:lnTo>
                    <a:lnTo>
                      <a:pt x="25" y="7"/>
                    </a:lnTo>
                    <a:lnTo>
                      <a:pt x="25" y="0"/>
                    </a:lnTo>
                    <a:lnTo>
                      <a:pt x="50" y="0"/>
                    </a:lnTo>
                    <a:lnTo>
                      <a:pt x="50" y="7"/>
                    </a:lnTo>
                    <a:lnTo>
                      <a:pt x="50" y="23"/>
                    </a:lnTo>
                    <a:lnTo>
                      <a:pt x="25" y="23"/>
                    </a:lnTo>
                    <a:lnTo>
                      <a:pt x="25" y="31"/>
                    </a:lnTo>
                    <a:lnTo>
                      <a:pt x="58" y="31"/>
                    </a:lnTo>
                    <a:lnTo>
                      <a:pt x="67" y="31"/>
                    </a:lnTo>
                    <a:lnTo>
                      <a:pt x="100" y="31"/>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1" name="Freeform 320"/>
              <p:cNvSpPr>
                <a:spLocks/>
              </p:cNvSpPr>
              <p:nvPr/>
            </p:nvSpPr>
            <p:spPr bwMode="auto">
              <a:xfrm>
                <a:off x="6055175" y="3496349"/>
                <a:ext cx="264697" cy="136790"/>
              </a:xfrm>
              <a:custGeom>
                <a:avLst/>
                <a:gdLst>
                  <a:gd name="T0" fmla="*/ 22 w 177"/>
                  <a:gd name="T1" fmla="*/ 15 h 77"/>
                  <a:gd name="T2" fmla="*/ 22 w 177"/>
                  <a:gd name="T3" fmla="*/ 30 h 77"/>
                  <a:gd name="T4" fmla="*/ 18 w 177"/>
                  <a:gd name="T5" fmla="*/ 45 h 77"/>
                  <a:gd name="T6" fmla="*/ 16 w 177"/>
                  <a:gd name="T7" fmla="*/ 45 h 77"/>
                  <a:gd name="T8" fmla="*/ 14 w 177"/>
                  <a:gd name="T9" fmla="*/ 53 h 77"/>
                  <a:gd name="T10" fmla="*/ 12 w 177"/>
                  <a:gd name="T11" fmla="*/ 53 h 77"/>
                  <a:gd name="T12" fmla="*/ 9 w 177"/>
                  <a:gd name="T13" fmla="*/ 68 h 77"/>
                  <a:gd name="T14" fmla="*/ 9 w 177"/>
                  <a:gd name="T15" fmla="*/ 76 h 77"/>
                  <a:gd name="T16" fmla="*/ 5 w 177"/>
                  <a:gd name="T17" fmla="*/ 76 h 77"/>
                  <a:gd name="T18" fmla="*/ 4 w 177"/>
                  <a:gd name="T19" fmla="*/ 76 h 77"/>
                  <a:gd name="T20" fmla="*/ 0 w 177"/>
                  <a:gd name="T21" fmla="*/ 76 h 77"/>
                  <a:gd name="T22" fmla="*/ 0 w 177"/>
                  <a:gd name="T23" fmla="*/ 68 h 77"/>
                  <a:gd name="T24" fmla="*/ 3 w 177"/>
                  <a:gd name="T25" fmla="*/ 68 h 77"/>
                  <a:gd name="T26" fmla="*/ 3 w 177"/>
                  <a:gd name="T27" fmla="*/ 53 h 77"/>
                  <a:gd name="T28" fmla="*/ 5 w 177"/>
                  <a:gd name="T29" fmla="*/ 53 h 77"/>
                  <a:gd name="T30" fmla="*/ 8 w 177"/>
                  <a:gd name="T31" fmla="*/ 45 h 77"/>
                  <a:gd name="T32" fmla="*/ 5 w 177"/>
                  <a:gd name="T33" fmla="*/ 38 h 77"/>
                  <a:gd name="T34" fmla="*/ 4 w 177"/>
                  <a:gd name="T35" fmla="*/ 38 h 77"/>
                  <a:gd name="T36" fmla="*/ 3 w 177"/>
                  <a:gd name="T37" fmla="*/ 38 h 77"/>
                  <a:gd name="T38" fmla="*/ 4 w 177"/>
                  <a:gd name="T39" fmla="*/ 15 h 77"/>
                  <a:gd name="T40" fmla="*/ 3 w 177"/>
                  <a:gd name="T41" fmla="*/ 15 h 77"/>
                  <a:gd name="T42" fmla="*/ 4 w 177"/>
                  <a:gd name="T43" fmla="*/ 7 h 77"/>
                  <a:gd name="T44" fmla="*/ 8 w 177"/>
                  <a:gd name="T45" fmla="*/ 15 h 77"/>
                  <a:gd name="T46" fmla="*/ 8 w 177"/>
                  <a:gd name="T47" fmla="*/ 7 h 77"/>
                  <a:gd name="T48" fmla="*/ 9 w 177"/>
                  <a:gd name="T49" fmla="*/ 0 h 77"/>
                  <a:gd name="T50" fmla="*/ 12 w 177"/>
                  <a:gd name="T51" fmla="*/ 7 h 77"/>
                  <a:gd name="T52" fmla="*/ 19 w 177"/>
                  <a:gd name="T53" fmla="*/ 7 h 77"/>
                  <a:gd name="T54" fmla="*/ 22 w 177"/>
                  <a:gd name="T55" fmla="*/ 15 h 7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77"/>
                  <a:gd name="T85" fmla="*/ 0 h 77"/>
                  <a:gd name="T86" fmla="*/ 177 w 177"/>
                  <a:gd name="T87" fmla="*/ 77 h 7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77" h="77">
                    <a:moveTo>
                      <a:pt x="176" y="15"/>
                    </a:moveTo>
                    <a:lnTo>
                      <a:pt x="176" y="30"/>
                    </a:lnTo>
                    <a:lnTo>
                      <a:pt x="142" y="45"/>
                    </a:lnTo>
                    <a:lnTo>
                      <a:pt x="125" y="45"/>
                    </a:lnTo>
                    <a:lnTo>
                      <a:pt x="117" y="53"/>
                    </a:lnTo>
                    <a:lnTo>
                      <a:pt x="92" y="53"/>
                    </a:lnTo>
                    <a:lnTo>
                      <a:pt x="75" y="68"/>
                    </a:lnTo>
                    <a:lnTo>
                      <a:pt x="75" y="76"/>
                    </a:lnTo>
                    <a:lnTo>
                      <a:pt x="42" y="76"/>
                    </a:lnTo>
                    <a:lnTo>
                      <a:pt x="33" y="76"/>
                    </a:lnTo>
                    <a:lnTo>
                      <a:pt x="0" y="76"/>
                    </a:lnTo>
                    <a:lnTo>
                      <a:pt x="0" y="68"/>
                    </a:lnTo>
                    <a:lnTo>
                      <a:pt x="25" y="68"/>
                    </a:lnTo>
                    <a:lnTo>
                      <a:pt x="25" y="53"/>
                    </a:lnTo>
                    <a:lnTo>
                      <a:pt x="42" y="53"/>
                    </a:lnTo>
                    <a:lnTo>
                      <a:pt x="67" y="45"/>
                    </a:lnTo>
                    <a:lnTo>
                      <a:pt x="42" y="38"/>
                    </a:lnTo>
                    <a:lnTo>
                      <a:pt x="33" y="38"/>
                    </a:lnTo>
                    <a:lnTo>
                      <a:pt x="16" y="38"/>
                    </a:lnTo>
                    <a:lnTo>
                      <a:pt x="33" y="15"/>
                    </a:lnTo>
                    <a:lnTo>
                      <a:pt x="25" y="15"/>
                    </a:lnTo>
                    <a:lnTo>
                      <a:pt x="33" y="7"/>
                    </a:lnTo>
                    <a:lnTo>
                      <a:pt x="67" y="15"/>
                    </a:lnTo>
                    <a:lnTo>
                      <a:pt x="67" y="7"/>
                    </a:lnTo>
                    <a:lnTo>
                      <a:pt x="75" y="0"/>
                    </a:lnTo>
                    <a:lnTo>
                      <a:pt x="92" y="7"/>
                    </a:lnTo>
                    <a:lnTo>
                      <a:pt x="150" y="7"/>
                    </a:lnTo>
                    <a:lnTo>
                      <a:pt x="176"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2" name="Freeform 322"/>
              <p:cNvSpPr>
                <a:spLocks/>
              </p:cNvSpPr>
              <p:nvPr/>
            </p:nvSpPr>
            <p:spPr bwMode="auto">
              <a:xfrm>
                <a:off x="5657242" y="3510561"/>
                <a:ext cx="348192" cy="252262"/>
              </a:xfrm>
              <a:custGeom>
                <a:avLst/>
                <a:gdLst>
                  <a:gd name="T0" fmla="*/ 27 w 234"/>
                  <a:gd name="T1" fmla="*/ 83 h 146"/>
                  <a:gd name="T2" fmla="*/ 23 w 234"/>
                  <a:gd name="T3" fmla="*/ 77 h 146"/>
                  <a:gd name="T4" fmla="*/ 23 w 234"/>
                  <a:gd name="T5" fmla="*/ 83 h 146"/>
                  <a:gd name="T6" fmla="*/ 23 w 234"/>
                  <a:gd name="T7" fmla="*/ 83 h 146"/>
                  <a:gd name="T8" fmla="*/ 23 w 234"/>
                  <a:gd name="T9" fmla="*/ 93 h 146"/>
                  <a:gd name="T10" fmla="*/ 19 w 234"/>
                  <a:gd name="T11" fmla="*/ 93 h 146"/>
                  <a:gd name="T12" fmla="*/ 19 w 234"/>
                  <a:gd name="T13" fmla="*/ 104 h 146"/>
                  <a:gd name="T14" fmla="*/ 16 w 234"/>
                  <a:gd name="T15" fmla="*/ 104 h 146"/>
                  <a:gd name="T16" fmla="*/ 16 w 234"/>
                  <a:gd name="T17" fmla="*/ 93 h 146"/>
                  <a:gd name="T18" fmla="*/ 16 w 234"/>
                  <a:gd name="T19" fmla="*/ 87 h 146"/>
                  <a:gd name="T20" fmla="*/ 9 w 234"/>
                  <a:gd name="T21" fmla="*/ 72 h 146"/>
                  <a:gd name="T22" fmla="*/ 6 w 234"/>
                  <a:gd name="T23" fmla="*/ 72 h 146"/>
                  <a:gd name="T24" fmla="*/ 4 w 234"/>
                  <a:gd name="T25" fmla="*/ 77 h 146"/>
                  <a:gd name="T26" fmla="*/ 4 w 234"/>
                  <a:gd name="T27" fmla="*/ 53 h 146"/>
                  <a:gd name="T28" fmla="*/ 3 w 234"/>
                  <a:gd name="T29" fmla="*/ 53 h 146"/>
                  <a:gd name="T30" fmla="*/ 3 w 234"/>
                  <a:gd name="T31" fmla="*/ 45 h 146"/>
                  <a:gd name="T32" fmla="*/ 3 w 234"/>
                  <a:gd name="T33" fmla="*/ 45 h 146"/>
                  <a:gd name="T34" fmla="*/ 3 w 234"/>
                  <a:gd name="T35" fmla="*/ 33 h 146"/>
                  <a:gd name="T36" fmla="*/ 4 w 234"/>
                  <a:gd name="T37" fmla="*/ 33 h 146"/>
                  <a:gd name="T38" fmla="*/ 5 w 234"/>
                  <a:gd name="T39" fmla="*/ 26 h 146"/>
                  <a:gd name="T40" fmla="*/ 3 w 234"/>
                  <a:gd name="T41" fmla="*/ 18 h 146"/>
                  <a:gd name="T42" fmla="*/ 3 w 234"/>
                  <a:gd name="T43" fmla="*/ 18 h 146"/>
                  <a:gd name="T44" fmla="*/ 3 w 234"/>
                  <a:gd name="T45" fmla="*/ 26 h 146"/>
                  <a:gd name="T46" fmla="*/ 0 w 234"/>
                  <a:gd name="T47" fmla="*/ 18 h 146"/>
                  <a:gd name="T48" fmla="*/ 4 w 234"/>
                  <a:gd name="T49" fmla="*/ 8 h 146"/>
                  <a:gd name="T50" fmla="*/ 6 w 234"/>
                  <a:gd name="T51" fmla="*/ 19 h 146"/>
                  <a:gd name="T52" fmla="*/ 7 w 234"/>
                  <a:gd name="T53" fmla="*/ 19 h 146"/>
                  <a:gd name="T54" fmla="*/ 8 w 234"/>
                  <a:gd name="T55" fmla="*/ 19 h 146"/>
                  <a:gd name="T56" fmla="*/ 8 w 234"/>
                  <a:gd name="T57" fmla="*/ 18 h 146"/>
                  <a:gd name="T58" fmla="*/ 11 w 234"/>
                  <a:gd name="T59" fmla="*/ 8 h 146"/>
                  <a:gd name="T60" fmla="*/ 11 w 234"/>
                  <a:gd name="T61" fmla="*/ 8 h 146"/>
                  <a:gd name="T62" fmla="*/ 11 w 234"/>
                  <a:gd name="T63" fmla="*/ 0 h 146"/>
                  <a:gd name="T64" fmla="*/ 11 w 234"/>
                  <a:gd name="T65" fmla="*/ 0 h 146"/>
                  <a:gd name="T66" fmla="*/ 13 w 234"/>
                  <a:gd name="T67" fmla="*/ 8 h 146"/>
                  <a:gd name="T68" fmla="*/ 13 w 234"/>
                  <a:gd name="T69" fmla="*/ 19 h 146"/>
                  <a:gd name="T70" fmla="*/ 18 w 234"/>
                  <a:gd name="T71" fmla="*/ 19 h 146"/>
                  <a:gd name="T72" fmla="*/ 19 w 234"/>
                  <a:gd name="T73" fmla="*/ 45 h 146"/>
                  <a:gd name="T74" fmla="*/ 23 w 234"/>
                  <a:gd name="T75" fmla="*/ 60 h 146"/>
                  <a:gd name="T76" fmla="*/ 28 w 234"/>
                  <a:gd name="T77" fmla="*/ 72 h 146"/>
                  <a:gd name="T78" fmla="*/ 27 w 234"/>
                  <a:gd name="T79" fmla="*/ 83 h 14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34"/>
                  <a:gd name="T121" fmla="*/ 0 h 146"/>
                  <a:gd name="T122" fmla="*/ 234 w 234"/>
                  <a:gd name="T123" fmla="*/ 146 h 14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34" h="146">
                    <a:moveTo>
                      <a:pt x="225" y="115"/>
                    </a:moveTo>
                    <a:lnTo>
                      <a:pt x="208" y="106"/>
                    </a:lnTo>
                    <a:lnTo>
                      <a:pt x="208" y="115"/>
                    </a:lnTo>
                    <a:lnTo>
                      <a:pt x="200" y="115"/>
                    </a:lnTo>
                    <a:lnTo>
                      <a:pt x="192" y="130"/>
                    </a:lnTo>
                    <a:lnTo>
                      <a:pt x="166" y="130"/>
                    </a:lnTo>
                    <a:lnTo>
                      <a:pt x="166" y="145"/>
                    </a:lnTo>
                    <a:lnTo>
                      <a:pt x="142" y="145"/>
                    </a:lnTo>
                    <a:lnTo>
                      <a:pt x="142" y="130"/>
                    </a:lnTo>
                    <a:lnTo>
                      <a:pt x="142" y="122"/>
                    </a:lnTo>
                    <a:lnTo>
                      <a:pt x="83" y="99"/>
                    </a:lnTo>
                    <a:lnTo>
                      <a:pt x="50" y="99"/>
                    </a:lnTo>
                    <a:lnTo>
                      <a:pt x="32" y="106"/>
                    </a:lnTo>
                    <a:lnTo>
                      <a:pt x="32" y="76"/>
                    </a:lnTo>
                    <a:lnTo>
                      <a:pt x="16" y="76"/>
                    </a:lnTo>
                    <a:lnTo>
                      <a:pt x="16" y="61"/>
                    </a:lnTo>
                    <a:lnTo>
                      <a:pt x="8" y="61"/>
                    </a:lnTo>
                    <a:lnTo>
                      <a:pt x="8" y="45"/>
                    </a:lnTo>
                    <a:lnTo>
                      <a:pt x="32" y="45"/>
                    </a:lnTo>
                    <a:lnTo>
                      <a:pt x="41" y="38"/>
                    </a:lnTo>
                    <a:lnTo>
                      <a:pt x="16" y="22"/>
                    </a:lnTo>
                    <a:lnTo>
                      <a:pt x="8" y="22"/>
                    </a:lnTo>
                    <a:lnTo>
                      <a:pt x="8" y="38"/>
                    </a:lnTo>
                    <a:lnTo>
                      <a:pt x="0" y="22"/>
                    </a:lnTo>
                    <a:lnTo>
                      <a:pt x="32" y="8"/>
                    </a:lnTo>
                    <a:lnTo>
                      <a:pt x="50" y="31"/>
                    </a:lnTo>
                    <a:lnTo>
                      <a:pt x="58" y="31"/>
                    </a:lnTo>
                    <a:lnTo>
                      <a:pt x="66" y="31"/>
                    </a:lnTo>
                    <a:lnTo>
                      <a:pt x="66" y="22"/>
                    </a:lnTo>
                    <a:lnTo>
                      <a:pt x="92" y="8"/>
                    </a:lnTo>
                    <a:lnTo>
                      <a:pt x="100" y="8"/>
                    </a:lnTo>
                    <a:lnTo>
                      <a:pt x="92" y="0"/>
                    </a:lnTo>
                    <a:lnTo>
                      <a:pt x="100" y="0"/>
                    </a:lnTo>
                    <a:lnTo>
                      <a:pt x="116" y="8"/>
                    </a:lnTo>
                    <a:lnTo>
                      <a:pt x="116" y="31"/>
                    </a:lnTo>
                    <a:lnTo>
                      <a:pt x="150" y="31"/>
                    </a:lnTo>
                    <a:lnTo>
                      <a:pt x="158" y="61"/>
                    </a:lnTo>
                    <a:lnTo>
                      <a:pt x="208" y="84"/>
                    </a:lnTo>
                    <a:lnTo>
                      <a:pt x="233" y="99"/>
                    </a:lnTo>
                    <a:lnTo>
                      <a:pt x="225" y="1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3" name="Freeform 324"/>
              <p:cNvSpPr>
                <a:spLocks/>
              </p:cNvSpPr>
              <p:nvPr/>
            </p:nvSpPr>
            <p:spPr bwMode="auto">
              <a:xfrm>
                <a:off x="5742513" y="3418183"/>
                <a:ext cx="413922" cy="293121"/>
              </a:xfrm>
              <a:custGeom>
                <a:avLst/>
                <a:gdLst>
                  <a:gd name="T0" fmla="*/ 20 w 277"/>
                  <a:gd name="T1" fmla="*/ 126 h 169"/>
                  <a:gd name="T2" fmla="*/ 24 w 277"/>
                  <a:gd name="T3" fmla="*/ 126 h 169"/>
                  <a:gd name="T4" fmla="*/ 24 w 277"/>
                  <a:gd name="T5" fmla="*/ 114 h 169"/>
                  <a:gd name="T6" fmla="*/ 24 w 277"/>
                  <a:gd name="T7" fmla="*/ 97 h 169"/>
                  <a:gd name="T8" fmla="*/ 24 w 277"/>
                  <a:gd name="T9" fmla="*/ 92 h 169"/>
                  <a:gd name="T10" fmla="*/ 24 w 277"/>
                  <a:gd name="T11" fmla="*/ 92 h 169"/>
                  <a:gd name="T12" fmla="*/ 25 w 277"/>
                  <a:gd name="T13" fmla="*/ 74 h 169"/>
                  <a:gd name="T14" fmla="*/ 25 w 277"/>
                  <a:gd name="T15" fmla="*/ 67 h 169"/>
                  <a:gd name="T16" fmla="*/ 29 w 277"/>
                  <a:gd name="T17" fmla="*/ 67 h 169"/>
                  <a:gd name="T18" fmla="*/ 29 w 277"/>
                  <a:gd name="T19" fmla="*/ 74 h 169"/>
                  <a:gd name="T20" fmla="*/ 31 w 277"/>
                  <a:gd name="T21" fmla="*/ 74 h 169"/>
                  <a:gd name="T22" fmla="*/ 34 w 277"/>
                  <a:gd name="T23" fmla="*/ 67 h 169"/>
                  <a:gd name="T24" fmla="*/ 31 w 277"/>
                  <a:gd name="T25" fmla="*/ 61 h 169"/>
                  <a:gd name="T26" fmla="*/ 30 w 277"/>
                  <a:gd name="T27" fmla="*/ 61 h 169"/>
                  <a:gd name="T28" fmla="*/ 29 w 277"/>
                  <a:gd name="T29" fmla="*/ 61 h 169"/>
                  <a:gd name="T30" fmla="*/ 30 w 277"/>
                  <a:gd name="T31" fmla="*/ 49 h 169"/>
                  <a:gd name="T32" fmla="*/ 29 w 277"/>
                  <a:gd name="T33" fmla="*/ 49 h 169"/>
                  <a:gd name="T34" fmla="*/ 24 w 277"/>
                  <a:gd name="T35" fmla="*/ 67 h 169"/>
                  <a:gd name="T36" fmla="*/ 24 w 277"/>
                  <a:gd name="T37" fmla="*/ 61 h 169"/>
                  <a:gd name="T38" fmla="*/ 21 w 277"/>
                  <a:gd name="T39" fmla="*/ 61 h 169"/>
                  <a:gd name="T40" fmla="*/ 21 w 277"/>
                  <a:gd name="T41" fmla="*/ 57 h 169"/>
                  <a:gd name="T42" fmla="*/ 20 w 277"/>
                  <a:gd name="T43" fmla="*/ 57 h 169"/>
                  <a:gd name="T44" fmla="*/ 20 w 277"/>
                  <a:gd name="T45" fmla="*/ 41 h 169"/>
                  <a:gd name="T46" fmla="*/ 17 w 277"/>
                  <a:gd name="T47" fmla="*/ 25 h 169"/>
                  <a:gd name="T48" fmla="*/ 12 w 277"/>
                  <a:gd name="T49" fmla="*/ 25 h 169"/>
                  <a:gd name="T50" fmla="*/ 7 w 277"/>
                  <a:gd name="T51" fmla="*/ 7 h 169"/>
                  <a:gd name="T52" fmla="*/ 5 w 277"/>
                  <a:gd name="T53" fmla="*/ 0 h 169"/>
                  <a:gd name="T54" fmla="*/ 0 w 277"/>
                  <a:gd name="T55" fmla="*/ 7 h 169"/>
                  <a:gd name="T56" fmla="*/ 0 w 277"/>
                  <a:gd name="T57" fmla="*/ 61 h 169"/>
                  <a:gd name="T58" fmla="*/ 3 w 277"/>
                  <a:gd name="T59" fmla="*/ 61 h 169"/>
                  <a:gd name="T60" fmla="*/ 3 w 277"/>
                  <a:gd name="T61" fmla="*/ 57 h 169"/>
                  <a:gd name="T62" fmla="*/ 4 w 277"/>
                  <a:gd name="T63" fmla="*/ 49 h 169"/>
                  <a:gd name="T64" fmla="*/ 5 w 277"/>
                  <a:gd name="T65" fmla="*/ 49 h 169"/>
                  <a:gd name="T66" fmla="*/ 4 w 277"/>
                  <a:gd name="T67" fmla="*/ 41 h 169"/>
                  <a:gd name="T68" fmla="*/ 5 w 277"/>
                  <a:gd name="T69" fmla="*/ 41 h 169"/>
                  <a:gd name="T70" fmla="*/ 7 w 277"/>
                  <a:gd name="T71" fmla="*/ 49 h 169"/>
                  <a:gd name="T72" fmla="*/ 7 w 277"/>
                  <a:gd name="T73" fmla="*/ 61 h 169"/>
                  <a:gd name="T74" fmla="*/ 12 w 277"/>
                  <a:gd name="T75" fmla="*/ 61 h 169"/>
                  <a:gd name="T76" fmla="*/ 12 w 277"/>
                  <a:gd name="T77" fmla="*/ 87 h 169"/>
                  <a:gd name="T78" fmla="*/ 19 w 277"/>
                  <a:gd name="T79" fmla="*/ 102 h 169"/>
                  <a:gd name="T80" fmla="*/ 21 w 277"/>
                  <a:gd name="T81" fmla="*/ 114 h 169"/>
                  <a:gd name="T82" fmla="*/ 20 w 277"/>
                  <a:gd name="T83" fmla="*/ 126 h 16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77"/>
                  <a:gd name="T127" fmla="*/ 0 h 169"/>
                  <a:gd name="T128" fmla="*/ 277 w 277"/>
                  <a:gd name="T129" fmla="*/ 169 h 16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77" h="169">
                    <a:moveTo>
                      <a:pt x="167" y="168"/>
                    </a:moveTo>
                    <a:lnTo>
                      <a:pt x="184" y="168"/>
                    </a:lnTo>
                    <a:lnTo>
                      <a:pt x="192" y="152"/>
                    </a:lnTo>
                    <a:lnTo>
                      <a:pt x="192" y="129"/>
                    </a:lnTo>
                    <a:lnTo>
                      <a:pt x="184" y="122"/>
                    </a:lnTo>
                    <a:lnTo>
                      <a:pt x="200" y="122"/>
                    </a:lnTo>
                    <a:lnTo>
                      <a:pt x="209" y="98"/>
                    </a:lnTo>
                    <a:lnTo>
                      <a:pt x="209" y="91"/>
                    </a:lnTo>
                    <a:lnTo>
                      <a:pt x="234" y="91"/>
                    </a:lnTo>
                    <a:lnTo>
                      <a:pt x="234" y="98"/>
                    </a:lnTo>
                    <a:lnTo>
                      <a:pt x="251" y="98"/>
                    </a:lnTo>
                    <a:lnTo>
                      <a:pt x="276" y="91"/>
                    </a:lnTo>
                    <a:lnTo>
                      <a:pt x="251" y="84"/>
                    </a:lnTo>
                    <a:lnTo>
                      <a:pt x="242" y="84"/>
                    </a:lnTo>
                    <a:lnTo>
                      <a:pt x="225" y="84"/>
                    </a:lnTo>
                    <a:lnTo>
                      <a:pt x="242" y="61"/>
                    </a:lnTo>
                    <a:lnTo>
                      <a:pt x="234" y="61"/>
                    </a:lnTo>
                    <a:lnTo>
                      <a:pt x="200" y="91"/>
                    </a:lnTo>
                    <a:lnTo>
                      <a:pt x="192" y="84"/>
                    </a:lnTo>
                    <a:lnTo>
                      <a:pt x="175" y="84"/>
                    </a:lnTo>
                    <a:lnTo>
                      <a:pt x="175" y="75"/>
                    </a:lnTo>
                    <a:lnTo>
                      <a:pt x="167" y="75"/>
                    </a:lnTo>
                    <a:lnTo>
                      <a:pt x="167" y="53"/>
                    </a:lnTo>
                    <a:lnTo>
                      <a:pt x="142" y="37"/>
                    </a:lnTo>
                    <a:lnTo>
                      <a:pt x="92" y="37"/>
                    </a:lnTo>
                    <a:lnTo>
                      <a:pt x="58" y="7"/>
                    </a:lnTo>
                    <a:lnTo>
                      <a:pt x="42" y="0"/>
                    </a:lnTo>
                    <a:lnTo>
                      <a:pt x="0" y="7"/>
                    </a:lnTo>
                    <a:lnTo>
                      <a:pt x="0" y="84"/>
                    </a:lnTo>
                    <a:lnTo>
                      <a:pt x="8" y="84"/>
                    </a:lnTo>
                    <a:lnTo>
                      <a:pt x="8" y="75"/>
                    </a:lnTo>
                    <a:lnTo>
                      <a:pt x="34" y="61"/>
                    </a:lnTo>
                    <a:lnTo>
                      <a:pt x="42" y="61"/>
                    </a:lnTo>
                    <a:lnTo>
                      <a:pt x="34" y="53"/>
                    </a:lnTo>
                    <a:lnTo>
                      <a:pt x="42" y="53"/>
                    </a:lnTo>
                    <a:lnTo>
                      <a:pt x="58" y="61"/>
                    </a:lnTo>
                    <a:lnTo>
                      <a:pt x="58" y="84"/>
                    </a:lnTo>
                    <a:lnTo>
                      <a:pt x="92" y="84"/>
                    </a:lnTo>
                    <a:lnTo>
                      <a:pt x="100" y="114"/>
                    </a:lnTo>
                    <a:lnTo>
                      <a:pt x="150" y="137"/>
                    </a:lnTo>
                    <a:lnTo>
                      <a:pt x="175" y="152"/>
                    </a:lnTo>
                    <a:lnTo>
                      <a:pt x="167" y="16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4" name="Freeform 326"/>
              <p:cNvSpPr>
                <a:spLocks/>
              </p:cNvSpPr>
              <p:nvPr/>
            </p:nvSpPr>
            <p:spPr bwMode="auto">
              <a:xfrm>
                <a:off x="5257532" y="3709528"/>
                <a:ext cx="175872" cy="147449"/>
              </a:xfrm>
              <a:custGeom>
                <a:avLst/>
                <a:gdLst>
                  <a:gd name="T0" fmla="*/ 0 w 118"/>
                  <a:gd name="T1" fmla="*/ 61 h 85"/>
                  <a:gd name="T2" fmla="*/ 3 w 118"/>
                  <a:gd name="T3" fmla="*/ 58 h 85"/>
                  <a:gd name="T4" fmla="*/ 3 w 118"/>
                  <a:gd name="T5" fmla="*/ 41 h 85"/>
                  <a:gd name="T6" fmla="*/ 3 w 118"/>
                  <a:gd name="T7" fmla="*/ 34 h 85"/>
                  <a:gd name="T8" fmla="*/ 3 w 118"/>
                  <a:gd name="T9" fmla="*/ 16 h 85"/>
                  <a:gd name="T10" fmla="*/ 3 w 118"/>
                  <a:gd name="T11" fmla="*/ 16 h 85"/>
                  <a:gd name="T12" fmla="*/ 3 w 118"/>
                  <a:gd name="T13" fmla="*/ 7 h 85"/>
                  <a:gd name="T14" fmla="*/ 6 w 118"/>
                  <a:gd name="T15" fmla="*/ 0 h 85"/>
                  <a:gd name="T16" fmla="*/ 7 w 118"/>
                  <a:gd name="T17" fmla="*/ 7 h 85"/>
                  <a:gd name="T18" fmla="*/ 10 w 118"/>
                  <a:gd name="T19" fmla="*/ 0 h 85"/>
                  <a:gd name="T20" fmla="*/ 14 w 118"/>
                  <a:gd name="T21" fmla="*/ 0 h 85"/>
                  <a:gd name="T22" fmla="*/ 12 w 118"/>
                  <a:gd name="T23" fmla="*/ 7 h 85"/>
                  <a:gd name="T24" fmla="*/ 10 w 118"/>
                  <a:gd name="T25" fmla="*/ 34 h 85"/>
                  <a:gd name="T26" fmla="*/ 7 w 118"/>
                  <a:gd name="T27" fmla="*/ 53 h 85"/>
                  <a:gd name="T28" fmla="*/ 6 w 118"/>
                  <a:gd name="T29" fmla="*/ 53 h 85"/>
                  <a:gd name="T30" fmla="*/ 3 w 118"/>
                  <a:gd name="T31" fmla="*/ 61 h 85"/>
                  <a:gd name="T32" fmla="*/ 0 w 118"/>
                  <a:gd name="T33" fmla="*/ 61 h 8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
                  <a:gd name="T52" fmla="*/ 0 h 85"/>
                  <a:gd name="T53" fmla="*/ 118 w 118"/>
                  <a:gd name="T54" fmla="*/ 85 h 8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 h="85">
                    <a:moveTo>
                      <a:pt x="0" y="84"/>
                    </a:moveTo>
                    <a:lnTo>
                      <a:pt x="8" y="77"/>
                    </a:lnTo>
                    <a:lnTo>
                      <a:pt x="17" y="53"/>
                    </a:lnTo>
                    <a:lnTo>
                      <a:pt x="8" y="46"/>
                    </a:lnTo>
                    <a:lnTo>
                      <a:pt x="8" y="16"/>
                    </a:lnTo>
                    <a:lnTo>
                      <a:pt x="17" y="16"/>
                    </a:lnTo>
                    <a:lnTo>
                      <a:pt x="17" y="7"/>
                    </a:lnTo>
                    <a:lnTo>
                      <a:pt x="50" y="0"/>
                    </a:lnTo>
                    <a:lnTo>
                      <a:pt x="58" y="7"/>
                    </a:lnTo>
                    <a:lnTo>
                      <a:pt x="83" y="0"/>
                    </a:lnTo>
                    <a:lnTo>
                      <a:pt x="117" y="0"/>
                    </a:lnTo>
                    <a:lnTo>
                      <a:pt x="100" y="7"/>
                    </a:lnTo>
                    <a:lnTo>
                      <a:pt x="83" y="46"/>
                    </a:lnTo>
                    <a:lnTo>
                      <a:pt x="58" y="68"/>
                    </a:lnTo>
                    <a:lnTo>
                      <a:pt x="50" y="68"/>
                    </a:lnTo>
                    <a:lnTo>
                      <a:pt x="17" y="84"/>
                    </a:lnTo>
                    <a:lnTo>
                      <a:pt x="0" y="8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5" name="Freeform 328"/>
              <p:cNvSpPr>
                <a:spLocks/>
              </p:cNvSpPr>
              <p:nvPr/>
            </p:nvSpPr>
            <p:spPr bwMode="auto">
              <a:xfrm>
                <a:off x="5230885" y="3826777"/>
                <a:ext cx="113695" cy="124355"/>
              </a:xfrm>
              <a:custGeom>
                <a:avLst/>
                <a:gdLst>
                  <a:gd name="T0" fmla="*/ 9 w 76"/>
                  <a:gd name="T1" fmla="*/ 16 h 71"/>
                  <a:gd name="T2" fmla="*/ 9 w 76"/>
                  <a:gd name="T3" fmla="*/ 0 h 71"/>
                  <a:gd name="T4" fmla="*/ 8 w 76"/>
                  <a:gd name="T5" fmla="*/ 0 h 71"/>
                  <a:gd name="T6" fmla="*/ 4 w 76"/>
                  <a:gd name="T7" fmla="*/ 16 h 71"/>
                  <a:gd name="T8" fmla="*/ 3 w 76"/>
                  <a:gd name="T9" fmla="*/ 16 h 71"/>
                  <a:gd name="T10" fmla="*/ 3 w 76"/>
                  <a:gd name="T11" fmla="*/ 23 h 71"/>
                  <a:gd name="T12" fmla="*/ 3 w 76"/>
                  <a:gd name="T13" fmla="*/ 35 h 71"/>
                  <a:gd name="T14" fmla="*/ 0 w 76"/>
                  <a:gd name="T15" fmla="*/ 58 h 71"/>
                  <a:gd name="T16" fmla="*/ 3 w 76"/>
                  <a:gd name="T17" fmla="*/ 58 h 71"/>
                  <a:gd name="T18" fmla="*/ 4 w 76"/>
                  <a:gd name="T19" fmla="*/ 50 h 71"/>
                  <a:gd name="T20" fmla="*/ 5 w 76"/>
                  <a:gd name="T21" fmla="*/ 50 h 71"/>
                  <a:gd name="T22" fmla="*/ 6 w 76"/>
                  <a:gd name="T23" fmla="*/ 35 h 71"/>
                  <a:gd name="T24" fmla="*/ 5 w 76"/>
                  <a:gd name="T25" fmla="*/ 35 h 71"/>
                  <a:gd name="T26" fmla="*/ 9 w 76"/>
                  <a:gd name="T27" fmla="*/ 16 h 7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6"/>
                  <a:gd name="T43" fmla="*/ 0 h 71"/>
                  <a:gd name="T44" fmla="*/ 76 w 76"/>
                  <a:gd name="T45" fmla="*/ 71 h 7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6" h="71">
                    <a:moveTo>
                      <a:pt x="75" y="16"/>
                    </a:moveTo>
                    <a:lnTo>
                      <a:pt x="75" y="0"/>
                    </a:lnTo>
                    <a:lnTo>
                      <a:pt x="67" y="0"/>
                    </a:lnTo>
                    <a:lnTo>
                      <a:pt x="34" y="16"/>
                    </a:lnTo>
                    <a:lnTo>
                      <a:pt x="17" y="16"/>
                    </a:lnTo>
                    <a:lnTo>
                      <a:pt x="17" y="23"/>
                    </a:lnTo>
                    <a:lnTo>
                      <a:pt x="17" y="47"/>
                    </a:lnTo>
                    <a:lnTo>
                      <a:pt x="0" y="70"/>
                    </a:lnTo>
                    <a:lnTo>
                      <a:pt x="25" y="70"/>
                    </a:lnTo>
                    <a:lnTo>
                      <a:pt x="34" y="62"/>
                    </a:lnTo>
                    <a:lnTo>
                      <a:pt x="42" y="62"/>
                    </a:lnTo>
                    <a:lnTo>
                      <a:pt x="50" y="47"/>
                    </a:lnTo>
                    <a:lnTo>
                      <a:pt x="42" y="39"/>
                    </a:lnTo>
                    <a:lnTo>
                      <a:pt x="75"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6" name="Freeform 330"/>
              <p:cNvSpPr>
                <a:spLocks/>
              </p:cNvSpPr>
              <p:nvPr/>
            </p:nvSpPr>
            <p:spPr bwMode="auto">
              <a:xfrm>
                <a:off x="5342804" y="3697093"/>
                <a:ext cx="227390" cy="254039"/>
              </a:xfrm>
              <a:custGeom>
                <a:avLst/>
                <a:gdLst>
                  <a:gd name="T0" fmla="*/ 12 w 152"/>
                  <a:gd name="T1" fmla="*/ 8 h 147"/>
                  <a:gd name="T2" fmla="*/ 13 w 152"/>
                  <a:gd name="T3" fmla="*/ 18 h 147"/>
                  <a:gd name="T4" fmla="*/ 14 w 152"/>
                  <a:gd name="T5" fmla="*/ 18 h 147"/>
                  <a:gd name="T6" fmla="*/ 14 w 152"/>
                  <a:gd name="T7" fmla="*/ 34 h 147"/>
                  <a:gd name="T8" fmla="*/ 13 w 152"/>
                  <a:gd name="T9" fmla="*/ 46 h 147"/>
                  <a:gd name="T10" fmla="*/ 14 w 152"/>
                  <a:gd name="T11" fmla="*/ 61 h 147"/>
                  <a:gd name="T12" fmla="*/ 16 w 152"/>
                  <a:gd name="T13" fmla="*/ 67 h 147"/>
                  <a:gd name="T14" fmla="*/ 18 w 152"/>
                  <a:gd name="T15" fmla="*/ 88 h 147"/>
                  <a:gd name="T16" fmla="*/ 19 w 152"/>
                  <a:gd name="T17" fmla="*/ 93 h 147"/>
                  <a:gd name="T18" fmla="*/ 19 w 152"/>
                  <a:gd name="T19" fmla="*/ 99 h 147"/>
                  <a:gd name="T20" fmla="*/ 16 w 152"/>
                  <a:gd name="T21" fmla="*/ 99 h 147"/>
                  <a:gd name="T22" fmla="*/ 14 w 152"/>
                  <a:gd name="T23" fmla="*/ 105 h 147"/>
                  <a:gd name="T24" fmla="*/ 13 w 152"/>
                  <a:gd name="T25" fmla="*/ 99 h 147"/>
                  <a:gd name="T26" fmla="*/ 12 w 152"/>
                  <a:gd name="T27" fmla="*/ 105 h 147"/>
                  <a:gd name="T28" fmla="*/ 8 w 152"/>
                  <a:gd name="T29" fmla="*/ 99 h 147"/>
                  <a:gd name="T30" fmla="*/ 8 w 152"/>
                  <a:gd name="T31" fmla="*/ 93 h 147"/>
                  <a:gd name="T32" fmla="*/ 7 w 152"/>
                  <a:gd name="T33" fmla="*/ 88 h 147"/>
                  <a:gd name="T34" fmla="*/ 3 w 152"/>
                  <a:gd name="T35" fmla="*/ 72 h 147"/>
                  <a:gd name="T36" fmla="*/ 0 w 152"/>
                  <a:gd name="T37" fmla="*/ 67 h 147"/>
                  <a:gd name="T38" fmla="*/ 0 w 152"/>
                  <a:gd name="T39" fmla="*/ 53 h 147"/>
                  <a:gd name="T40" fmla="*/ 3 w 152"/>
                  <a:gd name="T41" fmla="*/ 42 h 147"/>
                  <a:gd name="T42" fmla="*/ 5 w 152"/>
                  <a:gd name="T43" fmla="*/ 15 h 147"/>
                  <a:gd name="T44" fmla="*/ 7 w 152"/>
                  <a:gd name="T45" fmla="*/ 8 h 147"/>
                  <a:gd name="T46" fmla="*/ 7 w 152"/>
                  <a:gd name="T47" fmla="*/ 0 h 147"/>
                  <a:gd name="T48" fmla="*/ 12 w 152"/>
                  <a:gd name="T49" fmla="*/ 8 h 14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2"/>
                  <a:gd name="T76" fmla="*/ 0 h 147"/>
                  <a:gd name="T77" fmla="*/ 152 w 152"/>
                  <a:gd name="T78" fmla="*/ 147 h 14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2" h="147">
                    <a:moveTo>
                      <a:pt x="92" y="8"/>
                    </a:moveTo>
                    <a:lnTo>
                      <a:pt x="100" y="24"/>
                    </a:lnTo>
                    <a:lnTo>
                      <a:pt x="109" y="24"/>
                    </a:lnTo>
                    <a:lnTo>
                      <a:pt x="109" y="46"/>
                    </a:lnTo>
                    <a:lnTo>
                      <a:pt x="100" y="61"/>
                    </a:lnTo>
                    <a:lnTo>
                      <a:pt x="109" y="85"/>
                    </a:lnTo>
                    <a:lnTo>
                      <a:pt x="126" y="92"/>
                    </a:lnTo>
                    <a:lnTo>
                      <a:pt x="142" y="123"/>
                    </a:lnTo>
                    <a:lnTo>
                      <a:pt x="151" y="130"/>
                    </a:lnTo>
                    <a:lnTo>
                      <a:pt x="151" y="138"/>
                    </a:lnTo>
                    <a:lnTo>
                      <a:pt x="126" y="138"/>
                    </a:lnTo>
                    <a:lnTo>
                      <a:pt x="118" y="146"/>
                    </a:lnTo>
                    <a:lnTo>
                      <a:pt x="100" y="138"/>
                    </a:lnTo>
                    <a:lnTo>
                      <a:pt x="92" y="146"/>
                    </a:lnTo>
                    <a:lnTo>
                      <a:pt x="67" y="138"/>
                    </a:lnTo>
                    <a:lnTo>
                      <a:pt x="67" y="130"/>
                    </a:lnTo>
                    <a:lnTo>
                      <a:pt x="59" y="123"/>
                    </a:lnTo>
                    <a:lnTo>
                      <a:pt x="25" y="99"/>
                    </a:lnTo>
                    <a:lnTo>
                      <a:pt x="0" y="92"/>
                    </a:lnTo>
                    <a:lnTo>
                      <a:pt x="0" y="76"/>
                    </a:lnTo>
                    <a:lnTo>
                      <a:pt x="25" y="54"/>
                    </a:lnTo>
                    <a:lnTo>
                      <a:pt x="42" y="15"/>
                    </a:lnTo>
                    <a:lnTo>
                      <a:pt x="59" y="8"/>
                    </a:lnTo>
                    <a:lnTo>
                      <a:pt x="59" y="0"/>
                    </a:lnTo>
                    <a:lnTo>
                      <a:pt x="92"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7" name="Freeform 332"/>
              <p:cNvSpPr>
                <a:spLocks/>
              </p:cNvSpPr>
              <p:nvPr/>
            </p:nvSpPr>
            <p:spPr bwMode="auto">
              <a:xfrm>
                <a:off x="5481370" y="3935143"/>
                <a:ext cx="39083" cy="30200"/>
              </a:xfrm>
              <a:custGeom>
                <a:avLst/>
                <a:gdLst>
                  <a:gd name="T0" fmla="*/ 0 w 27"/>
                  <a:gd name="T1" fmla="*/ 8 h 17"/>
                  <a:gd name="T2" fmla="*/ 2 w 27"/>
                  <a:gd name="T3" fmla="*/ 0 h 17"/>
                  <a:gd name="T4" fmla="*/ 2 w 27"/>
                  <a:gd name="T5" fmla="*/ 8 h 17"/>
                  <a:gd name="T6" fmla="*/ 2 w 27"/>
                  <a:gd name="T7" fmla="*/ 16 h 17"/>
                  <a:gd name="T8" fmla="*/ 0 w 27"/>
                  <a:gd name="T9" fmla="*/ 8 h 17"/>
                  <a:gd name="T10" fmla="*/ 0 60000 65536"/>
                  <a:gd name="T11" fmla="*/ 0 60000 65536"/>
                  <a:gd name="T12" fmla="*/ 0 60000 65536"/>
                  <a:gd name="T13" fmla="*/ 0 60000 65536"/>
                  <a:gd name="T14" fmla="*/ 0 60000 65536"/>
                  <a:gd name="T15" fmla="*/ 0 w 27"/>
                  <a:gd name="T16" fmla="*/ 0 h 17"/>
                  <a:gd name="T17" fmla="*/ 27 w 27"/>
                  <a:gd name="T18" fmla="*/ 17 h 17"/>
                </a:gdLst>
                <a:ahLst/>
                <a:cxnLst>
                  <a:cxn ang="T10">
                    <a:pos x="T0" y="T1"/>
                  </a:cxn>
                  <a:cxn ang="T11">
                    <a:pos x="T2" y="T3"/>
                  </a:cxn>
                  <a:cxn ang="T12">
                    <a:pos x="T4" y="T5"/>
                  </a:cxn>
                  <a:cxn ang="T13">
                    <a:pos x="T6" y="T7"/>
                  </a:cxn>
                  <a:cxn ang="T14">
                    <a:pos x="T8" y="T9"/>
                  </a:cxn>
                </a:cxnLst>
                <a:rect l="T15" t="T16" r="T17" b="T18"/>
                <a:pathLst>
                  <a:path w="27" h="17">
                    <a:moveTo>
                      <a:pt x="0" y="8"/>
                    </a:moveTo>
                    <a:lnTo>
                      <a:pt x="8" y="0"/>
                    </a:lnTo>
                    <a:lnTo>
                      <a:pt x="26" y="8"/>
                    </a:lnTo>
                    <a:lnTo>
                      <a:pt x="8" y="16"/>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8" name="Freeform 333"/>
              <p:cNvSpPr>
                <a:spLocks/>
              </p:cNvSpPr>
              <p:nvPr/>
            </p:nvSpPr>
            <p:spPr bwMode="auto">
              <a:xfrm>
                <a:off x="5481370" y="3935143"/>
                <a:ext cx="39083" cy="30200"/>
              </a:xfrm>
              <a:custGeom>
                <a:avLst/>
                <a:gdLst>
                  <a:gd name="T0" fmla="*/ 0 w 27"/>
                  <a:gd name="T1" fmla="*/ 8 h 17"/>
                  <a:gd name="T2" fmla="*/ 2 w 27"/>
                  <a:gd name="T3" fmla="*/ 0 h 17"/>
                  <a:gd name="T4" fmla="*/ 2 w 27"/>
                  <a:gd name="T5" fmla="*/ 8 h 17"/>
                  <a:gd name="T6" fmla="*/ 2 w 27"/>
                  <a:gd name="T7" fmla="*/ 16 h 17"/>
                  <a:gd name="T8" fmla="*/ 0 w 27"/>
                  <a:gd name="T9" fmla="*/ 8 h 17"/>
                  <a:gd name="T10" fmla="*/ 0 60000 65536"/>
                  <a:gd name="T11" fmla="*/ 0 60000 65536"/>
                  <a:gd name="T12" fmla="*/ 0 60000 65536"/>
                  <a:gd name="T13" fmla="*/ 0 60000 65536"/>
                  <a:gd name="T14" fmla="*/ 0 60000 65536"/>
                  <a:gd name="T15" fmla="*/ 0 w 27"/>
                  <a:gd name="T16" fmla="*/ 0 h 17"/>
                  <a:gd name="T17" fmla="*/ 27 w 27"/>
                  <a:gd name="T18" fmla="*/ 17 h 17"/>
                </a:gdLst>
                <a:ahLst/>
                <a:cxnLst>
                  <a:cxn ang="T10">
                    <a:pos x="T0" y="T1"/>
                  </a:cxn>
                  <a:cxn ang="T11">
                    <a:pos x="T2" y="T3"/>
                  </a:cxn>
                  <a:cxn ang="T12">
                    <a:pos x="T4" y="T5"/>
                  </a:cxn>
                  <a:cxn ang="T13">
                    <a:pos x="T6" y="T7"/>
                  </a:cxn>
                  <a:cxn ang="T14">
                    <a:pos x="T8" y="T9"/>
                  </a:cxn>
                </a:cxnLst>
                <a:rect l="T15" t="T16" r="T17" b="T18"/>
                <a:pathLst>
                  <a:path w="27" h="17">
                    <a:moveTo>
                      <a:pt x="0" y="8"/>
                    </a:moveTo>
                    <a:lnTo>
                      <a:pt x="8" y="0"/>
                    </a:lnTo>
                    <a:lnTo>
                      <a:pt x="26" y="8"/>
                    </a:lnTo>
                    <a:lnTo>
                      <a:pt x="8" y="16"/>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89" name="Freeform 334"/>
              <p:cNvSpPr>
                <a:spLocks/>
              </p:cNvSpPr>
              <p:nvPr/>
            </p:nvSpPr>
            <p:spPr bwMode="auto">
              <a:xfrm>
                <a:off x="5518676" y="3935143"/>
                <a:ext cx="51518" cy="30200"/>
              </a:xfrm>
              <a:custGeom>
                <a:avLst/>
                <a:gdLst>
                  <a:gd name="T0" fmla="*/ 0 w 34"/>
                  <a:gd name="T1" fmla="*/ 8 h 17"/>
                  <a:gd name="T2" fmla="*/ 3 w 34"/>
                  <a:gd name="T3" fmla="*/ 0 h 17"/>
                  <a:gd name="T4" fmla="*/ 5 w 34"/>
                  <a:gd name="T5" fmla="*/ 0 h 17"/>
                  <a:gd name="T6" fmla="*/ 3 w 34"/>
                  <a:gd name="T7" fmla="*/ 8 h 17"/>
                  <a:gd name="T8" fmla="*/ 5 w 34"/>
                  <a:gd name="T9" fmla="*/ 16 h 17"/>
                  <a:gd name="T10" fmla="*/ 0 w 34"/>
                  <a:gd name="T11" fmla="*/ 8 h 17"/>
                  <a:gd name="T12" fmla="*/ 0 60000 65536"/>
                  <a:gd name="T13" fmla="*/ 0 60000 65536"/>
                  <a:gd name="T14" fmla="*/ 0 60000 65536"/>
                  <a:gd name="T15" fmla="*/ 0 60000 65536"/>
                  <a:gd name="T16" fmla="*/ 0 60000 65536"/>
                  <a:gd name="T17" fmla="*/ 0 60000 65536"/>
                  <a:gd name="T18" fmla="*/ 0 w 34"/>
                  <a:gd name="T19" fmla="*/ 0 h 17"/>
                  <a:gd name="T20" fmla="*/ 34 w 34"/>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4" h="17">
                    <a:moveTo>
                      <a:pt x="0" y="8"/>
                    </a:moveTo>
                    <a:lnTo>
                      <a:pt x="8" y="0"/>
                    </a:lnTo>
                    <a:lnTo>
                      <a:pt x="33" y="0"/>
                    </a:lnTo>
                    <a:lnTo>
                      <a:pt x="24" y="8"/>
                    </a:lnTo>
                    <a:lnTo>
                      <a:pt x="33" y="16"/>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0" name="Freeform 335"/>
              <p:cNvSpPr>
                <a:spLocks/>
              </p:cNvSpPr>
              <p:nvPr/>
            </p:nvSpPr>
            <p:spPr bwMode="auto">
              <a:xfrm>
                <a:off x="5518676" y="3935143"/>
                <a:ext cx="51518" cy="30200"/>
              </a:xfrm>
              <a:custGeom>
                <a:avLst/>
                <a:gdLst>
                  <a:gd name="T0" fmla="*/ 0 w 34"/>
                  <a:gd name="T1" fmla="*/ 8 h 17"/>
                  <a:gd name="T2" fmla="*/ 3 w 34"/>
                  <a:gd name="T3" fmla="*/ 0 h 17"/>
                  <a:gd name="T4" fmla="*/ 5 w 34"/>
                  <a:gd name="T5" fmla="*/ 0 h 17"/>
                  <a:gd name="T6" fmla="*/ 3 w 34"/>
                  <a:gd name="T7" fmla="*/ 8 h 17"/>
                  <a:gd name="T8" fmla="*/ 5 w 34"/>
                  <a:gd name="T9" fmla="*/ 16 h 17"/>
                  <a:gd name="T10" fmla="*/ 0 w 34"/>
                  <a:gd name="T11" fmla="*/ 8 h 17"/>
                  <a:gd name="T12" fmla="*/ 0 60000 65536"/>
                  <a:gd name="T13" fmla="*/ 0 60000 65536"/>
                  <a:gd name="T14" fmla="*/ 0 60000 65536"/>
                  <a:gd name="T15" fmla="*/ 0 60000 65536"/>
                  <a:gd name="T16" fmla="*/ 0 60000 65536"/>
                  <a:gd name="T17" fmla="*/ 0 60000 65536"/>
                  <a:gd name="T18" fmla="*/ 0 w 34"/>
                  <a:gd name="T19" fmla="*/ 0 h 17"/>
                  <a:gd name="T20" fmla="*/ 34 w 34"/>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34" h="17">
                    <a:moveTo>
                      <a:pt x="0" y="8"/>
                    </a:moveTo>
                    <a:lnTo>
                      <a:pt x="8" y="0"/>
                    </a:lnTo>
                    <a:lnTo>
                      <a:pt x="33" y="0"/>
                    </a:lnTo>
                    <a:lnTo>
                      <a:pt x="24" y="8"/>
                    </a:lnTo>
                    <a:lnTo>
                      <a:pt x="33" y="16"/>
                    </a:lnTo>
                    <a:lnTo>
                      <a:pt x="0" y="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1" name="Freeform 336"/>
              <p:cNvSpPr>
                <a:spLocks/>
              </p:cNvSpPr>
              <p:nvPr/>
            </p:nvSpPr>
            <p:spPr bwMode="auto">
              <a:xfrm>
                <a:off x="5230885" y="3855200"/>
                <a:ext cx="525840" cy="518736"/>
              </a:xfrm>
              <a:custGeom>
                <a:avLst/>
                <a:gdLst>
                  <a:gd name="T0" fmla="*/ 36 w 352"/>
                  <a:gd name="T1" fmla="*/ 184 h 299"/>
                  <a:gd name="T2" fmla="*/ 38 w 352"/>
                  <a:gd name="T3" fmla="*/ 179 h 299"/>
                  <a:gd name="T4" fmla="*/ 40 w 352"/>
                  <a:gd name="T5" fmla="*/ 173 h 299"/>
                  <a:gd name="T6" fmla="*/ 40 w 352"/>
                  <a:gd name="T7" fmla="*/ 161 h 299"/>
                  <a:gd name="T8" fmla="*/ 42 w 352"/>
                  <a:gd name="T9" fmla="*/ 155 h 299"/>
                  <a:gd name="T10" fmla="*/ 43 w 352"/>
                  <a:gd name="T11" fmla="*/ 149 h 299"/>
                  <a:gd name="T12" fmla="*/ 43 w 352"/>
                  <a:gd name="T13" fmla="*/ 149 h 299"/>
                  <a:gd name="T14" fmla="*/ 43 w 352"/>
                  <a:gd name="T15" fmla="*/ 138 h 299"/>
                  <a:gd name="T16" fmla="*/ 43 w 352"/>
                  <a:gd name="T17" fmla="*/ 133 h 299"/>
                  <a:gd name="T18" fmla="*/ 43 w 352"/>
                  <a:gd name="T19" fmla="*/ 127 h 299"/>
                  <a:gd name="T20" fmla="*/ 43 w 352"/>
                  <a:gd name="T21" fmla="*/ 122 h 299"/>
                  <a:gd name="T22" fmla="*/ 42 w 352"/>
                  <a:gd name="T23" fmla="*/ 116 h 299"/>
                  <a:gd name="T24" fmla="*/ 40 w 352"/>
                  <a:gd name="T25" fmla="*/ 116 h 299"/>
                  <a:gd name="T26" fmla="*/ 40 w 352"/>
                  <a:gd name="T27" fmla="*/ 116 h 299"/>
                  <a:gd name="T28" fmla="*/ 40 w 352"/>
                  <a:gd name="T29" fmla="*/ 122 h 299"/>
                  <a:gd name="T30" fmla="*/ 38 w 352"/>
                  <a:gd name="T31" fmla="*/ 122 h 299"/>
                  <a:gd name="T32" fmla="*/ 36 w 352"/>
                  <a:gd name="T33" fmla="*/ 122 h 299"/>
                  <a:gd name="T34" fmla="*/ 35 w 352"/>
                  <a:gd name="T35" fmla="*/ 122 h 299"/>
                  <a:gd name="T36" fmla="*/ 34 w 352"/>
                  <a:gd name="T37" fmla="*/ 122 h 299"/>
                  <a:gd name="T38" fmla="*/ 34 w 352"/>
                  <a:gd name="T39" fmla="*/ 122 h 299"/>
                  <a:gd name="T40" fmla="*/ 31 w 352"/>
                  <a:gd name="T41" fmla="*/ 116 h 299"/>
                  <a:gd name="T42" fmla="*/ 34 w 352"/>
                  <a:gd name="T43" fmla="*/ 103 h 299"/>
                  <a:gd name="T44" fmla="*/ 31 w 352"/>
                  <a:gd name="T45" fmla="*/ 92 h 299"/>
                  <a:gd name="T46" fmla="*/ 31 w 352"/>
                  <a:gd name="T47" fmla="*/ 68 h 299"/>
                  <a:gd name="T48" fmla="*/ 29 w 352"/>
                  <a:gd name="T49" fmla="*/ 49 h 299"/>
                  <a:gd name="T50" fmla="*/ 24 w 352"/>
                  <a:gd name="T51" fmla="*/ 42 h 299"/>
                  <a:gd name="T52" fmla="*/ 21 w 352"/>
                  <a:gd name="T53" fmla="*/ 49 h 299"/>
                  <a:gd name="T54" fmla="*/ 20 w 352"/>
                  <a:gd name="T55" fmla="*/ 42 h 299"/>
                  <a:gd name="T56" fmla="*/ 17 w 352"/>
                  <a:gd name="T57" fmla="*/ 34 h 299"/>
                  <a:gd name="T58" fmla="*/ 17 w 352"/>
                  <a:gd name="T59" fmla="*/ 26 h 299"/>
                  <a:gd name="T60" fmla="*/ 17 w 352"/>
                  <a:gd name="T61" fmla="*/ 21 h 299"/>
                  <a:gd name="T62" fmla="*/ 12 w 352"/>
                  <a:gd name="T63" fmla="*/ 7 h 299"/>
                  <a:gd name="T64" fmla="*/ 9 w 352"/>
                  <a:gd name="T65" fmla="*/ 0 h 299"/>
                  <a:gd name="T66" fmla="*/ 5 w 352"/>
                  <a:gd name="T67" fmla="*/ 21 h 299"/>
                  <a:gd name="T68" fmla="*/ 6 w 352"/>
                  <a:gd name="T69" fmla="*/ 21 h 299"/>
                  <a:gd name="T70" fmla="*/ 5 w 352"/>
                  <a:gd name="T71" fmla="*/ 34 h 299"/>
                  <a:gd name="T72" fmla="*/ 4 w 352"/>
                  <a:gd name="T73" fmla="*/ 34 h 299"/>
                  <a:gd name="T74" fmla="*/ 3 w 352"/>
                  <a:gd name="T75" fmla="*/ 42 h 299"/>
                  <a:gd name="T76" fmla="*/ 0 w 352"/>
                  <a:gd name="T77" fmla="*/ 42 h 299"/>
                  <a:gd name="T78" fmla="*/ 0 w 352"/>
                  <a:gd name="T79" fmla="*/ 58 h 299"/>
                  <a:gd name="T80" fmla="*/ 3 w 352"/>
                  <a:gd name="T81" fmla="*/ 58 h 299"/>
                  <a:gd name="T82" fmla="*/ 6 w 352"/>
                  <a:gd name="T83" fmla="*/ 98 h 299"/>
                  <a:gd name="T84" fmla="*/ 8 w 352"/>
                  <a:gd name="T85" fmla="*/ 103 h 299"/>
                  <a:gd name="T86" fmla="*/ 9 w 352"/>
                  <a:gd name="T87" fmla="*/ 122 h 299"/>
                  <a:gd name="T88" fmla="*/ 9 w 352"/>
                  <a:gd name="T89" fmla="*/ 138 h 299"/>
                  <a:gd name="T90" fmla="*/ 12 w 352"/>
                  <a:gd name="T91" fmla="*/ 155 h 299"/>
                  <a:gd name="T92" fmla="*/ 16 w 352"/>
                  <a:gd name="T93" fmla="*/ 189 h 299"/>
                  <a:gd name="T94" fmla="*/ 17 w 352"/>
                  <a:gd name="T95" fmla="*/ 195 h 299"/>
                  <a:gd name="T96" fmla="*/ 17 w 352"/>
                  <a:gd name="T97" fmla="*/ 189 h 299"/>
                  <a:gd name="T98" fmla="*/ 21 w 352"/>
                  <a:gd name="T99" fmla="*/ 214 h 299"/>
                  <a:gd name="T100" fmla="*/ 24 w 352"/>
                  <a:gd name="T101" fmla="*/ 224 h 299"/>
                  <a:gd name="T102" fmla="*/ 31 w 352"/>
                  <a:gd name="T103" fmla="*/ 189 h 299"/>
                  <a:gd name="T104" fmla="*/ 36 w 352"/>
                  <a:gd name="T105" fmla="*/ 184 h 29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52"/>
                  <a:gd name="T160" fmla="*/ 0 h 299"/>
                  <a:gd name="T161" fmla="*/ 352 w 352"/>
                  <a:gd name="T162" fmla="*/ 299 h 299"/>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52" h="299">
                    <a:moveTo>
                      <a:pt x="292" y="244"/>
                    </a:moveTo>
                    <a:lnTo>
                      <a:pt x="300" y="237"/>
                    </a:lnTo>
                    <a:lnTo>
                      <a:pt x="317" y="229"/>
                    </a:lnTo>
                    <a:lnTo>
                      <a:pt x="326" y="214"/>
                    </a:lnTo>
                    <a:lnTo>
                      <a:pt x="334" y="206"/>
                    </a:lnTo>
                    <a:lnTo>
                      <a:pt x="342" y="199"/>
                    </a:lnTo>
                    <a:lnTo>
                      <a:pt x="351" y="199"/>
                    </a:lnTo>
                    <a:lnTo>
                      <a:pt x="351" y="183"/>
                    </a:lnTo>
                    <a:lnTo>
                      <a:pt x="351" y="176"/>
                    </a:lnTo>
                    <a:lnTo>
                      <a:pt x="351" y="168"/>
                    </a:lnTo>
                    <a:lnTo>
                      <a:pt x="342" y="161"/>
                    </a:lnTo>
                    <a:lnTo>
                      <a:pt x="334" y="153"/>
                    </a:lnTo>
                    <a:lnTo>
                      <a:pt x="326" y="153"/>
                    </a:lnTo>
                    <a:lnTo>
                      <a:pt x="317" y="153"/>
                    </a:lnTo>
                    <a:lnTo>
                      <a:pt x="317" y="161"/>
                    </a:lnTo>
                    <a:lnTo>
                      <a:pt x="300" y="161"/>
                    </a:lnTo>
                    <a:lnTo>
                      <a:pt x="292" y="161"/>
                    </a:lnTo>
                    <a:lnTo>
                      <a:pt x="284" y="161"/>
                    </a:lnTo>
                    <a:lnTo>
                      <a:pt x="276" y="161"/>
                    </a:lnTo>
                    <a:lnTo>
                      <a:pt x="267" y="161"/>
                    </a:lnTo>
                    <a:lnTo>
                      <a:pt x="250" y="153"/>
                    </a:lnTo>
                    <a:lnTo>
                      <a:pt x="267" y="138"/>
                    </a:lnTo>
                    <a:lnTo>
                      <a:pt x="250" y="122"/>
                    </a:lnTo>
                    <a:lnTo>
                      <a:pt x="250" y="92"/>
                    </a:lnTo>
                    <a:lnTo>
                      <a:pt x="226" y="61"/>
                    </a:lnTo>
                    <a:lnTo>
                      <a:pt x="192" y="54"/>
                    </a:lnTo>
                    <a:lnTo>
                      <a:pt x="175" y="61"/>
                    </a:lnTo>
                    <a:lnTo>
                      <a:pt x="167" y="54"/>
                    </a:lnTo>
                    <a:lnTo>
                      <a:pt x="142" y="46"/>
                    </a:lnTo>
                    <a:lnTo>
                      <a:pt x="142" y="38"/>
                    </a:lnTo>
                    <a:lnTo>
                      <a:pt x="134" y="31"/>
                    </a:lnTo>
                    <a:lnTo>
                      <a:pt x="100" y="7"/>
                    </a:lnTo>
                    <a:lnTo>
                      <a:pt x="74" y="0"/>
                    </a:lnTo>
                    <a:lnTo>
                      <a:pt x="42" y="23"/>
                    </a:lnTo>
                    <a:lnTo>
                      <a:pt x="50" y="31"/>
                    </a:lnTo>
                    <a:lnTo>
                      <a:pt x="42" y="46"/>
                    </a:lnTo>
                    <a:lnTo>
                      <a:pt x="33" y="46"/>
                    </a:lnTo>
                    <a:lnTo>
                      <a:pt x="24" y="54"/>
                    </a:lnTo>
                    <a:lnTo>
                      <a:pt x="0" y="54"/>
                    </a:lnTo>
                    <a:lnTo>
                      <a:pt x="0" y="77"/>
                    </a:lnTo>
                    <a:lnTo>
                      <a:pt x="16" y="77"/>
                    </a:lnTo>
                    <a:lnTo>
                      <a:pt x="50" y="130"/>
                    </a:lnTo>
                    <a:lnTo>
                      <a:pt x="66" y="138"/>
                    </a:lnTo>
                    <a:lnTo>
                      <a:pt x="74" y="161"/>
                    </a:lnTo>
                    <a:lnTo>
                      <a:pt x="74" y="183"/>
                    </a:lnTo>
                    <a:lnTo>
                      <a:pt x="100" y="206"/>
                    </a:lnTo>
                    <a:lnTo>
                      <a:pt x="125" y="252"/>
                    </a:lnTo>
                    <a:lnTo>
                      <a:pt x="134" y="260"/>
                    </a:lnTo>
                    <a:lnTo>
                      <a:pt x="142" y="252"/>
                    </a:lnTo>
                    <a:lnTo>
                      <a:pt x="175" y="283"/>
                    </a:lnTo>
                    <a:lnTo>
                      <a:pt x="184" y="298"/>
                    </a:lnTo>
                    <a:lnTo>
                      <a:pt x="250" y="252"/>
                    </a:lnTo>
                    <a:lnTo>
                      <a:pt x="292" y="24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2" name="Freeform 338"/>
              <p:cNvSpPr>
                <a:spLocks/>
              </p:cNvSpPr>
              <p:nvPr/>
            </p:nvSpPr>
            <p:spPr bwMode="auto">
              <a:xfrm>
                <a:off x="5605724" y="4054168"/>
                <a:ext cx="151001" cy="81719"/>
              </a:xfrm>
              <a:custGeom>
                <a:avLst/>
                <a:gdLst>
                  <a:gd name="T0" fmla="*/ 10 w 101"/>
                  <a:gd name="T1" fmla="*/ 38 h 46"/>
                  <a:gd name="T2" fmla="*/ 12 w 101"/>
                  <a:gd name="T3" fmla="*/ 15 h 46"/>
                  <a:gd name="T4" fmla="*/ 12 w 101"/>
                  <a:gd name="T5" fmla="*/ 7 h 46"/>
                  <a:gd name="T6" fmla="*/ 12 w 101"/>
                  <a:gd name="T7" fmla="*/ 0 h 46"/>
                  <a:gd name="T8" fmla="*/ 8 w 101"/>
                  <a:gd name="T9" fmla="*/ 22 h 46"/>
                  <a:gd name="T10" fmla="*/ 4 w 101"/>
                  <a:gd name="T11" fmla="*/ 22 h 46"/>
                  <a:gd name="T12" fmla="*/ 3 w 101"/>
                  <a:gd name="T13" fmla="*/ 22 h 46"/>
                  <a:gd name="T14" fmla="*/ 0 w 101"/>
                  <a:gd name="T15" fmla="*/ 38 h 46"/>
                  <a:gd name="T16" fmla="*/ 3 w 101"/>
                  <a:gd name="T17" fmla="*/ 45 h 46"/>
                  <a:gd name="T18" fmla="*/ 3 w 101"/>
                  <a:gd name="T19" fmla="*/ 45 h 46"/>
                  <a:gd name="T20" fmla="*/ 4 w 101"/>
                  <a:gd name="T21" fmla="*/ 45 h 46"/>
                  <a:gd name="T22" fmla="*/ 5 w 101"/>
                  <a:gd name="T23" fmla="*/ 45 h 46"/>
                  <a:gd name="T24" fmla="*/ 6 w 101"/>
                  <a:gd name="T25" fmla="*/ 45 h 46"/>
                  <a:gd name="T26" fmla="*/ 8 w 101"/>
                  <a:gd name="T27" fmla="*/ 45 h 46"/>
                  <a:gd name="T28" fmla="*/ 8 w 101"/>
                  <a:gd name="T29" fmla="*/ 38 h 46"/>
                  <a:gd name="T30" fmla="*/ 9 w 101"/>
                  <a:gd name="T31" fmla="*/ 38 h 46"/>
                  <a:gd name="T32" fmla="*/ 10 w 101"/>
                  <a:gd name="T33" fmla="*/ 38 h 4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1"/>
                  <a:gd name="T52" fmla="*/ 0 h 46"/>
                  <a:gd name="T53" fmla="*/ 101 w 101"/>
                  <a:gd name="T54" fmla="*/ 46 h 4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1" h="46">
                    <a:moveTo>
                      <a:pt x="84" y="38"/>
                    </a:moveTo>
                    <a:lnTo>
                      <a:pt x="100" y="15"/>
                    </a:lnTo>
                    <a:lnTo>
                      <a:pt x="100" y="7"/>
                    </a:lnTo>
                    <a:lnTo>
                      <a:pt x="92" y="0"/>
                    </a:lnTo>
                    <a:lnTo>
                      <a:pt x="66" y="22"/>
                    </a:lnTo>
                    <a:lnTo>
                      <a:pt x="34" y="22"/>
                    </a:lnTo>
                    <a:lnTo>
                      <a:pt x="16" y="22"/>
                    </a:lnTo>
                    <a:lnTo>
                      <a:pt x="0" y="38"/>
                    </a:lnTo>
                    <a:lnTo>
                      <a:pt x="16" y="45"/>
                    </a:lnTo>
                    <a:lnTo>
                      <a:pt x="25" y="45"/>
                    </a:lnTo>
                    <a:lnTo>
                      <a:pt x="34" y="45"/>
                    </a:lnTo>
                    <a:lnTo>
                      <a:pt x="42" y="45"/>
                    </a:lnTo>
                    <a:lnTo>
                      <a:pt x="50" y="45"/>
                    </a:lnTo>
                    <a:lnTo>
                      <a:pt x="66" y="45"/>
                    </a:lnTo>
                    <a:lnTo>
                      <a:pt x="66" y="38"/>
                    </a:lnTo>
                    <a:lnTo>
                      <a:pt x="75" y="38"/>
                    </a:lnTo>
                    <a:lnTo>
                      <a:pt x="84"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3" name="Freeform 340"/>
              <p:cNvSpPr>
                <a:spLocks/>
              </p:cNvSpPr>
              <p:nvPr/>
            </p:nvSpPr>
            <p:spPr bwMode="auto">
              <a:xfrm>
                <a:off x="5742513" y="4039956"/>
                <a:ext cx="14212" cy="30200"/>
              </a:xfrm>
              <a:custGeom>
                <a:avLst/>
                <a:gdLst>
                  <a:gd name="T0" fmla="*/ 4 w 9"/>
                  <a:gd name="T1" fmla="*/ 16 h 17"/>
                  <a:gd name="T2" fmla="*/ 0 w 9"/>
                  <a:gd name="T3" fmla="*/ 8 h 17"/>
                  <a:gd name="T4" fmla="*/ 0 w 9"/>
                  <a:gd name="T5" fmla="*/ 0 h 17"/>
                  <a:gd name="T6" fmla="*/ 4 w 9"/>
                  <a:gd name="T7" fmla="*/ 0 h 17"/>
                  <a:gd name="T8" fmla="*/ 4 w 9"/>
                  <a:gd name="T9" fmla="*/ 16 h 17"/>
                  <a:gd name="T10" fmla="*/ 0 60000 65536"/>
                  <a:gd name="T11" fmla="*/ 0 60000 65536"/>
                  <a:gd name="T12" fmla="*/ 0 60000 65536"/>
                  <a:gd name="T13" fmla="*/ 0 60000 65536"/>
                  <a:gd name="T14" fmla="*/ 0 60000 65536"/>
                  <a:gd name="T15" fmla="*/ 0 w 9"/>
                  <a:gd name="T16" fmla="*/ 0 h 17"/>
                  <a:gd name="T17" fmla="*/ 9 w 9"/>
                  <a:gd name="T18" fmla="*/ 17 h 17"/>
                </a:gdLst>
                <a:ahLst/>
                <a:cxnLst>
                  <a:cxn ang="T10">
                    <a:pos x="T0" y="T1"/>
                  </a:cxn>
                  <a:cxn ang="T11">
                    <a:pos x="T2" y="T3"/>
                  </a:cxn>
                  <a:cxn ang="T12">
                    <a:pos x="T4" y="T5"/>
                  </a:cxn>
                  <a:cxn ang="T13">
                    <a:pos x="T6" y="T7"/>
                  </a:cxn>
                  <a:cxn ang="T14">
                    <a:pos x="T8" y="T9"/>
                  </a:cxn>
                </a:cxnLst>
                <a:rect l="T15" t="T16" r="T17" b="T18"/>
                <a:pathLst>
                  <a:path w="9" h="17">
                    <a:moveTo>
                      <a:pt x="8" y="16"/>
                    </a:moveTo>
                    <a:lnTo>
                      <a:pt x="0" y="8"/>
                    </a:lnTo>
                    <a:lnTo>
                      <a:pt x="0" y="0"/>
                    </a:lnTo>
                    <a:lnTo>
                      <a:pt x="8" y="0"/>
                    </a:lnTo>
                    <a:lnTo>
                      <a:pt x="8"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4" name="Freeform 341"/>
              <p:cNvSpPr>
                <a:spLocks/>
              </p:cNvSpPr>
              <p:nvPr/>
            </p:nvSpPr>
            <p:spPr bwMode="auto">
              <a:xfrm>
                <a:off x="5742513" y="4039956"/>
                <a:ext cx="14212" cy="30200"/>
              </a:xfrm>
              <a:custGeom>
                <a:avLst/>
                <a:gdLst>
                  <a:gd name="T0" fmla="*/ 4 w 9"/>
                  <a:gd name="T1" fmla="*/ 16 h 17"/>
                  <a:gd name="T2" fmla="*/ 0 w 9"/>
                  <a:gd name="T3" fmla="*/ 8 h 17"/>
                  <a:gd name="T4" fmla="*/ 0 w 9"/>
                  <a:gd name="T5" fmla="*/ 0 h 17"/>
                  <a:gd name="T6" fmla="*/ 4 w 9"/>
                  <a:gd name="T7" fmla="*/ 0 h 17"/>
                  <a:gd name="T8" fmla="*/ 4 w 9"/>
                  <a:gd name="T9" fmla="*/ 16 h 17"/>
                  <a:gd name="T10" fmla="*/ 0 60000 65536"/>
                  <a:gd name="T11" fmla="*/ 0 60000 65536"/>
                  <a:gd name="T12" fmla="*/ 0 60000 65536"/>
                  <a:gd name="T13" fmla="*/ 0 60000 65536"/>
                  <a:gd name="T14" fmla="*/ 0 60000 65536"/>
                  <a:gd name="T15" fmla="*/ 0 w 9"/>
                  <a:gd name="T16" fmla="*/ 0 h 17"/>
                  <a:gd name="T17" fmla="*/ 9 w 9"/>
                  <a:gd name="T18" fmla="*/ 17 h 17"/>
                </a:gdLst>
                <a:ahLst/>
                <a:cxnLst>
                  <a:cxn ang="T10">
                    <a:pos x="T0" y="T1"/>
                  </a:cxn>
                  <a:cxn ang="T11">
                    <a:pos x="T2" y="T3"/>
                  </a:cxn>
                  <a:cxn ang="T12">
                    <a:pos x="T4" y="T5"/>
                  </a:cxn>
                  <a:cxn ang="T13">
                    <a:pos x="T6" y="T7"/>
                  </a:cxn>
                  <a:cxn ang="T14">
                    <a:pos x="T8" y="T9"/>
                  </a:cxn>
                </a:cxnLst>
                <a:rect l="T15" t="T16" r="T17" b="T18"/>
                <a:pathLst>
                  <a:path w="9" h="17">
                    <a:moveTo>
                      <a:pt x="8" y="16"/>
                    </a:moveTo>
                    <a:lnTo>
                      <a:pt x="0" y="8"/>
                    </a:lnTo>
                    <a:lnTo>
                      <a:pt x="0" y="0"/>
                    </a:lnTo>
                    <a:lnTo>
                      <a:pt x="8" y="0"/>
                    </a:lnTo>
                    <a:lnTo>
                      <a:pt x="8"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5" name="Freeform 342"/>
              <p:cNvSpPr>
                <a:spLocks/>
              </p:cNvSpPr>
              <p:nvPr/>
            </p:nvSpPr>
            <p:spPr bwMode="auto">
              <a:xfrm>
                <a:off x="5667901" y="4080815"/>
                <a:ext cx="163437" cy="213179"/>
              </a:xfrm>
              <a:custGeom>
                <a:avLst/>
                <a:gdLst>
                  <a:gd name="T0" fmla="*/ 0 w 109"/>
                  <a:gd name="T1" fmla="*/ 83 h 124"/>
                  <a:gd name="T2" fmla="*/ 4 w 109"/>
                  <a:gd name="T3" fmla="*/ 83 h 124"/>
                  <a:gd name="T4" fmla="*/ 6 w 109"/>
                  <a:gd name="T5" fmla="*/ 77 h 124"/>
                  <a:gd name="T6" fmla="*/ 7 w 109"/>
                  <a:gd name="T7" fmla="*/ 73 h 124"/>
                  <a:gd name="T8" fmla="*/ 10 w 109"/>
                  <a:gd name="T9" fmla="*/ 68 h 124"/>
                  <a:gd name="T10" fmla="*/ 11 w 109"/>
                  <a:gd name="T11" fmla="*/ 58 h 124"/>
                  <a:gd name="T12" fmla="*/ 11 w 109"/>
                  <a:gd name="T13" fmla="*/ 53 h 124"/>
                  <a:gd name="T14" fmla="*/ 13 w 109"/>
                  <a:gd name="T15" fmla="*/ 34 h 124"/>
                  <a:gd name="T16" fmla="*/ 14 w 109"/>
                  <a:gd name="T17" fmla="*/ 26 h 124"/>
                  <a:gd name="T18" fmla="*/ 12 w 109"/>
                  <a:gd name="T19" fmla="*/ 15 h 124"/>
                  <a:gd name="T20" fmla="*/ 10 w 109"/>
                  <a:gd name="T21" fmla="*/ 8 h 124"/>
                  <a:gd name="T22" fmla="*/ 8 w 109"/>
                  <a:gd name="T23" fmla="*/ 0 h 124"/>
                  <a:gd name="T24" fmla="*/ 6 w 109"/>
                  <a:gd name="T25" fmla="*/ 15 h 124"/>
                  <a:gd name="T26" fmla="*/ 7 w 109"/>
                  <a:gd name="T27" fmla="*/ 19 h 124"/>
                  <a:gd name="T28" fmla="*/ 8 w 109"/>
                  <a:gd name="T29" fmla="*/ 26 h 124"/>
                  <a:gd name="T30" fmla="*/ 8 w 109"/>
                  <a:gd name="T31" fmla="*/ 34 h 124"/>
                  <a:gd name="T32" fmla="*/ 8 w 109"/>
                  <a:gd name="T33" fmla="*/ 38 h 124"/>
                  <a:gd name="T34" fmla="*/ 8 w 109"/>
                  <a:gd name="T35" fmla="*/ 46 h 124"/>
                  <a:gd name="T36" fmla="*/ 7 w 109"/>
                  <a:gd name="T37" fmla="*/ 46 h 124"/>
                  <a:gd name="T38" fmla="*/ 6 w 109"/>
                  <a:gd name="T39" fmla="*/ 53 h 124"/>
                  <a:gd name="T40" fmla="*/ 4 w 109"/>
                  <a:gd name="T41" fmla="*/ 58 h 124"/>
                  <a:gd name="T42" fmla="*/ 3 w 109"/>
                  <a:gd name="T43" fmla="*/ 68 h 124"/>
                  <a:gd name="T44" fmla="*/ 3 w 109"/>
                  <a:gd name="T45" fmla="*/ 73 h 124"/>
                  <a:gd name="T46" fmla="*/ 0 w 109"/>
                  <a:gd name="T47" fmla="*/ 77 h 124"/>
                  <a:gd name="T48" fmla="*/ 0 w 109"/>
                  <a:gd name="T49" fmla="*/ 83 h 12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124"/>
                  <a:gd name="T77" fmla="*/ 109 w 109"/>
                  <a:gd name="T78" fmla="*/ 124 h 12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124">
                    <a:moveTo>
                      <a:pt x="0" y="123"/>
                    </a:moveTo>
                    <a:lnTo>
                      <a:pt x="33" y="123"/>
                    </a:lnTo>
                    <a:lnTo>
                      <a:pt x="42" y="115"/>
                    </a:lnTo>
                    <a:lnTo>
                      <a:pt x="50" y="108"/>
                    </a:lnTo>
                    <a:lnTo>
                      <a:pt x="75" y="100"/>
                    </a:lnTo>
                    <a:lnTo>
                      <a:pt x="84" y="85"/>
                    </a:lnTo>
                    <a:lnTo>
                      <a:pt x="84" y="77"/>
                    </a:lnTo>
                    <a:lnTo>
                      <a:pt x="100" y="47"/>
                    </a:lnTo>
                    <a:lnTo>
                      <a:pt x="108" y="38"/>
                    </a:lnTo>
                    <a:lnTo>
                      <a:pt x="92" y="24"/>
                    </a:lnTo>
                    <a:lnTo>
                      <a:pt x="75" y="8"/>
                    </a:lnTo>
                    <a:lnTo>
                      <a:pt x="58" y="0"/>
                    </a:lnTo>
                    <a:lnTo>
                      <a:pt x="42" y="24"/>
                    </a:lnTo>
                    <a:lnTo>
                      <a:pt x="50" y="31"/>
                    </a:lnTo>
                    <a:lnTo>
                      <a:pt x="58" y="38"/>
                    </a:lnTo>
                    <a:lnTo>
                      <a:pt x="58" y="47"/>
                    </a:lnTo>
                    <a:lnTo>
                      <a:pt x="58" y="54"/>
                    </a:lnTo>
                    <a:lnTo>
                      <a:pt x="58" y="70"/>
                    </a:lnTo>
                    <a:lnTo>
                      <a:pt x="50" y="70"/>
                    </a:lnTo>
                    <a:lnTo>
                      <a:pt x="42" y="77"/>
                    </a:lnTo>
                    <a:lnTo>
                      <a:pt x="33" y="85"/>
                    </a:lnTo>
                    <a:lnTo>
                      <a:pt x="24" y="100"/>
                    </a:lnTo>
                    <a:lnTo>
                      <a:pt x="8" y="108"/>
                    </a:lnTo>
                    <a:lnTo>
                      <a:pt x="0" y="115"/>
                    </a:lnTo>
                    <a:lnTo>
                      <a:pt x="0" y="123"/>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6" name="Freeform 344"/>
              <p:cNvSpPr>
                <a:spLocks/>
              </p:cNvSpPr>
              <p:nvPr/>
            </p:nvSpPr>
            <p:spPr bwMode="auto">
              <a:xfrm>
                <a:off x="5431628" y="4279782"/>
                <a:ext cx="238049" cy="135014"/>
              </a:xfrm>
              <a:custGeom>
                <a:avLst/>
                <a:gdLst>
                  <a:gd name="T0" fmla="*/ 0 w 160"/>
                  <a:gd name="T1" fmla="*/ 16 h 78"/>
                  <a:gd name="T2" fmla="*/ 3 w 160"/>
                  <a:gd name="T3" fmla="*/ 7 h 78"/>
                  <a:gd name="T4" fmla="*/ 5 w 160"/>
                  <a:gd name="T5" fmla="*/ 26 h 78"/>
                  <a:gd name="T6" fmla="*/ 6 w 160"/>
                  <a:gd name="T7" fmla="*/ 42 h 78"/>
                  <a:gd name="T8" fmla="*/ 13 w 160"/>
                  <a:gd name="T9" fmla="*/ 7 h 78"/>
                  <a:gd name="T10" fmla="*/ 19 w 160"/>
                  <a:gd name="T11" fmla="*/ 0 h 78"/>
                  <a:gd name="T12" fmla="*/ 19 w 160"/>
                  <a:gd name="T13" fmla="*/ 7 h 78"/>
                  <a:gd name="T14" fmla="*/ 18 w 160"/>
                  <a:gd name="T15" fmla="*/ 16 h 78"/>
                  <a:gd name="T16" fmla="*/ 18 w 160"/>
                  <a:gd name="T17" fmla="*/ 19 h 78"/>
                  <a:gd name="T18" fmla="*/ 13 w 160"/>
                  <a:gd name="T19" fmla="*/ 26 h 78"/>
                  <a:gd name="T20" fmla="*/ 8 w 160"/>
                  <a:gd name="T21" fmla="*/ 47 h 78"/>
                  <a:gd name="T22" fmla="*/ 6 w 160"/>
                  <a:gd name="T23" fmla="*/ 47 h 78"/>
                  <a:gd name="T24" fmla="*/ 4 w 160"/>
                  <a:gd name="T25" fmla="*/ 55 h 78"/>
                  <a:gd name="T26" fmla="*/ 3 w 160"/>
                  <a:gd name="T27" fmla="*/ 55 h 78"/>
                  <a:gd name="T28" fmla="*/ 0 w 160"/>
                  <a:gd name="T29" fmla="*/ 16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0"/>
                  <a:gd name="T46" fmla="*/ 0 h 78"/>
                  <a:gd name="T47" fmla="*/ 160 w 160"/>
                  <a:gd name="T48" fmla="*/ 78 h 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0" h="78">
                    <a:moveTo>
                      <a:pt x="0" y="16"/>
                    </a:moveTo>
                    <a:lnTo>
                      <a:pt x="8" y="7"/>
                    </a:lnTo>
                    <a:lnTo>
                      <a:pt x="41" y="38"/>
                    </a:lnTo>
                    <a:lnTo>
                      <a:pt x="50" y="54"/>
                    </a:lnTo>
                    <a:lnTo>
                      <a:pt x="117" y="7"/>
                    </a:lnTo>
                    <a:lnTo>
                      <a:pt x="159" y="0"/>
                    </a:lnTo>
                    <a:lnTo>
                      <a:pt x="159" y="7"/>
                    </a:lnTo>
                    <a:lnTo>
                      <a:pt x="151" y="16"/>
                    </a:lnTo>
                    <a:lnTo>
                      <a:pt x="151" y="31"/>
                    </a:lnTo>
                    <a:lnTo>
                      <a:pt x="109" y="38"/>
                    </a:lnTo>
                    <a:lnTo>
                      <a:pt x="67" y="61"/>
                    </a:lnTo>
                    <a:lnTo>
                      <a:pt x="50" y="61"/>
                    </a:lnTo>
                    <a:lnTo>
                      <a:pt x="33" y="77"/>
                    </a:lnTo>
                    <a:lnTo>
                      <a:pt x="8" y="77"/>
                    </a:lnTo>
                    <a:lnTo>
                      <a:pt x="0" y="16"/>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7" name="Freeform 346"/>
              <p:cNvSpPr>
                <a:spLocks/>
              </p:cNvSpPr>
              <p:nvPr/>
            </p:nvSpPr>
            <p:spPr bwMode="auto">
              <a:xfrm>
                <a:off x="5357016" y="3496349"/>
                <a:ext cx="163437" cy="69283"/>
              </a:xfrm>
              <a:custGeom>
                <a:avLst/>
                <a:gdLst>
                  <a:gd name="T0" fmla="*/ 4 w 110"/>
                  <a:gd name="T1" fmla="*/ 38 h 39"/>
                  <a:gd name="T2" fmla="*/ 4 w 110"/>
                  <a:gd name="T3" fmla="*/ 30 h 39"/>
                  <a:gd name="T4" fmla="*/ 4 w 110"/>
                  <a:gd name="T5" fmla="*/ 15 h 39"/>
                  <a:gd name="T6" fmla="*/ 0 w 110"/>
                  <a:gd name="T7" fmla="*/ 0 h 39"/>
                  <a:gd name="T8" fmla="*/ 6 w 110"/>
                  <a:gd name="T9" fmla="*/ 0 h 39"/>
                  <a:gd name="T10" fmla="*/ 8 w 110"/>
                  <a:gd name="T11" fmla="*/ 7 h 39"/>
                  <a:gd name="T12" fmla="*/ 11 w 110"/>
                  <a:gd name="T13" fmla="*/ 7 h 39"/>
                  <a:gd name="T14" fmla="*/ 13 w 110"/>
                  <a:gd name="T15" fmla="*/ 30 h 39"/>
                  <a:gd name="T16" fmla="*/ 11 w 110"/>
                  <a:gd name="T17" fmla="*/ 30 h 39"/>
                  <a:gd name="T18" fmla="*/ 13 w 110"/>
                  <a:gd name="T19" fmla="*/ 38 h 39"/>
                  <a:gd name="T20" fmla="*/ 11 w 110"/>
                  <a:gd name="T21" fmla="*/ 38 h 39"/>
                  <a:gd name="T22" fmla="*/ 9 w 110"/>
                  <a:gd name="T23" fmla="*/ 38 h 39"/>
                  <a:gd name="T24" fmla="*/ 7 w 110"/>
                  <a:gd name="T25" fmla="*/ 38 h 39"/>
                  <a:gd name="T26" fmla="*/ 4 w 110"/>
                  <a:gd name="T27" fmla="*/ 38 h 3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10"/>
                  <a:gd name="T43" fmla="*/ 0 h 39"/>
                  <a:gd name="T44" fmla="*/ 110 w 110"/>
                  <a:gd name="T45" fmla="*/ 39 h 3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10" h="39">
                    <a:moveTo>
                      <a:pt x="33" y="38"/>
                    </a:moveTo>
                    <a:lnTo>
                      <a:pt x="33" y="30"/>
                    </a:lnTo>
                    <a:lnTo>
                      <a:pt x="33" y="15"/>
                    </a:lnTo>
                    <a:lnTo>
                      <a:pt x="0" y="0"/>
                    </a:lnTo>
                    <a:lnTo>
                      <a:pt x="50" y="0"/>
                    </a:lnTo>
                    <a:lnTo>
                      <a:pt x="67" y="7"/>
                    </a:lnTo>
                    <a:lnTo>
                      <a:pt x="91" y="7"/>
                    </a:lnTo>
                    <a:lnTo>
                      <a:pt x="109" y="30"/>
                    </a:lnTo>
                    <a:lnTo>
                      <a:pt x="100" y="30"/>
                    </a:lnTo>
                    <a:lnTo>
                      <a:pt x="109" y="38"/>
                    </a:lnTo>
                    <a:lnTo>
                      <a:pt x="91" y="38"/>
                    </a:lnTo>
                    <a:lnTo>
                      <a:pt x="83" y="38"/>
                    </a:lnTo>
                    <a:lnTo>
                      <a:pt x="58" y="38"/>
                    </a:lnTo>
                    <a:lnTo>
                      <a:pt x="33" y="38"/>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8" name="Freeform 347"/>
              <p:cNvSpPr>
                <a:spLocks/>
              </p:cNvSpPr>
              <p:nvPr/>
            </p:nvSpPr>
            <p:spPr bwMode="auto">
              <a:xfrm>
                <a:off x="5444064" y="3563855"/>
                <a:ext cx="76389" cy="79942"/>
              </a:xfrm>
              <a:custGeom>
                <a:avLst/>
                <a:gdLst>
                  <a:gd name="T0" fmla="*/ 7 w 51"/>
                  <a:gd name="T1" fmla="*/ 33 h 46"/>
                  <a:gd name="T2" fmla="*/ 7 w 51"/>
                  <a:gd name="T3" fmla="*/ 26 h 46"/>
                  <a:gd name="T4" fmla="*/ 6 w 51"/>
                  <a:gd name="T5" fmla="*/ 23 h 46"/>
                  <a:gd name="T6" fmla="*/ 6 w 51"/>
                  <a:gd name="T7" fmla="*/ 14 h 46"/>
                  <a:gd name="T8" fmla="*/ 3 w 51"/>
                  <a:gd name="T9" fmla="*/ 0 h 46"/>
                  <a:gd name="T10" fmla="*/ 0 w 51"/>
                  <a:gd name="T11" fmla="*/ 0 h 46"/>
                  <a:gd name="T12" fmla="*/ 3 w 51"/>
                  <a:gd name="T13" fmla="*/ 23 h 46"/>
                  <a:gd name="T14" fmla="*/ 3 w 51"/>
                  <a:gd name="T15" fmla="*/ 23 h 46"/>
                  <a:gd name="T16" fmla="*/ 6 w 51"/>
                  <a:gd name="T17" fmla="*/ 26 h 46"/>
                  <a:gd name="T18" fmla="*/ 6 w 51"/>
                  <a:gd name="T19" fmla="*/ 33 h 46"/>
                  <a:gd name="T20" fmla="*/ 7 w 51"/>
                  <a:gd name="T21" fmla="*/ 33 h 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1"/>
                  <a:gd name="T34" fmla="*/ 0 h 46"/>
                  <a:gd name="T35" fmla="*/ 51 w 51"/>
                  <a:gd name="T36" fmla="*/ 46 h 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1" h="46">
                    <a:moveTo>
                      <a:pt x="50" y="45"/>
                    </a:moveTo>
                    <a:lnTo>
                      <a:pt x="50" y="38"/>
                    </a:lnTo>
                    <a:lnTo>
                      <a:pt x="42" y="30"/>
                    </a:lnTo>
                    <a:lnTo>
                      <a:pt x="42" y="14"/>
                    </a:lnTo>
                    <a:lnTo>
                      <a:pt x="25" y="0"/>
                    </a:lnTo>
                    <a:lnTo>
                      <a:pt x="0" y="0"/>
                    </a:lnTo>
                    <a:lnTo>
                      <a:pt x="8" y="30"/>
                    </a:lnTo>
                    <a:lnTo>
                      <a:pt x="25" y="30"/>
                    </a:lnTo>
                    <a:lnTo>
                      <a:pt x="42" y="38"/>
                    </a:lnTo>
                    <a:lnTo>
                      <a:pt x="42" y="45"/>
                    </a:lnTo>
                    <a:lnTo>
                      <a:pt x="50" y="4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299" name="Freeform 348"/>
              <p:cNvSpPr>
                <a:spLocks/>
              </p:cNvSpPr>
              <p:nvPr/>
            </p:nvSpPr>
            <p:spPr bwMode="auto">
              <a:xfrm>
                <a:off x="5481370" y="3615374"/>
                <a:ext cx="28424" cy="28424"/>
              </a:xfrm>
              <a:custGeom>
                <a:avLst/>
                <a:gdLst>
                  <a:gd name="T0" fmla="*/ 3 w 19"/>
                  <a:gd name="T1" fmla="*/ 15 h 16"/>
                  <a:gd name="T2" fmla="*/ 3 w 19"/>
                  <a:gd name="T3" fmla="*/ 15 h 16"/>
                  <a:gd name="T4" fmla="*/ 0 w 19"/>
                  <a:gd name="T5" fmla="*/ 0 h 16"/>
                  <a:gd name="T6" fmla="*/ 3 w 19"/>
                  <a:gd name="T7" fmla="*/ 8 h 16"/>
                  <a:gd name="T8" fmla="*/ 3 w 19"/>
                  <a:gd name="T9" fmla="*/ 15 h 16"/>
                  <a:gd name="T10" fmla="*/ 0 60000 65536"/>
                  <a:gd name="T11" fmla="*/ 0 60000 65536"/>
                  <a:gd name="T12" fmla="*/ 0 60000 65536"/>
                  <a:gd name="T13" fmla="*/ 0 60000 65536"/>
                  <a:gd name="T14" fmla="*/ 0 60000 65536"/>
                  <a:gd name="T15" fmla="*/ 0 w 19"/>
                  <a:gd name="T16" fmla="*/ 0 h 16"/>
                  <a:gd name="T17" fmla="*/ 19 w 19"/>
                  <a:gd name="T18" fmla="*/ 16 h 16"/>
                </a:gdLst>
                <a:ahLst/>
                <a:cxnLst>
                  <a:cxn ang="T10">
                    <a:pos x="T0" y="T1"/>
                  </a:cxn>
                  <a:cxn ang="T11">
                    <a:pos x="T2" y="T3"/>
                  </a:cxn>
                  <a:cxn ang="T12">
                    <a:pos x="T4" y="T5"/>
                  </a:cxn>
                  <a:cxn ang="T13">
                    <a:pos x="T6" y="T7"/>
                  </a:cxn>
                  <a:cxn ang="T14">
                    <a:pos x="T8" y="T9"/>
                  </a:cxn>
                </a:cxnLst>
                <a:rect l="T15" t="T16" r="T17" b="T18"/>
                <a:pathLst>
                  <a:path w="19" h="16">
                    <a:moveTo>
                      <a:pt x="18" y="15"/>
                    </a:moveTo>
                    <a:lnTo>
                      <a:pt x="8" y="15"/>
                    </a:lnTo>
                    <a:lnTo>
                      <a:pt x="0" y="0"/>
                    </a:lnTo>
                    <a:lnTo>
                      <a:pt x="18" y="8"/>
                    </a:lnTo>
                    <a:lnTo>
                      <a:pt x="18"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00" name="Freeform 349"/>
              <p:cNvSpPr>
                <a:spLocks/>
              </p:cNvSpPr>
              <p:nvPr/>
            </p:nvSpPr>
            <p:spPr bwMode="auto">
              <a:xfrm>
                <a:off x="5481370" y="3615374"/>
                <a:ext cx="28424" cy="28424"/>
              </a:xfrm>
              <a:custGeom>
                <a:avLst/>
                <a:gdLst>
                  <a:gd name="T0" fmla="*/ 3 w 19"/>
                  <a:gd name="T1" fmla="*/ 15 h 16"/>
                  <a:gd name="T2" fmla="*/ 3 w 19"/>
                  <a:gd name="T3" fmla="*/ 15 h 16"/>
                  <a:gd name="T4" fmla="*/ 0 w 19"/>
                  <a:gd name="T5" fmla="*/ 0 h 16"/>
                  <a:gd name="T6" fmla="*/ 3 w 19"/>
                  <a:gd name="T7" fmla="*/ 8 h 16"/>
                  <a:gd name="T8" fmla="*/ 3 w 19"/>
                  <a:gd name="T9" fmla="*/ 15 h 16"/>
                  <a:gd name="T10" fmla="*/ 0 60000 65536"/>
                  <a:gd name="T11" fmla="*/ 0 60000 65536"/>
                  <a:gd name="T12" fmla="*/ 0 60000 65536"/>
                  <a:gd name="T13" fmla="*/ 0 60000 65536"/>
                  <a:gd name="T14" fmla="*/ 0 60000 65536"/>
                  <a:gd name="T15" fmla="*/ 0 w 19"/>
                  <a:gd name="T16" fmla="*/ 0 h 16"/>
                  <a:gd name="T17" fmla="*/ 19 w 19"/>
                  <a:gd name="T18" fmla="*/ 16 h 16"/>
                </a:gdLst>
                <a:ahLst/>
                <a:cxnLst>
                  <a:cxn ang="T10">
                    <a:pos x="T0" y="T1"/>
                  </a:cxn>
                  <a:cxn ang="T11">
                    <a:pos x="T2" y="T3"/>
                  </a:cxn>
                  <a:cxn ang="T12">
                    <a:pos x="T4" y="T5"/>
                  </a:cxn>
                  <a:cxn ang="T13">
                    <a:pos x="T6" y="T7"/>
                  </a:cxn>
                  <a:cxn ang="T14">
                    <a:pos x="T8" y="T9"/>
                  </a:cxn>
                </a:cxnLst>
                <a:rect l="T15" t="T16" r="T17" b="T18"/>
                <a:pathLst>
                  <a:path w="19" h="16">
                    <a:moveTo>
                      <a:pt x="18" y="15"/>
                    </a:moveTo>
                    <a:lnTo>
                      <a:pt x="8" y="15"/>
                    </a:lnTo>
                    <a:lnTo>
                      <a:pt x="0" y="0"/>
                    </a:lnTo>
                    <a:lnTo>
                      <a:pt x="18" y="8"/>
                    </a:lnTo>
                    <a:lnTo>
                      <a:pt x="18" y="15"/>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01" name="Freeform 350"/>
              <p:cNvSpPr>
                <a:spLocks/>
              </p:cNvSpPr>
              <p:nvPr/>
            </p:nvSpPr>
            <p:spPr bwMode="auto">
              <a:xfrm>
                <a:off x="5481370" y="3551420"/>
                <a:ext cx="126131" cy="106590"/>
              </a:xfrm>
              <a:custGeom>
                <a:avLst/>
                <a:gdLst>
                  <a:gd name="T0" fmla="*/ 3 w 85"/>
                  <a:gd name="T1" fmla="*/ 38 h 62"/>
                  <a:gd name="T2" fmla="*/ 6 w 85"/>
                  <a:gd name="T3" fmla="*/ 34 h 62"/>
                  <a:gd name="T4" fmla="*/ 7 w 85"/>
                  <a:gd name="T5" fmla="*/ 34 h 62"/>
                  <a:gd name="T6" fmla="*/ 6 w 85"/>
                  <a:gd name="T7" fmla="*/ 38 h 62"/>
                  <a:gd name="T8" fmla="*/ 8 w 85"/>
                  <a:gd name="T9" fmla="*/ 41 h 62"/>
                  <a:gd name="T10" fmla="*/ 7 w 85"/>
                  <a:gd name="T11" fmla="*/ 38 h 62"/>
                  <a:gd name="T12" fmla="*/ 8 w 85"/>
                  <a:gd name="T13" fmla="*/ 38 h 62"/>
                  <a:gd name="T14" fmla="*/ 8 w 85"/>
                  <a:gd name="T15" fmla="*/ 26 h 62"/>
                  <a:gd name="T16" fmla="*/ 9 w 85"/>
                  <a:gd name="T17" fmla="*/ 15 h 62"/>
                  <a:gd name="T18" fmla="*/ 8 w 85"/>
                  <a:gd name="T19" fmla="*/ 15 h 62"/>
                  <a:gd name="T20" fmla="*/ 7 w 85"/>
                  <a:gd name="T21" fmla="*/ 0 h 62"/>
                  <a:gd name="T22" fmla="*/ 6 w 85"/>
                  <a:gd name="T23" fmla="*/ 8 h 62"/>
                  <a:gd name="T24" fmla="*/ 4 w 85"/>
                  <a:gd name="T25" fmla="*/ 8 h 62"/>
                  <a:gd name="T26" fmla="*/ 3 w 85"/>
                  <a:gd name="T27" fmla="*/ 0 h 62"/>
                  <a:gd name="T28" fmla="*/ 3 w 85"/>
                  <a:gd name="T29" fmla="*/ 0 h 62"/>
                  <a:gd name="T30" fmla="*/ 3 w 85"/>
                  <a:gd name="T31" fmla="*/ 8 h 62"/>
                  <a:gd name="T32" fmla="*/ 3 w 85"/>
                  <a:gd name="T33" fmla="*/ 8 h 62"/>
                  <a:gd name="T34" fmla="*/ 0 w 85"/>
                  <a:gd name="T35" fmla="*/ 8 h 62"/>
                  <a:gd name="T36" fmla="*/ 3 w 85"/>
                  <a:gd name="T37" fmla="*/ 15 h 62"/>
                  <a:gd name="T38" fmla="*/ 3 w 85"/>
                  <a:gd name="T39" fmla="*/ 26 h 62"/>
                  <a:gd name="T40" fmla="*/ 3 w 85"/>
                  <a:gd name="T41" fmla="*/ 34 h 62"/>
                  <a:gd name="T42" fmla="*/ 3 w 85"/>
                  <a:gd name="T43" fmla="*/ 38 h 6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5"/>
                  <a:gd name="T67" fmla="*/ 0 h 62"/>
                  <a:gd name="T68" fmla="*/ 85 w 85"/>
                  <a:gd name="T69" fmla="*/ 62 h 6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5" h="62">
                    <a:moveTo>
                      <a:pt x="26" y="54"/>
                    </a:moveTo>
                    <a:lnTo>
                      <a:pt x="50" y="46"/>
                    </a:lnTo>
                    <a:lnTo>
                      <a:pt x="59" y="46"/>
                    </a:lnTo>
                    <a:lnTo>
                      <a:pt x="50" y="54"/>
                    </a:lnTo>
                    <a:lnTo>
                      <a:pt x="67" y="61"/>
                    </a:lnTo>
                    <a:lnTo>
                      <a:pt x="59" y="54"/>
                    </a:lnTo>
                    <a:lnTo>
                      <a:pt x="67" y="54"/>
                    </a:lnTo>
                    <a:lnTo>
                      <a:pt x="67" y="38"/>
                    </a:lnTo>
                    <a:lnTo>
                      <a:pt x="84" y="23"/>
                    </a:lnTo>
                    <a:lnTo>
                      <a:pt x="67" y="15"/>
                    </a:lnTo>
                    <a:lnTo>
                      <a:pt x="59" y="0"/>
                    </a:lnTo>
                    <a:lnTo>
                      <a:pt x="50" y="8"/>
                    </a:lnTo>
                    <a:lnTo>
                      <a:pt x="34" y="8"/>
                    </a:lnTo>
                    <a:lnTo>
                      <a:pt x="26" y="0"/>
                    </a:lnTo>
                    <a:lnTo>
                      <a:pt x="17" y="0"/>
                    </a:lnTo>
                    <a:lnTo>
                      <a:pt x="26" y="8"/>
                    </a:lnTo>
                    <a:lnTo>
                      <a:pt x="8" y="8"/>
                    </a:lnTo>
                    <a:lnTo>
                      <a:pt x="0" y="8"/>
                    </a:lnTo>
                    <a:lnTo>
                      <a:pt x="17" y="23"/>
                    </a:lnTo>
                    <a:lnTo>
                      <a:pt x="17" y="38"/>
                    </a:lnTo>
                    <a:lnTo>
                      <a:pt x="26" y="46"/>
                    </a:lnTo>
                    <a:lnTo>
                      <a:pt x="26" y="54"/>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sp>
            <p:nvSpPr>
              <p:cNvPr id="302" name="Freeform 351"/>
              <p:cNvSpPr>
                <a:spLocks/>
              </p:cNvSpPr>
              <p:nvPr/>
            </p:nvSpPr>
            <p:spPr bwMode="auto">
              <a:xfrm>
                <a:off x="6236377" y="3734399"/>
                <a:ext cx="8882" cy="19541"/>
              </a:xfrm>
              <a:custGeom>
                <a:avLst/>
                <a:gdLst>
                  <a:gd name="T0" fmla="*/ 1 w 7"/>
                  <a:gd name="T1" fmla="*/ 26 h 10"/>
                  <a:gd name="T2" fmla="*/ 0 w 7"/>
                  <a:gd name="T3" fmla="*/ 0 h 10"/>
                  <a:gd name="T4" fmla="*/ 0 w 7"/>
                  <a:gd name="T5" fmla="*/ 26 h 10"/>
                  <a:gd name="T6" fmla="*/ 1 w 7"/>
                  <a:gd name="T7" fmla="*/ 26 h 10"/>
                  <a:gd name="T8" fmla="*/ 0 60000 65536"/>
                  <a:gd name="T9" fmla="*/ 0 60000 65536"/>
                  <a:gd name="T10" fmla="*/ 0 60000 65536"/>
                  <a:gd name="T11" fmla="*/ 0 60000 65536"/>
                  <a:gd name="T12" fmla="*/ 0 w 7"/>
                  <a:gd name="T13" fmla="*/ 0 h 10"/>
                  <a:gd name="T14" fmla="*/ 7 w 7"/>
                  <a:gd name="T15" fmla="*/ 10 h 10"/>
                </a:gdLst>
                <a:ahLst/>
                <a:cxnLst>
                  <a:cxn ang="T8">
                    <a:pos x="T0" y="T1"/>
                  </a:cxn>
                  <a:cxn ang="T9">
                    <a:pos x="T2" y="T3"/>
                  </a:cxn>
                  <a:cxn ang="T10">
                    <a:pos x="T4" y="T5"/>
                  </a:cxn>
                  <a:cxn ang="T11">
                    <a:pos x="T6" y="T7"/>
                  </a:cxn>
                </a:cxnLst>
                <a:rect l="T12" t="T13" r="T14" b="T15"/>
                <a:pathLst>
                  <a:path w="7" h="10">
                    <a:moveTo>
                      <a:pt x="6" y="9"/>
                    </a:moveTo>
                    <a:lnTo>
                      <a:pt x="0" y="0"/>
                    </a:lnTo>
                    <a:lnTo>
                      <a:pt x="0" y="9"/>
                    </a:lnTo>
                    <a:lnTo>
                      <a:pt x="6" y="9"/>
                    </a:lnTo>
                  </a:path>
                </a:pathLst>
              </a:custGeom>
              <a:grpFill/>
              <a:ln w="0" cap="rnd">
                <a:solidFill>
                  <a:schemeClr val="bg1">
                    <a:lumMod val="75000"/>
                  </a:schemeClr>
                </a:solidFill>
                <a:round/>
                <a:headEnd type="none" w="sm" len="sm"/>
                <a:tailEnd type="none" w="sm" len="sm"/>
              </a:ln>
            </p:spPr>
            <p:txBody>
              <a:bodyPr/>
              <a:lstStyle/>
              <a:p>
                <a:pPr>
                  <a:defRPr/>
                </a:pPr>
                <a:endParaRPr lang="en-US" dirty="0"/>
              </a:p>
            </p:txBody>
          </p:sp>
        </p:grpSp>
        <p:sp>
          <p:nvSpPr>
            <p:cNvPr id="25" name="Oval 24"/>
            <p:cNvSpPr/>
            <p:nvPr>
              <p:custDataLst>
                <p:tags r:id="rId6"/>
              </p:custDataLst>
            </p:nvPr>
          </p:nvSpPr>
          <p:spPr bwMode="auto">
            <a:xfrm>
              <a:off x="3119650" y="3160565"/>
              <a:ext cx="83424" cy="88411"/>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27" name="Oval 26"/>
            <p:cNvSpPr/>
            <p:nvPr>
              <p:custDataLst>
                <p:tags r:id="rId7"/>
              </p:custDataLst>
            </p:nvPr>
          </p:nvSpPr>
          <p:spPr bwMode="auto">
            <a:xfrm flipV="1">
              <a:off x="2813748" y="3436496"/>
              <a:ext cx="89342" cy="100645"/>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28" name="Oval 27"/>
            <p:cNvSpPr/>
            <p:nvPr>
              <p:custDataLst>
                <p:tags r:id="rId8"/>
              </p:custDataLst>
            </p:nvPr>
          </p:nvSpPr>
          <p:spPr bwMode="auto">
            <a:xfrm>
              <a:off x="2761773" y="3533914"/>
              <a:ext cx="83424" cy="88411"/>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311" name="Oval 310"/>
            <p:cNvSpPr/>
            <p:nvPr>
              <p:custDataLst>
                <p:tags r:id="rId9"/>
              </p:custDataLst>
            </p:nvPr>
          </p:nvSpPr>
          <p:spPr bwMode="auto">
            <a:xfrm>
              <a:off x="4553823" y="3270276"/>
              <a:ext cx="83424" cy="88411"/>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grpSp>
      <p:sp>
        <p:nvSpPr>
          <p:cNvPr id="69659" name="Rectangle 5"/>
          <p:cNvSpPr>
            <a:spLocks noChangeArrowheads="1"/>
          </p:cNvSpPr>
          <p:nvPr/>
        </p:nvSpPr>
        <p:spPr bwMode="auto">
          <a:xfrm>
            <a:off x="246621" y="1477310"/>
            <a:ext cx="6648652" cy="5375831"/>
          </a:xfrm>
          <a:prstGeom prst="rect">
            <a:avLst/>
          </a:prstGeom>
          <a:noFill/>
          <a:ln w="38100">
            <a:noFill/>
            <a:miter lim="800000"/>
            <a:headEnd/>
            <a:tailEnd/>
          </a:ln>
        </p:spPr>
        <p:txBody>
          <a:bodyPr wrap="square">
            <a:spAutoFit/>
          </a:bodyPr>
          <a:lstStyle/>
          <a:p>
            <a:pPr marL="357623" lvl="1" indent="-274313">
              <a:spcAft>
                <a:spcPts val="800"/>
              </a:spcAft>
              <a:buClr>
                <a:srgbClr val="ABA69F"/>
              </a:buClr>
              <a:buSzPct val="80000"/>
              <a:buFont typeface="Arial" panose="020B0604020202020204" pitchFamily="34" charset="0"/>
              <a:buChar char="•"/>
            </a:pPr>
            <a:r>
              <a:rPr lang="en-US" sz="1600" dirty="0">
                <a:sym typeface="Lucida Grande"/>
              </a:rPr>
              <a:t>One of the largest, mature, EDI outsourcing solutions in the world</a:t>
            </a:r>
          </a:p>
          <a:p>
            <a:pPr marL="357623" lvl="1" indent="-274313">
              <a:spcAft>
                <a:spcPts val="800"/>
              </a:spcAft>
              <a:buClr>
                <a:srgbClr val="ABA69F"/>
              </a:buClr>
              <a:buSzPct val="80000"/>
              <a:buFont typeface="Arial" panose="020B0604020202020204" pitchFamily="34" charset="0"/>
              <a:buChar char="•"/>
            </a:pPr>
            <a:r>
              <a:rPr lang="en-US" sz="1600" dirty="0">
                <a:sym typeface="Lucida Grande"/>
              </a:rPr>
              <a:t>25+ years of EDI and EDI expertise</a:t>
            </a:r>
          </a:p>
          <a:p>
            <a:pPr marL="357623" lvl="1" indent="-274313">
              <a:spcAft>
                <a:spcPts val="800"/>
              </a:spcAft>
              <a:buClr>
                <a:srgbClr val="ABA69F"/>
              </a:buClr>
              <a:buSzPct val="80000"/>
              <a:buFont typeface="Arial" panose="020B0604020202020204" pitchFamily="34" charset="0"/>
              <a:buChar char="•"/>
            </a:pPr>
            <a:r>
              <a:rPr lang="en-US" sz="1600" dirty="0">
                <a:sym typeface="Lucida Grande"/>
              </a:rPr>
              <a:t>160+ EDI professionals (average experience &gt;13 years)</a:t>
            </a:r>
          </a:p>
          <a:p>
            <a:pPr marL="357623" lvl="1" indent="-274313">
              <a:spcAft>
                <a:spcPts val="800"/>
              </a:spcAft>
              <a:buClr>
                <a:srgbClr val="ABA69F"/>
              </a:buClr>
              <a:buSzPct val="80000"/>
              <a:buFont typeface="Arial" panose="020B0604020202020204" pitchFamily="34" charset="0"/>
              <a:buChar char="•"/>
            </a:pPr>
            <a:r>
              <a:rPr lang="en-US" sz="1600" dirty="0">
                <a:sym typeface="Lucida Grande"/>
              </a:rPr>
              <a:t>1,750+ clients in over 20 countries</a:t>
            </a:r>
          </a:p>
          <a:p>
            <a:pPr marL="357623" lvl="1" indent="-274313">
              <a:spcAft>
                <a:spcPts val="800"/>
              </a:spcAft>
              <a:buClr>
                <a:srgbClr val="ABA69F"/>
              </a:buClr>
              <a:buSzPct val="80000"/>
              <a:buFont typeface="Arial" panose="020B0604020202020204" pitchFamily="34" charset="0"/>
              <a:buChar char="•"/>
            </a:pPr>
            <a:r>
              <a:rPr lang="en-US" sz="1600" dirty="0">
                <a:sym typeface="Lucida Grande"/>
              </a:rPr>
              <a:t>160,000+ trading partners</a:t>
            </a:r>
          </a:p>
          <a:p>
            <a:pPr marL="370831" lvl="1" indent="-274313">
              <a:spcAft>
                <a:spcPts val="800"/>
              </a:spcAft>
              <a:buClr>
                <a:srgbClr val="ABA69F"/>
              </a:buClr>
              <a:buSzPct val="80000"/>
              <a:buFont typeface="Arial" panose="020B0604020202020204" pitchFamily="34" charset="0"/>
              <a:buChar char="•"/>
            </a:pPr>
            <a:r>
              <a:rPr lang="en-US" sz="1600" dirty="0">
                <a:sym typeface="Lucida Grande"/>
              </a:rPr>
              <a:t>3 Billion+ mission critical documents per year </a:t>
            </a:r>
          </a:p>
          <a:p>
            <a:pPr marL="357623" lvl="1" indent="-274313">
              <a:buClr>
                <a:srgbClr val="ABA69F"/>
              </a:buClr>
              <a:buSzPct val="80000"/>
              <a:buFont typeface="Arial" panose="020B0604020202020204" pitchFamily="34" charset="0"/>
              <a:buChar char="•"/>
            </a:pPr>
            <a:r>
              <a:rPr lang="en-US" sz="1600" dirty="0">
                <a:sym typeface="Lucida Grande"/>
              </a:rPr>
              <a:t>EDI and Integration skills</a:t>
            </a:r>
          </a:p>
          <a:p>
            <a:pPr marL="814812" lvl="2">
              <a:buClr>
                <a:srgbClr val="ABA69F"/>
              </a:buClr>
              <a:buSzPct val="80000"/>
            </a:pPr>
            <a:r>
              <a:rPr lang="en-US" sz="1600" dirty="0">
                <a:sym typeface="Lucida Grande"/>
              </a:rPr>
              <a:t>Multi-vendor consulting (OpenText/GXS,</a:t>
            </a:r>
          </a:p>
          <a:p>
            <a:pPr marL="814812" lvl="2">
              <a:buClr>
                <a:srgbClr val="ABA69F"/>
              </a:buClr>
              <a:buSzPct val="80000"/>
            </a:pPr>
            <a:r>
              <a:rPr lang="en-US" sz="1600" dirty="0">
                <a:sym typeface="Lucida Grande"/>
              </a:rPr>
              <a:t>IBM Sterling, Seeburger, Axway, Software AG,</a:t>
            </a:r>
          </a:p>
          <a:p>
            <a:pPr marL="814812" lvl="2">
              <a:buClr>
                <a:srgbClr val="ABA69F"/>
              </a:buClr>
              <a:buSzPct val="80000"/>
            </a:pPr>
            <a:r>
              <a:rPr lang="en-US" sz="1600" dirty="0">
                <a:sym typeface="Lucida Grande"/>
              </a:rPr>
              <a:t>Oracle, Edifecs, Sybase, etc.)</a:t>
            </a:r>
          </a:p>
          <a:p>
            <a:pPr marL="380479" lvl="1" indent="-274313">
              <a:spcAft>
                <a:spcPts val="800"/>
              </a:spcAft>
              <a:buClr>
                <a:srgbClr val="ABA69F"/>
              </a:buClr>
              <a:buSzPct val="80000"/>
              <a:buFont typeface="Arial" panose="020B0604020202020204" pitchFamily="34" charset="0"/>
              <a:buChar char="•"/>
            </a:pPr>
            <a:endParaRPr lang="en-US" sz="600" dirty="0">
              <a:sym typeface="Lucida Grande"/>
            </a:endParaRPr>
          </a:p>
          <a:p>
            <a:pPr marL="380479" lvl="1" indent="-274313">
              <a:spcAft>
                <a:spcPts val="800"/>
              </a:spcAft>
              <a:buClr>
                <a:srgbClr val="ABA69F"/>
              </a:buClr>
              <a:buSzPct val="80000"/>
              <a:buFont typeface="Arial" panose="020B0604020202020204" pitchFamily="34" charset="0"/>
              <a:buChar char="•"/>
            </a:pPr>
            <a:r>
              <a:rPr lang="en-US" sz="1600" dirty="0">
                <a:sym typeface="Lucida Grande"/>
              </a:rPr>
              <a:t>Listed by Gartner as an integration brokerage product </a:t>
            </a:r>
            <a:r>
              <a:rPr lang="en-US" sz="1200" dirty="0">
                <a:sym typeface="Lucida Grande"/>
              </a:rPr>
              <a:t>(https://www.gartner.com/reviews/market/integration-brokerage) </a:t>
            </a:r>
            <a:endParaRPr lang="en-US" sz="1600" dirty="0">
              <a:sym typeface="Lucida Grande"/>
            </a:endParaRPr>
          </a:p>
          <a:p>
            <a:pPr marL="826249" lvl="1" indent="-274313">
              <a:spcAft>
                <a:spcPts val="800"/>
              </a:spcAft>
              <a:buClr>
                <a:srgbClr val="ABA69F"/>
              </a:buClr>
              <a:buSzPct val="80000"/>
              <a:buFont typeface="Arial" panose="020B0604020202020204" pitchFamily="34" charset="0"/>
              <a:buChar char="•"/>
            </a:pPr>
            <a:endParaRPr lang="en-US" sz="100" dirty="0">
              <a:sym typeface="Lucida Grande"/>
            </a:endParaRPr>
          </a:p>
          <a:p>
            <a:pPr marL="369060" lvl="1" indent="-274313">
              <a:spcAft>
                <a:spcPts val="800"/>
              </a:spcAft>
              <a:buClr>
                <a:srgbClr val="ABA69F"/>
              </a:buClr>
              <a:buSzPct val="80000"/>
              <a:buFont typeface="Arial" panose="020B0604020202020204" pitchFamily="34" charset="0"/>
              <a:buChar char="•"/>
            </a:pPr>
            <a:r>
              <a:rPr lang="en-US" sz="1600" dirty="0">
                <a:sym typeface="Lucida Grande"/>
              </a:rPr>
              <a:t>Standard global delivery processes</a:t>
            </a:r>
          </a:p>
          <a:p>
            <a:pPr marL="357623" lvl="1" indent="-274313">
              <a:spcAft>
                <a:spcPts val="800"/>
              </a:spcAft>
              <a:buClr>
                <a:srgbClr val="ABA69F"/>
              </a:buClr>
              <a:buSzPct val="80000"/>
              <a:buFont typeface="Arial" panose="020B0604020202020204" pitchFamily="34" charset="0"/>
              <a:buChar char="•"/>
            </a:pPr>
            <a:r>
              <a:rPr lang="en-US" sz="1600" dirty="0">
                <a:sym typeface="Lucida Grande"/>
              </a:rPr>
              <a:t>Service depth – consulting through operations</a:t>
            </a:r>
          </a:p>
          <a:p>
            <a:pPr marL="357623" lvl="1" indent="-274313">
              <a:buClr>
                <a:srgbClr val="ABA69F"/>
              </a:buClr>
              <a:buSzPct val="80000"/>
              <a:buFont typeface="Arial" panose="020B0604020202020204" pitchFamily="34" charset="0"/>
              <a:buChar char="•"/>
            </a:pPr>
            <a:r>
              <a:rPr lang="en-US" sz="1600" dirty="0">
                <a:sym typeface="Lucida Grande"/>
              </a:rPr>
              <a:t>Unsurpassed service excellence - leveraged,</a:t>
            </a:r>
          </a:p>
          <a:p>
            <a:pPr marL="83310" lvl="1">
              <a:buClr>
                <a:srgbClr val="ABA69F"/>
              </a:buClr>
              <a:buSzPct val="80000"/>
            </a:pPr>
            <a:r>
              <a:rPr lang="en-US" sz="1600" dirty="0">
                <a:sym typeface="Lucida Grande"/>
              </a:rPr>
              <a:t>     high-availability, 24x7 support</a:t>
            </a:r>
          </a:p>
        </p:txBody>
      </p:sp>
      <p:sp>
        <p:nvSpPr>
          <p:cNvPr id="314" name="Rectangular Callout 313"/>
          <p:cNvSpPr/>
          <p:nvPr/>
        </p:nvSpPr>
        <p:spPr>
          <a:xfrm>
            <a:off x="7751973" y="2757595"/>
            <a:ext cx="2015774" cy="629837"/>
          </a:xfrm>
          <a:prstGeom prst="wedgeRectCallout">
            <a:avLst>
              <a:gd name="adj1" fmla="val -5767"/>
              <a:gd name="adj2" fmla="val 175346"/>
            </a:avLst>
          </a:prstGeom>
          <a:solidFill>
            <a:schemeClr val="bg1">
              <a:lumMod val="9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Oshawa, Ontario</a:t>
            </a:r>
          </a:p>
          <a:p>
            <a:pPr marL="182875" indent="-182875">
              <a:lnSpc>
                <a:spcPct val="85000"/>
              </a:lnSpc>
              <a:buFont typeface="Arial" pitchFamily="34" charset="0"/>
              <a:buChar char="•"/>
              <a:defRPr/>
            </a:pPr>
            <a:r>
              <a:rPr lang="en-US" sz="1280" dirty="0">
                <a:solidFill>
                  <a:schemeClr val="tx1"/>
                </a:solidFill>
                <a:latin typeface="+mj-lt"/>
              </a:rPr>
              <a:t>BES Canada </a:t>
            </a:r>
            <a:r>
              <a:rPr lang="en-US" sz="1280" b="1" dirty="0">
                <a:solidFill>
                  <a:schemeClr val="tx1"/>
                </a:solidFill>
                <a:latin typeface="+mj-lt"/>
              </a:rPr>
              <a:t>Platform</a:t>
            </a:r>
          </a:p>
        </p:txBody>
      </p:sp>
      <p:sp>
        <p:nvSpPr>
          <p:cNvPr id="315" name="Rectangular Callout 314"/>
          <p:cNvSpPr/>
          <p:nvPr/>
        </p:nvSpPr>
        <p:spPr>
          <a:xfrm>
            <a:off x="5658939" y="3671791"/>
            <a:ext cx="2070116" cy="944436"/>
          </a:xfrm>
          <a:prstGeom prst="wedgeRectCallout">
            <a:avLst>
              <a:gd name="adj1" fmla="val 77539"/>
              <a:gd name="adj2" fmla="val 30685"/>
            </a:avLst>
          </a:prstGeom>
          <a:solidFill>
            <a:schemeClr val="bg1">
              <a:lumMod val="9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Tulsa, Oklahoma</a:t>
            </a:r>
          </a:p>
          <a:p>
            <a:pPr marL="182875" indent="-182875">
              <a:lnSpc>
                <a:spcPct val="85000"/>
              </a:lnSpc>
              <a:buFont typeface="Arial" pitchFamily="34" charset="0"/>
              <a:buChar char="•"/>
              <a:defRPr/>
            </a:pPr>
            <a:r>
              <a:rPr lang="en-US" sz="1280" dirty="0">
                <a:solidFill>
                  <a:schemeClr val="tx1"/>
                </a:solidFill>
                <a:latin typeface="+mj-lt"/>
              </a:rPr>
              <a:t>BES GSP </a:t>
            </a:r>
            <a:r>
              <a:rPr lang="en-US" sz="1280" i="1" dirty="0">
                <a:solidFill>
                  <a:schemeClr val="tx1"/>
                </a:solidFill>
                <a:latin typeface="+mj-lt"/>
              </a:rPr>
              <a:t>(Commercial EDI</a:t>
            </a:r>
            <a:r>
              <a:rPr lang="en-US" sz="1280" dirty="0">
                <a:solidFill>
                  <a:schemeClr val="tx1"/>
                </a:solidFill>
                <a:latin typeface="+mj-lt"/>
              </a:rPr>
              <a:t>) </a:t>
            </a:r>
            <a:r>
              <a:rPr lang="en-US" sz="1280" b="1" dirty="0">
                <a:solidFill>
                  <a:schemeClr val="tx1"/>
                </a:solidFill>
                <a:latin typeface="+mj-lt"/>
              </a:rPr>
              <a:t>Platform</a:t>
            </a:r>
          </a:p>
          <a:p>
            <a:pPr marL="182875" indent="-182875">
              <a:lnSpc>
                <a:spcPct val="85000"/>
              </a:lnSpc>
              <a:buFont typeface="Arial" pitchFamily="34" charset="0"/>
              <a:buChar char="•"/>
              <a:defRPr/>
            </a:pPr>
            <a:r>
              <a:rPr lang="en-US" sz="1280" dirty="0">
                <a:solidFill>
                  <a:schemeClr val="tx1"/>
                </a:solidFill>
              </a:rPr>
              <a:t>BES MFT </a:t>
            </a:r>
            <a:r>
              <a:rPr lang="en-US" sz="1280" b="1" dirty="0">
                <a:solidFill>
                  <a:schemeClr val="tx1"/>
                </a:solidFill>
              </a:rPr>
              <a:t>Platform</a:t>
            </a:r>
            <a:endParaRPr lang="en-US" sz="1280" b="1" dirty="0">
              <a:solidFill>
                <a:schemeClr val="tx1"/>
              </a:solidFill>
              <a:latin typeface="+mj-lt"/>
            </a:endParaRPr>
          </a:p>
        </p:txBody>
      </p:sp>
      <p:sp>
        <p:nvSpPr>
          <p:cNvPr id="316" name="Rectangular Callout 315"/>
          <p:cNvSpPr/>
          <p:nvPr/>
        </p:nvSpPr>
        <p:spPr>
          <a:xfrm>
            <a:off x="6284601" y="5202348"/>
            <a:ext cx="2211078" cy="1128741"/>
          </a:xfrm>
          <a:prstGeom prst="wedgeRectCallout">
            <a:avLst>
              <a:gd name="adj1" fmla="val 39399"/>
              <a:gd name="adj2" fmla="val -107788"/>
            </a:avLst>
          </a:prstGeom>
          <a:solidFill>
            <a:schemeClr val="bg1">
              <a:lumMod val="95000"/>
            </a:schemeClr>
          </a:solidFill>
          <a:ln>
            <a:solidFill>
              <a:schemeClr val="tx1"/>
            </a:solidFill>
          </a:ln>
        </p:spPr>
        <p:style>
          <a:lnRef idx="1">
            <a:schemeClr val="accent1"/>
          </a:lnRef>
          <a:fillRef idx="2">
            <a:schemeClr val="accent1"/>
          </a:fillRef>
          <a:effectRef idx="1">
            <a:schemeClr val="accent1"/>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Plano, Texas</a:t>
            </a:r>
          </a:p>
          <a:p>
            <a:pPr marL="182875" indent="-182875">
              <a:lnSpc>
                <a:spcPct val="85000"/>
              </a:lnSpc>
              <a:buFont typeface="Arial" pitchFamily="34" charset="0"/>
              <a:buChar char="•"/>
              <a:defRPr/>
            </a:pPr>
            <a:r>
              <a:rPr lang="en-US" sz="1280" dirty="0">
                <a:solidFill>
                  <a:schemeClr val="tx1"/>
                </a:solidFill>
                <a:latin typeface="+mj-lt"/>
              </a:rPr>
              <a:t>BES Healthcare Clearinghouse </a:t>
            </a:r>
            <a:r>
              <a:rPr lang="en-US" sz="1280" b="1" dirty="0">
                <a:solidFill>
                  <a:schemeClr val="tx1"/>
                </a:solidFill>
                <a:latin typeface="+mj-lt"/>
              </a:rPr>
              <a:t>Platform</a:t>
            </a:r>
          </a:p>
          <a:p>
            <a:pPr marL="182875" indent="-182875">
              <a:lnSpc>
                <a:spcPct val="85000"/>
              </a:lnSpc>
              <a:buFont typeface="Arial" pitchFamily="34" charset="0"/>
              <a:buChar char="•"/>
              <a:defRPr/>
            </a:pPr>
            <a:r>
              <a:rPr lang="en-US" sz="1280" dirty="0">
                <a:solidFill>
                  <a:schemeClr val="tx1"/>
                </a:solidFill>
              </a:rPr>
              <a:t>BES GSP </a:t>
            </a:r>
            <a:r>
              <a:rPr lang="en-US" sz="1280" i="1" dirty="0">
                <a:solidFill>
                  <a:schemeClr val="tx1"/>
                </a:solidFill>
              </a:rPr>
              <a:t>(Commercial EDI</a:t>
            </a:r>
            <a:r>
              <a:rPr lang="en-US" sz="1280" dirty="0">
                <a:solidFill>
                  <a:schemeClr val="tx1"/>
                </a:solidFill>
              </a:rPr>
              <a:t>) </a:t>
            </a:r>
            <a:r>
              <a:rPr lang="en-US" sz="1280" b="1" dirty="0">
                <a:solidFill>
                  <a:schemeClr val="tx1"/>
                </a:solidFill>
              </a:rPr>
              <a:t>Fail-over Platform</a:t>
            </a:r>
          </a:p>
          <a:p>
            <a:pPr marL="182875" indent="-182875">
              <a:lnSpc>
                <a:spcPct val="85000"/>
              </a:lnSpc>
              <a:buFont typeface="Arial" pitchFamily="34" charset="0"/>
              <a:buChar char="•"/>
              <a:defRPr/>
            </a:pPr>
            <a:r>
              <a:rPr lang="en-US" sz="1280" dirty="0">
                <a:solidFill>
                  <a:schemeClr val="tx1"/>
                </a:solidFill>
              </a:rPr>
              <a:t>BES MFT </a:t>
            </a:r>
            <a:r>
              <a:rPr lang="en-US" sz="1280" b="1" dirty="0">
                <a:solidFill>
                  <a:schemeClr val="tx1"/>
                </a:solidFill>
              </a:rPr>
              <a:t>Platform</a:t>
            </a:r>
          </a:p>
        </p:txBody>
      </p:sp>
      <p:sp>
        <p:nvSpPr>
          <p:cNvPr id="317" name="Rectangular Callout 316"/>
          <p:cNvSpPr/>
          <p:nvPr/>
        </p:nvSpPr>
        <p:spPr>
          <a:xfrm>
            <a:off x="10208882" y="1996150"/>
            <a:ext cx="1927564" cy="1084098"/>
          </a:xfrm>
          <a:prstGeom prst="wedgeRectCallout">
            <a:avLst>
              <a:gd name="adj1" fmla="val -50018"/>
              <a:gd name="adj2" fmla="val 130279"/>
            </a:avLst>
          </a:prstGeom>
          <a:solidFill>
            <a:schemeClr val="bg1">
              <a:lumMod val="95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Warrington, UK</a:t>
            </a:r>
          </a:p>
          <a:p>
            <a:pPr marL="182875" indent="-182875">
              <a:lnSpc>
                <a:spcPct val="85000"/>
              </a:lnSpc>
              <a:buFont typeface="Arial" pitchFamily="34" charset="0"/>
              <a:buChar char="•"/>
              <a:defRPr/>
            </a:pPr>
            <a:r>
              <a:rPr lang="en-US" sz="1280" dirty="0">
                <a:solidFill>
                  <a:schemeClr val="tx1"/>
                </a:solidFill>
                <a:latin typeface="+mj-lt"/>
              </a:rPr>
              <a:t>Leixlip, Ireland</a:t>
            </a:r>
          </a:p>
          <a:p>
            <a:pPr marL="182875" indent="-182875">
              <a:lnSpc>
                <a:spcPct val="85000"/>
              </a:lnSpc>
              <a:buFont typeface="Arial" pitchFamily="34" charset="0"/>
              <a:buChar char="•"/>
              <a:defRPr/>
            </a:pPr>
            <a:r>
              <a:rPr lang="en-US" sz="1280" dirty="0">
                <a:solidFill>
                  <a:schemeClr val="tx1"/>
                </a:solidFill>
                <a:latin typeface="+mj-lt"/>
              </a:rPr>
              <a:t>BES EMEA </a:t>
            </a:r>
            <a:r>
              <a:rPr lang="en-US" sz="1280" b="1" dirty="0">
                <a:solidFill>
                  <a:schemeClr val="tx1"/>
                </a:solidFill>
                <a:latin typeface="+mj-lt"/>
              </a:rPr>
              <a:t>Platform</a:t>
            </a:r>
          </a:p>
          <a:p>
            <a:pPr marL="182875" indent="-182875">
              <a:lnSpc>
                <a:spcPct val="85000"/>
              </a:lnSpc>
              <a:buFont typeface="Arial" pitchFamily="34" charset="0"/>
              <a:buChar char="•"/>
              <a:defRPr/>
            </a:pPr>
            <a:r>
              <a:rPr lang="en-US" sz="1280" dirty="0">
                <a:solidFill>
                  <a:schemeClr val="tx1"/>
                </a:solidFill>
                <a:latin typeface="+mj-lt"/>
              </a:rPr>
              <a:t>BES Energy </a:t>
            </a:r>
            <a:r>
              <a:rPr lang="en-US" sz="1280" b="1" dirty="0">
                <a:solidFill>
                  <a:schemeClr val="tx1"/>
                </a:solidFill>
                <a:latin typeface="+mj-lt"/>
              </a:rPr>
              <a:t>Platform</a:t>
            </a:r>
          </a:p>
        </p:txBody>
      </p:sp>
      <p:sp>
        <p:nvSpPr>
          <p:cNvPr id="318" name="Rectangular Callout 317"/>
          <p:cNvSpPr/>
          <p:nvPr/>
        </p:nvSpPr>
        <p:spPr>
          <a:xfrm>
            <a:off x="10903914" y="3367859"/>
            <a:ext cx="1067799" cy="439448"/>
          </a:xfrm>
          <a:prstGeom prst="wedgeRectCallout">
            <a:avLst>
              <a:gd name="adj1" fmla="val -92453"/>
              <a:gd name="adj2" fmla="val 107044"/>
            </a:avLst>
          </a:prstGeom>
          <a:solidFill>
            <a:schemeClr val="bg1">
              <a:lumMod val="95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Antwerp, Belgium</a:t>
            </a:r>
          </a:p>
        </p:txBody>
      </p:sp>
      <p:sp>
        <p:nvSpPr>
          <p:cNvPr id="319" name="Rectangular Callout 318"/>
          <p:cNvSpPr/>
          <p:nvPr/>
        </p:nvSpPr>
        <p:spPr>
          <a:xfrm>
            <a:off x="10100656" y="4786401"/>
            <a:ext cx="1140152" cy="403807"/>
          </a:xfrm>
          <a:prstGeom prst="wedgeRectCallout">
            <a:avLst>
              <a:gd name="adj1" fmla="val -37046"/>
              <a:gd name="adj2" fmla="val -167241"/>
            </a:avLst>
          </a:prstGeom>
          <a:solidFill>
            <a:schemeClr val="bg1">
              <a:lumMod val="95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Zaragoza, Spain</a:t>
            </a:r>
          </a:p>
        </p:txBody>
      </p:sp>
      <p:sp>
        <p:nvSpPr>
          <p:cNvPr id="320" name="Rectangular Callout 319"/>
          <p:cNvSpPr/>
          <p:nvPr/>
        </p:nvSpPr>
        <p:spPr>
          <a:xfrm>
            <a:off x="12323490" y="4243915"/>
            <a:ext cx="1626828" cy="484993"/>
          </a:xfrm>
          <a:prstGeom prst="wedgeRectCallout">
            <a:avLst>
              <a:gd name="adj1" fmla="val -83825"/>
              <a:gd name="adj2" fmla="val 60980"/>
            </a:avLst>
          </a:prstGeom>
          <a:solidFill>
            <a:schemeClr val="bg1">
              <a:lumMod val="95000"/>
            </a:schemeClr>
          </a:solidFill>
          <a:ln>
            <a:solidFill>
              <a:schemeClr val="tx1"/>
            </a:solidFill>
          </a:ln>
        </p:spPr>
        <p:style>
          <a:lnRef idx="1">
            <a:schemeClr val="accent3"/>
          </a:lnRef>
          <a:fillRef idx="2">
            <a:schemeClr val="accent3"/>
          </a:fillRef>
          <a:effectRef idx="1">
            <a:schemeClr val="accent3"/>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Pune, India</a:t>
            </a:r>
          </a:p>
          <a:p>
            <a:pPr marL="182875" indent="-182875">
              <a:lnSpc>
                <a:spcPct val="85000"/>
              </a:lnSpc>
              <a:buFont typeface="Arial" pitchFamily="34" charset="0"/>
              <a:buChar char="•"/>
              <a:defRPr/>
            </a:pPr>
            <a:r>
              <a:rPr lang="en-US" sz="1280" dirty="0">
                <a:solidFill>
                  <a:schemeClr val="tx1"/>
                </a:solidFill>
                <a:latin typeface="+mj-lt"/>
              </a:rPr>
              <a:t>Bangalore, India</a:t>
            </a:r>
          </a:p>
        </p:txBody>
      </p:sp>
      <p:sp>
        <p:nvSpPr>
          <p:cNvPr id="322" name="TextBox 321"/>
          <p:cNvSpPr txBox="1"/>
          <p:nvPr/>
        </p:nvSpPr>
        <p:spPr>
          <a:xfrm>
            <a:off x="7397671" y="2072083"/>
            <a:ext cx="1715534" cy="437043"/>
          </a:xfrm>
          <a:prstGeom prst="rect">
            <a:avLst/>
          </a:prstGeom>
          <a:noFill/>
        </p:spPr>
        <p:txBody>
          <a:bodyPr wrap="none" anchor="ctr">
            <a:spAutoFit/>
          </a:bodyPr>
          <a:lstStyle/>
          <a:p>
            <a:pPr>
              <a:defRPr/>
            </a:pPr>
            <a:r>
              <a:rPr lang="en-US" sz="2240" b="1" dirty="0">
                <a:solidFill>
                  <a:srgbClr val="00968F"/>
                </a:solidFill>
                <a:latin typeface="+mj-lt"/>
              </a:rPr>
              <a:t>AMERICAS</a:t>
            </a:r>
          </a:p>
        </p:txBody>
      </p:sp>
      <p:sp>
        <p:nvSpPr>
          <p:cNvPr id="323" name="TextBox 322"/>
          <p:cNvSpPr txBox="1"/>
          <p:nvPr/>
        </p:nvSpPr>
        <p:spPr>
          <a:xfrm>
            <a:off x="10168145" y="1366287"/>
            <a:ext cx="1015021" cy="437043"/>
          </a:xfrm>
          <a:prstGeom prst="rect">
            <a:avLst/>
          </a:prstGeom>
          <a:noFill/>
        </p:spPr>
        <p:txBody>
          <a:bodyPr wrap="none" anchor="ctr">
            <a:spAutoFit/>
          </a:bodyPr>
          <a:lstStyle/>
          <a:p>
            <a:pPr>
              <a:defRPr/>
            </a:pPr>
            <a:r>
              <a:rPr lang="en-US" sz="2240" b="1" dirty="0">
                <a:solidFill>
                  <a:srgbClr val="00968F"/>
                </a:solidFill>
                <a:latin typeface="+mj-lt"/>
              </a:rPr>
              <a:t>EMEA</a:t>
            </a:r>
          </a:p>
        </p:txBody>
      </p:sp>
      <p:sp>
        <p:nvSpPr>
          <p:cNvPr id="324" name="TextBox 323"/>
          <p:cNvSpPr txBox="1"/>
          <p:nvPr/>
        </p:nvSpPr>
        <p:spPr>
          <a:xfrm>
            <a:off x="12693198" y="2530491"/>
            <a:ext cx="744114" cy="437043"/>
          </a:xfrm>
          <a:prstGeom prst="rect">
            <a:avLst/>
          </a:prstGeom>
          <a:noFill/>
        </p:spPr>
        <p:txBody>
          <a:bodyPr wrap="none" anchor="ctr">
            <a:spAutoFit/>
          </a:bodyPr>
          <a:lstStyle/>
          <a:p>
            <a:pPr>
              <a:defRPr/>
            </a:pPr>
            <a:r>
              <a:rPr lang="en-US" sz="2240" b="1" dirty="0">
                <a:solidFill>
                  <a:srgbClr val="00968F"/>
                </a:solidFill>
                <a:latin typeface="+mj-lt"/>
              </a:rPr>
              <a:t>APJ</a:t>
            </a:r>
          </a:p>
        </p:txBody>
      </p:sp>
      <p:sp>
        <p:nvSpPr>
          <p:cNvPr id="303" name="Title 1"/>
          <p:cNvSpPr>
            <a:spLocks noGrp="1"/>
          </p:cNvSpPr>
          <p:nvPr>
            <p:ph type="title"/>
          </p:nvPr>
        </p:nvSpPr>
        <p:spPr>
          <a:xfrm>
            <a:off x="760248" y="605796"/>
            <a:ext cx="12987529" cy="689419"/>
          </a:xfrm>
        </p:spPr>
        <p:txBody>
          <a:bodyPr>
            <a:normAutofit/>
          </a:bodyPr>
          <a:lstStyle/>
          <a:p>
            <a:r>
              <a:rPr lang="en-GB" dirty="0"/>
              <a:t>DXC’s Proven Service – Business Exchange Services</a:t>
            </a:r>
            <a:endParaRPr lang="en-US" dirty="0"/>
          </a:p>
        </p:txBody>
      </p:sp>
      <p:sp>
        <p:nvSpPr>
          <p:cNvPr id="306" name="Oval 305"/>
          <p:cNvSpPr/>
          <p:nvPr/>
        </p:nvSpPr>
        <p:spPr>
          <a:xfrm rot="412006">
            <a:off x="9198351" y="7085948"/>
            <a:ext cx="1185512" cy="346751"/>
          </a:xfrm>
          <a:prstGeom prst="ellipse">
            <a:avLst/>
          </a:prstGeom>
          <a:noFill/>
          <a:ln w="38100">
            <a:solidFill>
              <a:srgbClr val="7F807F"/>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240" dirty="0">
              <a:latin typeface="Futura Bk"/>
              <a:cs typeface="Futura Bk"/>
            </a:endParaRPr>
          </a:p>
        </p:txBody>
      </p:sp>
      <p:sp>
        <p:nvSpPr>
          <p:cNvPr id="307" name="Oval 306"/>
          <p:cNvSpPr/>
          <p:nvPr/>
        </p:nvSpPr>
        <p:spPr>
          <a:xfrm>
            <a:off x="10013369" y="5979078"/>
            <a:ext cx="1925663" cy="681342"/>
          </a:xfrm>
          <a:prstGeom prst="ellipse">
            <a:avLst/>
          </a:prstGeom>
          <a:solidFill>
            <a:srgbClr val="F9F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cs typeface="Futura Bk"/>
              </a:rPr>
              <a:t>Client</a:t>
            </a:r>
          </a:p>
        </p:txBody>
      </p:sp>
      <p:sp>
        <p:nvSpPr>
          <p:cNvPr id="308" name="Oval 307"/>
          <p:cNvSpPr/>
          <p:nvPr/>
        </p:nvSpPr>
        <p:spPr>
          <a:xfrm>
            <a:off x="9858953" y="7008091"/>
            <a:ext cx="2228061" cy="709412"/>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cs typeface="Futura Bk"/>
              </a:rPr>
              <a:t>DXC BES</a:t>
            </a:r>
          </a:p>
        </p:txBody>
      </p:sp>
      <p:sp>
        <p:nvSpPr>
          <p:cNvPr id="309" name="Oval 308"/>
          <p:cNvSpPr/>
          <p:nvPr/>
        </p:nvSpPr>
        <p:spPr>
          <a:xfrm>
            <a:off x="7569083" y="6789729"/>
            <a:ext cx="2021983" cy="644204"/>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cs typeface="Futura Bk"/>
              </a:rPr>
              <a:t>Suppliers</a:t>
            </a:r>
          </a:p>
        </p:txBody>
      </p:sp>
      <p:cxnSp>
        <p:nvCxnSpPr>
          <p:cNvPr id="20" name="Straight Arrow Connector 19"/>
          <p:cNvCxnSpPr>
            <a:stCxn id="307" idx="4"/>
            <a:endCxn id="308" idx="0"/>
          </p:cNvCxnSpPr>
          <p:nvPr/>
        </p:nvCxnSpPr>
        <p:spPr>
          <a:xfrm flipH="1">
            <a:off x="10972984" y="6660420"/>
            <a:ext cx="3217" cy="347671"/>
          </a:xfrm>
          <a:prstGeom prst="straightConnector1">
            <a:avLst/>
          </a:prstGeom>
          <a:ln w="12700" cmpd="sng">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12" name="Oval 311"/>
          <p:cNvSpPr/>
          <p:nvPr/>
        </p:nvSpPr>
        <p:spPr>
          <a:xfrm>
            <a:off x="12219719" y="6682757"/>
            <a:ext cx="2149202" cy="612133"/>
          </a:xfrm>
          <a:prstGeom prst="ellipse">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bg1"/>
                </a:solidFill>
                <a:cs typeface="Futura Bk"/>
              </a:rPr>
              <a:t>Customers</a:t>
            </a:r>
          </a:p>
        </p:txBody>
      </p:sp>
      <p:sp>
        <p:nvSpPr>
          <p:cNvPr id="304" name="Rectangular Callout 303"/>
          <p:cNvSpPr/>
          <p:nvPr/>
        </p:nvSpPr>
        <p:spPr>
          <a:xfrm>
            <a:off x="10735825" y="4066110"/>
            <a:ext cx="1163286" cy="469250"/>
          </a:xfrm>
          <a:prstGeom prst="wedgeRectCallout">
            <a:avLst>
              <a:gd name="adj1" fmla="val -70412"/>
              <a:gd name="adj2" fmla="val -23885"/>
            </a:avLst>
          </a:prstGeom>
          <a:solidFill>
            <a:schemeClr val="bg1">
              <a:lumMod val="95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Böblingen, Germany</a:t>
            </a:r>
          </a:p>
        </p:txBody>
      </p:sp>
      <p:sp>
        <p:nvSpPr>
          <p:cNvPr id="305" name="Rectangular Callout 304"/>
          <p:cNvSpPr/>
          <p:nvPr/>
        </p:nvSpPr>
        <p:spPr>
          <a:xfrm>
            <a:off x="12914498" y="4983669"/>
            <a:ext cx="1155993" cy="437358"/>
          </a:xfrm>
          <a:prstGeom prst="wedgeRectCallout">
            <a:avLst>
              <a:gd name="adj1" fmla="val -65096"/>
              <a:gd name="adj2" fmla="val -64694"/>
            </a:avLst>
          </a:prstGeom>
          <a:solidFill>
            <a:schemeClr val="bg1">
              <a:lumMod val="95000"/>
            </a:schemeClr>
          </a:solidFill>
          <a:ln>
            <a:solidFill>
              <a:schemeClr val="tx1"/>
            </a:solidFill>
          </a:ln>
        </p:spPr>
        <p:style>
          <a:lnRef idx="1">
            <a:schemeClr val="accent4"/>
          </a:lnRef>
          <a:fillRef idx="2">
            <a:schemeClr val="accent4"/>
          </a:fillRef>
          <a:effectRef idx="1">
            <a:schemeClr val="accent4"/>
          </a:effectRef>
          <a:fontRef idx="minor">
            <a:schemeClr val="dk1"/>
          </a:fontRef>
        </p:style>
        <p:txBody>
          <a:bodyPr anchor="ctr"/>
          <a:lstStyle/>
          <a:p>
            <a:pPr marL="182875" indent="-182875">
              <a:lnSpc>
                <a:spcPct val="85000"/>
              </a:lnSpc>
              <a:buFont typeface="Arial" pitchFamily="34" charset="0"/>
              <a:buChar char="•"/>
              <a:defRPr/>
            </a:pPr>
            <a:r>
              <a:rPr lang="en-US" sz="1280" dirty="0">
                <a:solidFill>
                  <a:schemeClr val="tx1"/>
                </a:solidFill>
                <a:latin typeface="+mj-lt"/>
              </a:rPr>
              <a:t>Manila, Philippines</a:t>
            </a:r>
          </a:p>
        </p:txBody>
      </p:sp>
      <p:sp>
        <p:nvSpPr>
          <p:cNvPr id="313" name="Oval 312"/>
          <p:cNvSpPr/>
          <p:nvPr>
            <p:custDataLst>
              <p:tags r:id="rId1"/>
            </p:custDataLst>
          </p:nvPr>
        </p:nvSpPr>
        <p:spPr bwMode="auto">
          <a:xfrm>
            <a:off x="12682648" y="4852373"/>
            <a:ext cx="91494" cy="72729"/>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325" name="Oval 324"/>
          <p:cNvSpPr/>
          <p:nvPr>
            <p:custDataLst>
              <p:tags r:id="rId2"/>
            </p:custDataLst>
          </p:nvPr>
        </p:nvSpPr>
        <p:spPr bwMode="auto">
          <a:xfrm>
            <a:off x="11728210" y="4770937"/>
            <a:ext cx="91494" cy="72729"/>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326" name="Oval 325"/>
          <p:cNvSpPr/>
          <p:nvPr>
            <p:custDataLst>
              <p:tags r:id="rId3"/>
            </p:custDataLst>
          </p:nvPr>
        </p:nvSpPr>
        <p:spPr bwMode="auto">
          <a:xfrm>
            <a:off x="10416799" y="4145218"/>
            <a:ext cx="91494" cy="72729"/>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2" name="Oval 1">
            <a:extLst>
              <a:ext uri="{FF2B5EF4-FFF2-40B4-BE49-F238E27FC236}">
                <a16:creationId xmlns:a16="http://schemas.microsoft.com/office/drawing/2014/main" id="{D1715D2C-BACE-401E-DC45-9263483FF58E}"/>
              </a:ext>
            </a:extLst>
          </p:cNvPr>
          <p:cNvSpPr/>
          <p:nvPr>
            <p:custDataLst>
              <p:tags r:id="rId4"/>
            </p:custDataLst>
          </p:nvPr>
        </p:nvSpPr>
        <p:spPr bwMode="auto">
          <a:xfrm>
            <a:off x="10354184" y="4033441"/>
            <a:ext cx="91494" cy="72729"/>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
        <p:nvSpPr>
          <p:cNvPr id="5" name="Oval 4">
            <a:extLst>
              <a:ext uri="{FF2B5EF4-FFF2-40B4-BE49-F238E27FC236}">
                <a16:creationId xmlns:a16="http://schemas.microsoft.com/office/drawing/2014/main" id="{A3C50CC5-7567-CB17-568A-5A16D99897CB}"/>
              </a:ext>
            </a:extLst>
          </p:cNvPr>
          <p:cNvSpPr/>
          <p:nvPr>
            <p:custDataLst>
              <p:tags r:id="rId5"/>
            </p:custDataLst>
          </p:nvPr>
        </p:nvSpPr>
        <p:spPr bwMode="auto">
          <a:xfrm>
            <a:off x="10143398" y="3949230"/>
            <a:ext cx="91494" cy="72728"/>
          </a:xfrm>
          <a:prstGeom prst="ellipse">
            <a:avLst/>
          </a:prstGeom>
          <a:solidFill>
            <a:srgbClr val="DEA9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lstStyle/>
          <a:p>
            <a:pPr algn="ctr">
              <a:defRPr/>
            </a:pPr>
            <a:endParaRPr lang="en-US" sz="1440" dirty="0">
              <a:solidFill>
                <a:schemeClr val="bg1"/>
              </a:solidFill>
              <a:latin typeface="+mj-lt"/>
            </a:endParaRPr>
          </a:p>
        </p:txBody>
      </p:sp>
    </p:spTree>
    <p:extLst>
      <p:ext uri="{BB962C8B-B14F-4D97-AF65-F5344CB8AC3E}">
        <p14:creationId xmlns:p14="http://schemas.microsoft.com/office/powerpoint/2010/main" val="2643079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38DB5CC-6C7D-4A19-8383-1EA5B47D8F82}"/>
              </a:ext>
            </a:extLst>
          </p:cNvPr>
          <p:cNvPicPr>
            <a:picLocks noChangeAspect="1"/>
          </p:cNvPicPr>
          <p:nvPr/>
        </p:nvPicPr>
        <p:blipFill>
          <a:blip r:embed="rId3"/>
          <a:stretch>
            <a:fillRect/>
          </a:stretch>
        </p:blipFill>
        <p:spPr>
          <a:xfrm>
            <a:off x="11456807" y="6894043"/>
            <a:ext cx="1135387" cy="424211"/>
          </a:xfrm>
          <a:prstGeom prst="rect">
            <a:avLst/>
          </a:prstGeom>
        </p:spPr>
      </p:pic>
      <p:pic>
        <p:nvPicPr>
          <p:cNvPr id="3" name="Picture 2">
            <a:extLst>
              <a:ext uri="{FF2B5EF4-FFF2-40B4-BE49-F238E27FC236}">
                <a16:creationId xmlns:a16="http://schemas.microsoft.com/office/drawing/2014/main" id="{FB1C0E6C-8E14-88F8-6754-C1201DE5385C}"/>
              </a:ext>
            </a:extLst>
          </p:cNvPr>
          <p:cNvPicPr>
            <a:picLocks noChangeAspect="1"/>
          </p:cNvPicPr>
          <p:nvPr/>
        </p:nvPicPr>
        <p:blipFill>
          <a:blip r:embed="rId4"/>
          <a:stretch>
            <a:fillRect/>
          </a:stretch>
        </p:blipFill>
        <p:spPr>
          <a:xfrm>
            <a:off x="9480525" y="2493409"/>
            <a:ext cx="838298" cy="824555"/>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34885" y="3704755"/>
            <a:ext cx="1686003" cy="799290"/>
          </a:xfrm>
          <a:prstGeom prst="rect">
            <a:avLst/>
          </a:prstGeom>
        </p:spPr>
      </p:pic>
      <p:pic>
        <p:nvPicPr>
          <p:cNvPr id="78" name="Picture 7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21369" y="1509697"/>
            <a:ext cx="1964347" cy="977288"/>
          </a:xfrm>
          <a:prstGeom prst="rect">
            <a:avLst/>
          </a:prstGeom>
        </p:spPr>
      </p:pic>
      <p:pic>
        <p:nvPicPr>
          <p:cNvPr id="83" name="Picture 2" descr="PA Department of Human Services Logo"/>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735147" y="7023837"/>
            <a:ext cx="2614602" cy="536109"/>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a:extLst>
              <a:ext uri="{FF2B5EF4-FFF2-40B4-BE49-F238E27FC236}">
                <a16:creationId xmlns:a16="http://schemas.microsoft.com/office/drawing/2014/main" id="{1A42B316-EEFA-4925-AAE1-332F3F70AB76}"/>
              </a:ext>
            </a:extLst>
          </p:cNvPr>
          <p:cNvPicPr>
            <a:picLocks noChangeAspect="1"/>
          </p:cNvPicPr>
          <p:nvPr/>
        </p:nvPicPr>
        <p:blipFill>
          <a:blip r:embed="rId8"/>
          <a:stretch>
            <a:fillRect/>
          </a:stretch>
        </p:blipFill>
        <p:spPr>
          <a:xfrm>
            <a:off x="2233664" y="3733976"/>
            <a:ext cx="1745078" cy="542160"/>
          </a:xfrm>
          <a:prstGeom prst="rect">
            <a:avLst/>
          </a:prstGeom>
        </p:spPr>
      </p:pic>
      <p:pic>
        <p:nvPicPr>
          <p:cNvPr id="37" name="Picture 36">
            <a:extLst>
              <a:ext uri="{FF2B5EF4-FFF2-40B4-BE49-F238E27FC236}">
                <a16:creationId xmlns:a16="http://schemas.microsoft.com/office/drawing/2014/main" id="{550A8414-9871-43A1-91D3-2647E864BCA6}"/>
              </a:ext>
            </a:extLst>
          </p:cNvPr>
          <p:cNvPicPr>
            <a:picLocks noChangeAspect="1"/>
          </p:cNvPicPr>
          <p:nvPr/>
        </p:nvPicPr>
        <p:blipFill>
          <a:blip r:embed="rId9"/>
          <a:stretch>
            <a:fillRect/>
          </a:stretch>
        </p:blipFill>
        <p:spPr>
          <a:xfrm>
            <a:off x="5810023" y="6221871"/>
            <a:ext cx="1173470" cy="685270"/>
          </a:xfrm>
          <a:prstGeom prst="rect">
            <a:avLst/>
          </a:prstGeom>
        </p:spPr>
      </p:pic>
      <p:pic>
        <p:nvPicPr>
          <p:cNvPr id="51" name="Picture 50">
            <a:extLst>
              <a:ext uri="{FF2B5EF4-FFF2-40B4-BE49-F238E27FC236}">
                <a16:creationId xmlns:a16="http://schemas.microsoft.com/office/drawing/2014/main" id="{6090BD52-C539-4207-ADC0-1EC935B46A50}"/>
              </a:ext>
            </a:extLst>
          </p:cNvPr>
          <p:cNvPicPr>
            <a:picLocks noChangeAspect="1"/>
          </p:cNvPicPr>
          <p:nvPr/>
        </p:nvPicPr>
        <p:blipFill>
          <a:blip r:embed="rId10"/>
          <a:stretch>
            <a:fillRect/>
          </a:stretch>
        </p:blipFill>
        <p:spPr>
          <a:xfrm>
            <a:off x="4327658" y="5789363"/>
            <a:ext cx="1286096" cy="1177322"/>
          </a:xfrm>
          <a:prstGeom prst="rect">
            <a:avLst/>
          </a:prstGeom>
        </p:spPr>
      </p:pic>
      <p:pic>
        <p:nvPicPr>
          <p:cNvPr id="8" name="Picture 7"/>
          <p:cNvPicPr>
            <a:picLocks noChangeAspect="1"/>
          </p:cNvPicPr>
          <p:nvPr/>
        </p:nvPicPr>
        <p:blipFill>
          <a:blip r:embed="rId11"/>
          <a:stretch>
            <a:fillRect/>
          </a:stretch>
        </p:blipFill>
        <p:spPr>
          <a:xfrm>
            <a:off x="4170134" y="4078608"/>
            <a:ext cx="1099008" cy="942006"/>
          </a:xfrm>
          <a:prstGeom prst="rect">
            <a:avLst/>
          </a:prstGeom>
        </p:spPr>
      </p:pic>
      <p:pic>
        <p:nvPicPr>
          <p:cNvPr id="74" name="Picture 73"/>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930601" y="1632677"/>
            <a:ext cx="2170322" cy="564880"/>
          </a:xfrm>
          <a:prstGeom prst="rect">
            <a:avLst/>
          </a:prstGeom>
        </p:spPr>
      </p:pic>
      <p:pic>
        <p:nvPicPr>
          <p:cNvPr id="69" name="Picture 6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271927" y="2963327"/>
            <a:ext cx="1084104" cy="1026438"/>
          </a:xfrm>
          <a:prstGeom prst="rect">
            <a:avLst/>
          </a:prstGeom>
        </p:spPr>
      </p:pic>
      <p:pic>
        <p:nvPicPr>
          <p:cNvPr id="20" name="Picture 19"/>
          <p:cNvPicPr>
            <a:picLocks noChangeAspect="1"/>
          </p:cNvPicPr>
          <p:nvPr/>
        </p:nvPicPr>
        <p:blipFill>
          <a:blip r:embed="rId14"/>
          <a:stretch>
            <a:fillRect/>
          </a:stretch>
        </p:blipFill>
        <p:spPr>
          <a:xfrm>
            <a:off x="12427034" y="2607950"/>
            <a:ext cx="1889574" cy="1539352"/>
          </a:xfrm>
          <a:prstGeom prst="rect">
            <a:avLst/>
          </a:prstGeom>
        </p:spPr>
      </p:pic>
      <p:pic>
        <p:nvPicPr>
          <p:cNvPr id="7" name="Picture 14" descr="logo3"/>
          <p:cNvPicPr>
            <a:picLocks noChangeAspect="1" noChangeArrowheads="1"/>
          </p:cNvPicPr>
          <p:nvPr/>
        </p:nvPicPr>
        <p:blipFill>
          <a:blip r:embed="rId15"/>
          <a:srcRect/>
          <a:stretch>
            <a:fillRect/>
          </a:stretch>
        </p:blipFill>
        <p:spPr bwMode="auto">
          <a:xfrm>
            <a:off x="5282429" y="4326859"/>
            <a:ext cx="10547" cy="10547"/>
          </a:xfrm>
          <a:prstGeom prst="rect">
            <a:avLst/>
          </a:prstGeom>
          <a:noFill/>
          <a:ln w="9525">
            <a:noFill/>
            <a:miter lim="800000"/>
            <a:headEnd/>
            <a:tailEnd/>
          </a:ln>
        </p:spPr>
      </p:pic>
      <p:sp>
        <p:nvSpPr>
          <p:cNvPr id="12" name="Rectangle 77"/>
          <p:cNvSpPr>
            <a:spLocks noChangeArrowheads="1"/>
          </p:cNvSpPr>
          <p:nvPr/>
        </p:nvSpPr>
        <p:spPr bwMode="auto">
          <a:xfrm>
            <a:off x="731335" y="1347368"/>
            <a:ext cx="218174" cy="822522"/>
          </a:xfrm>
          <a:prstGeom prst="rect">
            <a:avLst/>
          </a:prstGeom>
          <a:noFill/>
          <a:ln w="6350" cap="flat" cmpd="sng" algn="ctr">
            <a:noFill/>
            <a:prstDash val="solid"/>
            <a:miter lim="800000"/>
            <a:headEnd/>
            <a:tailEnd/>
          </a:ln>
          <a:effectLst>
            <a:prstShdw prst="shdw17" dist="17961" dir="2700000">
              <a:schemeClr val="tx2">
                <a:gamma/>
                <a:shade val="60000"/>
                <a:invGamma/>
              </a:schemeClr>
            </a:prstShdw>
          </a:effectLst>
        </p:spPr>
        <p:txBody>
          <a:bodyPr wrap="none" lIns="108000" tIns="56160" rIns="108000" bIns="56160" anchor="ctr">
            <a:spAutoFit/>
          </a:bodyPr>
          <a:lstStyle/>
          <a:p>
            <a:pPr defTabSz="731502" eaLnBrk="0" hangingPunct="0">
              <a:defRPr/>
            </a:pPr>
            <a:endParaRPr lang="en-US" sz="4608" dirty="0">
              <a:solidFill>
                <a:prstClr val="black"/>
              </a:solidFill>
            </a:endParaRPr>
          </a:p>
        </p:txBody>
      </p:sp>
      <p:sp>
        <p:nvSpPr>
          <p:cNvPr id="13" name="Rectangle 78"/>
          <p:cNvSpPr>
            <a:spLocks noChangeArrowheads="1"/>
          </p:cNvSpPr>
          <p:nvPr/>
        </p:nvSpPr>
        <p:spPr bwMode="auto">
          <a:xfrm>
            <a:off x="707054" y="1625925"/>
            <a:ext cx="218174" cy="822522"/>
          </a:xfrm>
          <a:prstGeom prst="rect">
            <a:avLst/>
          </a:prstGeom>
          <a:noFill/>
          <a:ln w="6350" cap="flat" cmpd="sng" algn="ctr">
            <a:noFill/>
            <a:prstDash val="solid"/>
            <a:miter lim="800000"/>
            <a:headEnd/>
            <a:tailEnd/>
          </a:ln>
          <a:effectLst>
            <a:prstShdw prst="shdw17" dist="17961" dir="2700000">
              <a:schemeClr val="tx2">
                <a:gamma/>
                <a:shade val="60000"/>
                <a:invGamma/>
              </a:schemeClr>
            </a:prstShdw>
          </a:effectLst>
        </p:spPr>
        <p:txBody>
          <a:bodyPr wrap="none" lIns="108000" tIns="56160" rIns="108000" bIns="56160" anchor="ctr">
            <a:spAutoFit/>
          </a:bodyPr>
          <a:lstStyle/>
          <a:p>
            <a:pPr defTabSz="731502" eaLnBrk="0" hangingPunct="0">
              <a:defRPr/>
            </a:pPr>
            <a:endParaRPr lang="en-US" sz="4608" dirty="0">
              <a:solidFill>
                <a:prstClr val="black"/>
              </a:solidFill>
            </a:endParaRPr>
          </a:p>
        </p:txBody>
      </p:sp>
      <p:sp>
        <p:nvSpPr>
          <p:cNvPr id="14" name="Rectangle 80"/>
          <p:cNvSpPr>
            <a:spLocks noChangeArrowheads="1"/>
          </p:cNvSpPr>
          <p:nvPr/>
        </p:nvSpPr>
        <p:spPr bwMode="auto">
          <a:xfrm>
            <a:off x="731335" y="2570838"/>
            <a:ext cx="218174" cy="822522"/>
          </a:xfrm>
          <a:prstGeom prst="rect">
            <a:avLst/>
          </a:prstGeom>
          <a:noFill/>
          <a:ln w="6350" cap="flat" cmpd="sng" algn="ctr">
            <a:noFill/>
            <a:prstDash val="solid"/>
            <a:miter lim="800000"/>
            <a:headEnd/>
            <a:tailEnd/>
          </a:ln>
          <a:effectLst>
            <a:prstShdw prst="shdw17" dist="17961" dir="2700000">
              <a:schemeClr val="tx2">
                <a:gamma/>
                <a:shade val="60000"/>
                <a:invGamma/>
              </a:schemeClr>
            </a:prstShdw>
          </a:effectLst>
        </p:spPr>
        <p:txBody>
          <a:bodyPr wrap="none" lIns="108000" tIns="56160" rIns="108000" bIns="56160" anchor="ctr">
            <a:spAutoFit/>
          </a:bodyPr>
          <a:lstStyle/>
          <a:p>
            <a:pPr defTabSz="731502" eaLnBrk="0" hangingPunct="0">
              <a:defRPr/>
            </a:pPr>
            <a:endParaRPr lang="en-US" sz="4608" dirty="0">
              <a:solidFill>
                <a:prstClr val="black"/>
              </a:solidFill>
            </a:endParaRPr>
          </a:p>
        </p:txBody>
      </p:sp>
      <p:pic>
        <p:nvPicPr>
          <p:cNvPr id="34" name="Picture 3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2655500" y="7001692"/>
            <a:ext cx="1540571" cy="702165"/>
          </a:xfrm>
          <a:prstGeom prst="rect">
            <a:avLst/>
          </a:prstGeom>
        </p:spPr>
      </p:pic>
      <p:pic>
        <p:nvPicPr>
          <p:cNvPr id="42" name="Picture 4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57716" y="847347"/>
            <a:ext cx="2465845" cy="618218"/>
          </a:xfrm>
          <a:prstGeom prst="rect">
            <a:avLst/>
          </a:prstGeom>
        </p:spPr>
      </p:pic>
      <p:pic>
        <p:nvPicPr>
          <p:cNvPr id="52" name="Picture 51"/>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578533" y="5904085"/>
            <a:ext cx="796426" cy="796426"/>
          </a:xfrm>
          <a:prstGeom prst="rect">
            <a:avLst/>
          </a:prstGeom>
        </p:spPr>
      </p:pic>
      <p:pic>
        <p:nvPicPr>
          <p:cNvPr id="56" name="Picture 55"/>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2494334" y="5740114"/>
            <a:ext cx="1861688" cy="489016"/>
          </a:xfrm>
          <a:prstGeom prst="rect">
            <a:avLst/>
          </a:prstGeom>
        </p:spPr>
      </p:pic>
      <p:pic>
        <p:nvPicPr>
          <p:cNvPr id="58" name="Picture 2" descr="Western University">
            <a:hlinkClick r:id="rId20"/>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2488942" y="6423622"/>
            <a:ext cx="1856779" cy="470384"/>
          </a:xfrm>
          <a:prstGeom prst="rect">
            <a:avLst/>
          </a:prstGeom>
          <a:noFill/>
          <a:extLst>
            <a:ext uri="{909E8E84-426E-40DD-AFC4-6F175D3DCCD1}">
              <a14:hiddenFill xmlns:a14="http://schemas.microsoft.com/office/drawing/2010/main">
                <a:solidFill>
                  <a:srgbClr val="FFFFFF"/>
                </a:solidFill>
              </a14:hiddenFill>
            </a:ext>
          </a:extLst>
        </p:spPr>
      </p:pic>
      <p:sp>
        <p:nvSpPr>
          <p:cNvPr id="68" name="Title 3"/>
          <p:cNvSpPr>
            <a:spLocks noGrp="1"/>
          </p:cNvSpPr>
          <p:nvPr>
            <p:ph type="ctrTitle"/>
          </p:nvPr>
        </p:nvSpPr>
        <p:spPr>
          <a:xfrm>
            <a:off x="456379" y="139464"/>
            <a:ext cx="13654608" cy="609994"/>
          </a:xfrm>
        </p:spPr>
        <p:txBody>
          <a:bodyPr/>
          <a:lstStyle/>
          <a:p>
            <a:pPr algn="ctr"/>
            <a:r>
              <a:rPr lang="en-US" sz="4000" dirty="0">
                <a:solidFill>
                  <a:srgbClr val="5F249F"/>
                </a:solidFill>
                <a:latin typeface="Arial" panose="020B0604020202020204" pitchFamily="34" charset="0"/>
                <a:cs typeface="Arial" panose="020B0604020202020204" pitchFamily="34" charset="0"/>
              </a:rPr>
              <a:t>BES Serves Many Global Enterprises</a:t>
            </a:r>
          </a:p>
        </p:txBody>
      </p:sp>
      <p:pic>
        <p:nvPicPr>
          <p:cNvPr id="38" name="Picture 37"/>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6557063" y="4580360"/>
            <a:ext cx="2867035" cy="489286"/>
          </a:xfrm>
          <a:prstGeom prst="rect">
            <a:avLst/>
          </a:prstGeom>
        </p:spPr>
      </p:pic>
      <p:pic>
        <p:nvPicPr>
          <p:cNvPr id="62" name="Picture 61"/>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5360642" y="3930461"/>
            <a:ext cx="1145336" cy="1060496"/>
          </a:xfrm>
          <a:prstGeom prst="rect">
            <a:avLst/>
          </a:prstGeom>
        </p:spPr>
      </p:pic>
      <p:pic>
        <p:nvPicPr>
          <p:cNvPr id="84" name="Picture 83"/>
          <p:cNvPicPr>
            <a:picLocks noChangeAspect="1"/>
          </p:cNvPicPr>
          <p:nvPr/>
        </p:nvPicPr>
        <p:blipFill>
          <a:blip r:embed="rId24"/>
          <a:stretch>
            <a:fillRect/>
          </a:stretch>
        </p:blipFill>
        <p:spPr>
          <a:xfrm>
            <a:off x="2703927" y="5671834"/>
            <a:ext cx="1403283" cy="614509"/>
          </a:xfrm>
          <a:prstGeom prst="rect">
            <a:avLst/>
          </a:prstGeom>
        </p:spPr>
      </p:pic>
      <p:pic>
        <p:nvPicPr>
          <p:cNvPr id="18" name="Picture 296" descr="Fiserv">
            <a:hlinkClick r:id="rId25"/>
          </p:cNvPr>
          <p:cNvPicPr>
            <a:picLocks noChangeAspect="1" noChangeArrowheads="1"/>
          </p:cNvPicPr>
          <p:nvPr/>
        </p:nvPicPr>
        <p:blipFill>
          <a:blip r:embed="rId26" cstate="print"/>
          <a:srcRect/>
          <a:stretch>
            <a:fillRect/>
          </a:stretch>
        </p:blipFill>
        <p:spPr bwMode="auto">
          <a:xfrm>
            <a:off x="682106" y="3627935"/>
            <a:ext cx="1138870" cy="574182"/>
          </a:xfrm>
          <a:prstGeom prst="rect">
            <a:avLst/>
          </a:prstGeom>
          <a:noFill/>
          <a:ln w="9525">
            <a:noFill/>
            <a:miter lim="800000"/>
            <a:headEnd/>
            <a:tailEnd/>
          </a:ln>
        </p:spPr>
      </p:pic>
      <p:pic>
        <p:nvPicPr>
          <p:cNvPr id="1024" name="Picture 1023"/>
          <p:cNvPicPr>
            <a:picLocks noChangeAspect="1"/>
          </p:cNvPicPr>
          <p:nvPr/>
        </p:nvPicPr>
        <p:blipFill>
          <a:blip r:embed="rId27"/>
          <a:stretch>
            <a:fillRect/>
          </a:stretch>
        </p:blipFill>
        <p:spPr>
          <a:xfrm>
            <a:off x="12597176" y="4903442"/>
            <a:ext cx="1702762" cy="622962"/>
          </a:xfrm>
          <a:prstGeom prst="rect">
            <a:avLst/>
          </a:prstGeom>
        </p:spPr>
      </p:pic>
      <p:sp>
        <p:nvSpPr>
          <p:cNvPr id="77" name="TextBox 76"/>
          <p:cNvSpPr txBox="1"/>
          <p:nvPr/>
        </p:nvSpPr>
        <p:spPr>
          <a:xfrm>
            <a:off x="6152354" y="7793338"/>
            <a:ext cx="2490962" cy="338554"/>
          </a:xfrm>
          <a:prstGeom prst="rect">
            <a:avLst/>
          </a:prstGeom>
          <a:noFill/>
        </p:spPr>
        <p:txBody>
          <a:bodyPr wrap="square" rtlCol="0">
            <a:spAutoFit/>
          </a:bodyPr>
          <a:lstStyle/>
          <a:p>
            <a:pPr algn="ctr" defTabSz="688325">
              <a:spcAft>
                <a:spcPts val="640"/>
              </a:spcAft>
              <a:buSzPct val="100000"/>
            </a:pPr>
            <a:r>
              <a:rPr lang="en-US" sz="1600" b="1" i="1" dirty="0">
                <a:solidFill>
                  <a:srgbClr val="FF0000"/>
                </a:solidFill>
                <a:cs typeface="HP Simplified" pitchFamily="34" charset="0"/>
              </a:rPr>
              <a:t>DXC Internal Use Only </a:t>
            </a:r>
          </a:p>
        </p:txBody>
      </p:sp>
      <p:pic>
        <p:nvPicPr>
          <p:cNvPr id="86" name="Picture 85"/>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5619730" y="5095826"/>
            <a:ext cx="2193718" cy="460146"/>
          </a:xfrm>
          <a:prstGeom prst="rect">
            <a:avLst/>
          </a:prstGeom>
        </p:spPr>
      </p:pic>
      <p:pic>
        <p:nvPicPr>
          <p:cNvPr id="92" name="Picture 91"/>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8050870" y="5187113"/>
            <a:ext cx="1684501" cy="479530"/>
          </a:xfrm>
          <a:prstGeom prst="rect">
            <a:avLst/>
          </a:prstGeom>
        </p:spPr>
      </p:pic>
      <p:pic>
        <p:nvPicPr>
          <p:cNvPr id="46" name="Picture 45"/>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8347631" y="6569709"/>
            <a:ext cx="1229186" cy="1044067"/>
          </a:xfrm>
          <a:prstGeom prst="rect">
            <a:avLst/>
          </a:prstGeom>
        </p:spPr>
      </p:pic>
      <p:pic>
        <p:nvPicPr>
          <p:cNvPr id="89" name="Picture 6" descr="SAI"/>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705506" y="1718838"/>
            <a:ext cx="1122614" cy="546272"/>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102"/>
          <p:cNvPicPr>
            <a:picLocks noChangeAspect="1"/>
          </p:cNvPicPr>
          <p:nvPr/>
        </p:nvPicPr>
        <p:blipFill>
          <a:blip r:embed="rId32"/>
          <a:stretch>
            <a:fillRect/>
          </a:stretch>
        </p:blipFill>
        <p:spPr>
          <a:xfrm>
            <a:off x="9489210" y="5912596"/>
            <a:ext cx="1922486" cy="545656"/>
          </a:xfrm>
          <a:prstGeom prst="rect">
            <a:avLst/>
          </a:prstGeom>
        </p:spPr>
      </p:pic>
      <p:pic>
        <p:nvPicPr>
          <p:cNvPr id="5" name="Picture 4"/>
          <p:cNvPicPr>
            <a:picLocks noChangeAspect="1"/>
          </p:cNvPicPr>
          <p:nvPr/>
        </p:nvPicPr>
        <p:blipFill>
          <a:blip r:embed="rId33"/>
          <a:stretch>
            <a:fillRect/>
          </a:stretch>
        </p:blipFill>
        <p:spPr>
          <a:xfrm>
            <a:off x="7868844" y="5717934"/>
            <a:ext cx="1463038" cy="652741"/>
          </a:xfrm>
          <a:prstGeom prst="rect">
            <a:avLst/>
          </a:prstGeom>
        </p:spPr>
      </p:pic>
      <p:pic>
        <p:nvPicPr>
          <p:cNvPr id="1028" name="Picture 4" descr="Home"/>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3557" y="4360599"/>
            <a:ext cx="1386371" cy="50481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Global Payments Logo"/>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34018" y="5756566"/>
            <a:ext cx="2021629" cy="30035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descr="A picture containing drawing&#10;&#10;Description automatically generated">
            <a:extLst>
              <a:ext uri="{FF2B5EF4-FFF2-40B4-BE49-F238E27FC236}">
                <a16:creationId xmlns:a16="http://schemas.microsoft.com/office/drawing/2014/main" id="{6A389441-EEB6-44D7-BE3B-FBC647513728}"/>
              </a:ext>
            </a:extLst>
          </p:cNvPr>
          <p:cNvPicPr>
            <a:picLocks noChangeAspect="1"/>
          </p:cNvPicPr>
          <p:nvPr/>
        </p:nvPicPr>
        <p:blipFill>
          <a:blip r:embed="rId36"/>
          <a:stretch>
            <a:fillRect/>
          </a:stretch>
        </p:blipFill>
        <p:spPr>
          <a:xfrm>
            <a:off x="5699079" y="5680352"/>
            <a:ext cx="1749221" cy="466275"/>
          </a:xfrm>
          <a:prstGeom prst="rect">
            <a:avLst/>
          </a:prstGeom>
        </p:spPr>
      </p:pic>
      <p:pic>
        <p:nvPicPr>
          <p:cNvPr id="10" name="Picture 9">
            <a:extLst>
              <a:ext uri="{FF2B5EF4-FFF2-40B4-BE49-F238E27FC236}">
                <a16:creationId xmlns:a16="http://schemas.microsoft.com/office/drawing/2014/main" id="{3ED4B3DE-6F10-4D61-93DB-5C947A3378CC}"/>
              </a:ext>
            </a:extLst>
          </p:cNvPr>
          <p:cNvPicPr>
            <a:picLocks noChangeAspect="1"/>
          </p:cNvPicPr>
          <p:nvPr/>
        </p:nvPicPr>
        <p:blipFill>
          <a:blip r:embed="rId37"/>
          <a:stretch>
            <a:fillRect/>
          </a:stretch>
        </p:blipFill>
        <p:spPr>
          <a:xfrm>
            <a:off x="6669239" y="4165037"/>
            <a:ext cx="1974390" cy="355542"/>
          </a:xfrm>
          <a:prstGeom prst="rect">
            <a:avLst/>
          </a:prstGeom>
        </p:spPr>
      </p:pic>
      <p:pic>
        <p:nvPicPr>
          <p:cNvPr id="21" name="Picture 20">
            <a:extLst>
              <a:ext uri="{FF2B5EF4-FFF2-40B4-BE49-F238E27FC236}">
                <a16:creationId xmlns:a16="http://schemas.microsoft.com/office/drawing/2014/main" id="{003CBB15-3A9E-402C-9872-2A027358C9CA}"/>
              </a:ext>
            </a:extLst>
          </p:cNvPr>
          <p:cNvPicPr>
            <a:picLocks noChangeAspect="1"/>
          </p:cNvPicPr>
          <p:nvPr/>
        </p:nvPicPr>
        <p:blipFill>
          <a:blip r:embed="rId38"/>
          <a:stretch>
            <a:fillRect/>
          </a:stretch>
        </p:blipFill>
        <p:spPr>
          <a:xfrm>
            <a:off x="4864950" y="2538269"/>
            <a:ext cx="2777592" cy="311394"/>
          </a:xfrm>
          <a:prstGeom prst="rect">
            <a:avLst/>
          </a:prstGeom>
        </p:spPr>
      </p:pic>
      <p:pic>
        <p:nvPicPr>
          <p:cNvPr id="15" name="Picture 14">
            <a:extLst>
              <a:ext uri="{FF2B5EF4-FFF2-40B4-BE49-F238E27FC236}">
                <a16:creationId xmlns:a16="http://schemas.microsoft.com/office/drawing/2014/main" id="{E0898FD6-3268-4229-8771-D7B9D20A3C8B}"/>
              </a:ext>
            </a:extLst>
          </p:cNvPr>
          <p:cNvPicPr>
            <a:picLocks noChangeAspect="1"/>
          </p:cNvPicPr>
          <p:nvPr/>
        </p:nvPicPr>
        <p:blipFill>
          <a:blip r:embed="rId39"/>
          <a:stretch>
            <a:fillRect/>
          </a:stretch>
        </p:blipFill>
        <p:spPr>
          <a:xfrm>
            <a:off x="9797311" y="4758860"/>
            <a:ext cx="2515829" cy="310891"/>
          </a:xfrm>
          <a:prstGeom prst="rect">
            <a:avLst/>
          </a:prstGeom>
        </p:spPr>
      </p:pic>
      <p:pic>
        <p:nvPicPr>
          <p:cNvPr id="23" name="Picture 22">
            <a:extLst>
              <a:ext uri="{FF2B5EF4-FFF2-40B4-BE49-F238E27FC236}">
                <a16:creationId xmlns:a16="http://schemas.microsoft.com/office/drawing/2014/main" id="{1F27B6EC-B437-4521-8A4C-788E4FC67F63}"/>
              </a:ext>
            </a:extLst>
          </p:cNvPr>
          <p:cNvPicPr>
            <a:picLocks noChangeAspect="1"/>
          </p:cNvPicPr>
          <p:nvPr/>
        </p:nvPicPr>
        <p:blipFill>
          <a:blip r:embed="rId40"/>
          <a:stretch>
            <a:fillRect/>
          </a:stretch>
        </p:blipFill>
        <p:spPr>
          <a:xfrm>
            <a:off x="322927" y="7311850"/>
            <a:ext cx="2788462" cy="718901"/>
          </a:xfrm>
          <a:prstGeom prst="rect">
            <a:avLst/>
          </a:prstGeom>
        </p:spPr>
      </p:pic>
      <p:pic>
        <p:nvPicPr>
          <p:cNvPr id="4" name="Picture 34">
            <a:extLst>
              <a:ext uri="{FF2B5EF4-FFF2-40B4-BE49-F238E27FC236}">
                <a16:creationId xmlns:a16="http://schemas.microsoft.com/office/drawing/2014/main" id="{06F67A12-61F4-4181-8761-6E68A4D1BF07}"/>
              </a:ext>
            </a:extLst>
          </p:cNvPr>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9701239" y="6585598"/>
            <a:ext cx="1782888" cy="658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30">
            <a:extLst>
              <a:ext uri="{FF2B5EF4-FFF2-40B4-BE49-F238E27FC236}">
                <a16:creationId xmlns:a16="http://schemas.microsoft.com/office/drawing/2014/main" id="{0554015B-0026-4ADE-A8C2-1B2FA6F90DB0}"/>
              </a:ext>
            </a:extLst>
          </p:cNvPr>
          <p:cNvPicPr>
            <a:picLocks noChangeAspect="1"/>
          </p:cNvPicPr>
          <p:nvPr/>
        </p:nvPicPr>
        <p:blipFill>
          <a:blip r:embed="rId42"/>
          <a:stretch>
            <a:fillRect/>
          </a:stretch>
        </p:blipFill>
        <p:spPr>
          <a:xfrm>
            <a:off x="11068149" y="1188760"/>
            <a:ext cx="1592886" cy="458384"/>
          </a:xfrm>
          <a:prstGeom prst="rect">
            <a:avLst/>
          </a:prstGeom>
        </p:spPr>
      </p:pic>
      <p:pic>
        <p:nvPicPr>
          <p:cNvPr id="48" name="Picture 47">
            <a:extLst>
              <a:ext uri="{FF2B5EF4-FFF2-40B4-BE49-F238E27FC236}">
                <a16:creationId xmlns:a16="http://schemas.microsoft.com/office/drawing/2014/main" id="{763B48A1-5340-4F51-B06B-447AF354510E}"/>
              </a:ext>
            </a:extLst>
          </p:cNvPr>
          <p:cNvPicPr>
            <a:picLocks noChangeAspect="1"/>
          </p:cNvPicPr>
          <p:nvPr/>
        </p:nvPicPr>
        <p:blipFill>
          <a:blip r:embed="rId43"/>
          <a:stretch>
            <a:fillRect/>
          </a:stretch>
        </p:blipFill>
        <p:spPr>
          <a:xfrm>
            <a:off x="13013530" y="1882671"/>
            <a:ext cx="1358723" cy="895283"/>
          </a:xfrm>
          <a:prstGeom prst="rect">
            <a:avLst/>
          </a:prstGeom>
        </p:spPr>
      </p:pic>
      <p:pic>
        <p:nvPicPr>
          <p:cNvPr id="50" name="Picture 49">
            <a:extLst>
              <a:ext uri="{FF2B5EF4-FFF2-40B4-BE49-F238E27FC236}">
                <a16:creationId xmlns:a16="http://schemas.microsoft.com/office/drawing/2014/main" id="{6484706B-D58D-4F48-9924-F687A8AB76D9}"/>
              </a:ext>
            </a:extLst>
          </p:cNvPr>
          <p:cNvPicPr>
            <a:picLocks noChangeAspect="1"/>
          </p:cNvPicPr>
          <p:nvPr/>
        </p:nvPicPr>
        <p:blipFill>
          <a:blip r:embed="rId44"/>
          <a:stretch>
            <a:fillRect/>
          </a:stretch>
        </p:blipFill>
        <p:spPr>
          <a:xfrm>
            <a:off x="9927239" y="5163687"/>
            <a:ext cx="2531339" cy="589192"/>
          </a:xfrm>
          <a:prstGeom prst="rect">
            <a:avLst/>
          </a:prstGeom>
        </p:spPr>
      </p:pic>
      <p:pic>
        <p:nvPicPr>
          <p:cNvPr id="53" name="Picture 52">
            <a:extLst>
              <a:ext uri="{FF2B5EF4-FFF2-40B4-BE49-F238E27FC236}">
                <a16:creationId xmlns:a16="http://schemas.microsoft.com/office/drawing/2014/main" id="{C1F7A84D-D5DB-495B-8ED5-B34538625CE6}"/>
              </a:ext>
            </a:extLst>
          </p:cNvPr>
          <p:cNvPicPr>
            <a:picLocks noChangeAspect="1"/>
          </p:cNvPicPr>
          <p:nvPr/>
        </p:nvPicPr>
        <p:blipFill>
          <a:blip r:embed="rId45"/>
          <a:stretch>
            <a:fillRect/>
          </a:stretch>
        </p:blipFill>
        <p:spPr>
          <a:xfrm>
            <a:off x="2793252" y="2180317"/>
            <a:ext cx="1328898" cy="684410"/>
          </a:xfrm>
          <a:prstGeom prst="rect">
            <a:avLst/>
          </a:prstGeom>
        </p:spPr>
      </p:pic>
      <p:pic>
        <p:nvPicPr>
          <p:cNvPr id="57" name="Picture 56">
            <a:extLst>
              <a:ext uri="{FF2B5EF4-FFF2-40B4-BE49-F238E27FC236}">
                <a16:creationId xmlns:a16="http://schemas.microsoft.com/office/drawing/2014/main" id="{BBC7EDC4-84E4-4BF9-9D30-C7803AEF6B19}"/>
              </a:ext>
            </a:extLst>
          </p:cNvPr>
          <p:cNvPicPr>
            <a:picLocks noChangeAspect="1"/>
          </p:cNvPicPr>
          <p:nvPr/>
        </p:nvPicPr>
        <p:blipFill>
          <a:blip r:embed="rId46"/>
          <a:stretch>
            <a:fillRect/>
          </a:stretch>
        </p:blipFill>
        <p:spPr>
          <a:xfrm>
            <a:off x="542788" y="4965262"/>
            <a:ext cx="1241090" cy="623035"/>
          </a:xfrm>
          <a:prstGeom prst="rect">
            <a:avLst/>
          </a:prstGeom>
        </p:spPr>
      </p:pic>
      <p:pic>
        <p:nvPicPr>
          <p:cNvPr id="59" name="Picture 58">
            <a:extLst>
              <a:ext uri="{FF2B5EF4-FFF2-40B4-BE49-F238E27FC236}">
                <a16:creationId xmlns:a16="http://schemas.microsoft.com/office/drawing/2014/main" id="{84569E6F-9BB5-40F5-91DE-9CAC3587F093}"/>
              </a:ext>
            </a:extLst>
          </p:cNvPr>
          <p:cNvPicPr>
            <a:picLocks noChangeAspect="1"/>
          </p:cNvPicPr>
          <p:nvPr/>
        </p:nvPicPr>
        <p:blipFill>
          <a:blip r:embed="rId47"/>
          <a:stretch>
            <a:fillRect/>
          </a:stretch>
        </p:blipFill>
        <p:spPr>
          <a:xfrm>
            <a:off x="10712169" y="4050006"/>
            <a:ext cx="1467307" cy="648635"/>
          </a:xfrm>
          <a:prstGeom prst="rect">
            <a:avLst/>
          </a:prstGeom>
        </p:spPr>
      </p:pic>
      <p:pic>
        <p:nvPicPr>
          <p:cNvPr id="61" name="Picture 60">
            <a:extLst>
              <a:ext uri="{FF2B5EF4-FFF2-40B4-BE49-F238E27FC236}">
                <a16:creationId xmlns:a16="http://schemas.microsoft.com/office/drawing/2014/main" id="{E4AE635B-C4BB-48FE-8126-F13F714FC68A}"/>
              </a:ext>
            </a:extLst>
          </p:cNvPr>
          <p:cNvPicPr>
            <a:picLocks noChangeAspect="1"/>
          </p:cNvPicPr>
          <p:nvPr/>
        </p:nvPicPr>
        <p:blipFill>
          <a:blip r:embed="rId48"/>
          <a:stretch>
            <a:fillRect/>
          </a:stretch>
        </p:blipFill>
        <p:spPr>
          <a:xfrm>
            <a:off x="4330434" y="1597200"/>
            <a:ext cx="1136179" cy="789549"/>
          </a:xfrm>
          <a:prstGeom prst="rect">
            <a:avLst/>
          </a:prstGeom>
        </p:spPr>
      </p:pic>
      <p:pic>
        <p:nvPicPr>
          <p:cNvPr id="99" name="Picture 98">
            <a:extLst>
              <a:ext uri="{FF2B5EF4-FFF2-40B4-BE49-F238E27FC236}">
                <a16:creationId xmlns:a16="http://schemas.microsoft.com/office/drawing/2014/main" id="{3650C23C-D1B0-4618-BAA8-7EA851FF141B}"/>
              </a:ext>
            </a:extLst>
          </p:cNvPr>
          <p:cNvPicPr>
            <a:picLocks noChangeAspect="1"/>
          </p:cNvPicPr>
          <p:nvPr/>
        </p:nvPicPr>
        <p:blipFill>
          <a:blip r:embed="rId49"/>
          <a:stretch>
            <a:fillRect/>
          </a:stretch>
        </p:blipFill>
        <p:spPr>
          <a:xfrm>
            <a:off x="317022" y="6884895"/>
            <a:ext cx="4055944" cy="450661"/>
          </a:xfrm>
          <a:prstGeom prst="rect">
            <a:avLst/>
          </a:prstGeom>
        </p:spPr>
      </p:pic>
      <p:pic>
        <p:nvPicPr>
          <p:cNvPr id="64" name="Picture 63">
            <a:extLst>
              <a:ext uri="{FF2B5EF4-FFF2-40B4-BE49-F238E27FC236}">
                <a16:creationId xmlns:a16="http://schemas.microsoft.com/office/drawing/2014/main" id="{2C69FC69-E679-4606-92D1-575B2687F45F}"/>
              </a:ext>
            </a:extLst>
          </p:cNvPr>
          <p:cNvPicPr>
            <a:picLocks noChangeAspect="1"/>
          </p:cNvPicPr>
          <p:nvPr/>
        </p:nvPicPr>
        <p:blipFill>
          <a:blip r:embed="rId50"/>
          <a:stretch>
            <a:fillRect/>
          </a:stretch>
        </p:blipFill>
        <p:spPr>
          <a:xfrm>
            <a:off x="3327058" y="2965202"/>
            <a:ext cx="812741" cy="710710"/>
          </a:xfrm>
          <a:prstGeom prst="rect">
            <a:avLst/>
          </a:prstGeom>
        </p:spPr>
      </p:pic>
      <p:pic>
        <p:nvPicPr>
          <p:cNvPr id="26" name="Picture 25"/>
          <p:cNvPicPr>
            <a:picLocks noChangeAspect="1"/>
          </p:cNvPicPr>
          <p:nvPr/>
        </p:nvPicPr>
        <p:blipFill>
          <a:blip r:embed="rId51"/>
          <a:stretch>
            <a:fillRect/>
          </a:stretch>
        </p:blipFill>
        <p:spPr>
          <a:xfrm>
            <a:off x="7159505" y="6218371"/>
            <a:ext cx="1000712" cy="774464"/>
          </a:xfrm>
          <a:prstGeom prst="rect">
            <a:avLst/>
          </a:prstGeom>
        </p:spPr>
      </p:pic>
      <p:pic>
        <p:nvPicPr>
          <p:cNvPr id="32" name="Picture 31">
            <a:extLst>
              <a:ext uri="{FF2B5EF4-FFF2-40B4-BE49-F238E27FC236}">
                <a16:creationId xmlns:a16="http://schemas.microsoft.com/office/drawing/2014/main" id="{054FEA66-AEA9-3CE3-5774-C109C3E05C6E}"/>
              </a:ext>
            </a:extLst>
          </p:cNvPr>
          <p:cNvPicPr>
            <a:picLocks noChangeAspect="1"/>
          </p:cNvPicPr>
          <p:nvPr/>
        </p:nvPicPr>
        <p:blipFill>
          <a:blip r:embed="rId52"/>
          <a:stretch>
            <a:fillRect/>
          </a:stretch>
        </p:blipFill>
        <p:spPr>
          <a:xfrm>
            <a:off x="11882197" y="1865929"/>
            <a:ext cx="1004707" cy="751093"/>
          </a:xfrm>
          <a:prstGeom prst="rect">
            <a:avLst/>
          </a:prstGeom>
        </p:spPr>
      </p:pic>
      <p:pic>
        <p:nvPicPr>
          <p:cNvPr id="41" name="Picture 40">
            <a:extLst>
              <a:ext uri="{FF2B5EF4-FFF2-40B4-BE49-F238E27FC236}">
                <a16:creationId xmlns:a16="http://schemas.microsoft.com/office/drawing/2014/main" id="{EB4E837B-9C08-9B50-3BAE-89A2FA95F2BA}"/>
              </a:ext>
            </a:extLst>
          </p:cNvPr>
          <p:cNvPicPr>
            <a:picLocks noChangeAspect="1"/>
          </p:cNvPicPr>
          <p:nvPr/>
        </p:nvPicPr>
        <p:blipFill>
          <a:blip r:embed="rId53"/>
          <a:stretch>
            <a:fillRect/>
          </a:stretch>
        </p:blipFill>
        <p:spPr>
          <a:xfrm>
            <a:off x="9429125" y="1038701"/>
            <a:ext cx="1550957" cy="585267"/>
          </a:xfrm>
          <a:prstGeom prst="rect">
            <a:avLst/>
          </a:prstGeom>
        </p:spPr>
      </p:pic>
      <p:pic>
        <p:nvPicPr>
          <p:cNvPr id="43" name="Picture 42">
            <a:extLst>
              <a:ext uri="{FF2B5EF4-FFF2-40B4-BE49-F238E27FC236}">
                <a16:creationId xmlns:a16="http://schemas.microsoft.com/office/drawing/2014/main" id="{FC2B0FFE-3B9E-7B10-FACF-B624FE790E97}"/>
              </a:ext>
            </a:extLst>
          </p:cNvPr>
          <p:cNvPicPr>
            <a:picLocks noChangeAspect="1"/>
          </p:cNvPicPr>
          <p:nvPr/>
        </p:nvPicPr>
        <p:blipFill>
          <a:blip r:embed="rId54"/>
          <a:stretch>
            <a:fillRect/>
          </a:stretch>
        </p:blipFill>
        <p:spPr>
          <a:xfrm>
            <a:off x="7192191" y="1101102"/>
            <a:ext cx="2093538" cy="479576"/>
          </a:xfrm>
          <a:prstGeom prst="rect">
            <a:avLst/>
          </a:prstGeom>
        </p:spPr>
      </p:pic>
      <p:pic>
        <p:nvPicPr>
          <p:cNvPr id="49" name="Picture 48">
            <a:extLst>
              <a:ext uri="{FF2B5EF4-FFF2-40B4-BE49-F238E27FC236}">
                <a16:creationId xmlns:a16="http://schemas.microsoft.com/office/drawing/2014/main" id="{139615C3-98A1-7FD7-5EDB-CB82ABD79751}"/>
              </a:ext>
            </a:extLst>
          </p:cNvPr>
          <p:cNvPicPr>
            <a:picLocks noChangeAspect="1"/>
          </p:cNvPicPr>
          <p:nvPr/>
        </p:nvPicPr>
        <p:blipFill>
          <a:blip r:embed="rId55"/>
          <a:stretch>
            <a:fillRect/>
          </a:stretch>
        </p:blipFill>
        <p:spPr>
          <a:xfrm>
            <a:off x="482626" y="1752881"/>
            <a:ext cx="1188477" cy="288866"/>
          </a:xfrm>
          <a:prstGeom prst="rect">
            <a:avLst/>
          </a:prstGeom>
        </p:spPr>
      </p:pic>
      <p:pic>
        <p:nvPicPr>
          <p:cNvPr id="47" name="Picture 46">
            <a:extLst>
              <a:ext uri="{FF2B5EF4-FFF2-40B4-BE49-F238E27FC236}">
                <a16:creationId xmlns:a16="http://schemas.microsoft.com/office/drawing/2014/main" id="{D41941C5-6786-45E3-BD76-DDCB6EDA2F8A}"/>
              </a:ext>
            </a:extLst>
          </p:cNvPr>
          <p:cNvPicPr>
            <a:picLocks noChangeAspect="1"/>
          </p:cNvPicPr>
          <p:nvPr/>
        </p:nvPicPr>
        <p:blipFill>
          <a:blip r:embed="rId56"/>
          <a:stretch>
            <a:fillRect/>
          </a:stretch>
        </p:blipFill>
        <p:spPr>
          <a:xfrm>
            <a:off x="9850981" y="3435202"/>
            <a:ext cx="2496146" cy="611798"/>
          </a:xfrm>
          <a:prstGeom prst="rect">
            <a:avLst/>
          </a:prstGeom>
        </p:spPr>
      </p:pic>
      <p:pic>
        <p:nvPicPr>
          <p:cNvPr id="25" name="Picture 24">
            <a:extLst>
              <a:ext uri="{FF2B5EF4-FFF2-40B4-BE49-F238E27FC236}">
                <a16:creationId xmlns:a16="http://schemas.microsoft.com/office/drawing/2014/main" id="{3CA942E8-9E96-E120-343E-4F0491FC6545}"/>
              </a:ext>
            </a:extLst>
          </p:cNvPr>
          <p:cNvPicPr>
            <a:picLocks noChangeAspect="1"/>
          </p:cNvPicPr>
          <p:nvPr/>
        </p:nvPicPr>
        <p:blipFill>
          <a:blip r:embed="rId57"/>
          <a:stretch>
            <a:fillRect/>
          </a:stretch>
        </p:blipFill>
        <p:spPr>
          <a:xfrm>
            <a:off x="434017" y="6176369"/>
            <a:ext cx="1596856" cy="716538"/>
          </a:xfrm>
          <a:prstGeom prst="rect">
            <a:avLst/>
          </a:prstGeom>
        </p:spPr>
      </p:pic>
      <p:pic>
        <p:nvPicPr>
          <p:cNvPr id="60" name="Picture 59">
            <a:extLst>
              <a:ext uri="{FF2B5EF4-FFF2-40B4-BE49-F238E27FC236}">
                <a16:creationId xmlns:a16="http://schemas.microsoft.com/office/drawing/2014/main" id="{E90E8EEC-5F48-F9EB-3490-E2037869E550}"/>
              </a:ext>
            </a:extLst>
          </p:cNvPr>
          <p:cNvPicPr>
            <a:picLocks noChangeAspect="1"/>
          </p:cNvPicPr>
          <p:nvPr/>
        </p:nvPicPr>
        <p:blipFill>
          <a:blip r:embed="rId58"/>
          <a:stretch>
            <a:fillRect/>
          </a:stretch>
        </p:blipFill>
        <p:spPr>
          <a:xfrm>
            <a:off x="10543642" y="3113474"/>
            <a:ext cx="1686003" cy="282518"/>
          </a:xfrm>
          <a:prstGeom prst="rect">
            <a:avLst/>
          </a:prstGeom>
        </p:spPr>
      </p:pic>
      <p:pic>
        <p:nvPicPr>
          <p:cNvPr id="63" name="Picture 62">
            <a:extLst>
              <a:ext uri="{FF2B5EF4-FFF2-40B4-BE49-F238E27FC236}">
                <a16:creationId xmlns:a16="http://schemas.microsoft.com/office/drawing/2014/main" id="{36EF5780-1447-4AD0-97AB-7AFE4F153A6B}"/>
              </a:ext>
            </a:extLst>
          </p:cNvPr>
          <p:cNvPicPr>
            <a:picLocks noChangeAspect="1"/>
          </p:cNvPicPr>
          <p:nvPr/>
        </p:nvPicPr>
        <p:blipFill>
          <a:blip r:embed="rId59"/>
          <a:stretch>
            <a:fillRect/>
          </a:stretch>
        </p:blipFill>
        <p:spPr>
          <a:xfrm>
            <a:off x="8073692" y="2280187"/>
            <a:ext cx="1120133" cy="760845"/>
          </a:xfrm>
          <a:prstGeom prst="rect">
            <a:avLst/>
          </a:prstGeom>
        </p:spPr>
      </p:pic>
      <p:pic>
        <p:nvPicPr>
          <p:cNvPr id="66" name="Picture 65">
            <a:extLst>
              <a:ext uri="{FF2B5EF4-FFF2-40B4-BE49-F238E27FC236}">
                <a16:creationId xmlns:a16="http://schemas.microsoft.com/office/drawing/2014/main" id="{B87C1B0E-9D32-09FE-0640-83E24F0A22E8}"/>
              </a:ext>
            </a:extLst>
          </p:cNvPr>
          <p:cNvPicPr>
            <a:picLocks noChangeAspect="1"/>
          </p:cNvPicPr>
          <p:nvPr/>
        </p:nvPicPr>
        <p:blipFill>
          <a:blip r:embed="rId60"/>
          <a:stretch>
            <a:fillRect/>
          </a:stretch>
        </p:blipFill>
        <p:spPr>
          <a:xfrm>
            <a:off x="12547570" y="4147959"/>
            <a:ext cx="1648501" cy="468213"/>
          </a:xfrm>
          <a:prstGeom prst="rect">
            <a:avLst/>
          </a:prstGeom>
        </p:spPr>
      </p:pic>
      <p:pic>
        <p:nvPicPr>
          <p:cNvPr id="67" name="Picture 66">
            <a:extLst>
              <a:ext uri="{FF2B5EF4-FFF2-40B4-BE49-F238E27FC236}">
                <a16:creationId xmlns:a16="http://schemas.microsoft.com/office/drawing/2014/main" id="{BD984023-C0AB-057F-9CD6-9D53222F1F58}"/>
              </a:ext>
            </a:extLst>
          </p:cNvPr>
          <p:cNvPicPr>
            <a:picLocks noChangeAspect="1"/>
          </p:cNvPicPr>
          <p:nvPr/>
        </p:nvPicPr>
        <p:blipFill>
          <a:blip r:embed="rId61"/>
          <a:stretch>
            <a:fillRect/>
          </a:stretch>
        </p:blipFill>
        <p:spPr>
          <a:xfrm>
            <a:off x="2933997" y="1044085"/>
            <a:ext cx="1668010" cy="448704"/>
          </a:xfrm>
          <a:prstGeom prst="rect">
            <a:avLst/>
          </a:prstGeom>
        </p:spPr>
      </p:pic>
      <p:pic>
        <p:nvPicPr>
          <p:cNvPr id="70" name="Picture 69">
            <a:extLst>
              <a:ext uri="{FF2B5EF4-FFF2-40B4-BE49-F238E27FC236}">
                <a16:creationId xmlns:a16="http://schemas.microsoft.com/office/drawing/2014/main" id="{73C65241-CC7E-66C0-C10B-F117E55B3B5A}"/>
              </a:ext>
            </a:extLst>
          </p:cNvPr>
          <p:cNvPicPr>
            <a:picLocks noChangeAspect="1"/>
          </p:cNvPicPr>
          <p:nvPr/>
        </p:nvPicPr>
        <p:blipFill>
          <a:blip r:embed="rId62"/>
          <a:stretch>
            <a:fillRect/>
          </a:stretch>
        </p:blipFill>
        <p:spPr>
          <a:xfrm>
            <a:off x="2251321" y="6289167"/>
            <a:ext cx="1693562" cy="699734"/>
          </a:xfrm>
          <a:prstGeom prst="rect">
            <a:avLst/>
          </a:prstGeom>
        </p:spPr>
      </p:pic>
      <p:pic>
        <p:nvPicPr>
          <p:cNvPr id="72" name="Picture 71">
            <a:extLst>
              <a:ext uri="{FF2B5EF4-FFF2-40B4-BE49-F238E27FC236}">
                <a16:creationId xmlns:a16="http://schemas.microsoft.com/office/drawing/2014/main" id="{8E11B4E1-C195-285F-8256-D43E95D42F16}"/>
              </a:ext>
            </a:extLst>
          </p:cNvPr>
          <p:cNvPicPr>
            <a:picLocks noChangeAspect="1"/>
          </p:cNvPicPr>
          <p:nvPr/>
        </p:nvPicPr>
        <p:blipFill>
          <a:blip r:embed="rId63"/>
          <a:stretch>
            <a:fillRect/>
          </a:stretch>
        </p:blipFill>
        <p:spPr>
          <a:xfrm>
            <a:off x="4903823" y="1103279"/>
            <a:ext cx="2138626" cy="384578"/>
          </a:xfrm>
          <a:prstGeom prst="rect">
            <a:avLst/>
          </a:prstGeom>
        </p:spPr>
      </p:pic>
      <p:pic>
        <p:nvPicPr>
          <p:cNvPr id="73" name="Picture 72">
            <a:extLst>
              <a:ext uri="{FF2B5EF4-FFF2-40B4-BE49-F238E27FC236}">
                <a16:creationId xmlns:a16="http://schemas.microsoft.com/office/drawing/2014/main" id="{08C89EBC-8CCF-11F7-7BA5-542D0A5EAF4E}"/>
              </a:ext>
            </a:extLst>
          </p:cNvPr>
          <p:cNvPicPr>
            <a:picLocks noChangeAspect="1"/>
          </p:cNvPicPr>
          <p:nvPr/>
        </p:nvPicPr>
        <p:blipFill>
          <a:blip r:embed="rId64"/>
          <a:stretch>
            <a:fillRect/>
          </a:stretch>
        </p:blipFill>
        <p:spPr>
          <a:xfrm>
            <a:off x="678496" y="2263253"/>
            <a:ext cx="1921626" cy="634038"/>
          </a:xfrm>
          <a:prstGeom prst="rect">
            <a:avLst/>
          </a:prstGeom>
        </p:spPr>
      </p:pic>
      <p:pic>
        <p:nvPicPr>
          <p:cNvPr id="76" name="Picture 75">
            <a:extLst>
              <a:ext uri="{FF2B5EF4-FFF2-40B4-BE49-F238E27FC236}">
                <a16:creationId xmlns:a16="http://schemas.microsoft.com/office/drawing/2014/main" id="{18149E28-372E-5B6A-DBF9-7F5DB08543F0}"/>
              </a:ext>
            </a:extLst>
          </p:cNvPr>
          <p:cNvPicPr>
            <a:picLocks noChangeAspect="1"/>
          </p:cNvPicPr>
          <p:nvPr/>
        </p:nvPicPr>
        <p:blipFill>
          <a:blip r:embed="rId65"/>
          <a:stretch>
            <a:fillRect/>
          </a:stretch>
        </p:blipFill>
        <p:spPr>
          <a:xfrm>
            <a:off x="489495" y="2948899"/>
            <a:ext cx="2662963" cy="565758"/>
          </a:xfrm>
          <a:prstGeom prst="rect">
            <a:avLst/>
          </a:prstGeom>
        </p:spPr>
      </p:pic>
      <p:pic>
        <p:nvPicPr>
          <p:cNvPr id="79" name="Picture 78">
            <a:extLst>
              <a:ext uri="{FF2B5EF4-FFF2-40B4-BE49-F238E27FC236}">
                <a16:creationId xmlns:a16="http://schemas.microsoft.com/office/drawing/2014/main" id="{C33D2127-C60D-C0E5-B38E-7D9C96C12C03}"/>
              </a:ext>
            </a:extLst>
          </p:cNvPr>
          <p:cNvPicPr>
            <a:picLocks noChangeAspect="1"/>
          </p:cNvPicPr>
          <p:nvPr/>
        </p:nvPicPr>
        <p:blipFill>
          <a:blip r:embed="rId66"/>
          <a:stretch>
            <a:fillRect/>
          </a:stretch>
        </p:blipFill>
        <p:spPr>
          <a:xfrm>
            <a:off x="4122149" y="5080739"/>
            <a:ext cx="1482675" cy="790110"/>
          </a:xfrm>
          <a:prstGeom prst="rect">
            <a:avLst/>
          </a:prstGeom>
        </p:spPr>
      </p:pic>
      <p:pic>
        <p:nvPicPr>
          <p:cNvPr id="80" name="Picture 79">
            <a:extLst>
              <a:ext uri="{FF2B5EF4-FFF2-40B4-BE49-F238E27FC236}">
                <a16:creationId xmlns:a16="http://schemas.microsoft.com/office/drawing/2014/main" id="{49865F92-AC81-B7A5-8661-680253C0C668}"/>
              </a:ext>
            </a:extLst>
          </p:cNvPr>
          <p:cNvPicPr>
            <a:picLocks noChangeAspect="1"/>
          </p:cNvPicPr>
          <p:nvPr/>
        </p:nvPicPr>
        <p:blipFill>
          <a:blip r:embed="rId67"/>
          <a:stretch>
            <a:fillRect/>
          </a:stretch>
        </p:blipFill>
        <p:spPr>
          <a:xfrm>
            <a:off x="2100073" y="4910807"/>
            <a:ext cx="1921626" cy="692566"/>
          </a:xfrm>
          <a:prstGeom prst="rect">
            <a:avLst/>
          </a:prstGeom>
        </p:spPr>
      </p:pic>
      <p:pic>
        <p:nvPicPr>
          <p:cNvPr id="82" name="Picture 81">
            <a:extLst>
              <a:ext uri="{FF2B5EF4-FFF2-40B4-BE49-F238E27FC236}">
                <a16:creationId xmlns:a16="http://schemas.microsoft.com/office/drawing/2014/main" id="{2BD7960B-F3BD-6B09-95B1-4A67C98B9845}"/>
              </a:ext>
            </a:extLst>
          </p:cNvPr>
          <p:cNvPicPr>
            <a:picLocks noChangeAspect="1"/>
          </p:cNvPicPr>
          <p:nvPr/>
        </p:nvPicPr>
        <p:blipFill>
          <a:blip r:embed="rId68"/>
          <a:stretch>
            <a:fillRect/>
          </a:stretch>
        </p:blipFill>
        <p:spPr>
          <a:xfrm>
            <a:off x="5485743" y="3039249"/>
            <a:ext cx="1424024" cy="799291"/>
          </a:xfrm>
          <a:prstGeom prst="rect">
            <a:avLst/>
          </a:prstGeom>
        </p:spPr>
      </p:pic>
      <p:pic>
        <p:nvPicPr>
          <p:cNvPr id="85" name="Picture 84">
            <a:extLst>
              <a:ext uri="{FF2B5EF4-FFF2-40B4-BE49-F238E27FC236}">
                <a16:creationId xmlns:a16="http://schemas.microsoft.com/office/drawing/2014/main" id="{F99BF944-6CC1-E046-98DB-F0A2886EB72A}"/>
              </a:ext>
            </a:extLst>
          </p:cNvPr>
          <p:cNvPicPr>
            <a:picLocks noChangeAspect="1"/>
          </p:cNvPicPr>
          <p:nvPr/>
        </p:nvPicPr>
        <p:blipFill>
          <a:blip r:embed="rId69"/>
          <a:stretch>
            <a:fillRect/>
          </a:stretch>
        </p:blipFill>
        <p:spPr>
          <a:xfrm>
            <a:off x="7166459" y="3117348"/>
            <a:ext cx="2867806" cy="760846"/>
          </a:xfrm>
          <a:prstGeom prst="rect">
            <a:avLst/>
          </a:prstGeom>
        </p:spPr>
      </p:pic>
      <p:pic>
        <p:nvPicPr>
          <p:cNvPr id="87" name="Picture 86">
            <a:extLst>
              <a:ext uri="{FF2B5EF4-FFF2-40B4-BE49-F238E27FC236}">
                <a16:creationId xmlns:a16="http://schemas.microsoft.com/office/drawing/2014/main" id="{C611F003-B24C-AE19-A340-315792CF7AB9}"/>
              </a:ext>
            </a:extLst>
          </p:cNvPr>
          <p:cNvPicPr>
            <a:picLocks noChangeAspect="1"/>
          </p:cNvPicPr>
          <p:nvPr/>
        </p:nvPicPr>
        <p:blipFill>
          <a:blip r:embed="rId70"/>
          <a:stretch>
            <a:fillRect/>
          </a:stretch>
        </p:blipFill>
        <p:spPr>
          <a:xfrm>
            <a:off x="9331882" y="1756081"/>
            <a:ext cx="1511939" cy="682811"/>
          </a:xfrm>
          <a:prstGeom prst="rect">
            <a:avLst/>
          </a:prstGeom>
        </p:spPr>
      </p:pic>
      <p:pic>
        <p:nvPicPr>
          <p:cNvPr id="93" name="Picture 92">
            <a:extLst>
              <a:ext uri="{FF2B5EF4-FFF2-40B4-BE49-F238E27FC236}">
                <a16:creationId xmlns:a16="http://schemas.microsoft.com/office/drawing/2014/main" id="{3F14F22C-342D-F2C7-10E9-B63DCBCF92C1}"/>
              </a:ext>
            </a:extLst>
          </p:cNvPr>
          <p:cNvPicPr>
            <a:picLocks noChangeAspect="1"/>
          </p:cNvPicPr>
          <p:nvPr/>
        </p:nvPicPr>
        <p:blipFill>
          <a:blip r:embed="rId71"/>
          <a:stretch>
            <a:fillRect/>
          </a:stretch>
        </p:blipFill>
        <p:spPr>
          <a:xfrm>
            <a:off x="2036002" y="7256195"/>
            <a:ext cx="3394856" cy="254160"/>
          </a:xfrm>
          <a:prstGeom prst="rect">
            <a:avLst/>
          </a:prstGeom>
        </p:spPr>
      </p:pic>
      <p:pic>
        <p:nvPicPr>
          <p:cNvPr id="94" name="Picture 93">
            <a:extLst>
              <a:ext uri="{FF2B5EF4-FFF2-40B4-BE49-F238E27FC236}">
                <a16:creationId xmlns:a16="http://schemas.microsoft.com/office/drawing/2014/main" id="{D5DD080B-7BD2-43C4-973C-D98DCA024FBF}"/>
              </a:ext>
            </a:extLst>
          </p:cNvPr>
          <p:cNvPicPr>
            <a:picLocks noChangeAspect="1"/>
          </p:cNvPicPr>
          <p:nvPr/>
        </p:nvPicPr>
        <p:blipFill>
          <a:blip r:embed="rId72"/>
          <a:stretch>
            <a:fillRect/>
          </a:stretch>
        </p:blipFill>
        <p:spPr>
          <a:xfrm>
            <a:off x="9664891" y="7330449"/>
            <a:ext cx="2594683" cy="282878"/>
          </a:xfrm>
          <a:prstGeom prst="rect">
            <a:avLst/>
          </a:prstGeom>
        </p:spPr>
      </p:pic>
      <p:pic>
        <p:nvPicPr>
          <p:cNvPr id="30" name="Picture 29"/>
          <p:cNvPicPr>
            <a:picLocks noChangeAspect="1"/>
          </p:cNvPicPr>
          <p:nvPr/>
        </p:nvPicPr>
        <p:blipFill>
          <a:blip r:embed="rId73">
            <a:extLst>
              <a:ext uri="{28A0092B-C50C-407E-A947-70E740481C1C}">
                <a14:useLocalDpi xmlns:a14="http://schemas.microsoft.com/office/drawing/2010/main" val="0"/>
              </a:ext>
            </a:extLst>
          </a:blip>
          <a:stretch>
            <a:fillRect/>
          </a:stretch>
        </p:blipFill>
        <p:spPr>
          <a:xfrm>
            <a:off x="2208413" y="4337406"/>
            <a:ext cx="1845168" cy="450858"/>
          </a:xfrm>
          <a:prstGeom prst="rect">
            <a:avLst/>
          </a:prstGeom>
        </p:spPr>
      </p:pic>
      <p:pic>
        <p:nvPicPr>
          <p:cNvPr id="11" name="Picture 10">
            <a:extLst>
              <a:ext uri="{FF2B5EF4-FFF2-40B4-BE49-F238E27FC236}">
                <a16:creationId xmlns:a16="http://schemas.microsoft.com/office/drawing/2014/main" id="{F0C125C6-6AA6-87BC-59C6-0B1B2B1777D0}"/>
              </a:ext>
            </a:extLst>
          </p:cNvPr>
          <p:cNvPicPr>
            <a:picLocks noChangeAspect="1"/>
          </p:cNvPicPr>
          <p:nvPr/>
        </p:nvPicPr>
        <p:blipFill>
          <a:blip r:embed="rId74"/>
          <a:stretch>
            <a:fillRect/>
          </a:stretch>
        </p:blipFill>
        <p:spPr>
          <a:xfrm>
            <a:off x="10861750" y="1815252"/>
            <a:ext cx="1005840" cy="1082040"/>
          </a:xfrm>
          <a:prstGeom prst="rect">
            <a:avLst/>
          </a:prstGeom>
        </p:spPr>
      </p:pic>
      <p:pic>
        <p:nvPicPr>
          <p:cNvPr id="17" name="Picture 16">
            <a:extLst>
              <a:ext uri="{FF2B5EF4-FFF2-40B4-BE49-F238E27FC236}">
                <a16:creationId xmlns:a16="http://schemas.microsoft.com/office/drawing/2014/main" id="{71909DF2-DF2C-0BC3-520A-F27A791BB30C}"/>
              </a:ext>
            </a:extLst>
          </p:cNvPr>
          <p:cNvPicPr>
            <a:picLocks noChangeAspect="1"/>
          </p:cNvPicPr>
          <p:nvPr/>
        </p:nvPicPr>
        <p:blipFill>
          <a:blip r:embed="rId75"/>
          <a:stretch>
            <a:fillRect/>
          </a:stretch>
        </p:blipFill>
        <p:spPr>
          <a:xfrm>
            <a:off x="12766082" y="1131539"/>
            <a:ext cx="1579638" cy="582560"/>
          </a:xfrm>
          <a:prstGeom prst="rect">
            <a:avLst/>
          </a:prstGeom>
        </p:spPr>
      </p:pic>
    </p:spTree>
    <p:extLst>
      <p:ext uri="{BB962C8B-B14F-4D97-AF65-F5344CB8AC3E}">
        <p14:creationId xmlns:p14="http://schemas.microsoft.com/office/powerpoint/2010/main" val="3753051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48375"/>
            <a:ext cx="13258800" cy="1417635"/>
          </a:xfrm>
        </p:spPr>
        <p:txBody>
          <a:bodyPr>
            <a:normAutofit/>
          </a:bodyPr>
          <a:lstStyle/>
          <a:p>
            <a:r>
              <a:rPr lang="en-GB" sz="3200" dirty="0"/>
              <a:t>Trading </a:t>
            </a:r>
            <a:r>
              <a:rPr lang="en-GB" sz="3400" dirty="0"/>
              <a:t>Partner</a:t>
            </a:r>
            <a:r>
              <a:rPr lang="en-GB" sz="3200" dirty="0"/>
              <a:t> EDI Integration for Mission-critical Processes</a:t>
            </a:r>
          </a:p>
        </p:txBody>
      </p:sp>
      <p:sp>
        <p:nvSpPr>
          <p:cNvPr id="25" name="Rectangle 24">
            <a:extLst>
              <a:ext uri="{FF2B5EF4-FFF2-40B4-BE49-F238E27FC236}">
                <a16:creationId xmlns:a16="http://schemas.microsoft.com/office/drawing/2014/main" id="{EC794A5E-85F1-47A9-A4A6-9D8BCDAF0250}"/>
              </a:ext>
            </a:extLst>
          </p:cNvPr>
          <p:cNvSpPr/>
          <p:nvPr/>
        </p:nvSpPr>
        <p:spPr>
          <a:xfrm>
            <a:off x="11842874" y="1814351"/>
            <a:ext cx="2364083" cy="4269949"/>
          </a:xfrm>
          <a:prstGeom prst="rect">
            <a:avLst/>
          </a:prstGeom>
          <a:noFill/>
          <a:ln w="38100">
            <a:solidFill>
              <a:schemeClr val="bg1">
                <a:lumMod val="8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41" name="TextBox 40">
            <a:extLst>
              <a:ext uri="{FF2B5EF4-FFF2-40B4-BE49-F238E27FC236}">
                <a16:creationId xmlns:a16="http://schemas.microsoft.com/office/drawing/2014/main" id="{D648BFE2-0E15-4CA1-91B9-F9DE6A247CD6}"/>
              </a:ext>
            </a:extLst>
          </p:cNvPr>
          <p:cNvSpPr txBox="1"/>
          <p:nvPr/>
        </p:nvSpPr>
        <p:spPr>
          <a:xfrm>
            <a:off x="2315582" y="1848663"/>
            <a:ext cx="2030284" cy="707886"/>
          </a:xfrm>
          <a:prstGeom prst="rect">
            <a:avLst/>
          </a:prstGeom>
          <a:noFill/>
        </p:spPr>
        <p:txBody>
          <a:bodyPr wrap="square" rtlCol="0">
            <a:spAutoFit/>
          </a:bodyPr>
          <a:lstStyle/>
          <a:p>
            <a:pPr algn="ctr"/>
            <a:r>
              <a:rPr lang="en-US" sz="2000" b="1" dirty="0"/>
              <a:t>Managed File Transfer</a:t>
            </a:r>
          </a:p>
        </p:txBody>
      </p:sp>
      <p:sp>
        <p:nvSpPr>
          <p:cNvPr id="42" name="Rectangle 41">
            <a:extLst>
              <a:ext uri="{FF2B5EF4-FFF2-40B4-BE49-F238E27FC236}">
                <a16:creationId xmlns:a16="http://schemas.microsoft.com/office/drawing/2014/main" id="{946391D3-A7F8-4E96-BB54-F25B8AF9F072}"/>
              </a:ext>
            </a:extLst>
          </p:cNvPr>
          <p:cNvSpPr/>
          <p:nvPr/>
        </p:nvSpPr>
        <p:spPr>
          <a:xfrm>
            <a:off x="2262335" y="1814351"/>
            <a:ext cx="2136779" cy="4269952"/>
          </a:xfrm>
          <a:prstGeom prst="rect">
            <a:avLst/>
          </a:prstGeom>
          <a:noFill/>
          <a:ln w="38100">
            <a:solidFill>
              <a:schemeClr val="bg1">
                <a:lumMod val="8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48" name="TextBox 47">
            <a:extLst>
              <a:ext uri="{FF2B5EF4-FFF2-40B4-BE49-F238E27FC236}">
                <a16:creationId xmlns:a16="http://schemas.microsoft.com/office/drawing/2014/main" id="{6AF08E5F-A112-41B3-87C0-2EFDDA0C903F}"/>
              </a:ext>
            </a:extLst>
          </p:cNvPr>
          <p:cNvSpPr txBox="1"/>
          <p:nvPr/>
        </p:nvSpPr>
        <p:spPr>
          <a:xfrm>
            <a:off x="4779076" y="1814350"/>
            <a:ext cx="6330739" cy="400110"/>
          </a:xfrm>
          <a:prstGeom prst="rect">
            <a:avLst/>
          </a:prstGeom>
          <a:noFill/>
        </p:spPr>
        <p:txBody>
          <a:bodyPr wrap="square" rtlCol="0">
            <a:spAutoFit/>
          </a:bodyPr>
          <a:lstStyle/>
          <a:p>
            <a:pPr algn="ctr"/>
            <a:r>
              <a:rPr lang="en-US" sz="2000" b="1" dirty="0"/>
              <a:t>Managed EDI</a:t>
            </a:r>
          </a:p>
        </p:txBody>
      </p:sp>
      <p:sp>
        <p:nvSpPr>
          <p:cNvPr id="53" name="Rectangle 52">
            <a:extLst>
              <a:ext uri="{FF2B5EF4-FFF2-40B4-BE49-F238E27FC236}">
                <a16:creationId xmlns:a16="http://schemas.microsoft.com/office/drawing/2014/main" id="{40AE6C68-E3F7-4CD1-95C4-CF09122C224A}"/>
              </a:ext>
            </a:extLst>
          </p:cNvPr>
          <p:cNvSpPr/>
          <p:nvPr/>
        </p:nvSpPr>
        <p:spPr>
          <a:xfrm>
            <a:off x="4769435" y="1814350"/>
            <a:ext cx="6344760" cy="4288124"/>
          </a:xfrm>
          <a:prstGeom prst="rect">
            <a:avLst/>
          </a:prstGeom>
          <a:noFill/>
          <a:ln w="38100">
            <a:solidFill>
              <a:schemeClr val="bg1">
                <a:lumMod val="8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p:nvSpPr>
        <p:spPr>
          <a:xfrm>
            <a:off x="1994668" y="1117941"/>
            <a:ext cx="9435289" cy="5192846"/>
          </a:xfrm>
          <a:prstGeom prst="rect">
            <a:avLst/>
          </a:prstGeom>
          <a:noFill/>
          <a:ln w="19050">
            <a:solidFill>
              <a:schemeClr val="tx1">
                <a:lumMod val="50000"/>
                <a:lumOff val="50000"/>
              </a:schemeClr>
            </a:solidFill>
            <a:prstDash val="dash"/>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b="1" dirty="0">
                <a:solidFill>
                  <a:srgbClr val="5F249F"/>
                </a:solidFill>
              </a:rPr>
              <a:t>Business Exchange Services</a:t>
            </a:r>
          </a:p>
          <a:p>
            <a:pPr algn="ctr"/>
            <a:endParaRPr lang="en-US" sz="2400" b="1" dirty="0">
              <a:solidFill>
                <a:srgbClr val="5F249F"/>
              </a:solidFill>
            </a:endParaRPr>
          </a:p>
          <a:p>
            <a:pPr algn="ctr"/>
            <a:endParaRPr lang="en-US" sz="2000" b="1" dirty="0">
              <a:solidFill>
                <a:srgbClr val="5F249F"/>
              </a:solidFill>
            </a:endParaRPr>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600" dirty="0"/>
          </a:p>
          <a:p>
            <a:pPr algn="ctr"/>
            <a:endParaRPr lang="en-US" sz="1800" dirty="0"/>
          </a:p>
          <a:p>
            <a:pPr algn="ctr"/>
            <a:endParaRPr lang="en-US" sz="1800" dirty="0"/>
          </a:p>
        </p:txBody>
      </p:sp>
      <p:pic>
        <p:nvPicPr>
          <p:cNvPr id="140" name="Google Shape;1428;p86">
            <a:extLst>
              <a:ext uri="{FF2B5EF4-FFF2-40B4-BE49-F238E27FC236}">
                <a16:creationId xmlns:a16="http://schemas.microsoft.com/office/drawing/2014/main" id="{02075FE7-A6EC-48C8-BD61-3F18934CE536}"/>
              </a:ext>
            </a:extLst>
          </p:cNvPr>
          <p:cNvPicPr preferRelativeResize="0"/>
          <p:nvPr/>
        </p:nvPicPr>
        <p:blipFill rotWithShape="1">
          <a:blip r:embed="rId3">
            <a:alphaModFix/>
          </a:blip>
          <a:srcRect/>
          <a:stretch/>
        </p:blipFill>
        <p:spPr>
          <a:xfrm>
            <a:off x="13133964" y="2503904"/>
            <a:ext cx="916499" cy="460872"/>
          </a:xfrm>
          <a:prstGeom prst="rect">
            <a:avLst/>
          </a:prstGeom>
          <a:noFill/>
          <a:ln>
            <a:noFill/>
          </a:ln>
        </p:spPr>
      </p:pic>
      <p:pic>
        <p:nvPicPr>
          <p:cNvPr id="143" name="Picture 142">
            <a:extLst>
              <a:ext uri="{FF2B5EF4-FFF2-40B4-BE49-F238E27FC236}">
                <a16:creationId xmlns:a16="http://schemas.microsoft.com/office/drawing/2014/main" id="{ED119E37-B5FB-4393-877C-DAB52B2B9071}"/>
              </a:ext>
            </a:extLst>
          </p:cNvPr>
          <p:cNvPicPr>
            <a:picLocks noChangeAspect="1"/>
          </p:cNvPicPr>
          <p:nvPr/>
        </p:nvPicPr>
        <p:blipFill>
          <a:blip r:embed="rId4"/>
          <a:stretch>
            <a:fillRect/>
          </a:stretch>
        </p:blipFill>
        <p:spPr>
          <a:xfrm>
            <a:off x="12808791" y="4687146"/>
            <a:ext cx="1302574" cy="331375"/>
          </a:xfrm>
          <a:prstGeom prst="rect">
            <a:avLst/>
          </a:prstGeom>
        </p:spPr>
      </p:pic>
      <p:grpSp>
        <p:nvGrpSpPr>
          <p:cNvPr id="18" name="Group 17">
            <a:extLst>
              <a:ext uri="{FF2B5EF4-FFF2-40B4-BE49-F238E27FC236}">
                <a16:creationId xmlns:a16="http://schemas.microsoft.com/office/drawing/2014/main" id="{C7C065EE-7282-4E56-B221-F3B1BBEDD604}"/>
              </a:ext>
            </a:extLst>
          </p:cNvPr>
          <p:cNvGrpSpPr/>
          <p:nvPr/>
        </p:nvGrpSpPr>
        <p:grpSpPr>
          <a:xfrm>
            <a:off x="11829278" y="2068484"/>
            <a:ext cx="1236742" cy="1055987"/>
            <a:chOff x="11829278" y="1994053"/>
            <a:chExt cx="1236742" cy="1055987"/>
          </a:xfrm>
        </p:grpSpPr>
        <p:sp>
          <p:nvSpPr>
            <p:cNvPr id="63" name="TextBox 62">
              <a:extLst>
                <a:ext uri="{FF2B5EF4-FFF2-40B4-BE49-F238E27FC236}">
                  <a16:creationId xmlns:a16="http://schemas.microsoft.com/office/drawing/2014/main" id="{8F5E752A-649A-4389-ACD3-904C82C12928}"/>
                </a:ext>
              </a:extLst>
            </p:cNvPr>
            <p:cNvSpPr txBox="1"/>
            <p:nvPr/>
          </p:nvSpPr>
          <p:spPr>
            <a:xfrm>
              <a:off x="11829278" y="2742263"/>
              <a:ext cx="1236742" cy="307777"/>
            </a:xfrm>
            <a:prstGeom prst="rect">
              <a:avLst/>
            </a:prstGeom>
            <a:noFill/>
          </p:spPr>
          <p:txBody>
            <a:bodyPr wrap="square" rtlCol="0">
              <a:spAutoFit/>
            </a:bodyPr>
            <a:lstStyle/>
            <a:p>
              <a:pPr algn="ctr"/>
              <a:r>
                <a:rPr lang="en-US" sz="1400" dirty="0"/>
                <a:t>Data Stores</a:t>
              </a:r>
            </a:p>
          </p:txBody>
        </p:sp>
        <p:pic>
          <p:nvPicPr>
            <p:cNvPr id="56" name="Graphic 55">
              <a:extLst>
                <a:ext uri="{FF2B5EF4-FFF2-40B4-BE49-F238E27FC236}">
                  <a16:creationId xmlns:a16="http://schemas.microsoft.com/office/drawing/2014/main" id="{A179BA6A-5710-452A-9FCD-354D128731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32027" y="1994053"/>
              <a:ext cx="641323" cy="748210"/>
            </a:xfrm>
            <a:prstGeom prst="rect">
              <a:avLst/>
            </a:prstGeom>
          </p:spPr>
        </p:pic>
      </p:grpSp>
      <p:sp>
        <p:nvSpPr>
          <p:cNvPr id="70" name="Rectangle 69">
            <a:extLst>
              <a:ext uri="{FF2B5EF4-FFF2-40B4-BE49-F238E27FC236}">
                <a16:creationId xmlns:a16="http://schemas.microsoft.com/office/drawing/2014/main" id="{50EDCE0B-E886-44F9-AE50-ED8448FA8631}"/>
              </a:ext>
            </a:extLst>
          </p:cNvPr>
          <p:cNvSpPr/>
          <p:nvPr/>
        </p:nvSpPr>
        <p:spPr>
          <a:xfrm>
            <a:off x="7275605" y="3506368"/>
            <a:ext cx="1197720" cy="1197720"/>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GB" sz="1800"/>
          </a:p>
        </p:txBody>
      </p:sp>
      <p:sp>
        <p:nvSpPr>
          <p:cNvPr id="71" name="TextBox 70">
            <a:extLst>
              <a:ext uri="{FF2B5EF4-FFF2-40B4-BE49-F238E27FC236}">
                <a16:creationId xmlns:a16="http://schemas.microsoft.com/office/drawing/2014/main" id="{5C451BD6-B8CE-4FEE-B34E-D3884EBDE7FA}"/>
              </a:ext>
            </a:extLst>
          </p:cNvPr>
          <p:cNvSpPr txBox="1"/>
          <p:nvPr/>
        </p:nvSpPr>
        <p:spPr>
          <a:xfrm>
            <a:off x="7890657" y="2508679"/>
            <a:ext cx="1570789" cy="584775"/>
          </a:xfrm>
          <a:prstGeom prst="rect">
            <a:avLst/>
          </a:prstGeom>
          <a:noFill/>
        </p:spPr>
        <p:txBody>
          <a:bodyPr wrap="square" rtlCol="0">
            <a:spAutoFit/>
          </a:bodyPr>
          <a:lstStyle/>
          <a:p>
            <a:pPr algn="ctr"/>
            <a:r>
              <a:rPr lang="en-US" sz="1600" b="1" dirty="0"/>
              <a:t>Any-to-any Translation</a:t>
            </a:r>
          </a:p>
        </p:txBody>
      </p:sp>
      <p:sp>
        <p:nvSpPr>
          <p:cNvPr id="73" name="TextBox 72">
            <a:extLst>
              <a:ext uri="{FF2B5EF4-FFF2-40B4-BE49-F238E27FC236}">
                <a16:creationId xmlns:a16="http://schemas.microsoft.com/office/drawing/2014/main" id="{41293AED-0327-4203-841A-DC297DB83062}"/>
              </a:ext>
            </a:extLst>
          </p:cNvPr>
          <p:cNvSpPr txBox="1"/>
          <p:nvPr/>
        </p:nvSpPr>
        <p:spPr>
          <a:xfrm>
            <a:off x="7852240" y="5018521"/>
            <a:ext cx="1758688" cy="584775"/>
          </a:xfrm>
          <a:prstGeom prst="rect">
            <a:avLst/>
          </a:prstGeom>
          <a:noFill/>
        </p:spPr>
        <p:txBody>
          <a:bodyPr wrap="square" rtlCol="0">
            <a:spAutoFit/>
          </a:bodyPr>
          <a:lstStyle/>
          <a:p>
            <a:pPr algn="ctr"/>
            <a:r>
              <a:rPr lang="en-US" sz="1600" b="1" dirty="0"/>
              <a:t>Mapping Factory</a:t>
            </a:r>
          </a:p>
        </p:txBody>
      </p:sp>
      <p:sp>
        <p:nvSpPr>
          <p:cNvPr id="74" name="TextBox 73">
            <a:extLst>
              <a:ext uri="{FF2B5EF4-FFF2-40B4-BE49-F238E27FC236}">
                <a16:creationId xmlns:a16="http://schemas.microsoft.com/office/drawing/2014/main" id="{58CD8C91-08B3-415F-99E7-416BEA1840D5}"/>
              </a:ext>
            </a:extLst>
          </p:cNvPr>
          <p:cNvSpPr txBox="1"/>
          <p:nvPr/>
        </p:nvSpPr>
        <p:spPr>
          <a:xfrm>
            <a:off x="8950926" y="3438169"/>
            <a:ext cx="1599938" cy="338554"/>
          </a:xfrm>
          <a:prstGeom prst="rect">
            <a:avLst/>
          </a:prstGeom>
          <a:noFill/>
        </p:spPr>
        <p:txBody>
          <a:bodyPr wrap="square" rtlCol="0">
            <a:spAutoFit/>
          </a:bodyPr>
          <a:lstStyle/>
          <a:p>
            <a:pPr algn="ctr"/>
            <a:r>
              <a:rPr lang="en-US" sz="1600" b="1" dirty="0"/>
              <a:t>Split &amp; Merge</a:t>
            </a:r>
          </a:p>
        </p:txBody>
      </p:sp>
      <p:sp>
        <p:nvSpPr>
          <p:cNvPr id="75" name="TextBox 74">
            <a:extLst>
              <a:ext uri="{FF2B5EF4-FFF2-40B4-BE49-F238E27FC236}">
                <a16:creationId xmlns:a16="http://schemas.microsoft.com/office/drawing/2014/main" id="{D1F09331-53FD-48C0-86B0-D3FD583DD54D}"/>
              </a:ext>
            </a:extLst>
          </p:cNvPr>
          <p:cNvSpPr txBox="1"/>
          <p:nvPr/>
        </p:nvSpPr>
        <p:spPr>
          <a:xfrm>
            <a:off x="5108436" y="3636022"/>
            <a:ext cx="1924354" cy="830997"/>
          </a:xfrm>
          <a:prstGeom prst="rect">
            <a:avLst/>
          </a:prstGeom>
          <a:noFill/>
        </p:spPr>
        <p:txBody>
          <a:bodyPr wrap="square" rtlCol="0">
            <a:spAutoFit/>
          </a:bodyPr>
          <a:lstStyle/>
          <a:p>
            <a:pPr algn="ctr"/>
            <a:r>
              <a:rPr lang="en-US" sz="1600" b="1" dirty="0"/>
              <a:t>Smart Validation – Auto Exceptions</a:t>
            </a:r>
          </a:p>
        </p:txBody>
      </p:sp>
      <p:sp>
        <p:nvSpPr>
          <p:cNvPr id="76" name="TextBox 75">
            <a:extLst>
              <a:ext uri="{FF2B5EF4-FFF2-40B4-BE49-F238E27FC236}">
                <a16:creationId xmlns:a16="http://schemas.microsoft.com/office/drawing/2014/main" id="{082DD5C0-1FCC-4A45-9123-34FBCE582E20}"/>
              </a:ext>
            </a:extLst>
          </p:cNvPr>
          <p:cNvSpPr txBox="1"/>
          <p:nvPr/>
        </p:nvSpPr>
        <p:spPr>
          <a:xfrm>
            <a:off x="6158018" y="4937040"/>
            <a:ext cx="1399462" cy="584775"/>
          </a:xfrm>
          <a:prstGeom prst="rect">
            <a:avLst/>
          </a:prstGeom>
          <a:noFill/>
        </p:spPr>
        <p:txBody>
          <a:bodyPr wrap="square" rtlCol="0">
            <a:spAutoFit/>
          </a:bodyPr>
          <a:lstStyle/>
          <a:p>
            <a:pPr algn="ctr"/>
            <a:r>
              <a:rPr lang="en-US" sz="1600" b="1" dirty="0"/>
              <a:t>Cloud Scalable</a:t>
            </a:r>
          </a:p>
        </p:txBody>
      </p:sp>
      <p:sp>
        <p:nvSpPr>
          <p:cNvPr id="77" name="TextBox 76">
            <a:extLst>
              <a:ext uri="{FF2B5EF4-FFF2-40B4-BE49-F238E27FC236}">
                <a16:creationId xmlns:a16="http://schemas.microsoft.com/office/drawing/2014/main" id="{C86FADE4-D166-4D4D-9E19-9D308E534583}"/>
              </a:ext>
            </a:extLst>
          </p:cNvPr>
          <p:cNvSpPr txBox="1"/>
          <p:nvPr/>
        </p:nvSpPr>
        <p:spPr>
          <a:xfrm>
            <a:off x="8974760" y="4137349"/>
            <a:ext cx="1599938" cy="584775"/>
          </a:xfrm>
          <a:prstGeom prst="rect">
            <a:avLst/>
          </a:prstGeom>
          <a:noFill/>
        </p:spPr>
        <p:txBody>
          <a:bodyPr wrap="square" rtlCol="0">
            <a:spAutoFit/>
          </a:bodyPr>
          <a:lstStyle/>
          <a:p>
            <a:pPr algn="ctr"/>
            <a:r>
              <a:rPr lang="en-US" sz="1600" b="1" dirty="0"/>
              <a:t>Pre/Post Processing</a:t>
            </a:r>
          </a:p>
        </p:txBody>
      </p:sp>
      <p:grpSp>
        <p:nvGrpSpPr>
          <p:cNvPr id="15" name="Group 14">
            <a:extLst>
              <a:ext uri="{FF2B5EF4-FFF2-40B4-BE49-F238E27FC236}">
                <a16:creationId xmlns:a16="http://schemas.microsoft.com/office/drawing/2014/main" id="{A18982DC-C497-402D-A018-0F48D0BB6E1E}"/>
              </a:ext>
            </a:extLst>
          </p:cNvPr>
          <p:cNvGrpSpPr/>
          <p:nvPr/>
        </p:nvGrpSpPr>
        <p:grpSpPr>
          <a:xfrm>
            <a:off x="1634952" y="2213843"/>
            <a:ext cx="548640" cy="3613807"/>
            <a:chOff x="1581944" y="2213843"/>
            <a:chExt cx="548640" cy="3613807"/>
          </a:xfrm>
        </p:grpSpPr>
        <p:cxnSp>
          <p:nvCxnSpPr>
            <p:cNvPr id="6" name="Straight Connector 5">
              <a:extLst>
                <a:ext uri="{FF2B5EF4-FFF2-40B4-BE49-F238E27FC236}">
                  <a16:creationId xmlns:a16="http://schemas.microsoft.com/office/drawing/2014/main" id="{B0520C4F-B006-4A55-9F7A-FD3212B3AEF2}"/>
                </a:ext>
              </a:extLst>
            </p:cNvPr>
            <p:cNvCxnSpPr>
              <a:cxnSpLocks/>
            </p:cNvCxnSpPr>
            <p:nvPr/>
          </p:nvCxnSpPr>
          <p:spPr>
            <a:xfrm>
              <a:off x="1581944" y="5827650"/>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EBA31574-DAA1-46CF-B732-D199E1E578A4}"/>
                </a:ext>
              </a:extLst>
            </p:cNvPr>
            <p:cNvCxnSpPr>
              <a:cxnSpLocks/>
            </p:cNvCxnSpPr>
            <p:nvPr/>
          </p:nvCxnSpPr>
          <p:spPr>
            <a:xfrm>
              <a:off x="1581944" y="462068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5AE7B2EF-B0A8-489F-8A3E-4D052DF52164}"/>
                </a:ext>
              </a:extLst>
            </p:cNvPr>
            <p:cNvCxnSpPr>
              <a:cxnSpLocks/>
            </p:cNvCxnSpPr>
            <p:nvPr/>
          </p:nvCxnSpPr>
          <p:spPr>
            <a:xfrm>
              <a:off x="1581944" y="3411282"/>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E3DADD13-F320-4E82-A239-F17E6FCC2ECB}"/>
                </a:ext>
              </a:extLst>
            </p:cNvPr>
            <p:cNvCxnSpPr>
              <a:cxnSpLocks/>
            </p:cNvCxnSpPr>
            <p:nvPr/>
          </p:nvCxnSpPr>
          <p:spPr>
            <a:xfrm>
              <a:off x="1581944" y="221384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grpSp>
      <p:grpSp>
        <p:nvGrpSpPr>
          <p:cNvPr id="16" name="Group 15">
            <a:extLst>
              <a:ext uri="{FF2B5EF4-FFF2-40B4-BE49-F238E27FC236}">
                <a16:creationId xmlns:a16="http://schemas.microsoft.com/office/drawing/2014/main" id="{E07E2BF1-F214-42C4-BC2B-628DFD9330B4}"/>
              </a:ext>
            </a:extLst>
          </p:cNvPr>
          <p:cNvGrpSpPr/>
          <p:nvPr/>
        </p:nvGrpSpPr>
        <p:grpSpPr>
          <a:xfrm>
            <a:off x="11214866" y="2213843"/>
            <a:ext cx="548640" cy="3613807"/>
            <a:chOff x="11201614" y="2213843"/>
            <a:chExt cx="548640" cy="3613807"/>
          </a:xfrm>
        </p:grpSpPr>
        <p:cxnSp>
          <p:nvCxnSpPr>
            <p:cNvPr id="84" name="Straight Connector 83">
              <a:extLst>
                <a:ext uri="{FF2B5EF4-FFF2-40B4-BE49-F238E27FC236}">
                  <a16:creationId xmlns:a16="http://schemas.microsoft.com/office/drawing/2014/main" id="{864E8876-E9CD-4451-9D87-5EC56B93EC54}"/>
                </a:ext>
              </a:extLst>
            </p:cNvPr>
            <p:cNvCxnSpPr>
              <a:cxnSpLocks/>
            </p:cNvCxnSpPr>
            <p:nvPr/>
          </p:nvCxnSpPr>
          <p:spPr>
            <a:xfrm>
              <a:off x="11201614" y="5827650"/>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493DC97E-E8C1-46FB-816E-095FF7B65568}"/>
                </a:ext>
              </a:extLst>
            </p:cNvPr>
            <p:cNvCxnSpPr>
              <a:cxnSpLocks/>
            </p:cNvCxnSpPr>
            <p:nvPr/>
          </p:nvCxnSpPr>
          <p:spPr>
            <a:xfrm>
              <a:off x="11201614" y="462068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CB7E7046-3120-4FD1-9F1A-57F47AC9FD1C}"/>
                </a:ext>
              </a:extLst>
            </p:cNvPr>
            <p:cNvCxnSpPr>
              <a:cxnSpLocks/>
            </p:cNvCxnSpPr>
            <p:nvPr/>
          </p:nvCxnSpPr>
          <p:spPr>
            <a:xfrm>
              <a:off x="11201614" y="3411282"/>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BA851901-966C-433B-ACF7-55F66C992879}"/>
                </a:ext>
              </a:extLst>
            </p:cNvPr>
            <p:cNvCxnSpPr>
              <a:cxnSpLocks/>
            </p:cNvCxnSpPr>
            <p:nvPr/>
          </p:nvCxnSpPr>
          <p:spPr>
            <a:xfrm>
              <a:off x="11201614" y="221384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grpSp>
      <p:cxnSp>
        <p:nvCxnSpPr>
          <p:cNvPr id="90" name="Straight Connector 89">
            <a:extLst>
              <a:ext uri="{FF2B5EF4-FFF2-40B4-BE49-F238E27FC236}">
                <a16:creationId xmlns:a16="http://schemas.microsoft.com/office/drawing/2014/main" id="{6E22078D-A5DF-4149-A139-5A3D3F02CF8B}"/>
              </a:ext>
            </a:extLst>
          </p:cNvPr>
          <p:cNvCxnSpPr>
            <a:cxnSpLocks/>
          </p:cNvCxnSpPr>
          <p:nvPr/>
        </p:nvCxnSpPr>
        <p:spPr>
          <a:xfrm>
            <a:off x="4303781" y="5827650"/>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9611089B-58D7-4140-854E-F46D518A964C}"/>
              </a:ext>
            </a:extLst>
          </p:cNvPr>
          <p:cNvCxnSpPr>
            <a:cxnSpLocks/>
          </p:cNvCxnSpPr>
          <p:nvPr/>
        </p:nvCxnSpPr>
        <p:spPr>
          <a:xfrm>
            <a:off x="4303781" y="462068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BB4F3543-9F45-4B16-8A44-B50DF8E8478D}"/>
              </a:ext>
            </a:extLst>
          </p:cNvPr>
          <p:cNvCxnSpPr>
            <a:cxnSpLocks/>
          </p:cNvCxnSpPr>
          <p:nvPr/>
        </p:nvCxnSpPr>
        <p:spPr>
          <a:xfrm>
            <a:off x="4303781" y="3411282"/>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4DEFA7B9-AD9A-4537-B559-0C276CB52C73}"/>
              </a:ext>
            </a:extLst>
          </p:cNvPr>
          <p:cNvCxnSpPr>
            <a:cxnSpLocks/>
          </p:cNvCxnSpPr>
          <p:nvPr/>
        </p:nvCxnSpPr>
        <p:spPr>
          <a:xfrm>
            <a:off x="4303781" y="2213843"/>
            <a:ext cx="548640" cy="0"/>
          </a:xfrm>
          <a:prstGeom prst="line">
            <a:avLst/>
          </a:prstGeom>
          <a:ln w="6350" cap="sq">
            <a:solidFill>
              <a:schemeClr val="tx1">
                <a:lumMod val="65000"/>
                <a:lumOff val="35000"/>
              </a:schemeClr>
            </a:solidFill>
            <a:headEnd type="oval"/>
            <a:tailEnd type="oval"/>
          </a:ln>
        </p:spPr>
        <p:style>
          <a:lnRef idx="1">
            <a:schemeClr val="accent1"/>
          </a:lnRef>
          <a:fillRef idx="0">
            <a:schemeClr val="accent1"/>
          </a:fillRef>
          <a:effectRef idx="0">
            <a:schemeClr val="accent1"/>
          </a:effectRef>
          <a:fontRef idx="minor">
            <a:schemeClr val="lt1"/>
          </a:fontRef>
        </p:style>
      </p:cxnSp>
      <p:grpSp>
        <p:nvGrpSpPr>
          <p:cNvPr id="5" name="Group 4">
            <a:extLst>
              <a:ext uri="{FF2B5EF4-FFF2-40B4-BE49-F238E27FC236}">
                <a16:creationId xmlns:a16="http://schemas.microsoft.com/office/drawing/2014/main" id="{8C40488D-34E8-45B4-9C97-BB30AF4DA4BF}"/>
              </a:ext>
            </a:extLst>
          </p:cNvPr>
          <p:cNvGrpSpPr/>
          <p:nvPr/>
        </p:nvGrpSpPr>
        <p:grpSpPr>
          <a:xfrm>
            <a:off x="406336" y="5458154"/>
            <a:ext cx="1236742" cy="933926"/>
            <a:chOff x="406336" y="5458154"/>
            <a:chExt cx="1236742" cy="933926"/>
          </a:xfrm>
        </p:grpSpPr>
        <p:pic>
          <p:nvPicPr>
            <p:cNvPr id="69" name="Graphic 68">
              <a:extLst>
                <a:ext uri="{FF2B5EF4-FFF2-40B4-BE49-F238E27FC236}">
                  <a16:creationId xmlns:a16="http://schemas.microsoft.com/office/drawing/2014/main" id="{276B4397-70CF-4B29-95FB-036D68D873B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3356" y="5458154"/>
              <a:ext cx="727141" cy="626149"/>
            </a:xfrm>
            <a:prstGeom prst="rect">
              <a:avLst/>
            </a:prstGeom>
          </p:spPr>
        </p:pic>
        <p:sp>
          <p:nvSpPr>
            <p:cNvPr id="79" name="TextBox 78">
              <a:extLst>
                <a:ext uri="{FF2B5EF4-FFF2-40B4-BE49-F238E27FC236}">
                  <a16:creationId xmlns:a16="http://schemas.microsoft.com/office/drawing/2014/main" id="{C9F5ECBA-200D-4903-837B-A42022A3CB20}"/>
                </a:ext>
              </a:extLst>
            </p:cNvPr>
            <p:cNvSpPr txBox="1"/>
            <p:nvPr/>
          </p:nvSpPr>
          <p:spPr>
            <a:xfrm>
              <a:off x="406336" y="6084303"/>
              <a:ext cx="1236742" cy="307777"/>
            </a:xfrm>
            <a:prstGeom prst="rect">
              <a:avLst/>
            </a:prstGeom>
            <a:noFill/>
          </p:spPr>
          <p:txBody>
            <a:bodyPr wrap="square" rtlCol="0">
              <a:spAutoFit/>
            </a:bodyPr>
            <a:lstStyle/>
            <a:p>
              <a:pPr algn="ctr"/>
              <a:r>
                <a:rPr lang="en-US" sz="1400" b="1" dirty="0"/>
                <a:t>Banks</a:t>
              </a:r>
            </a:p>
          </p:txBody>
        </p:sp>
      </p:grpSp>
      <p:pic>
        <p:nvPicPr>
          <p:cNvPr id="80" name="Graphic 79">
            <a:extLst>
              <a:ext uri="{FF2B5EF4-FFF2-40B4-BE49-F238E27FC236}">
                <a16:creationId xmlns:a16="http://schemas.microsoft.com/office/drawing/2014/main" id="{AA9265C7-C8C4-4746-A325-87CD037689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6117" y="1925537"/>
            <a:ext cx="712462" cy="554137"/>
          </a:xfrm>
          <a:prstGeom prst="rect">
            <a:avLst/>
          </a:prstGeom>
        </p:spPr>
      </p:pic>
      <p:sp>
        <p:nvSpPr>
          <p:cNvPr id="81" name="TextBox 80">
            <a:extLst>
              <a:ext uri="{FF2B5EF4-FFF2-40B4-BE49-F238E27FC236}">
                <a16:creationId xmlns:a16="http://schemas.microsoft.com/office/drawing/2014/main" id="{2D8BF981-501B-4632-96A4-163758811626}"/>
              </a:ext>
            </a:extLst>
          </p:cNvPr>
          <p:cNvSpPr txBox="1"/>
          <p:nvPr/>
        </p:nvSpPr>
        <p:spPr>
          <a:xfrm>
            <a:off x="364055" y="2509836"/>
            <a:ext cx="1236742" cy="307777"/>
          </a:xfrm>
          <a:prstGeom prst="rect">
            <a:avLst/>
          </a:prstGeom>
          <a:noFill/>
        </p:spPr>
        <p:txBody>
          <a:bodyPr wrap="square" rtlCol="0">
            <a:spAutoFit/>
          </a:bodyPr>
          <a:lstStyle/>
          <a:p>
            <a:pPr algn="ctr"/>
            <a:r>
              <a:rPr lang="en-US" sz="1400" b="1" dirty="0"/>
              <a:t>VAN</a:t>
            </a:r>
          </a:p>
        </p:txBody>
      </p:sp>
      <p:pic>
        <p:nvPicPr>
          <p:cNvPr id="82" name="Graphic 81">
            <a:extLst>
              <a:ext uri="{FF2B5EF4-FFF2-40B4-BE49-F238E27FC236}">
                <a16:creationId xmlns:a16="http://schemas.microsoft.com/office/drawing/2014/main" id="{94D00987-8E7D-40FB-ADA0-5628BD21A2A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0879" y="4281232"/>
            <a:ext cx="647700" cy="685800"/>
          </a:xfrm>
          <a:prstGeom prst="rect">
            <a:avLst/>
          </a:prstGeom>
        </p:spPr>
      </p:pic>
      <p:sp>
        <p:nvSpPr>
          <p:cNvPr id="83" name="TextBox 82">
            <a:extLst>
              <a:ext uri="{FF2B5EF4-FFF2-40B4-BE49-F238E27FC236}">
                <a16:creationId xmlns:a16="http://schemas.microsoft.com/office/drawing/2014/main" id="{491464DA-3CDE-4C42-BD25-029FCC43FA21}"/>
              </a:ext>
            </a:extLst>
          </p:cNvPr>
          <p:cNvSpPr txBox="1"/>
          <p:nvPr/>
        </p:nvSpPr>
        <p:spPr>
          <a:xfrm>
            <a:off x="353977" y="4933864"/>
            <a:ext cx="1236742" cy="307777"/>
          </a:xfrm>
          <a:prstGeom prst="rect">
            <a:avLst/>
          </a:prstGeom>
          <a:noFill/>
        </p:spPr>
        <p:txBody>
          <a:bodyPr wrap="square" rtlCol="0">
            <a:spAutoFit/>
          </a:bodyPr>
          <a:lstStyle/>
          <a:p>
            <a:pPr algn="ctr"/>
            <a:r>
              <a:rPr lang="en-US" sz="1400" b="1" dirty="0"/>
              <a:t>Suppliers</a:t>
            </a:r>
          </a:p>
        </p:txBody>
      </p:sp>
      <p:pic>
        <p:nvPicPr>
          <p:cNvPr id="94" name="Graphic 93">
            <a:extLst>
              <a:ext uri="{FF2B5EF4-FFF2-40B4-BE49-F238E27FC236}">
                <a16:creationId xmlns:a16="http://schemas.microsoft.com/office/drawing/2014/main" id="{8A0AC5FC-BF74-4274-B1E8-FAF7E346A73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80879" y="3067865"/>
            <a:ext cx="665221" cy="633544"/>
          </a:xfrm>
          <a:prstGeom prst="rect">
            <a:avLst/>
          </a:prstGeom>
        </p:spPr>
      </p:pic>
      <p:sp>
        <p:nvSpPr>
          <p:cNvPr id="95" name="TextBox 94">
            <a:extLst>
              <a:ext uri="{FF2B5EF4-FFF2-40B4-BE49-F238E27FC236}">
                <a16:creationId xmlns:a16="http://schemas.microsoft.com/office/drawing/2014/main" id="{EA627771-1BCD-4357-A9CF-319BF9C5972F}"/>
              </a:ext>
            </a:extLst>
          </p:cNvPr>
          <p:cNvSpPr txBox="1"/>
          <p:nvPr/>
        </p:nvSpPr>
        <p:spPr>
          <a:xfrm>
            <a:off x="387945" y="3714364"/>
            <a:ext cx="1236742" cy="307777"/>
          </a:xfrm>
          <a:prstGeom prst="rect">
            <a:avLst/>
          </a:prstGeom>
          <a:noFill/>
        </p:spPr>
        <p:txBody>
          <a:bodyPr wrap="square" rtlCol="0">
            <a:spAutoFit/>
          </a:bodyPr>
          <a:lstStyle/>
          <a:p>
            <a:pPr algn="ctr"/>
            <a:r>
              <a:rPr lang="en-US" sz="1400" b="1" dirty="0"/>
              <a:t>Customers</a:t>
            </a:r>
          </a:p>
        </p:txBody>
      </p:sp>
      <p:pic>
        <p:nvPicPr>
          <p:cNvPr id="96" name="Graphic 95">
            <a:extLst>
              <a:ext uri="{FF2B5EF4-FFF2-40B4-BE49-F238E27FC236}">
                <a16:creationId xmlns:a16="http://schemas.microsoft.com/office/drawing/2014/main" id="{F3D13ADE-92EC-4196-A3F7-E0088CA9150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667929" y="2836893"/>
            <a:ext cx="419100" cy="419100"/>
          </a:xfrm>
          <a:prstGeom prst="rect">
            <a:avLst/>
          </a:prstGeom>
        </p:spPr>
      </p:pic>
      <p:pic>
        <p:nvPicPr>
          <p:cNvPr id="97" name="Picture 96">
            <a:extLst>
              <a:ext uri="{FF2B5EF4-FFF2-40B4-BE49-F238E27FC236}">
                <a16:creationId xmlns:a16="http://schemas.microsoft.com/office/drawing/2014/main" id="{B1E95622-2C97-40C5-AA71-D0B476CEC6CB}"/>
              </a:ext>
            </a:extLst>
          </p:cNvPr>
          <p:cNvPicPr>
            <a:picLocks noChangeAspect="1"/>
          </p:cNvPicPr>
          <p:nvPr/>
        </p:nvPicPr>
        <p:blipFill>
          <a:blip r:embed="rId17"/>
          <a:stretch>
            <a:fillRect/>
          </a:stretch>
        </p:blipFill>
        <p:spPr>
          <a:xfrm>
            <a:off x="9001905" y="6719506"/>
            <a:ext cx="1406185" cy="517325"/>
          </a:xfrm>
          <a:prstGeom prst="rect">
            <a:avLst/>
          </a:prstGeom>
        </p:spPr>
      </p:pic>
      <p:pic>
        <p:nvPicPr>
          <p:cNvPr id="98" name="Picture 97">
            <a:extLst>
              <a:ext uri="{FF2B5EF4-FFF2-40B4-BE49-F238E27FC236}">
                <a16:creationId xmlns:a16="http://schemas.microsoft.com/office/drawing/2014/main" id="{26C85ACC-BB66-4495-A217-EC4E94BAC87E}"/>
              </a:ext>
            </a:extLst>
          </p:cNvPr>
          <p:cNvPicPr>
            <a:picLocks noChangeAspect="1"/>
          </p:cNvPicPr>
          <p:nvPr/>
        </p:nvPicPr>
        <p:blipFill>
          <a:blip r:embed="rId18"/>
          <a:stretch>
            <a:fillRect/>
          </a:stretch>
        </p:blipFill>
        <p:spPr>
          <a:xfrm>
            <a:off x="6641005" y="6807473"/>
            <a:ext cx="1773752" cy="370875"/>
          </a:xfrm>
          <a:prstGeom prst="rect">
            <a:avLst/>
          </a:prstGeom>
        </p:spPr>
      </p:pic>
      <p:pic>
        <p:nvPicPr>
          <p:cNvPr id="99" name="Picture 98">
            <a:extLst>
              <a:ext uri="{FF2B5EF4-FFF2-40B4-BE49-F238E27FC236}">
                <a16:creationId xmlns:a16="http://schemas.microsoft.com/office/drawing/2014/main" id="{843312E1-1DA5-41F6-ACC8-2B445B423259}"/>
              </a:ext>
            </a:extLst>
          </p:cNvPr>
          <p:cNvPicPr>
            <a:picLocks noChangeAspect="1"/>
          </p:cNvPicPr>
          <p:nvPr/>
        </p:nvPicPr>
        <p:blipFill>
          <a:blip r:embed="rId19"/>
          <a:stretch>
            <a:fillRect/>
          </a:stretch>
        </p:blipFill>
        <p:spPr>
          <a:xfrm>
            <a:off x="4830158" y="6657453"/>
            <a:ext cx="1236742" cy="738980"/>
          </a:xfrm>
          <a:prstGeom prst="rect">
            <a:avLst/>
          </a:prstGeom>
        </p:spPr>
      </p:pic>
      <p:grpSp>
        <p:nvGrpSpPr>
          <p:cNvPr id="19" name="Group 18">
            <a:extLst>
              <a:ext uri="{FF2B5EF4-FFF2-40B4-BE49-F238E27FC236}">
                <a16:creationId xmlns:a16="http://schemas.microsoft.com/office/drawing/2014/main" id="{689EA522-DF4C-4EEB-81CD-918647FDECD0}"/>
              </a:ext>
            </a:extLst>
          </p:cNvPr>
          <p:cNvGrpSpPr/>
          <p:nvPr/>
        </p:nvGrpSpPr>
        <p:grpSpPr>
          <a:xfrm>
            <a:off x="11877150" y="3607446"/>
            <a:ext cx="1124698" cy="859573"/>
            <a:chOff x="11877150" y="3607446"/>
            <a:chExt cx="1124698" cy="859573"/>
          </a:xfrm>
        </p:grpSpPr>
        <p:sp>
          <p:nvSpPr>
            <p:cNvPr id="43" name="TextBox 42">
              <a:extLst>
                <a:ext uri="{FF2B5EF4-FFF2-40B4-BE49-F238E27FC236}">
                  <a16:creationId xmlns:a16="http://schemas.microsoft.com/office/drawing/2014/main" id="{8737E966-3CD0-4E55-AA32-B276C3D13E8F}"/>
                </a:ext>
              </a:extLst>
            </p:cNvPr>
            <p:cNvSpPr txBox="1"/>
            <p:nvPr/>
          </p:nvSpPr>
          <p:spPr>
            <a:xfrm>
              <a:off x="11877150" y="4159242"/>
              <a:ext cx="1124698" cy="307777"/>
            </a:xfrm>
            <a:prstGeom prst="rect">
              <a:avLst/>
            </a:prstGeom>
            <a:noFill/>
          </p:spPr>
          <p:txBody>
            <a:bodyPr wrap="square" rtlCol="0">
              <a:spAutoFit/>
            </a:bodyPr>
            <a:lstStyle/>
            <a:p>
              <a:pPr algn="ctr"/>
              <a:r>
                <a:rPr lang="en-US" sz="1400" dirty="0"/>
                <a:t>Middleware</a:t>
              </a:r>
            </a:p>
          </p:txBody>
        </p:sp>
        <p:pic>
          <p:nvPicPr>
            <p:cNvPr id="100" name="Graphic 99">
              <a:extLst>
                <a:ext uri="{FF2B5EF4-FFF2-40B4-BE49-F238E27FC236}">
                  <a16:creationId xmlns:a16="http://schemas.microsoft.com/office/drawing/2014/main" id="{1824EFC2-BFEC-4F28-B7B3-CBA8FB9D0230}"/>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2105657" y="3607446"/>
              <a:ext cx="601382" cy="530631"/>
            </a:xfrm>
            <a:prstGeom prst="rect">
              <a:avLst/>
            </a:prstGeom>
          </p:spPr>
        </p:pic>
      </p:grpSp>
      <p:grpSp>
        <p:nvGrpSpPr>
          <p:cNvPr id="20" name="Group 19">
            <a:extLst>
              <a:ext uri="{FF2B5EF4-FFF2-40B4-BE49-F238E27FC236}">
                <a16:creationId xmlns:a16="http://schemas.microsoft.com/office/drawing/2014/main" id="{F679138B-1FDF-4799-8F63-1998CB5D6BE6}"/>
              </a:ext>
            </a:extLst>
          </p:cNvPr>
          <p:cNvGrpSpPr/>
          <p:nvPr/>
        </p:nvGrpSpPr>
        <p:grpSpPr>
          <a:xfrm>
            <a:off x="11820318" y="5005437"/>
            <a:ext cx="1236742" cy="1001935"/>
            <a:chOff x="11788419" y="5005437"/>
            <a:chExt cx="1236742" cy="1001935"/>
          </a:xfrm>
        </p:grpSpPr>
        <p:sp>
          <p:nvSpPr>
            <p:cNvPr id="65" name="TextBox 64">
              <a:extLst>
                <a:ext uri="{FF2B5EF4-FFF2-40B4-BE49-F238E27FC236}">
                  <a16:creationId xmlns:a16="http://schemas.microsoft.com/office/drawing/2014/main" id="{4F822794-74C4-490D-9352-FD66443FA73E}"/>
                </a:ext>
              </a:extLst>
            </p:cNvPr>
            <p:cNvSpPr txBox="1"/>
            <p:nvPr/>
          </p:nvSpPr>
          <p:spPr>
            <a:xfrm>
              <a:off x="11788419" y="5699595"/>
              <a:ext cx="1236742" cy="307777"/>
            </a:xfrm>
            <a:prstGeom prst="rect">
              <a:avLst/>
            </a:prstGeom>
            <a:noFill/>
          </p:spPr>
          <p:txBody>
            <a:bodyPr wrap="square" rtlCol="0">
              <a:spAutoFit/>
            </a:bodyPr>
            <a:lstStyle/>
            <a:p>
              <a:pPr algn="ctr"/>
              <a:r>
                <a:rPr lang="en-US" sz="1400" dirty="0"/>
                <a:t>iPaaS</a:t>
              </a:r>
            </a:p>
          </p:txBody>
        </p:sp>
        <p:pic>
          <p:nvPicPr>
            <p:cNvPr id="101" name="Graphic 100">
              <a:extLst>
                <a:ext uri="{FF2B5EF4-FFF2-40B4-BE49-F238E27FC236}">
                  <a16:creationId xmlns:a16="http://schemas.microsoft.com/office/drawing/2014/main" id="{EBF2FBB0-53C4-4BCA-A328-126FB05B851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2016086" y="5005437"/>
              <a:ext cx="757264" cy="694158"/>
            </a:xfrm>
            <a:prstGeom prst="rect">
              <a:avLst/>
            </a:prstGeom>
          </p:spPr>
        </p:pic>
      </p:grpSp>
      <p:pic>
        <p:nvPicPr>
          <p:cNvPr id="17" name="Picture 16" descr="Logo&#10;&#10;Description automatically generated">
            <a:extLst>
              <a:ext uri="{FF2B5EF4-FFF2-40B4-BE49-F238E27FC236}">
                <a16:creationId xmlns:a16="http://schemas.microsoft.com/office/drawing/2014/main" id="{CA168B8A-51F8-482C-A104-FF75D0AAEAE5}"/>
              </a:ext>
            </a:extLst>
          </p:cNvPr>
          <p:cNvPicPr>
            <a:picLocks noChangeAspect="1"/>
          </p:cNvPicPr>
          <p:nvPr/>
        </p:nvPicPr>
        <p:blipFill>
          <a:blip r:embed="rId24"/>
          <a:stretch>
            <a:fillRect/>
          </a:stretch>
        </p:blipFill>
        <p:spPr>
          <a:xfrm>
            <a:off x="13070166" y="3411282"/>
            <a:ext cx="972802" cy="972802"/>
          </a:xfrm>
          <a:prstGeom prst="rect">
            <a:avLst/>
          </a:prstGeom>
        </p:spPr>
      </p:pic>
      <p:sp>
        <p:nvSpPr>
          <p:cNvPr id="103" name="TextBox 102">
            <a:extLst>
              <a:ext uri="{FF2B5EF4-FFF2-40B4-BE49-F238E27FC236}">
                <a16:creationId xmlns:a16="http://schemas.microsoft.com/office/drawing/2014/main" id="{8B089C5D-76D2-4BCD-8EE6-2447B58DBD5A}"/>
              </a:ext>
            </a:extLst>
          </p:cNvPr>
          <p:cNvSpPr txBox="1"/>
          <p:nvPr/>
        </p:nvSpPr>
        <p:spPr>
          <a:xfrm>
            <a:off x="2386852" y="2801067"/>
            <a:ext cx="1236742" cy="523220"/>
          </a:xfrm>
          <a:prstGeom prst="rect">
            <a:avLst/>
          </a:prstGeom>
          <a:noFill/>
        </p:spPr>
        <p:txBody>
          <a:bodyPr wrap="square" rtlCol="0">
            <a:spAutoFit/>
          </a:bodyPr>
          <a:lstStyle/>
          <a:p>
            <a:pPr algn="ctr"/>
            <a:r>
              <a:rPr lang="en-US" sz="1400" b="1" dirty="0"/>
              <a:t>Monitoring &amp; Support</a:t>
            </a:r>
          </a:p>
        </p:txBody>
      </p:sp>
      <p:sp>
        <p:nvSpPr>
          <p:cNvPr id="104" name="TextBox 103">
            <a:extLst>
              <a:ext uri="{FF2B5EF4-FFF2-40B4-BE49-F238E27FC236}">
                <a16:creationId xmlns:a16="http://schemas.microsoft.com/office/drawing/2014/main" id="{6FF34056-F197-4BF3-9977-B76E42016CB3}"/>
              </a:ext>
            </a:extLst>
          </p:cNvPr>
          <p:cNvSpPr txBox="1"/>
          <p:nvPr/>
        </p:nvSpPr>
        <p:spPr>
          <a:xfrm>
            <a:off x="2386852" y="3645537"/>
            <a:ext cx="1236742" cy="307777"/>
          </a:xfrm>
          <a:prstGeom prst="rect">
            <a:avLst/>
          </a:prstGeom>
          <a:noFill/>
        </p:spPr>
        <p:txBody>
          <a:bodyPr wrap="square" rtlCol="0">
            <a:spAutoFit/>
          </a:bodyPr>
          <a:lstStyle/>
          <a:p>
            <a:pPr algn="ctr"/>
            <a:r>
              <a:rPr lang="en-US" sz="1400" b="1" dirty="0"/>
              <a:t>Onboarding</a:t>
            </a:r>
          </a:p>
        </p:txBody>
      </p:sp>
      <p:pic>
        <p:nvPicPr>
          <p:cNvPr id="105" name="Graphic 104">
            <a:extLst>
              <a:ext uri="{FF2B5EF4-FFF2-40B4-BE49-F238E27FC236}">
                <a16:creationId xmlns:a16="http://schemas.microsoft.com/office/drawing/2014/main" id="{0C0E46CC-A9C7-4313-AD3E-EF7398AEA969}"/>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3633401" y="4375133"/>
            <a:ext cx="381000" cy="457200"/>
          </a:xfrm>
          <a:prstGeom prst="rect">
            <a:avLst/>
          </a:prstGeom>
        </p:spPr>
      </p:pic>
      <p:sp>
        <p:nvSpPr>
          <p:cNvPr id="106" name="TextBox 105">
            <a:extLst>
              <a:ext uri="{FF2B5EF4-FFF2-40B4-BE49-F238E27FC236}">
                <a16:creationId xmlns:a16="http://schemas.microsoft.com/office/drawing/2014/main" id="{678E6666-3589-4566-9878-7CBD938802B4}"/>
              </a:ext>
            </a:extLst>
          </p:cNvPr>
          <p:cNvSpPr txBox="1"/>
          <p:nvPr/>
        </p:nvSpPr>
        <p:spPr>
          <a:xfrm>
            <a:off x="2390981" y="4352185"/>
            <a:ext cx="1236742" cy="523220"/>
          </a:xfrm>
          <a:prstGeom prst="rect">
            <a:avLst/>
          </a:prstGeom>
          <a:noFill/>
        </p:spPr>
        <p:txBody>
          <a:bodyPr wrap="square" rtlCol="0">
            <a:spAutoFit/>
          </a:bodyPr>
          <a:lstStyle/>
          <a:p>
            <a:pPr algn="ctr"/>
            <a:r>
              <a:rPr lang="en-US" sz="1400" b="1" dirty="0"/>
              <a:t>Security Protocols</a:t>
            </a:r>
          </a:p>
        </p:txBody>
      </p:sp>
      <p:pic>
        <p:nvPicPr>
          <p:cNvPr id="107" name="Graphic 106">
            <a:extLst>
              <a:ext uri="{FF2B5EF4-FFF2-40B4-BE49-F238E27FC236}">
                <a16:creationId xmlns:a16="http://schemas.microsoft.com/office/drawing/2014/main" id="{067A9937-B26C-4917-A4C4-3BCF7AEB2A21}"/>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623594" y="3552343"/>
            <a:ext cx="431800" cy="457200"/>
          </a:xfrm>
          <a:prstGeom prst="rect">
            <a:avLst/>
          </a:prstGeom>
        </p:spPr>
      </p:pic>
      <p:pic>
        <p:nvPicPr>
          <p:cNvPr id="23" name="Picture 22" descr="Logo&#10;&#10;Description automatically generated">
            <a:extLst>
              <a:ext uri="{FF2B5EF4-FFF2-40B4-BE49-F238E27FC236}">
                <a16:creationId xmlns:a16="http://schemas.microsoft.com/office/drawing/2014/main" id="{320788E7-4D70-4FC2-A24D-0508D7470EBC}"/>
              </a:ext>
            </a:extLst>
          </p:cNvPr>
          <p:cNvPicPr>
            <a:picLocks noChangeAspect="1"/>
          </p:cNvPicPr>
          <p:nvPr/>
        </p:nvPicPr>
        <p:blipFill>
          <a:blip r:embed="rId29"/>
          <a:stretch>
            <a:fillRect/>
          </a:stretch>
        </p:blipFill>
        <p:spPr>
          <a:xfrm>
            <a:off x="2802280" y="6474130"/>
            <a:ext cx="1385645" cy="1039234"/>
          </a:xfrm>
          <a:prstGeom prst="rect">
            <a:avLst/>
          </a:prstGeom>
        </p:spPr>
      </p:pic>
      <p:sp>
        <p:nvSpPr>
          <p:cNvPr id="110" name="TextBox 109">
            <a:extLst>
              <a:ext uri="{FF2B5EF4-FFF2-40B4-BE49-F238E27FC236}">
                <a16:creationId xmlns:a16="http://schemas.microsoft.com/office/drawing/2014/main" id="{26C1691A-16FC-4AFF-8ECC-5CC52DBDF87F}"/>
              </a:ext>
            </a:extLst>
          </p:cNvPr>
          <p:cNvSpPr txBox="1"/>
          <p:nvPr/>
        </p:nvSpPr>
        <p:spPr>
          <a:xfrm>
            <a:off x="2377719" y="5164626"/>
            <a:ext cx="1271270" cy="523220"/>
          </a:xfrm>
          <a:prstGeom prst="rect">
            <a:avLst/>
          </a:prstGeom>
          <a:noFill/>
        </p:spPr>
        <p:txBody>
          <a:bodyPr wrap="square" rtlCol="0">
            <a:spAutoFit/>
          </a:bodyPr>
          <a:lstStyle/>
          <a:p>
            <a:pPr algn="ctr"/>
            <a:r>
              <a:rPr lang="en-US" sz="1400" b="1" dirty="0"/>
              <a:t>Flexible Connectivity</a:t>
            </a:r>
          </a:p>
        </p:txBody>
      </p:sp>
      <p:pic>
        <p:nvPicPr>
          <p:cNvPr id="111" name="Graphic 110">
            <a:extLst>
              <a:ext uri="{FF2B5EF4-FFF2-40B4-BE49-F238E27FC236}">
                <a16:creationId xmlns:a16="http://schemas.microsoft.com/office/drawing/2014/main" id="{B4E5949B-4D17-4EB5-902C-3CFC37335D0F}"/>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617852" y="5220855"/>
            <a:ext cx="457200" cy="406400"/>
          </a:xfrm>
          <a:prstGeom prst="rect">
            <a:avLst/>
          </a:prstGeom>
        </p:spPr>
      </p:pic>
      <p:pic>
        <p:nvPicPr>
          <p:cNvPr id="67" name="Graphic 66">
            <a:extLst>
              <a:ext uri="{FF2B5EF4-FFF2-40B4-BE49-F238E27FC236}">
                <a16:creationId xmlns:a16="http://schemas.microsoft.com/office/drawing/2014/main" id="{069CDF94-A651-4F88-978E-DFC6415EFDEA}"/>
              </a:ext>
            </a:extLst>
          </p:cNvPr>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7199322" y="3381261"/>
            <a:ext cx="1471321" cy="1471321"/>
          </a:xfrm>
          <a:prstGeom prst="rect">
            <a:avLst/>
          </a:prstGeom>
        </p:spPr>
      </p:pic>
      <p:sp>
        <p:nvSpPr>
          <p:cNvPr id="102" name="TextBox 101">
            <a:extLst>
              <a:ext uri="{FF2B5EF4-FFF2-40B4-BE49-F238E27FC236}">
                <a16:creationId xmlns:a16="http://schemas.microsoft.com/office/drawing/2014/main" id="{165F8186-27A0-4A2F-BAA0-3A95EF67E090}"/>
              </a:ext>
            </a:extLst>
          </p:cNvPr>
          <p:cNvSpPr txBox="1"/>
          <p:nvPr/>
        </p:nvSpPr>
        <p:spPr>
          <a:xfrm>
            <a:off x="5799988" y="2435167"/>
            <a:ext cx="1865387" cy="830997"/>
          </a:xfrm>
          <a:prstGeom prst="rect">
            <a:avLst/>
          </a:prstGeom>
          <a:noFill/>
        </p:spPr>
        <p:txBody>
          <a:bodyPr wrap="square" rtlCol="0">
            <a:spAutoFit/>
          </a:bodyPr>
          <a:lstStyle/>
          <a:p>
            <a:pPr algn="ctr"/>
            <a:r>
              <a:rPr lang="en-US" sz="1600" b="1" dirty="0"/>
              <a:t>Global Standards Libraries</a:t>
            </a:r>
          </a:p>
        </p:txBody>
      </p:sp>
    </p:spTree>
    <p:extLst>
      <p:ext uri="{BB962C8B-B14F-4D97-AF65-F5344CB8AC3E}">
        <p14:creationId xmlns:p14="http://schemas.microsoft.com/office/powerpoint/2010/main" val="54759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19200" y="533232"/>
            <a:ext cx="11963399" cy="782265"/>
          </a:xfrm>
          <a:prstGeom prst="rect">
            <a:avLst/>
          </a:prstGeom>
        </p:spPr>
        <p:txBody>
          <a:bodyPr vert="horz" wrap="square" lIns="0" tIns="0" rIns="0" bIns="0" rtlCol="0" anchor="t" anchorCtr="0">
            <a:spAutoFit/>
          </a:bodyPr>
          <a:lstStyle/>
          <a:p>
            <a:pPr algn="ctr">
              <a:lnSpc>
                <a:spcPts val="3935"/>
              </a:lnSpc>
            </a:pPr>
            <a:r>
              <a:rPr spc="-6" dirty="0"/>
              <a:t>BES Solutions and </a:t>
            </a:r>
            <a:r>
              <a:rPr spc="-48" dirty="0"/>
              <a:t>Value</a:t>
            </a:r>
            <a:r>
              <a:rPr spc="30" dirty="0"/>
              <a:t> </a:t>
            </a:r>
            <a:r>
              <a:rPr spc="-6" dirty="0"/>
              <a:t>Provided</a:t>
            </a:r>
          </a:p>
          <a:p>
            <a:pPr algn="ctr">
              <a:lnSpc>
                <a:spcPts val="2207"/>
              </a:lnSpc>
            </a:pPr>
            <a:r>
              <a:rPr sz="1920" u="heavy" spc="-6" dirty="0">
                <a:solidFill>
                  <a:srgbClr val="00968F"/>
                </a:solidFill>
                <a:hlinkClick r:id="rId2">
                  <a:extLst>
                    <a:ext uri="{A12FA001-AC4F-418D-AE19-62706E023703}">
                      <ahyp:hlinkClr xmlns:ahyp="http://schemas.microsoft.com/office/drawing/2018/hyperlinkcolor" val="tx"/>
                    </a:ext>
                  </a:extLst>
                </a:hlinkClick>
              </a:rPr>
              <a:t>bes-sales-support@</a:t>
            </a:r>
            <a:r>
              <a:rPr lang="en-US" sz="1920" u="heavy" spc="-6" dirty="0">
                <a:solidFill>
                  <a:srgbClr val="00968F"/>
                </a:solidFill>
                <a:hlinkClick r:id="rId2">
                  <a:extLst>
                    <a:ext uri="{A12FA001-AC4F-418D-AE19-62706E023703}">
                      <ahyp:hlinkClr xmlns:ahyp="http://schemas.microsoft.com/office/drawing/2018/hyperlinkcolor" val="tx"/>
                    </a:ext>
                  </a:extLst>
                </a:hlinkClick>
              </a:rPr>
              <a:t>dxc</a:t>
            </a:r>
            <a:r>
              <a:rPr sz="1920" u="heavy" spc="-6" dirty="0">
                <a:solidFill>
                  <a:srgbClr val="00968F"/>
                </a:solidFill>
                <a:hlinkClick r:id="rId2">
                  <a:extLst>
                    <a:ext uri="{A12FA001-AC4F-418D-AE19-62706E023703}">
                      <ahyp:hlinkClr xmlns:ahyp="http://schemas.microsoft.com/office/drawing/2018/hyperlinkcolor" val="tx"/>
                    </a:ext>
                  </a:extLst>
                </a:hlinkClick>
              </a:rPr>
              <a:t>.com</a:t>
            </a:r>
            <a:endParaRPr sz="1920" dirty="0">
              <a:solidFill>
                <a:srgbClr val="00968F"/>
              </a:solidFill>
            </a:endParaRPr>
          </a:p>
        </p:txBody>
      </p:sp>
      <p:graphicFrame>
        <p:nvGraphicFramePr>
          <p:cNvPr id="3" name="object 3"/>
          <p:cNvGraphicFramePr>
            <a:graphicFrameLocks noGrp="1"/>
          </p:cNvGraphicFramePr>
          <p:nvPr>
            <p:extLst>
              <p:ext uri="{D42A27DB-BD31-4B8C-83A1-F6EECF244321}">
                <p14:modId xmlns:p14="http://schemas.microsoft.com/office/powerpoint/2010/main" val="2091653772"/>
              </p:ext>
            </p:extLst>
          </p:nvPr>
        </p:nvGraphicFramePr>
        <p:xfrm>
          <a:off x="594337" y="1645921"/>
          <a:ext cx="13441722" cy="5714947"/>
        </p:xfrm>
        <a:graphic>
          <a:graphicData uri="http://schemas.openxmlformats.org/drawingml/2006/table">
            <a:tbl>
              <a:tblPr firstRow="1" bandRow="1">
                <a:tableStyleId>{69012ECD-51FC-41F1-AA8D-1B2483CD663E}</a:tableStyleId>
              </a:tblPr>
              <a:tblGrid>
                <a:gridCol w="2839527">
                  <a:extLst>
                    <a:ext uri="{9D8B030D-6E8A-4147-A177-3AD203B41FA5}">
                      <a16:colId xmlns:a16="http://schemas.microsoft.com/office/drawing/2014/main" val="20000"/>
                    </a:ext>
                  </a:extLst>
                </a:gridCol>
                <a:gridCol w="3558011">
                  <a:extLst>
                    <a:ext uri="{9D8B030D-6E8A-4147-A177-3AD203B41FA5}">
                      <a16:colId xmlns:a16="http://schemas.microsoft.com/office/drawing/2014/main" val="20001"/>
                    </a:ext>
                  </a:extLst>
                </a:gridCol>
                <a:gridCol w="3218954">
                  <a:extLst>
                    <a:ext uri="{9D8B030D-6E8A-4147-A177-3AD203B41FA5}">
                      <a16:colId xmlns:a16="http://schemas.microsoft.com/office/drawing/2014/main" val="20002"/>
                    </a:ext>
                  </a:extLst>
                </a:gridCol>
                <a:gridCol w="3825230">
                  <a:extLst>
                    <a:ext uri="{9D8B030D-6E8A-4147-A177-3AD203B41FA5}">
                      <a16:colId xmlns:a16="http://schemas.microsoft.com/office/drawing/2014/main" val="20003"/>
                    </a:ext>
                  </a:extLst>
                </a:gridCol>
              </a:tblGrid>
              <a:tr h="438911">
                <a:tc>
                  <a:txBody>
                    <a:bodyPr/>
                    <a:lstStyle/>
                    <a:p>
                      <a:pPr marL="699135">
                        <a:lnSpc>
                          <a:spcPct val="100000"/>
                        </a:lnSpc>
                        <a:spcBef>
                          <a:spcPts val="315"/>
                        </a:spcBef>
                      </a:pPr>
                      <a:r>
                        <a:rPr lang="en-US" sz="2200" b="1" dirty="0">
                          <a:solidFill>
                            <a:schemeClr val="bg1"/>
                          </a:solidFill>
                        </a:rPr>
                        <a:t> </a:t>
                      </a:r>
                      <a:r>
                        <a:rPr sz="2200" b="1" dirty="0">
                          <a:solidFill>
                            <a:schemeClr val="bg1"/>
                          </a:solidFill>
                        </a:rPr>
                        <a:t>Solution</a:t>
                      </a:r>
                      <a:endParaRPr sz="2200" dirty="0">
                        <a:solidFill>
                          <a:schemeClr val="bg1"/>
                        </a:solidFill>
                        <a:latin typeface="Arial"/>
                        <a:cs typeface="Arial"/>
                      </a:endParaRPr>
                    </a:p>
                  </a:txBody>
                  <a:tcPr marL="0" marR="0" marT="48006" marB="0"/>
                </a:tc>
                <a:tc>
                  <a:txBody>
                    <a:bodyPr/>
                    <a:lstStyle/>
                    <a:p>
                      <a:pPr marL="905510">
                        <a:lnSpc>
                          <a:spcPct val="100000"/>
                        </a:lnSpc>
                        <a:spcBef>
                          <a:spcPts val="315"/>
                        </a:spcBef>
                      </a:pPr>
                      <a:r>
                        <a:rPr lang="en-US" sz="2200" b="1" spc="-5" dirty="0">
                          <a:solidFill>
                            <a:schemeClr val="bg1"/>
                          </a:solidFill>
                        </a:rPr>
                        <a:t> Description</a:t>
                      </a:r>
                      <a:endParaRPr sz="2200" dirty="0">
                        <a:solidFill>
                          <a:schemeClr val="bg1"/>
                        </a:solidFill>
                        <a:latin typeface="Arial"/>
                        <a:cs typeface="Arial"/>
                      </a:endParaRPr>
                    </a:p>
                  </a:txBody>
                  <a:tcPr marL="0" marR="0" marT="48006" marB="0"/>
                </a:tc>
                <a:tc>
                  <a:txBody>
                    <a:bodyPr/>
                    <a:lstStyle/>
                    <a:p>
                      <a:pPr marL="714375">
                        <a:lnSpc>
                          <a:spcPct val="100000"/>
                        </a:lnSpc>
                        <a:spcBef>
                          <a:spcPts val="315"/>
                        </a:spcBef>
                      </a:pPr>
                      <a:r>
                        <a:rPr lang="en-US" sz="2200" b="1" spc="-5" dirty="0">
                          <a:solidFill>
                            <a:schemeClr val="bg1"/>
                          </a:solidFill>
                        </a:rPr>
                        <a:t>   </a:t>
                      </a:r>
                      <a:r>
                        <a:rPr sz="2200" b="1" spc="-5" dirty="0">
                          <a:solidFill>
                            <a:schemeClr val="bg1"/>
                          </a:solidFill>
                        </a:rPr>
                        <a:t>Key </a:t>
                      </a:r>
                      <a:r>
                        <a:rPr sz="2200" b="1" spc="-25" dirty="0">
                          <a:solidFill>
                            <a:schemeClr val="bg1"/>
                          </a:solidFill>
                        </a:rPr>
                        <a:t>Value</a:t>
                      </a:r>
                      <a:endParaRPr sz="2200" dirty="0">
                        <a:solidFill>
                          <a:schemeClr val="bg1"/>
                        </a:solidFill>
                        <a:latin typeface="Arial"/>
                        <a:cs typeface="Arial"/>
                      </a:endParaRPr>
                    </a:p>
                  </a:txBody>
                  <a:tcPr marL="0" marR="0" marT="48006" marB="0"/>
                </a:tc>
                <a:tc>
                  <a:txBody>
                    <a:bodyPr/>
                    <a:lstStyle/>
                    <a:p>
                      <a:pPr marL="807720">
                        <a:lnSpc>
                          <a:spcPct val="100000"/>
                        </a:lnSpc>
                        <a:spcBef>
                          <a:spcPts val="315"/>
                        </a:spcBef>
                      </a:pPr>
                      <a:r>
                        <a:rPr lang="en-US" sz="2200" b="1" dirty="0">
                          <a:solidFill>
                            <a:schemeClr val="bg1"/>
                          </a:solidFill>
                        </a:rPr>
                        <a:t>  </a:t>
                      </a:r>
                      <a:r>
                        <a:rPr sz="2200" b="1" dirty="0">
                          <a:solidFill>
                            <a:schemeClr val="bg1"/>
                          </a:solidFill>
                        </a:rPr>
                        <a:t>Other</a:t>
                      </a:r>
                      <a:r>
                        <a:rPr sz="2200" b="1" spc="-80" dirty="0">
                          <a:solidFill>
                            <a:schemeClr val="bg1"/>
                          </a:solidFill>
                        </a:rPr>
                        <a:t> </a:t>
                      </a:r>
                      <a:r>
                        <a:rPr sz="2200" b="1" spc="-5" dirty="0">
                          <a:solidFill>
                            <a:schemeClr val="bg1"/>
                          </a:solidFill>
                        </a:rPr>
                        <a:t>Benefits</a:t>
                      </a:r>
                      <a:endParaRPr sz="2200" dirty="0">
                        <a:solidFill>
                          <a:schemeClr val="bg1"/>
                        </a:solidFill>
                        <a:latin typeface="Arial"/>
                        <a:cs typeface="Arial"/>
                      </a:endParaRPr>
                    </a:p>
                  </a:txBody>
                  <a:tcPr marL="0" marR="0" marT="48006" marB="0"/>
                </a:tc>
                <a:extLst>
                  <a:ext uri="{0D108BD9-81ED-4DB2-BD59-A6C34878D82A}">
                    <a16:rowId xmlns:a16="http://schemas.microsoft.com/office/drawing/2014/main" val="10000"/>
                  </a:ext>
                </a:extLst>
              </a:tr>
              <a:tr h="555955">
                <a:tc>
                  <a:txBody>
                    <a:bodyPr/>
                    <a:lstStyle/>
                    <a:p>
                      <a:pPr marL="91440">
                        <a:lnSpc>
                          <a:spcPct val="100000"/>
                        </a:lnSpc>
                        <a:spcBef>
                          <a:spcPts val="1010"/>
                        </a:spcBef>
                      </a:pPr>
                      <a:r>
                        <a:rPr sz="1400" b="1" u="none" spc="-5" dirty="0">
                          <a:solidFill>
                            <a:schemeClr val="tx1"/>
                          </a:solidFill>
                        </a:rPr>
                        <a:t>Managed </a:t>
                      </a:r>
                      <a:r>
                        <a:rPr sz="1400" b="1" u="none" dirty="0">
                          <a:solidFill>
                            <a:schemeClr val="tx1"/>
                          </a:solidFill>
                        </a:rPr>
                        <a:t>File </a:t>
                      </a:r>
                      <a:r>
                        <a:rPr sz="1400" b="1" u="none" spc="-10" dirty="0">
                          <a:solidFill>
                            <a:schemeClr val="tx1"/>
                          </a:solidFill>
                        </a:rPr>
                        <a:t>Transfer</a:t>
                      </a:r>
                      <a:r>
                        <a:rPr sz="1400" b="1" u="none" spc="-65" dirty="0">
                          <a:solidFill>
                            <a:schemeClr val="tx1"/>
                          </a:solidFill>
                        </a:rPr>
                        <a:t> </a:t>
                      </a:r>
                      <a:r>
                        <a:rPr sz="1400" b="1" u="none" spc="-5" dirty="0">
                          <a:solidFill>
                            <a:schemeClr val="tx1"/>
                          </a:solidFill>
                        </a:rPr>
                        <a:t>(MFT)</a:t>
                      </a:r>
                      <a:endParaRPr sz="1400" u="none" dirty="0">
                        <a:solidFill>
                          <a:schemeClr val="tx1"/>
                        </a:solidFill>
                        <a:latin typeface="+mn-lt"/>
                        <a:cs typeface="Arial"/>
                      </a:endParaRPr>
                    </a:p>
                  </a:txBody>
                  <a:tcPr marL="0" marR="0" marT="153924" marB="0"/>
                </a:tc>
                <a:tc>
                  <a:txBody>
                    <a:bodyPr/>
                    <a:lstStyle/>
                    <a:p>
                      <a:pPr marL="117475" marR="327660">
                        <a:lnSpc>
                          <a:spcPts val="1250"/>
                        </a:lnSpc>
                        <a:spcBef>
                          <a:spcPts val="555"/>
                        </a:spcBef>
                      </a:pPr>
                      <a:r>
                        <a:rPr sz="1300" spc="-5" dirty="0"/>
                        <a:t>Connect reliably </a:t>
                      </a:r>
                      <a:r>
                        <a:rPr sz="1300" dirty="0"/>
                        <a:t>and </a:t>
                      </a:r>
                      <a:r>
                        <a:rPr sz="1300" spc="-5" dirty="0"/>
                        <a:t>securely </a:t>
                      </a:r>
                      <a:r>
                        <a:rPr sz="1300" dirty="0"/>
                        <a:t>to </a:t>
                      </a:r>
                      <a:r>
                        <a:rPr sz="1300" spc="-5" dirty="0"/>
                        <a:t>VAN </a:t>
                      </a:r>
                      <a:r>
                        <a:rPr sz="1300" dirty="0"/>
                        <a:t>and  Internet </a:t>
                      </a:r>
                      <a:r>
                        <a:rPr sz="1300" spc="-5" dirty="0"/>
                        <a:t>trading</a:t>
                      </a:r>
                      <a:r>
                        <a:rPr sz="1300" spc="-120" dirty="0"/>
                        <a:t> </a:t>
                      </a:r>
                      <a:r>
                        <a:rPr sz="1300" dirty="0"/>
                        <a:t>partners</a:t>
                      </a:r>
                      <a:endParaRPr sz="1300" dirty="0">
                        <a:latin typeface="Arial"/>
                        <a:cs typeface="Arial"/>
                      </a:endParaRPr>
                    </a:p>
                  </a:txBody>
                  <a:tcPr marL="0" marR="0" marT="84582" marB="0"/>
                </a:tc>
                <a:tc>
                  <a:txBody>
                    <a:bodyPr/>
                    <a:lstStyle/>
                    <a:p>
                      <a:pPr marL="107314" marR="168275">
                        <a:lnSpc>
                          <a:spcPts val="1250"/>
                        </a:lnSpc>
                        <a:spcBef>
                          <a:spcPts val="555"/>
                        </a:spcBef>
                      </a:pPr>
                      <a:r>
                        <a:rPr sz="1300" spc="-5" dirty="0"/>
                        <a:t>Cost Reduction </a:t>
                      </a:r>
                      <a:r>
                        <a:rPr sz="1300" dirty="0"/>
                        <a:t>- 40-80+% reduction</a:t>
                      </a:r>
                      <a:r>
                        <a:rPr sz="1300" spc="-100" dirty="0"/>
                        <a:t> </a:t>
                      </a:r>
                      <a:r>
                        <a:rPr sz="1300" spc="-5" dirty="0"/>
                        <a:t>in  </a:t>
                      </a:r>
                      <a:r>
                        <a:rPr sz="1300" dirty="0"/>
                        <a:t>TCO of </a:t>
                      </a:r>
                      <a:r>
                        <a:rPr lang="en-US" sz="1300" dirty="0"/>
                        <a:t>EDI</a:t>
                      </a:r>
                      <a:r>
                        <a:rPr sz="1300" spc="-120" dirty="0"/>
                        <a:t> </a:t>
                      </a:r>
                      <a:r>
                        <a:rPr sz="1300" dirty="0"/>
                        <a:t>communications</a:t>
                      </a:r>
                      <a:endParaRPr sz="1300" dirty="0">
                        <a:latin typeface="Arial"/>
                        <a:cs typeface="Arial"/>
                      </a:endParaRPr>
                    </a:p>
                  </a:txBody>
                  <a:tcPr marL="0" marR="0" marT="84582" marB="0"/>
                </a:tc>
                <a:tc>
                  <a:txBody>
                    <a:bodyPr/>
                    <a:lstStyle/>
                    <a:p>
                      <a:pPr marL="92075" marR="121920">
                        <a:lnSpc>
                          <a:spcPts val="1250"/>
                        </a:lnSpc>
                        <a:spcBef>
                          <a:spcPts val="555"/>
                        </a:spcBef>
                      </a:pPr>
                      <a:r>
                        <a:rPr sz="1300" spc="-5" dirty="0"/>
                        <a:t>Reduced complexity; </a:t>
                      </a:r>
                      <a:r>
                        <a:rPr sz="1300" dirty="0"/>
                        <a:t>integrates </a:t>
                      </a:r>
                      <a:r>
                        <a:rPr sz="1300" spc="-5" dirty="0"/>
                        <a:t>seamlessly </a:t>
                      </a:r>
                      <a:r>
                        <a:rPr sz="1300" spc="-10" dirty="0"/>
                        <a:t>with  </a:t>
                      </a:r>
                      <a:r>
                        <a:rPr sz="1300" dirty="0"/>
                        <a:t>most</a:t>
                      </a:r>
                      <a:r>
                        <a:rPr sz="1300" spc="-125" dirty="0"/>
                        <a:t> </a:t>
                      </a:r>
                      <a:r>
                        <a:rPr sz="1300" dirty="0"/>
                        <a:t>protocols</a:t>
                      </a:r>
                      <a:endParaRPr sz="1300" dirty="0">
                        <a:latin typeface="Arial"/>
                        <a:cs typeface="Arial"/>
                      </a:endParaRPr>
                    </a:p>
                  </a:txBody>
                  <a:tcPr marL="0" marR="0" marT="84582" marB="0"/>
                </a:tc>
                <a:extLst>
                  <a:ext uri="{0D108BD9-81ED-4DB2-BD59-A6C34878D82A}">
                    <a16:rowId xmlns:a16="http://schemas.microsoft.com/office/drawing/2014/main" val="10001"/>
                  </a:ext>
                </a:extLst>
              </a:tr>
              <a:tr h="548640">
                <a:tc>
                  <a:txBody>
                    <a:bodyPr/>
                    <a:lstStyle/>
                    <a:p>
                      <a:pPr marL="91440">
                        <a:lnSpc>
                          <a:spcPct val="100000"/>
                        </a:lnSpc>
                        <a:spcBef>
                          <a:spcPts val="985"/>
                        </a:spcBef>
                      </a:pPr>
                      <a:r>
                        <a:rPr sz="1400" b="1" u="none" dirty="0">
                          <a:solidFill>
                            <a:schemeClr val="tx1"/>
                          </a:solidFill>
                        </a:rPr>
                        <a:t>File eXchange </a:t>
                      </a:r>
                      <a:r>
                        <a:rPr sz="1400" b="1" u="none" spc="-5" dirty="0">
                          <a:solidFill>
                            <a:schemeClr val="tx1"/>
                          </a:solidFill>
                        </a:rPr>
                        <a:t>Service</a:t>
                      </a:r>
                      <a:r>
                        <a:rPr sz="1400" b="1" u="none" spc="-95" dirty="0">
                          <a:solidFill>
                            <a:schemeClr val="tx1"/>
                          </a:solidFill>
                        </a:rPr>
                        <a:t> </a:t>
                      </a:r>
                      <a:r>
                        <a:rPr sz="1400" b="1" u="none" spc="-5" dirty="0">
                          <a:solidFill>
                            <a:schemeClr val="tx1"/>
                          </a:solidFill>
                        </a:rPr>
                        <a:t>(FXS)</a:t>
                      </a:r>
                      <a:endParaRPr sz="1400" u="none" dirty="0">
                        <a:solidFill>
                          <a:schemeClr val="tx1"/>
                        </a:solidFill>
                        <a:latin typeface="+mn-lt"/>
                        <a:cs typeface="Arial"/>
                      </a:endParaRPr>
                    </a:p>
                  </a:txBody>
                  <a:tcPr marL="0" marR="0" marT="150114" marB="0"/>
                </a:tc>
                <a:tc>
                  <a:txBody>
                    <a:bodyPr/>
                    <a:lstStyle/>
                    <a:p>
                      <a:pPr marL="117475">
                        <a:lnSpc>
                          <a:spcPct val="100000"/>
                        </a:lnSpc>
                        <a:spcBef>
                          <a:spcPts val="1060"/>
                        </a:spcBef>
                      </a:pPr>
                      <a:r>
                        <a:rPr sz="1300" dirty="0"/>
                        <a:t>Secure human-to-human file</a:t>
                      </a:r>
                      <a:r>
                        <a:rPr sz="1300" spc="-135" dirty="0"/>
                        <a:t> </a:t>
                      </a:r>
                      <a:r>
                        <a:rPr sz="1300" spc="-5" dirty="0"/>
                        <a:t>sharing</a:t>
                      </a:r>
                      <a:endParaRPr sz="1300" dirty="0">
                        <a:latin typeface="Arial"/>
                        <a:cs typeface="Arial"/>
                      </a:endParaRPr>
                    </a:p>
                  </a:txBody>
                  <a:tcPr marL="0" marR="0" marT="161544" marB="0"/>
                </a:tc>
                <a:tc>
                  <a:txBody>
                    <a:bodyPr/>
                    <a:lstStyle/>
                    <a:p>
                      <a:pPr marL="107314">
                        <a:lnSpc>
                          <a:spcPts val="1285"/>
                        </a:lnSpc>
                        <a:spcBef>
                          <a:spcPts val="430"/>
                        </a:spcBef>
                      </a:pPr>
                      <a:r>
                        <a:rPr sz="1300" spc="-5" dirty="0"/>
                        <a:t>Eliminate </a:t>
                      </a:r>
                      <a:r>
                        <a:rPr sz="1300" dirty="0"/>
                        <a:t>security breaches of</a:t>
                      </a:r>
                      <a:r>
                        <a:rPr sz="1300" spc="-105" dirty="0"/>
                        <a:t> </a:t>
                      </a:r>
                      <a:r>
                        <a:rPr sz="1300" dirty="0"/>
                        <a:t>ad-hoc</a:t>
                      </a:r>
                    </a:p>
                    <a:p>
                      <a:pPr marL="107314">
                        <a:lnSpc>
                          <a:spcPts val="1285"/>
                        </a:lnSpc>
                      </a:pPr>
                      <a:r>
                        <a:rPr sz="1300" dirty="0"/>
                        <a:t>file</a:t>
                      </a:r>
                      <a:r>
                        <a:rPr sz="1300" spc="-110" dirty="0"/>
                        <a:t> </a:t>
                      </a:r>
                      <a:r>
                        <a:rPr sz="1300" dirty="0"/>
                        <a:t>transfers</a:t>
                      </a:r>
                      <a:endParaRPr sz="1300" dirty="0">
                        <a:latin typeface="Arial"/>
                        <a:cs typeface="Arial"/>
                      </a:endParaRPr>
                    </a:p>
                  </a:txBody>
                  <a:tcPr marL="0" marR="0" marT="65532" marB="0"/>
                </a:tc>
                <a:tc>
                  <a:txBody>
                    <a:bodyPr/>
                    <a:lstStyle/>
                    <a:p>
                      <a:pPr marL="92075">
                        <a:lnSpc>
                          <a:spcPts val="1285"/>
                        </a:lnSpc>
                        <a:spcBef>
                          <a:spcPts val="430"/>
                        </a:spcBef>
                      </a:pPr>
                      <a:r>
                        <a:rPr sz="1300" dirty="0"/>
                        <a:t>Fast setup; high-speed ad hoc file transfers</a:t>
                      </a:r>
                      <a:r>
                        <a:rPr sz="1300" spc="-215" dirty="0"/>
                        <a:t> </a:t>
                      </a:r>
                      <a:r>
                        <a:rPr sz="1300" dirty="0"/>
                        <a:t>of</a:t>
                      </a:r>
                      <a:endParaRPr sz="1300"/>
                    </a:p>
                    <a:p>
                      <a:pPr marL="92075">
                        <a:lnSpc>
                          <a:spcPts val="1285"/>
                        </a:lnSpc>
                      </a:pPr>
                      <a:r>
                        <a:rPr sz="1300" dirty="0"/>
                        <a:t>large and confidential</a:t>
                      </a:r>
                      <a:r>
                        <a:rPr sz="1300" spc="-125" dirty="0"/>
                        <a:t> </a:t>
                      </a:r>
                      <a:r>
                        <a:rPr sz="1300" dirty="0"/>
                        <a:t>files</a:t>
                      </a:r>
                      <a:endParaRPr sz="1300">
                        <a:latin typeface="Arial"/>
                        <a:cs typeface="Arial"/>
                      </a:endParaRPr>
                    </a:p>
                  </a:txBody>
                  <a:tcPr marL="0" marR="0" marT="65532" marB="0"/>
                </a:tc>
                <a:extLst>
                  <a:ext uri="{0D108BD9-81ED-4DB2-BD59-A6C34878D82A}">
                    <a16:rowId xmlns:a16="http://schemas.microsoft.com/office/drawing/2014/main" val="10002"/>
                  </a:ext>
                </a:extLst>
              </a:tr>
              <a:tr h="874166">
                <a:tc>
                  <a:txBody>
                    <a:bodyPr/>
                    <a:lstStyle/>
                    <a:p>
                      <a:pPr>
                        <a:lnSpc>
                          <a:spcPct val="100000"/>
                        </a:lnSpc>
                        <a:spcBef>
                          <a:spcPts val="45"/>
                        </a:spcBef>
                      </a:pPr>
                      <a:endParaRPr sz="2000" dirty="0"/>
                    </a:p>
                    <a:p>
                      <a:pPr marL="91440">
                        <a:lnSpc>
                          <a:spcPct val="100000"/>
                        </a:lnSpc>
                      </a:pPr>
                      <a:r>
                        <a:rPr lang="en-US" sz="1400" b="1" u="none" spc="-5" dirty="0">
                          <a:solidFill>
                            <a:schemeClr val="tx1"/>
                          </a:solidFill>
                        </a:rPr>
                        <a:t>EDI </a:t>
                      </a:r>
                      <a:r>
                        <a:rPr sz="1400" b="1" u="none" spc="-5" dirty="0">
                          <a:solidFill>
                            <a:schemeClr val="tx1"/>
                          </a:solidFill>
                        </a:rPr>
                        <a:t>Managed</a:t>
                      </a:r>
                      <a:r>
                        <a:rPr sz="1400" b="1" u="none" spc="-45" dirty="0">
                          <a:solidFill>
                            <a:schemeClr val="tx1"/>
                          </a:solidFill>
                        </a:rPr>
                        <a:t> </a:t>
                      </a:r>
                      <a:r>
                        <a:rPr sz="1400" b="1" u="none" spc="-5" dirty="0">
                          <a:solidFill>
                            <a:schemeClr val="tx1"/>
                          </a:solidFill>
                        </a:rPr>
                        <a:t>Service</a:t>
                      </a:r>
                      <a:endParaRPr lang="en-US" sz="1400" b="1" u="none" spc="-5" dirty="0">
                        <a:solidFill>
                          <a:schemeClr val="tx1"/>
                        </a:solidFill>
                      </a:endParaRPr>
                    </a:p>
                    <a:p>
                      <a:pPr marL="91440">
                        <a:lnSpc>
                          <a:spcPct val="100000"/>
                        </a:lnSpc>
                      </a:pPr>
                      <a:r>
                        <a:rPr lang="en-US" sz="1400" b="0" u="none" spc="-5" dirty="0">
                          <a:solidFill>
                            <a:schemeClr val="tx1"/>
                          </a:solidFill>
                          <a:latin typeface="+mn-lt"/>
                          <a:cs typeface="Arial"/>
                        </a:rPr>
                        <a:t>(Fully leveraged &amp; Hybrid)</a:t>
                      </a:r>
                      <a:endParaRPr sz="1400" b="0" u="none" dirty="0">
                        <a:solidFill>
                          <a:schemeClr val="tx1"/>
                        </a:solidFill>
                        <a:latin typeface="+mn-lt"/>
                        <a:cs typeface="Arial"/>
                      </a:endParaRPr>
                    </a:p>
                  </a:txBody>
                  <a:tcPr marL="0" marR="0" marT="6858" marB="0"/>
                </a:tc>
                <a:tc>
                  <a:txBody>
                    <a:bodyPr/>
                    <a:lstStyle/>
                    <a:p>
                      <a:pPr marL="117475" marR="165100">
                        <a:lnSpc>
                          <a:spcPct val="94900"/>
                        </a:lnSpc>
                        <a:spcBef>
                          <a:spcPts val="315"/>
                        </a:spcBef>
                      </a:pPr>
                      <a:r>
                        <a:rPr sz="1300" spc="-5" dirty="0"/>
                        <a:t>Migrate </a:t>
                      </a:r>
                      <a:r>
                        <a:rPr lang="en-US" sz="1300" spc="-5" dirty="0"/>
                        <a:t>EDI</a:t>
                      </a:r>
                      <a:r>
                        <a:rPr sz="1300" dirty="0"/>
                        <a:t> processing to </a:t>
                      </a:r>
                      <a:r>
                        <a:rPr lang="en-US" sz="1300" spc="-5" dirty="0"/>
                        <a:t>DXC</a:t>
                      </a:r>
                      <a:r>
                        <a:rPr sz="1300" spc="-5" dirty="0"/>
                        <a:t>; </a:t>
                      </a:r>
                      <a:r>
                        <a:rPr sz="1300" dirty="0"/>
                        <a:t>send and  </a:t>
                      </a:r>
                      <a:r>
                        <a:rPr sz="1300" spc="-5" dirty="0"/>
                        <a:t>receive ERP </a:t>
                      </a:r>
                      <a:r>
                        <a:rPr sz="1300" dirty="0"/>
                        <a:t>data </a:t>
                      </a:r>
                      <a:r>
                        <a:rPr sz="1300" spc="-5" dirty="0"/>
                        <a:t>over </a:t>
                      </a:r>
                      <a:r>
                        <a:rPr sz="1300" dirty="0"/>
                        <a:t>a </a:t>
                      </a:r>
                      <a:r>
                        <a:rPr sz="1300" spc="-5" dirty="0"/>
                        <a:t>single </a:t>
                      </a:r>
                      <a:r>
                        <a:rPr sz="1300" dirty="0"/>
                        <a:t>connection –  </a:t>
                      </a:r>
                      <a:r>
                        <a:rPr lang="en-US" sz="1300" spc="-5" dirty="0"/>
                        <a:t>DXC</a:t>
                      </a:r>
                      <a:r>
                        <a:rPr sz="1300" spc="-5" dirty="0"/>
                        <a:t> </a:t>
                      </a:r>
                      <a:r>
                        <a:rPr sz="1300" dirty="0"/>
                        <a:t>translates and connects the </a:t>
                      </a:r>
                      <a:r>
                        <a:rPr sz="1300" spc="-5" dirty="0"/>
                        <a:t>trading  </a:t>
                      </a:r>
                      <a:r>
                        <a:rPr sz="1300" dirty="0"/>
                        <a:t>partners and supports</a:t>
                      </a:r>
                      <a:r>
                        <a:rPr sz="1300" spc="-120" dirty="0"/>
                        <a:t> </a:t>
                      </a:r>
                      <a:r>
                        <a:rPr sz="1300" spc="-5" dirty="0"/>
                        <a:t>end-to-end</a:t>
                      </a:r>
                      <a:r>
                        <a:rPr lang="en-US" sz="1300" spc="-5" dirty="0"/>
                        <a:t> including e-Invoicing compliance.</a:t>
                      </a:r>
                    </a:p>
                    <a:p>
                      <a:pPr marL="117475" marR="165100">
                        <a:lnSpc>
                          <a:spcPct val="94900"/>
                        </a:lnSpc>
                        <a:spcBef>
                          <a:spcPts val="315"/>
                        </a:spcBef>
                      </a:pPr>
                      <a:r>
                        <a:rPr lang="en-US" sz="1300" spc="-5" dirty="0"/>
                        <a:t>Leveraged as well as dedicated platforms available.</a:t>
                      </a:r>
                    </a:p>
                    <a:p>
                      <a:pPr marL="117475" marR="165100">
                        <a:lnSpc>
                          <a:spcPct val="94900"/>
                        </a:lnSpc>
                        <a:spcBef>
                          <a:spcPts val="315"/>
                        </a:spcBef>
                      </a:pPr>
                      <a:endParaRPr sz="1300" dirty="0">
                        <a:latin typeface="Arial"/>
                        <a:cs typeface="Arial"/>
                      </a:endParaRPr>
                    </a:p>
                  </a:txBody>
                  <a:tcPr marL="0" marR="0" marT="48006" marB="0"/>
                </a:tc>
                <a:tc>
                  <a:txBody>
                    <a:bodyPr/>
                    <a:lstStyle/>
                    <a:p>
                      <a:pPr>
                        <a:lnSpc>
                          <a:spcPct val="100000"/>
                        </a:lnSpc>
                        <a:spcBef>
                          <a:spcPts val="50"/>
                        </a:spcBef>
                      </a:pPr>
                      <a:endParaRPr sz="1600" dirty="0"/>
                    </a:p>
                    <a:p>
                      <a:pPr marL="107314" marR="303530">
                        <a:lnSpc>
                          <a:spcPts val="1250"/>
                        </a:lnSpc>
                      </a:pPr>
                      <a:r>
                        <a:rPr sz="1300" spc="-5" dirty="0"/>
                        <a:t>Cost </a:t>
                      </a:r>
                      <a:r>
                        <a:rPr sz="1300" dirty="0"/>
                        <a:t>reduction - </a:t>
                      </a:r>
                      <a:r>
                        <a:rPr sz="1300" spc="-5" dirty="0"/>
                        <a:t>20-40% </a:t>
                      </a:r>
                      <a:r>
                        <a:rPr sz="1300" dirty="0"/>
                        <a:t>reduction</a:t>
                      </a:r>
                      <a:r>
                        <a:rPr sz="1300" spc="-110" dirty="0"/>
                        <a:t> </a:t>
                      </a:r>
                      <a:r>
                        <a:rPr sz="1300" spc="-5" dirty="0"/>
                        <a:t>in  </a:t>
                      </a:r>
                      <a:r>
                        <a:rPr sz="1300" dirty="0"/>
                        <a:t>TCO of </a:t>
                      </a:r>
                      <a:r>
                        <a:rPr lang="en-US" sz="1300" dirty="0"/>
                        <a:t>EDI</a:t>
                      </a:r>
                      <a:r>
                        <a:rPr sz="1300" spc="-85" dirty="0"/>
                        <a:t> </a:t>
                      </a:r>
                      <a:r>
                        <a:rPr sz="1300" spc="-5" dirty="0"/>
                        <a:t>operations</a:t>
                      </a:r>
                      <a:endParaRPr sz="1300" dirty="0">
                        <a:latin typeface="Arial"/>
                        <a:cs typeface="Arial"/>
                      </a:endParaRPr>
                    </a:p>
                  </a:txBody>
                  <a:tcPr marL="0" marR="0" marT="7620" marB="0"/>
                </a:tc>
                <a:tc>
                  <a:txBody>
                    <a:bodyPr/>
                    <a:lstStyle/>
                    <a:p>
                      <a:pPr>
                        <a:lnSpc>
                          <a:spcPct val="100000"/>
                        </a:lnSpc>
                        <a:spcBef>
                          <a:spcPts val="50"/>
                        </a:spcBef>
                      </a:pPr>
                      <a:endParaRPr sz="1600" dirty="0"/>
                    </a:p>
                    <a:p>
                      <a:pPr marL="92075" marR="299085">
                        <a:lnSpc>
                          <a:spcPts val="1250"/>
                        </a:lnSpc>
                      </a:pPr>
                      <a:r>
                        <a:rPr sz="1300" dirty="0"/>
                        <a:t>Op </a:t>
                      </a:r>
                      <a:r>
                        <a:rPr sz="1300" spc="-5" dirty="0"/>
                        <a:t>Ex vs. Cap Ex; modernization; </a:t>
                      </a:r>
                      <a:r>
                        <a:rPr sz="1300" dirty="0"/>
                        <a:t>standards,  </a:t>
                      </a:r>
                      <a:r>
                        <a:rPr sz="1300" spc="-5" dirty="0"/>
                        <a:t>DRP;</a:t>
                      </a:r>
                      <a:r>
                        <a:rPr sz="1300" spc="235" dirty="0"/>
                        <a:t> </a:t>
                      </a:r>
                      <a:r>
                        <a:rPr sz="1300" spc="-5" dirty="0"/>
                        <a:t>scalability</a:t>
                      </a:r>
                      <a:endParaRPr sz="1300" dirty="0">
                        <a:latin typeface="Arial"/>
                        <a:cs typeface="Arial"/>
                      </a:endParaRPr>
                    </a:p>
                  </a:txBody>
                  <a:tcPr marL="0" marR="0" marT="7620" marB="0"/>
                </a:tc>
                <a:extLst>
                  <a:ext uri="{0D108BD9-81ED-4DB2-BD59-A6C34878D82A}">
                    <a16:rowId xmlns:a16="http://schemas.microsoft.com/office/drawing/2014/main" val="10003"/>
                  </a:ext>
                </a:extLst>
              </a:tr>
              <a:tr h="524866">
                <a:tc>
                  <a:txBody>
                    <a:bodyPr/>
                    <a:lstStyle/>
                    <a:p>
                      <a:pPr marL="91440" algn="l" defTabSz="1463040" rtl="0" eaLnBrk="1" latinLnBrk="0" hangingPunct="1">
                        <a:lnSpc>
                          <a:spcPct val="100000"/>
                        </a:lnSpc>
                        <a:spcBef>
                          <a:spcPts val="915"/>
                        </a:spcBef>
                      </a:pPr>
                      <a:r>
                        <a:rPr lang="de-DE" sz="1400" b="1" u="none" kern="1200" dirty="0">
                          <a:solidFill>
                            <a:schemeClr val="tx1"/>
                          </a:solidFill>
                          <a:latin typeface="+mn-lt"/>
                          <a:ea typeface="+mn-ea"/>
                          <a:cs typeface="Arial"/>
                        </a:rPr>
                        <a:t>Dedicated EDI Service </a:t>
                      </a:r>
                      <a:r>
                        <a:rPr lang="de-DE" sz="1400" b="0" u="none" kern="1200" dirty="0">
                          <a:solidFill>
                            <a:schemeClr val="tx1"/>
                          </a:solidFill>
                          <a:latin typeface="+mn-lt"/>
                          <a:ea typeface="+mn-ea"/>
                          <a:cs typeface="Arial"/>
                        </a:rPr>
                        <a:t>(SEEBURGER)</a:t>
                      </a:r>
                      <a:endParaRPr sz="1400" b="0" u="none" kern="1200" dirty="0">
                        <a:solidFill>
                          <a:schemeClr val="tx1"/>
                        </a:solidFill>
                        <a:latin typeface="+mn-lt"/>
                        <a:ea typeface="+mn-ea"/>
                        <a:cs typeface="Arial"/>
                      </a:endParaRPr>
                    </a:p>
                  </a:txBody>
                  <a:tcPr marL="0" marR="0" marT="7620" marB="0"/>
                </a:tc>
                <a:tc>
                  <a:txBody>
                    <a:bodyPr/>
                    <a:lstStyle/>
                    <a:p>
                      <a:pPr marL="117475" marR="138430" algn="l" defTabSz="1463040" rtl="0" eaLnBrk="1" latinLnBrk="0" hangingPunct="1">
                        <a:lnSpc>
                          <a:spcPts val="1250"/>
                        </a:lnSpc>
                        <a:spcBef>
                          <a:spcPts val="459"/>
                        </a:spcBef>
                      </a:pPr>
                      <a:r>
                        <a:rPr lang="de-DE" sz="1300" kern="1200" dirty="0">
                          <a:solidFill>
                            <a:schemeClr val="tx1"/>
                          </a:solidFill>
                          <a:latin typeface="+mn-lt"/>
                          <a:ea typeface="+mn-ea"/>
                          <a:cs typeface="+mn-cs"/>
                        </a:rPr>
                        <a:t>Dedicated and bespoke EDI or File-Transfer solutions based on SEEBURGER Software, on-premise or in the cloud</a:t>
                      </a:r>
                      <a:endParaRPr sz="1300" kern="1200" dirty="0">
                        <a:solidFill>
                          <a:schemeClr val="tx1"/>
                        </a:solidFill>
                        <a:latin typeface="+mn-lt"/>
                        <a:ea typeface="+mn-ea"/>
                        <a:cs typeface="+mn-cs"/>
                      </a:endParaRPr>
                    </a:p>
                  </a:txBody>
                  <a:tcPr marL="0" marR="0" marT="48768" marB="0"/>
                </a:tc>
                <a:tc>
                  <a:txBody>
                    <a:bodyPr/>
                    <a:lstStyle/>
                    <a:p>
                      <a:pPr marL="117475" marR="138430" algn="l" defTabSz="1463040" rtl="0" eaLnBrk="1" latinLnBrk="0" hangingPunct="1">
                        <a:lnSpc>
                          <a:spcPts val="1250"/>
                        </a:lnSpc>
                        <a:spcBef>
                          <a:spcPts val="459"/>
                        </a:spcBef>
                      </a:pPr>
                      <a:r>
                        <a:rPr lang="de-DE" sz="1300" kern="1200" dirty="0">
                          <a:solidFill>
                            <a:schemeClr val="tx1"/>
                          </a:solidFill>
                          <a:latin typeface="+mn-lt"/>
                          <a:ea typeface="+mn-ea"/>
                          <a:cs typeface="+mn-cs"/>
                        </a:rPr>
                        <a:t>High levels of flexibility and customization opportunities to met specific company and industry needs</a:t>
                      </a:r>
                      <a:endParaRPr lang="en-US" sz="1300" kern="1200" dirty="0">
                        <a:solidFill>
                          <a:schemeClr val="tx1"/>
                        </a:solidFill>
                        <a:latin typeface="+mn-lt"/>
                        <a:ea typeface="+mn-ea"/>
                        <a:cs typeface="+mn-cs"/>
                      </a:endParaRPr>
                    </a:p>
                  </a:txBody>
                  <a:tcPr marL="0" marR="0" marT="149352" marB="0"/>
                </a:tc>
                <a:tc>
                  <a:txBody>
                    <a:bodyPr/>
                    <a:lstStyle/>
                    <a:p>
                      <a:pPr marL="117475" marR="138430" algn="l" defTabSz="1463040" rtl="0" eaLnBrk="1" latinLnBrk="0" hangingPunct="1">
                        <a:lnSpc>
                          <a:spcPts val="1250"/>
                        </a:lnSpc>
                        <a:spcBef>
                          <a:spcPts val="459"/>
                        </a:spcBef>
                      </a:pPr>
                      <a:r>
                        <a:rPr lang="de-DE" sz="1300" kern="1200" dirty="0">
                          <a:solidFill>
                            <a:schemeClr val="tx1"/>
                          </a:solidFill>
                          <a:latin typeface="+mn-lt"/>
                          <a:ea typeface="+mn-ea"/>
                          <a:cs typeface="+mn-cs"/>
                        </a:rPr>
                        <a:t>Industry specific configuration frameworks. Tools for partner self-service, partner management and migration </a:t>
                      </a:r>
                      <a:endParaRPr sz="1300" kern="1200" dirty="0">
                        <a:solidFill>
                          <a:schemeClr val="tx1"/>
                        </a:solidFill>
                        <a:latin typeface="+mn-lt"/>
                        <a:ea typeface="+mn-ea"/>
                        <a:cs typeface="+mn-cs"/>
                      </a:endParaRPr>
                    </a:p>
                  </a:txBody>
                  <a:tcPr marL="0" marR="0" marT="1524" marB="0"/>
                </a:tc>
                <a:extLst>
                  <a:ext uri="{0D108BD9-81ED-4DB2-BD59-A6C34878D82A}">
                    <a16:rowId xmlns:a16="http://schemas.microsoft.com/office/drawing/2014/main" val="741482674"/>
                  </a:ext>
                </a:extLst>
              </a:tr>
              <a:tr h="524866">
                <a:tc>
                  <a:txBody>
                    <a:bodyPr/>
                    <a:lstStyle/>
                    <a:p>
                      <a:pPr marL="91440">
                        <a:lnSpc>
                          <a:spcPct val="100000"/>
                        </a:lnSpc>
                        <a:spcBef>
                          <a:spcPts val="915"/>
                        </a:spcBef>
                      </a:pPr>
                      <a:r>
                        <a:rPr lang="en-US" sz="1400" b="1" u="none" dirty="0">
                          <a:solidFill>
                            <a:schemeClr val="tx1"/>
                          </a:solidFill>
                        </a:rPr>
                        <a:t>Trading partner EDI enablement</a:t>
                      </a:r>
                    </a:p>
                    <a:p>
                      <a:pPr marL="91440">
                        <a:lnSpc>
                          <a:spcPct val="100000"/>
                        </a:lnSpc>
                        <a:spcBef>
                          <a:spcPts val="915"/>
                        </a:spcBef>
                      </a:pPr>
                      <a:endParaRPr sz="1400" b="1" u="none" dirty="0">
                        <a:solidFill>
                          <a:schemeClr val="tx1"/>
                        </a:solidFill>
                        <a:latin typeface="+mn-lt"/>
                        <a:cs typeface="Arial"/>
                      </a:endParaRPr>
                    </a:p>
                  </a:txBody>
                  <a:tcPr marL="0" marR="0" marT="139446" marB="0"/>
                </a:tc>
                <a:tc>
                  <a:txBody>
                    <a:bodyPr/>
                    <a:lstStyle/>
                    <a:p>
                      <a:pPr marL="117475" marR="138430">
                        <a:lnSpc>
                          <a:spcPts val="1250"/>
                        </a:lnSpc>
                        <a:spcBef>
                          <a:spcPts val="459"/>
                        </a:spcBef>
                      </a:pPr>
                      <a:r>
                        <a:rPr lang="en-US" sz="1300" dirty="0"/>
                        <a:t>Web/mobile tools for smaller trading partners to use clients’ more automated EDI channels, also providing light integration via CSV</a:t>
                      </a:r>
                    </a:p>
                    <a:p>
                      <a:pPr marL="117475" marR="138430">
                        <a:lnSpc>
                          <a:spcPts val="1250"/>
                        </a:lnSpc>
                        <a:spcBef>
                          <a:spcPts val="459"/>
                        </a:spcBef>
                      </a:pPr>
                      <a:endParaRPr sz="1300" dirty="0">
                        <a:latin typeface="Arial"/>
                        <a:cs typeface="Arial"/>
                      </a:endParaRPr>
                    </a:p>
                  </a:txBody>
                  <a:tcPr marL="0" marR="0" marT="70103" marB="0"/>
                </a:tc>
                <a:tc>
                  <a:txBody>
                    <a:bodyPr/>
                    <a:lstStyle/>
                    <a:p>
                      <a:pPr marL="107314" marR="267335">
                        <a:lnSpc>
                          <a:spcPts val="1250"/>
                        </a:lnSpc>
                        <a:spcBef>
                          <a:spcPts val="459"/>
                        </a:spcBef>
                      </a:pPr>
                      <a:r>
                        <a:rPr lang="en-US" sz="1300" dirty="0"/>
                        <a:t>Cost reduction - automates “the long tail” that otherwise tends to generate out-sized error rates and support calls.</a:t>
                      </a:r>
                    </a:p>
                    <a:p>
                      <a:pPr marL="107314" marR="267335">
                        <a:lnSpc>
                          <a:spcPts val="1250"/>
                        </a:lnSpc>
                        <a:spcBef>
                          <a:spcPts val="459"/>
                        </a:spcBef>
                      </a:pPr>
                      <a:endParaRPr sz="1300" dirty="0">
                        <a:latin typeface="Arial"/>
                        <a:cs typeface="Arial"/>
                      </a:endParaRPr>
                    </a:p>
                  </a:txBody>
                  <a:tcPr marL="0" marR="0" marT="70103" marB="0"/>
                </a:tc>
                <a:tc>
                  <a:txBody>
                    <a:bodyPr/>
                    <a:lstStyle/>
                    <a:p>
                      <a:pPr marL="117475" marR="138430" algn="l" defTabSz="1463040" rtl="0" eaLnBrk="1" latinLnBrk="0" hangingPunct="1">
                        <a:lnSpc>
                          <a:spcPts val="1250"/>
                        </a:lnSpc>
                        <a:spcBef>
                          <a:spcPts val="459"/>
                        </a:spcBef>
                      </a:pPr>
                      <a:r>
                        <a:rPr lang="en-US" sz="1300" kern="1200" dirty="0">
                          <a:solidFill>
                            <a:schemeClr val="tx1"/>
                          </a:solidFill>
                        </a:rPr>
                        <a:t>Provides an efficient channel for on-going communications with hundreds or thousands of smaller trading partners, self-serve platform.</a:t>
                      </a:r>
                      <a:endParaRPr lang="en-US" sz="1300" kern="1200" dirty="0">
                        <a:solidFill>
                          <a:schemeClr val="tx1"/>
                        </a:solidFill>
                        <a:latin typeface="Arial"/>
                        <a:ea typeface="+mn-ea"/>
                        <a:cs typeface="Arial"/>
                      </a:endParaRPr>
                    </a:p>
                  </a:txBody>
                  <a:tcPr marL="0" marR="0" marT="150114" marB="0"/>
                </a:tc>
                <a:extLst>
                  <a:ext uri="{0D108BD9-81ED-4DB2-BD59-A6C34878D82A}">
                    <a16:rowId xmlns:a16="http://schemas.microsoft.com/office/drawing/2014/main" val="10007"/>
                  </a:ext>
                </a:extLst>
              </a:tr>
              <a:tr h="854657">
                <a:tc>
                  <a:txBody>
                    <a:bodyPr/>
                    <a:lstStyle/>
                    <a:p>
                      <a:pPr marL="91440" algn="l" defTabSz="1463040" rtl="0" eaLnBrk="1" latinLnBrk="0" hangingPunct="1">
                        <a:lnSpc>
                          <a:spcPct val="100000"/>
                        </a:lnSpc>
                        <a:spcBef>
                          <a:spcPts val="915"/>
                        </a:spcBef>
                      </a:pPr>
                      <a:r>
                        <a:rPr lang="en-US" sz="1400" b="1" u="none" kern="1200" dirty="0">
                          <a:solidFill>
                            <a:schemeClr val="tx1"/>
                          </a:solidFill>
                        </a:rPr>
                        <a:t>Trading community onboarding and management</a:t>
                      </a:r>
                      <a:endParaRPr sz="1400" b="1" u="none" kern="1200" dirty="0">
                        <a:solidFill>
                          <a:schemeClr val="tx1"/>
                        </a:solidFill>
                        <a:latin typeface="+mn-lt"/>
                        <a:ea typeface="+mn-ea"/>
                        <a:cs typeface="Arial"/>
                      </a:endParaRPr>
                    </a:p>
                  </a:txBody>
                  <a:tcPr marL="0" marR="0" marT="7620" marB="0"/>
                </a:tc>
                <a:tc>
                  <a:txBody>
                    <a:bodyPr/>
                    <a:lstStyle/>
                    <a:p>
                      <a:pPr marL="117475" marR="138430" algn="l" defTabSz="1463040" rtl="0" eaLnBrk="1" latinLnBrk="0" hangingPunct="1">
                        <a:lnSpc>
                          <a:spcPts val="1250"/>
                        </a:lnSpc>
                        <a:spcBef>
                          <a:spcPts val="459"/>
                        </a:spcBef>
                      </a:pPr>
                      <a:r>
                        <a:rPr lang="en-US" sz="1300" kern="1200" dirty="0">
                          <a:solidFill>
                            <a:schemeClr val="tx1"/>
                          </a:solidFill>
                          <a:latin typeface="+mn-lt"/>
                          <a:ea typeface="+mn-ea"/>
                          <a:cs typeface="+mn-cs"/>
                        </a:rPr>
                        <a:t>Accelerated, managed campaigns to onboard hundreds/thousands of client trading partners via self-serve portals and support staff.</a:t>
                      </a:r>
                    </a:p>
                    <a:p>
                      <a:pPr marL="117475" marR="138430" algn="l" defTabSz="1463040" rtl="0" eaLnBrk="1" latinLnBrk="0" hangingPunct="1">
                        <a:lnSpc>
                          <a:spcPts val="1250"/>
                        </a:lnSpc>
                        <a:spcBef>
                          <a:spcPts val="459"/>
                        </a:spcBef>
                      </a:pPr>
                      <a:endParaRPr sz="1300" kern="1200" dirty="0">
                        <a:solidFill>
                          <a:schemeClr val="tx1"/>
                        </a:solidFill>
                        <a:latin typeface="+mn-lt"/>
                        <a:ea typeface="+mn-ea"/>
                        <a:cs typeface="+mn-cs"/>
                      </a:endParaRPr>
                    </a:p>
                  </a:txBody>
                  <a:tcPr marL="0" marR="0" marT="48768" marB="0"/>
                </a:tc>
                <a:tc>
                  <a:txBody>
                    <a:bodyPr/>
                    <a:lstStyle/>
                    <a:p>
                      <a:pPr marL="117475" marR="138430" algn="l" defTabSz="1463040" rtl="0" eaLnBrk="1" latinLnBrk="0" hangingPunct="1">
                        <a:lnSpc>
                          <a:spcPts val="1250"/>
                        </a:lnSpc>
                        <a:spcBef>
                          <a:spcPts val="459"/>
                        </a:spcBef>
                      </a:pPr>
                      <a:r>
                        <a:rPr lang="en-US" sz="1300" kern="1200" dirty="0">
                          <a:solidFill>
                            <a:schemeClr val="tx1"/>
                          </a:solidFill>
                          <a:latin typeface="+mn-lt"/>
                          <a:ea typeface="+mn-ea"/>
                          <a:cs typeface="+mn-cs"/>
                        </a:rPr>
                        <a:t>Speed-to-value – realizing automation savings sooner.</a:t>
                      </a:r>
                    </a:p>
                  </a:txBody>
                  <a:tcPr marL="0" marR="0" marT="149352" marB="0"/>
                </a:tc>
                <a:tc>
                  <a:txBody>
                    <a:bodyPr/>
                    <a:lstStyle/>
                    <a:p>
                      <a:pPr marL="117475" marR="138430" algn="l" defTabSz="1463040" rtl="0" eaLnBrk="1" latinLnBrk="0" hangingPunct="1">
                        <a:lnSpc>
                          <a:spcPts val="1250"/>
                        </a:lnSpc>
                        <a:spcBef>
                          <a:spcPts val="459"/>
                        </a:spcBef>
                      </a:pPr>
                      <a:endParaRPr sz="1300" kern="1200" dirty="0">
                        <a:solidFill>
                          <a:schemeClr val="tx1"/>
                        </a:solidFill>
                        <a:latin typeface="+mn-lt"/>
                        <a:ea typeface="+mn-ea"/>
                        <a:cs typeface="+mn-cs"/>
                      </a:endParaRPr>
                    </a:p>
                  </a:txBody>
                  <a:tcPr marL="0" marR="0" marT="1524"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2988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08A7D95-055F-F2FC-08E8-CBDE5DE48F98}"/>
              </a:ext>
            </a:extLst>
          </p:cNvPr>
          <p:cNvSpPr/>
          <p:nvPr/>
        </p:nvSpPr>
        <p:spPr>
          <a:xfrm>
            <a:off x="5381174" y="1488332"/>
            <a:ext cx="3904151" cy="5510133"/>
          </a:xfrm>
          <a:prstGeom prst="rect">
            <a:avLst/>
          </a:prstGeom>
          <a:solidFill>
            <a:schemeClr val="bg1">
              <a:lumMod val="50000"/>
            </a:schemeClr>
          </a:solidFill>
          <a:ln>
            <a:noFill/>
          </a:ln>
        </p:spPr>
        <p:style>
          <a:lnRef idx="0">
            <a:schemeClr val="accent1"/>
          </a:lnRef>
          <a:fillRef idx="1">
            <a:schemeClr val="accent1"/>
          </a:fillRef>
          <a:effectRef idx="0">
            <a:schemeClr val="accent1"/>
          </a:effectRef>
          <a:fontRef idx="minor">
            <a:schemeClr val="lt1"/>
          </a:fontRef>
        </p:style>
        <p:txBody>
          <a:bodyPr rtlCol="0" anchor="t"/>
          <a:lstStyle/>
          <a:p>
            <a:pPr algn="ctr"/>
            <a:r>
              <a:rPr lang="en-US" sz="2400" dirty="0"/>
              <a:t>Hybrid EDI</a:t>
            </a:r>
          </a:p>
        </p:txBody>
      </p:sp>
      <p:sp>
        <p:nvSpPr>
          <p:cNvPr id="4" name="Rectangle 3">
            <a:extLst>
              <a:ext uri="{FF2B5EF4-FFF2-40B4-BE49-F238E27FC236}">
                <a16:creationId xmlns:a16="http://schemas.microsoft.com/office/drawing/2014/main" id="{231E9A0B-DF4E-FD00-3C28-5384889B1016}"/>
              </a:ext>
            </a:extLst>
          </p:cNvPr>
          <p:cNvSpPr/>
          <p:nvPr/>
        </p:nvSpPr>
        <p:spPr>
          <a:xfrm>
            <a:off x="9490961" y="1496264"/>
            <a:ext cx="3717032" cy="5510133"/>
          </a:xfrm>
          <a:prstGeom prst="rect">
            <a:avLst/>
          </a:prstGeom>
          <a:solidFill>
            <a:schemeClr val="bg1">
              <a:lumMod val="50000"/>
            </a:schemeClr>
          </a:solidFill>
          <a:ln>
            <a:noFill/>
          </a:ln>
        </p:spPr>
        <p:style>
          <a:lnRef idx="0">
            <a:schemeClr val="accent1"/>
          </a:lnRef>
          <a:fillRef idx="1">
            <a:schemeClr val="accent1"/>
          </a:fillRef>
          <a:effectRef idx="0">
            <a:schemeClr val="accent1"/>
          </a:effectRef>
          <a:fontRef idx="minor">
            <a:schemeClr val="lt1"/>
          </a:fontRef>
        </p:style>
        <p:txBody>
          <a:bodyPr rtlCol="0" anchor="t"/>
          <a:lstStyle/>
          <a:p>
            <a:pPr algn="ctr"/>
            <a:r>
              <a:rPr lang="en-US" sz="2400" dirty="0"/>
              <a:t>Dedicated EDI</a:t>
            </a:r>
          </a:p>
        </p:txBody>
      </p:sp>
      <p:sp>
        <p:nvSpPr>
          <p:cNvPr id="3" name="Rectangle 2">
            <a:extLst>
              <a:ext uri="{FF2B5EF4-FFF2-40B4-BE49-F238E27FC236}">
                <a16:creationId xmlns:a16="http://schemas.microsoft.com/office/drawing/2014/main" id="{2CEE513A-5ADF-0F77-9B88-E94843139C79}"/>
              </a:ext>
            </a:extLst>
          </p:cNvPr>
          <p:cNvSpPr/>
          <p:nvPr/>
        </p:nvSpPr>
        <p:spPr>
          <a:xfrm>
            <a:off x="1421596" y="1488332"/>
            <a:ext cx="3767302" cy="5510133"/>
          </a:xfrm>
          <a:prstGeom prst="rect">
            <a:avLst/>
          </a:prstGeom>
          <a:solidFill>
            <a:schemeClr val="bg1">
              <a:lumMod val="50000"/>
            </a:schemeClr>
          </a:solidFill>
          <a:ln>
            <a:noFill/>
          </a:ln>
        </p:spPr>
        <p:style>
          <a:lnRef idx="0">
            <a:schemeClr val="accent1"/>
          </a:lnRef>
          <a:fillRef idx="1">
            <a:schemeClr val="accent1"/>
          </a:fillRef>
          <a:effectRef idx="0">
            <a:schemeClr val="accent1"/>
          </a:effectRef>
          <a:fontRef idx="minor">
            <a:schemeClr val="lt1"/>
          </a:fontRef>
        </p:style>
        <p:txBody>
          <a:bodyPr rtlCol="0" anchor="t"/>
          <a:lstStyle/>
          <a:p>
            <a:pPr algn="ctr"/>
            <a:r>
              <a:rPr lang="en-US" sz="2400" dirty="0"/>
              <a:t>Fully Managed EDI</a:t>
            </a:r>
          </a:p>
        </p:txBody>
      </p:sp>
      <p:sp>
        <p:nvSpPr>
          <p:cNvPr id="2" name="Title 1">
            <a:extLst>
              <a:ext uri="{FF2B5EF4-FFF2-40B4-BE49-F238E27FC236}">
                <a16:creationId xmlns:a16="http://schemas.microsoft.com/office/drawing/2014/main" id="{A169D397-18F4-82F0-E2A2-8D2FA1FDF54B}"/>
              </a:ext>
            </a:extLst>
          </p:cNvPr>
          <p:cNvSpPr>
            <a:spLocks noGrp="1"/>
          </p:cNvSpPr>
          <p:nvPr>
            <p:ph type="title"/>
          </p:nvPr>
        </p:nvSpPr>
        <p:spPr/>
        <p:txBody>
          <a:bodyPr/>
          <a:lstStyle/>
          <a:p>
            <a:r>
              <a:rPr lang="en-US" dirty="0"/>
              <a:t>Operational Models</a:t>
            </a:r>
          </a:p>
        </p:txBody>
      </p:sp>
      <p:sp>
        <p:nvSpPr>
          <p:cNvPr id="5" name="Rectangle 4">
            <a:extLst>
              <a:ext uri="{FF2B5EF4-FFF2-40B4-BE49-F238E27FC236}">
                <a16:creationId xmlns:a16="http://schemas.microsoft.com/office/drawing/2014/main" id="{48EF95F8-48A0-7D24-BA4E-C0F193458AEE}"/>
              </a:ext>
            </a:extLst>
          </p:cNvPr>
          <p:cNvSpPr/>
          <p:nvPr/>
        </p:nvSpPr>
        <p:spPr>
          <a:xfrm>
            <a:off x="1429966" y="6157457"/>
            <a:ext cx="7837250" cy="782677"/>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r>
              <a:rPr lang="en-US" sz="2000" dirty="0">
                <a:ln w="0"/>
                <a:solidFill>
                  <a:schemeClr val="accent1"/>
                </a:solidFill>
                <a:effectLst>
                  <a:outerShdw blurRad="38100" dist="25400" dir="5400000" algn="ctr" rotWithShape="0">
                    <a:srgbClr val="6E747A">
                      <a:alpha val="43000"/>
                    </a:srgbClr>
                  </a:outerShdw>
                </a:effectLst>
              </a:rPr>
              <a:t>    Shared DXC Infrastructure (Cloud)</a:t>
            </a:r>
          </a:p>
        </p:txBody>
      </p:sp>
      <p:sp>
        <p:nvSpPr>
          <p:cNvPr id="6" name="Rectangle 5">
            <a:extLst>
              <a:ext uri="{FF2B5EF4-FFF2-40B4-BE49-F238E27FC236}">
                <a16:creationId xmlns:a16="http://schemas.microsoft.com/office/drawing/2014/main" id="{252E4BE7-AAA0-9A14-6880-31166269B19A}"/>
              </a:ext>
            </a:extLst>
          </p:cNvPr>
          <p:cNvSpPr/>
          <p:nvPr/>
        </p:nvSpPr>
        <p:spPr>
          <a:xfrm>
            <a:off x="9503924" y="6157457"/>
            <a:ext cx="3696510" cy="782677"/>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Client or DXC Infrastructure</a:t>
            </a:r>
          </a:p>
        </p:txBody>
      </p:sp>
      <p:sp>
        <p:nvSpPr>
          <p:cNvPr id="7" name="Rectangle 6">
            <a:extLst>
              <a:ext uri="{FF2B5EF4-FFF2-40B4-BE49-F238E27FC236}">
                <a16:creationId xmlns:a16="http://schemas.microsoft.com/office/drawing/2014/main" id="{16C7B84E-E88C-6E28-5E43-0D0DF8F840EC}"/>
              </a:ext>
            </a:extLst>
          </p:cNvPr>
          <p:cNvSpPr/>
          <p:nvPr/>
        </p:nvSpPr>
        <p:spPr>
          <a:xfrm>
            <a:off x="1429966" y="4291766"/>
            <a:ext cx="3727463" cy="171065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Shared DXC Partner Apps</a:t>
            </a:r>
          </a:p>
          <a:p>
            <a:pPr algn="ctr"/>
            <a:r>
              <a:rPr lang="en-US" sz="2000" dirty="0">
                <a:ln w="0"/>
                <a:solidFill>
                  <a:schemeClr val="accent1"/>
                </a:solidFill>
                <a:effectLst>
                  <a:outerShdw blurRad="38100" dist="25400" dir="5400000" algn="ctr" rotWithShape="0">
                    <a:srgbClr val="6E747A">
                      <a:alpha val="43000"/>
                    </a:srgbClr>
                  </a:outerShdw>
                </a:effectLst>
              </a:rPr>
              <a:t>(Multi-tenant)</a:t>
            </a:r>
          </a:p>
          <a:p>
            <a:pPr algn="ctr"/>
            <a:endParaRPr lang="en-US" sz="2000" dirty="0">
              <a:ln w="0"/>
              <a:solidFill>
                <a:schemeClr val="accent1"/>
              </a:solidFill>
              <a:effectLst>
                <a:outerShdw blurRad="38100" dist="25400" dir="5400000" algn="ctr" rotWithShape="0">
                  <a:srgbClr val="6E747A">
                    <a:alpha val="43000"/>
                  </a:srgbClr>
                </a:outerShdw>
              </a:effectLst>
            </a:endParaRPr>
          </a:p>
          <a:p>
            <a:pPr algn="ctr"/>
            <a:endParaRPr lang="en-US" sz="2000" dirty="0">
              <a:ln w="0"/>
              <a:solidFill>
                <a:schemeClr val="accent1"/>
              </a:solidFill>
              <a:effectLst>
                <a:outerShdw blurRad="38100" dist="25400" dir="5400000" algn="ctr" rotWithShape="0">
                  <a:srgbClr val="6E747A">
                    <a:alpha val="43000"/>
                  </a:srgbClr>
                </a:outerShdw>
              </a:effectLst>
            </a:endParaRPr>
          </a:p>
        </p:txBody>
      </p:sp>
      <p:sp>
        <p:nvSpPr>
          <p:cNvPr id="8" name="Rectangle 7">
            <a:extLst>
              <a:ext uri="{FF2B5EF4-FFF2-40B4-BE49-F238E27FC236}">
                <a16:creationId xmlns:a16="http://schemas.microsoft.com/office/drawing/2014/main" id="{31781862-2833-03AD-13C7-8E8DBC1303D4}"/>
              </a:ext>
            </a:extLst>
          </p:cNvPr>
          <p:cNvSpPr/>
          <p:nvPr/>
        </p:nvSpPr>
        <p:spPr>
          <a:xfrm>
            <a:off x="5402093" y="4291766"/>
            <a:ext cx="3865123" cy="1710656"/>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Dedicated DXC Partner Apps</a:t>
            </a:r>
          </a:p>
          <a:p>
            <a:pPr algn="ctr"/>
            <a:r>
              <a:rPr lang="en-US" sz="2000" dirty="0">
                <a:ln w="0"/>
                <a:solidFill>
                  <a:schemeClr val="accent1"/>
                </a:solidFill>
                <a:effectLst>
                  <a:outerShdw blurRad="38100" dist="25400" dir="5400000" algn="ctr" rotWithShape="0">
                    <a:srgbClr val="6E747A">
                      <a:alpha val="43000"/>
                    </a:srgbClr>
                  </a:outerShdw>
                </a:effectLst>
              </a:rPr>
              <a:t>(Single-tenant)</a:t>
            </a:r>
          </a:p>
          <a:p>
            <a:pPr algn="ctr"/>
            <a:endParaRPr lang="en-US" sz="2000" dirty="0">
              <a:ln w="0"/>
              <a:solidFill>
                <a:schemeClr val="accent1"/>
              </a:solidFill>
              <a:effectLst>
                <a:outerShdw blurRad="38100" dist="25400" dir="5400000" algn="ctr" rotWithShape="0">
                  <a:srgbClr val="6E747A">
                    <a:alpha val="43000"/>
                  </a:srgbClr>
                </a:outerShdw>
              </a:effectLst>
            </a:endParaRPr>
          </a:p>
          <a:p>
            <a:pPr algn="ctr"/>
            <a:endParaRPr lang="en-US" sz="2000" dirty="0">
              <a:ln w="0"/>
              <a:solidFill>
                <a:schemeClr val="accent1"/>
              </a:solidFill>
              <a:effectLst>
                <a:outerShdw blurRad="38100" dist="25400" dir="5400000" algn="ctr" rotWithShape="0">
                  <a:srgbClr val="6E747A">
                    <a:alpha val="43000"/>
                  </a:srgbClr>
                </a:outerShdw>
              </a:effectLst>
            </a:endParaRPr>
          </a:p>
        </p:txBody>
      </p:sp>
      <p:sp>
        <p:nvSpPr>
          <p:cNvPr id="9" name="Rectangle 8">
            <a:extLst>
              <a:ext uri="{FF2B5EF4-FFF2-40B4-BE49-F238E27FC236}">
                <a16:creationId xmlns:a16="http://schemas.microsoft.com/office/drawing/2014/main" id="{D15A9A82-944F-8D01-FC6B-C86B8DA0DA95}"/>
              </a:ext>
            </a:extLst>
          </p:cNvPr>
          <p:cNvSpPr/>
          <p:nvPr/>
        </p:nvSpPr>
        <p:spPr>
          <a:xfrm>
            <a:off x="9503923" y="4289933"/>
            <a:ext cx="3696510" cy="169258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Dedicated Apps</a:t>
            </a:r>
          </a:p>
          <a:p>
            <a:pPr algn="ctr"/>
            <a:r>
              <a:rPr lang="en-US" sz="2000" dirty="0">
                <a:ln w="0"/>
                <a:solidFill>
                  <a:schemeClr val="accent1"/>
                </a:solidFill>
                <a:effectLst>
                  <a:outerShdw blurRad="38100" dist="25400" dir="5400000" algn="ctr" rotWithShape="0">
                    <a:srgbClr val="6E747A">
                      <a:alpha val="43000"/>
                    </a:srgbClr>
                  </a:outerShdw>
                </a:effectLst>
              </a:rPr>
              <a:t>(Single-tenant, DXC or Client)</a:t>
            </a:r>
          </a:p>
          <a:p>
            <a:pPr algn="ctr"/>
            <a:endParaRPr lang="en-US" sz="2000" dirty="0">
              <a:ln w="0"/>
              <a:solidFill>
                <a:schemeClr val="accent1"/>
              </a:solidFill>
              <a:effectLst>
                <a:outerShdw blurRad="38100" dist="25400" dir="5400000" algn="ctr" rotWithShape="0">
                  <a:srgbClr val="6E747A">
                    <a:alpha val="43000"/>
                  </a:srgbClr>
                </a:outerShdw>
              </a:effectLst>
            </a:endParaRPr>
          </a:p>
          <a:p>
            <a:pPr algn="ctr"/>
            <a:endParaRPr lang="en-US" sz="2000" dirty="0">
              <a:ln w="0"/>
              <a:solidFill>
                <a:schemeClr val="accent1"/>
              </a:solidFill>
              <a:effectLst>
                <a:outerShdw blurRad="38100" dist="25400" dir="5400000" algn="ctr" rotWithShape="0">
                  <a:srgbClr val="6E747A">
                    <a:alpha val="43000"/>
                  </a:srgbClr>
                </a:outerShdw>
              </a:effectLst>
            </a:endParaRPr>
          </a:p>
        </p:txBody>
      </p:sp>
      <p:sp>
        <p:nvSpPr>
          <p:cNvPr id="10" name="Rectangle 9">
            <a:extLst>
              <a:ext uri="{FF2B5EF4-FFF2-40B4-BE49-F238E27FC236}">
                <a16:creationId xmlns:a16="http://schemas.microsoft.com/office/drawing/2014/main" id="{C8B695DE-B40D-D490-D68E-F2891E882366}"/>
              </a:ext>
            </a:extLst>
          </p:cNvPr>
          <p:cNvSpPr/>
          <p:nvPr/>
        </p:nvSpPr>
        <p:spPr>
          <a:xfrm>
            <a:off x="1429965" y="2050547"/>
            <a:ext cx="7837251" cy="1144598"/>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Shared EDI Service Management &amp; Onboarding</a:t>
            </a:r>
          </a:p>
        </p:txBody>
      </p:sp>
      <p:sp>
        <p:nvSpPr>
          <p:cNvPr id="11" name="Rectangle 10">
            <a:extLst>
              <a:ext uri="{FF2B5EF4-FFF2-40B4-BE49-F238E27FC236}">
                <a16:creationId xmlns:a16="http://schemas.microsoft.com/office/drawing/2014/main" id="{2F96387A-9AE9-30A2-02C2-ADD1CEB603D1}"/>
              </a:ext>
            </a:extLst>
          </p:cNvPr>
          <p:cNvSpPr/>
          <p:nvPr/>
        </p:nvSpPr>
        <p:spPr>
          <a:xfrm>
            <a:off x="9503923" y="2057398"/>
            <a:ext cx="3696510" cy="1122929"/>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Dedicated EDI Service Management &amp; Onboarding</a:t>
            </a:r>
          </a:p>
        </p:txBody>
      </p:sp>
      <p:sp>
        <p:nvSpPr>
          <p:cNvPr id="12" name="Rectangle 11">
            <a:extLst>
              <a:ext uri="{FF2B5EF4-FFF2-40B4-BE49-F238E27FC236}">
                <a16:creationId xmlns:a16="http://schemas.microsoft.com/office/drawing/2014/main" id="{22394F52-83BB-AACE-549E-F5CBBDDC708B}"/>
              </a:ext>
            </a:extLst>
          </p:cNvPr>
          <p:cNvSpPr/>
          <p:nvPr/>
        </p:nvSpPr>
        <p:spPr>
          <a:xfrm>
            <a:off x="1429966" y="3344158"/>
            <a:ext cx="3727463" cy="782677"/>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Shared EDI Development</a:t>
            </a:r>
          </a:p>
        </p:txBody>
      </p:sp>
      <p:pic>
        <p:nvPicPr>
          <p:cNvPr id="14" name="Picture 13" descr="Logo&#10;&#10;Description automatically generated">
            <a:extLst>
              <a:ext uri="{FF2B5EF4-FFF2-40B4-BE49-F238E27FC236}">
                <a16:creationId xmlns:a16="http://schemas.microsoft.com/office/drawing/2014/main" id="{011EC87D-77A4-CE47-3BA2-8FBCCAB1017D}"/>
              </a:ext>
            </a:extLst>
          </p:cNvPr>
          <p:cNvPicPr>
            <a:picLocks noChangeAspect="1"/>
          </p:cNvPicPr>
          <p:nvPr/>
        </p:nvPicPr>
        <p:blipFill>
          <a:blip r:embed="rId2"/>
          <a:stretch>
            <a:fillRect/>
          </a:stretch>
        </p:blipFill>
        <p:spPr>
          <a:xfrm>
            <a:off x="7213609" y="6091193"/>
            <a:ext cx="1220272" cy="915204"/>
          </a:xfrm>
          <a:prstGeom prst="rect">
            <a:avLst/>
          </a:prstGeom>
        </p:spPr>
      </p:pic>
      <p:pic>
        <p:nvPicPr>
          <p:cNvPr id="15" name="Picture 14">
            <a:extLst>
              <a:ext uri="{FF2B5EF4-FFF2-40B4-BE49-F238E27FC236}">
                <a16:creationId xmlns:a16="http://schemas.microsoft.com/office/drawing/2014/main" id="{895CA3D0-861B-4780-BEE6-1E2602CCA1AA}"/>
              </a:ext>
            </a:extLst>
          </p:cNvPr>
          <p:cNvPicPr>
            <a:picLocks noChangeAspect="1"/>
          </p:cNvPicPr>
          <p:nvPr/>
        </p:nvPicPr>
        <p:blipFill>
          <a:blip r:embed="rId3"/>
          <a:stretch>
            <a:fillRect/>
          </a:stretch>
        </p:blipFill>
        <p:spPr>
          <a:xfrm>
            <a:off x="6612107" y="5329492"/>
            <a:ext cx="1406185" cy="517325"/>
          </a:xfrm>
          <a:prstGeom prst="rect">
            <a:avLst/>
          </a:prstGeom>
        </p:spPr>
      </p:pic>
      <p:pic>
        <p:nvPicPr>
          <p:cNvPr id="16" name="Picture 15">
            <a:extLst>
              <a:ext uri="{FF2B5EF4-FFF2-40B4-BE49-F238E27FC236}">
                <a16:creationId xmlns:a16="http://schemas.microsoft.com/office/drawing/2014/main" id="{20A06D2E-03D3-548C-C9CC-2B2579F4E63B}"/>
              </a:ext>
            </a:extLst>
          </p:cNvPr>
          <p:cNvPicPr>
            <a:picLocks noChangeAspect="1"/>
          </p:cNvPicPr>
          <p:nvPr/>
        </p:nvPicPr>
        <p:blipFill>
          <a:blip r:embed="rId3"/>
          <a:stretch>
            <a:fillRect/>
          </a:stretch>
        </p:blipFill>
        <p:spPr>
          <a:xfrm>
            <a:off x="9819534" y="5300310"/>
            <a:ext cx="1406185" cy="517325"/>
          </a:xfrm>
          <a:prstGeom prst="rect">
            <a:avLst/>
          </a:prstGeom>
        </p:spPr>
      </p:pic>
      <p:sp>
        <p:nvSpPr>
          <p:cNvPr id="17" name="Rectangle 16">
            <a:extLst>
              <a:ext uri="{FF2B5EF4-FFF2-40B4-BE49-F238E27FC236}">
                <a16:creationId xmlns:a16="http://schemas.microsoft.com/office/drawing/2014/main" id="{4FC894E2-D82F-558A-1A78-54A28DBA85FA}"/>
              </a:ext>
            </a:extLst>
          </p:cNvPr>
          <p:cNvSpPr/>
          <p:nvPr/>
        </p:nvSpPr>
        <p:spPr>
          <a:xfrm>
            <a:off x="11461348" y="5300311"/>
            <a:ext cx="1406185" cy="514622"/>
          </a:xfrm>
          <a:prstGeom prst="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i="1" dirty="0"/>
              <a:t>“Any” EDI*</a:t>
            </a:r>
          </a:p>
        </p:txBody>
      </p:sp>
      <p:pic>
        <p:nvPicPr>
          <p:cNvPr id="18" name="Picture 17">
            <a:extLst>
              <a:ext uri="{FF2B5EF4-FFF2-40B4-BE49-F238E27FC236}">
                <a16:creationId xmlns:a16="http://schemas.microsoft.com/office/drawing/2014/main" id="{52B1070E-503D-51AA-647B-37656BA70F11}"/>
              </a:ext>
            </a:extLst>
          </p:cNvPr>
          <p:cNvPicPr>
            <a:picLocks noChangeAspect="1"/>
          </p:cNvPicPr>
          <p:nvPr/>
        </p:nvPicPr>
        <p:blipFill>
          <a:blip r:embed="rId4"/>
          <a:stretch>
            <a:fillRect/>
          </a:stretch>
        </p:blipFill>
        <p:spPr>
          <a:xfrm>
            <a:off x="1992136" y="5282898"/>
            <a:ext cx="927483" cy="554191"/>
          </a:xfrm>
          <a:prstGeom prst="rect">
            <a:avLst/>
          </a:prstGeom>
        </p:spPr>
      </p:pic>
      <p:pic>
        <p:nvPicPr>
          <p:cNvPr id="19" name="Picture 18">
            <a:extLst>
              <a:ext uri="{FF2B5EF4-FFF2-40B4-BE49-F238E27FC236}">
                <a16:creationId xmlns:a16="http://schemas.microsoft.com/office/drawing/2014/main" id="{1D2AF736-C83A-4177-7667-B51BB4A16E14}"/>
              </a:ext>
            </a:extLst>
          </p:cNvPr>
          <p:cNvPicPr>
            <a:picLocks noChangeAspect="1"/>
          </p:cNvPicPr>
          <p:nvPr/>
        </p:nvPicPr>
        <p:blipFill>
          <a:blip r:embed="rId5"/>
          <a:stretch>
            <a:fillRect/>
          </a:stretch>
        </p:blipFill>
        <p:spPr>
          <a:xfrm>
            <a:off x="3052933" y="5372181"/>
            <a:ext cx="1773752" cy="370875"/>
          </a:xfrm>
          <a:prstGeom prst="rect">
            <a:avLst/>
          </a:prstGeom>
        </p:spPr>
      </p:pic>
      <p:sp>
        <p:nvSpPr>
          <p:cNvPr id="20" name="Rectangle 19">
            <a:extLst>
              <a:ext uri="{FF2B5EF4-FFF2-40B4-BE49-F238E27FC236}">
                <a16:creationId xmlns:a16="http://schemas.microsoft.com/office/drawing/2014/main" id="{95F2D03C-80AD-FB01-181B-FA99D53100EF}"/>
              </a:ext>
            </a:extLst>
          </p:cNvPr>
          <p:cNvSpPr/>
          <p:nvPr/>
        </p:nvSpPr>
        <p:spPr>
          <a:xfrm>
            <a:off x="5394533" y="3360980"/>
            <a:ext cx="7805900" cy="782677"/>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ln w="0"/>
                <a:solidFill>
                  <a:schemeClr val="accent1"/>
                </a:solidFill>
                <a:effectLst>
                  <a:outerShdw blurRad="38100" dist="25400" dir="5400000" algn="ctr" rotWithShape="0">
                    <a:srgbClr val="6E747A">
                      <a:alpha val="43000"/>
                    </a:srgbClr>
                  </a:outerShdw>
                </a:effectLst>
              </a:rPr>
              <a:t>Dedicated EDI Development</a:t>
            </a:r>
          </a:p>
        </p:txBody>
      </p:sp>
      <p:sp>
        <p:nvSpPr>
          <p:cNvPr id="21" name="TextBox 20">
            <a:extLst>
              <a:ext uri="{FF2B5EF4-FFF2-40B4-BE49-F238E27FC236}">
                <a16:creationId xmlns:a16="http://schemas.microsoft.com/office/drawing/2014/main" id="{213571FF-BA58-46CB-7F64-E2891305D146}"/>
              </a:ext>
            </a:extLst>
          </p:cNvPr>
          <p:cNvSpPr txBox="1"/>
          <p:nvPr/>
        </p:nvSpPr>
        <p:spPr>
          <a:xfrm>
            <a:off x="1800937" y="7124352"/>
            <a:ext cx="9950076" cy="244682"/>
          </a:xfrm>
          <a:prstGeom prst="rect">
            <a:avLst/>
          </a:prstGeom>
          <a:noFill/>
        </p:spPr>
        <p:txBody>
          <a:bodyPr wrap="square" rtlCol="0">
            <a:spAutoFit/>
          </a:bodyPr>
          <a:lstStyle/>
          <a:p>
            <a:pPr algn="l">
              <a:lnSpc>
                <a:spcPct val="90000"/>
              </a:lnSpc>
              <a:spcAft>
                <a:spcPts val="400"/>
              </a:spcAft>
            </a:pPr>
            <a:r>
              <a:rPr lang="en-US" sz="1100" dirty="0"/>
              <a:t>*Not technically </a:t>
            </a:r>
            <a:r>
              <a:rPr lang="en-US" sz="1100" u="sng" dirty="0"/>
              <a:t>any</a:t>
            </a:r>
            <a:r>
              <a:rPr lang="en-US" sz="1100" dirty="0"/>
              <a:t> EDI software, but the vast majority of common EDI products in use today</a:t>
            </a:r>
          </a:p>
        </p:txBody>
      </p:sp>
    </p:spTree>
    <p:extLst>
      <p:ext uri="{BB962C8B-B14F-4D97-AF65-F5344CB8AC3E}">
        <p14:creationId xmlns:p14="http://schemas.microsoft.com/office/powerpoint/2010/main" val="485354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7695" y="608660"/>
            <a:ext cx="12883415" cy="614968"/>
          </a:xfrm>
        </p:spPr>
        <p:txBody>
          <a:bodyPr/>
          <a:lstStyle/>
          <a:p>
            <a:r>
              <a:rPr lang="en-US" dirty="0">
                <a:solidFill>
                  <a:srgbClr val="60249E"/>
                </a:solidFill>
              </a:rPr>
              <a:t>EDI Challenges Typical in the Industry</a:t>
            </a:r>
          </a:p>
        </p:txBody>
      </p:sp>
      <p:sp>
        <p:nvSpPr>
          <p:cNvPr id="5" name="Content Placeholder 3"/>
          <p:cNvSpPr txBox="1">
            <a:spLocks/>
          </p:cNvSpPr>
          <p:nvPr/>
        </p:nvSpPr>
        <p:spPr bwMode="black">
          <a:xfrm>
            <a:off x="757695" y="1782127"/>
            <a:ext cx="6080850" cy="4501946"/>
          </a:xfrm>
          <a:prstGeom prst="rect">
            <a:avLst/>
          </a:prstGeom>
        </p:spPr>
        <p:txBody>
          <a:bodyPr vert="horz" wrap="square" lIns="0" tIns="0" rIns="0" bIns="0" rtlCol="0">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M&amp;A activity leaves an EDI landscape of </a:t>
            </a:r>
            <a:r>
              <a:rPr lang="en-US" dirty="0">
                <a:solidFill>
                  <a:schemeClr val="tx1"/>
                </a:solidFill>
                <a:latin typeface="Arial" panose="020B0604020202020204" pitchFamily="34" charset="0"/>
                <a:cs typeface="Arial" panose="020B0604020202020204" pitchFamily="34" charset="0"/>
              </a:rPr>
              <a:t>under-utilized, fragmented and non-standard </a:t>
            </a:r>
            <a:r>
              <a:rPr lang="en-US" b="0" dirty="0">
                <a:solidFill>
                  <a:schemeClr val="tx1"/>
                </a:solidFill>
                <a:latin typeface="Arial" panose="020B0604020202020204" pitchFamily="34" charset="0"/>
                <a:cs typeface="Arial" panose="020B0604020202020204" pitchFamily="34" charset="0"/>
              </a:rPr>
              <a:t>EDI systems and operating environments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Out-dated</a:t>
            </a:r>
            <a:r>
              <a:rPr lang="en-US" b="0" dirty="0">
                <a:solidFill>
                  <a:schemeClr val="tx1"/>
                </a:solidFill>
                <a:latin typeface="Arial" panose="020B0604020202020204" pitchFamily="34" charset="0"/>
                <a:cs typeface="Arial" panose="020B0604020202020204" pitchFamily="34" charset="0"/>
              </a:rPr>
              <a:t> and/or </a:t>
            </a:r>
            <a:r>
              <a:rPr lang="en-US" dirty="0">
                <a:solidFill>
                  <a:schemeClr val="tx1"/>
                </a:solidFill>
                <a:latin typeface="Arial" panose="020B0604020202020204" pitchFamily="34" charset="0"/>
                <a:cs typeface="Arial" panose="020B0604020202020204" pitchFamily="34" charset="0"/>
              </a:rPr>
              <a:t>un-supported</a:t>
            </a:r>
            <a:r>
              <a:rPr lang="en-US" b="0" dirty="0">
                <a:solidFill>
                  <a:schemeClr val="tx1"/>
                </a:solidFill>
                <a:latin typeface="Arial" panose="020B0604020202020204" pitchFamily="34" charset="0"/>
                <a:cs typeface="Arial" panose="020B0604020202020204" pitchFamily="34" charset="0"/>
              </a:rPr>
              <a:t> EDI software, lacking key features the business needs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Unable to scale</a:t>
            </a:r>
            <a:r>
              <a:rPr lang="en-US" b="0" dirty="0">
                <a:solidFill>
                  <a:schemeClr val="tx1"/>
                </a:solidFill>
                <a:latin typeface="Arial" panose="020B0604020202020204" pitchFamily="34" charset="0"/>
                <a:cs typeface="Arial" panose="020B0604020202020204" pitchFamily="34" charset="0"/>
              </a:rPr>
              <a:t>, extend, and/or add new trading partners or functionality as fast as needed</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Inconsistent Security </a:t>
            </a:r>
            <a:r>
              <a:rPr lang="en-US" b="0" dirty="0">
                <a:solidFill>
                  <a:schemeClr val="tx1"/>
                </a:solidFill>
                <a:latin typeface="Arial" panose="020B0604020202020204" pitchFamily="34" charset="0"/>
                <a:cs typeface="Arial" panose="020B0604020202020204" pitchFamily="34" charset="0"/>
              </a:rPr>
              <a:t>policy implementation – security holes abound (FTP, clear text transfers)</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Weak or </a:t>
            </a:r>
            <a:r>
              <a:rPr lang="en-US" dirty="0">
                <a:solidFill>
                  <a:schemeClr val="tx1"/>
                </a:solidFill>
                <a:latin typeface="Arial" panose="020B0604020202020204" pitchFamily="34" charset="0"/>
                <a:cs typeface="Arial" panose="020B0604020202020204" pitchFamily="34" charset="0"/>
              </a:rPr>
              <a:t>non-existent Disaster Recovery </a:t>
            </a:r>
            <a:r>
              <a:rPr lang="en-US" b="0" dirty="0">
                <a:solidFill>
                  <a:schemeClr val="tx1"/>
                </a:solidFill>
                <a:latin typeface="Arial" panose="020B0604020202020204" pitchFamily="34" charset="0"/>
                <a:cs typeface="Arial" panose="020B0604020202020204" pitchFamily="34" charset="0"/>
              </a:rPr>
              <a:t>and Business Continuity plans and capability</a:t>
            </a:r>
          </a:p>
        </p:txBody>
      </p:sp>
      <p:sp>
        <p:nvSpPr>
          <p:cNvPr id="8" name="Content Placeholder 3"/>
          <p:cNvSpPr txBox="1">
            <a:spLocks/>
          </p:cNvSpPr>
          <p:nvPr/>
        </p:nvSpPr>
        <p:spPr bwMode="black">
          <a:xfrm>
            <a:off x="7315199" y="1781050"/>
            <a:ext cx="6595353" cy="4386290"/>
          </a:xfrm>
          <a:prstGeom prst="rect">
            <a:avLst/>
          </a:prstGeom>
        </p:spPr>
        <p:txBody>
          <a:bodyPr vert="horz" wrap="square" lIns="0" tIns="0" rIns="0" bIns="0" rtlCol="0">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Inconsistent monitoring </a:t>
            </a:r>
            <a:r>
              <a:rPr lang="en-US" b="0" dirty="0">
                <a:solidFill>
                  <a:schemeClr val="tx1"/>
                </a:solidFill>
                <a:latin typeface="Arial" panose="020B0604020202020204" pitchFamily="34" charset="0"/>
                <a:cs typeface="Arial" panose="020B0604020202020204" pitchFamily="34" charset="0"/>
              </a:rPr>
              <a:t>– lack of end-to-end process visibility, and resulting process failures (lost $)</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Inconsistent service levels </a:t>
            </a:r>
            <a:r>
              <a:rPr lang="en-US" b="0" dirty="0">
                <a:solidFill>
                  <a:schemeClr val="tx1"/>
                </a:solidFill>
                <a:latin typeface="Arial" panose="020B0604020202020204" pitchFamily="34" charset="0"/>
                <a:cs typeface="Arial" panose="020B0604020202020204" pitchFamily="34" charset="0"/>
              </a:rPr>
              <a:t>between different EDI programs in different parts of the company</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Redundant staff </a:t>
            </a:r>
            <a:r>
              <a:rPr lang="en-US" b="0" dirty="0">
                <a:solidFill>
                  <a:schemeClr val="tx1"/>
                </a:solidFill>
                <a:latin typeface="Arial" panose="020B0604020202020204" pitchFamily="34" charset="0"/>
                <a:cs typeface="Arial" panose="020B0604020202020204" pitchFamily="34" charset="0"/>
              </a:rPr>
              <a:t>– EDI skills are scattered across people in too many different groups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Difficulty finding staff </a:t>
            </a:r>
            <a:r>
              <a:rPr lang="en-US" b="0" dirty="0">
                <a:solidFill>
                  <a:schemeClr val="tx1"/>
                </a:solidFill>
                <a:latin typeface="Arial" panose="020B0604020202020204" pitchFamily="34" charset="0"/>
                <a:cs typeface="Arial" panose="020B0604020202020204" pitchFamily="34" charset="0"/>
              </a:rPr>
              <a:t>with the right software skills</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Old VAN contracts with </a:t>
            </a:r>
            <a:r>
              <a:rPr lang="en-US" dirty="0">
                <a:solidFill>
                  <a:schemeClr val="tx1"/>
                </a:solidFill>
                <a:latin typeface="Arial" panose="020B0604020202020204" pitchFamily="34" charset="0"/>
                <a:cs typeface="Arial" panose="020B0604020202020204" pitchFamily="34" charset="0"/>
              </a:rPr>
              <a:t>costs well above current market rates</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Ineffective or </a:t>
            </a:r>
            <a:r>
              <a:rPr lang="en-US" dirty="0">
                <a:solidFill>
                  <a:schemeClr val="tx1"/>
                </a:solidFill>
                <a:latin typeface="Arial" panose="020B0604020202020204" pitchFamily="34" charset="0"/>
                <a:cs typeface="Arial" panose="020B0604020202020204" pitchFamily="34" charset="0"/>
              </a:rPr>
              <a:t>absent visibility </a:t>
            </a:r>
            <a:r>
              <a:rPr lang="en-US" b="0" dirty="0">
                <a:solidFill>
                  <a:schemeClr val="tx1"/>
                </a:solidFill>
                <a:latin typeface="Arial" panose="020B0604020202020204" pitchFamily="34" charset="0"/>
                <a:cs typeface="Arial" panose="020B0604020202020204" pitchFamily="34" charset="0"/>
              </a:rPr>
              <a:t>and governance – limited or no ability to provide EDI program oversight</a:t>
            </a:r>
          </a:p>
        </p:txBody>
      </p:sp>
      <p:sp>
        <p:nvSpPr>
          <p:cNvPr id="11" name="TextBox 10"/>
          <p:cNvSpPr txBox="1"/>
          <p:nvPr/>
        </p:nvSpPr>
        <p:spPr>
          <a:xfrm>
            <a:off x="3833604" y="6074968"/>
            <a:ext cx="8111959" cy="486287"/>
          </a:xfrm>
          <a:prstGeom prst="rect">
            <a:avLst/>
          </a:prstGeom>
          <a:noFill/>
        </p:spPr>
        <p:txBody>
          <a:bodyPr wrap="square" rtlCol="0">
            <a:spAutoFit/>
          </a:bodyPr>
          <a:lstStyle/>
          <a:p>
            <a:pPr defTabSz="688324">
              <a:spcAft>
                <a:spcPts val="640"/>
              </a:spcAft>
              <a:buSzPct val="100000"/>
            </a:pPr>
            <a:r>
              <a:rPr lang="en-US" sz="2560" b="1" dirty="0">
                <a:latin typeface="Arial" panose="020B0604020202020204" pitchFamily="34" charset="0"/>
                <a:cs typeface="Arial" panose="020B0604020202020204" pitchFamily="34" charset="0"/>
              </a:rPr>
              <a:t>Resulting in </a:t>
            </a:r>
            <a:r>
              <a:rPr lang="en-US" sz="2560" b="1" u="sng" dirty="0">
                <a:solidFill>
                  <a:schemeClr val="accent1"/>
                </a:solidFill>
                <a:latin typeface="Arial" panose="020B0604020202020204" pitchFamily="34" charset="0"/>
                <a:cs typeface="Arial" panose="020B0604020202020204" pitchFamily="34" charset="0"/>
              </a:rPr>
              <a:t>Poor Performance</a:t>
            </a:r>
            <a:r>
              <a:rPr lang="en-US" sz="2560" b="1" dirty="0">
                <a:latin typeface="Arial" panose="020B0604020202020204" pitchFamily="34" charset="0"/>
                <a:cs typeface="Arial" panose="020B0604020202020204" pitchFamily="34" charset="0"/>
              </a:rPr>
              <a:t> and </a:t>
            </a:r>
            <a:r>
              <a:rPr lang="en-US" sz="2560" b="1" u="sng" dirty="0">
                <a:solidFill>
                  <a:schemeClr val="accent1"/>
                </a:solidFill>
                <a:latin typeface="Arial" panose="020B0604020202020204" pitchFamily="34" charset="0"/>
                <a:cs typeface="Arial" panose="020B0604020202020204" pitchFamily="34" charset="0"/>
              </a:rPr>
              <a:t>High Cost</a:t>
            </a:r>
          </a:p>
        </p:txBody>
      </p:sp>
      <p:sp>
        <p:nvSpPr>
          <p:cNvPr id="3" name="Arrow: Right 2">
            <a:extLst>
              <a:ext uri="{FF2B5EF4-FFF2-40B4-BE49-F238E27FC236}">
                <a16:creationId xmlns:a16="http://schemas.microsoft.com/office/drawing/2014/main" id="{2D1A6086-111C-317E-6FDC-858D7A34BF56}"/>
              </a:ext>
            </a:extLst>
          </p:cNvPr>
          <p:cNvSpPr/>
          <p:nvPr/>
        </p:nvSpPr>
        <p:spPr>
          <a:xfrm>
            <a:off x="1585603" y="5846321"/>
            <a:ext cx="2169268" cy="943583"/>
          </a:xfrm>
          <a:prstGeom prst="rightArrow">
            <a:avLst/>
          </a:prstGeom>
          <a:solidFill>
            <a:srgbClr val="FF0000"/>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118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1520" y="578237"/>
            <a:ext cx="8793480" cy="1318782"/>
          </a:xfrm>
        </p:spPr>
        <p:txBody>
          <a:bodyPr/>
          <a:lstStyle/>
          <a:p>
            <a:r>
              <a:rPr lang="en-US" dirty="0">
                <a:solidFill>
                  <a:srgbClr val="60249E"/>
                </a:solidFill>
              </a:rPr>
              <a:t>The case for EDI Managed Service</a:t>
            </a:r>
          </a:p>
        </p:txBody>
      </p:sp>
      <p:sp>
        <p:nvSpPr>
          <p:cNvPr id="5" name="Content Placeholder 3"/>
          <p:cNvSpPr txBox="1">
            <a:spLocks/>
          </p:cNvSpPr>
          <p:nvPr/>
        </p:nvSpPr>
        <p:spPr bwMode="black">
          <a:xfrm>
            <a:off x="731520" y="1362980"/>
            <a:ext cx="6184846" cy="4854941"/>
          </a:xfrm>
          <a:prstGeom prst="rect">
            <a:avLst/>
          </a:prstGeom>
        </p:spPr>
        <p:txBody>
          <a:bodyPr vert="horz" wrap="square" lIns="0" tIns="0" rIns="0" bIns="0" rtlCol="0">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Aft>
                <a:spcPts val="320"/>
              </a:spcAft>
            </a:pPr>
            <a:r>
              <a:rPr lang="en-US" sz="2800" dirty="0">
                <a:solidFill>
                  <a:schemeClr val="tx1"/>
                </a:solidFill>
                <a:latin typeface="Arial" panose="020B0604020202020204" pitchFamily="34" charset="0"/>
                <a:cs typeface="Arial" panose="020B0604020202020204" pitchFamily="34" charset="0"/>
              </a:rPr>
              <a:t>What you get</a:t>
            </a:r>
          </a:p>
          <a:p>
            <a:pPr marL="342900" indent="-342900">
              <a:buFont typeface="Wingdings" panose="05000000000000000000" pitchFamily="2" charset="2"/>
              <a:buChar char="ü"/>
            </a:pPr>
            <a:endParaRPr lang="en-US" b="0" dirty="0">
              <a:latin typeface="Arial" panose="020B0604020202020204" pitchFamily="34" charset="0"/>
              <a:cs typeface="Arial" panose="020B0604020202020204" pitchFamily="34" charset="0"/>
            </a:endParaRP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A </a:t>
            </a:r>
            <a:r>
              <a:rPr lang="en-US" dirty="0">
                <a:solidFill>
                  <a:schemeClr val="tx1"/>
                </a:solidFill>
                <a:latin typeface="Arial" panose="020B0604020202020204" pitchFamily="34" charset="0"/>
                <a:cs typeface="Arial" panose="020B0604020202020204" pitchFamily="34" charset="0"/>
              </a:rPr>
              <a:t>single global EDI </a:t>
            </a:r>
            <a:r>
              <a:rPr lang="en-US" b="0" dirty="0">
                <a:solidFill>
                  <a:schemeClr val="tx1"/>
                </a:solidFill>
                <a:latin typeface="Arial" panose="020B0604020202020204" pitchFamily="34" charset="0"/>
                <a:cs typeface="Arial" panose="020B0604020202020204" pitchFamily="34" charset="0"/>
              </a:rPr>
              <a:t>operating environment</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Modern, flexible </a:t>
            </a:r>
            <a:r>
              <a:rPr lang="en-US" b="0" dirty="0">
                <a:solidFill>
                  <a:schemeClr val="tx1"/>
                </a:solidFill>
                <a:latin typeface="Arial" panose="020B0604020202020204" pitchFamily="34" charset="0"/>
                <a:cs typeface="Arial" panose="020B0604020202020204" pitchFamily="34" charset="0"/>
              </a:rPr>
              <a:t>EDI software</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Leveraged EDI “Center of Excellence” for </a:t>
            </a:r>
            <a:r>
              <a:rPr lang="en-US" dirty="0">
                <a:solidFill>
                  <a:schemeClr val="tx1"/>
                </a:solidFill>
                <a:latin typeface="Arial" panose="020B0604020202020204" pitchFamily="34" charset="0"/>
                <a:cs typeface="Arial" panose="020B0604020202020204" pitchFamily="34" charset="0"/>
              </a:rPr>
              <a:t>well-trained, available, best-shore staff</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Built-in </a:t>
            </a:r>
            <a:r>
              <a:rPr lang="en-US" dirty="0">
                <a:solidFill>
                  <a:schemeClr val="tx1"/>
                </a:solidFill>
                <a:latin typeface="Arial" panose="020B0604020202020204" pitchFamily="34" charset="0"/>
                <a:cs typeface="Arial" panose="020B0604020202020204" pitchFamily="34" charset="0"/>
              </a:rPr>
              <a:t>redundancy and fail-over </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Transparent </a:t>
            </a:r>
            <a:r>
              <a:rPr lang="en-US" dirty="0">
                <a:solidFill>
                  <a:schemeClr val="tx1"/>
                </a:solidFill>
                <a:latin typeface="Arial" panose="020B0604020202020204" pitchFamily="34" charset="0"/>
                <a:cs typeface="Arial" panose="020B0604020202020204" pitchFamily="34" charset="0"/>
              </a:rPr>
              <a:t>technology re-fresh</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Global governance</a:t>
            </a:r>
            <a:r>
              <a:rPr lang="en-US" b="0" dirty="0">
                <a:solidFill>
                  <a:schemeClr val="tx1"/>
                </a:solidFill>
                <a:latin typeface="Arial" panose="020B0604020202020204" pitchFamily="34" charset="0"/>
                <a:cs typeface="Arial" panose="020B0604020202020204" pitchFamily="34" charset="0"/>
              </a:rPr>
              <a:t>, control and visibility</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Effective </a:t>
            </a:r>
            <a:r>
              <a:rPr lang="en-US" dirty="0">
                <a:solidFill>
                  <a:schemeClr val="tx1"/>
                </a:solidFill>
                <a:latin typeface="Arial" panose="020B0604020202020204" pitchFamily="34" charset="0"/>
                <a:cs typeface="Arial" panose="020B0604020202020204" pitchFamily="34" charset="0"/>
              </a:rPr>
              <a:t>trading partner on-boarding </a:t>
            </a:r>
            <a:r>
              <a:rPr lang="en-US" b="0" dirty="0">
                <a:solidFill>
                  <a:schemeClr val="tx1"/>
                </a:solidFill>
                <a:latin typeface="Arial" panose="020B0604020202020204" pitchFamily="34" charset="0"/>
                <a:cs typeface="Arial" panose="020B0604020202020204" pitchFamily="34" charset="0"/>
              </a:rPr>
              <a:t>and management</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Consistent service levels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Consistent security policies</a:t>
            </a:r>
          </a:p>
        </p:txBody>
      </p:sp>
      <p:sp>
        <p:nvSpPr>
          <p:cNvPr id="8" name="Content Placeholder 3"/>
          <p:cNvSpPr txBox="1">
            <a:spLocks/>
          </p:cNvSpPr>
          <p:nvPr/>
        </p:nvSpPr>
        <p:spPr bwMode="black">
          <a:xfrm>
            <a:off x="7314738" y="1500998"/>
            <a:ext cx="6304280" cy="6396870"/>
          </a:xfrm>
          <a:prstGeom prst="rect">
            <a:avLst/>
          </a:prstGeom>
        </p:spPr>
        <p:txBody>
          <a:bodyPr vert="horz" wrap="square" lIns="0" tIns="0" rIns="0" bIns="0" rtlCol="0">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n-US" sz="2560" b="0" dirty="0">
              <a:solidFill>
                <a:schemeClr val="tx1"/>
              </a:solidFill>
            </a:endParaRPr>
          </a:p>
        </p:txBody>
      </p:sp>
      <p:sp>
        <p:nvSpPr>
          <p:cNvPr id="13" name="Content Placeholder 3"/>
          <p:cNvSpPr txBox="1">
            <a:spLocks/>
          </p:cNvSpPr>
          <p:nvPr/>
        </p:nvSpPr>
        <p:spPr bwMode="black">
          <a:xfrm>
            <a:off x="7233463" y="1365211"/>
            <a:ext cx="6665417" cy="5460799"/>
          </a:xfrm>
          <a:prstGeom prst="rect">
            <a:avLst/>
          </a:prstGeom>
        </p:spPr>
        <p:txBody>
          <a:bodyPr vert="horz" wrap="square" lIns="0" tIns="0" rIns="0" bIns="0" rtlCol="0">
            <a:noAutofit/>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chemeClr val="accent1"/>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spcAft>
                <a:spcPts val="320"/>
              </a:spcAft>
            </a:pPr>
            <a:r>
              <a:rPr lang="en-US" sz="2800" dirty="0">
                <a:solidFill>
                  <a:schemeClr val="tx1"/>
                </a:solidFill>
                <a:latin typeface="Arial" panose="020B0604020202020204" pitchFamily="34" charset="0"/>
                <a:cs typeface="Arial" panose="020B0604020202020204" pitchFamily="34" charset="0"/>
              </a:rPr>
              <a:t>Why it matters</a:t>
            </a:r>
          </a:p>
          <a:p>
            <a:endParaRPr lang="en-US" sz="1400" b="0" dirty="0"/>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Lower TCO by 20-40% - </a:t>
            </a:r>
            <a:r>
              <a:rPr lang="en-US" b="0" dirty="0">
                <a:solidFill>
                  <a:schemeClr val="tx1"/>
                </a:solidFill>
                <a:latin typeface="Arial" panose="020B0604020202020204" pitchFamily="34" charset="0"/>
                <a:cs typeface="Arial" panose="020B0604020202020204" pitchFamily="34" charset="0"/>
              </a:rPr>
              <a:t>Better and leveraged utilization, eliminated capital expenditures (hardware, software), leveraged best shore staffing, and EDI traffic consolidation</a:t>
            </a:r>
          </a:p>
          <a:p>
            <a:pPr marL="457188" indent="-457188">
              <a:buFont typeface="Wingdings" panose="05000000000000000000" pitchFamily="2" charset="2"/>
              <a:buChar char="§"/>
            </a:pPr>
            <a:r>
              <a:rPr lang="en-US" b="0" dirty="0">
                <a:solidFill>
                  <a:schemeClr val="tx1"/>
                </a:solidFill>
                <a:latin typeface="Arial" panose="020B0604020202020204" pitchFamily="34" charset="0"/>
                <a:cs typeface="Arial" panose="020B0604020202020204" pitchFamily="34" charset="0"/>
              </a:rPr>
              <a:t>Better ability to </a:t>
            </a:r>
            <a:r>
              <a:rPr lang="en-US" dirty="0">
                <a:solidFill>
                  <a:schemeClr val="tx1"/>
                </a:solidFill>
                <a:latin typeface="Arial" panose="020B0604020202020204" pitchFamily="34" charset="0"/>
                <a:cs typeface="Arial" panose="020B0604020202020204" pitchFamily="34" charset="0"/>
              </a:rPr>
              <a:t>support growth </a:t>
            </a:r>
            <a:r>
              <a:rPr lang="en-US" b="0" dirty="0">
                <a:solidFill>
                  <a:schemeClr val="tx1"/>
                </a:solidFill>
                <a:latin typeface="Arial" panose="020B0604020202020204" pitchFamily="34" charset="0"/>
                <a:cs typeface="Arial" panose="020B0604020202020204" pitchFamily="34" charset="0"/>
              </a:rPr>
              <a:t>and new business requirements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Fewer process failures – </a:t>
            </a:r>
            <a:r>
              <a:rPr lang="en-US" b="0" dirty="0">
                <a:solidFill>
                  <a:schemeClr val="tx1"/>
                </a:solidFill>
                <a:latin typeface="Arial" panose="020B0604020202020204" pitchFamily="34" charset="0"/>
                <a:cs typeface="Arial" panose="020B0604020202020204" pitchFamily="34" charset="0"/>
              </a:rPr>
              <a:t>proactive monitoring and end-to-end visibility</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Better overall performance </a:t>
            </a:r>
            <a:r>
              <a:rPr lang="en-US" b="0" dirty="0">
                <a:solidFill>
                  <a:schemeClr val="tx1"/>
                </a:solidFill>
                <a:latin typeface="Arial" panose="020B0604020202020204" pitchFamily="34" charset="0"/>
                <a:cs typeface="Arial" panose="020B0604020202020204" pitchFamily="34" charset="0"/>
              </a:rPr>
              <a:t>through a leveraged, scalable platform</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Improved trading partner relationships, </a:t>
            </a:r>
            <a:r>
              <a:rPr lang="en-US" b="0" dirty="0">
                <a:solidFill>
                  <a:schemeClr val="tx1"/>
                </a:solidFill>
                <a:latin typeface="Arial" panose="020B0604020202020204" pitchFamily="34" charset="0"/>
                <a:cs typeface="Arial" panose="020B0604020202020204" pitchFamily="34" charset="0"/>
              </a:rPr>
              <a:t>and</a:t>
            </a:r>
            <a:r>
              <a:rPr lang="en-US" dirty="0">
                <a:solidFill>
                  <a:schemeClr val="tx1"/>
                </a:solidFill>
                <a:latin typeface="Arial" panose="020B0604020202020204" pitchFamily="34" charset="0"/>
                <a:cs typeface="Arial" panose="020B0604020202020204" pitchFamily="34" charset="0"/>
              </a:rPr>
              <a:t> happier internal and external customers</a:t>
            </a:r>
          </a:p>
          <a:p>
            <a:pPr marL="457188" indent="-457188">
              <a:buFont typeface="Wingdings" panose="05000000000000000000" pitchFamily="2" charset="2"/>
              <a:buChar char="§"/>
            </a:pPr>
            <a:r>
              <a:rPr lang="en-US" dirty="0">
                <a:solidFill>
                  <a:schemeClr val="tx1"/>
                </a:solidFill>
                <a:latin typeface="Arial" panose="020B0604020202020204" pitchFamily="34" charset="0"/>
                <a:cs typeface="Arial" panose="020B0604020202020204" pitchFamily="34" charset="0"/>
              </a:rPr>
              <a:t>Lower business risk </a:t>
            </a:r>
            <a:r>
              <a:rPr lang="en-US" b="0" dirty="0">
                <a:solidFill>
                  <a:schemeClr val="tx1"/>
                </a:solidFill>
                <a:latin typeface="Arial" panose="020B0604020202020204" pitchFamily="34" charset="0"/>
                <a:cs typeface="Arial" panose="020B0604020202020204" pitchFamily="34" charset="0"/>
              </a:rPr>
              <a:t>through consistent SLA, standard security practices and DRP</a:t>
            </a:r>
          </a:p>
        </p:txBody>
      </p:sp>
      <p:sp>
        <p:nvSpPr>
          <p:cNvPr id="3" name="TextBox 2">
            <a:extLst>
              <a:ext uri="{FF2B5EF4-FFF2-40B4-BE49-F238E27FC236}">
                <a16:creationId xmlns:a16="http://schemas.microsoft.com/office/drawing/2014/main" id="{07DDE033-5E48-8AC7-1B0E-CBE471E65E42}"/>
              </a:ext>
            </a:extLst>
          </p:cNvPr>
          <p:cNvSpPr txBox="1"/>
          <p:nvPr/>
        </p:nvSpPr>
        <p:spPr>
          <a:xfrm>
            <a:off x="3804427" y="6425164"/>
            <a:ext cx="9628424" cy="486287"/>
          </a:xfrm>
          <a:prstGeom prst="rect">
            <a:avLst/>
          </a:prstGeom>
          <a:noFill/>
        </p:spPr>
        <p:txBody>
          <a:bodyPr wrap="square" rtlCol="0">
            <a:spAutoFit/>
          </a:bodyPr>
          <a:lstStyle/>
          <a:p>
            <a:pPr defTabSz="688324">
              <a:spcAft>
                <a:spcPts val="640"/>
              </a:spcAft>
              <a:buSzPct val="100000"/>
            </a:pPr>
            <a:r>
              <a:rPr lang="en-US" sz="2560" b="1" dirty="0">
                <a:latin typeface="Arial" panose="020B0604020202020204" pitchFamily="34" charset="0"/>
                <a:cs typeface="Arial" panose="020B0604020202020204" pitchFamily="34" charset="0"/>
              </a:rPr>
              <a:t>Resulting in </a:t>
            </a:r>
            <a:r>
              <a:rPr lang="en-US" sz="2560" b="1" u="sng" dirty="0">
                <a:solidFill>
                  <a:schemeClr val="accent1"/>
                </a:solidFill>
                <a:latin typeface="Arial" panose="020B0604020202020204" pitchFamily="34" charset="0"/>
                <a:cs typeface="Arial" panose="020B0604020202020204" pitchFamily="34" charset="0"/>
              </a:rPr>
              <a:t>Performance Improvement</a:t>
            </a:r>
            <a:r>
              <a:rPr lang="en-US" sz="2560" b="1" dirty="0">
                <a:latin typeface="Arial" panose="020B0604020202020204" pitchFamily="34" charset="0"/>
                <a:cs typeface="Arial" panose="020B0604020202020204" pitchFamily="34" charset="0"/>
              </a:rPr>
              <a:t> and </a:t>
            </a:r>
            <a:r>
              <a:rPr lang="en-US" sz="2560" b="1" u="sng" dirty="0">
                <a:solidFill>
                  <a:schemeClr val="accent1"/>
                </a:solidFill>
                <a:latin typeface="Arial" panose="020B0604020202020204" pitchFamily="34" charset="0"/>
                <a:cs typeface="Arial" panose="020B0604020202020204" pitchFamily="34" charset="0"/>
              </a:rPr>
              <a:t>Lower Costs</a:t>
            </a:r>
          </a:p>
        </p:txBody>
      </p:sp>
      <p:sp>
        <p:nvSpPr>
          <p:cNvPr id="4" name="Arrow: Right 3">
            <a:extLst>
              <a:ext uri="{FF2B5EF4-FFF2-40B4-BE49-F238E27FC236}">
                <a16:creationId xmlns:a16="http://schemas.microsoft.com/office/drawing/2014/main" id="{9FBF2A83-DEBC-6CF3-D4D8-EB4642DFD6EC}"/>
              </a:ext>
            </a:extLst>
          </p:cNvPr>
          <p:cNvSpPr/>
          <p:nvPr/>
        </p:nvSpPr>
        <p:spPr>
          <a:xfrm>
            <a:off x="1566151" y="6196517"/>
            <a:ext cx="2169268" cy="943583"/>
          </a:xfrm>
          <a:prstGeom prst="rightArrow">
            <a:avLst/>
          </a:prstGeom>
          <a:solidFill>
            <a:srgbClr val="00B050"/>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4633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9"/>
          <p:cNvSpPr/>
          <p:nvPr/>
        </p:nvSpPr>
        <p:spPr>
          <a:xfrm>
            <a:off x="845639" y="6009157"/>
            <a:ext cx="12819304" cy="1410413"/>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4" name="Title 3"/>
          <p:cNvSpPr>
            <a:spLocks noGrp="1"/>
          </p:cNvSpPr>
          <p:nvPr>
            <p:ph type="title"/>
          </p:nvPr>
        </p:nvSpPr>
        <p:spPr>
          <a:xfrm>
            <a:off x="898376" y="589379"/>
            <a:ext cx="12987529" cy="689419"/>
          </a:xfrm>
        </p:spPr>
        <p:txBody>
          <a:bodyPr/>
          <a:lstStyle/>
          <a:p>
            <a:r>
              <a:rPr lang="nl-BE" dirty="0">
                <a:solidFill>
                  <a:srgbClr val="60249E"/>
                </a:solidFill>
                <a:latin typeface="Arial" panose="020B0604020202020204" pitchFamily="34" charset="0"/>
                <a:cs typeface="Arial" panose="020B0604020202020204" pitchFamily="34" charset="0"/>
              </a:rPr>
              <a:t>BES EDI Framework </a:t>
            </a:r>
            <a:r>
              <a:rPr lang="nl-BE" sz="2800" dirty="0">
                <a:solidFill>
                  <a:srgbClr val="60249E"/>
                </a:solidFill>
                <a:latin typeface="Arial" panose="020B0604020202020204" pitchFamily="34" charset="0"/>
                <a:cs typeface="Arial" panose="020B0604020202020204" pitchFamily="34" charset="0"/>
              </a:rPr>
              <a:t>– A Multi-Enterprise Collaboration Service</a:t>
            </a:r>
            <a:endParaRPr lang="en-GB" sz="2800" dirty="0">
              <a:solidFill>
                <a:srgbClr val="60249E"/>
              </a:solidFill>
              <a:latin typeface="Arial" panose="020B0604020202020204" pitchFamily="34" charset="0"/>
              <a:cs typeface="Arial" panose="020B0604020202020204" pitchFamily="34" charset="0"/>
            </a:endParaRPr>
          </a:p>
        </p:txBody>
      </p:sp>
      <p:sp>
        <p:nvSpPr>
          <p:cNvPr id="6" name="Rectangle 5"/>
          <p:cNvSpPr/>
          <p:nvPr/>
        </p:nvSpPr>
        <p:spPr>
          <a:xfrm>
            <a:off x="3009033" y="1614727"/>
            <a:ext cx="8794535" cy="1442634"/>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8" name="Rectangle 7"/>
          <p:cNvSpPr/>
          <p:nvPr/>
        </p:nvSpPr>
        <p:spPr>
          <a:xfrm>
            <a:off x="11966126" y="1610746"/>
            <a:ext cx="1698816" cy="4248379"/>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9" name="Rectangle 8"/>
          <p:cNvSpPr/>
          <p:nvPr/>
        </p:nvSpPr>
        <p:spPr>
          <a:xfrm>
            <a:off x="845639" y="1610746"/>
            <a:ext cx="1989158" cy="4248379"/>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10" name="Rectangle 9"/>
          <p:cNvSpPr/>
          <p:nvPr/>
        </p:nvSpPr>
        <p:spPr>
          <a:xfrm>
            <a:off x="1047581" y="6315068"/>
            <a:ext cx="1953749" cy="982859"/>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dirty="0">
                <a:solidFill>
                  <a:schemeClr val="tx1"/>
                </a:solidFill>
              </a:rPr>
              <a:t> </a:t>
            </a:r>
          </a:p>
        </p:txBody>
      </p:sp>
      <p:sp>
        <p:nvSpPr>
          <p:cNvPr id="11" name="TextBox 38"/>
          <p:cNvSpPr txBox="1">
            <a:spLocks noChangeArrowheads="1"/>
          </p:cNvSpPr>
          <p:nvPr/>
        </p:nvSpPr>
        <p:spPr bwMode="white">
          <a:xfrm>
            <a:off x="1278851" y="6310584"/>
            <a:ext cx="1653318" cy="982861"/>
          </a:xfrm>
          <a:prstGeom prst="rect">
            <a:avLst/>
          </a:prstGeom>
          <a:noFill/>
          <a:ln w="9525">
            <a:noFill/>
            <a:miter lim="800000"/>
            <a:headEnd/>
            <a:tailEnd/>
          </a:ln>
        </p:spPr>
        <p:txBody>
          <a:bodyPr wrap="none" lIns="145856" tIns="72928" rIns="145856" bIns="72928" anchor="ctr"/>
          <a:lstStyle/>
          <a:p>
            <a:pPr algn="ctr" defTabSz="1457923">
              <a:lnSpc>
                <a:spcPts val="2560"/>
              </a:lnSpc>
            </a:pPr>
            <a:r>
              <a:rPr lang="en-US" sz="1680" dirty="0"/>
              <a:t>24 x 7 x 365</a:t>
            </a:r>
          </a:p>
        </p:txBody>
      </p:sp>
      <p:sp>
        <p:nvSpPr>
          <p:cNvPr id="12" name="TextBox 42"/>
          <p:cNvSpPr txBox="1">
            <a:spLocks noChangeArrowheads="1"/>
          </p:cNvSpPr>
          <p:nvPr/>
        </p:nvSpPr>
        <p:spPr bwMode="auto">
          <a:xfrm>
            <a:off x="898376" y="1692520"/>
            <a:ext cx="1936422" cy="1749984"/>
          </a:xfrm>
          <a:prstGeom prst="rect">
            <a:avLst/>
          </a:prstGeom>
          <a:noFill/>
          <a:ln w="9525">
            <a:noFill/>
            <a:miter lim="800000"/>
            <a:headEnd/>
            <a:tailEnd/>
          </a:ln>
        </p:spPr>
        <p:txBody>
          <a:bodyPr lIns="145856" tIns="72928" rIns="145856" bIns="72928"/>
          <a:lstStyle/>
          <a:p>
            <a:pPr algn="ctr" defTabSz="1457923"/>
            <a:r>
              <a:rPr lang="en-US" sz="2400" dirty="0">
                <a:solidFill>
                  <a:schemeClr val="bg1"/>
                </a:solidFill>
              </a:rPr>
              <a:t>Manage Visibility and Intelligence</a:t>
            </a:r>
          </a:p>
        </p:txBody>
      </p:sp>
      <p:sp>
        <p:nvSpPr>
          <p:cNvPr id="16" name="TextBox 39"/>
          <p:cNvSpPr txBox="1">
            <a:spLocks noChangeArrowheads="1"/>
          </p:cNvSpPr>
          <p:nvPr/>
        </p:nvSpPr>
        <p:spPr bwMode="white">
          <a:xfrm>
            <a:off x="5270488" y="5943110"/>
            <a:ext cx="4331507" cy="407506"/>
          </a:xfrm>
          <a:prstGeom prst="rect">
            <a:avLst/>
          </a:prstGeom>
          <a:noFill/>
          <a:ln w="9525">
            <a:noFill/>
            <a:miter lim="800000"/>
            <a:headEnd/>
            <a:tailEnd/>
          </a:ln>
        </p:spPr>
        <p:txBody>
          <a:bodyPr wrap="none" lIns="145856" tIns="72928" rIns="145856" bIns="72928"/>
          <a:lstStyle/>
          <a:p>
            <a:pPr algn="ctr" defTabSz="1457923">
              <a:lnSpc>
                <a:spcPts val="2560"/>
              </a:lnSpc>
            </a:pPr>
            <a:r>
              <a:rPr lang="en-US" sz="2400" dirty="0">
                <a:solidFill>
                  <a:schemeClr val="bg1"/>
                </a:solidFill>
              </a:rPr>
              <a:t>Service and Support</a:t>
            </a:r>
          </a:p>
        </p:txBody>
      </p:sp>
      <p:sp>
        <p:nvSpPr>
          <p:cNvPr id="17" name="TextBox 42"/>
          <p:cNvSpPr>
            <a:spLocks noChangeArrowheads="1"/>
          </p:cNvSpPr>
          <p:nvPr/>
        </p:nvSpPr>
        <p:spPr bwMode="auto">
          <a:xfrm>
            <a:off x="8733767" y="1944188"/>
            <a:ext cx="4622800" cy="4726304"/>
          </a:xfrm>
          <a:custGeom>
            <a:avLst/>
            <a:gdLst>
              <a:gd name="T0" fmla="*/ 0 w 9144002"/>
              <a:gd name="T1" fmla="*/ 0 h 10356978"/>
              <a:gd name="T2" fmla="*/ 0 w 9144002"/>
              <a:gd name="T3" fmla="*/ 0 h 10356978"/>
              <a:gd name="T4" fmla="*/ 0 w 9144002"/>
              <a:gd name="T5" fmla="*/ 0 h 10356978"/>
              <a:gd name="T6" fmla="*/ 0 w 9144002"/>
              <a:gd name="T7" fmla="*/ 0 h 10356978"/>
              <a:gd name="T8" fmla="*/ 0 w 9144002"/>
              <a:gd name="T9" fmla="*/ 0 h 10356978"/>
              <a:gd name="T10" fmla="*/ 0 60000 65536"/>
              <a:gd name="T11" fmla="*/ 0 60000 65536"/>
              <a:gd name="T12" fmla="*/ 0 60000 65536"/>
              <a:gd name="T13" fmla="*/ 0 60000 65536"/>
              <a:gd name="T14" fmla="*/ 0 60000 65536"/>
              <a:gd name="T15" fmla="*/ 0 w 9144002"/>
              <a:gd name="T16" fmla="*/ 0 h 10356978"/>
              <a:gd name="T17" fmla="*/ 9144002 w 9144002"/>
              <a:gd name="T18" fmla="*/ 10356978 h 10356978"/>
            </a:gdLst>
            <a:ahLst/>
            <a:cxnLst>
              <a:cxn ang="T10">
                <a:pos x="T0" y="T1"/>
              </a:cxn>
              <a:cxn ang="T11">
                <a:pos x="T2" y="T3"/>
              </a:cxn>
              <a:cxn ang="T12">
                <a:pos x="T4" y="T5"/>
              </a:cxn>
              <a:cxn ang="T13">
                <a:pos x="T6" y="T7"/>
              </a:cxn>
              <a:cxn ang="T14">
                <a:pos x="T8" y="T9"/>
              </a:cxn>
            </a:cxnLst>
            <a:rect l="T15" t="T16" r="T17" b="T18"/>
            <a:pathLst>
              <a:path w="9144002" h="10356978">
                <a:moveTo>
                  <a:pt x="2164702" y="0"/>
                </a:moveTo>
                <a:lnTo>
                  <a:pt x="9144002" y="0"/>
                </a:lnTo>
                <a:lnTo>
                  <a:pt x="6680721" y="10356978"/>
                </a:lnTo>
                <a:lnTo>
                  <a:pt x="0" y="10282334"/>
                </a:lnTo>
                <a:lnTo>
                  <a:pt x="2164702" y="0"/>
                </a:lnTo>
                <a:close/>
              </a:path>
            </a:pathLst>
          </a:custGeom>
          <a:noFill/>
          <a:ln w="9525">
            <a:noFill/>
            <a:miter lim="800000"/>
            <a:headEnd/>
            <a:tailEnd/>
          </a:ln>
        </p:spPr>
        <p:txBody>
          <a:bodyPr lIns="145856" tIns="72928" rIns="145856" bIns="72928"/>
          <a:lstStyle/>
          <a:p>
            <a:endParaRPr lang="en-US" dirty="0"/>
          </a:p>
        </p:txBody>
      </p:sp>
      <p:sp>
        <p:nvSpPr>
          <p:cNvPr id="18" name="TextBox 42"/>
          <p:cNvSpPr txBox="1">
            <a:spLocks noChangeArrowheads="1"/>
          </p:cNvSpPr>
          <p:nvPr/>
        </p:nvSpPr>
        <p:spPr bwMode="auto">
          <a:xfrm>
            <a:off x="12154450" y="1614128"/>
            <a:ext cx="1384436" cy="840464"/>
          </a:xfrm>
          <a:prstGeom prst="rect">
            <a:avLst/>
          </a:prstGeom>
          <a:noFill/>
          <a:ln w="9525">
            <a:noFill/>
            <a:miter lim="800000"/>
            <a:headEnd/>
            <a:tailEnd/>
          </a:ln>
        </p:spPr>
        <p:txBody>
          <a:bodyPr lIns="145856" tIns="72928" rIns="145856" bIns="72928"/>
          <a:lstStyle/>
          <a:p>
            <a:pPr marL="368292" indent="-368292" algn="ctr" defTabSz="1457923">
              <a:lnSpc>
                <a:spcPts val="2880"/>
              </a:lnSpc>
            </a:pPr>
            <a:r>
              <a:rPr lang="en-US" sz="1800" dirty="0">
                <a:solidFill>
                  <a:schemeClr val="bg1"/>
                </a:solidFill>
              </a:rPr>
              <a:t>Manage</a:t>
            </a:r>
          </a:p>
          <a:p>
            <a:pPr marL="368292" indent="-368292" algn="ctr" defTabSz="1457923">
              <a:lnSpc>
                <a:spcPts val="2880"/>
              </a:lnSpc>
            </a:pPr>
            <a:r>
              <a:rPr lang="en-US" sz="1800" dirty="0">
                <a:solidFill>
                  <a:schemeClr val="bg1"/>
                </a:solidFill>
              </a:rPr>
              <a:t>Partner</a:t>
            </a:r>
          </a:p>
        </p:txBody>
      </p:sp>
      <p:sp>
        <p:nvSpPr>
          <p:cNvPr id="23" name="TextBox 42"/>
          <p:cNvSpPr txBox="1">
            <a:spLocks noChangeArrowheads="1"/>
          </p:cNvSpPr>
          <p:nvPr/>
        </p:nvSpPr>
        <p:spPr bwMode="auto">
          <a:xfrm>
            <a:off x="5560710" y="1635368"/>
            <a:ext cx="3748666" cy="582930"/>
          </a:xfrm>
          <a:prstGeom prst="rect">
            <a:avLst/>
          </a:prstGeom>
          <a:noFill/>
          <a:ln w="9525">
            <a:noFill/>
            <a:miter lim="800000"/>
            <a:headEnd/>
            <a:tailEnd/>
          </a:ln>
        </p:spPr>
        <p:txBody>
          <a:bodyPr lIns="145856" tIns="72928" rIns="145856" bIns="72928"/>
          <a:lstStyle/>
          <a:p>
            <a:pPr marL="365750" indent="-365750" algn="ctr" defTabSz="1457923"/>
            <a:r>
              <a:rPr lang="en-US" sz="2400" dirty="0">
                <a:solidFill>
                  <a:schemeClr val="bg1"/>
                </a:solidFill>
              </a:rPr>
              <a:t>Manage Process</a:t>
            </a:r>
          </a:p>
        </p:txBody>
      </p:sp>
      <p:sp>
        <p:nvSpPr>
          <p:cNvPr id="25" name="Rectangle 24"/>
          <p:cNvSpPr/>
          <p:nvPr/>
        </p:nvSpPr>
        <p:spPr>
          <a:xfrm>
            <a:off x="12140476" y="2475892"/>
            <a:ext cx="1402344" cy="579265"/>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54697" bIns="27341" anchor="ctr"/>
          <a:lstStyle/>
          <a:p>
            <a:pPr algn="ctr" defTabSz="1457923">
              <a:lnSpc>
                <a:spcPts val="1760"/>
              </a:lnSpc>
              <a:defRPr/>
            </a:pPr>
            <a:r>
              <a:rPr lang="en-US" sz="1680" dirty="0">
                <a:solidFill>
                  <a:schemeClr val="bg1"/>
                </a:solidFill>
              </a:rPr>
              <a:t>Profile Management</a:t>
            </a:r>
          </a:p>
        </p:txBody>
      </p:sp>
      <p:sp>
        <p:nvSpPr>
          <p:cNvPr id="26" name="Rectangle 25"/>
          <p:cNvSpPr/>
          <p:nvPr/>
        </p:nvSpPr>
        <p:spPr>
          <a:xfrm>
            <a:off x="12123319" y="3185151"/>
            <a:ext cx="1402344" cy="332255"/>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0" bIns="27341" anchor="ctr"/>
          <a:lstStyle/>
          <a:p>
            <a:pPr algn="ctr" defTabSz="1457923">
              <a:lnSpc>
                <a:spcPts val="1760"/>
              </a:lnSpc>
              <a:defRPr/>
            </a:pPr>
            <a:r>
              <a:rPr lang="en-US" sz="1680" dirty="0">
                <a:solidFill>
                  <a:schemeClr val="bg1"/>
                </a:solidFill>
              </a:rPr>
              <a:t>Onboarding</a:t>
            </a:r>
          </a:p>
        </p:txBody>
      </p:sp>
      <p:sp>
        <p:nvSpPr>
          <p:cNvPr id="29" name="Rectangle 28"/>
          <p:cNvSpPr/>
          <p:nvPr/>
        </p:nvSpPr>
        <p:spPr>
          <a:xfrm>
            <a:off x="1094122" y="3554038"/>
            <a:ext cx="1544929" cy="98833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prstClr val="white"/>
                </a:solidFill>
              </a:rPr>
              <a:t>Tracking and Reporting</a:t>
            </a:r>
          </a:p>
        </p:txBody>
      </p:sp>
      <p:sp>
        <p:nvSpPr>
          <p:cNvPr id="30" name="Rectangle 29"/>
          <p:cNvSpPr/>
          <p:nvPr/>
        </p:nvSpPr>
        <p:spPr>
          <a:xfrm>
            <a:off x="1094122" y="4719098"/>
            <a:ext cx="1544929" cy="861818"/>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prstClr val="white"/>
                </a:solidFill>
              </a:rPr>
              <a:t>Exception Management</a:t>
            </a:r>
          </a:p>
        </p:txBody>
      </p:sp>
      <p:sp>
        <p:nvSpPr>
          <p:cNvPr id="32" name="Rectangle 31"/>
          <p:cNvSpPr/>
          <p:nvPr/>
        </p:nvSpPr>
        <p:spPr>
          <a:xfrm>
            <a:off x="12123321" y="3655723"/>
            <a:ext cx="1402343" cy="400214"/>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54697" bIns="27341" anchor="ctr"/>
          <a:lstStyle/>
          <a:p>
            <a:pPr algn="ctr" defTabSz="1457923">
              <a:lnSpc>
                <a:spcPts val="1760"/>
              </a:lnSpc>
              <a:defRPr/>
            </a:pPr>
            <a:r>
              <a:rPr lang="en-US" sz="1680" dirty="0">
                <a:solidFill>
                  <a:schemeClr val="bg1"/>
                </a:solidFill>
              </a:rPr>
              <a:t>Training</a:t>
            </a:r>
          </a:p>
        </p:txBody>
      </p:sp>
      <p:sp>
        <p:nvSpPr>
          <p:cNvPr id="33" name="Rectangle 32"/>
          <p:cNvSpPr/>
          <p:nvPr/>
        </p:nvSpPr>
        <p:spPr>
          <a:xfrm>
            <a:off x="12123321" y="4150547"/>
            <a:ext cx="1385881" cy="544013"/>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0" bIns="27341" anchor="ctr"/>
          <a:lstStyle/>
          <a:p>
            <a:pPr algn="ctr" defTabSz="1457923">
              <a:lnSpc>
                <a:spcPts val="1760"/>
              </a:lnSpc>
              <a:defRPr/>
            </a:pPr>
            <a:r>
              <a:rPr lang="en-US" sz="1680" dirty="0">
                <a:solidFill>
                  <a:schemeClr val="bg1"/>
                </a:solidFill>
              </a:rPr>
              <a:t>Compliance Certification</a:t>
            </a:r>
          </a:p>
        </p:txBody>
      </p:sp>
      <p:sp>
        <p:nvSpPr>
          <p:cNvPr id="34" name="Rectangle 33"/>
          <p:cNvSpPr/>
          <p:nvPr/>
        </p:nvSpPr>
        <p:spPr>
          <a:xfrm>
            <a:off x="12123319" y="4821645"/>
            <a:ext cx="1402344" cy="371683"/>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54697" bIns="27341" anchor="ctr"/>
          <a:lstStyle/>
          <a:p>
            <a:pPr algn="ctr" defTabSz="1457923">
              <a:lnSpc>
                <a:spcPts val="1760"/>
              </a:lnSpc>
              <a:defRPr/>
            </a:pPr>
            <a:r>
              <a:rPr lang="en-US" sz="1680" dirty="0">
                <a:solidFill>
                  <a:schemeClr val="bg1"/>
                </a:solidFill>
              </a:rPr>
              <a:t>Termination</a:t>
            </a:r>
          </a:p>
        </p:txBody>
      </p:sp>
      <p:sp>
        <p:nvSpPr>
          <p:cNvPr id="35" name="Rectangle 34"/>
          <p:cNvSpPr/>
          <p:nvPr/>
        </p:nvSpPr>
        <p:spPr>
          <a:xfrm>
            <a:off x="12123320" y="5290311"/>
            <a:ext cx="1402348" cy="476896"/>
          </a:xfrm>
          <a:prstGeom prst="rect">
            <a:avLst/>
          </a:prstGeom>
          <a:solidFill>
            <a:schemeClr val="accent5"/>
          </a:solidFill>
          <a:ln w="9525" cap="flat" cmpd="sng" algn="ctr">
            <a:noFill/>
            <a:prstDash val="solid"/>
            <a:miter lim="800000"/>
            <a:headEnd/>
            <a:tailEnd/>
          </a:ln>
          <a:effectLst/>
          <a:scene3d>
            <a:camera prst="orthographicFront">
              <a:rot lat="0" lon="0" rev="0"/>
            </a:camera>
            <a:lightRig rig="contrasting" dir="t">
              <a:rot lat="0" lon="0" rev="7800000"/>
            </a:lightRig>
          </a:scene3d>
          <a:sp3d/>
        </p:spPr>
        <p:txBody>
          <a:bodyPr lIns="0" tIns="43756" rIns="0" bIns="27341" anchor="ctr"/>
          <a:lstStyle/>
          <a:p>
            <a:pPr algn="ctr" defTabSz="1457923">
              <a:lnSpc>
                <a:spcPts val="1760"/>
              </a:lnSpc>
              <a:defRPr/>
            </a:pPr>
            <a:r>
              <a:rPr lang="en-US" sz="1680" dirty="0">
                <a:solidFill>
                  <a:schemeClr val="bg1"/>
                </a:solidFill>
              </a:rPr>
              <a:t>SLA and Score Carding</a:t>
            </a:r>
          </a:p>
        </p:txBody>
      </p:sp>
      <p:sp>
        <p:nvSpPr>
          <p:cNvPr id="36" name="Rectangle 35"/>
          <p:cNvSpPr/>
          <p:nvPr/>
        </p:nvSpPr>
        <p:spPr>
          <a:xfrm>
            <a:off x="3131017" y="6337767"/>
            <a:ext cx="1953749" cy="981995"/>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schemeClr val="tx1"/>
                </a:solidFill>
              </a:rPr>
              <a:t> Service Level Management</a:t>
            </a:r>
          </a:p>
        </p:txBody>
      </p:sp>
      <p:sp>
        <p:nvSpPr>
          <p:cNvPr id="37" name="Rectangle 36"/>
          <p:cNvSpPr/>
          <p:nvPr/>
        </p:nvSpPr>
        <p:spPr>
          <a:xfrm>
            <a:off x="5224835" y="6352543"/>
            <a:ext cx="1953749" cy="982861"/>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schemeClr val="tx1"/>
                </a:solidFill>
              </a:rPr>
              <a:t>Proactive Monitoring</a:t>
            </a:r>
          </a:p>
        </p:txBody>
      </p:sp>
      <p:sp>
        <p:nvSpPr>
          <p:cNvPr id="38" name="Rectangle 37"/>
          <p:cNvSpPr/>
          <p:nvPr/>
        </p:nvSpPr>
        <p:spPr>
          <a:xfrm>
            <a:off x="7310987" y="6352543"/>
            <a:ext cx="1953749" cy="981997"/>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schemeClr val="tx1"/>
                </a:solidFill>
              </a:rPr>
              <a:t>Billing and</a:t>
            </a:r>
          </a:p>
          <a:p>
            <a:pPr algn="ctr" defTabSz="1458887">
              <a:defRPr/>
            </a:pPr>
            <a:r>
              <a:rPr lang="en-US" sz="1680" dirty="0">
                <a:solidFill>
                  <a:schemeClr val="tx1"/>
                </a:solidFill>
              </a:rPr>
              <a:t>Reporting</a:t>
            </a:r>
          </a:p>
        </p:txBody>
      </p:sp>
      <p:sp>
        <p:nvSpPr>
          <p:cNvPr id="39" name="Rectangle 38"/>
          <p:cNvSpPr/>
          <p:nvPr/>
        </p:nvSpPr>
        <p:spPr>
          <a:xfrm>
            <a:off x="9403315" y="6352542"/>
            <a:ext cx="1953749" cy="982862"/>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schemeClr val="tx1"/>
                </a:solidFill>
              </a:rPr>
              <a:t> Scalable Infrastructure</a:t>
            </a:r>
          </a:p>
        </p:txBody>
      </p:sp>
      <p:sp>
        <p:nvSpPr>
          <p:cNvPr id="40" name="Rectangle 39"/>
          <p:cNvSpPr/>
          <p:nvPr/>
        </p:nvSpPr>
        <p:spPr>
          <a:xfrm>
            <a:off x="11529418" y="6352542"/>
            <a:ext cx="1953749" cy="982862"/>
          </a:xfrm>
          <a:prstGeom prst="rect">
            <a:avLst/>
          </a:prstGeom>
          <a:solidFill>
            <a:srgbClr val="F9F0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45856" tIns="72928" rIns="145856" bIns="72928" anchor="ctr"/>
          <a:lstStyle/>
          <a:p>
            <a:pPr algn="ctr" defTabSz="1458887">
              <a:defRPr/>
            </a:pPr>
            <a:r>
              <a:rPr lang="en-US" sz="1680" dirty="0">
                <a:solidFill>
                  <a:schemeClr val="tx1"/>
                </a:solidFill>
              </a:rPr>
              <a:t> Security and Profile Management</a:t>
            </a:r>
          </a:p>
        </p:txBody>
      </p:sp>
      <p:sp>
        <p:nvSpPr>
          <p:cNvPr id="44" name="Parallelogram 42"/>
          <p:cNvSpPr>
            <a:spLocks noChangeArrowheads="1"/>
          </p:cNvSpPr>
          <p:nvPr/>
        </p:nvSpPr>
        <p:spPr bwMode="auto">
          <a:xfrm>
            <a:off x="9286282" y="2270683"/>
            <a:ext cx="237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Process Presentment and Integration</a:t>
            </a:r>
            <a:br>
              <a:rPr lang="en-US" sz="1920" dirty="0"/>
            </a:br>
            <a:endParaRPr lang="en-US" sz="1920" dirty="0"/>
          </a:p>
        </p:txBody>
      </p:sp>
      <p:sp>
        <p:nvSpPr>
          <p:cNvPr id="45" name="Parallelogram 42"/>
          <p:cNvSpPr>
            <a:spLocks noChangeArrowheads="1"/>
          </p:cNvSpPr>
          <p:nvPr/>
        </p:nvSpPr>
        <p:spPr bwMode="auto">
          <a:xfrm>
            <a:off x="6987041" y="2255905"/>
            <a:ext cx="216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Process Monitoring</a:t>
            </a:r>
          </a:p>
          <a:p>
            <a:pPr algn="ctr" defTabSz="1457923">
              <a:lnSpc>
                <a:spcPts val="2080"/>
              </a:lnSpc>
              <a:defRPr/>
            </a:pPr>
            <a:endParaRPr lang="en-US" sz="1920" dirty="0"/>
          </a:p>
        </p:txBody>
      </p:sp>
      <p:sp>
        <p:nvSpPr>
          <p:cNvPr id="46" name="Parallelogram 42"/>
          <p:cNvSpPr>
            <a:spLocks noChangeArrowheads="1"/>
          </p:cNvSpPr>
          <p:nvPr/>
        </p:nvSpPr>
        <p:spPr bwMode="auto">
          <a:xfrm>
            <a:off x="3153339" y="2238328"/>
            <a:ext cx="1809443"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Process Catalog</a:t>
            </a:r>
          </a:p>
          <a:p>
            <a:pPr algn="ctr" defTabSz="1457923">
              <a:lnSpc>
                <a:spcPts val="2080"/>
              </a:lnSpc>
              <a:defRPr/>
            </a:pPr>
            <a:endParaRPr lang="en-US" sz="1920" dirty="0"/>
          </a:p>
        </p:txBody>
      </p:sp>
      <p:sp>
        <p:nvSpPr>
          <p:cNvPr id="47" name="Parallelogram 42"/>
          <p:cNvSpPr>
            <a:spLocks noChangeArrowheads="1"/>
          </p:cNvSpPr>
          <p:nvPr/>
        </p:nvSpPr>
        <p:spPr bwMode="auto">
          <a:xfrm>
            <a:off x="5107801" y="2247116"/>
            <a:ext cx="1746187"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680" dirty="0"/>
          </a:p>
          <a:p>
            <a:pPr algn="ctr" defTabSz="1457923">
              <a:lnSpc>
                <a:spcPts val="2080"/>
              </a:lnSpc>
              <a:defRPr/>
            </a:pPr>
            <a:r>
              <a:rPr lang="en-US" sz="1680" dirty="0"/>
              <a:t>Rules Management</a:t>
            </a:r>
          </a:p>
          <a:p>
            <a:pPr algn="ctr" defTabSz="1457923">
              <a:lnSpc>
                <a:spcPts val="2080"/>
              </a:lnSpc>
              <a:defRPr/>
            </a:pPr>
            <a:endParaRPr lang="en-US" sz="1920" dirty="0"/>
          </a:p>
        </p:txBody>
      </p:sp>
      <p:sp>
        <p:nvSpPr>
          <p:cNvPr id="49" name="Rectangle 48"/>
          <p:cNvSpPr/>
          <p:nvPr/>
        </p:nvSpPr>
        <p:spPr>
          <a:xfrm>
            <a:off x="3014683" y="4586552"/>
            <a:ext cx="8794535" cy="1272575"/>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51" name="Rectangle 50"/>
          <p:cNvSpPr/>
          <p:nvPr/>
        </p:nvSpPr>
        <p:spPr>
          <a:xfrm>
            <a:off x="3038975" y="3181966"/>
            <a:ext cx="8794535" cy="1272575"/>
          </a:xfrm>
          <a:prstGeom prst="rect">
            <a:avLst/>
          </a:prstGeom>
          <a:solidFill>
            <a:srgbClr val="969696"/>
          </a:solidFill>
          <a:ln w="9525" cap="flat" cmpd="sng" algn="ctr">
            <a:noFill/>
            <a:prstDash val="solid"/>
            <a:miter lim="800000"/>
            <a:headEnd/>
            <a:tailEnd/>
          </a:ln>
          <a:effectLst/>
        </p:spPr>
        <p:txBody>
          <a:bodyPr lIns="54697" tIns="43756" rIns="54697" bIns="27341" anchor="ctr"/>
          <a:lstStyle/>
          <a:p>
            <a:pPr algn="ctr" defTabSz="1458887">
              <a:defRPr/>
            </a:pPr>
            <a:endParaRPr lang="en-US" sz="640" kern="0" dirty="0">
              <a:solidFill>
                <a:srgbClr val="FFFFFF"/>
              </a:solidFill>
            </a:endParaRPr>
          </a:p>
        </p:txBody>
      </p:sp>
      <p:sp>
        <p:nvSpPr>
          <p:cNvPr id="52" name="TextBox 42"/>
          <p:cNvSpPr txBox="1">
            <a:spLocks noChangeArrowheads="1"/>
          </p:cNvSpPr>
          <p:nvPr/>
        </p:nvSpPr>
        <p:spPr bwMode="auto">
          <a:xfrm>
            <a:off x="4624536" y="3162131"/>
            <a:ext cx="5776756" cy="582930"/>
          </a:xfrm>
          <a:prstGeom prst="rect">
            <a:avLst/>
          </a:prstGeom>
          <a:noFill/>
          <a:ln w="9525">
            <a:noFill/>
            <a:miter lim="800000"/>
            <a:headEnd/>
            <a:tailEnd/>
          </a:ln>
        </p:spPr>
        <p:txBody>
          <a:bodyPr lIns="145856" tIns="72928" rIns="145856" bIns="72928"/>
          <a:lstStyle/>
          <a:p>
            <a:pPr marL="365750" indent="-365750" algn="ctr" defTabSz="1457923"/>
            <a:r>
              <a:rPr lang="en-US" sz="2400" dirty="0">
                <a:solidFill>
                  <a:schemeClr val="bg1"/>
                </a:solidFill>
              </a:rPr>
              <a:t>Manage and Integrate Data</a:t>
            </a:r>
          </a:p>
        </p:txBody>
      </p:sp>
      <p:sp>
        <p:nvSpPr>
          <p:cNvPr id="53" name="TextBox 42"/>
          <p:cNvSpPr txBox="1">
            <a:spLocks noChangeArrowheads="1"/>
          </p:cNvSpPr>
          <p:nvPr/>
        </p:nvSpPr>
        <p:spPr bwMode="auto">
          <a:xfrm>
            <a:off x="4677711" y="4567077"/>
            <a:ext cx="5776756" cy="582930"/>
          </a:xfrm>
          <a:prstGeom prst="rect">
            <a:avLst/>
          </a:prstGeom>
          <a:noFill/>
          <a:ln w="9525">
            <a:noFill/>
            <a:miter lim="800000"/>
            <a:headEnd/>
            <a:tailEnd/>
          </a:ln>
        </p:spPr>
        <p:txBody>
          <a:bodyPr lIns="145856" tIns="72928" rIns="145856" bIns="72928"/>
          <a:lstStyle/>
          <a:p>
            <a:pPr marL="365750" indent="-365750" algn="ctr" defTabSz="1457923"/>
            <a:r>
              <a:rPr lang="en-US" sz="2400" dirty="0">
                <a:solidFill>
                  <a:schemeClr val="bg1"/>
                </a:solidFill>
              </a:rPr>
              <a:t>Connect Partner and Deliver Data</a:t>
            </a:r>
          </a:p>
        </p:txBody>
      </p:sp>
      <p:sp>
        <p:nvSpPr>
          <p:cNvPr id="54" name="Parallelogram 42"/>
          <p:cNvSpPr>
            <a:spLocks noChangeArrowheads="1"/>
          </p:cNvSpPr>
          <p:nvPr/>
        </p:nvSpPr>
        <p:spPr bwMode="auto">
          <a:xfrm>
            <a:off x="9286282" y="3681328"/>
            <a:ext cx="237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Validation</a:t>
            </a:r>
            <a:br>
              <a:rPr lang="en-US" sz="1920" dirty="0"/>
            </a:br>
            <a:endParaRPr lang="en-US" sz="1920" dirty="0"/>
          </a:p>
        </p:txBody>
      </p:sp>
      <p:sp>
        <p:nvSpPr>
          <p:cNvPr id="55" name="Parallelogram 42"/>
          <p:cNvSpPr>
            <a:spLocks noChangeArrowheads="1"/>
          </p:cNvSpPr>
          <p:nvPr/>
        </p:nvSpPr>
        <p:spPr bwMode="auto">
          <a:xfrm>
            <a:off x="7196964" y="3665914"/>
            <a:ext cx="1953749"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Transformation</a:t>
            </a:r>
          </a:p>
          <a:p>
            <a:pPr algn="ctr" defTabSz="1457923">
              <a:lnSpc>
                <a:spcPts val="2080"/>
              </a:lnSpc>
              <a:defRPr/>
            </a:pPr>
            <a:endParaRPr lang="en-US" sz="1920" dirty="0"/>
          </a:p>
        </p:txBody>
      </p:sp>
      <p:sp>
        <p:nvSpPr>
          <p:cNvPr id="56" name="Parallelogram 42"/>
          <p:cNvSpPr>
            <a:spLocks noChangeArrowheads="1"/>
          </p:cNvSpPr>
          <p:nvPr/>
        </p:nvSpPr>
        <p:spPr bwMode="auto">
          <a:xfrm>
            <a:off x="3153339" y="3648972"/>
            <a:ext cx="1809443"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Application Integration</a:t>
            </a:r>
          </a:p>
          <a:p>
            <a:pPr algn="ctr" defTabSz="1457923">
              <a:lnSpc>
                <a:spcPts val="2080"/>
              </a:lnSpc>
              <a:defRPr/>
            </a:pPr>
            <a:endParaRPr lang="en-US" sz="1920" dirty="0"/>
          </a:p>
        </p:txBody>
      </p:sp>
      <p:sp>
        <p:nvSpPr>
          <p:cNvPr id="57" name="Parallelogram 42"/>
          <p:cNvSpPr>
            <a:spLocks noChangeArrowheads="1"/>
          </p:cNvSpPr>
          <p:nvPr/>
        </p:nvSpPr>
        <p:spPr bwMode="auto">
          <a:xfrm>
            <a:off x="5107801" y="3657761"/>
            <a:ext cx="195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Translation EDI, XML, Any-to-Any</a:t>
            </a:r>
          </a:p>
          <a:p>
            <a:pPr algn="ctr" defTabSz="1457923">
              <a:lnSpc>
                <a:spcPts val="2080"/>
              </a:lnSpc>
              <a:defRPr/>
            </a:pPr>
            <a:endParaRPr lang="en-US" sz="1920" dirty="0"/>
          </a:p>
        </p:txBody>
      </p:sp>
      <p:sp>
        <p:nvSpPr>
          <p:cNvPr id="58" name="Parallelogram 42"/>
          <p:cNvSpPr>
            <a:spLocks noChangeArrowheads="1"/>
          </p:cNvSpPr>
          <p:nvPr/>
        </p:nvSpPr>
        <p:spPr bwMode="auto">
          <a:xfrm>
            <a:off x="9286282" y="5108838"/>
            <a:ext cx="237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Multi-Protocol Support</a:t>
            </a:r>
            <a:br>
              <a:rPr lang="en-US" sz="1920" dirty="0"/>
            </a:br>
            <a:endParaRPr lang="en-US" sz="1920" dirty="0"/>
          </a:p>
        </p:txBody>
      </p:sp>
      <p:sp>
        <p:nvSpPr>
          <p:cNvPr id="59" name="Parallelogram 42"/>
          <p:cNvSpPr>
            <a:spLocks noChangeArrowheads="1"/>
          </p:cNvSpPr>
          <p:nvPr/>
        </p:nvSpPr>
        <p:spPr bwMode="auto">
          <a:xfrm>
            <a:off x="6987041" y="5094060"/>
            <a:ext cx="2163750"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Scalable</a:t>
            </a:r>
          </a:p>
          <a:p>
            <a:pPr algn="ctr" defTabSz="1457923">
              <a:lnSpc>
                <a:spcPts val="2080"/>
              </a:lnSpc>
              <a:defRPr/>
            </a:pPr>
            <a:endParaRPr lang="en-US" sz="1920" dirty="0"/>
          </a:p>
        </p:txBody>
      </p:sp>
      <p:sp>
        <p:nvSpPr>
          <p:cNvPr id="60" name="Parallelogram 42"/>
          <p:cNvSpPr>
            <a:spLocks noChangeArrowheads="1"/>
          </p:cNvSpPr>
          <p:nvPr/>
        </p:nvSpPr>
        <p:spPr bwMode="auto">
          <a:xfrm>
            <a:off x="3116039" y="5082553"/>
            <a:ext cx="1809443"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Reliable</a:t>
            </a:r>
          </a:p>
          <a:p>
            <a:pPr algn="ctr" defTabSz="1457923">
              <a:lnSpc>
                <a:spcPts val="2080"/>
              </a:lnSpc>
              <a:defRPr/>
            </a:pPr>
            <a:endParaRPr lang="en-US" sz="1920" dirty="0"/>
          </a:p>
        </p:txBody>
      </p:sp>
      <p:sp>
        <p:nvSpPr>
          <p:cNvPr id="61" name="Parallelogram 42"/>
          <p:cNvSpPr>
            <a:spLocks noChangeArrowheads="1"/>
          </p:cNvSpPr>
          <p:nvPr/>
        </p:nvSpPr>
        <p:spPr bwMode="auto">
          <a:xfrm>
            <a:off x="5107801" y="5085271"/>
            <a:ext cx="1746187" cy="658368"/>
          </a:xfrm>
          <a:prstGeom prst="rect">
            <a:avLst/>
          </a:prstGeom>
          <a:solidFill>
            <a:schemeClr val="bg1">
              <a:lumMod val="95000"/>
            </a:schemeClr>
          </a:solidFill>
          <a:ln w="9525" algn="ctr">
            <a:noFill/>
            <a:miter lim="800000"/>
            <a:headEnd/>
            <a:tailEnd/>
          </a:ln>
          <a:effectLst/>
          <a:scene3d>
            <a:camera prst="orthographicFront">
              <a:rot lat="0" lon="0" rev="0"/>
            </a:camera>
            <a:lightRig rig="balanced" dir="t">
              <a:rot lat="0" lon="0" rev="8700000"/>
            </a:lightRig>
          </a:scene3d>
          <a:sp3d/>
        </p:spPr>
        <p:txBody>
          <a:bodyPr lIns="73152" tIns="29261" rIns="73152" bIns="27341" anchor="ctr"/>
          <a:lstStyle/>
          <a:p>
            <a:pPr algn="ctr" defTabSz="1457923">
              <a:lnSpc>
                <a:spcPts val="2080"/>
              </a:lnSpc>
              <a:defRPr/>
            </a:pPr>
            <a:endParaRPr lang="en-US" sz="1920" dirty="0"/>
          </a:p>
          <a:p>
            <a:pPr algn="ctr" defTabSz="1457923">
              <a:lnSpc>
                <a:spcPts val="2080"/>
              </a:lnSpc>
              <a:defRPr/>
            </a:pPr>
            <a:r>
              <a:rPr lang="en-US" sz="1680" dirty="0"/>
              <a:t>Secure</a:t>
            </a:r>
          </a:p>
          <a:p>
            <a:pPr algn="ctr" defTabSz="1457923">
              <a:lnSpc>
                <a:spcPts val="2080"/>
              </a:lnSpc>
              <a:defRPr/>
            </a:pPr>
            <a:endParaRPr lang="en-US" sz="1920" dirty="0"/>
          </a:p>
        </p:txBody>
      </p:sp>
    </p:spTree>
    <p:extLst>
      <p:ext uri="{BB962C8B-B14F-4D97-AF65-F5344CB8AC3E}">
        <p14:creationId xmlns:p14="http://schemas.microsoft.com/office/powerpoint/2010/main" val="1699742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415919" y="1578214"/>
            <a:ext cx="9249060" cy="4808021"/>
          </a:xfrm>
          <a:prstGeom prst="ellipse">
            <a:avLst/>
          </a:prstGeom>
          <a:solidFill>
            <a:schemeClr val="accent1"/>
          </a:solidFill>
          <a:ln/>
        </p:spPr>
        <p:style>
          <a:lnRef idx="1">
            <a:schemeClr val="accent1"/>
          </a:lnRef>
          <a:fillRef idx="3">
            <a:schemeClr val="accent1"/>
          </a:fillRef>
          <a:effectRef idx="2">
            <a:schemeClr val="accent1"/>
          </a:effectRef>
          <a:fontRef idx="minor">
            <a:schemeClr val="lt1"/>
          </a:fontRef>
        </p:style>
        <p:txBody>
          <a:bodyPr lIns="146304" tIns="73152" rtlCol="0" anchor="ctr">
            <a:noAutofit/>
          </a:bodyPr>
          <a:lstStyle/>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a:p>
            <a:pPr algn="ctr">
              <a:lnSpc>
                <a:spcPct val="85000"/>
              </a:lnSpc>
            </a:pPr>
            <a:endParaRPr lang="en-US" sz="1920" dirty="0">
              <a:solidFill>
                <a:schemeClr val="tx1"/>
              </a:solidFill>
            </a:endParaRPr>
          </a:p>
        </p:txBody>
      </p:sp>
      <p:sp>
        <p:nvSpPr>
          <p:cNvPr id="6" name="Oval 5"/>
          <p:cNvSpPr/>
          <p:nvPr/>
        </p:nvSpPr>
        <p:spPr>
          <a:xfrm>
            <a:off x="3864339" y="3510050"/>
            <a:ext cx="2303233" cy="1097280"/>
          </a:xfrm>
          <a:prstGeom prst="ellipse">
            <a:avLst/>
          </a:prstGeom>
          <a:solidFill>
            <a:srgbClr val="F9F048"/>
          </a:solidFill>
          <a:ln/>
        </p:spPr>
        <p:style>
          <a:lnRef idx="1">
            <a:schemeClr val="accent3"/>
          </a:lnRef>
          <a:fillRef idx="3">
            <a:schemeClr val="accent3"/>
          </a:fillRef>
          <a:effectRef idx="2">
            <a:schemeClr val="accent3"/>
          </a:effectRef>
          <a:fontRef idx="minor">
            <a:schemeClr val="lt1"/>
          </a:fontRef>
        </p:style>
        <p:txBody>
          <a:bodyPr lIns="146304" tIns="73152" rtlCol="0" anchor="ctr" anchorCtr="0">
            <a:noAutofit/>
          </a:bodyPr>
          <a:lstStyle/>
          <a:p>
            <a:pPr algn="ctr">
              <a:lnSpc>
                <a:spcPct val="85000"/>
              </a:lnSpc>
            </a:pPr>
            <a:r>
              <a:rPr lang="en-US" sz="2400" dirty="0">
                <a:solidFill>
                  <a:schemeClr val="tx1"/>
                </a:solidFill>
              </a:rPr>
              <a:t>Sterling Integrator</a:t>
            </a:r>
          </a:p>
        </p:txBody>
      </p:sp>
      <p:sp>
        <p:nvSpPr>
          <p:cNvPr id="7" name="TextBox 6"/>
          <p:cNvSpPr txBox="1"/>
          <p:nvPr/>
        </p:nvSpPr>
        <p:spPr>
          <a:xfrm>
            <a:off x="10023383" y="1612657"/>
            <a:ext cx="4075242" cy="5719514"/>
          </a:xfrm>
          <a:prstGeom prst="rect">
            <a:avLst/>
          </a:prstGeom>
          <a:noFill/>
        </p:spPr>
        <p:txBody>
          <a:bodyPr wrap="square" rtlCol="0">
            <a:spAutoFit/>
          </a:bodyPr>
          <a:lstStyle/>
          <a:p>
            <a:pPr marL="363211" indent="-363211">
              <a:lnSpc>
                <a:spcPct val="90000"/>
              </a:lnSpc>
              <a:spcBef>
                <a:spcPts val="960"/>
              </a:spcBef>
              <a:buFont typeface="Arial" pitchFamily="34" charset="0"/>
              <a:buChar char="•"/>
            </a:pPr>
            <a:r>
              <a:rPr lang="en-US" sz="2400" dirty="0">
                <a:solidFill>
                  <a:prstClr val="black"/>
                </a:solidFill>
              </a:rPr>
              <a:t>Lower Total Cost of Ownership by 20%+</a:t>
            </a:r>
          </a:p>
          <a:p>
            <a:pPr marL="363211" indent="-363211">
              <a:lnSpc>
                <a:spcPct val="90000"/>
              </a:lnSpc>
              <a:spcBef>
                <a:spcPts val="960"/>
              </a:spcBef>
              <a:buFont typeface="Arial" pitchFamily="34" charset="0"/>
              <a:buChar char="•"/>
            </a:pPr>
            <a:r>
              <a:rPr lang="en-US" sz="2400" dirty="0">
                <a:solidFill>
                  <a:prstClr val="black"/>
                </a:solidFill>
              </a:rPr>
              <a:t>Ability to scale up and down at will</a:t>
            </a:r>
          </a:p>
          <a:p>
            <a:pPr marL="363211" indent="-363211">
              <a:lnSpc>
                <a:spcPct val="90000"/>
              </a:lnSpc>
              <a:spcBef>
                <a:spcPts val="960"/>
              </a:spcBef>
              <a:buFont typeface="Arial" pitchFamily="34" charset="0"/>
              <a:buChar char="•"/>
            </a:pPr>
            <a:r>
              <a:rPr lang="en-US" sz="2400" dirty="0">
                <a:solidFill>
                  <a:prstClr val="black"/>
                </a:solidFill>
              </a:rPr>
              <a:t>Better ability to support new business requirements</a:t>
            </a:r>
          </a:p>
          <a:p>
            <a:pPr marL="363211" indent="-363211">
              <a:lnSpc>
                <a:spcPct val="90000"/>
              </a:lnSpc>
              <a:spcBef>
                <a:spcPts val="960"/>
              </a:spcBef>
              <a:buFont typeface="Arial" pitchFamily="34" charset="0"/>
              <a:buChar char="•"/>
            </a:pPr>
            <a:r>
              <a:rPr lang="en-US" sz="2400" dirty="0">
                <a:solidFill>
                  <a:prstClr val="black"/>
                </a:solidFill>
              </a:rPr>
              <a:t>Better overall performance by SLA</a:t>
            </a:r>
          </a:p>
          <a:p>
            <a:pPr marL="363211" indent="-363211">
              <a:lnSpc>
                <a:spcPct val="90000"/>
              </a:lnSpc>
              <a:spcBef>
                <a:spcPts val="960"/>
              </a:spcBef>
              <a:buFont typeface="Arial" pitchFamily="34" charset="0"/>
              <a:buChar char="•"/>
            </a:pPr>
            <a:r>
              <a:rPr lang="en-US" sz="2400" dirty="0">
                <a:solidFill>
                  <a:prstClr val="black"/>
                </a:solidFill>
              </a:rPr>
              <a:t>Lower business risk and exposure</a:t>
            </a:r>
          </a:p>
          <a:p>
            <a:pPr marL="363211" indent="-363211">
              <a:lnSpc>
                <a:spcPct val="90000"/>
              </a:lnSpc>
              <a:spcBef>
                <a:spcPts val="960"/>
              </a:spcBef>
              <a:buFont typeface="Arial" pitchFamily="34" charset="0"/>
              <a:buChar char="•"/>
            </a:pPr>
            <a:r>
              <a:rPr lang="en-US" sz="2400" dirty="0">
                <a:solidFill>
                  <a:prstClr val="black"/>
                </a:solidFill>
              </a:rPr>
              <a:t>Improved trading partner relationships, and happier internal and external customers</a:t>
            </a:r>
          </a:p>
        </p:txBody>
      </p:sp>
      <p:sp>
        <p:nvSpPr>
          <p:cNvPr id="8" name="TextBox 7"/>
          <p:cNvSpPr txBox="1"/>
          <p:nvPr/>
        </p:nvSpPr>
        <p:spPr>
          <a:xfrm>
            <a:off x="1344307" y="4103853"/>
            <a:ext cx="2072640" cy="870525"/>
          </a:xfrm>
          <a:prstGeom prst="roundRect">
            <a:avLst/>
          </a:prstGeom>
          <a:solidFill>
            <a:srgbClr val="D9D9D9"/>
          </a:solidFill>
        </p:spPr>
        <p:txBody>
          <a:bodyPr wrap="square" rtlCol="0" anchor="ctr" anchorCtr="0">
            <a:noAutofit/>
          </a:bodyPr>
          <a:lstStyle/>
          <a:p>
            <a:pPr algn="ctr">
              <a:lnSpc>
                <a:spcPct val="90000"/>
              </a:lnSpc>
            </a:pPr>
            <a:r>
              <a:rPr lang="en-US" sz="1800" dirty="0"/>
              <a:t>2 DXC environments (Integration/QA)</a:t>
            </a:r>
          </a:p>
        </p:txBody>
      </p:sp>
      <p:sp>
        <p:nvSpPr>
          <p:cNvPr id="9" name="TextBox 8"/>
          <p:cNvSpPr txBox="1"/>
          <p:nvPr/>
        </p:nvSpPr>
        <p:spPr>
          <a:xfrm>
            <a:off x="1383473" y="3056147"/>
            <a:ext cx="2033474" cy="731520"/>
          </a:xfrm>
          <a:prstGeom prst="roundRect">
            <a:avLst/>
          </a:prstGeom>
          <a:solidFill>
            <a:srgbClr val="D9D9D9"/>
          </a:solidFill>
        </p:spPr>
        <p:txBody>
          <a:bodyPr wrap="square" rtlCol="0" anchor="ctr" anchorCtr="0">
            <a:noAutofit/>
          </a:bodyPr>
          <a:lstStyle/>
          <a:p>
            <a:pPr algn="ctr">
              <a:lnSpc>
                <a:spcPct val="90000"/>
              </a:lnSpc>
            </a:pPr>
            <a:r>
              <a:rPr lang="en-US" sz="1800" dirty="0"/>
              <a:t>2 Client environments (Test/Prod)</a:t>
            </a:r>
          </a:p>
        </p:txBody>
      </p:sp>
      <p:sp>
        <p:nvSpPr>
          <p:cNvPr id="10" name="TextBox 9"/>
          <p:cNvSpPr txBox="1"/>
          <p:nvPr/>
        </p:nvSpPr>
        <p:spPr>
          <a:xfrm>
            <a:off x="2634161" y="2151969"/>
            <a:ext cx="2072640" cy="637451"/>
          </a:xfrm>
          <a:prstGeom prst="roundRect">
            <a:avLst/>
          </a:prstGeom>
          <a:solidFill>
            <a:srgbClr val="D9D9D9"/>
          </a:solidFill>
        </p:spPr>
        <p:txBody>
          <a:bodyPr wrap="square" rtlCol="0" anchor="ctr" anchorCtr="0">
            <a:noAutofit/>
          </a:bodyPr>
          <a:lstStyle/>
          <a:p>
            <a:pPr algn="ctr">
              <a:lnSpc>
                <a:spcPct val="90000"/>
              </a:lnSpc>
            </a:pPr>
            <a:r>
              <a:rPr lang="en-US" sz="1800" dirty="0"/>
              <a:t>DRP/Site redundancy</a:t>
            </a:r>
          </a:p>
        </p:txBody>
      </p:sp>
      <p:sp>
        <p:nvSpPr>
          <p:cNvPr id="11" name="TextBox 10"/>
          <p:cNvSpPr txBox="1"/>
          <p:nvPr/>
        </p:nvSpPr>
        <p:spPr>
          <a:xfrm>
            <a:off x="3821675" y="2929997"/>
            <a:ext cx="2437549" cy="408850"/>
          </a:xfrm>
          <a:prstGeom prst="roundRect">
            <a:avLst/>
          </a:prstGeom>
          <a:solidFill>
            <a:srgbClr val="D9D9D9"/>
          </a:solidFill>
        </p:spPr>
        <p:txBody>
          <a:bodyPr wrap="square" rtlCol="0" anchor="ctr" anchorCtr="0">
            <a:noAutofit/>
          </a:bodyPr>
          <a:lstStyle/>
          <a:p>
            <a:pPr algn="ctr">
              <a:lnSpc>
                <a:spcPct val="90000"/>
              </a:lnSpc>
            </a:pPr>
            <a:r>
              <a:rPr lang="en-US" sz="1800" dirty="0"/>
              <a:t>High availability</a:t>
            </a:r>
          </a:p>
        </p:txBody>
      </p:sp>
      <p:sp>
        <p:nvSpPr>
          <p:cNvPr id="12" name="TextBox 11"/>
          <p:cNvSpPr txBox="1"/>
          <p:nvPr/>
        </p:nvSpPr>
        <p:spPr>
          <a:xfrm>
            <a:off x="4249692" y="4770067"/>
            <a:ext cx="1581514" cy="408623"/>
          </a:xfrm>
          <a:prstGeom prst="roundRect">
            <a:avLst/>
          </a:prstGeom>
          <a:solidFill>
            <a:srgbClr val="D9D9D9"/>
          </a:solidFill>
        </p:spPr>
        <p:txBody>
          <a:bodyPr wrap="square" rtlCol="0" anchor="ctr" anchorCtr="0">
            <a:noAutofit/>
          </a:bodyPr>
          <a:lstStyle/>
          <a:p>
            <a:pPr algn="ctr"/>
            <a:r>
              <a:rPr lang="en-US" sz="1800" dirty="0"/>
              <a:t>Clustered</a:t>
            </a:r>
          </a:p>
        </p:txBody>
      </p:sp>
      <p:sp>
        <p:nvSpPr>
          <p:cNvPr id="13" name="TextBox 12"/>
          <p:cNvSpPr txBox="1"/>
          <p:nvPr/>
        </p:nvSpPr>
        <p:spPr>
          <a:xfrm>
            <a:off x="2844445" y="5341427"/>
            <a:ext cx="2072640" cy="637451"/>
          </a:xfrm>
          <a:prstGeom prst="roundRect">
            <a:avLst/>
          </a:prstGeom>
          <a:solidFill>
            <a:srgbClr val="D9D9D9"/>
          </a:solidFill>
        </p:spPr>
        <p:txBody>
          <a:bodyPr wrap="square" rtlCol="0" anchor="ctr" anchorCtr="0">
            <a:noAutofit/>
          </a:bodyPr>
          <a:lstStyle/>
          <a:p>
            <a:pPr algn="ctr">
              <a:lnSpc>
                <a:spcPct val="90000"/>
              </a:lnSpc>
            </a:pPr>
            <a:r>
              <a:rPr lang="en-US" sz="1800" dirty="0"/>
              <a:t>Pre-built processing flows</a:t>
            </a:r>
          </a:p>
        </p:txBody>
      </p:sp>
      <p:sp>
        <p:nvSpPr>
          <p:cNvPr id="16" name="TextBox 15"/>
          <p:cNvSpPr txBox="1"/>
          <p:nvPr/>
        </p:nvSpPr>
        <p:spPr>
          <a:xfrm>
            <a:off x="5015955" y="2190239"/>
            <a:ext cx="2438400" cy="408623"/>
          </a:xfrm>
          <a:prstGeom prst="roundRect">
            <a:avLst/>
          </a:prstGeom>
          <a:solidFill>
            <a:srgbClr val="D9D9D9"/>
          </a:solidFill>
        </p:spPr>
        <p:txBody>
          <a:bodyPr wrap="square" rtlCol="0" anchor="ctr" anchorCtr="0">
            <a:noAutofit/>
          </a:bodyPr>
          <a:lstStyle/>
          <a:p>
            <a:pPr algn="ctr"/>
            <a:r>
              <a:rPr lang="en-US" sz="1800" dirty="0"/>
              <a:t>Cloud based</a:t>
            </a:r>
          </a:p>
        </p:txBody>
      </p:sp>
      <p:sp>
        <p:nvSpPr>
          <p:cNvPr id="17" name="TextBox 16"/>
          <p:cNvSpPr txBox="1"/>
          <p:nvPr/>
        </p:nvSpPr>
        <p:spPr>
          <a:xfrm>
            <a:off x="5209598" y="5362529"/>
            <a:ext cx="1997968" cy="637451"/>
          </a:xfrm>
          <a:prstGeom prst="roundRect">
            <a:avLst/>
          </a:prstGeom>
          <a:solidFill>
            <a:srgbClr val="D9D9D9"/>
          </a:solidFill>
        </p:spPr>
        <p:txBody>
          <a:bodyPr wrap="square" rtlCol="0" anchor="ctr" anchorCtr="0">
            <a:noAutofit/>
          </a:bodyPr>
          <a:lstStyle/>
          <a:p>
            <a:pPr algn="ctr">
              <a:lnSpc>
                <a:spcPct val="90000"/>
              </a:lnSpc>
            </a:pPr>
            <a:r>
              <a:rPr lang="en-US" sz="1800" dirty="0"/>
              <a:t>Global support</a:t>
            </a:r>
          </a:p>
        </p:txBody>
      </p:sp>
      <p:sp>
        <p:nvSpPr>
          <p:cNvPr id="18" name="TextBox 17"/>
          <p:cNvSpPr txBox="1"/>
          <p:nvPr/>
        </p:nvSpPr>
        <p:spPr>
          <a:xfrm>
            <a:off x="6703118" y="2811015"/>
            <a:ext cx="1645920" cy="637451"/>
          </a:xfrm>
          <a:prstGeom prst="roundRect">
            <a:avLst/>
          </a:prstGeom>
          <a:solidFill>
            <a:srgbClr val="D9D9D9"/>
          </a:solidFill>
        </p:spPr>
        <p:txBody>
          <a:bodyPr wrap="square" rtlCol="0" anchor="ctr" anchorCtr="0">
            <a:noAutofit/>
          </a:bodyPr>
          <a:lstStyle/>
          <a:p>
            <a:pPr algn="ctr">
              <a:lnSpc>
                <a:spcPct val="90000"/>
              </a:lnSpc>
            </a:pPr>
            <a:r>
              <a:rPr lang="en-US" sz="1800" dirty="0"/>
              <a:t>CMMI3 - ISO9001</a:t>
            </a:r>
          </a:p>
        </p:txBody>
      </p:sp>
      <p:sp>
        <p:nvSpPr>
          <p:cNvPr id="19" name="TextBox 18"/>
          <p:cNvSpPr txBox="1"/>
          <p:nvPr/>
        </p:nvSpPr>
        <p:spPr>
          <a:xfrm>
            <a:off x="6857065" y="3673310"/>
            <a:ext cx="2194560" cy="408623"/>
          </a:xfrm>
          <a:prstGeom prst="roundRect">
            <a:avLst/>
          </a:prstGeom>
          <a:solidFill>
            <a:srgbClr val="D9D9D9"/>
          </a:solidFill>
        </p:spPr>
        <p:txBody>
          <a:bodyPr wrap="square" rtlCol="0" anchor="ctr" anchorCtr="0">
            <a:noAutofit/>
          </a:bodyPr>
          <a:lstStyle/>
          <a:p>
            <a:pPr algn="ctr"/>
            <a:r>
              <a:rPr lang="en-US" sz="1800" dirty="0"/>
              <a:t>ITIL - SAS70</a:t>
            </a:r>
          </a:p>
        </p:txBody>
      </p:sp>
      <p:sp>
        <p:nvSpPr>
          <p:cNvPr id="20" name="TextBox 19"/>
          <p:cNvSpPr txBox="1"/>
          <p:nvPr/>
        </p:nvSpPr>
        <p:spPr>
          <a:xfrm>
            <a:off x="6472973" y="4372226"/>
            <a:ext cx="2527174" cy="637451"/>
          </a:xfrm>
          <a:prstGeom prst="roundRect">
            <a:avLst/>
          </a:prstGeom>
          <a:solidFill>
            <a:srgbClr val="D9D9D9"/>
          </a:solidFill>
        </p:spPr>
        <p:txBody>
          <a:bodyPr wrap="square" rtlCol="0" anchor="ctr" anchorCtr="0">
            <a:noAutofit/>
          </a:bodyPr>
          <a:lstStyle/>
          <a:p>
            <a:pPr algn="ctr">
              <a:lnSpc>
                <a:spcPct val="90000"/>
              </a:lnSpc>
            </a:pPr>
            <a:r>
              <a:rPr lang="en-US" sz="1800" dirty="0"/>
              <a:t>Implementation methodology</a:t>
            </a:r>
          </a:p>
        </p:txBody>
      </p:sp>
      <p:sp>
        <p:nvSpPr>
          <p:cNvPr id="21" name="Rounded Rectangle 20"/>
          <p:cNvSpPr/>
          <p:nvPr/>
        </p:nvSpPr>
        <p:spPr>
          <a:xfrm>
            <a:off x="626835" y="6545049"/>
            <a:ext cx="8778240" cy="822960"/>
          </a:xfrm>
          <a:prstGeom prst="roundRect">
            <a:avLst/>
          </a:prstGeom>
          <a:solidFill>
            <a:srgbClr val="00968F"/>
          </a:solidFill>
          <a:ln/>
        </p:spPr>
        <p:style>
          <a:lnRef idx="1">
            <a:schemeClr val="accent1"/>
          </a:lnRef>
          <a:fillRef idx="3">
            <a:schemeClr val="accent1"/>
          </a:fillRef>
          <a:effectRef idx="2">
            <a:schemeClr val="accent1"/>
          </a:effectRef>
          <a:fontRef idx="minor">
            <a:schemeClr val="lt1"/>
          </a:fontRef>
        </p:style>
        <p:txBody>
          <a:bodyPr lIns="146304" tIns="73152" rtlCol="0" anchor="ctr"/>
          <a:lstStyle/>
          <a:p>
            <a:pPr algn="ctr">
              <a:lnSpc>
                <a:spcPct val="85000"/>
              </a:lnSpc>
            </a:pPr>
            <a:r>
              <a:rPr lang="en-US" sz="2600" dirty="0">
                <a:solidFill>
                  <a:prstClr val="white"/>
                </a:solidFill>
              </a:rPr>
              <a:t>BES Service management</a:t>
            </a:r>
          </a:p>
          <a:p>
            <a:pPr algn="ctr">
              <a:lnSpc>
                <a:spcPct val="85000"/>
              </a:lnSpc>
            </a:pPr>
            <a:r>
              <a:rPr lang="en-US" sz="2600" dirty="0">
                <a:solidFill>
                  <a:prstClr val="white"/>
                </a:solidFill>
              </a:rPr>
              <a:t>Self-serve portal, help desk, CSM</a:t>
            </a:r>
          </a:p>
        </p:txBody>
      </p:sp>
      <p:sp>
        <p:nvSpPr>
          <p:cNvPr id="23" name="TextBox 22"/>
          <p:cNvSpPr txBox="1"/>
          <p:nvPr/>
        </p:nvSpPr>
        <p:spPr>
          <a:xfrm>
            <a:off x="10023383" y="890224"/>
            <a:ext cx="3643224" cy="535531"/>
          </a:xfrm>
          <a:prstGeom prst="rect">
            <a:avLst/>
          </a:prstGeom>
          <a:noFill/>
        </p:spPr>
        <p:txBody>
          <a:bodyPr wrap="square" rtlCol="0">
            <a:spAutoFit/>
          </a:bodyPr>
          <a:lstStyle/>
          <a:p>
            <a:pPr algn="ctr"/>
            <a:r>
              <a:rPr lang="en-US" b="1" dirty="0">
                <a:solidFill>
                  <a:srgbClr val="00968F"/>
                </a:solidFill>
              </a:rPr>
              <a:t>Benefits</a:t>
            </a:r>
          </a:p>
        </p:txBody>
      </p:sp>
      <p:sp>
        <p:nvSpPr>
          <p:cNvPr id="2" name="Title 1"/>
          <p:cNvSpPr>
            <a:spLocks noGrp="1"/>
          </p:cNvSpPr>
          <p:nvPr>
            <p:ph type="title"/>
          </p:nvPr>
        </p:nvSpPr>
        <p:spPr>
          <a:xfrm>
            <a:off x="732264" y="586367"/>
            <a:ext cx="10149097" cy="689419"/>
          </a:xfrm>
        </p:spPr>
        <p:txBody>
          <a:bodyPr/>
          <a:lstStyle/>
          <a:p>
            <a:r>
              <a:rPr lang="en-US" dirty="0">
                <a:solidFill>
                  <a:srgbClr val="60249E"/>
                </a:solidFill>
                <a:latin typeface="Arial" panose="020B0604020202020204" pitchFamily="34" charset="0"/>
                <a:cs typeface="Arial" panose="020B0604020202020204" pitchFamily="34" charset="0"/>
              </a:rPr>
              <a:t>DXC Global Shared Platform (GSP)</a:t>
            </a:r>
            <a:br>
              <a:rPr lang="en-US" dirty="0"/>
            </a:br>
            <a:endParaRPr lang="en-US" dirty="0"/>
          </a:p>
        </p:txBody>
      </p:sp>
    </p:spTree>
    <p:extLst>
      <p:ext uri="{BB962C8B-B14F-4D97-AF65-F5344CB8AC3E}">
        <p14:creationId xmlns:p14="http://schemas.microsoft.com/office/powerpoint/2010/main" val="1634533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9763"/>
            <a:ext cx="13258800" cy="731837"/>
          </a:xfrm>
        </p:spPr>
        <p:txBody>
          <a:bodyPr/>
          <a:lstStyle/>
          <a:p>
            <a:r>
              <a:rPr lang="en-US" dirty="0"/>
              <a:t>BES’ Translation Platform</a:t>
            </a:r>
          </a:p>
        </p:txBody>
      </p:sp>
      <p:sp>
        <p:nvSpPr>
          <p:cNvPr id="4" name="TextBox 3"/>
          <p:cNvSpPr txBox="1"/>
          <p:nvPr/>
        </p:nvSpPr>
        <p:spPr>
          <a:xfrm>
            <a:off x="755431" y="1371600"/>
            <a:ext cx="4737538" cy="6247864"/>
          </a:xfrm>
          <a:prstGeom prst="rect">
            <a:avLst/>
          </a:prstGeom>
          <a:noFill/>
        </p:spPr>
        <p:txBody>
          <a:bodyPr wrap="square" rtlCol="0">
            <a:spAutoFit/>
          </a:bodyPr>
          <a:lstStyle/>
          <a:p>
            <a:r>
              <a:rPr lang="en-US" sz="1600" b="1" dirty="0">
                <a:solidFill>
                  <a:srgbClr val="00968F"/>
                </a:solidFill>
              </a:rPr>
              <a:t>Data Processing System </a:t>
            </a:r>
          </a:p>
          <a:p>
            <a:pPr marL="285750" indent="-285750">
              <a:buFont typeface="Wingdings" panose="05000000000000000000" pitchFamily="2" charset="2"/>
              <a:buChar char="§"/>
            </a:pPr>
            <a:r>
              <a:rPr lang="en-US" sz="1600" dirty="0"/>
              <a:t>Translations processed within </a:t>
            </a:r>
            <a:r>
              <a:rPr lang="en-US" sz="1600" dirty="0" err="1"/>
              <a:t>SEDIi</a:t>
            </a:r>
            <a:endParaRPr lang="en-US" sz="1600" dirty="0"/>
          </a:p>
          <a:p>
            <a:pPr marL="285750" indent="-285750">
              <a:buFont typeface="Wingdings" panose="05000000000000000000" pitchFamily="2" charset="2"/>
              <a:buChar char="§"/>
            </a:pPr>
            <a:r>
              <a:rPr lang="en-US" sz="1600" dirty="0"/>
              <a:t>Pre and Post processes external to </a:t>
            </a:r>
            <a:r>
              <a:rPr lang="en-US" sz="1600" dirty="0" err="1"/>
              <a:t>SEDIi</a:t>
            </a:r>
            <a:endParaRPr lang="en-US" sz="1600" dirty="0"/>
          </a:p>
          <a:p>
            <a:pPr marL="285750" indent="-285750">
              <a:buFont typeface="Wingdings" panose="05000000000000000000" pitchFamily="2" charset="2"/>
              <a:buChar char="§"/>
            </a:pPr>
            <a:endParaRPr lang="en-US" sz="1600" dirty="0"/>
          </a:p>
          <a:p>
            <a:r>
              <a:rPr lang="en-US" sz="1600" b="1" dirty="0">
                <a:solidFill>
                  <a:srgbClr val="00968F"/>
                </a:solidFill>
              </a:rPr>
              <a:t>Tracking and Reporting System</a:t>
            </a:r>
          </a:p>
          <a:p>
            <a:pPr marL="285750" indent="-285750">
              <a:buFont typeface="Wingdings" panose="05000000000000000000" pitchFamily="2" charset="2"/>
              <a:buChar char="§"/>
            </a:pPr>
            <a:r>
              <a:rPr lang="en-US" sz="1600" dirty="0"/>
              <a:t>External to </a:t>
            </a:r>
            <a:r>
              <a:rPr lang="en-US" sz="1600" dirty="0" err="1"/>
              <a:t>SEDIi</a:t>
            </a:r>
            <a:r>
              <a:rPr lang="en-US" sz="1600" dirty="0"/>
              <a:t>  </a:t>
            </a:r>
          </a:p>
          <a:p>
            <a:pPr marL="285750" indent="-285750">
              <a:buFont typeface="Wingdings" panose="05000000000000000000" pitchFamily="2" charset="2"/>
              <a:buChar char="§"/>
            </a:pPr>
            <a:r>
              <a:rPr lang="en-US" sz="1600" dirty="0"/>
              <a:t>Events provided by all application components</a:t>
            </a:r>
          </a:p>
          <a:p>
            <a:pPr marL="285750" indent="-285750">
              <a:buFont typeface="Arial" panose="020B0604020202020204" pitchFamily="34" charset="0"/>
              <a:buChar char="•"/>
            </a:pPr>
            <a:endParaRPr lang="en-US" sz="1600" dirty="0"/>
          </a:p>
          <a:p>
            <a:r>
              <a:rPr lang="en-US" sz="1600" b="1" dirty="0">
                <a:solidFill>
                  <a:srgbClr val="00968F"/>
                </a:solidFill>
              </a:rPr>
              <a:t>System Services</a:t>
            </a:r>
          </a:p>
          <a:p>
            <a:pPr marL="285750" indent="-285750">
              <a:buFont typeface="Wingdings" panose="05000000000000000000" pitchFamily="2" charset="2"/>
              <a:buChar char="§"/>
            </a:pPr>
            <a:r>
              <a:rPr lang="en-US" sz="1600" dirty="0"/>
              <a:t>Archive</a:t>
            </a:r>
          </a:p>
          <a:p>
            <a:pPr marL="285750" indent="-285750">
              <a:buFont typeface="Wingdings" panose="05000000000000000000" pitchFamily="2" charset="2"/>
              <a:buChar char="§"/>
            </a:pPr>
            <a:r>
              <a:rPr lang="en-US" sz="1600" dirty="0"/>
              <a:t>Backup and Recovery</a:t>
            </a:r>
          </a:p>
          <a:p>
            <a:pPr marL="285750" indent="-285750">
              <a:buFont typeface="Wingdings" panose="05000000000000000000" pitchFamily="2" charset="2"/>
              <a:buChar char="§"/>
            </a:pPr>
            <a:r>
              <a:rPr lang="en-US" sz="1600" dirty="0"/>
              <a:t>Disaster Recovery</a:t>
            </a:r>
          </a:p>
          <a:p>
            <a:pPr marL="285750" indent="-285750">
              <a:buFont typeface="Wingdings" panose="05000000000000000000" pitchFamily="2" charset="2"/>
              <a:buChar char="§"/>
            </a:pPr>
            <a:r>
              <a:rPr lang="en-US" sz="1600" dirty="0"/>
              <a:t>Monitoring</a:t>
            </a:r>
          </a:p>
          <a:p>
            <a:endParaRPr lang="en-US" sz="1600" dirty="0"/>
          </a:p>
          <a:p>
            <a:r>
              <a:rPr lang="en-US" sz="1600" b="1" dirty="0">
                <a:solidFill>
                  <a:srgbClr val="00968F"/>
                </a:solidFill>
              </a:rPr>
              <a:t>Optional Services</a:t>
            </a:r>
          </a:p>
          <a:p>
            <a:pPr marL="285750" indent="-285750">
              <a:buFont typeface="Wingdings" panose="05000000000000000000" pitchFamily="2" charset="2"/>
              <a:buChar char="§"/>
            </a:pPr>
            <a:r>
              <a:rPr lang="en-US" sz="1600" dirty="0"/>
              <a:t>Trading Partner Community Management</a:t>
            </a:r>
          </a:p>
          <a:p>
            <a:pPr marL="285750" indent="-285750">
              <a:buFont typeface="Wingdings" panose="05000000000000000000" pitchFamily="2" charset="2"/>
              <a:buChar char="§"/>
            </a:pPr>
            <a:r>
              <a:rPr lang="en-US" sz="1600" dirty="0"/>
              <a:t>EDI Process Visibility </a:t>
            </a:r>
          </a:p>
          <a:p>
            <a:pPr marL="285750" indent="-285750">
              <a:buFont typeface="Wingdings" panose="05000000000000000000" pitchFamily="2" charset="2"/>
              <a:buChar char="§"/>
            </a:pPr>
            <a:endParaRPr lang="en-US" sz="1600" dirty="0"/>
          </a:p>
          <a:p>
            <a:r>
              <a:rPr lang="en-US" sz="1600" b="1" dirty="0">
                <a:solidFill>
                  <a:srgbClr val="00968F"/>
                </a:solidFill>
              </a:rPr>
              <a:t>Environments</a:t>
            </a:r>
          </a:p>
          <a:p>
            <a:pPr marL="285750" indent="-285750">
              <a:buFont typeface="Wingdings" panose="05000000000000000000" pitchFamily="2" charset="2"/>
              <a:buChar char="§"/>
            </a:pPr>
            <a:r>
              <a:rPr lang="en-US" sz="1600" dirty="0"/>
              <a:t>Production </a:t>
            </a:r>
          </a:p>
          <a:p>
            <a:pPr marL="285750" indent="-285750">
              <a:buFont typeface="Wingdings" panose="05000000000000000000" pitchFamily="2" charset="2"/>
              <a:buChar char="§"/>
            </a:pPr>
            <a:r>
              <a:rPr lang="en-US" sz="1600" dirty="0"/>
              <a:t>Model Office / Disaster Recovery</a:t>
            </a:r>
          </a:p>
          <a:p>
            <a:pPr marL="285750" indent="-285750">
              <a:buFont typeface="Wingdings" panose="05000000000000000000" pitchFamily="2" charset="2"/>
              <a:buChar char="§"/>
            </a:pPr>
            <a:r>
              <a:rPr lang="en-US" sz="1600" dirty="0"/>
              <a:t>Quality Assurance</a:t>
            </a:r>
          </a:p>
          <a:p>
            <a:pPr marL="285750" indent="-285750">
              <a:buFont typeface="Wingdings" panose="05000000000000000000" pitchFamily="2" charset="2"/>
              <a:buChar char="§"/>
            </a:pPr>
            <a:r>
              <a:rPr lang="en-US" sz="1600" dirty="0"/>
              <a:t>Integration</a:t>
            </a:r>
          </a:p>
          <a:p>
            <a:pPr marL="285750" indent="-285750">
              <a:buFont typeface="Wingdings" panose="05000000000000000000" pitchFamily="2" charset="2"/>
              <a:buChar char="§"/>
            </a:pPr>
            <a:r>
              <a:rPr lang="en-US" sz="1600" dirty="0"/>
              <a:t>Development</a:t>
            </a:r>
          </a:p>
          <a:p>
            <a:endParaRPr lang="en-US" sz="1600" dirty="0"/>
          </a:p>
        </p:txBody>
      </p:sp>
      <p:pic>
        <p:nvPicPr>
          <p:cNvPr id="5" name="Picture 4"/>
          <p:cNvPicPr>
            <a:picLocks noChangeAspect="1"/>
          </p:cNvPicPr>
          <p:nvPr/>
        </p:nvPicPr>
        <p:blipFill>
          <a:blip r:embed="rId3"/>
          <a:stretch>
            <a:fillRect/>
          </a:stretch>
        </p:blipFill>
        <p:spPr>
          <a:xfrm>
            <a:off x="5562600" y="1371600"/>
            <a:ext cx="8647979" cy="6115050"/>
          </a:xfrm>
          <a:prstGeom prst="rect">
            <a:avLst/>
          </a:prstGeom>
          <a:solidFill>
            <a:srgbClr val="00968F"/>
          </a:solidFill>
        </p:spPr>
      </p:pic>
    </p:spTree>
    <p:extLst>
      <p:ext uri="{BB962C8B-B14F-4D97-AF65-F5344CB8AC3E}">
        <p14:creationId xmlns:p14="http://schemas.microsoft.com/office/powerpoint/2010/main" val="2735422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Icon&#10;&#10;Description automatically generated">
            <a:extLst>
              <a:ext uri="{FF2B5EF4-FFF2-40B4-BE49-F238E27FC236}">
                <a16:creationId xmlns:a16="http://schemas.microsoft.com/office/drawing/2014/main" id="{FEA0476F-C35A-4E78-BD73-D0E56A05A836}"/>
              </a:ext>
            </a:extLst>
          </p:cNvPr>
          <p:cNvPicPr>
            <a:picLocks noChangeAspect="1"/>
          </p:cNvPicPr>
          <p:nvPr/>
        </p:nvPicPr>
        <p:blipFill>
          <a:blip r:embed="rId3">
            <a:clrChange>
              <a:clrFrom>
                <a:srgbClr val="FFFFFF"/>
              </a:clrFrom>
              <a:clrTo>
                <a:srgbClr val="FFFFFF">
                  <a:alpha val="0"/>
                </a:srgbClr>
              </a:clrTo>
            </a:clrChange>
            <a:alphaModFix amt="50000"/>
          </a:blip>
          <a:stretch>
            <a:fillRect/>
          </a:stretch>
        </p:blipFill>
        <p:spPr>
          <a:xfrm>
            <a:off x="4591874" y="2330861"/>
            <a:ext cx="4572460" cy="4036774"/>
          </a:xfrm>
          <a:prstGeom prst="rect">
            <a:avLst/>
          </a:prstGeom>
        </p:spPr>
      </p:pic>
      <p:sp>
        <p:nvSpPr>
          <p:cNvPr id="2" name="Title 1"/>
          <p:cNvSpPr>
            <a:spLocks noGrp="1"/>
          </p:cNvSpPr>
          <p:nvPr>
            <p:ph type="title"/>
          </p:nvPr>
        </p:nvSpPr>
        <p:spPr>
          <a:xfrm>
            <a:off x="828515" y="619939"/>
            <a:ext cx="13070364" cy="587091"/>
          </a:xfrm>
        </p:spPr>
        <p:txBody>
          <a:bodyPr>
            <a:normAutofit/>
          </a:bodyPr>
          <a:lstStyle/>
          <a:p>
            <a:r>
              <a:rPr lang="en-GB" dirty="0"/>
              <a:t>BES Managed File Transfer Network (MFT Network)</a:t>
            </a:r>
          </a:p>
        </p:txBody>
      </p:sp>
      <p:sp>
        <p:nvSpPr>
          <p:cNvPr id="7" name="Rectangle: Rounded Corners 6">
            <a:extLst>
              <a:ext uri="{FF2B5EF4-FFF2-40B4-BE49-F238E27FC236}">
                <a16:creationId xmlns:a16="http://schemas.microsoft.com/office/drawing/2014/main" id="{917D9115-0C18-4954-95A7-118BFF435EED}"/>
              </a:ext>
            </a:extLst>
          </p:cNvPr>
          <p:cNvSpPr/>
          <p:nvPr/>
        </p:nvSpPr>
        <p:spPr>
          <a:xfrm>
            <a:off x="1429966" y="1682885"/>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In commercial operation for more than 25 years</a:t>
            </a:r>
          </a:p>
        </p:txBody>
      </p:sp>
      <p:sp>
        <p:nvSpPr>
          <p:cNvPr id="34" name="Rectangle: Rounded Corners 33">
            <a:extLst>
              <a:ext uri="{FF2B5EF4-FFF2-40B4-BE49-F238E27FC236}">
                <a16:creationId xmlns:a16="http://schemas.microsoft.com/office/drawing/2014/main" id="{C615BF7A-D002-434A-A11E-4706311477C0}"/>
              </a:ext>
            </a:extLst>
          </p:cNvPr>
          <p:cNvSpPr/>
          <p:nvPr/>
        </p:nvSpPr>
        <p:spPr>
          <a:xfrm>
            <a:off x="1429966" y="3103374"/>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Global reach</a:t>
            </a:r>
          </a:p>
        </p:txBody>
      </p:sp>
      <p:sp>
        <p:nvSpPr>
          <p:cNvPr id="35" name="Rectangle: Rounded Corners 34">
            <a:extLst>
              <a:ext uri="{FF2B5EF4-FFF2-40B4-BE49-F238E27FC236}">
                <a16:creationId xmlns:a16="http://schemas.microsoft.com/office/drawing/2014/main" id="{CA4B232A-03AE-4A6E-A754-11462E48FB79}"/>
              </a:ext>
            </a:extLst>
          </p:cNvPr>
          <p:cNvSpPr/>
          <p:nvPr/>
        </p:nvSpPr>
        <p:spPr>
          <a:xfrm>
            <a:off x="1431936" y="4542904"/>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1000+ Clients</a:t>
            </a:r>
          </a:p>
        </p:txBody>
      </p:sp>
      <p:sp>
        <p:nvSpPr>
          <p:cNvPr id="36" name="Rectangle: Rounded Corners 35">
            <a:extLst>
              <a:ext uri="{FF2B5EF4-FFF2-40B4-BE49-F238E27FC236}">
                <a16:creationId xmlns:a16="http://schemas.microsoft.com/office/drawing/2014/main" id="{EDA2F01F-0A16-405D-A986-881CA2D043B4}"/>
              </a:ext>
            </a:extLst>
          </p:cNvPr>
          <p:cNvSpPr/>
          <p:nvPr/>
        </p:nvSpPr>
        <p:spPr>
          <a:xfrm>
            <a:off x="1429963" y="5959283"/>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65,000+ network nodes</a:t>
            </a:r>
          </a:p>
        </p:txBody>
      </p:sp>
      <p:sp>
        <p:nvSpPr>
          <p:cNvPr id="37" name="Rectangle: Rounded Corners 36">
            <a:extLst>
              <a:ext uri="{FF2B5EF4-FFF2-40B4-BE49-F238E27FC236}">
                <a16:creationId xmlns:a16="http://schemas.microsoft.com/office/drawing/2014/main" id="{74945393-BCFC-4DEC-BF70-EB52D5FDB974}"/>
              </a:ext>
            </a:extLst>
          </p:cNvPr>
          <p:cNvSpPr/>
          <p:nvPr/>
        </p:nvSpPr>
        <p:spPr>
          <a:xfrm>
            <a:off x="8571253" y="1682885"/>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Supports all common connection types, protocols &amp; networks</a:t>
            </a:r>
          </a:p>
        </p:txBody>
      </p:sp>
      <p:sp>
        <p:nvSpPr>
          <p:cNvPr id="38" name="Rectangle: Rounded Corners 37">
            <a:extLst>
              <a:ext uri="{FF2B5EF4-FFF2-40B4-BE49-F238E27FC236}">
                <a16:creationId xmlns:a16="http://schemas.microsoft.com/office/drawing/2014/main" id="{E4BD2BFA-97FA-478A-A5CD-3981A60D780F}"/>
              </a:ext>
            </a:extLst>
          </p:cNvPr>
          <p:cNvSpPr/>
          <p:nvPr/>
        </p:nvSpPr>
        <p:spPr>
          <a:xfrm>
            <a:off x="8571252" y="3097792"/>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23 commercial VAN interconnects</a:t>
            </a:r>
          </a:p>
        </p:txBody>
      </p:sp>
      <p:sp>
        <p:nvSpPr>
          <p:cNvPr id="39" name="Rectangle: Rounded Corners 38">
            <a:extLst>
              <a:ext uri="{FF2B5EF4-FFF2-40B4-BE49-F238E27FC236}">
                <a16:creationId xmlns:a16="http://schemas.microsoft.com/office/drawing/2014/main" id="{DD19F076-BB8D-4C5E-8EC5-5ABFB3905B0F}"/>
              </a:ext>
            </a:extLst>
          </p:cNvPr>
          <p:cNvSpPr/>
          <p:nvPr/>
        </p:nvSpPr>
        <p:spPr>
          <a:xfrm>
            <a:off x="8571251" y="4528231"/>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Proactive monitoring &amp; resolution handling</a:t>
            </a:r>
          </a:p>
        </p:txBody>
      </p:sp>
      <p:sp>
        <p:nvSpPr>
          <p:cNvPr id="40" name="Rectangle: Rounded Corners 39">
            <a:extLst>
              <a:ext uri="{FF2B5EF4-FFF2-40B4-BE49-F238E27FC236}">
                <a16:creationId xmlns:a16="http://schemas.microsoft.com/office/drawing/2014/main" id="{A8518715-C694-4DFA-9B83-D522AE5DF31B}"/>
              </a:ext>
            </a:extLst>
          </p:cNvPr>
          <p:cNvSpPr/>
          <p:nvPr/>
        </p:nvSpPr>
        <p:spPr>
          <a:xfrm>
            <a:off x="8571251" y="5957811"/>
            <a:ext cx="3596387" cy="1132333"/>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24/7 365 days a year client &amp; partner support</a:t>
            </a:r>
          </a:p>
        </p:txBody>
      </p:sp>
      <p:sp>
        <p:nvSpPr>
          <p:cNvPr id="10" name="TextBox 9">
            <a:extLst>
              <a:ext uri="{FF2B5EF4-FFF2-40B4-BE49-F238E27FC236}">
                <a16:creationId xmlns:a16="http://schemas.microsoft.com/office/drawing/2014/main" id="{CDB881E9-EAE2-4881-A1A3-FF86051AAFD0}"/>
              </a:ext>
            </a:extLst>
          </p:cNvPr>
          <p:cNvSpPr txBox="1"/>
          <p:nvPr/>
        </p:nvSpPr>
        <p:spPr>
          <a:xfrm>
            <a:off x="5617296" y="2897646"/>
            <a:ext cx="1817649" cy="919226"/>
          </a:xfrm>
          <a:prstGeom prst="rect">
            <a:avLst/>
          </a:prstGeom>
          <a:noFill/>
        </p:spPr>
        <p:txBody>
          <a:bodyPr wrap="square" rtlCol="0">
            <a:spAutoFit/>
          </a:bodyPr>
          <a:lstStyle/>
          <a:p>
            <a:pPr algn="ctr">
              <a:lnSpc>
                <a:spcPct val="90000"/>
              </a:lnSpc>
              <a:spcAft>
                <a:spcPts val="400"/>
              </a:spcAft>
            </a:pPr>
            <a:r>
              <a:rPr lang="en-US" sz="2800" b="1" dirty="0">
                <a:solidFill>
                  <a:schemeClr val="tx1">
                    <a:lumMod val="50000"/>
                    <a:lumOff val="50000"/>
                  </a:schemeClr>
                </a:solidFill>
              </a:rPr>
              <a:t>MFT</a:t>
            </a:r>
          </a:p>
          <a:p>
            <a:pPr algn="ctr">
              <a:lnSpc>
                <a:spcPct val="90000"/>
              </a:lnSpc>
              <a:spcAft>
                <a:spcPts val="400"/>
              </a:spcAft>
            </a:pPr>
            <a:r>
              <a:rPr lang="en-US" sz="2800" b="1" dirty="0">
                <a:solidFill>
                  <a:schemeClr val="tx1">
                    <a:lumMod val="50000"/>
                    <a:lumOff val="50000"/>
                  </a:schemeClr>
                </a:solidFill>
              </a:rPr>
              <a:t>Network</a:t>
            </a:r>
          </a:p>
        </p:txBody>
      </p:sp>
    </p:spTree>
    <p:extLst>
      <p:ext uri="{BB962C8B-B14F-4D97-AF65-F5344CB8AC3E}">
        <p14:creationId xmlns:p14="http://schemas.microsoft.com/office/powerpoint/2010/main" val="288011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685800" y="1524000"/>
            <a:ext cx="4572000" cy="5867400"/>
          </a:xfrm>
        </p:spPr>
        <p:txBody>
          <a:bodyPr>
            <a:noAutofit/>
          </a:bodyPr>
          <a:lstStyle/>
          <a:p>
            <a:r>
              <a:rPr lang="en-US" dirty="0">
                <a:solidFill>
                  <a:srgbClr val="00968F"/>
                </a:solidFill>
              </a:rPr>
              <a:t>VAN Service Interconnects</a:t>
            </a:r>
          </a:p>
          <a:p>
            <a:pPr marL="365751"/>
            <a:r>
              <a:rPr lang="en-US" sz="1400" dirty="0">
                <a:solidFill>
                  <a:srgbClr val="000000"/>
                </a:solidFill>
              </a:rPr>
              <a:t>Commerce Solutions</a:t>
            </a:r>
          </a:p>
          <a:p>
            <a:pPr marL="365751"/>
            <a:r>
              <a:rPr lang="en-US" sz="1400" dirty="0">
                <a:solidFill>
                  <a:srgbClr val="000000"/>
                </a:solidFill>
              </a:rPr>
              <a:t>Covisint</a:t>
            </a:r>
          </a:p>
          <a:p>
            <a:pPr marL="365751"/>
            <a:r>
              <a:rPr lang="en-US" sz="1400" dirty="0">
                <a:solidFill>
                  <a:srgbClr val="000000"/>
                </a:solidFill>
              </a:rPr>
              <a:t>Descartes</a:t>
            </a:r>
          </a:p>
          <a:p>
            <a:pPr marL="365751"/>
            <a:r>
              <a:rPr lang="en-US" sz="1400" dirty="0">
                <a:solidFill>
                  <a:srgbClr val="000000"/>
                </a:solidFill>
              </a:rPr>
              <a:t>DINET</a:t>
            </a:r>
          </a:p>
          <a:p>
            <a:pPr marL="365751"/>
            <a:r>
              <a:rPr lang="en-US" sz="1400" dirty="0">
                <a:solidFill>
                  <a:srgbClr val="000000"/>
                </a:solidFill>
              </a:rPr>
              <a:t>EasyLink</a:t>
            </a:r>
          </a:p>
          <a:p>
            <a:pPr marL="365751"/>
            <a:r>
              <a:rPr lang="en-US" sz="1400" dirty="0">
                <a:solidFill>
                  <a:srgbClr val="000000"/>
                </a:solidFill>
              </a:rPr>
              <a:t>EC/EDI Inc.</a:t>
            </a:r>
          </a:p>
          <a:p>
            <a:pPr marL="365751"/>
            <a:r>
              <a:rPr lang="en-US" sz="1400" dirty="0">
                <a:solidFill>
                  <a:srgbClr val="000000"/>
                </a:solidFill>
              </a:rPr>
              <a:t>ECOM Systems</a:t>
            </a:r>
          </a:p>
          <a:p>
            <a:pPr marL="365751"/>
            <a:r>
              <a:rPr lang="en-US" sz="1400" dirty="0">
                <a:solidFill>
                  <a:srgbClr val="000000"/>
                </a:solidFill>
              </a:rPr>
              <a:t>EDICOM</a:t>
            </a:r>
          </a:p>
          <a:p>
            <a:pPr marL="365751"/>
            <a:r>
              <a:rPr lang="en-US" sz="1400" dirty="0">
                <a:solidFill>
                  <a:srgbClr val="000000"/>
                </a:solidFill>
              </a:rPr>
              <a:t>Embratel</a:t>
            </a:r>
          </a:p>
          <a:p>
            <a:pPr marL="365751"/>
            <a:r>
              <a:rPr lang="en-US" sz="1400" dirty="0">
                <a:solidFill>
                  <a:srgbClr val="000000"/>
                </a:solidFill>
              </a:rPr>
              <a:t>Emergis</a:t>
            </a:r>
          </a:p>
          <a:p>
            <a:pPr marL="365751"/>
            <a:r>
              <a:rPr lang="en-US" sz="1400" dirty="0">
                <a:solidFill>
                  <a:srgbClr val="000000"/>
                </a:solidFill>
              </a:rPr>
              <a:t>OpenText (formerly GXS)</a:t>
            </a:r>
          </a:p>
          <a:p>
            <a:pPr marL="365751"/>
            <a:r>
              <a:rPr lang="en-US" sz="1400" dirty="0">
                <a:solidFill>
                  <a:srgbClr val="000000"/>
                </a:solidFill>
              </a:rPr>
              <a:t>IBM Sterling Commerce (Ordernet)</a:t>
            </a:r>
          </a:p>
          <a:p>
            <a:pPr marL="365751"/>
            <a:r>
              <a:rPr lang="en-US" sz="1400" dirty="0">
                <a:solidFill>
                  <a:srgbClr val="000000"/>
                </a:solidFill>
              </a:rPr>
              <a:t>I-Connect</a:t>
            </a:r>
          </a:p>
          <a:p>
            <a:endParaRPr lang="en-US" sz="1200" dirty="0"/>
          </a:p>
        </p:txBody>
      </p:sp>
      <p:sp>
        <p:nvSpPr>
          <p:cNvPr id="5" name="Content Placeholder 4"/>
          <p:cNvSpPr>
            <a:spLocks noGrp="1"/>
          </p:cNvSpPr>
          <p:nvPr>
            <p:ph sz="half" idx="2"/>
          </p:nvPr>
        </p:nvSpPr>
        <p:spPr>
          <a:xfrm>
            <a:off x="5334000" y="1524000"/>
            <a:ext cx="4572000" cy="5867400"/>
          </a:xfrm>
        </p:spPr>
        <p:txBody>
          <a:bodyPr>
            <a:noAutofit/>
          </a:bodyPr>
          <a:lstStyle/>
          <a:p>
            <a:r>
              <a:rPr lang="en-US" dirty="0">
                <a:solidFill>
                  <a:srgbClr val="00968F"/>
                </a:solidFill>
              </a:rPr>
              <a:t>VAN Service Interconnects </a:t>
            </a:r>
            <a:r>
              <a:rPr lang="en-US" sz="1200" dirty="0">
                <a:solidFill>
                  <a:srgbClr val="00968F"/>
                </a:solidFill>
              </a:rPr>
              <a:t>(continued)</a:t>
            </a:r>
            <a:endParaRPr lang="en-US" dirty="0">
              <a:solidFill>
                <a:srgbClr val="00968F"/>
              </a:solidFill>
            </a:endParaRPr>
          </a:p>
          <a:p>
            <a:pPr marL="365751"/>
            <a:r>
              <a:rPr lang="en-US" sz="1400" dirty="0">
                <a:solidFill>
                  <a:srgbClr val="000000"/>
                </a:solidFill>
              </a:rPr>
              <a:t>Intertrade</a:t>
            </a:r>
          </a:p>
          <a:p>
            <a:pPr marL="365751"/>
            <a:r>
              <a:rPr lang="en-US" sz="1400" dirty="0">
                <a:solidFill>
                  <a:srgbClr val="000000"/>
                </a:solidFill>
              </a:rPr>
              <a:t>Kleinschmidt</a:t>
            </a:r>
          </a:p>
          <a:p>
            <a:pPr marL="365751"/>
            <a:r>
              <a:rPr lang="en-US" sz="1400" dirty="0">
                <a:solidFill>
                  <a:srgbClr val="000000"/>
                </a:solidFill>
              </a:rPr>
              <a:t>Loren Data</a:t>
            </a:r>
          </a:p>
          <a:p>
            <a:pPr marL="365751"/>
            <a:r>
              <a:rPr lang="en-US" sz="1400" dirty="0">
                <a:solidFill>
                  <a:srgbClr val="000000"/>
                </a:solidFill>
              </a:rPr>
              <a:t>Liaison (formerly Nubridges, MCI Worldcom, BT Tymnet)</a:t>
            </a:r>
          </a:p>
          <a:p>
            <a:pPr marL="365751"/>
            <a:r>
              <a:rPr lang="en-US" sz="1400" dirty="0">
                <a:solidFill>
                  <a:srgbClr val="000000"/>
                </a:solidFill>
              </a:rPr>
              <a:t>Promethean (was ECEDIVAN)</a:t>
            </a:r>
          </a:p>
          <a:p>
            <a:pPr marL="365751"/>
            <a:r>
              <a:rPr lang="en-US" sz="1400" dirty="0">
                <a:solidFill>
                  <a:srgbClr val="000000"/>
                </a:solidFill>
              </a:rPr>
              <a:t>RailInc</a:t>
            </a:r>
          </a:p>
          <a:p>
            <a:pPr marL="365751"/>
            <a:r>
              <a:rPr lang="en-US" sz="1400" dirty="0">
                <a:solidFill>
                  <a:srgbClr val="000000"/>
                </a:solidFill>
              </a:rPr>
              <a:t>Softshare</a:t>
            </a:r>
          </a:p>
          <a:p>
            <a:pPr marL="365751"/>
            <a:r>
              <a:rPr lang="en-US" sz="1400" dirty="0">
                <a:solidFill>
                  <a:srgbClr val="000000"/>
                </a:solidFill>
              </a:rPr>
              <a:t>Sterling Commerce (Ordernet)</a:t>
            </a:r>
          </a:p>
          <a:p>
            <a:pPr marL="365751"/>
            <a:r>
              <a:rPr lang="en-US" sz="1400" dirty="0">
                <a:solidFill>
                  <a:srgbClr val="000000"/>
                </a:solidFill>
              </a:rPr>
              <a:t>Transentric (formerly UP Technologies)</a:t>
            </a:r>
          </a:p>
          <a:p>
            <a:pPr marL="365751"/>
            <a:r>
              <a:rPr lang="en-US" sz="1400" dirty="0">
                <a:solidFill>
                  <a:srgbClr val="000000"/>
                </a:solidFill>
              </a:rPr>
              <a:t>York Worldwide</a:t>
            </a:r>
          </a:p>
          <a:p>
            <a:pPr marL="365751"/>
            <a:r>
              <a:rPr lang="en-US" sz="1400" dirty="0">
                <a:solidFill>
                  <a:srgbClr val="000000"/>
                </a:solidFill>
              </a:rPr>
              <a:t>Ford</a:t>
            </a:r>
          </a:p>
          <a:p>
            <a:pPr marL="365751"/>
            <a:r>
              <a:rPr lang="en-US" sz="1400" dirty="0">
                <a:solidFill>
                  <a:srgbClr val="000000"/>
                </a:solidFill>
              </a:rPr>
              <a:t>Chrysler (FCA)</a:t>
            </a:r>
          </a:p>
        </p:txBody>
      </p:sp>
      <p:sp>
        <p:nvSpPr>
          <p:cNvPr id="6" name="Content Placeholder 5"/>
          <p:cNvSpPr>
            <a:spLocks noGrp="1"/>
          </p:cNvSpPr>
          <p:nvPr>
            <p:ph sz="half" idx="13"/>
          </p:nvPr>
        </p:nvSpPr>
        <p:spPr>
          <a:xfrm>
            <a:off x="10591800" y="1524000"/>
            <a:ext cx="3352800" cy="5867400"/>
          </a:xfrm>
        </p:spPr>
        <p:txBody>
          <a:bodyPr>
            <a:noAutofit/>
          </a:bodyPr>
          <a:lstStyle/>
          <a:p>
            <a:r>
              <a:rPr lang="en-US" dirty="0">
                <a:solidFill>
                  <a:srgbClr val="00968F"/>
                </a:solidFill>
              </a:rPr>
              <a:t>Protocols*</a:t>
            </a:r>
          </a:p>
          <a:p>
            <a:pPr marL="365751" lvl="2" indent="0">
              <a:buNone/>
            </a:pPr>
            <a:r>
              <a:rPr lang="en-US" sz="1400" b="1" dirty="0">
                <a:solidFill>
                  <a:srgbClr val="000000"/>
                </a:solidFill>
              </a:rPr>
              <a:t>AIAG E5 or E5 2000</a:t>
            </a:r>
          </a:p>
          <a:p>
            <a:pPr marL="365751" lvl="2" indent="0">
              <a:buNone/>
            </a:pPr>
            <a:r>
              <a:rPr lang="en-US" sz="1400" b="1" dirty="0">
                <a:solidFill>
                  <a:srgbClr val="000000"/>
                </a:solidFill>
              </a:rPr>
              <a:t>AS2</a:t>
            </a:r>
          </a:p>
          <a:p>
            <a:pPr marL="365751" lvl="2" indent="0">
              <a:buNone/>
            </a:pPr>
            <a:r>
              <a:rPr lang="en-US" sz="1400" b="1" dirty="0">
                <a:solidFill>
                  <a:srgbClr val="000000"/>
                </a:solidFill>
              </a:rPr>
              <a:t>FTP</a:t>
            </a:r>
          </a:p>
          <a:p>
            <a:pPr marL="365751" lvl="2" indent="0">
              <a:buNone/>
            </a:pPr>
            <a:r>
              <a:rPr lang="en-US" sz="1400" b="1" dirty="0">
                <a:solidFill>
                  <a:srgbClr val="000000"/>
                </a:solidFill>
              </a:rPr>
              <a:t>SFTP</a:t>
            </a:r>
          </a:p>
          <a:p>
            <a:pPr marL="365751" lvl="2" indent="0">
              <a:buNone/>
            </a:pPr>
            <a:r>
              <a:rPr lang="en-US" sz="1400" b="1" dirty="0">
                <a:solidFill>
                  <a:srgbClr val="000000"/>
                </a:solidFill>
              </a:rPr>
              <a:t>FTP/S</a:t>
            </a:r>
          </a:p>
          <a:p>
            <a:pPr marL="365751" lvl="2" indent="0">
              <a:buNone/>
            </a:pPr>
            <a:r>
              <a:rPr lang="en-US" sz="1400" b="1" dirty="0">
                <a:solidFill>
                  <a:srgbClr val="000000"/>
                </a:solidFill>
              </a:rPr>
              <a:t>HTTP</a:t>
            </a:r>
          </a:p>
          <a:p>
            <a:pPr marL="365751" lvl="2" indent="0">
              <a:buNone/>
            </a:pPr>
            <a:r>
              <a:rPr lang="en-US" sz="1400" b="1" dirty="0">
                <a:solidFill>
                  <a:srgbClr val="000000"/>
                </a:solidFill>
              </a:rPr>
              <a:t>HTTPS</a:t>
            </a:r>
          </a:p>
          <a:p>
            <a:pPr marL="365751" lvl="2" indent="0">
              <a:buNone/>
            </a:pPr>
            <a:r>
              <a:rPr lang="en-US" sz="1400" b="1" dirty="0">
                <a:solidFill>
                  <a:srgbClr val="000000"/>
                </a:solidFill>
              </a:rPr>
              <a:t>MFT (proprietary)</a:t>
            </a:r>
          </a:p>
          <a:p>
            <a:pPr marL="365751" lvl="2" indent="0">
              <a:buNone/>
            </a:pPr>
            <a:r>
              <a:rPr lang="en-US" sz="1400" b="1" dirty="0">
                <a:solidFill>
                  <a:srgbClr val="000000"/>
                </a:solidFill>
              </a:rPr>
              <a:t>RFC 1867 File Transfer over HTTPS</a:t>
            </a:r>
          </a:p>
          <a:p>
            <a:pPr marL="365751" lvl="2" indent="0">
              <a:buNone/>
            </a:pPr>
            <a:r>
              <a:rPr lang="en-US" sz="1400" b="1" dirty="0">
                <a:solidFill>
                  <a:srgbClr val="000000"/>
                </a:solidFill>
              </a:rPr>
              <a:t>SOAP/HTTPS</a:t>
            </a:r>
          </a:p>
          <a:p>
            <a:pPr marL="365751" lvl="2" indent="0">
              <a:buNone/>
            </a:pPr>
            <a:r>
              <a:rPr lang="en-US" sz="1400" b="1" dirty="0">
                <a:solidFill>
                  <a:srgbClr val="000000"/>
                </a:solidFill>
              </a:rPr>
              <a:t>X12.56</a:t>
            </a:r>
          </a:p>
          <a:p>
            <a:pPr marL="365751" lvl="2" indent="0">
              <a:buNone/>
            </a:pPr>
            <a:r>
              <a:rPr lang="en-US" sz="1400" b="1" dirty="0">
                <a:solidFill>
                  <a:srgbClr val="000000"/>
                </a:solidFill>
              </a:rPr>
              <a:t>Cisco (proprietary)</a:t>
            </a:r>
          </a:p>
          <a:p>
            <a:pPr marL="365751" lvl="2" indent="0">
              <a:buNone/>
            </a:pPr>
            <a:r>
              <a:rPr lang="en-US" sz="1400" b="1" dirty="0">
                <a:solidFill>
                  <a:srgbClr val="000000"/>
                </a:solidFill>
              </a:rPr>
              <a:t>*Key and certificate management handled by BES</a:t>
            </a:r>
          </a:p>
        </p:txBody>
      </p:sp>
      <p:sp>
        <p:nvSpPr>
          <p:cNvPr id="4" name="Title 3"/>
          <p:cNvSpPr>
            <a:spLocks noGrp="1"/>
          </p:cNvSpPr>
          <p:nvPr>
            <p:ph type="title"/>
          </p:nvPr>
        </p:nvSpPr>
        <p:spPr>
          <a:xfrm>
            <a:off x="685800" y="639763"/>
            <a:ext cx="13258800" cy="579437"/>
          </a:xfrm>
        </p:spPr>
        <p:txBody>
          <a:bodyPr/>
          <a:lstStyle/>
          <a:p>
            <a:r>
              <a:rPr lang="en-US" dirty="0"/>
              <a:t>MFT Network and Protocol Support</a:t>
            </a:r>
          </a:p>
        </p:txBody>
      </p:sp>
    </p:spTree>
    <p:extLst>
      <p:ext uri="{BB962C8B-B14F-4D97-AF65-F5344CB8AC3E}">
        <p14:creationId xmlns:p14="http://schemas.microsoft.com/office/powerpoint/2010/main" val="2927867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5ADDBC3-F11E-FF4A-943D-F9069D8B182A}"/>
              </a:ext>
            </a:extLst>
          </p:cNvPr>
          <p:cNvSpPr txBox="1"/>
          <p:nvPr/>
        </p:nvSpPr>
        <p:spPr>
          <a:xfrm>
            <a:off x="5867399" y="1793934"/>
            <a:ext cx="1416270" cy="1097736"/>
          </a:xfrm>
          <a:prstGeom prst="rect">
            <a:avLst/>
          </a:prstGeom>
          <a:noFill/>
        </p:spPr>
        <p:txBody>
          <a:bodyPr wrap="square" lIns="0" tIns="0" rIns="0" bIns="0" rtlCol="0">
            <a:spAutoFit/>
          </a:bodyPr>
          <a:lstStyle/>
          <a:p>
            <a:pPr lvl="0">
              <a:spcBef>
                <a:spcPts val="200"/>
              </a:spcBef>
              <a:spcAft>
                <a:spcPts val="200"/>
              </a:spcAft>
            </a:pPr>
            <a:r>
              <a:rPr lang="en-US" sz="3200" b="1" dirty="0">
                <a:solidFill>
                  <a:schemeClr val="accent1"/>
                </a:solidFill>
              </a:rPr>
              <a:t>EDI</a:t>
            </a:r>
          </a:p>
          <a:p>
            <a:pPr marL="11113">
              <a:spcBef>
                <a:spcPts val="200"/>
              </a:spcBef>
            </a:pPr>
            <a:r>
              <a:rPr lang="en-US" sz="1200" dirty="0">
                <a:solidFill>
                  <a:srgbClr val="000000"/>
                </a:solidFill>
              </a:rPr>
              <a:t>20</a:t>
            </a:r>
            <a:r>
              <a:rPr lang="en-US" sz="1200">
                <a:solidFill>
                  <a:srgbClr val="000000"/>
                </a:solidFill>
              </a:rPr>
              <a:t>+ Years </a:t>
            </a:r>
            <a:r>
              <a:rPr lang="en-US" sz="1200" dirty="0">
                <a:solidFill>
                  <a:srgbClr val="000000"/>
                </a:solidFill>
              </a:rPr>
              <a:t>creating and running EDI Solutions </a:t>
            </a:r>
          </a:p>
        </p:txBody>
      </p:sp>
      <p:sp>
        <p:nvSpPr>
          <p:cNvPr id="2" name="Round Single Corner Rectangle 1">
            <a:extLst>
              <a:ext uri="{FF2B5EF4-FFF2-40B4-BE49-F238E27FC236}">
                <a16:creationId xmlns:a16="http://schemas.microsoft.com/office/drawing/2014/main" id="{035CD985-FBBB-2446-B7DC-49AF6F7DBFC1}"/>
              </a:ext>
            </a:extLst>
          </p:cNvPr>
          <p:cNvSpPr/>
          <p:nvPr/>
        </p:nvSpPr>
        <p:spPr>
          <a:xfrm>
            <a:off x="441432" y="1423503"/>
            <a:ext cx="5255881" cy="1737360"/>
          </a:xfrm>
          <a:prstGeom prst="round1Rect">
            <a:avLst/>
          </a:prstGeom>
          <a:solidFill>
            <a:schemeClr val="accent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88598B5-E93A-2942-B4E0-FDB587C3F2C1}"/>
              </a:ext>
            </a:extLst>
          </p:cNvPr>
          <p:cNvSpPr>
            <a:spLocks noGrp="1"/>
          </p:cNvSpPr>
          <p:nvPr>
            <p:ph type="title" idx="4294967295"/>
          </p:nvPr>
        </p:nvSpPr>
        <p:spPr>
          <a:xfrm>
            <a:off x="685800" y="1747740"/>
            <a:ext cx="4541838" cy="261610"/>
          </a:xfrm>
        </p:spPr>
        <p:txBody>
          <a:bodyPr wrap="square" lIns="0" anchor="t" anchorCtr="0">
            <a:spAutoFit/>
          </a:bodyPr>
          <a:lstStyle/>
          <a:p>
            <a:r>
              <a:rPr lang="en-GB" sz="2000">
                <a:solidFill>
                  <a:schemeClr val="bg1"/>
                </a:solidFill>
              </a:rPr>
              <a:t>DXC BES SEEBURGER COE</a:t>
            </a:r>
            <a:endParaRPr lang="en-GB" sz="2000" dirty="0">
              <a:solidFill>
                <a:schemeClr val="bg1"/>
              </a:solidFill>
            </a:endParaRPr>
          </a:p>
        </p:txBody>
      </p:sp>
      <p:sp>
        <p:nvSpPr>
          <p:cNvPr id="39" name="Title 2">
            <a:extLst>
              <a:ext uri="{FF2B5EF4-FFF2-40B4-BE49-F238E27FC236}">
                <a16:creationId xmlns:a16="http://schemas.microsoft.com/office/drawing/2014/main" id="{19B32480-63FC-9143-8414-BE821CEFEB57}"/>
              </a:ext>
            </a:extLst>
          </p:cNvPr>
          <p:cNvSpPr txBox="1">
            <a:spLocks/>
          </p:cNvSpPr>
          <p:nvPr/>
        </p:nvSpPr>
        <p:spPr>
          <a:xfrm>
            <a:off x="5867399" y="1423503"/>
            <a:ext cx="8058807" cy="235449"/>
          </a:xfrm>
          <a:prstGeom prst="rect">
            <a:avLst/>
          </a:prstGeom>
        </p:spPr>
        <p:txBody>
          <a:bodyPr vert="horz" wrap="square" lIns="0" tIns="0" rIns="0" bIns="0" rtlCol="0" anchor="t" anchorCtr="0">
            <a:spAutoFit/>
          </a:bodyPr>
          <a:lstStyle>
            <a:lvl1pPr algn="l" defTabSz="1463040" rtl="0" eaLnBrk="1" latinLnBrk="0" hangingPunct="1">
              <a:lnSpc>
                <a:spcPct val="85000"/>
              </a:lnSpc>
              <a:spcBef>
                <a:spcPct val="0"/>
              </a:spcBef>
              <a:buNone/>
              <a:defRPr sz="3200" b="1" kern="1200">
                <a:solidFill>
                  <a:schemeClr val="tx1"/>
                </a:solidFill>
                <a:latin typeface="+mj-lt"/>
                <a:ea typeface="+mj-ea"/>
                <a:cs typeface="+mj-cs"/>
              </a:defRPr>
            </a:lvl1pPr>
          </a:lstStyle>
          <a:p>
            <a:r>
              <a:rPr lang="en-GB" sz="1800" dirty="0">
                <a:solidFill>
                  <a:schemeClr val="accent1"/>
                </a:solidFill>
              </a:rPr>
              <a:t>Key services </a:t>
            </a:r>
            <a:r>
              <a:rPr lang="en-GB" sz="1800">
                <a:solidFill>
                  <a:schemeClr val="accent1"/>
                </a:solidFill>
              </a:rPr>
              <a:t>and solutions</a:t>
            </a:r>
            <a:endParaRPr lang="en-GB" sz="1800" dirty="0">
              <a:solidFill>
                <a:schemeClr val="accent1"/>
              </a:solidFill>
            </a:endParaRPr>
          </a:p>
        </p:txBody>
      </p:sp>
      <p:sp>
        <p:nvSpPr>
          <p:cNvPr id="44" name="Title 2">
            <a:extLst>
              <a:ext uri="{FF2B5EF4-FFF2-40B4-BE49-F238E27FC236}">
                <a16:creationId xmlns:a16="http://schemas.microsoft.com/office/drawing/2014/main" id="{9120D076-4B44-FA4D-9FCC-3C559CAB335A}"/>
              </a:ext>
            </a:extLst>
          </p:cNvPr>
          <p:cNvSpPr txBox="1">
            <a:spLocks/>
          </p:cNvSpPr>
          <p:nvPr/>
        </p:nvSpPr>
        <p:spPr>
          <a:xfrm>
            <a:off x="5867399" y="4077667"/>
            <a:ext cx="8058807" cy="235449"/>
          </a:xfrm>
          <a:prstGeom prst="rect">
            <a:avLst/>
          </a:prstGeom>
        </p:spPr>
        <p:txBody>
          <a:bodyPr vert="horz" wrap="square" lIns="0" tIns="0" rIns="0" bIns="0" rtlCol="0" anchor="t" anchorCtr="0">
            <a:spAutoFit/>
          </a:bodyPr>
          <a:lstStyle>
            <a:lvl1pPr algn="l" defTabSz="1463040" rtl="0" eaLnBrk="1" latinLnBrk="0" hangingPunct="1">
              <a:lnSpc>
                <a:spcPct val="85000"/>
              </a:lnSpc>
              <a:spcBef>
                <a:spcPct val="0"/>
              </a:spcBef>
              <a:buNone/>
              <a:defRPr sz="3200" b="1" kern="1200">
                <a:solidFill>
                  <a:schemeClr val="tx1"/>
                </a:solidFill>
                <a:latin typeface="+mj-lt"/>
                <a:ea typeface="+mj-ea"/>
                <a:cs typeface="+mj-cs"/>
              </a:defRPr>
            </a:lvl1pPr>
          </a:lstStyle>
          <a:p>
            <a:r>
              <a:rPr lang="en-GB" sz="1800">
                <a:solidFill>
                  <a:schemeClr val="accent1"/>
                </a:solidFill>
              </a:rPr>
              <a:t>Key Differentiators And Value Propositions</a:t>
            </a:r>
            <a:endParaRPr lang="en-GB" sz="1800" dirty="0">
              <a:solidFill>
                <a:schemeClr val="accent1"/>
              </a:solidFill>
            </a:endParaRPr>
          </a:p>
        </p:txBody>
      </p:sp>
      <p:sp>
        <p:nvSpPr>
          <p:cNvPr id="45" name="TextBox 44">
            <a:extLst>
              <a:ext uri="{FF2B5EF4-FFF2-40B4-BE49-F238E27FC236}">
                <a16:creationId xmlns:a16="http://schemas.microsoft.com/office/drawing/2014/main" id="{8A4701B7-CAB6-5545-B350-B9E09035A418}"/>
              </a:ext>
            </a:extLst>
          </p:cNvPr>
          <p:cNvSpPr txBox="1"/>
          <p:nvPr/>
        </p:nvSpPr>
        <p:spPr>
          <a:xfrm>
            <a:off x="7572712" y="1793934"/>
            <a:ext cx="1238293" cy="1097736"/>
          </a:xfrm>
          <a:prstGeom prst="rect">
            <a:avLst/>
          </a:prstGeom>
          <a:noFill/>
        </p:spPr>
        <p:txBody>
          <a:bodyPr wrap="square" lIns="0" tIns="0" rIns="0" bIns="0" rtlCol="0">
            <a:spAutoFit/>
          </a:bodyPr>
          <a:lstStyle/>
          <a:p>
            <a:pPr lvl="0">
              <a:spcBef>
                <a:spcPts val="200"/>
              </a:spcBef>
              <a:spcAft>
                <a:spcPts val="200"/>
              </a:spcAft>
            </a:pPr>
            <a:r>
              <a:rPr lang="en-US" sz="3200" b="1" dirty="0">
                <a:solidFill>
                  <a:schemeClr val="accent1"/>
                </a:solidFill>
              </a:rPr>
              <a:t>MFT</a:t>
            </a:r>
          </a:p>
          <a:p>
            <a:pPr marL="11113">
              <a:spcBef>
                <a:spcPts val="200"/>
              </a:spcBef>
            </a:pPr>
            <a:r>
              <a:rPr lang="en-US" sz="1200" dirty="0">
                <a:solidFill>
                  <a:srgbClr val="000000"/>
                </a:solidFill>
              </a:rPr>
              <a:t>Flexible , customized </a:t>
            </a:r>
            <a:r>
              <a:rPr lang="en-US" sz="1200">
                <a:solidFill>
                  <a:srgbClr val="000000"/>
                </a:solidFill>
              </a:rPr>
              <a:t>MFT Solutions</a:t>
            </a:r>
            <a:endParaRPr lang="en-US" sz="1200" dirty="0">
              <a:solidFill>
                <a:srgbClr val="000000"/>
              </a:solidFill>
            </a:endParaRPr>
          </a:p>
        </p:txBody>
      </p:sp>
      <p:sp>
        <p:nvSpPr>
          <p:cNvPr id="46" name="TextBox 45">
            <a:extLst>
              <a:ext uri="{FF2B5EF4-FFF2-40B4-BE49-F238E27FC236}">
                <a16:creationId xmlns:a16="http://schemas.microsoft.com/office/drawing/2014/main" id="{E47EAF53-EF82-014B-AA30-EBD32BF49285}"/>
              </a:ext>
            </a:extLst>
          </p:cNvPr>
          <p:cNvSpPr txBox="1"/>
          <p:nvPr/>
        </p:nvSpPr>
        <p:spPr>
          <a:xfrm>
            <a:off x="12675475" y="1793934"/>
            <a:ext cx="1610099" cy="1282402"/>
          </a:xfrm>
          <a:prstGeom prst="rect">
            <a:avLst/>
          </a:prstGeom>
          <a:noFill/>
        </p:spPr>
        <p:txBody>
          <a:bodyPr wrap="square" lIns="0" tIns="0" rIns="0" bIns="0" rtlCol="0">
            <a:spAutoFit/>
          </a:bodyPr>
          <a:lstStyle/>
          <a:p>
            <a:pPr lvl="0">
              <a:spcBef>
                <a:spcPts val="200"/>
              </a:spcBef>
              <a:spcAft>
                <a:spcPts val="200"/>
              </a:spcAft>
            </a:pPr>
            <a:r>
              <a:rPr lang="en-US" sz="3200" b="1">
                <a:solidFill>
                  <a:schemeClr val="accent1"/>
                </a:solidFill>
              </a:rPr>
              <a:t>Run</a:t>
            </a:r>
            <a:endParaRPr lang="en-US" sz="3200" b="1" dirty="0">
              <a:solidFill>
                <a:schemeClr val="accent1"/>
              </a:solidFill>
            </a:endParaRPr>
          </a:p>
          <a:p>
            <a:pPr marL="11113">
              <a:spcBef>
                <a:spcPts val="200"/>
              </a:spcBef>
            </a:pPr>
            <a:r>
              <a:rPr lang="en-US" sz="1200">
                <a:solidFill>
                  <a:srgbClr val="000000"/>
                </a:solidFill>
              </a:rPr>
              <a:t>We support your environment cost-efficiently and with highest quality</a:t>
            </a:r>
            <a:endParaRPr lang="en-US" sz="1200" dirty="0">
              <a:solidFill>
                <a:srgbClr val="000000"/>
              </a:solidFill>
            </a:endParaRPr>
          </a:p>
        </p:txBody>
      </p:sp>
      <p:sp>
        <p:nvSpPr>
          <p:cNvPr id="47" name="TextBox 46">
            <a:extLst>
              <a:ext uri="{FF2B5EF4-FFF2-40B4-BE49-F238E27FC236}">
                <a16:creationId xmlns:a16="http://schemas.microsoft.com/office/drawing/2014/main" id="{C772559A-ED77-7643-A503-EDCDB4CAF3AA}"/>
              </a:ext>
            </a:extLst>
          </p:cNvPr>
          <p:cNvSpPr txBox="1"/>
          <p:nvPr/>
        </p:nvSpPr>
        <p:spPr>
          <a:xfrm>
            <a:off x="9117725" y="1793934"/>
            <a:ext cx="1476704" cy="913070"/>
          </a:xfrm>
          <a:prstGeom prst="rect">
            <a:avLst/>
          </a:prstGeom>
          <a:noFill/>
        </p:spPr>
        <p:txBody>
          <a:bodyPr wrap="square" lIns="0" tIns="0" rIns="0" bIns="0" rtlCol="0">
            <a:spAutoFit/>
          </a:bodyPr>
          <a:lstStyle/>
          <a:p>
            <a:pPr lvl="0">
              <a:spcBef>
                <a:spcPts val="200"/>
              </a:spcBef>
              <a:spcAft>
                <a:spcPts val="200"/>
              </a:spcAft>
            </a:pPr>
            <a:r>
              <a:rPr lang="en-US" sz="3200" b="1">
                <a:solidFill>
                  <a:schemeClr val="accent1"/>
                </a:solidFill>
              </a:rPr>
              <a:t>FXS</a:t>
            </a:r>
            <a:endParaRPr lang="en-US" sz="3200" b="1" dirty="0">
              <a:solidFill>
                <a:schemeClr val="accent1"/>
              </a:solidFill>
            </a:endParaRPr>
          </a:p>
          <a:p>
            <a:pPr marL="11113">
              <a:spcBef>
                <a:spcPts val="200"/>
              </a:spcBef>
            </a:pPr>
            <a:r>
              <a:rPr lang="en-US" sz="1200">
                <a:solidFill>
                  <a:srgbClr val="000000"/>
                </a:solidFill>
              </a:rPr>
              <a:t>Human-to-human secure file exchange</a:t>
            </a:r>
            <a:endParaRPr lang="en-US" sz="1200" dirty="0">
              <a:solidFill>
                <a:srgbClr val="000000"/>
              </a:solidFill>
            </a:endParaRPr>
          </a:p>
        </p:txBody>
      </p:sp>
      <p:sp>
        <p:nvSpPr>
          <p:cNvPr id="48" name="TextBox 47">
            <a:extLst>
              <a:ext uri="{FF2B5EF4-FFF2-40B4-BE49-F238E27FC236}">
                <a16:creationId xmlns:a16="http://schemas.microsoft.com/office/drawing/2014/main" id="{E116C92B-AC41-F542-A697-1C445B50A2BA}"/>
              </a:ext>
            </a:extLst>
          </p:cNvPr>
          <p:cNvSpPr txBox="1"/>
          <p:nvPr/>
        </p:nvSpPr>
        <p:spPr>
          <a:xfrm>
            <a:off x="10813126" y="1793934"/>
            <a:ext cx="1675792" cy="1282402"/>
          </a:xfrm>
          <a:prstGeom prst="rect">
            <a:avLst/>
          </a:prstGeom>
          <a:noFill/>
        </p:spPr>
        <p:txBody>
          <a:bodyPr wrap="square" lIns="0" tIns="0" rIns="0" bIns="0" rtlCol="0">
            <a:spAutoFit/>
          </a:bodyPr>
          <a:lstStyle/>
          <a:p>
            <a:pPr lvl="0">
              <a:spcBef>
                <a:spcPts val="200"/>
              </a:spcBef>
              <a:spcAft>
                <a:spcPts val="200"/>
              </a:spcAft>
            </a:pPr>
            <a:r>
              <a:rPr lang="en-US" sz="3200" b="1" dirty="0">
                <a:solidFill>
                  <a:schemeClr val="accent1"/>
                </a:solidFill>
              </a:rPr>
              <a:t>Migrate</a:t>
            </a:r>
          </a:p>
          <a:p>
            <a:pPr marL="11113">
              <a:spcBef>
                <a:spcPts val="200"/>
              </a:spcBef>
            </a:pPr>
            <a:r>
              <a:rPr lang="en-US" sz="1200" dirty="0">
                <a:solidFill>
                  <a:srgbClr val="000000"/>
                </a:solidFill>
              </a:rPr>
              <a:t>Proven capabilities to replace your legacy EDI solution with state-of-the-art software</a:t>
            </a:r>
          </a:p>
        </p:txBody>
      </p:sp>
      <p:cxnSp>
        <p:nvCxnSpPr>
          <p:cNvPr id="10" name="Straight Connector 9">
            <a:extLst>
              <a:ext uri="{FF2B5EF4-FFF2-40B4-BE49-F238E27FC236}">
                <a16:creationId xmlns:a16="http://schemas.microsoft.com/office/drawing/2014/main" id="{207E035F-E936-B047-8879-61CFBC47FEF0}"/>
              </a:ext>
            </a:extLst>
          </p:cNvPr>
          <p:cNvCxnSpPr/>
          <p:nvPr/>
        </p:nvCxnSpPr>
        <p:spPr>
          <a:xfrm>
            <a:off x="7346731" y="1839309"/>
            <a:ext cx="0" cy="777240"/>
          </a:xfrm>
          <a:prstGeom prst="line">
            <a:avLst/>
          </a:prstGeom>
          <a:ln w="6350" cap="sq">
            <a:solidFill>
              <a:schemeClr val="tx1"/>
            </a:solidFill>
          </a:ln>
        </p:spPr>
        <p:style>
          <a:lnRef idx="1">
            <a:schemeClr val="accent1"/>
          </a:lnRef>
          <a:fillRef idx="0">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B9BE5B85-7B57-F24B-9BBC-6D65332566A7}"/>
              </a:ext>
            </a:extLst>
          </p:cNvPr>
          <p:cNvCxnSpPr/>
          <p:nvPr/>
        </p:nvCxnSpPr>
        <p:spPr>
          <a:xfrm>
            <a:off x="8981090" y="1839309"/>
            <a:ext cx="0" cy="777240"/>
          </a:xfrm>
          <a:prstGeom prst="line">
            <a:avLst/>
          </a:prstGeom>
          <a:ln w="6350" cap="sq">
            <a:solidFill>
              <a:schemeClr val="tx1"/>
            </a:solidFill>
          </a:ln>
        </p:spPr>
        <p:style>
          <a:lnRef idx="1">
            <a:schemeClr val="accent1"/>
          </a:lnRef>
          <a:fillRef idx="0">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F4C64030-9C56-0B40-8BEF-6654F87BDA79}"/>
              </a:ext>
            </a:extLst>
          </p:cNvPr>
          <p:cNvCxnSpPr>
            <a:cxnSpLocks/>
          </p:cNvCxnSpPr>
          <p:nvPr/>
        </p:nvCxnSpPr>
        <p:spPr>
          <a:xfrm>
            <a:off x="10654859" y="1839309"/>
            <a:ext cx="0" cy="777240"/>
          </a:xfrm>
          <a:prstGeom prst="line">
            <a:avLst/>
          </a:prstGeom>
          <a:ln w="6350" cap="sq">
            <a:solidFill>
              <a:schemeClr val="tx1"/>
            </a:solidFill>
          </a:ln>
        </p:spPr>
        <p:style>
          <a:lnRef idx="1">
            <a:schemeClr val="accent1"/>
          </a:lnRef>
          <a:fillRef idx="0">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4C892E97-8268-9D4C-B90C-FDE37C00F7C0}"/>
              </a:ext>
            </a:extLst>
          </p:cNvPr>
          <p:cNvCxnSpPr>
            <a:cxnSpLocks/>
          </p:cNvCxnSpPr>
          <p:nvPr/>
        </p:nvCxnSpPr>
        <p:spPr>
          <a:xfrm>
            <a:off x="12549349" y="1839309"/>
            <a:ext cx="0" cy="777240"/>
          </a:xfrm>
          <a:prstGeom prst="line">
            <a:avLst/>
          </a:prstGeom>
          <a:ln w="6350" cap="sq">
            <a:solidFill>
              <a:schemeClr val="tx1"/>
            </a:solidFill>
          </a:ln>
        </p:spPr>
        <p:style>
          <a:lnRef idx="1">
            <a:schemeClr val="accent1"/>
          </a:lnRef>
          <a:fillRef idx="0">
            <a:schemeClr val="accent1"/>
          </a:fillRef>
          <a:effectRef idx="0">
            <a:schemeClr val="accent1"/>
          </a:effectRef>
          <a:fontRef idx="minor">
            <a:schemeClr val="lt1"/>
          </a:fontRef>
        </p:style>
      </p:cxnSp>
      <p:grpSp>
        <p:nvGrpSpPr>
          <p:cNvPr id="13" name="Group 12">
            <a:extLst>
              <a:ext uri="{FF2B5EF4-FFF2-40B4-BE49-F238E27FC236}">
                <a16:creationId xmlns:a16="http://schemas.microsoft.com/office/drawing/2014/main" id="{5FFFF863-403E-3F4A-858B-3EBBAE32F6F6}"/>
              </a:ext>
            </a:extLst>
          </p:cNvPr>
          <p:cNvGrpSpPr/>
          <p:nvPr/>
        </p:nvGrpSpPr>
        <p:grpSpPr>
          <a:xfrm>
            <a:off x="10405241" y="2942897"/>
            <a:ext cx="3833649" cy="2532994"/>
            <a:chOff x="10405241" y="2942897"/>
            <a:chExt cx="3833649" cy="2532994"/>
          </a:xfrm>
        </p:grpSpPr>
        <p:sp>
          <p:nvSpPr>
            <p:cNvPr id="11" name="Rectangle 10">
              <a:extLst>
                <a:ext uri="{FF2B5EF4-FFF2-40B4-BE49-F238E27FC236}">
                  <a16:creationId xmlns:a16="http://schemas.microsoft.com/office/drawing/2014/main" id="{AE7A5DB0-A4D4-4643-B217-4D87275C0B17}"/>
                </a:ext>
              </a:extLst>
            </p:cNvPr>
            <p:cNvSpPr/>
            <p:nvPr/>
          </p:nvSpPr>
          <p:spPr>
            <a:xfrm>
              <a:off x="10405241" y="2942897"/>
              <a:ext cx="189187" cy="2375337"/>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3C7A5925-7799-E046-876A-C0DE7D937D76}"/>
                </a:ext>
              </a:extLst>
            </p:cNvPr>
            <p:cNvSpPr/>
            <p:nvPr/>
          </p:nvSpPr>
          <p:spPr>
            <a:xfrm rot="5400000">
              <a:off x="12195941" y="3432943"/>
              <a:ext cx="252249" cy="3833648"/>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TextBox 57">
            <a:extLst>
              <a:ext uri="{FF2B5EF4-FFF2-40B4-BE49-F238E27FC236}">
                <a16:creationId xmlns:a16="http://schemas.microsoft.com/office/drawing/2014/main" id="{91BE5684-A03C-9A43-A448-93F727BBA265}"/>
              </a:ext>
            </a:extLst>
          </p:cNvPr>
          <p:cNvSpPr txBox="1"/>
          <p:nvPr/>
        </p:nvSpPr>
        <p:spPr>
          <a:xfrm>
            <a:off x="5867400" y="4546777"/>
            <a:ext cx="2664372" cy="1744067"/>
          </a:xfrm>
          <a:prstGeom prst="rect">
            <a:avLst/>
          </a:prstGeom>
          <a:noFill/>
        </p:spPr>
        <p:txBody>
          <a:bodyPr wrap="square" lIns="0" tIns="0" rIns="0" bIns="0" rtlCol="0">
            <a:spAutoFit/>
          </a:bodyPr>
          <a:lstStyle/>
          <a:p>
            <a:pPr marL="114300" indent="-103188">
              <a:spcBef>
                <a:spcPts val="200"/>
              </a:spcBef>
              <a:spcAft>
                <a:spcPts val="600"/>
              </a:spcAft>
              <a:buFont typeface="Arial" panose="020B0604020202020204" pitchFamily="34" charset="0"/>
              <a:buChar char="•"/>
            </a:pPr>
            <a:r>
              <a:rPr lang="en-US" sz="1000" dirty="0">
                <a:solidFill>
                  <a:srgbClr val="000000"/>
                </a:solidFill>
              </a:rPr>
              <a:t>We have a global team with 20</a:t>
            </a:r>
            <a:r>
              <a:rPr lang="en-US" sz="1000">
                <a:solidFill>
                  <a:srgbClr val="000000"/>
                </a:solidFill>
              </a:rPr>
              <a:t>+ years </a:t>
            </a:r>
            <a:r>
              <a:rPr lang="en-US" sz="1000" dirty="0">
                <a:solidFill>
                  <a:srgbClr val="000000"/>
                </a:solidFill>
              </a:rPr>
              <a:t>of EDI/B2B and 15+ years experience on SEEBURGER products</a:t>
            </a:r>
          </a:p>
          <a:p>
            <a:pPr marL="114300" indent="-103188">
              <a:spcBef>
                <a:spcPts val="200"/>
              </a:spcBef>
              <a:spcAft>
                <a:spcPts val="600"/>
              </a:spcAft>
              <a:buFont typeface="Arial" panose="020B0604020202020204" pitchFamily="34" charset="0"/>
              <a:buChar char="•"/>
            </a:pPr>
            <a:r>
              <a:rPr lang="en-US" sz="1000" dirty="0">
                <a:solidFill>
                  <a:srgbClr val="000000"/>
                </a:solidFill>
              </a:rPr>
              <a:t>As part of the </a:t>
            </a:r>
            <a:r>
              <a:rPr lang="en-US" sz="1000">
                <a:solidFill>
                  <a:srgbClr val="000000"/>
                </a:solidFill>
              </a:rPr>
              <a:t>DXC Business Exchange Services (BES) </a:t>
            </a:r>
            <a:r>
              <a:rPr lang="en-US" sz="1000" dirty="0">
                <a:solidFill>
                  <a:srgbClr val="000000"/>
                </a:solidFill>
              </a:rPr>
              <a:t>organization, we have access to 200+ further integration experts across the globe</a:t>
            </a:r>
          </a:p>
          <a:p>
            <a:pPr marL="114300" indent="-103188">
              <a:spcBef>
                <a:spcPts val="200"/>
              </a:spcBef>
              <a:spcAft>
                <a:spcPts val="600"/>
              </a:spcAft>
              <a:buFont typeface="Arial" panose="020B0604020202020204" pitchFamily="34" charset="0"/>
              <a:buChar char="•"/>
            </a:pPr>
            <a:r>
              <a:rPr lang="en-US" sz="1000" dirty="0">
                <a:solidFill>
                  <a:srgbClr val="000000"/>
                </a:solidFill>
              </a:rPr>
              <a:t>We run DXC’s own EDI and MFT environments with the same products and expertise as we use with our clients</a:t>
            </a:r>
          </a:p>
        </p:txBody>
      </p:sp>
      <p:sp>
        <p:nvSpPr>
          <p:cNvPr id="59" name="TextBox 58">
            <a:extLst>
              <a:ext uri="{FF2B5EF4-FFF2-40B4-BE49-F238E27FC236}">
                <a16:creationId xmlns:a16="http://schemas.microsoft.com/office/drawing/2014/main" id="{3719235A-C982-E94A-B0C0-2B3438A01754}"/>
              </a:ext>
            </a:extLst>
          </p:cNvPr>
          <p:cNvSpPr txBox="1"/>
          <p:nvPr/>
        </p:nvSpPr>
        <p:spPr>
          <a:xfrm>
            <a:off x="8597462" y="4546777"/>
            <a:ext cx="2664372" cy="1744067"/>
          </a:xfrm>
          <a:prstGeom prst="rect">
            <a:avLst/>
          </a:prstGeom>
          <a:noFill/>
        </p:spPr>
        <p:txBody>
          <a:bodyPr wrap="square" lIns="0" tIns="0" rIns="0" bIns="0" rtlCol="0">
            <a:spAutoFit/>
          </a:bodyPr>
          <a:lstStyle/>
          <a:p>
            <a:pPr marL="114300" indent="-103188">
              <a:spcBef>
                <a:spcPts val="200"/>
              </a:spcBef>
              <a:spcAft>
                <a:spcPts val="600"/>
              </a:spcAft>
              <a:buFont typeface="Arial" panose="020B0604020202020204" pitchFamily="34" charset="0"/>
              <a:buChar char="•"/>
            </a:pPr>
            <a:r>
              <a:rPr lang="en-US" sz="1000" dirty="0">
                <a:solidFill>
                  <a:srgbClr val="000000"/>
                </a:solidFill>
              </a:rPr>
              <a:t>In close partnership with SEEBURGER, we modernize your Integration environment, using state-of-the-art technologies and tools</a:t>
            </a:r>
          </a:p>
          <a:p>
            <a:pPr marL="114300" indent="-103188">
              <a:spcBef>
                <a:spcPts val="200"/>
              </a:spcBef>
              <a:spcAft>
                <a:spcPts val="600"/>
              </a:spcAft>
              <a:buFont typeface="Arial" panose="020B0604020202020204" pitchFamily="34" charset="0"/>
              <a:buChar char="•"/>
            </a:pPr>
            <a:r>
              <a:rPr lang="en-US" sz="1000" dirty="0">
                <a:solidFill>
                  <a:srgbClr val="000000"/>
                </a:solidFill>
              </a:rPr>
              <a:t>We have the experience and tools to guide you and your trading partners through this migration, utilizing self-service and other proven migration techniques</a:t>
            </a:r>
          </a:p>
          <a:p>
            <a:pPr marL="114300" indent="-103188">
              <a:spcBef>
                <a:spcPts val="200"/>
              </a:spcBef>
              <a:spcAft>
                <a:spcPts val="600"/>
              </a:spcAft>
              <a:buFont typeface="Arial" panose="020B0604020202020204" pitchFamily="34" charset="0"/>
              <a:buChar char="•"/>
            </a:pPr>
            <a:r>
              <a:rPr lang="en-US" sz="1000" dirty="0">
                <a:solidFill>
                  <a:srgbClr val="000000"/>
                </a:solidFill>
              </a:rPr>
              <a:t>We implement proven best-practices and processes to improve compliance and long-term supportability</a:t>
            </a:r>
          </a:p>
        </p:txBody>
      </p:sp>
      <p:sp>
        <p:nvSpPr>
          <p:cNvPr id="60" name="TextBox 59">
            <a:extLst>
              <a:ext uri="{FF2B5EF4-FFF2-40B4-BE49-F238E27FC236}">
                <a16:creationId xmlns:a16="http://schemas.microsoft.com/office/drawing/2014/main" id="{943986BC-6AB4-F144-B309-4E41E538EE6C}"/>
              </a:ext>
            </a:extLst>
          </p:cNvPr>
          <p:cNvSpPr txBox="1"/>
          <p:nvPr/>
        </p:nvSpPr>
        <p:spPr>
          <a:xfrm>
            <a:off x="11327524" y="4546777"/>
            <a:ext cx="2829086" cy="1436291"/>
          </a:xfrm>
          <a:prstGeom prst="rect">
            <a:avLst/>
          </a:prstGeom>
          <a:noFill/>
        </p:spPr>
        <p:txBody>
          <a:bodyPr wrap="square" lIns="0" tIns="0" rIns="0" bIns="0" rtlCol="0">
            <a:spAutoFit/>
          </a:bodyPr>
          <a:lstStyle/>
          <a:p>
            <a:pPr marL="114300" indent="-103188">
              <a:spcBef>
                <a:spcPts val="200"/>
              </a:spcBef>
              <a:spcAft>
                <a:spcPts val="600"/>
              </a:spcAft>
              <a:buFont typeface="Arial" panose="020B0604020202020204" pitchFamily="34" charset="0"/>
              <a:buChar char="•"/>
            </a:pPr>
            <a:r>
              <a:rPr lang="en-US" sz="1000" dirty="0">
                <a:solidFill>
                  <a:srgbClr val="000000"/>
                </a:solidFill>
              </a:rPr>
              <a:t>We adjust to </a:t>
            </a:r>
            <a:r>
              <a:rPr lang="en-US" sz="1000">
                <a:solidFill>
                  <a:srgbClr val="000000"/>
                </a:solidFill>
              </a:rPr>
              <a:t>your hosting </a:t>
            </a:r>
            <a:r>
              <a:rPr lang="en-US" sz="1000" dirty="0">
                <a:solidFill>
                  <a:srgbClr val="000000"/>
                </a:solidFill>
              </a:rPr>
              <a:t>and operations preferences. From on-premise to public cloud, from managed service to self-supported</a:t>
            </a:r>
          </a:p>
          <a:p>
            <a:pPr marL="114300" indent="-103188">
              <a:spcBef>
                <a:spcPts val="200"/>
              </a:spcBef>
              <a:spcAft>
                <a:spcPts val="600"/>
              </a:spcAft>
              <a:buFont typeface="Arial" panose="020B0604020202020204" pitchFamily="34" charset="0"/>
              <a:buChar char="•"/>
            </a:pPr>
            <a:r>
              <a:rPr lang="en-US" sz="1000" dirty="0">
                <a:solidFill>
                  <a:srgbClr val="000000"/>
                </a:solidFill>
              </a:rPr>
              <a:t>Security, High Availability and DR are at the center of </a:t>
            </a:r>
            <a:r>
              <a:rPr lang="en-US" sz="1000">
                <a:solidFill>
                  <a:srgbClr val="000000"/>
                </a:solidFill>
              </a:rPr>
              <a:t>our solutions</a:t>
            </a:r>
          </a:p>
          <a:p>
            <a:pPr marL="114300" indent="-103188">
              <a:spcBef>
                <a:spcPts val="200"/>
              </a:spcBef>
              <a:spcAft>
                <a:spcPts val="600"/>
              </a:spcAft>
              <a:buFont typeface="Arial" panose="020B0604020202020204" pitchFamily="34" charset="0"/>
              <a:buChar char="•"/>
            </a:pPr>
            <a:r>
              <a:rPr lang="en-US" sz="1000">
                <a:solidFill>
                  <a:srgbClr val="000000"/>
                </a:solidFill>
              </a:rPr>
              <a:t>We have the expertise and experience in managing operations to provide the highest quality of support for your environment</a:t>
            </a:r>
            <a:endParaRPr lang="en-US" sz="1000" dirty="0">
              <a:solidFill>
                <a:srgbClr val="000000"/>
              </a:solidFill>
            </a:endParaRPr>
          </a:p>
        </p:txBody>
      </p:sp>
      <p:sp>
        <p:nvSpPr>
          <p:cNvPr id="4" name="Title 2">
            <a:extLst>
              <a:ext uri="{FF2B5EF4-FFF2-40B4-BE49-F238E27FC236}">
                <a16:creationId xmlns:a16="http://schemas.microsoft.com/office/drawing/2014/main" id="{E8FDBA66-097A-EEF3-F607-80A22354F002}"/>
              </a:ext>
            </a:extLst>
          </p:cNvPr>
          <p:cNvSpPr txBox="1">
            <a:spLocks/>
          </p:cNvSpPr>
          <p:nvPr/>
        </p:nvSpPr>
        <p:spPr>
          <a:xfrm>
            <a:off x="685800" y="2381152"/>
            <a:ext cx="4789170" cy="325852"/>
          </a:xfrm>
          <a:prstGeom prst="rect">
            <a:avLst/>
          </a:prstGeom>
        </p:spPr>
        <p:txBody>
          <a:bodyPr vert="horz" wrap="square" lIns="0" tIns="0" rIns="0" bIns="0" rtlCol="0" anchor="t" anchorCtr="0">
            <a:spAutoFit/>
          </a:bodyPr>
          <a:lstStyle>
            <a:lvl1pPr algn="l" defTabSz="1463040" rtl="0" eaLnBrk="1" latinLnBrk="0" hangingPunct="1">
              <a:lnSpc>
                <a:spcPct val="85000"/>
              </a:lnSpc>
              <a:spcBef>
                <a:spcPct val="0"/>
              </a:spcBef>
              <a:buNone/>
              <a:defRPr sz="3200" b="1" kern="1200">
                <a:solidFill>
                  <a:schemeClr val="tx1"/>
                </a:solidFill>
                <a:latin typeface="+mj-lt"/>
                <a:ea typeface="+mj-ea"/>
                <a:cs typeface="+mj-cs"/>
              </a:defRPr>
            </a:lvl1pPr>
          </a:lstStyle>
          <a:p>
            <a:r>
              <a:rPr lang="en-GB" sz="1200" dirty="0">
                <a:solidFill>
                  <a:schemeClr val="bg1"/>
                </a:solidFill>
              </a:rPr>
              <a:t>For dedicated and bespoke SEEBURGER integration solutions: </a:t>
            </a:r>
          </a:p>
          <a:p>
            <a:r>
              <a:rPr lang="en-GB" sz="1200" dirty="0">
                <a:solidFill>
                  <a:schemeClr val="bg1"/>
                </a:solidFill>
              </a:rPr>
              <a:t>EDI, MFT, File Exchange – on-premise or in the cloud</a:t>
            </a:r>
          </a:p>
        </p:txBody>
      </p:sp>
      <p:pic>
        <p:nvPicPr>
          <p:cNvPr id="53" name="Picture 52">
            <a:extLst>
              <a:ext uri="{FF2B5EF4-FFF2-40B4-BE49-F238E27FC236}">
                <a16:creationId xmlns:a16="http://schemas.microsoft.com/office/drawing/2014/main" id="{59D9FE96-7FCC-8AC3-52E5-7A5F8CCE0C4D}"/>
              </a:ext>
            </a:extLst>
          </p:cNvPr>
          <p:cNvPicPr>
            <a:picLocks noChangeAspect="1"/>
          </p:cNvPicPr>
          <p:nvPr/>
        </p:nvPicPr>
        <p:blipFill>
          <a:blip r:embed="rId2"/>
          <a:stretch>
            <a:fillRect/>
          </a:stretch>
        </p:blipFill>
        <p:spPr>
          <a:xfrm>
            <a:off x="473791" y="3195138"/>
            <a:ext cx="5238082" cy="3631980"/>
          </a:xfrm>
          <a:prstGeom prst="rect">
            <a:avLst/>
          </a:prstGeom>
        </p:spPr>
      </p:pic>
    </p:spTree>
    <p:extLst>
      <p:ext uri="{BB962C8B-B14F-4D97-AF65-F5344CB8AC3E}">
        <p14:creationId xmlns:p14="http://schemas.microsoft.com/office/powerpoint/2010/main" val="254564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721840" y="623842"/>
            <a:ext cx="13655549" cy="1097900"/>
          </a:xfrm>
        </p:spPr>
        <p:txBody>
          <a:bodyPr/>
          <a:lstStyle/>
          <a:p>
            <a:r>
              <a:rPr lang="en-US" dirty="0"/>
              <a:t>Customer Case Study: Major Office Supplies CPG</a:t>
            </a:r>
          </a:p>
        </p:txBody>
      </p:sp>
      <p:sp>
        <p:nvSpPr>
          <p:cNvPr id="46082" name="Rectangle 3"/>
          <p:cNvSpPr>
            <a:spLocks noChangeArrowheads="1"/>
          </p:cNvSpPr>
          <p:nvPr/>
        </p:nvSpPr>
        <p:spPr bwMode="auto">
          <a:xfrm>
            <a:off x="975127" y="1457052"/>
            <a:ext cx="13140596" cy="2687774"/>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lnSpc>
                <a:spcPct val="95000"/>
              </a:lnSpc>
              <a:spcBef>
                <a:spcPct val="35000"/>
              </a:spcBef>
              <a:buClr>
                <a:schemeClr val="tx1"/>
              </a:buClr>
              <a:defRPr/>
            </a:pPr>
            <a:endParaRPr lang="en-US" dirty="0"/>
          </a:p>
        </p:txBody>
      </p:sp>
      <p:sp>
        <p:nvSpPr>
          <p:cNvPr id="51203" name="Text Box 4"/>
          <p:cNvSpPr txBox="1">
            <a:spLocks noChangeArrowheads="1"/>
          </p:cNvSpPr>
          <p:nvPr/>
        </p:nvSpPr>
        <p:spPr bwMode="auto">
          <a:xfrm>
            <a:off x="1097280" y="1199911"/>
            <a:ext cx="4041154" cy="466603"/>
          </a:xfrm>
          <a:prstGeom prst="rect">
            <a:avLst/>
          </a:prstGeom>
          <a:solidFill>
            <a:schemeClr val="bg1"/>
          </a:solidFill>
          <a:ln w="9525">
            <a:noFill/>
            <a:miter lim="800000"/>
            <a:headEnd/>
            <a:tailEnd/>
          </a:ln>
        </p:spPr>
        <p:txBody>
          <a:bodyPr wrap="square">
            <a:spAutoFit/>
          </a:bodyPr>
          <a:lstStyle/>
          <a:p>
            <a:pPr algn="ctr" eaLnBrk="0" hangingPunct="0">
              <a:lnSpc>
                <a:spcPct val="95000"/>
              </a:lnSpc>
              <a:spcBef>
                <a:spcPct val="50000"/>
              </a:spcBef>
              <a:buClr>
                <a:schemeClr val="tx1"/>
              </a:buClr>
            </a:pPr>
            <a:r>
              <a:rPr lang="en-US" sz="2560" b="1" dirty="0">
                <a:solidFill>
                  <a:srgbClr val="00968F"/>
                </a:solidFill>
              </a:rPr>
              <a:t>BUSINESS PROBLEM</a:t>
            </a:r>
          </a:p>
        </p:txBody>
      </p:sp>
      <p:sp>
        <p:nvSpPr>
          <p:cNvPr id="51204" name="Text Box 5"/>
          <p:cNvSpPr txBox="1">
            <a:spLocks noChangeArrowheads="1"/>
          </p:cNvSpPr>
          <p:nvPr/>
        </p:nvSpPr>
        <p:spPr bwMode="auto">
          <a:xfrm>
            <a:off x="722087" y="1640373"/>
            <a:ext cx="13431551" cy="2367636"/>
          </a:xfrm>
          <a:prstGeom prst="rect">
            <a:avLst/>
          </a:prstGeom>
          <a:noFill/>
          <a:ln w="9525">
            <a:noFill/>
            <a:miter lim="800000"/>
            <a:headEnd/>
            <a:tailEnd/>
          </a:ln>
        </p:spPr>
        <p:txBody>
          <a:bodyPr wrap="square">
            <a:spAutoFit/>
          </a:bodyPr>
          <a:lstStyle/>
          <a:p>
            <a:pPr marL="731502" indent="-438901" eaLnBrk="0" hangingPunct="0">
              <a:lnSpc>
                <a:spcPct val="95000"/>
              </a:lnSpc>
              <a:spcBef>
                <a:spcPct val="35000"/>
              </a:spcBef>
              <a:buClr>
                <a:schemeClr val="tx1"/>
              </a:buClr>
              <a:buFont typeface="Arial" charset="0"/>
              <a:buAutoNum type="arabicPeriod"/>
            </a:pPr>
            <a:r>
              <a:rPr lang="en-US" sz="1920" b="1" dirty="0"/>
              <a:t>Aging EDI environment - </a:t>
            </a:r>
            <a:r>
              <a:rPr lang="en-US" sz="1920" dirty="0"/>
              <a:t>required investment in platform and software.  Outages were happening frequently and causing business impact (missed transactions). </a:t>
            </a:r>
          </a:p>
          <a:p>
            <a:pPr marL="731502" indent="-438901" eaLnBrk="0" hangingPunct="0">
              <a:lnSpc>
                <a:spcPct val="95000"/>
              </a:lnSpc>
              <a:spcBef>
                <a:spcPct val="35000"/>
              </a:spcBef>
              <a:buClr>
                <a:schemeClr val="tx1"/>
              </a:buClr>
              <a:buFont typeface="Arial" charset="0"/>
              <a:buAutoNum type="arabicPeriod"/>
            </a:pPr>
            <a:r>
              <a:rPr lang="en-US" sz="1920" b="1" dirty="0"/>
              <a:t>Costly Support - </a:t>
            </a:r>
            <a:r>
              <a:rPr lang="en-US" sz="1920" dirty="0"/>
              <a:t>system required resources skilled in EDI, communications, mapping, testing and troubleshooting.  </a:t>
            </a:r>
          </a:p>
          <a:p>
            <a:pPr marL="731502" indent="-438901" eaLnBrk="0" hangingPunct="0">
              <a:lnSpc>
                <a:spcPct val="95000"/>
              </a:lnSpc>
              <a:spcBef>
                <a:spcPct val="35000"/>
              </a:spcBef>
              <a:buClr>
                <a:schemeClr val="tx1"/>
              </a:buClr>
              <a:buFont typeface="Arial" charset="0"/>
              <a:buAutoNum type="arabicPeriod"/>
            </a:pPr>
            <a:r>
              <a:rPr lang="en-US" sz="1920" b="1" dirty="0"/>
              <a:t>Growth - </a:t>
            </a:r>
            <a:r>
              <a:rPr lang="en-US" sz="1920" dirty="0"/>
              <a:t>Trading Partners were requesting EDI compliance and EDI was expected to grow 200% within the next two years.</a:t>
            </a:r>
            <a:r>
              <a:rPr lang="en-US" sz="1920" b="1" dirty="0"/>
              <a:t>   </a:t>
            </a:r>
          </a:p>
          <a:p>
            <a:pPr marL="731502" indent="-438901" eaLnBrk="0" hangingPunct="0">
              <a:lnSpc>
                <a:spcPct val="95000"/>
              </a:lnSpc>
              <a:spcBef>
                <a:spcPct val="35000"/>
              </a:spcBef>
              <a:buClr>
                <a:schemeClr val="tx1"/>
              </a:buClr>
              <a:buFont typeface="Arial" charset="0"/>
              <a:buAutoNum type="arabicPeriod"/>
            </a:pPr>
            <a:r>
              <a:rPr lang="en-US" sz="1920" b="1" dirty="0"/>
              <a:t>Expanding Capabilities – </a:t>
            </a:r>
            <a:r>
              <a:rPr lang="en-US" sz="1920" dirty="0"/>
              <a:t>Trading Partners were requiring new technologies such as XML translation, flat-to-flat translation and non-VAN communications which required custom connectivity protocols and interaction models.</a:t>
            </a:r>
            <a:endParaRPr lang="en-US" sz="1920" dirty="0">
              <a:solidFill>
                <a:srgbClr val="002060"/>
              </a:solidFill>
            </a:endParaRPr>
          </a:p>
        </p:txBody>
      </p:sp>
      <p:sp>
        <p:nvSpPr>
          <p:cNvPr id="46085" name="Rectangle 6"/>
          <p:cNvSpPr>
            <a:spLocks noChangeArrowheads="1"/>
          </p:cNvSpPr>
          <p:nvPr/>
        </p:nvSpPr>
        <p:spPr bwMode="auto">
          <a:xfrm>
            <a:off x="971208" y="4536773"/>
            <a:ext cx="13144514" cy="2820403"/>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lnSpc>
                <a:spcPct val="95000"/>
              </a:lnSpc>
              <a:spcBef>
                <a:spcPct val="35000"/>
              </a:spcBef>
              <a:buClr>
                <a:schemeClr val="tx1"/>
              </a:buClr>
              <a:defRPr/>
            </a:pPr>
            <a:endParaRPr lang="en-US" dirty="0"/>
          </a:p>
        </p:txBody>
      </p:sp>
      <p:sp>
        <p:nvSpPr>
          <p:cNvPr id="51206" name="Text Box 7"/>
          <p:cNvSpPr txBox="1">
            <a:spLocks noChangeArrowheads="1"/>
          </p:cNvSpPr>
          <p:nvPr/>
        </p:nvSpPr>
        <p:spPr bwMode="auto">
          <a:xfrm>
            <a:off x="1395729" y="4298725"/>
            <a:ext cx="3444256" cy="466603"/>
          </a:xfrm>
          <a:prstGeom prst="rect">
            <a:avLst/>
          </a:prstGeom>
          <a:solidFill>
            <a:schemeClr val="bg1"/>
          </a:solidFill>
          <a:ln w="9525">
            <a:noFill/>
            <a:miter lim="800000"/>
            <a:headEnd/>
            <a:tailEnd/>
          </a:ln>
        </p:spPr>
        <p:txBody>
          <a:bodyPr wrap="square">
            <a:spAutoFit/>
          </a:bodyPr>
          <a:lstStyle/>
          <a:p>
            <a:pPr algn="ctr" eaLnBrk="0" hangingPunct="0">
              <a:lnSpc>
                <a:spcPct val="95000"/>
              </a:lnSpc>
              <a:spcBef>
                <a:spcPct val="50000"/>
              </a:spcBef>
              <a:buClr>
                <a:schemeClr val="tx1"/>
              </a:buClr>
            </a:pPr>
            <a:r>
              <a:rPr lang="en-US" sz="2560" b="1" dirty="0">
                <a:solidFill>
                  <a:srgbClr val="00968F"/>
                </a:solidFill>
              </a:rPr>
              <a:t>SOLUTION VALUE</a:t>
            </a:r>
          </a:p>
        </p:txBody>
      </p:sp>
      <p:sp>
        <p:nvSpPr>
          <p:cNvPr id="51207" name="Text Box 14"/>
          <p:cNvSpPr txBox="1">
            <a:spLocks noChangeArrowheads="1"/>
          </p:cNvSpPr>
          <p:nvPr/>
        </p:nvSpPr>
        <p:spPr bwMode="auto">
          <a:xfrm>
            <a:off x="8864584" y="4145282"/>
            <a:ext cx="2072640" cy="373051"/>
          </a:xfrm>
          <a:prstGeom prst="rect">
            <a:avLst/>
          </a:prstGeom>
          <a:noFill/>
          <a:ln w="9525" algn="ctr">
            <a:noFill/>
            <a:miter lim="800000"/>
            <a:headEnd/>
            <a:tailEnd/>
          </a:ln>
        </p:spPr>
        <p:txBody>
          <a:bodyPr>
            <a:spAutoFit/>
          </a:bodyPr>
          <a:lstStyle/>
          <a:p>
            <a:pPr algn="ctr">
              <a:lnSpc>
                <a:spcPct val="95000"/>
              </a:lnSpc>
              <a:spcBef>
                <a:spcPct val="50000"/>
              </a:spcBef>
              <a:buClr>
                <a:schemeClr val="tx1"/>
              </a:buClr>
            </a:pPr>
            <a:endParaRPr lang="en-US" sz="1920" b="1" dirty="0">
              <a:solidFill>
                <a:schemeClr val="tx2"/>
              </a:solidFill>
            </a:endParaRPr>
          </a:p>
        </p:txBody>
      </p:sp>
      <p:sp>
        <p:nvSpPr>
          <p:cNvPr id="51208" name="Rectangle 20"/>
          <p:cNvSpPr>
            <a:spLocks noChangeArrowheads="1"/>
          </p:cNvSpPr>
          <p:nvPr/>
        </p:nvSpPr>
        <p:spPr bwMode="auto">
          <a:xfrm>
            <a:off x="1108182" y="4734465"/>
            <a:ext cx="13045456" cy="2603790"/>
          </a:xfrm>
          <a:prstGeom prst="rect">
            <a:avLst/>
          </a:prstGeom>
          <a:noFill/>
          <a:ln w="9525" algn="ctr">
            <a:noFill/>
            <a:miter lim="800000"/>
            <a:headEnd/>
            <a:tailEnd/>
          </a:ln>
        </p:spPr>
        <p:txBody>
          <a:bodyPr wrap="square">
            <a:spAutoFit/>
          </a:bodyPr>
          <a:lstStyle/>
          <a:p>
            <a:r>
              <a:rPr lang="en-US" sz="1920" b="1" dirty="0"/>
              <a:t>Cost Reduction – </a:t>
            </a:r>
            <a:r>
              <a:rPr lang="en-US" sz="1920" dirty="0"/>
              <a:t>The company selected Business Exchange Services (BES).  After migrating to the EDI Outsourcing solution, the client’s overall costs dropped by 44%.</a:t>
            </a:r>
          </a:p>
          <a:p>
            <a:br>
              <a:rPr lang="en-US" sz="1920" b="1" dirty="0"/>
            </a:br>
            <a:r>
              <a:rPr lang="en-US" sz="1920" b="1" dirty="0"/>
              <a:t>Smooth migration </a:t>
            </a:r>
            <a:r>
              <a:rPr lang="en-US" sz="1920" dirty="0"/>
              <a:t>– Leveraging BES’ proven methodology, project management and EDI skilled resources, the company experienced a smooth transition to the new environment without any business impact.  The client was able to meet new requests from Trading Partners because they had access to the large pool of BES skilled resources. </a:t>
            </a:r>
          </a:p>
          <a:p>
            <a:endParaRPr lang="en-US" sz="960" b="1" dirty="0"/>
          </a:p>
          <a:p>
            <a:r>
              <a:rPr lang="en-US" sz="1920" b="1" dirty="0"/>
              <a:t>Consistency and flexibility – </a:t>
            </a:r>
            <a:r>
              <a:rPr lang="en-US" sz="1920" dirty="0"/>
              <a:t>The company gained consistency in service levels and security, as well as improved capabilities and flexibility to support changing business needs.</a:t>
            </a:r>
          </a:p>
        </p:txBody>
      </p:sp>
    </p:spTree>
    <p:extLst>
      <p:ext uri="{BB962C8B-B14F-4D97-AF65-F5344CB8AC3E}">
        <p14:creationId xmlns:p14="http://schemas.microsoft.com/office/powerpoint/2010/main" val="221952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968F"/>
                </a:solidFill>
              </a:rPr>
              <a:t>Thank you.</a:t>
            </a:r>
          </a:p>
        </p:txBody>
      </p:sp>
      <p:sp>
        <p:nvSpPr>
          <p:cNvPr id="5" name="Content Placeholder 4">
            <a:extLst>
              <a:ext uri="{FF2B5EF4-FFF2-40B4-BE49-F238E27FC236}">
                <a16:creationId xmlns:a16="http://schemas.microsoft.com/office/drawing/2014/main" id="{2B492302-FBB8-43FB-B7E2-77BFE79D6C8F}"/>
              </a:ext>
            </a:extLst>
          </p:cNvPr>
          <p:cNvSpPr>
            <a:spLocks noGrp="1"/>
          </p:cNvSpPr>
          <p:nvPr>
            <p:ph idx="1"/>
          </p:nvPr>
        </p:nvSpPr>
        <p:spPr/>
        <p:txBody>
          <a:bodyPr/>
          <a:lstStyle/>
          <a:p>
            <a:endParaRPr lang="en-US" dirty="0"/>
          </a:p>
          <a:p>
            <a:endParaRPr lang="en-US" dirty="0"/>
          </a:p>
        </p:txBody>
      </p:sp>
      <p:sp>
        <p:nvSpPr>
          <p:cNvPr id="6" name="TextBox 5">
            <a:extLst>
              <a:ext uri="{FF2B5EF4-FFF2-40B4-BE49-F238E27FC236}">
                <a16:creationId xmlns:a16="http://schemas.microsoft.com/office/drawing/2014/main" id="{683F5EBE-1153-49D2-9522-198F1538AD2F}"/>
              </a:ext>
            </a:extLst>
          </p:cNvPr>
          <p:cNvSpPr txBox="1"/>
          <p:nvPr/>
        </p:nvSpPr>
        <p:spPr>
          <a:xfrm>
            <a:off x="1960889" y="3444240"/>
            <a:ext cx="10902798" cy="720169"/>
          </a:xfrm>
          <a:prstGeom prst="rect">
            <a:avLst/>
          </a:prstGeom>
          <a:noFill/>
        </p:spPr>
        <p:txBody>
          <a:bodyPr wrap="none" lIns="54835" tIns="27418" rIns="54835" bIns="27418">
            <a:spAutoFit/>
          </a:bodyPr>
          <a:lstStyle/>
          <a:p>
            <a:pPr marL="0" marR="0" lvl="0" indent="0" algn="ctr" defTabSz="731161" eaLnBrk="1" fontAlgn="auto" latinLnBrk="0" hangingPunct="1">
              <a:lnSpc>
                <a:spcPct val="100000"/>
              </a:lnSpc>
              <a:spcBef>
                <a:spcPts val="0"/>
              </a:spcBef>
              <a:spcAft>
                <a:spcPts val="0"/>
              </a:spcAft>
              <a:buClrTx/>
              <a:buSzTx/>
              <a:buFontTx/>
              <a:buNone/>
              <a:tabLst/>
              <a:defRPr/>
            </a:pPr>
            <a:r>
              <a:rPr kumimoji="0" lang="en-US" sz="4320" b="1" i="0" u="none" strike="noStrike" kern="0" cap="none" spc="30" normalizeH="0" baseline="0" noProof="0" dirty="0">
                <a:ln>
                  <a:noFill/>
                </a:ln>
                <a:solidFill>
                  <a:srgbClr val="60249E"/>
                </a:solidFill>
                <a:effectLst/>
                <a:uLnTx/>
                <a:uFillTx/>
              </a:rPr>
              <a:t>DXC Business Exchange Services (BES)</a:t>
            </a:r>
          </a:p>
        </p:txBody>
      </p:sp>
      <p:sp>
        <p:nvSpPr>
          <p:cNvPr id="7" name="Subtitle 2">
            <a:extLst>
              <a:ext uri="{FF2B5EF4-FFF2-40B4-BE49-F238E27FC236}">
                <a16:creationId xmlns:a16="http://schemas.microsoft.com/office/drawing/2014/main" id="{7D56C1CE-9907-4A2A-BAAA-D9BDAB2CFEE0}"/>
              </a:ext>
            </a:extLst>
          </p:cNvPr>
          <p:cNvSpPr txBox="1">
            <a:spLocks/>
          </p:cNvSpPr>
          <p:nvPr/>
        </p:nvSpPr>
        <p:spPr>
          <a:xfrm>
            <a:off x="1960889" y="4834711"/>
            <a:ext cx="7066081" cy="2100001"/>
          </a:xfrm>
          <a:prstGeom prst="rect">
            <a:avLst/>
          </a:prstGeom>
        </p:spPr>
        <p:txBody>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rgbClr val="0096D6"/>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400"/>
              </a:spcAft>
              <a:buClrTx/>
              <a:buSzPct val="100000"/>
              <a:buFont typeface="Arial"/>
              <a:buNone/>
              <a:tabLst/>
              <a:defRPr/>
            </a:pPr>
            <a:r>
              <a:rPr kumimoji="0" lang="en-US" sz="2160" b="1" i="0" u="sng" strike="noStrike" kern="1200" cap="none" spc="0" normalizeH="0" baseline="0" noProof="0" dirty="0">
                <a:ln>
                  <a:noFill/>
                </a:ln>
                <a:solidFill>
                  <a:srgbClr val="60249E"/>
                </a:solidFill>
                <a:effectLst/>
                <a:uLnTx/>
                <a:uFillTx/>
                <a:latin typeface="Arial" panose="020B0604020202020204" pitchFamily="34" charset="0"/>
                <a:ea typeface="+mn-ea"/>
                <a:cs typeface="Arial" panose="020B0604020202020204" pitchFamily="34" charset="0"/>
              </a:rPr>
              <a:t>Americas Contact:</a:t>
            </a:r>
          </a:p>
          <a:p>
            <a:pPr marL="0" marR="0" lvl="0" indent="0" algn="l" defTabSz="457200" rtl="0" eaLnBrk="1" fontAlgn="auto" latinLnBrk="0" hangingPunct="1">
              <a:lnSpc>
                <a:spcPct val="100000"/>
              </a:lnSpc>
              <a:spcBef>
                <a:spcPts val="0"/>
              </a:spcBef>
              <a:spcAft>
                <a:spcPts val="400"/>
              </a:spcAft>
              <a:buClrTx/>
              <a:buSzPct val="100000"/>
              <a:buFont typeface="Arial"/>
              <a:buNone/>
              <a:tabLst/>
              <a:defRPr/>
            </a:pPr>
            <a:r>
              <a:rPr kumimoji="0" lang="en-US" sz="216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Mats Jansson</a:t>
            </a:r>
          </a:p>
          <a:p>
            <a:pPr marL="0" marR="0" lvl="0" indent="0" algn="l" defTabSz="457200" rtl="0" eaLnBrk="1" fontAlgn="auto" latinLnBrk="0" hangingPunct="1">
              <a:lnSpc>
                <a:spcPct val="100000"/>
              </a:lnSpc>
              <a:spcBef>
                <a:spcPts val="0"/>
              </a:spcBef>
              <a:spcAft>
                <a:spcPts val="400"/>
              </a:spcAft>
              <a:buClrTx/>
              <a:buSzPct val="100000"/>
              <a:buFont typeface="Arial"/>
              <a:buNone/>
              <a:tabLst/>
              <a:defRPr/>
            </a:pPr>
            <a:r>
              <a:rPr kumimoji="0" lang="en-US" sz="216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mats.jansson2@dxc.com</a:t>
            </a:r>
          </a:p>
          <a:p>
            <a:pPr marL="0" marR="0" lvl="0" indent="0" algn="l" defTabSz="457200" rtl="0" eaLnBrk="1" fontAlgn="auto" latinLnBrk="0" hangingPunct="1">
              <a:lnSpc>
                <a:spcPct val="100000"/>
              </a:lnSpc>
              <a:spcBef>
                <a:spcPts val="0"/>
              </a:spcBef>
              <a:spcAft>
                <a:spcPts val="400"/>
              </a:spcAft>
              <a:buClrTx/>
              <a:buSzPct val="100000"/>
              <a:buFont typeface="Arial"/>
              <a:buNone/>
              <a:tabLst/>
              <a:defRPr/>
            </a:pPr>
            <a:r>
              <a:rPr kumimoji="0" lang="en-US" sz="2160" b="0" i="0" u="none" strike="noStrike" kern="1200" cap="none" spc="0" normalizeH="0" baseline="0" noProof="0" dirty="0">
                <a:ln>
                  <a:noFill/>
                </a:ln>
                <a:solidFill>
                  <a:schemeClr val="tx1"/>
                </a:solidFill>
                <a:effectLst/>
                <a:uLnTx/>
                <a:uFillTx/>
                <a:latin typeface="Arial" panose="020B0604020202020204" pitchFamily="34" charset="0"/>
                <a:cs typeface="Arial" panose="020B0604020202020204" pitchFamily="34" charset="0"/>
              </a:rPr>
              <a:t>+1.916.220.0224</a:t>
            </a:r>
          </a:p>
        </p:txBody>
      </p:sp>
      <p:sp>
        <p:nvSpPr>
          <p:cNvPr id="8" name="Subtitle 2">
            <a:extLst>
              <a:ext uri="{FF2B5EF4-FFF2-40B4-BE49-F238E27FC236}">
                <a16:creationId xmlns:a16="http://schemas.microsoft.com/office/drawing/2014/main" id="{4B2CA2E5-62C1-4A17-A85F-D9D455969680}"/>
              </a:ext>
            </a:extLst>
          </p:cNvPr>
          <p:cNvSpPr txBox="1">
            <a:spLocks/>
          </p:cNvSpPr>
          <p:nvPr/>
        </p:nvSpPr>
        <p:spPr>
          <a:xfrm>
            <a:off x="9217379" y="4834711"/>
            <a:ext cx="3733800" cy="2302746"/>
          </a:xfrm>
          <a:prstGeom prst="rect">
            <a:avLst/>
          </a:prstGeom>
        </p:spPr>
        <p:txBody>
          <a:bodyPr/>
          <a:lstStyle>
            <a:lvl1pPr marL="0" indent="0" algn="l" defTabSz="457200" rtl="0" eaLnBrk="1" latinLnBrk="0" hangingPunct="1">
              <a:lnSpc>
                <a:spcPct val="100000"/>
              </a:lnSpc>
              <a:spcBef>
                <a:spcPts val="0"/>
              </a:spcBef>
              <a:spcAft>
                <a:spcPts val="400"/>
              </a:spcAft>
              <a:buSzPct val="100000"/>
              <a:buFont typeface="Arial"/>
              <a:buNone/>
              <a:defRPr sz="1800" b="1" i="0" kern="1200">
                <a:solidFill>
                  <a:srgbClr val="0096D6"/>
                </a:solidFill>
                <a:latin typeface="HP Simplified" pitchFamily="34" charset="0"/>
                <a:ea typeface="+mn-ea"/>
                <a:cs typeface="HP Simplified" pitchFamily="34" charset="0"/>
              </a:defRPr>
            </a:lvl1pPr>
            <a:lvl2pPr marL="0" indent="0" algn="l" defTabSz="430213" rtl="0" eaLnBrk="1" latinLnBrk="0" hangingPunct="1">
              <a:lnSpc>
                <a:spcPct val="100000"/>
              </a:lnSpc>
              <a:spcBef>
                <a:spcPts val="0"/>
              </a:spcBef>
              <a:spcAft>
                <a:spcPts val="400"/>
              </a:spcAft>
              <a:buSzPct val="100000"/>
              <a:buFont typeface="Lucida Grande"/>
              <a:buNone/>
              <a:defRPr sz="1600" b="0" i="0" kern="1200">
                <a:solidFill>
                  <a:srgbClr val="000000"/>
                </a:solidFill>
                <a:latin typeface="HP Simplified" pitchFamily="34" charset="0"/>
                <a:ea typeface="+mn-ea"/>
                <a:cs typeface="HP Simplified" pitchFamily="34" charset="0"/>
              </a:defRPr>
            </a:lvl2pPr>
            <a:lvl3pPr marL="169863" indent="-169863" algn="l" defTabSz="457200" rtl="0" eaLnBrk="1" latinLnBrk="0" hangingPunct="1">
              <a:lnSpc>
                <a:spcPct val="100000"/>
              </a:lnSpc>
              <a:spcBef>
                <a:spcPts val="0"/>
              </a:spcBef>
              <a:spcAft>
                <a:spcPts val="400"/>
              </a:spcAft>
              <a:buFont typeface="HP Simplified" pitchFamily="34" charset="0"/>
              <a:buChar char="•"/>
              <a:defRPr sz="1400" b="0" i="0" kern="1200">
                <a:solidFill>
                  <a:srgbClr val="000000"/>
                </a:solidFill>
                <a:latin typeface="HP Simplified" pitchFamily="34" charset="0"/>
                <a:ea typeface="+mn-ea"/>
                <a:cs typeface="HP Simplified" pitchFamily="34" charset="0"/>
              </a:defRPr>
            </a:lvl3pPr>
            <a:lvl4pPr marL="341313" indent="-180975" algn="l" defTabSz="457200" rtl="0" eaLnBrk="1" latinLnBrk="0" hangingPunct="1">
              <a:lnSpc>
                <a:spcPct val="100000"/>
              </a:lnSpc>
              <a:spcBef>
                <a:spcPts val="0"/>
              </a:spcBef>
              <a:spcAft>
                <a:spcPts val="400"/>
              </a:spcAft>
              <a:buSzPct val="80000"/>
              <a:buFont typeface="HP Simplified" pitchFamily="34" charset="0"/>
              <a:buChar char="–"/>
              <a:defRPr lang="en-US" sz="1400" b="0" i="0" kern="1200" dirty="0" smtClean="0">
                <a:solidFill>
                  <a:srgbClr val="000000"/>
                </a:solidFill>
                <a:latin typeface="HP Simplified" pitchFamily="34" charset="0"/>
                <a:ea typeface="+mn-ea"/>
                <a:cs typeface="HP Simplified" pitchFamily="34" charset="0"/>
              </a:defRPr>
            </a:lvl4pPr>
            <a:lvl5pPr marL="469900" indent="-150813" algn="l" defTabSz="457200" rtl="0" eaLnBrk="1" latinLnBrk="0" hangingPunct="1">
              <a:lnSpc>
                <a:spcPct val="100000"/>
              </a:lnSpc>
              <a:spcBef>
                <a:spcPts val="0"/>
              </a:spcBef>
              <a:spcAft>
                <a:spcPts val="400"/>
              </a:spcAft>
              <a:buFont typeface="HP Simplified" pitchFamily="34" charset="0"/>
              <a:buChar char="•"/>
              <a:tabLst/>
              <a:defRPr sz="1400" b="0" i="0" kern="1200">
                <a:solidFill>
                  <a:srgbClr val="000000"/>
                </a:solidFill>
                <a:latin typeface="HP Simplified" pitchFamily="34" charset="0"/>
                <a:ea typeface="+mn-ea"/>
                <a:cs typeface="HP Simplified" pitchFamily="34" charset="0"/>
              </a:defRPr>
            </a:lvl5pPr>
            <a:lvl6pPr marL="2286000" indent="0" algn="l" defTabSz="457200" rtl="0" eaLnBrk="1" latinLnBrk="0" hangingPunct="1">
              <a:lnSpc>
                <a:spcPts val="2500"/>
              </a:lnSpc>
              <a:spcBef>
                <a:spcPct val="20000"/>
              </a:spcBef>
              <a:buFont typeface="Arial"/>
              <a:buNone/>
              <a:defRPr sz="1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160" u="sng" dirty="0">
                <a:solidFill>
                  <a:srgbClr val="60249E"/>
                </a:solidFill>
                <a:latin typeface="Arial" panose="020B0604020202020204" pitchFamily="34" charset="0"/>
                <a:cs typeface="Arial" panose="020B0604020202020204" pitchFamily="34" charset="0"/>
              </a:rPr>
              <a:t>EMEA/AP Contact:</a:t>
            </a:r>
          </a:p>
          <a:p>
            <a:r>
              <a:rPr lang="en-US" sz="2160" b="0" dirty="0">
                <a:solidFill>
                  <a:schemeClr val="tx1"/>
                </a:solidFill>
                <a:latin typeface="Arial" panose="020B0604020202020204" pitchFamily="34" charset="0"/>
                <a:cs typeface="Arial" panose="020B0604020202020204" pitchFamily="34" charset="0"/>
              </a:rPr>
              <a:t>Stefan Ceulemans</a:t>
            </a:r>
          </a:p>
          <a:p>
            <a:r>
              <a:rPr lang="en-US" sz="2160" b="0" dirty="0">
                <a:solidFill>
                  <a:schemeClr val="tx1"/>
                </a:solidFill>
                <a:latin typeface="Arial" panose="020B0604020202020204" pitchFamily="34" charset="0"/>
                <a:cs typeface="Arial" panose="020B0604020202020204" pitchFamily="34" charset="0"/>
              </a:rPr>
              <a:t>stefan.ceulemans@dxc.com</a:t>
            </a:r>
          </a:p>
          <a:p>
            <a:r>
              <a:rPr lang="en-US" sz="2160" b="0" dirty="0">
                <a:solidFill>
                  <a:schemeClr val="tx1"/>
                </a:solidFill>
                <a:latin typeface="Arial" panose="020B0604020202020204" pitchFamily="34" charset="0"/>
                <a:cs typeface="Arial" panose="020B0604020202020204" pitchFamily="34" charset="0"/>
              </a:rPr>
              <a:t>+32 15 794 162</a:t>
            </a:r>
          </a:p>
        </p:txBody>
      </p:sp>
    </p:spTree>
    <p:extLst>
      <p:ext uri="{BB962C8B-B14F-4D97-AF65-F5344CB8AC3E}">
        <p14:creationId xmlns:p14="http://schemas.microsoft.com/office/powerpoint/2010/main" val="1927907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87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A380BA4-8E86-4B0F-AAE6-434ABA9EA6AF}"/>
              </a:ext>
            </a:extLst>
          </p:cNvPr>
          <p:cNvSpPr/>
          <p:nvPr/>
        </p:nvSpPr>
        <p:spPr>
          <a:xfrm>
            <a:off x="9793084" y="3268019"/>
            <a:ext cx="2836127" cy="3556523"/>
          </a:xfrm>
          <a:prstGeom prst="roundRect">
            <a:avLst/>
          </a:prstGeom>
          <a:solidFill>
            <a:schemeClr val="accent5">
              <a:lumMod val="75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b="1" dirty="0"/>
              <a:t>Client</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dirty="0"/>
          </a:p>
          <a:p>
            <a:pPr algn="ctr"/>
            <a:endParaRPr lang="en-US" sz="2400" dirty="0"/>
          </a:p>
          <a:p>
            <a:pPr algn="ctr"/>
            <a:endParaRPr lang="en-US" sz="2400" dirty="0"/>
          </a:p>
          <a:p>
            <a:pPr algn="ctr"/>
            <a:endParaRPr lang="en-US" sz="2400" dirty="0"/>
          </a:p>
        </p:txBody>
      </p:sp>
      <p:sp>
        <p:nvSpPr>
          <p:cNvPr id="2" name="Title 1">
            <a:extLst>
              <a:ext uri="{FF2B5EF4-FFF2-40B4-BE49-F238E27FC236}">
                <a16:creationId xmlns:a16="http://schemas.microsoft.com/office/drawing/2014/main" id="{555630CC-ACAB-4877-B28F-3DBB7F76E2AF}"/>
              </a:ext>
            </a:extLst>
          </p:cNvPr>
          <p:cNvSpPr>
            <a:spLocks noGrp="1"/>
          </p:cNvSpPr>
          <p:nvPr>
            <p:ph type="title"/>
          </p:nvPr>
        </p:nvSpPr>
        <p:spPr/>
        <p:txBody>
          <a:bodyPr>
            <a:normAutofit/>
          </a:bodyPr>
          <a:lstStyle/>
          <a:p>
            <a:r>
              <a:rPr lang="en-US" dirty="0"/>
              <a:t>How Clients make use of DXC BES:</a:t>
            </a:r>
            <a:br>
              <a:rPr lang="en-US" dirty="0"/>
            </a:br>
            <a:r>
              <a:rPr lang="en-US" sz="2800" dirty="0"/>
              <a:t>Use Case 1 - Consolidate trading partner communications with MFT Network</a:t>
            </a:r>
            <a:endParaRPr lang="en-US" dirty="0"/>
          </a:p>
        </p:txBody>
      </p:sp>
      <p:sp>
        <p:nvSpPr>
          <p:cNvPr id="8" name="Rectangle: Rounded Corners 7">
            <a:extLst>
              <a:ext uri="{FF2B5EF4-FFF2-40B4-BE49-F238E27FC236}">
                <a16:creationId xmlns:a16="http://schemas.microsoft.com/office/drawing/2014/main" id="{EA7B1538-3393-4926-9FA3-515CEEE20319}"/>
              </a:ext>
            </a:extLst>
          </p:cNvPr>
          <p:cNvSpPr/>
          <p:nvPr/>
        </p:nvSpPr>
        <p:spPr>
          <a:xfrm>
            <a:off x="1280530" y="3268021"/>
            <a:ext cx="2836127" cy="3556523"/>
          </a:xfrm>
          <a:prstGeom prst="roundRect">
            <a:avLst/>
          </a:prstGeom>
          <a:solidFill>
            <a:schemeClr val="accent5">
              <a:lumMod val="75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b="1" dirty="0"/>
              <a:t>Client Trading Partners</a:t>
            </a:r>
            <a:endParaRPr lang="en-US" sz="2400" dirty="0"/>
          </a:p>
        </p:txBody>
      </p:sp>
      <p:sp>
        <p:nvSpPr>
          <p:cNvPr id="9" name="Rectangle: Rounded Corners 8">
            <a:extLst>
              <a:ext uri="{FF2B5EF4-FFF2-40B4-BE49-F238E27FC236}">
                <a16:creationId xmlns:a16="http://schemas.microsoft.com/office/drawing/2014/main" id="{93796E24-C8B5-4426-995E-11995EC494C2}"/>
              </a:ext>
            </a:extLst>
          </p:cNvPr>
          <p:cNvSpPr/>
          <p:nvPr/>
        </p:nvSpPr>
        <p:spPr>
          <a:xfrm>
            <a:off x="5032915" y="3268022"/>
            <a:ext cx="3843453" cy="2954360"/>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dirty="0"/>
              <a:t>BES MFT Network</a:t>
            </a:r>
          </a:p>
          <a:p>
            <a:pPr algn="ctr"/>
            <a:endParaRPr lang="en-US" sz="2400" dirty="0"/>
          </a:p>
          <a:p>
            <a:pPr marL="457200" indent="-290513">
              <a:buFont typeface="Arial" panose="020B0604020202020204" pitchFamily="34" charset="0"/>
              <a:buChar char="•"/>
            </a:pPr>
            <a:r>
              <a:rPr lang="en-US" sz="2400" dirty="0"/>
              <a:t>Listen/Connect</a:t>
            </a:r>
          </a:p>
          <a:p>
            <a:pPr marL="457200" indent="-290513">
              <a:buFont typeface="Arial" panose="020B0604020202020204" pitchFamily="34" charset="0"/>
              <a:buChar char="•"/>
            </a:pPr>
            <a:r>
              <a:rPr lang="en-US" sz="2400" dirty="0"/>
              <a:t>Receive data</a:t>
            </a:r>
          </a:p>
          <a:p>
            <a:pPr marL="457200" indent="-290513">
              <a:buFont typeface="Arial" panose="020B0604020202020204" pitchFamily="34" charset="0"/>
              <a:buChar char="•"/>
            </a:pPr>
            <a:r>
              <a:rPr lang="en-US" sz="2400" strike="sngStrike" dirty="0"/>
              <a:t>Transform/Process</a:t>
            </a:r>
          </a:p>
          <a:p>
            <a:pPr marL="457200" indent="-290513">
              <a:buFont typeface="Arial" panose="020B0604020202020204" pitchFamily="34" charset="0"/>
              <a:buChar char="•"/>
            </a:pPr>
            <a:r>
              <a:rPr lang="en-US" sz="2400" dirty="0"/>
              <a:t>Connect/Deliver data</a:t>
            </a:r>
          </a:p>
          <a:p>
            <a:pPr marL="457200" indent="-290513">
              <a:buFont typeface="Arial" panose="020B0604020202020204" pitchFamily="34" charset="0"/>
              <a:buChar char="•"/>
            </a:pPr>
            <a:r>
              <a:rPr lang="en-US" sz="2400" dirty="0"/>
              <a:t>Notify Exceptions</a:t>
            </a:r>
          </a:p>
        </p:txBody>
      </p:sp>
      <p:sp>
        <p:nvSpPr>
          <p:cNvPr id="10" name="Rectangle: Rounded Corners 9">
            <a:extLst>
              <a:ext uri="{FF2B5EF4-FFF2-40B4-BE49-F238E27FC236}">
                <a16:creationId xmlns:a16="http://schemas.microsoft.com/office/drawing/2014/main" id="{BED80647-4247-48D0-ACC5-22E6AAF48B28}"/>
              </a:ext>
            </a:extLst>
          </p:cNvPr>
          <p:cNvSpPr/>
          <p:nvPr/>
        </p:nvSpPr>
        <p:spPr>
          <a:xfrm>
            <a:off x="5032914" y="1867115"/>
            <a:ext cx="3843453" cy="1323278"/>
          </a:xfrm>
          <a:prstGeom prst="roundRect">
            <a:avLst>
              <a:gd name="adj" fmla="val 27661"/>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MFT Network Support, Portal and Reports</a:t>
            </a:r>
          </a:p>
        </p:txBody>
      </p:sp>
      <p:pic>
        <p:nvPicPr>
          <p:cNvPr id="11" name="Picture 10">
            <a:extLst>
              <a:ext uri="{FF2B5EF4-FFF2-40B4-BE49-F238E27FC236}">
                <a16:creationId xmlns:a16="http://schemas.microsoft.com/office/drawing/2014/main" id="{2AE063AF-449A-493A-9496-FEF95AE64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6407" y="1948253"/>
            <a:ext cx="1084372" cy="1084372"/>
          </a:xfrm>
          <a:prstGeom prst="rect">
            <a:avLst/>
          </a:prstGeom>
        </p:spPr>
      </p:pic>
      <p:pic>
        <p:nvPicPr>
          <p:cNvPr id="12" name="Picture 11">
            <a:extLst>
              <a:ext uri="{FF2B5EF4-FFF2-40B4-BE49-F238E27FC236}">
                <a16:creationId xmlns:a16="http://schemas.microsoft.com/office/drawing/2014/main" id="{B14C120D-F9D7-4473-B423-208A0C367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8692" y="1948253"/>
            <a:ext cx="1084372" cy="1084372"/>
          </a:xfrm>
          <a:prstGeom prst="rect">
            <a:avLst/>
          </a:prstGeom>
        </p:spPr>
      </p:pic>
      <p:sp>
        <p:nvSpPr>
          <p:cNvPr id="13" name="Arrow: Right 12">
            <a:extLst>
              <a:ext uri="{FF2B5EF4-FFF2-40B4-BE49-F238E27FC236}">
                <a16:creationId xmlns:a16="http://schemas.microsoft.com/office/drawing/2014/main" id="{E1B32444-68E0-452D-B1F1-E445FE9E84F5}"/>
              </a:ext>
            </a:extLst>
          </p:cNvPr>
          <p:cNvSpPr/>
          <p:nvPr/>
        </p:nvSpPr>
        <p:spPr>
          <a:xfrm>
            <a:off x="3908502" y="3739377"/>
            <a:ext cx="1442224" cy="1144857"/>
          </a:xfrm>
          <a:prstGeom prs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C004759B-A235-4ABB-ACDD-65CA6E9513FB}"/>
              </a:ext>
            </a:extLst>
          </p:cNvPr>
          <p:cNvSpPr/>
          <p:nvPr/>
        </p:nvSpPr>
        <p:spPr>
          <a:xfrm rot="10800000">
            <a:off x="3803491" y="5077523"/>
            <a:ext cx="1442224" cy="1144857"/>
          </a:xfrm>
          <a:prstGeom prs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Left-Right 20">
            <a:extLst>
              <a:ext uri="{FF2B5EF4-FFF2-40B4-BE49-F238E27FC236}">
                <a16:creationId xmlns:a16="http://schemas.microsoft.com/office/drawing/2014/main" id="{695EEC17-28BB-494E-8F69-C90A44A072B0}"/>
              </a:ext>
            </a:extLst>
          </p:cNvPr>
          <p:cNvSpPr/>
          <p:nvPr/>
        </p:nvSpPr>
        <p:spPr>
          <a:xfrm>
            <a:off x="3040564" y="2188028"/>
            <a:ext cx="2152185"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Left-Right 21">
            <a:extLst>
              <a:ext uri="{FF2B5EF4-FFF2-40B4-BE49-F238E27FC236}">
                <a16:creationId xmlns:a16="http://schemas.microsoft.com/office/drawing/2014/main" id="{1A3666AF-2706-4D2A-B57E-E4C16BE3B4CF}"/>
              </a:ext>
            </a:extLst>
          </p:cNvPr>
          <p:cNvSpPr/>
          <p:nvPr/>
        </p:nvSpPr>
        <p:spPr>
          <a:xfrm>
            <a:off x="8766722" y="2188028"/>
            <a:ext cx="2152185"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2A0ADF3-C8B0-49CB-9569-A077DA4B514E}"/>
              </a:ext>
            </a:extLst>
          </p:cNvPr>
          <p:cNvSpPr/>
          <p:nvPr/>
        </p:nvSpPr>
        <p:spPr>
          <a:xfrm>
            <a:off x="10301591" y="3871609"/>
            <a:ext cx="1888086" cy="826851"/>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50000"/>
                    <a:lumOff val="50000"/>
                  </a:schemeClr>
                </a:solidFill>
              </a:rPr>
              <a:t>EDI Apps</a:t>
            </a:r>
          </a:p>
        </p:txBody>
      </p:sp>
      <p:sp>
        <p:nvSpPr>
          <p:cNvPr id="17" name="Arrow: Left-Right 16">
            <a:extLst>
              <a:ext uri="{FF2B5EF4-FFF2-40B4-BE49-F238E27FC236}">
                <a16:creationId xmlns:a16="http://schemas.microsoft.com/office/drawing/2014/main" id="{1ADB9FE0-D3FF-4B8B-BD3D-002414212C04}"/>
              </a:ext>
            </a:extLst>
          </p:cNvPr>
          <p:cNvSpPr/>
          <p:nvPr/>
        </p:nvSpPr>
        <p:spPr>
          <a:xfrm>
            <a:off x="8550614" y="3911412"/>
            <a:ext cx="1750978"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F43084-5242-4EC8-A0B4-8D5570392ADB}"/>
              </a:ext>
            </a:extLst>
          </p:cNvPr>
          <p:cNvSpPr/>
          <p:nvPr/>
        </p:nvSpPr>
        <p:spPr>
          <a:xfrm>
            <a:off x="10316835" y="5166854"/>
            <a:ext cx="1888086" cy="1266574"/>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50000"/>
                    <a:lumOff val="50000"/>
                  </a:schemeClr>
                </a:solidFill>
              </a:rPr>
              <a:t>Business Applications</a:t>
            </a:r>
          </a:p>
        </p:txBody>
      </p:sp>
      <p:sp>
        <p:nvSpPr>
          <p:cNvPr id="23" name="Arrow: Left-Right 22">
            <a:extLst>
              <a:ext uri="{FF2B5EF4-FFF2-40B4-BE49-F238E27FC236}">
                <a16:creationId xmlns:a16="http://schemas.microsoft.com/office/drawing/2014/main" id="{48FD85E9-8222-4BC0-86F3-92110C09E17C}"/>
              </a:ext>
            </a:extLst>
          </p:cNvPr>
          <p:cNvSpPr/>
          <p:nvPr/>
        </p:nvSpPr>
        <p:spPr>
          <a:xfrm rot="5400000">
            <a:off x="10744089" y="4574119"/>
            <a:ext cx="934907"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1281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DA380BA4-8E86-4B0F-AAE6-434ABA9EA6AF}"/>
              </a:ext>
            </a:extLst>
          </p:cNvPr>
          <p:cNvSpPr/>
          <p:nvPr/>
        </p:nvSpPr>
        <p:spPr>
          <a:xfrm>
            <a:off x="9793084" y="3268019"/>
            <a:ext cx="2836127" cy="3556523"/>
          </a:xfrm>
          <a:prstGeom prst="roundRect">
            <a:avLst/>
          </a:prstGeom>
          <a:solidFill>
            <a:schemeClr val="accent5">
              <a:lumMod val="75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b="1" dirty="0"/>
              <a:t>Client</a:t>
            </a:r>
          </a:p>
          <a:p>
            <a:pPr algn="ctr"/>
            <a:endParaRPr lang="en-US" sz="2400" b="1" dirty="0"/>
          </a:p>
          <a:p>
            <a:pPr algn="ctr"/>
            <a:endParaRPr lang="en-US" sz="2400" b="1" dirty="0"/>
          </a:p>
          <a:p>
            <a:pPr algn="ctr"/>
            <a:endParaRPr lang="en-US" sz="2400" b="1" dirty="0"/>
          </a:p>
          <a:p>
            <a:pPr algn="ctr"/>
            <a:endParaRPr lang="en-US" sz="2400" b="1" dirty="0"/>
          </a:p>
          <a:p>
            <a:pPr algn="ctr"/>
            <a:endParaRPr lang="en-US" sz="2400" dirty="0"/>
          </a:p>
          <a:p>
            <a:pPr algn="ctr"/>
            <a:endParaRPr lang="en-US" sz="2400" dirty="0"/>
          </a:p>
          <a:p>
            <a:pPr algn="ctr"/>
            <a:endParaRPr lang="en-US" sz="2400" dirty="0"/>
          </a:p>
          <a:p>
            <a:pPr algn="ctr"/>
            <a:endParaRPr lang="en-US" sz="2400" dirty="0"/>
          </a:p>
        </p:txBody>
      </p:sp>
      <p:sp>
        <p:nvSpPr>
          <p:cNvPr id="2" name="Title 1">
            <a:extLst>
              <a:ext uri="{FF2B5EF4-FFF2-40B4-BE49-F238E27FC236}">
                <a16:creationId xmlns:a16="http://schemas.microsoft.com/office/drawing/2014/main" id="{555630CC-ACAB-4877-B28F-3DBB7F76E2AF}"/>
              </a:ext>
            </a:extLst>
          </p:cNvPr>
          <p:cNvSpPr>
            <a:spLocks noGrp="1"/>
          </p:cNvSpPr>
          <p:nvPr>
            <p:ph type="title"/>
          </p:nvPr>
        </p:nvSpPr>
        <p:spPr/>
        <p:txBody>
          <a:bodyPr>
            <a:normAutofit/>
          </a:bodyPr>
          <a:lstStyle/>
          <a:p>
            <a:r>
              <a:rPr lang="en-US" dirty="0"/>
              <a:t>How Clients make use of DXC BES:</a:t>
            </a:r>
            <a:br>
              <a:rPr lang="en-US" dirty="0"/>
            </a:br>
            <a:r>
              <a:rPr lang="en-US" sz="2800" dirty="0"/>
              <a:t>Use Case 2 – Migrate all EDI processing to EDI Managed Service</a:t>
            </a:r>
            <a:endParaRPr lang="en-US" dirty="0"/>
          </a:p>
        </p:txBody>
      </p:sp>
      <p:sp>
        <p:nvSpPr>
          <p:cNvPr id="8" name="Rectangle: Rounded Corners 7">
            <a:extLst>
              <a:ext uri="{FF2B5EF4-FFF2-40B4-BE49-F238E27FC236}">
                <a16:creationId xmlns:a16="http://schemas.microsoft.com/office/drawing/2014/main" id="{EA7B1538-3393-4926-9FA3-515CEEE20319}"/>
              </a:ext>
            </a:extLst>
          </p:cNvPr>
          <p:cNvSpPr/>
          <p:nvPr/>
        </p:nvSpPr>
        <p:spPr>
          <a:xfrm>
            <a:off x="1280530" y="3268021"/>
            <a:ext cx="2836127" cy="3556523"/>
          </a:xfrm>
          <a:prstGeom prst="roundRect">
            <a:avLst/>
          </a:prstGeom>
          <a:solidFill>
            <a:schemeClr val="accent5">
              <a:lumMod val="75000"/>
            </a:schemeClr>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b="1" dirty="0"/>
              <a:t>Client Trading Partners</a:t>
            </a:r>
            <a:endParaRPr lang="en-US" sz="2400" dirty="0"/>
          </a:p>
        </p:txBody>
      </p:sp>
      <p:sp>
        <p:nvSpPr>
          <p:cNvPr id="9" name="Rectangle: Rounded Corners 8">
            <a:extLst>
              <a:ext uri="{FF2B5EF4-FFF2-40B4-BE49-F238E27FC236}">
                <a16:creationId xmlns:a16="http://schemas.microsoft.com/office/drawing/2014/main" id="{93796E24-C8B5-4426-995E-11995EC494C2}"/>
              </a:ext>
            </a:extLst>
          </p:cNvPr>
          <p:cNvSpPr/>
          <p:nvPr/>
        </p:nvSpPr>
        <p:spPr>
          <a:xfrm>
            <a:off x="5032915" y="3268022"/>
            <a:ext cx="3843453" cy="3556520"/>
          </a:xfrm>
          <a:prstGeom prst="roundRect">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dirty="0"/>
              <a:t>EDI Managed Service</a:t>
            </a:r>
          </a:p>
          <a:p>
            <a:pPr algn="ctr"/>
            <a:endParaRPr lang="en-US" sz="2400" dirty="0"/>
          </a:p>
          <a:p>
            <a:pPr marL="457200" indent="-290513">
              <a:buFont typeface="Arial" panose="020B0604020202020204" pitchFamily="34" charset="0"/>
              <a:buChar char="•"/>
            </a:pPr>
            <a:r>
              <a:rPr lang="en-US" sz="2400" dirty="0"/>
              <a:t>Listen/Connect</a:t>
            </a:r>
          </a:p>
          <a:p>
            <a:pPr marL="457200" indent="-290513">
              <a:buFont typeface="Arial" panose="020B0604020202020204" pitchFamily="34" charset="0"/>
              <a:buChar char="•"/>
            </a:pPr>
            <a:r>
              <a:rPr lang="en-US" sz="2400" dirty="0"/>
              <a:t>Receive data</a:t>
            </a:r>
          </a:p>
          <a:p>
            <a:pPr marL="457200" indent="-290513">
              <a:buFont typeface="Arial" panose="020B0604020202020204" pitchFamily="34" charset="0"/>
              <a:buChar char="•"/>
            </a:pPr>
            <a:r>
              <a:rPr lang="en-US" sz="2400" b="1" dirty="0"/>
              <a:t>Transform/Process</a:t>
            </a:r>
          </a:p>
          <a:p>
            <a:pPr marL="457200" indent="-290513">
              <a:buFont typeface="Arial" panose="020B0604020202020204" pitchFamily="34" charset="0"/>
              <a:buChar char="•"/>
            </a:pPr>
            <a:r>
              <a:rPr lang="en-US" sz="2400" dirty="0"/>
              <a:t>Connect/Deliver data</a:t>
            </a:r>
          </a:p>
          <a:p>
            <a:pPr marL="457200" indent="-290513">
              <a:buFont typeface="Arial" panose="020B0604020202020204" pitchFamily="34" charset="0"/>
              <a:buChar char="•"/>
            </a:pPr>
            <a:r>
              <a:rPr lang="en-US" sz="2400" dirty="0"/>
              <a:t>Notify Exceptions</a:t>
            </a:r>
          </a:p>
        </p:txBody>
      </p:sp>
      <p:sp>
        <p:nvSpPr>
          <p:cNvPr id="10" name="Rectangle: Rounded Corners 9">
            <a:extLst>
              <a:ext uri="{FF2B5EF4-FFF2-40B4-BE49-F238E27FC236}">
                <a16:creationId xmlns:a16="http://schemas.microsoft.com/office/drawing/2014/main" id="{BED80647-4247-48D0-ACC5-22E6AAF48B28}"/>
              </a:ext>
            </a:extLst>
          </p:cNvPr>
          <p:cNvSpPr/>
          <p:nvPr/>
        </p:nvSpPr>
        <p:spPr>
          <a:xfrm>
            <a:off x="5032914" y="1867115"/>
            <a:ext cx="3843453" cy="1323278"/>
          </a:xfrm>
          <a:prstGeom prst="roundRect">
            <a:avLst>
              <a:gd name="adj" fmla="val 27661"/>
            </a:avLst>
          </a:prstGeom>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000" dirty="0"/>
              <a:t>EDI Managed Service Support, Portal and Reports</a:t>
            </a:r>
          </a:p>
        </p:txBody>
      </p:sp>
      <p:pic>
        <p:nvPicPr>
          <p:cNvPr id="11" name="Picture 10">
            <a:extLst>
              <a:ext uri="{FF2B5EF4-FFF2-40B4-BE49-F238E27FC236}">
                <a16:creationId xmlns:a16="http://schemas.microsoft.com/office/drawing/2014/main" id="{2AE063AF-449A-493A-9496-FEF95AE64E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6407" y="1948253"/>
            <a:ext cx="1084372" cy="1084372"/>
          </a:xfrm>
          <a:prstGeom prst="rect">
            <a:avLst/>
          </a:prstGeom>
        </p:spPr>
      </p:pic>
      <p:pic>
        <p:nvPicPr>
          <p:cNvPr id="12" name="Picture 11">
            <a:extLst>
              <a:ext uri="{FF2B5EF4-FFF2-40B4-BE49-F238E27FC236}">
                <a16:creationId xmlns:a16="http://schemas.microsoft.com/office/drawing/2014/main" id="{B14C120D-F9D7-4473-B423-208A0C367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8692" y="1948253"/>
            <a:ext cx="1084372" cy="1084372"/>
          </a:xfrm>
          <a:prstGeom prst="rect">
            <a:avLst/>
          </a:prstGeom>
        </p:spPr>
      </p:pic>
      <p:sp>
        <p:nvSpPr>
          <p:cNvPr id="13" name="Arrow: Right 12">
            <a:extLst>
              <a:ext uri="{FF2B5EF4-FFF2-40B4-BE49-F238E27FC236}">
                <a16:creationId xmlns:a16="http://schemas.microsoft.com/office/drawing/2014/main" id="{E1B32444-68E0-452D-B1F1-E445FE9E84F5}"/>
              </a:ext>
            </a:extLst>
          </p:cNvPr>
          <p:cNvSpPr/>
          <p:nvPr/>
        </p:nvSpPr>
        <p:spPr>
          <a:xfrm>
            <a:off x="3908502" y="3739377"/>
            <a:ext cx="1442224" cy="1144857"/>
          </a:xfrm>
          <a:prstGeom prs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C004759B-A235-4ABB-ACDD-65CA6E9513FB}"/>
              </a:ext>
            </a:extLst>
          </p:cNvPr>
          <p:cNvSpPr/>
          <p:nvPr/>
        </p:nvSpPr>
        <p:spPr>
          <a:xfrm rot="10800000">
            <a:off x="3803491" y="5077523"/>
            <a:ext cx="1442224" cy="1144857"/>
          </a:xfrm>
          <a:prstGeom prs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Left-Right 20">
            <a:extLst>
              <a:ext uri="{FF2B5EF4-FFF2-40B4-BE49-F238E27FC236}">
                <a16:creationId xmlns:a16="http://schemas.microsoft.com/office/drawing/2014/main" id="{695EEC17-28BB-494E-8F69-C90A44A072B0}"/>
              </a:ext>
            </a:extLst>
          </p:cNvPr>
          <p:cNvSpPr/>
          <p:nvPr/>
        </p:nvSpPr>
        <p:spPr>
          <a:xfrm>
            <a:off x="3040564" y="2188028"/>
            <a:ext cx="2152185"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Left-Right 21">
            <a:extLst>
              <a:ext uri="{FF2B5EF4-FFF2-40B4-BE49-F238E27FC236}">
                <a16:creationId xmlns:a16="http://schemas.microsoft.com/office/drawing/2014/main" id="{1A3666AF-2706-4D2A-B57E-E4C16BE3B4CF}"/>
              </a:ext>
            </a:extLst>
          </p:cNvPr>
          <p:cNvSpPr/>
          <p:nvPr/>
        </p:nvSpPr>
        <p:spPr>
          <a:xfrm>
            <a:off x="8766722" y="2188028"/>
            <a:ext cx="2152185"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Left-Right 16">
            <a:extLst>
              <a:ext uri="{FF2B5EF4-FFF2-40B4-BE49-F238E27FC236}">
                <a16:creationId xmlns:a16="http://schemas.microsoft.com/office/drawing/2014/main" id="{1ADB9FE0-D3FF-4B8B-BD3D-002414212C04}"/>
              </a:ext>
            </a:extLst>
          </p:cNvPr>
          <p:cNvSpPr/>
          <p:nvPr/>
        </p:nvSpPr>
        <p:spPr>
          <a:xfrm>
            <a:off x="8550614" y="4275346"/>
            <a:ext cx="1750978" cy="802888"/>
          </a:xfrm>
          <a:prstGeom prst="leftRightArrow">
            <a:avLst/>
          </a:prstGeom>
          <a:solidFill>
            <a:schemeClr val="bg1">
              <a:lumMod val="85000"/>
            </a:schemeClr>
          </a:solidFill>
          <a:ln w="57150">
            <a:solidFill>
              <a:schemeClr val="tx1">
                <a:lumMod val="65000"/>
                <a:lumOff val="35000"/>
              </a:schemeClr>
            </a:solidFill>
          </a:ln>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9F43084-5242-4EC8-A0B4-8D5570392ADB}"/>
              </a:ext>
            </a:extLst>
          </p:cNvPr>
          <p:cNvSpPr/>
          <p:nvPr/>
        </p:nvSpPr>
        <p:spPr>
          <a:xfrm>
            <a:off x="10316835" y="4073168"/>
            <a:ext cx="1888086" cy="1266574"/>
          </a:xfrm>
          <a:prstGeom prst="rect">
            <a:avLst/>
          </a:prstGeom>
          <a:solidFill>
            <a:schemeClr val="bg1"/>
          </a:solidFill>
          <a:ln>
            <a:noFill/>
          </a:ln>
        </p:spPr>
        <p:style>
          <a:lnRef idx="0">
            <a:schemeClr val="accent1"/>
          </a:lnRef>
          <a:fillRef idx="1">
            <a:schemeClr val="accent1"/>
          </a:fillRef>
          <a:effectRef idx="0">
            <a:schemeClr val="accent1"/>
          </a:effectRef>
          <a:fontRef idx="minor">
            <a:schemeClr val="lt1"/>
          </a:fontRef>
        </p:style>
        <p:txBody>
          <a:bodyPr rtlCol="0" anchor="ctr"/>
          <a:lstStyle/>
          <a:p>
            <a:pPr algn="ctr"/>
            <a:r>
              <a:rPr lang="en-US" sz="2400" dirty="0">
                <a:solidFill>
                  <a:schemeClr val="tx1">
                    <a:lumMod val="50000"/>
                    <a:lumOff val="50000"/>
                  </a:schemeClr>
                </a:solidFill>
              </a:rPr>
              <a:t>Business Applications</a:t>
            </a:r>
          </a:p>
        </p:txBody>
      </p:sp>
    </p:spTree>
    <p:extLst>
      <p:ext uri="{BB962C8B-B14F-4D97-AF65-F5344CB8AC3E}">
        <p14:creationId xmlns:p14="http://schemas.microsoft.com/office/powerpoint/2010/main" val="31094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26E77-07D4-4EAB-86BF-555D27EC0F99}"/>
              </a:ext>
            </a:extLst>
          </p:cNvPr>
          <p:cNvSpPr>
            <a:spLocks noGrp="1"/>
          </p:cNvSpPr>
          <p:nvPr>
            <p:ph type="title"/>
          </p:nvPr>
        </p:nvSpPr>
        <p:spPr/>
        <p:txBody>
          <a:bodyPr/>
          <a:lstStyle/>
          <a:p>
            <a:r>
              <a:rPr lang="en-US" dirty="0"/>
              <a:t>Benefits</a:t>
            </a:r>
          </a:p>
        </p:txBody>
      </p:sp>
      <p:graphicFrame>
        <p:nvGraphicFramePr>
          <p:cNvPr id="4" name="Table 4">
            <a:extLst>
              <a:ext uri="{FF2B5EF4-FFF2-40B4-BE49-F238E27FC236}">
                <a16:creationId xmlns:a16="http://schemas.microsoft.com/office/drawing/2014/main" id="{D0568D34-C2FB-4736-A221-20FF47475406}"/>
              </a:ext>
            </a:extLst>
          </p:cNvPr>
          <p:cNvGraphicFramePr>
            <a:graphicFrameLocks noGrp="1"/>
          </p:cNvGraphicFramePr>
          <p:nvPr>
            <p:ph idx="1"/>
            <p:extLst>
              <p:ext uri="{D42A27DB-BD31-4B8C-83A1-F6EECF244321}">
                <p14:modId xmlns:p14="http://schemas.microsoft.com/office/powerpoint/2010/main" val="2567713398"/>
              </p:ext>
            </p:extLst>
          </p:nvPr>
        </p:nvGraphicFramePr>
        <p:xfrm>
          <a:off x="685800" y="2057400"/>
          <a:ext cx="13258800" cy="4683760"/>
        </p:xfrm>
        <a:graphic>
          <a:graphicData uri="http://schemas.openxmlformats.org/drawingml/2006/table">
            <a:tbl>
              <a:tblPr firstRow="1" bandRow="1">
                <a:tableStyleId>{69012ECD-51FC-41F1-AA8D-1B2483CD663E}</a:tableStyleId>
              </a:tblPr>
              <a:tblGrid>
                <a:gridCol w="4419600">
                  <a:extLst>
                    <a:ext uri="{9D8B030D-6E8A-4147-A177-3AD203B41FA5}">
                      <a16:colId xmlns:a16="http://schemas.microsoft.com/office/drawing/2014/main" val="2386844278"/>
                    </a:ext>
                  </a:extLst>
                </a:gridCol>
                <a:gridCol w="4419600">
                  <a:extLst>
                    <a:ext uri="{9D8B030D-6E8A-4147-A177-3AD203B41FA5}">
                      <a16:colId xmlns:a16="http://schemas.microsoft.com/office/drawing/2014/main" val="4061565041"/>
                    </a:ext>
                  </a:extLst>
                </a:gridCol>
                <a:gridCol w="4419600">
                  <a:extLst>
                    <a:ext uri="{9D8B030D-6E8A-4147-A177-3AD203B41FA5}">
                      <a16:colId xmlns:a16="http://schemas.microsoft.com/office/drawing/2014/main" val="4078132984"/>
                    </a:ext>
                  </a:extLst>
                </a:gridCol>
              </a:tblGrid>
              <a:tr h="370840">
                <a:tc>
                  <a:txBody>
                    <a:bodyPr/>
                    <a:lstStyle/>
                    <a:p>
                      <a:endParaRPr lang="en-US" dirty="0"/>
                    </a:p>
                  </a:txBody>
                  <a:tcPr/>
                </a:tc>
                <a:tc>
                  <a:txBody>
                    <a:bodyPr/>
                    <a:lstStyle/>
                    <a:p>
                      <a:r>
                        <a:rPr lang="en-US" dirty="0"/>
                        <a:t>Use Case 1 – MFT Network</a:t>
                      </a:r>
                    </a:p>
                  </a:txBody>
                  <a:tcPr/>
                </a:tc>
                <a:tc>
                  <a:txBody>
                    <a:bodyPr/>
                    <a:lstStyle/>
                    <a:p>
                      <a:r>
                        <a:rPr lang="en-US" dirty="0"/>
                        <a:t>Use Case 2 – EDI Managed Service</a:t>
                      </a:r>
                    </a:p>
                  </a:txBody>
                  <a:tcPr/>
                </a:tc>
                <a:extLst>
                  <a:ext uri="{0D108BD9-81ED-4DB2-BD59-A6C34878D82A}">
                    <a16:rowId xmlns:a16="http://schemas.microsoft.com/office/drawing/2014/main" val="4294605609"/>
                  </a:ext>
                </a:extLst>
              </a:tr>
              <a:tr h="370840">
                <a:tc>
                  <a:txBody>
                    <a:bodyPr/>
                    <a:lstStyle/>
                    <a:p>
                      <a:r>
                        <a:rPr lang="en-US" dirty="0"/>
                        <a:t>Eliminate or reduce VAN bills</a:t>
                      </a:r>
                    </a:p>
                  </a:txBody>
                  <a:tcPr/>
                </a:tc>
                <a:tc>
                  <a:txBody>
                    <a:bodyPr/>
                    <a:lstStyle/>
                    <a:p>
                      <a:pPr algn="ctr"/>
                      <a:r>
                        <a:rPr lang="en-US" dirty="0"/>
                        <a:t>Yes</a:t>
                      </a:r>
                    </a:p>
                  </a:txBody>
                  <a:tcPr/>
                </a:tc>
                <a:tc>
                  <a:txBody>
                    <a:bodyPr/>
                    <a:lstStyle/>
                    <a:p>
                      <a:pPr algn="ctr"/>
                      <a:r>
                        <a:rPr lang="en-US" dirty="0"/>
                        <a:t>Yes</a:t>
                      </a:r>
                    </a:p>
                  </a:txBody>
                  <a:tcPr/>
                </a:tc>
                <a:extLst>
                  <a:ext uri="{0D108BD9-81ED-4DB2-BD59-A6C34878D82A}">
                    <a16:rowId xmlns:a16="http://schemas.microsoft.com/office/drawing/2014/main" val="2206855667"/>
                  </a:ext>
                </a:extLst>
              </a:tr>
              <a:tr h="370840">
                <a:tc>
                  <a:txBody>
                    <a:bodyPr/>
                    <a:lstStyle/>
                    <a:p>
                      <a:r>
                        <a:rPr lang="en-US" dirty="0"/>
                        <a:t>Eliminate special comm (AS2+) software</a:t>
                      </a:r>
                    </a:p>
                  </a:txBody>
                  <a:tcPr/>
                </a:tc>
                <a:tc>
                  <a:txBody>
                    <a:bodyPr/>
                    <a:lstStyle/>
                    <a:p>
                      <a:pPr algn="ctr"/>
                      <a:r>
                        <a:rPr lang="en-US" dirty="0"/>
                        <a:t>Yes</a:t>
                      </a:r>
                    </a:p>
                  </a:txBody>
                  <a:tcPr/>
                </a:tc>
                <a:tc>
                  <a:txBody>
                    <a:bodyPr/>
                    <a:lstStyle/>
                    <a:p>
                      <a:pPr algn="ctr"/>
                      <a:r>
                        <a:rPr lang="en-US" dirty="0"/>
                        <a:t>Yes</a:t>
                      </a:r>
                    </a:p>
                  </a:txBody>
                  <a:tcPr/>
                </a:tc>
                <a:extLst>
                  <a:ext uri="{0D108BD9-81ED-4DB2-BD59-A6C34878D82A}">
                    <a16:rowId xmlns:a16="http://schemas.microsoft.com/office/drawing/2014/main" val="2547731391"/>
                  </a:ext>
                </a:extLst>
              </a:tr>
              <a:tr h="370840">
                <a:tc>
                  <a:txBody>
                    <a:bodyPr/>
                    <a:lstStyle/>
                    <a:p>
                      <a:r>
                        <a:rPr lang="en-US" dirty="0"/>
                        <a:t>Eliminate or reduce business disruptions caused by certificate expirations</a:t>
                      </a:r>
                    </a:p>
                  </a:txBody>
                  <a:tcPr/>
                </a:tc>
                <a:tc>
                  <a:txBody>
                    <a:bodyPr/>
                    <a:lstStyle/>
                    <a:p>
                      <a:pPr algn="ctr"/>
                      <a:r>
                        <a:rPr lang="en-US" dirty="0"/>
                        <a:t>Yes</a:t>
                      </a:r>
                    </a:p>
                  </a:txBody>
                  <a:tcPr/>
                </a:tc>
                <a:tc>
                  <a:txBody>
                    <a:bodyPr/>
                    <a:lstStyle/>
                    <a:p>
                      <a:pPr algn="ctr"/>
                      <a:r>
                        <a:rPr lang="en-US" dirty="0"/>
                        <a:t>Yes</a:t>
                      </a:r>
                    </a:p>
                  </a:txBody>
                  <a:tcPr/>
                </a:tc>
                <a:extLst>
                  <a:ext uri="{0D108BD9-81ED-4DB2-BD59-A6C34878D82A}">
                    <a16:rowId xmlns:a16="http://schemas.microsoft.com/office/drawing/2014/main" val="525918030"/>
                  </a:ext>
                </a:extLst>
              </a:tr>
              <a:tr h="370840">
                <a:tc>
                  <a:txBody>
                    <a:bodyPr/>
                    <a:lstStyle/>
                    <a:p>
                      <a:r>
                        <a:rPr lang="en-US" dirty="0"/>
                        <a:t>Reduce in-house EDI work</a:t>
                      </a:r>
                    </a:p>
                  </a:txBody>
                  <a:tcPr/>
                </a:tc>
                <a:tc>
                  <a:txBody>
                    <a:bodyPr/>
                    <a:lstStyle/>
                    <a:p>
                      <a:pPr algn="ctr"/>
                      <a:r>
                        <a:rPr lang="en-US" dirty="0"/>
                        <a:t>-</a:t>
                      </a:r>
                    </a:p>
                  </a:txBody>
                  <a:tcPr/>
                </a:tc>
                <a:tc>
                  <a:txBody>
                    <a:bodyPr/>
                    <a:lstStyle/>
                    <a:p>
                      <a:pPr algn="ctr"/>
                      <a:r>
                        <a:rPr lang="en-US" dirty="0"/>
                        <a:t>Yes</a:t>
                      </a:r>
                    </a:p>
                  </a:txBody>
                  <a:tcPr/>
                </a:tc>
                <a:extLst>
                  <a:ext uri="{0D108BD9-81ED-4DB2-BD59-A6C34878D82A}">
                    <a16:rowId xmlns:a16="http://schemas.microsoft.com/office/drawing/2014/main" val="3639588484"/>
                  </a:ext>
                </a:extLst>
              </a:tr>
              <a:tr h="370840">
                <a:tc>
                  <a:txBody>
                    <a:bodyPr/>
                    <a:lstStyle/>
                    <a:p>
                      <a:r>
                        <a:rPr lang="en-US" dirty="0"/>
                        <a:t>Eliminate EDI software license costs and associated RDBMS etc.</a:t>
                      </a:r>
                    </a:p>
                  </a:txBody>
                  <a:tcPr/>
                </a:tc>
                <a:tc>
                  <a:txBody>
                    <a:bodyPr/>
                    <a:lstStyle/>
                    <a:p>
                      <a:pPr algn="ctr"/>
                      <a:r>
                        <a:rPr lang="en-US" dirty="0"/>
                        <a:t>-</a:t>
                      </a:r>
                    </a:p>
                  </a:txBody>
                  <a:tcPr/>
                </a:tc>
                <a:tc>
                  <a:txBody>
                    <a:bodyPr/>
                    <a:lstStyle/>
                    <a:p>
                      <a:pPr algn="ctr"/>
                      <a:r>
                        <a:rPr lang="en-US" dirty="0"/>
                        <a:t>Yes</a:t>
                      </a:r>
                    </a:p>
                  </a:txBody>
                  <a:tcPr/>
                </a:tc>
                <a:extLst>
                  <a:ext uri="{0D108BD9-81ED-4DB2-BD59-A6C34878D82A}">
                    <a16:rowId xmlns:a16="http://schemas.microsoft.com/office/drawing/2014/main" val="3644840717"/>
                  </a:ext>
                </a:extLst>
              </a:tr>
              <a:tr h="370840">
                <a:tc>
                  <a:txBody>
                    <a:bodyPr/>
                    <a:lstStyle/>
                    <a:p>
                      <a:r>
                        <a:rPr lang="en-US" dirty="0"/>
                        <a:t>Re-purpose infrastructure or reduce infrastructure costs used for EDI software</a:t>
                      </a:r>
                    </a:p>
                  </a:txBody>
                  <a:tcPr/>
                </a:tc>
                <a:tc>
                  <a:txBody>
                    <a:bodyPr/>
                    <a:lstStyle/>
                    <a:p>
                      <a:pPr algn="ctr"/>
                      <a:r>
                        <a:rPr lang="en-US" dirty="0"/>
                        <a:t>-</a:t>
                      </a:r>
                    </a:p>
                  </a:txBody>
                  <a:tcPr/>
                </a:tc>
                <a:tc>
                  <a:txBody>
                    <a:bodyPr/>
                    <a:lstStyle/>
                    <a:p>
                      <a:pPr algn="ctr"/>
                      <a:r>
                        <a:rPr lang="en-US" dirty="0"/>
                        <a:t>Yes</a:t>
                      </a:r>
                    </a:p>
                  </a:txBody>
                  <a:tcPr/>
                </a:tc>
                <a:extLst>
                  <a:ext uri="{0D108BD9-81ED-4DB2-BD59-A6C34878D82A}">
                    <a16:rowId xmlns:a16="http://schemas.microsoft.com/office/drawing/2014/main" val="214065899"/>
                  </a:ext>
                </a:extLst>
              </a:tr>
              <a:tr h="370840">
                <a:tc>
                  <a:txBody>
                    <a:bodyPr/>
                    <a:lstStyle/>
                    <a:p>
                      <a:r>
                        <a:rPr lang="en-US" dirty="0"/>
                        <a:t>Manage EDI through SLA with trusted partner DXC</a:t>
                      </a:r>
                    </a:p>
                  </a:txBody>
                  <a:tcPr/>
                </a:tc>
                <a:tc>
                  <a:txBody>
                    <a:bodyPr/>
                    <a:lstStyle/>
                    <a:p>
                      <a:pPr algn="ctr"/>
                      <a:r>
                        <a:rPr lang="en-US" dirty="0"/>
                        <a:t>Yes</a:t>
                      </a:r>
                    </a:p>
                  </a:txBody>
                  <a:tcPr/>
                </a:tc>
                <a:tc>
                  <a:txBody>
                    <a:bodyPr/>
                    <a:lstStyle/>
                    <a:p>
                      <a:pPr algn="ctr"/>
                      <a:r>
                        <a:rPr lang="en-US" dirty="0"/>
                        <a:t>Yes (incl. EDI translation)</a:t>
                      </a:r>
                    </a:p>
                  </a:txBody>
                  <a:tcPr/>
                </a:tc>
                <a:extLst>
                  <a:ext uri="{0D108BD9-81ED-4DB2-BD59-A6C34878D82A}">
                    <a16:rowId xmlns:a16="http://schemas.microsoft.com/office/drawing/2014/main" val="1309679387"/>
                  </a:ext>
                </a:extLst>
              </a:tr>
              <a:tr h="370840">
                <a:tc>
                  <a:txBody>
                    <a:bodyPr/>
                    <a:lstStyle/>
                    <a:p>
                      <a:r>
                        <a:rPr lang="en-US" dirty="0"/>
                        <a:t>Ability to manage growth and changing EDI needs by service request</a:t>
                      </a:r>
                    </a:p>
                  </a:txBody>
                  <a:tcPr/>
                </a:tc>
                <a:tc>
                  <a:txBody>
                    <a:bodyPr/>
                    <a:lstStyle/>
                    <a:p>
                      <a:pPr algn="ctr"/>
                      <a:r>
                        <a:rPr lang="en-US" dirty="0"/>
                        <a:t>Yes</a:t>
                      </a:r>
                    </a:p>
                  </a:txBody>
                  <a:tcPr/>
                </a:tc>
                <a:tc>
                  <a:txBody>
                    <a:bodyPr/>
                    <a:lstStyle/>
                    <a:p>
                      <a:pPr algn="ctr"/>
                      <a:r>
                        <a:rPr lang="en-US" dirty="0"/>
                        <a:t>Yes (incl. EDI translation)</a:t>
                      </a:r>
                    </a:p>
                  </a:txBody>
                  <a:tcPr/>
                </a:tc>
                <a:extLst>
                  <a:ext uri="{0D108BD9-81ED-4DB2-BD59-A6C34878D82A}">
                    <a16:rowId xmlns:a16="http://schemas.microsoft.com/office/drawing/2014/main" val="3851241068"/>
                  </a:ext>
                </a:extLst>
              </a:tr>
            </a:tbl>
          </a:graphicData>
        </a:graphic>
      </p:graphicFrame>
    </p:spTree>
    <p:extLst>
      <p:ext uri="{BB962C8B-B14F-4D97-AF65-F5344CB8AC3E}">
        <p14:creationId xmlns:p14="http://schemas.microsoft.com/office/powerpoint/2010/main" val="3702287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5352-0B19-4324-B8C2-BCF478640A16}"/>
              </a:ext>
            </a:extLst>
          </p:cNvPr>
          <p:cNvSpPr>
            <a:spLocks noGrp="1"/>
          </p:cNvSpPr>
          <p:nvPr>
            <p:ph type="title"/>
          </p:nvPr>
        </p:nvSpPr>
        <p:spPr>
          <a:xfrm>
            <a:off x="685800" y="639763"/>
            <a:ext cx="13211096" cy="703128"/>
          </a:xfrm>
        </p:spPr>
        <p:txBody>
          <a:bodyPr>
            <a:normAutofit/>
          </a:bodyPr>
          <a:lstStyle/>
          <a:p>
            <a:r>
              <a:rPr lang="en-US" sz="3600"/>
              <a:t>Some DXC EDI references</a:t>
            </a:r>
          </a:p>
        </p:txBody>
      </p:sp>
      <p:sp>
        <p:nvSpPr>
          <p:cNvPr id="111" name="Rectangle: Single Corner Rounded 110">
            <a:extLst>
              <a:ext uri="{FF2B5EF4-FFF2-40B4-BE49-F238E27FC236}">
                <a16:creationId xmlns:a16="http://schemas.microsoft.com/office/drawing/2014/main" id="{ACF2DA70-54D8-447F-917F-C4CCD4E1A436}"/>
              </a:ext>
            </a:extLst>
          </p:cNvPr>
          <p:cNvSpPr/>
          <p:nvPr/>
        </p:nvSpPr>
        <p:spPr>
          <a:xfrm>
            <a:off x="5252028" y="1570404"/>
            <a:ext cx="4206240" cy="726176"/>
          </a:xfrm>
          <a:prstGeom prst="round1Rect">
            <a:avLst/>
          </a:prstGeom>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sp>
        <p:nvSpPr>
          <p:cNvPr id="139" name="Rectangle: Single Corner Rounded 138">
            <a:extLst>
              <a:ext uri="{FF2B5EF4-FFF2-40B4-BE49-F238E27FC236}">
                <a16:creationId xmlns:a16="http://schemas.microsoft.com/office/drawing/2014/main" id="{B063FEDB-AA30-45B7-9BE9-4C6585712F1B}"/>
              </a:ext>
            </a:extLst>
          </p:cNvPr>
          <p:cNvSpPr/>
          <p:nvPr/>
        </p:nvSpPr>
        <p:spPr>
          <a:xfrm>
            <a:off x="669643" y="1570404"/>
            <a:ext cx="4206240" cy="726176"/>
          </a:xfrm>
          <a:prstGeom prst="round1Rect">
            <a:avLst/>
          </a:prstGeom>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81">
            <a:extLst>
              <a:ext uri="{FF2B5EF4-FFF2-40B4-BE49-F238E27FC236}">
                <a16:creationId xmlns:a16="http://schemas.microsoft.com/office/drawing/2014/main" id="{C297B1C3-8F1C-4755-818D-CC1B34BFA422}"/>
              </a:ext>
            </a:extLst>
          </p:cNvPr>
          <p:cNvSpPr/>
          <p:nvPr/>
        </p:nvSpPr>
        <p:spPr>
          <a:xfrm>
            <a:off x="687649" y="2343810"/>
            <a:ext cx="4170228" cy="5021551"/>
          </a:xfrm>
          <a:prstGeom prst="rect">
            <a:avLst/>
          </a:prstGeom>
          <a:solidFill>
            <a:schemeClr val="bg1"/>
          </a:solidFill>
          <a:ln w="31750">
            <a:noFill/>
          </a:ln>
          <a:effectLst>
            <a:outerShdw blurRad="50800" dist="38100" dir="2700000" algn="tl" rotWithShape="0">
              <a:prstClr val="black">
                <a:alpha val="40000"/>
              </a:prstClr>
            </a:outerShdw>
          </a:effectLst>
        </p:spPr>
        <p:txBody>
          <a:bodyPr rot="0" spcFirstLastPara="0" vertOverflow="overflow" horzOverflow="overflow" vert="horz" wrap="square" lIns="144000" tIns="612000" rIns="91440" bIns="45720" numCol="1" spcCol="0" rtlCol="0" fromWordArt="0" anchor="t" anchorCtr="0" forceAA="0" compatLnSpc="1">
            <a:prstTxWarp prst="textNoShape">
              <a:avLst/>
            </a:prstTxWarp>
            <a:noAutofit/>
          </a:bodyPr>
          <a:lstStyle/>
          <a:p>
            <a:pPr marL="273050" marR="0" lvl="0" indent="-214313" defTabSz="1462981" eaLnBrk="1" fontAlgn="auto" latinLnBrk="0" hangingPunct="1">
              <a:lnSpc>
                <a:spcPct val="100000"/>
              </a:lnSpc>
              <a:spcBef>
                <a:spcPts val="0"/>
              </a:spcBef>
              <a:spcAft>
                <a:spcPts val="1300"/>
              </a:spcAft>
              <a:buClrTx/>
              <a:buSzTx/>
              <a:buFont typeface="Arial" panose="020B0604020202020204" pitchFamily="34" charset="0"/>
              <a:buChar char="•"/>
              <a:tabLst/>
              <a:defRPr/>
            </a:pPr>
            <a:endParaRPr kumimoji="0" lang="en-US" sz="1400" b="0" i="0" u="none" strike="noStrike" kern="0" cap="none" spc="0" normalizeH="0" baseline="0">
              <a:ln>
                <a:noFill/>
              </a:ln>
              <a:solidFill>
                <a:schemeClr val="bg1"/>
              </a:solidFill>
              <a:effectLst/>
              <a:uLnTx/>
              <a:uFillTx/>
              <a:latin typeface="Arial"/>
              <a:ea typeface="+mn-ea"/>
              <a:cs typeface="+mn-cs"/>
            </a:endParaRPr>
          </a:p>
        </p:txBody>
      </p:sp>
      <p:sp>
        <p:nvSpPr>
          <p:cNvPr id="133" name="Rectangle 78">
            <a:extLst>
              <a:ext uri="{FF2B5EF4-FFF2-40B4-BE49-F238E27FC236}">
                <a16:creationId xmlns:a16="http://schemas.microsoft.com/office/drawing/2014/main" id="{22A9B9A5-31F1-469D-BD95-241878EDCEB5}"/>
              </a:ext>
            </a:extLst>
          </p:cNvPr>
          <p:cNvSpPr/>
          <p:nvPr/>
        </p:nvSpPr>
        <p:spPr>
          <a:xfrm>
            <a:off x="5257940" y="2356167"/>
            <a:ext cx="4194417" cy="5021557"/>
          </a:xfrm>
          <a:prstGeom prst="rect">
            <a:avLst/>
          </a:prstGeom>
          <a:solidFill>
            <a:schemeClr val="bg1"/>
          </a:solidFill>
          <a:ln w="31750">
            <a:noFill/>
          </a:ln>
          <a:effectLst>
            <a:outerShdw blurRad="50800" dist="38100" dir="2700000" algn="tl" rotWithShape="0">
              <a:prstClr val="black">
                <a:alpha val="40000"/>
              </a:prstClr>
            </a:outerShdw>
          </a:effectLst>
        </p:spPr>
        <p:txBody>
          <a:bodyPr rot="0" spcFirstLastPara="0" vertOverflow="overflow" horzOverflow="overflow" vert="horz" wrap="square" lIns="144000" tIns="612000" rIns="91440" bIns="45720" numCol="1" spcCol="0" rtlCol="0" fromWordArt="0" anchor="t" anchorCtr="0" forceAA="0" compatLnSpc="1">
            <a:prstTxWarp prst="textNoShape">
              <a:avLst/>
            </a:prstTxWarp>
            <a:noAutofit/>
          </a:bodyPr>
          <a:lstStyle/>
          <a:p>
            <a:pPr marL="715963" marR="0" lvl="0" indent="-115888" defTabSz="616476" eaLnBrk="1" fontAlgn="auto" latinLnBrk="0" hangingPunct="1">
              <a:lnSpc>
                <a:spcPct val="100000"/>
              </a:lnSpc>
              <a:spcBef>
                <a:spcPts val="0"/>
              </a:spcBef>
              <a:spcAft>
                <a:spcPts val="100"/>
              </a:spcAft>
              <a:buClrTx/>
              <a:buSzTx/>
              <a:buFontTx/>
              <a:buNone/>
              <a:tabLst/>
              <a:defRPr/>
            </a:pPr>
            <a:endParaRPr kumimoji="0" lang="en-US" sz="1100" b="0" i="0" u="none" strike="noStrike" kern="0" cap="none" spc="0" normalizeH="0" baseline="0">
              <a:ln>
                <a:noFill/>
              </a:ln>
              <a:solidFill>
                <a:srgbClr val="000000"/>
              </a:solidFill>
              <a:effectLst/>
              <a:uLnTx/>
              <a:uFillTx/>
              <a:latin typeface="Arial"/>
              <a:ea typeface="+mn-ea"/>
              <a:cs typeface="+mn-cs"/>
            </a:endParaRPr>
          </a:p>
        </p:txBody>
      </p:sp>
      <p:sp>
        <p:nvSpPr>
          <p:cNvPr id="135" name="Rectangle 72">
            <a:extLst>
              <a:ext uri="{FF2B5EF4-FFF2-40B4-BE49-F238E27FC236}">
                <a16:creationId xmlns:a16="http://schemas.microsoft.com/office/drawing/2014/main" id="{CAA754EE-D40C-402F-A25D-4EC02C0359CA}"/>
              </a:ext>
            </a:extLst>
          </p:cNvPr>
          <p:cNvSpPr/>
          <p:nvPr/>
        </p:nvSpPr>
        <p:spPr>
          <a:xfrm>
            <a:off x="9711145" y="2343810"/>
            <a:ext cx="4170228" cy="5021551"/>
          </a:xfrm>
          <a:prstGeom prst="rect">
            <a:avLst/>
          </a:prstGeom>
          <a:solidFill>
            <a:schemeClr val="bg1"/>
          </a:solidFill>
          <a:ln w="28575">
            <a:noFill/>
          </a:ln>
          <a:effectLst>
            <a:outerShdw blurRad="50800" dist="38100" dir="2700000" algn="tl" rotWithShape="0">
              <a:prstClr val="black">
                <a:alpha val="40000"/>
              </a:prstClr>
            </a:outerShdw>
          </a:effectLst>
        </p:spPr>
        <p:txBody>
          <a:bodyPr rot="0" spcFirstLastPara="0" vertOverflow="overflow" horzOverflow="overflow" vert="horz" wrap="square" lIns="144000" tIns="612000" rIns="91440" bIns="45720" numCol="1" spcCol="0" rtlCol="0" fromWordArt="0" anchor="t" anchorCtr="0" forceAA="0" compatLnSpc="1">
            <a:prstTxWarp prst="textNoShape">
              <a:avLst/>
            </a:prstTxWarp>
            <a:noAutofit/>
          </a:bodyPr>
          <a:lstStyle/>
          <a:p>
            <a:pPr marL="0" marR="0" lvl="0" indent="0" defTabSz="616476" eaLnBrk="1" fontAlgn="auto" latinLnBrk="0" hangingPunct="1">
              <a:lnSpc>
                <a:spcPct val="100000"/>
              </a:lnSpc>
              <a:spcBef>
                <a:spcPts val="0"/>
              </a:spcBef>
              <a:spcAft>
                <a:spcPts val="1300"/>
              </a:spcAft>
              <a:buClrTx/>
              <a:buSzTx/>
              <a:buFontTx/>
              <a:buNone/>
              <a:tabLst/>
              <a:defRPr/>
            </a:pPr>
            <a:endParaRPr kumimoji="0" lang="en-US" sz="1400" b="1" i="0" u="none" strike="noStrike" kern="0" cap="none" spc="0" normalizeH="0" baseline="0">
              <a:ln>
                <a:noFill/>
              </a:ln>
              <a:solidFill>
                <a:srgbClr val="000000"/>
              </a:solidFill>
              <a:effectLst/>
              <a:uLnTx/>
              <a:uFillTx/>
              <a:latin typeface="Arial"/>
              <a:ea typeface="+mn-ea"/>
              <a:cs typeface="+mn-cs"/>
            </a:endParaRPr>
          </a:p>
          <a:p>
            <a:pPr marL="0" marR="0" lvl="0" indent="0" defTabSz="616476" eaLnBrk="1" fontAlgn="auto" latinLnBrk="0" hangingPunct="1">
              <a:lnSpc>
                <a:spcPct val="100000"/>
              </a:lnSpc>
              <a:spcBef>
                <a:spcPts val="0"/>
              </a:spcBef>
              <a:spcAft>
                <a:spcPts val="1300"/>
              </a:spcAft>
              <a:buClrTx/>
              <a:buSzTx/>
              <a:buFontTx/>
              <a:buNone/>
              <a:tabLst/>
              <a:defRPr/>
            </a:pPr>
            <a:endParaRPr kumimoji="0" lang="en-US" sz="1400" b="1" i="0" u="none" strike="noStrike" kern="0" cap="none" spc="0" normalizeH="0" baseline="0">
              <a:ln>
                <a:noFill/>
              </a:ln>
              <a:solidFill>
                <a:srgbClr val="000000"/>
              </a:solidFill>
              <a:effectLst/>
              <a:uLnTx/>
              <a:uFillTx/>
              <a:latin typeface="Arial"/>
              <a:ea typeface="+mn-ea"/>
              <a:cs typeface="+mn-cs"/>
            </a:endParaRPr>
          </a:p>
        </p:txBody>
      </p:sp>
      <p:sp>
        <p:nvSpPr>
          <p:cNvPr id="112" name="Rectangle: Single Corner Rounded 111">
            <a:extLst>
              <a:ext uri="{FF2B5EF4-FFF2-40B4-BE49-F238E27FC236}">
                <a16:creationId xmlns:a16="http://schemas.microsoft.com/office/drawing/2014/main" id="{B64F0CCC-831B-4107-9168-5B16D0662C6A}"/>
              </a:ext>
            </a:extLst>
          </p:cNvPr>
          <p:cNvSpPr/>
          <p:nvPr/>
        </p:nvSpPr>
        <p:spPr>
          <a:xfrm>
            <a:off x="9693139" y="1570404"/>
            <a:ext cx="4206240" cy="726176"/>
          </a:xfrm>
          <a:prstGeom prst="round1Rect">
            <a:avLst/>
          </a:prstGeom>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110" name="Picture 109" descr="Logo, company name&#10;&#10;Description automatically generated">
            <a:extLst>
              <a:ext uri="{FF2B5EF4-FFF2-40B4-BE49-F238E27FC236}">
                <a16:creationId xmlns:a16="http://schemas.microsoft.com/office/drawing/2014/main" id="{AE5DE801-C870-4E4C-95A7-89BA4A4DD090}"/>
              </a:ext>
            </a:extLst>
          </p:cNvPr>
          <p:cNvPicPr>
            <a:picLocks noChangeAspect="1"/>
          </p:cNvPicPr>
          <p:nvPr/>
        </p:nvPicPr>
        <p:blipFill>
          <a:blip r:embed="rId3" cstate="screen">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tretch>
            <a:fillRect/>
          </a:stretch>
        </p:blipFill>
        <p:spPr>
          <a:xfrm>
            <a:off x="1822781" y="1509184"/>
            <a:ext cx="1899965" cy="919368"/>
          </a:xfrm>
          <a:prstGeom prst="rect">
            <a:avLst/>
          </a:prstGeom>
        </p:spPr>
      </p:pic>
      <p:sp>
        <p:nvSpPr>
          <p:cNvPr id="113" name="Content Placeholder 4">
            <a:extLst>
              <a:ext uri="{FF2B5EF4-FFF2-40B4-BE49-F238E27FC236}">
                <a16:creationId xmlns:a16="http://schemas.microsoft.com/office/drawing/2014/main" id="{5A4FB488-6322-4493-9A7C-88C42F62BC28}"/>
              </a:ext>
            </a:extLst>
          </p:cNvPr>
          <p:cNvSpPr txBox="1">
            <a:spLocks/>
          </p:cNvSpPr>
          <p:nvPr/>
        </p:nvSpPr>
        <p:spPr bwMode="gray">
          <a:xfrm>
            <a:off x="1084379" y="2524093"/>
            <a:ext cx="3376767" cy="3365024"/>
          </a:xfrm>
          <a:prstGeom prst="rect">
            <a:avLst/>
          </a:prstGeom>
          <a:noFill/>
        </p:spPr>
        <p:txBody>
          <a:bodyPr vert="horz" wrap="square" lIns="0" tIns="0" rIns="0" bIns="0" rtlCol="0" anchor="t" anchorCtr="0">
            <a:spAutoFit/>
          </a:bodyPr>
          <a:lstStyle>
            <a:lvl1pPr marL="0" indent="0" algn="l" defTabSz="969710" rtl="0" eaLnBrk="1" latinLnBrk="0" hangingPunct="1">
              <a:spcBef>
                <a:spcPts val="795"/>
              </a:spcBef>
              <a:buFontTx/>
              <a:buNone/>
              <a:defRPr sz="1326" b="1" kern="1200">
                <a:solidFill>
                  <a:schemeClr val="tx1"/>
                </a:solidFill>
                <a:latin typeface="+mn-lt"/>
                <a:ea typeface="+mn-ea"/>
                <a:cs typeface="+mn-cs"/>
              </a:defRPr>
            </a:lvl1pPr>
            <a:lvl2pPr marL="0" indent="0" algn="l" defTabSz="969710" rtl="0" eaLnBrk="1" latinLnBrk="0" hangingPunct="1">
              <a:spcBef>
                <a:spcPts val="795"/>
              </a:spcBef>
              <a:buFontTx/>
              <a:buNone/>
              <a:defRPr sz="1326" kern="1200">
                <a:solidFill>
                  <a:schemeClr val="tx1"/>
                </a:solidFill>
                <a:latin typeface="+mn-lt"/>
                <a:ea typeface="+mn-ea"/>
                <a:cs typeface="+mn-cs"/>
              </a:defRPr>
            </a:lvl2pPr>
            <a:lvl3pPr marL="151517" indent="-151517" algn="l" defTabSz="969710" rtl="0" eaLnBrk="1" latinLnBrk="0" hangingPunct="1">
              <a:spcBef>
                <a:spcPts val="795"/>
              </a:spcBef>
              <a:buFont typeface="Arial" pitchFamily="34" charset="0"/>
              <a:buChar char="•"/>
              <a:tabLst/>
              <a:defRPr sz="1326" kern="1200">
                <a:solidFill>
                  <a:schemeClr val="tx1"/>
                </a:solidFill>
                <a:latin typeface="+mn-lt"/>
                <a:ea typeface="+mn-ea"/>
                <a:cs typeface="+mn-cs"/>
              </a:defRPr>
            </a:lvl3pPr>
            <a:lvl4pPr marL="303034"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4pPr>
            <a:lvl5pPr marL="454552"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5pPr>
            <a:lvl6pPr marL="606069" indent="-151517" algn="l" defTabSz="969710" rtl="0" eaLnBrk="1" latinLnBrk="0" hangingPunct="1">
              <a:spcBef>
                <a:spcPts val="398"/>
              </a:spcBef>
              <a:buFont typeface="Arial" pitchFamily="34" charset="0"/>
              <a:buChar char="–"/>
              <a:defRPr sz="1326" kern="1200">
                <a:solidFill>
                  <a:schemeClr val="tx1"/>
                </a:solidFill>
                <a:latin typeface="+mn-lt"/>
                <a:ea typeface="+mn-ea"/>
                <a:cs typeface="+mn-cs"/>
              </a:defRPr>
            </a:lvl6pPr>
            <a:lvl7pPr marL="757586"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7pPr>
            <a:lvl8pPr marL="909103" indent="-151517" algn="l" defTabSz="969710" rtl="0" eaLnBrk="1" latinLnBrk="0" hangingPunct="1">
              <a:spcBef>
                <a:spcPts val="398"/>
              </a:spcBef>
              <a:buFont typeface="Arial" pitchFamily="34" charset="0"/>
              <a:buChar char="–"/>
              <a:defRPr sz="1326" kern="1200" baseline="0">
                <a:solidFill>
                  <a:schemeClr val="tx1"/>
                </a:solidFill>
                <a:latin typeface="+mn-lt"/>
                <a:ea typeface="+mn-ea"/>
                <a:cs typeface="+mn-cs"/>
              </a:defRPr>
            </a:lvl8pPr>
            <a:lvl9pPr marL="1060621" indent="-151517" algn="l" defTabSz="969710" rtl="0" eaLnBrk="1" latinLnBrk="0" hangingPunct="1">
              <a:spcBef>
                <a:spcPts val="398"/>
              </a:spcBef>
              <a:buFont typeface="Arial" pitchFamily="34" charset="0"/>
              <a:buChar char="–"/>
              <a:tabLst/>
              <a:defRPr sz="1326" kern="1200" baseline="0">
                <a:solidFill>
                  <a:schemeClr val="tx1"/>
                </a:solidFill>
                <a:latin typeface="+mn-lt"/>
                <a:ea typeface="+mn-ea"/>
                <a:cs typeface="+mn-cs"/>
              </a:defRPr>
            </a:lvl9pPr>
          </a:lstStyle>
          <a:p>
            <a:pPr defTabSz="969671">
              <a:spcBef>
                <a:spcPts val="400"/>
              </a:spcBef>
              <a:defRPr/>
            </a:pPr>
            <a:r>
              <a:rPr lang="en-US" sz="2000" err="1">
                <a:solidFill>
                  <a:schemeClr val="accent1"/>
                </a:solidFill>
                <a:latin typeface="Arial"/>
              </a:rPr>
              <a:t>Ceva</a:t>
            </a:r>
            <a:r>
              <a:rPr lang="en-US" sz="2000">
                <a:solidFill>
                  <a:schemeClr val="accent1"/>
                </a:solidFill>
                <a:latin typeface="Arial"/>
              </a:rPr>
              <a:t> Logistics (GEFCO)</a:t>
            </a: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endParaRPr lang="en-US" sz="1600" b="1">
              <a:solidFill>
                <a:srgbClr val="464646"/>
              </a:solidFill>
              <a:latin typeface="Arial"/>
              <a:ea typeface="MS PGothic" panose="020B0600070205080204" pitchFamily="34" charset="-128"/>
            </a:endParaRP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Took over struggling EDI operations in 2015. Extended in 2020, further 5 years. </a:t>
            </a: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DXC successfully migrated 600 mappings, 4.000+ physical connections, 20.000+ trading partner relationships</a:t>
            </a:r>
            <a:r>
              <a:rPr lang="en-US" sz="1600" b="1">
                <a:solidFill>
                  <a:srgbClr val="464646"/>
                </a:solidFill>
                <a:latin typeface="Arial"/>
                <a:ea typeface="MS PGothic" panose="020B0600070205080204" pitchFamily="34" charset="-128"/>
              </a:rPr>
              <a:t>.</a:t>
            </a:r>
          </a:p>
          <a:p>
            <a:pPr marL="168275" indent="-168275" defTabSz="1097280" eaLnBrk="0" fontAlgn="base" hangingPunct="0">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All EDI activities run 7*24 by DXC</a:t>
            </a:r>
            <a:br>
              <a:rPr lang="en-US" sz="1600" b="1">
                <a:solidFill>
                  <a:srgbClr val="464646"/>
                </a:solidFill>
                <a:latin typeface="Arial"/>
                <a:ea typeface="MS PGothic" panose="020B0600070205080204" pitchFamily="34" charset="-128"/>
              </a:rPr>
            </a:br>
            <a:endParaRPr lang="en-US" sz="1600" b="1">
              <a:solidFill>
                <a:srgbClr val="464646"/>
              </a:solidFill>
              <a:latin typeface="Arial"/>
              <a:ea typeface="MS PGothic" panose="020B0600070205080204" pitchFamily="34" charset="-128"/>
            </a:endParaRP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br>
              <a:rPr lang="en-US" sz="1600" b="1">
                <a:solidFill>
                  <a:srgbClr val="464646"/>
                </a:solidFill>
                <a:latin typeface="Arial"/>
                <a:ea typeface="MS PGothic" panose="020B0600070205080204" pitchFamily="34" charset="-128"/>
              </a:rPr>
            </a:br>
            <a:endParaRPr lang="en-US" sz="1600" b="1">
              <a:solidFill>
                <a:srgbClr val="464646"/>
              </a:solidFill>
              <a:latin typeface="Arial"/>
              <a:ea typeface="MS PGothic" panose="020B0600070205080204" pitchFamily="34" charset="-128"/>
            </a:endParaRPr>
          </a:p>
        </p:txBody>
      </p:sp>
      <p:graphicFrame>
        <p:nvGraphicFramePr>
          <p:cNvPr id="114" name="Table 4">
            <a:extLst>
              <a:ext uri="{FF2B5EF4-FFF2-40B4-BE49-F238E27FC236}">
                <a16:creationId xmlns:a16="http://schemas.microsoft.com/office/drawing/2014/main" id="{A0B72448-0C07-4E0E-AAA5-5291009859B8}"/>
              </a:ext>
            </a:extLst>
          </p:cNvPr>
          <p:cNvGraphicFramePr>
            <a:graphicFrameLocks noGrp="1"/>
          </p:cNvGraphicFramePr>
          <p:nvPr/>
        </p:nvGraphicFramePr>
        <p:xfrm>
          <a:off x="1084379" y="5384076"/>
          <a:ext cx="3376767" cy="1568208"/>
        </p:xfrm>
        <a:graphic>
          <a:graphicData uri="http://schemas.openxmlformats.org/drawingml/2006/table">
            <a:tbl>
              <a:tblPr firstRow="1" bandRow="1">
                <a:tableStyleId>{5940675A-B579-460E-94D1-54222C63F5DA}</a:tableStyleId>
              </a:tblPr>
              <a:tblGrid>
                <a:gridCol w="2125637">
                  <a:extLst>
                    <a:ext uri="{9D8B030D-6E8A-4147-A177-3AD203B41FA5}">
                      <a16:colId xmlns:a16="http://schemas.microsoft.com/office/drawing/2014/main" val="1197243584"/>
                    </a:ext>
                  </a:extLst>
                </a:gridCol>
                <a:gridCol w="1251130">
                  <a:extLst>
                    <a:ext uri="{9D8B030D-6E8A-4147-A177-3AD203B41FA5}">
                      <a16:colId xmlns:a16="http://schemas.microsoft.com/office/drawing/2014/main" val="2342011741"/>
                    </a:ext>
                  </a:extLst>
                </a:gridCol>
              </a:tblGrid>
              <a:tr h="522736">
                <a:tc>
                  <a:txBody>
                    <a:bodyPr/>
                    <a:lstStyle/>
                    <a:p>
                      <a:r>
                        <a:rPr lang="en-US" sz="1400" b="1" noProof="0">
                          <a:solidFill>
                            <a:schemeClr val="accent1"/>
                          </a:solidFill>
                        </a:rPr>
                        <a:t>Partners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&gt;7.600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58687203"/>
                  </a:ext>
                </a:extLst>
              </a:tr>
              <a:tr h="522736">
                <a:tc>
                  <a:txBody>
                    <a:bodyPr/>
                    <a:lstStyle/>
                    <a:p>
                      <a:r>
                        <a:rPr lang="en-US" sz="1400" b="1" noProof="0">
                          <a:solidFill>
                            <a:schemeClr val="accent1"/>
                          </a:solidFill>
                        </a:rPr>
                        <a:t>Maps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400" noProof="0"/>
                        <a:t>&gt;770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79364931"/>
                  </a:ext>
                </a:extLst>
              </a:tr>
              <a:tr h="522736">
                <a:tc>
                  <a:txBody>
                    <a:bodyPr/>
                    <a:lstStyle/>
                    <a:p>
                      <a:r>
                        <a:rPr lang="en-US" sz="1400" b="1" noProof="0">
                          <a:solidFill>
                            <a:schemeClr val="accent1"/>
                          </a:solidFill>
                        </a:rPr>
                        <a:t>Transactions per month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&gt;150 mio</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8082854"/>
                  </a:ext>
                </a:extLst>
              </a:tr>
            </a:tbl>
          </a:graphicData>
        </a:graphic>
      </p:graphicFrame>
      <p:pic>
        <p:nvPicPr>
          <p:cNvPr id="115" name="Picture 114" descr="Logo&#10;&#10;Description automatically generated">
            <a:extLst>
              <a:ext uri="{FF2B5EF4-FFF2-40B4-BE49-F238E27FC236}">
                <a16:creationId xmlns:a16="http://schemas.microsoft.com/office/drawing/2014/main" id="{E7257E79-6823-4D3F-B2ED-5531A0C82691}"/>
              </a:ext>
            </a:extLst>
          </p:cNvPr>
          <p:cNvPicPr>
            <a:picLocks noChangeAspect="1"/>
          </p:cNvPicPr>
          <p:nvPr/>
        </p:nvPicPr>
        <p:blipFill>
          <a:blip r:embed="rId5" cstate="screen">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a:ext>
            </a:extLst>
          </a:blip>
          <a:stretch>
            <a:fillRect/>
          </a:stretch>
        </p:blipFill>
        <p:spPr>
          <a:xfrm>
            <a:off x="6224888" y="1694328"/>
            <a:ext cx="2260521" cy="532164"/>
          </a:xfrm>
          <a:prstGeom prst="rect">
            <a:avLst/>
          </a:prstGeom>
        </p:spPr>
      </p:pic>
      <p:sp>
        <p:nvSpPr>
          <p:cNvPr id="116" name="Content Placeholder 4">
            <a:extLst>
              <a:ext uri="{FF2B5EF4-FFF2-40B4-BE49-F238E27FC236}">
                <a16:creationId xmlns:a16="http://schemas.microsoft.com/office/drawing/2014/main" id="{84DA0277-BBBD-4063-BDAA-A1CF520632F5}"/>
              </a:ext>
            </a:extLst>
          </p:cNvPr>
          <p:cNvSpPr txBox="1">
            <a:spLocks/>
          </p:cNvSpPr>
          <p:nvPr/>
        </p:nvSpPr>
        <p:spPr bwMode="gray">
          <a:xfrm>
            <a:off x="5626816" y="2524093"/>
            <a:ext cx="3376767" cy="1836400"/>
          </a:xfrm>
          <a:prstGeom prst="rect">
            <a:avLst/>
          </a:prstGeom>
          <a:noFill/>
        </p:spPr>
        <p:txBody>
          <a:bodyPr vert="horz" wrap="square" lIns="0" tIns="0" rIns="0" bIns="0" rtlCol="0" anchor="t" anchorCtr="0">
            <a:spAutoFit/>
          </a:bodyPr>
          <a:lstStyle>
            <a:lvl1pPr marL="0" indent="0" algn="l" defTabSz="969710" rtl="0" eaLnBrk="1" latinLnBrk="0" hangingPunct="1">
              <a:spcBef>
                <a:spcPts val="795"/>
              </a:spcBef>
              <a:buFontTx/>
              <a:buNone/>
              <a:defRPr sz="1326" b="1" kern="1200">
                <a:solidFill>
                  <a:schemeClr val="tx1"/>
                </a:solidFill>
                <a:latin typeface="+mn-lt"/>
                <a:ea typeface="+mn-ea"/>
                <a:cs typeface="+mn-cs"/>
              </a:defRPr>
            </a:lvl1pPr>
            <a:lvl2pPr marL="0" indent="0" algn="l" defTabSz="969710" rtl="0" eaLnBrk="1" latinLnBrk="0" hangingPunct="1">
              <a:spcBef>
                <a:spcPts val="795"/>
              </a:spcBef>
              <a:buFontTx/>
              <a:buNone/>
              <a:defRPr sz="1326" kern="1200">
                <a:solidFill>
                  <a:schemeClr val="tx1"/>
                </a:solidFill>
                <a:latin typeface="+mn-lt"/>
                <a:ea typeface="+mn-ea"/>
                <a:cs typeface="+mn-cs"/>
              </a:defRPr>
            </a:lvl2pPr>
            <a:lvl3pPr marL="151517" indent="-151517" algn="l" defTabSz="969710" rtl="0" eaLnBrk="1" latinLnBrk="0" hangingPunct="1">
              <a:spcBef>
                <a:spcPts val="795"/>
              </a:spcBef>
              <a:buFont typeface="Arial" pitchFamily="34" charset="0"/>
              <a:buChar char="•"/>
              <a:tabLst/>
              <a:defRPr sz="1326" kern="1200">
                <a:solidFill>
                  <a:schemeClr val="tx1"/>
                </a:solidFill>
                <a:latin typeface="+mn-lt"/>
                <a:ea typeface="+mn-ea"/>
                <a:cs typeface="+mn-cs"/>
              </a:defRPr>
            </a:lvl3pPr>
            <a:lvl4pPr marL="303034"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4pPr>
            <a:lvl5pPr marL="454552"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5pPr>
            <a:lvl6pPr marL="606069" indent="-151517" algn="l" defTabSz="969710" rtl="0" eaLnBrk="1" latinLnBrk="0" hangingPunct="1">
              <a:spcBef>
                <a:spcPts val="398"/>
              </a:spcBef>
              <a:buFont typeface="Arial" pitchFamily="34" charset="0"/>
              <a:buChar char="–"/>
              <a:defRPr sz="1326" kern="1200">
                <a:solidFill>
                  <a:schemeClr val="tx1"/>
                </a:solidFill>
                <a:latin typeface="+mn-lt"/>
                <a:ea typeface="+mn-ea"/>
                <a:cs typeface="+mn-cs"/>
              </a:defRPr>
            </a:lvl6pPr>
            <a:lvl7pPr marL="757586"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7pPr>
            <a:lvl8pPr marL="909103" indent="-151517" algn="l" defTabSz="969710" rtl="0" eaLnBrk="1" latinLnBrk="0" hangingPunct="1">
              <a:spcBef>
                <a:spcPts val="398"/>
              </a:spcBef>
              <a:buFont typeface="Arial" pitchFamily="34" charset="0"/>
              <a:buChar char="–"/>
              <a:defRPr sz="1326" kern="1200" baseline="0">
                <a:solidFill>
                  <a:schemeClr val="tx1"/>
                </a:solidFill>
                <a:latin typeface="+mn-lt"/>
                <a:ea typeface="+mn-ea"/>
                <a:cs typeface="+mn-cs"/>
              </a:defRPr>
            </a:lvl8pPr>
            <a:lvl9pPr marL="1060621" indent="-151517" algn="l" defTabSz="969710" rtl="0" eaLnBrk="1" latinLnBrk="0" hangingPunct="1">
              <a:spcBef>
                <a:spcPts val="398"/>
              </a:spcBef>
              <a:buFont typeface="Arial" pitchFamily="34" charset="0"/>
              <a:buChar char="–"/>
              <a:tabLst/>
              <a:defRPr sz="1326" kern="1200" baseline="0">
                <a:solidFill>
                  <a:schemeClr val="tx1"/>
                </a:solidFill>
                <a:latin typeface="+mn-lt"/>
                <a:ea typeface="+mn-ea"/>
                <a:cs typeface="+mn-cs"/>
              </a:defRPr>
            </a:lvl9pPr>
          </a:lstStyle>
          <a:p>
            <a:pPr defTabSz="969671">
              <a:spcBef>
                <a:spcPts val="400"/>
              </a:spcBef>
              <a:defRPr/>
            </a:pPr>
            <a:r>
              <a:rPr lang="en-US" sz="2000">
                <a:solidFill>
                  <a:schemeClr val="accent1"/>
                </a:solidFill>
                <a:latin typeface="Arial"/>
              </a:rPr>
              <a:t>Triumph</a:t>
            </a: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endParaRPr lang="en-US" sz="1600" b="1">
              <a:solidFill>
                <a:srgbClr val="464646"/>
              </a:solidFill>
              <a:latin typeface="Arial"/>
              <a:ea typeface="MS PGothic" panose="020B0600070205080204" pitchFamily="34" charset="-128"/>
            </a:endParaRP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DXC executed migration from BIS 5 to BIS 6 in 2015</a:t>
            </a: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Operated SEEBURGER BIS Platform since 2015.</a:t>
            </a:r>
            <a:br>
              <a:rPr lang="en-US" sz="1600" b="1">
                <a:solidFill>
                  <a:srgbClr val="464646"/>
                </a:solidFill>
                <a:latin typeface="Arial"/>
                <a:ea typeface="MS PGothic" panose="020B0600070205080204" pitchFamily="34" charset="-128"/>
              </a:rPr>
            </a:br>
            <a:endParaRPr lang="en-US" sz="1600" b="1">
              <a:solidFill>
                <a:srgbClr val="464646"/>
              </a:solidFill>
              <a:latin typeface="Arial"/>
              <a:ea typeface="MS PGothic" panose="020B0600070205080204" pitchFamily="34" charset="-128"/>
            </a:endParaRPr>
          </a:p>
        </p:txBody>
      </p:sp>
      <p:graphicFrame>
        <p:nvGraphicFramePr>
          <p:cNvPr id="117" name="Table 4">
            <a:extLst>
              <a:ext uri="{FF2B5EF4-FFF2-40B4-BE49-F238E27FC236}">
                <a16:creationId xmlns:a16="http://schemas.microsoft.com/office/drawing/2014/main" id="{76DF9155-348D-44D4-9B66-FA12C61BD33D}"/>
              </a:ext>
            </a:extLst>
          </p:cNvPr>
          <p:cNvGraphicFramePr>
            <a:graphicFrameLocks noGrp="1"/>
          </p:cNvGraphicFramePr>
          <p:nvPr/>
        </p:nvGraphicFramePr>
        <p:xfrm>
          <a:off x="5626816" y="5384076"/>
          <a:ext cx="3376767" cy="1568208"/>
        </p:xfrm>
        <a:graphic>
          <a:graphicData uri="http://schemas.openxmlformats.org/drawingml/2006/table">
            <a:tbl>
              <a:tblPr firstRow="1" bandRow="1">
                <a:tableStyleId>{5940675A-B579-460E-94D1-54222C63F5DA}</a:tableStyleId>
              </a:tblPr>
              <a:tblGrid>
                <a:gridCol w="2125637">
                  <a:extLst>
                    <a:ext uri="{9D8B030D-6E8A-4147-A177-3AD203B41FA5}">
                      <a16:colId xmlns:a16="http://schemas.microsoft.com/office/drawing/2014/main" val="1197243584"/>
                    </a:ext>
                  </a:extLst>
                </a:gridCol>
                <a:gridCol w="1251130">
                  <a:extLst>
                    <a:ext uri="{9D8B030D-6E8A-4147-A177-3AD203B41FA5}">
                      <a16:colId xmlns:a16="http://schemas.microsoft.com/office/drawing/2014/main" val="2342011741"/>
                    </a:ext>
                  </a:extLst>
                </a:gridCol>
              </a:tblGrid>
              <a:tr h="522736">
                <a:tc>
                  <a:txBody>
                    <a:bodyPr/>
                    <a:lstStyle/>
                    <a:p>
                      <a:r>
                        <a:rPr lang="en-US" sz="1400" b="1" noProof="0">
                          <a:solidFill>
                            <a:schemeClr val="accent1"/>
                          </a:solidFill>
                        </a:rPr>
                        <a:t>Partners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&gt;2.000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58687203"/>
                  </a:ext>
                </a:extLst>
              </a:tr>
              <a:tr h="522736">
                <a:tc>
                  <a:txBody>
                    <a:bodyPr/>
                    <a:lstStyle/>
                    <a:p>
                      <a:r>
                        <a:rPr lang="en-US" sz="1400" b="1" noProof="0">
                          <a:solidFill>
                            <a:schemeClr val="accent1"/>
                          </a:solidFill>
                        </a:rPr>
                        <a:t>Maps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400" noProof="0"/>
                        <a:t>&gt;750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79364931"/>
                  </a:ext>
                </a:extLst>
              </a:tr>
              <a:tr h="522736">
                <a:tc>
                  <a:txBody>
                    <a:bodyPr/>
                    <a:lstStyle/>
                    <a:p>
                      <a:r>
                        <a:rPr lang="en-US" sz="1400" b="1" noProof="0">
                          <a:solidFill>
                            <a:schemeClr val="accent1"/>
                          </a:solidFill>
                        </a:rPr>
                        <a:t>Transactions per month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&gt;1 mio</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8082854"/>
                  </a:ext>
                </a:extLst>
              </a:tr>
            </a:tbl>
          </a:graphicData>
        </a:graphic>
      </p:graphicFrame>
      <p:pic>
        <p:nvPicPr>
          <p:cNvPr id="120" name="Picture 119" descr="Shape&#10;&#10;Description automatically generated with medium confidence">
            <a:extLst>
              <a:ext uri="{FF2B5EF4-FFF2-40B4-BE49-F238E27FC236}">
                <a16:creationId xmlns:a16="http://schemas.microsoft.com/office/drawing/2014/main" id="{0AC8F76D-291B-4D28-9803-A2F28107791C}"/>
              </a:ext>
            </a:extLst>
          </p:cNvPr>
          <p:cNvPicPr>
            <a:picLocks noChangeAspect="1"/>
          </p:cNvPicPr>
          <p:nvPr/>
        </p:nvPicPr>
        <p:blipFill rotWithShape="1">
          <a:blip r:embed="rId7" cstate="screen">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rcRect/>
          <a:stretch/>
        </p:blipFill>
        <p:spPr>
          <a:xfrm>
            <a:off x="10823519" y="1674130"/>
            <a:ext cx="1945481" cy="448497"/>
          </a:xfrm>
          <a:prstGeom prst="rect">
            <a:avLst/>
          </a:prstGeom>
        </p:spPr>
      </p:pic>
      <p:sp>
        <p:nvSpPr>
          <p:cNvPr id="121" name="Content Placeholder 4">
            <a:extLst>
              <a:ext uri="{FF2B5EF4-FFF2-40B4-BE49-F238E27FC236}">
                <a16:creationId xmlns:a16="http://schemas.microsoft.com/office/drawing/2014/main" id="{727CB692-11B6-44D2-9BDA-7CC7A81DA3F1}"/>
              </a:ext>
            </a:extLst>
          </p:cNvPr>
          <p:cNvSpPr txBox="1">
            <a:spLocks/>
          </p:cNvSpPr>
          <p:nvPr/>
        </p:nvSpPr>
        <p:spPr bwMode="gray">
          <a:xfrm>
            <a:off x="10107875" y="2590854"/>
            <a:ext cx="3376767" cy="1590179"/>
          </a:xfrm>
          <a:prstGeom prst="rect">
            <a:avLst/>
          </a:prstGeom>
          <a:noFill/>
        </p:spPr>
        <p:txBody>
          <a:bodyPr vert="horz" wrap="square" lIns="0" tIns="0" rIns="0" bIns="0" rtlCol="0" anchor="t" anchorCtr="0">
            <a:spAutoFit/>
          </a:bodyPr>
          <a:lstStyle>
            <a:lvl1pPr marL="0" indent="0" algn="l" defTabSz="969710" rtl="0" eaLnBrk="1" latinLnBrk="0" hangingPunct="1">
              <a:spcBef>
                <a:spcPts val="795"/>
              </a:spcBef>
              <a:buFontTx/>
              <a:buNone/>
              <a:defRPr sz="1326" b="1" kern="1200">
                <a:solidFill>
                  <a:schemeClr val="tx1"/>
                </a:solidFill>
                <a:latin typeface="+mn-lt"/>
                <a:ea typeface="+mn-ea"/>
                <a:cs typeface="+mn-cs"/>
              </a:defRPr>
            </a:lvl1pPr>
            <a:lvl2pPr marL="0" indent="0" algn="l" defTabSz="969710" rtl="0" eaLnBrk="1" latinLnBrk="0" hangingPunct="1">
              <a:spcBef>
                <a:spcPts val="795"/>
              </a:spcBef>
              <a:buFontTx/>
              <a:buNone/>
              <a:defRPr sz="1326" kern="1200">
                <a:solidFill>
                  <a:schemeClr val="tx1"/>
                </a:solidFill>
                <a:latin typeface="+mn-lt"/>
                <a:ea typeface="+mn-ea"/>
                <a:cs typeface="+mn-cs"/>
              </a:defRPr>
            </a:lvl2pPr>
            <a:lvl3pPr marL="151517" indent="-151517" algn="l" defTabSz="969710" rtl="0" eaLnBrk="1" latinLnBrk="0" hangingPunct="1">
              <a:spcBef>
                <a:spcPts val="795"/>
              </a:spcBef>
              <a:buFont typeface="Arial" pitchFamily="34" charset="0"/>
              <a:buChar char="•"/>
              <a:tabLst/>
              <a:defRPr sz="1326" kern="1200">
                <a:solidFill>
                  <a:schemeClr val="tx1"/>
                </a:solidFill>
                <a:latin typeface="+mn-lt"/>
                <a:ea typeface="+mn-ea"/>
                <a:cs typeface="+mn-cs"/>
              </a:defRPr>
            </a:lvl3pPr>
            <a:lvl4pPr marL="303034"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4pPr>
            <a:lvl5pPr marL="454552"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5pPr>
            <a:lvl6pPr marL="606069" indent="-151517" algn="l" defTabSz="969710" rtl="0" eaLnBrk="1" latinLnBrk="0" hangingPunct="1">
              <a:spcBef>
                <a:spcPts val="398"/>
              </a:spcBef>
              <a:buFont typeface="Arial" pitchFamily="34" charset="0"/>
              <a:buChar char="–"/>
              <a:defRPr sz="1326" kern="1200">
                <a:solidFill>
                  <a:schemeClr val="tx1"/>
                </a:solidFill>
                <a:latin typeface="+mn-lt"/>
                <a:ea typeface="+mn-ea"/>
                <a:cs typeface="+mn-cs"/>
              </a:defRPr>
            </a:lvl6pPr>
            <a:lvl7pPr marL="757586" indent="-151517" algn="l" defTabSz="969710" rtl="0" eaLnBrk="1" latinLnBrk="0" hangingPunct="1">
              <a:spcBef>
                <a:spcPts val="398"/>
              </a:spcBef>
              <a:buFont typeface="Arial" pitchFamily="34" charset="0"/>
              <a:buChar char="–"/>
              <a:tabLst/>
              <a:defRPr sz="1326" kern="1200">
                <a:solidFill>
                  <a:schemeClr val="tx1"/>
                </a:solidFill>
                <a:latin typeface="+mn-lt"/>
                <a:ea typeface="+mn-ea"/>
                <a:cs typeface="+mn-cs"/>
              </a:defRPr>
            </a:lvl7pPr>
            <a:lvl8pPr marL="909103" indent="-151517" algn="l" defTabSz="969710" rtl="0" eaLnBrk="1" latinLnBrk="0" hangingPunct="1">
              <a:spcBef>
                <a:spcPts val="398"/>
              </a:spcBef>
              <a:buFont typeface="Arial" pitchFamily="34" charset="0"/>
              <a:buChar char="–"/>
              <a:defRPr sz="1326" kern="1200" baseline="0">
                <a:solidFill>
                  <a:schemeClr val="tx1"/>
                </a:solidFill>
                <a:latin typeface="+mn-lt"/>
                <a:ea typeface="+mn-ea"/>
                <a:cs typeface="+mn-cs"/>
              </a:defRPr>
            </a:lvl8pPr>
            <a:lvl9pPr marL="1060621" indent="-151517" algn="l" defTabSz="969710" rtl="0" eaLnBrk="1" latinLnBrk="0" hangingPunct="1">
              <a:spcBef>
                <a:spcPts val="398"/>
              </a:spcBef>
              <a:buFont typeface="Arial" pitchFamily="34" charset="0"/>
              <a:buChar char="–"/>
              <a:tabLst/>
              <a:defRPr sz="1326" kern="1200" baseline="0">
                <a:solidFill>
                  <a:schemeClr val="tx1"/>
                </a:solidFill>
                <a:latin typeface="+mn-lt"/>
                <a:ea typeface="+mn-ea"/>
                <a:cs typeface="+mn-cs"/>
              </a:defRPr>
            </a:lvl9pPr>
          </a:lstStyle>
          <a:p>
            <a:pPr defTabSz="969671">
              <a:spcBef>
                <a:spcPts val="400"/>
              </a:spcBef>
              <a:defRPr/>
            </a:pPr>
            <a:r>
              <a:rPr lang="en-US" sz="2000">
                <a:solidFill>
                  <a:schemeClr val="accent1"/>
                </a:solidFill>
                <a:latin typeface="Arial"/>
              </a:rPr>
              <a:t>Adidas</a:t>
            </a:r>
            <a:endParaRPr lang="en-US" sz="1600">
              <a:solidFill>
                <a:srgbClr val="464646"/>
              </a:solidFill>
              <a:latin typeface="Arial"/>
              <a:ea typeface="MS PGothic" panose="020B0600070205080204" pitchFamily="34" charset="-128"/>
            </a:endParaRP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endParaRPr lang="en-US" sz="1600" b="1">
              <a:solidFill>
                <a:srgbClr val="464646"/>
              </a:solidFill>
              <a:latin typeface="Arial"/>
              <a:ea typeface="MS PGothic" panose="020B0600070205080204" pitchFamily="34" charset="-128"/>
            </a:endParaRP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DXC BES running EDI services since 1999. </a:t>
            </a:r>
          </a:p>
          <a:p>
            <a:pPr marL="168275" indent="-168275" defTabSz="1097280" eaLnBrk="0" fontAlgn="base" hangingPunct="0">
              <a:lnSpc>
                <a:spcPct val="100000"/>
              </a:lnSpc>
              <a:spcBef>
                <a:spcPts val="0"/>
              </a:spcBef>
              <a:spcAft>
                <a:spcPts val="200"/>
              </a:spcAft>
              <a:buClr>
                <a:srgbClr val="464646"/>
              </a:buClr>
              <a:buFont typeface="Arial" panose="020B0604020202020204" pitchFamily="34" charset="0"/>
              <a:buChar char="•"/>
            </a:pPr>
            <a:r>
              <a:rPr lang="en-US" sz="1600" b="0">
                <a:solidFill>
                  <a:srgbClr val="464646"/>
                </a:solidFill>
                <a:latin typeface="Arial"/>
                <a:ea typeface="MS PGothic" panose="020B0600070205080204" pitchFamily="34" charset="-128"/>
              </a:rPr>
              <a:t>All EDI activities run 7*24 by DXC</a:t>
            </a:r>
            <a:br>
              <a:rPr lang="en-US" sz="1600" b="1">
                <a:solidFill>
                  <a:srgbClr val="464646"/>
                </a:solidFill>
                <a:latin typeface="Arial"/>
                <a:ea typeface="MS PGothic" panose="020B0600070205080204" pitchFamily="34" charset="-128"/>
              </a:rPr>
            </a:br>
            <a:endParaRPr lang="en-US" sz="1600" b="1">
              <a:solidFill>
                <a:srgbClr val="464646"/>
              </a:solidFill>
              <a:latin typeface="Arial"/>
              <a:ea typeface="MS PGothic" panose="020B0600070205080204" pitchFamily="34" charset="-128"/>
            </a:endParaRPr>
          </a:p>
        </p:txBody>
      </p:sp>
      <p:graphicFrame>
        <p:nvGraphicFramePr>
          <p:cNvPr id="123" name="Table 4">
            <a:extLst>
              <a:ext uri="{FF2B5EF4-FFF2-40B4-BE49-F238E27FC236}">
                <a16:creationId xmlns:a16="http://schemas.microsoft.com/office/drawing/2014/main" id="{B673F1D3-A84A-4834-BE18-6BB650B950DE}"/>
              </a:ext>
            </a:extLst>
          </p:cNvPr>
          <p:cNvGraphicFramePr>
            <a:graphicFrameLocks noGrp="1"/>
          </p:cNvGraphicFramePr>
          <p:nvPr/>
        </p:nvGraphicFramePr>
        <p:xfrm>
          <a:off x="10107875" y="5384076"/>
          <a:ext cx="3376767" cy="1568208"/>
        </p:xfrm>
        <a:graphic>
          <a:graphicData uri="http://schemas.openxmlformats.org/drawingml/2006/table">
            <a:tbl>
              <a:tblPr firstRow="1" bandRow="1">
                <a:tableStyleId>{5940675A-B579-460E-94D1-54222C63F5DA}</a:tableStyleId>
              </a:tblPr>
              <a:tblGrid>
                <a:gridCol w="2125637">
                  <a:extLst>
                    <a:ext uri="{9D8B030D-6E8A-4147-A177-3AD203B41FA5}">
                      <a16:colId xmlns:a16="http://schemas.microsoft.com/office/drawing/2014/main" val="1197243584"/>
                    </a:ext>
                  </a:extLst>
                </a:gridCol>
                <a:gridCol w="1251130">
                  <a:extLst>
                    <a:ext uri="{9D8B030D-6E8A-4147-A177-3AD203B41FA5}">
                      <a16:colId xmlns:a16="http://schemas.microsoft.com/office/drawing/2014/main" val="2342011741"/>
                    </a:ext>
                  </a:extLst>
                </a:gridCol>
              </a:tblGrid>
              <a:tr h="522736">
                <a:tc>
                  <a:txBody>
                    <a:bodyPr/>
                    <a:lstStyle/>
                    <a:p>
                      <a:r>
                        <a:rPr lang="en-US" sz="1400" b="1" noProof="0">
                          <a:solidFill>
                            <a:schemeClr val="accent1"/>
                          </a:solidFill>
                        </a:rPr>
                        <a:t>Partners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&gt;730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958687203"/>
                  </a:ext>
                </a:extLst>
              </a:tr>
              <a:tr h="522736">
                <a:tc>
                  <a:txBody>
                    <a:bodyPr/>
                    <a:lstStyle/>
                    <a:p>
                      <a:r>
                        <a:rPr lang="en-US" sz="1400" b="1" noProof="0">
                          <a:solidFill>
                            <a:schemeClr val="accent1"/>
                          </a:solidFill>
                        </a:rPr>
                        <a:t>Maps</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r>
                        <a:rPr lang="en-US" sz="1400" noProof="0"/>
                        <a:t>&gt;780</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79364931"/>
                  </a:ext>
                </a:extLst>
              </a:tr>
              <a:tr h="522736">
                <a:tc>
                  <a:txBody>
                    <a:bodyPr/>
                    <a:lstStyle/>
                    <a:p>
                      <a:r>
                        <a:rPr lang="en-US" sz="1400" b="1" noProof="0">
                          <a:solidFill>
                            <a:schemeClr val="accent1"/>
                          </a:solidFill>
                        </a:rPr>
                        <a:t>Transactions per month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r>
                        <a:rPr lang="en-US" sz="1400" noProof="0"/>
                        <a:t>&gt;14 mio</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8082854"/>
                  </a:ext>
                </a:extLst>
              </a:tr>
            </a:tbl>
          </a:graphicData>
        </a:graphic>
      </p:graphicFrame>
    </p:spTree>
    <p:extLst>
      <p:ext uri="{BB962C8B-B14F-4D97-AF65-F5344CB8AC3E}">
        <p14:creationId xmlns:p14="http://schemas.microsoft.com/office/powerpoint/2010/main" val="123270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71886C-FEEB-45F9-9E70-0EDACBC4E11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5010448" y="1650313"/>
            <a:ext cx="4600360" cy="5714223"/>
          </a:xfrm>
          <a:prstGeom prst="rect">
            <a:avLst/>
          </a:prstGeom>
        </p:spPr>
      </p:pic>
      <p:sp>
        <p:nvSpPr>
          <p:cNvPr id="27" name="Rectangle 26">
            <a:extLst>
              <a:ext uri="{FF2B5EF4-FFF2-40B4-BE49-F238E27FC236}">
                <a16:creationId xmlns:a16="http://schemas.microsoft.com/office/drawing/2014/main" id="{7C2D3EB7-2F03-4988-BBD1-C78D2B256020}"/>
              </a:ext>
            </a:extLst>
          </p:cNvPr>
          <p:cNvSpPr/>
          <p:nvPr/>
        </p:nvSpPr>
        <p:spPr>
          <a:xfrm>
            <a:off x="9829802" y="2120487"/>
            <a:ext cx="4114798" cy="5244050"/>
          </a:xfrm>
          <a:prstGeom prst="rect">
            <a:avLst/>
          </a:prstGeom>
          <a:solidFill>
            <a:schemeClr val="bg1"/>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AFDBCF8-3A82-4585-BCF5-63C92598ED0B}"/>
              </a:ext>
            </a:extLst>
          </p:cNvPr>
          <p:cNvSpPr/>
          <p:nvPr/>
        </p:nvSpPr>
        <p:spPr>
          <a:xfrm>
            <a:off x="700078" y="2100848"/>
            <a:ext cx="4114798" cy="1416571"/>
          </a:xfrm>
          <a:prstGeom prst="rect">
            <a:avLst/>
          </a:prstGeom>
          <a:solidFill>
            <a:schemeClr val="bg1"/>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0D1B83E-C143-4431-A71C-7F96C747B2BA}"/>
              </a:ext>
            </a:extLst>
          </p:cNvPr>
          <p:cNvSpPr/>
          <p:nvPr/>
        </p:nvSpPr>
        <p:spPr>
          <a:xfrm>
            <a:off x="700078" y="4040831"/>
            <a:ext cx="4114798" cy="1416571"/>
          </a:xfrm>
          <a:prstGeom prst="rect">
            <a:avLst/>
          </a:prstGeom>
          <a:solidFill>
            <a:schemeClr val="bg1"/>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BC302DA5-E01B-4F76-A514-89623CDF1BA3}"/>
              </a:ext>
            </a:extLst>
          </p:cNvPr>
          <p:cNvSpPr/>
          <p:nvPr/>
        </p:nvSpPr>
        <p:spPr>
          <a:xfrm>
            <a:off x="700078" y="5947966"/>
            <a:ext cx="4114798" cy="1416571"/>
          </a:xfrm>
          <a:prstGeom prst="rect">
            <a:avLst/>
          </a:prstGeom>
          <a:solidFill>
            <a:schemeClr val="bg1"/>
          </a:solidFill>
          <a:ln>
            <a:noFill/>
          </a:ln>
          <a:effectLst>
            <a:outerShdw blurRad="50800" dist="38100" dir="2700000" algn="tl"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731330" y="623083"/>
            <a:ext cx="13163932" cy="565637"/>
          </a:xfrm>
        </p:spPr>
        <p:txBody>
          <a:bodyPr/>
          <a:lstStyle/>
          <a:p>
            <a:r>
              <a:rPr lang="en-US"/>
              <a:t>BES Automotive Industry Experience</a:t>
            </a:r>
          </a:p>
        </p:txBody>
      </p:sp>
      <p:sp>
        <p:nvSpPr>
          <p:cNvPr id="5" name="Rectangle: Single Corner Rounded 4">
            <a:extLst>
              <a:ext uri="{FF2B5EF4-FFF2-40B4-BE49-F238E27FC236}">
                <a16:creationId xmlns:a16="http://schemas.microsoft.com/office/drawing/2014/main" id="{D5D38B03-698A-4C76-AE89-28E618312AA8}"/>
              </a:ext>
            </a:extLst>
          </p:cNvPr>
          <p:cNvSpPr/>
          <p:nvPr/>
        </p:nvSpPr>
        <p:spPr>
          <a:xfrm>
            <a:off x="706050" y="3596442"/>
            <a:ext cx="4114798" cy="436798"/>
          </a:xfrm>
          <a:prstGeom prst="round1Rect">
            <a:avLst/>
          </a:prstGeom>
          <a:solidFill>
            <a:schemeClr val="accent1"/>
          </a:solidFill>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lIns="91440" rtlCol="0" anchor="ctr"/>
          <a:lstStyle/>
          <a:p>
            <a:pPr defTabSz="1462864">
              <a:defRPr/>
            </a:pPr>
            <a:r>
              <a:rPr lang="en-US" sz="1600" b="1">
                <a:solidFill>
                  <a:schemeClr val="bg1"/>
                </a:solidFill>
                <a:latin typeface="Arial"/>
              </a:rPr>
              <a:t>+2.000 managed &amp; supported mappings</a:t>
            </a:r>
          </a:p>
        </p:txBody>
      </p:sp>
      <p:pic>
        <p:nvPicPr>
          <p:cNvPr id="15" name="Graphic 14">
            <a:extLst>
              <a:ext uri="{FF2B5EF4-FFF2-40B4-BE49-F238E27FC236}">
                <a16:creationId xmlns:a16="http://schemas.microsoft.com/office/drawing/2014/main" id="{CF12303C-62DB-46DC-9A02-2FB2D49980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1462" y="2401924"/>
            <a:ext cx="457200" cy="342900"/>
          </a:xfrm>
          <a:prstGeom prst="rect">
            <a:avLst/>
          </a:prstGeom>
        </p:spPr>
      </p:pic>
      <p:pic>
        <p:nvPicPr>
          <p:cNvPr id="17" name="Graphic 16">
            <a:extLst>
              <a:ext uri="{FF2B5EF4-FFF2-40B4-BE49-F238E27FC236}">
                <a16:creationId xmlns:a16="http://schemas.microsoft.com/office/drawing/2014/main" id="{C4AB6629-B019-47DC-81DD-944C84F7CF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562" y="6327555"/>
            <a:ext cx="381000" cy="457200"/>
          </a:xfrm>
          <a:prstGeom prst="rect">
            <a:avLst/>
          </a:prstGeom>
        </p:spPr>
      </p:pic>
      <p:pic>
        <p:nvPicPr>
          <p:cNvPr id="18" name="Graphic 17">
            <a:extLst>
              <a:ext uri="{FF2B5EF4-FFF2-40B4-BE49-F238E27FC236}">
                <a16:creationId xmlns:a16="http://schemas.microsoft.com/office/drawing/2014/main" id="{765645BB-FA6B-4170-BD49-A9BC24CC062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7812" y="4302116"/>
            <a:ext cx="444500" cy="444500"/>
          </a:xfrm>
          <a:prstGeom prst="rect">
            <a:avLst/>
          </a:prstGeom>
        </p:spPr>
      </p:pic>
      <p:pic>
        <p:nvPicPr>
          <p:cNvPr id="19" name="Graphic 18">
            <a:extLst>
              <a:ext uri="{FF2B5EF4-FFF2-40B4-BE49-F238E27FC236}">
                <a16:creationId xmlns:a16="http://schemas.microsoft.com/office/drawing/2014/main" id="{30A89B47-76FA-4553-83B2-CB0E947491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65268" y="2309129"/>
            <a:ext cx="444500" cy="457200"/>
          </a:xfrm>
          <a:prstGeom prst="rect">
            <a:avLst/>
          </a:prstGeom>
        </p:spPr>
      </p:pic>
      <p:sp>
        <p:nvSpPr>
          <p:cNvPr id="21" name="Rectangle 20">
            <a:extLst>
              <a:ext uri="{FF2B5EF4-FFF2-40B4-BE49-F238E27FC236}">
                <a16:creationId xmlns:a16="http://schemas.microsoft.com/office/drawing/2014/main" id="{4C559553-0F32-4B8F-B49F-0D4608131061}"/>
              </a:ext>
            </a:extLst>
          </p:cNvPr>
          <p:cNvSpPr/>
          <p:nvPr/>
        </p:nvSpPr>
        <p:spPr>
          <a:xfrm>
            <a:off x="1222368" y="4211869"/>
            <a:ext cx="3624036" cy="1169551"/>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wrap="square" lIns="45720" rIns="45720" rtlCol="0" anchor="t">
            <a:spAutoFit/>
          </a:bodyPr>
          <a:lstStyle/>
          <a:p>
            <a:pPr marL="176213" indent="-176213" defTabSz="1462864">
              <a:buFont typeface="Arial" panose="020B0604020202020204" pitchFamily="34" charset="0"/>
              <a:buChar char="•"/>
              <a:tabLst>
                <a:tab pos="171418" algn="l"/>
              </a:tabLst>
              <a:defRPr/>
            </a:pPr>
            <a:r>
              <a:rPr lang="en-US" sz="1400">
                <a:solidFill>
                  <a:srgbClr val="000000"/>
                </a:solidFill>
                <a:latin typeface="Arial"/>
              </a:rPr>
              <a:t>Supports more than 2.000 EDI translations (maps) for our automotive clients</a:t>
            </a:r>
          </a:p>
          <a:p>
            <a:pPr marL="176213" indent="-176213" defTabSz="1462864">
              <a:buFont typeface="Arial" panose="020B0604020202020204" pitchFamily="34" charset="0"/>
              <a:buChar char="•"/>
              <a:tabLst>
                <a:tab pos="171418" algn="l"/>
              </a:tabLst>
              <a:defRPr/>
            </a:pPr>
            <a:r>
              <a:rPr lang="en-US" sz="1400">
                <a:solidFill>
                  <a:srgbClr val="000000"/>
                </a:solidFill>
                <a:latin typeface="Arial"/>
              </a:rPr>
              <a:t>All common translations from/to Odette, VDA, EDIFACT, ANSI X.12, XML and others</a:t>
            </a:r>
          </a:p>
        </p:txBody>
      </p:sp>
      <p:sp>
        <p:nvSpPr>
          <p:cNvPr id="23" name="Rectangle: Single Corner Rounded 22">
            <a:extLst>
              <a:ext uri="{FF2B5EF4-FFF2-40B4-BE49-F238E27FC236}">
                <a16:creationId xmlns:a16="http://schemas.microsoft.com/office/drawing/2014/main" id="{30C680EC-6C72-40F7-AE7D-CA1B03361631}"/>
              </a:ext>
            </a:extLst>
          </p:cNvPr>
          <p:cNvSpPr/>
          <p:nvPr/>
        </p:nvSpPr>
        <p:spPr>
          <a:xfrm>
            <a:off x="706050" y="1650315"/>
            <a:ext cx="4114798" cy="436798"/>
          </a:xfrm>
          <a:prstGeom prst="round1Rect">
            <a:avLst/>
          </a:prstGeom>
          <a:solidFill>
            <a:schemeClr val="accent1"/>
          </a:solidFill>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lIns="91440" rtlCol="0" anchor="ctr"/>
          <a:lstStyle/>
          <a:p>
            <a:pPr defTabSz="1462864">
              <a:defRPr/>
            </a:pPr>
            <a:r>
              <a:rPr lang="en-US" sz="1600" b="1">
                <a:solidFill>
                  <a:schemeClr val="bg1"/>
                </a:solidFill>
                <a:latin typeface="Arial"/>
              </a:rPr>
              <a:t>BES roots</a:t>
            </a:r>
          </a:p>
        </p:txBody>
      </p:sp>
      <p:sp>
        <p:nvSpPr>
          <p:cNvPr id="26" name="Rectangle 25">
            <a:extLst>
              <a:ext uri="{FF2B5EF4-FFF2-40B4-BE49-F238E27FC236}">
                <a16:creationId xmlns:a16="http://schemas.microsoft.com/office/drawing/2014/main" id="{49F9A5E6-AF4A-407B-83A7-8B7935CD6ECE}"/>
              </a:ext>
            </a:extLst>
          </p:cNvPr>
          <p:cNvSpPr/>
          <p:nvPr/>
        </p:nvSpPr>
        <p:spPr>
          <a:xfrm>
            <a:off x="1222368" y="2314285"/>
            <a:ext cx="3265790" cy="954107"/>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wrap="square" lIns="45720" rIns="45720" rtlCol="0" anchor="t">
            <a:spAutoFit/>
          </a:bodyPr>
          <a:lstStyle/>
          <a:p>
            <a:pPr defTabSz="1462864">
              <a:tabLst>
                <a:tab pos="171418" algn="l"/>
              </a:tabLst>
              <a:defRPr/>
            </a:pPr>
            <a:r>
              <a:rPr lang="en-US" sz="1400">
                <a:solidFill>
                  <a:srgbClr val="000000"/>
                </a:solidFill>
                <a:latin typeface="Arial"/>
              </a:rPr>
              <a:t>BES roots are in automotive EDI – we started in the 1980s with large EDI programs for GM (US) and GM Europe (Opel-Vauxhall-Saab) </a:t>
            </a:r>
          </a:p>
        </p:txBody>
      </p:sp>
      <p:sp>
        <p:nvSpPr>
          <p:cNvPr id="28" name="Rectangle: Single Corner Rounded 27">
            <a:extLst>
              <a:ext uri="{FF2B5EF4-FFF2-40B4-BE49-F238E27FC236}">
                <a16:creationId xmlns:a16="http://schemas.microsoft.com/office/drawing/2014/main" id="{85F40101-76FB-4E22-9B59-A905AE29B2C9}"/>
              </a:ext>
            </a:extLst>
          </p:cNvPr>
          <p:cNvSpPr/>
          <p:nvPr/>
        </p:nvSpPr>
        <p:spPr>
          <a:xfrm>
            <a:off x="706050" y="5511168"/>
            <a:ext cx="4114798" cy="436798"/>
          </a:xfrm>
          <a:prstGeom prst="round1Rect">
            <a:avLst/>
          </a:prstGeom>
          <a:solidFill>
            <a:schemeClr val="accent1"/>
          </a:solidFill>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lIns="91440" rtlCol="0" anchor="ctr"/>
          <a:lstStyle/>
          <a:p>
            <a:pPr defTabSz="1462864">
              <a:defRPr/>
            </a:pPr>
            <a:r>
              <a:rPr lang="en-US" sz="1600" b="1">
                <a:solidFill>
                  <a:schemeClr val="bg1"/>
                </a:solidFill>
                <a:latin typeface="Arial"/>
              </a:rPr>
              <a:t>Automotive customer</a:t>
            </a:r>
          </a:p>
        </p:txBody>
      </p:sp>
      <p:sp>
        <p:nvSpPr>
          <p:cNvPr id="31" name="Rectangle 30">
            <a:extLst>
              <a:ext uri="{FF2B5EF4-FFF2-40B4-BE49-F238E27FC236}">
                <a16:creationId xmlns:a16="http://schemas.microsoft.com/office/drawing/2014/main" id="{F17BD869-C5EE-4C11-9C25-42353FBF74A9}"/>
              </a:ext>
            </a:extLst>
          </p:cNvPr>
          <p:cNvSpPr/>
          <p:nvPr/>
        </p:nvSpPr>
        <p:spPr>
          <a:xfrm>
            <a:off x="1222368" y="6186823"/>
            <a:ext cx="3265790" cy="954107"/>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wrap="square" lIns="45720" rIns="45720" rtlCol="0" anchor="t">
            <a:spAutoFit/>
          </a:bodyPr>
          <a:lstStyle/>
          <a:p>
            <a:pPr defTabSz="1462864">
              <a:tabLst>
                <a:tab pos="171418" algn="l"/>
              </a:tabLst>
              <a:defRPr/>
            </a:pPr>
            <a:r>
              <a:rPr lang="en-US" sz="1400">
                <a:solidFill>
                  <a:srgbClr val="000000"/>
                </a:solidFill>
                <a:latin typeface="Arial"/>
              </a:rPr>
              <a:t>Automotive customers include GM, Stellantis, SKF, NSK, Gates, Lear, Thomas Built Buses, Allison Transmission, and many others </a:t>
            </a:r>
          </a:p>
        </p:txBody>
      </p:sp>
      <p:sp>
        <p:nvSpPr>
          <p:cNvPr id="37" name="Rectangle: Single Corner Rounded 36">
            <a:extLst>
              <a:ext uri="{FF2B5EF4-FFF2-40B4-BE49-F238E27FC236}">
                <a16:creationId xmlns:a16="http://schemas.microsoft.com/office/drawing/2014/main" id="{DC2F071C-9C5A-4BE4-8A21-CB45C419CC2D}"/>
              </a:ext>
            </a:extLst>
          </p:cNvPr>
          <p:cNvSpPr/>
          <p:nvPr/>
        </p:nvSpPr>
        <p:spPr>
          <a:xfrm>
            <a:off x="9829802" y="1650315"/>
            <a:ext cx="4114798" cy="436798"/>
          </a:xfrm>
          <a:prstGeom prst="round1Rect">
            <a:avLst/>
          </a:prstGeom>
          <a:solidFill>
            <a:schemeClr val="accent1"/>
          </a:solidFill>
          <a:ln>
            <a:noFill/>
          </a:ln>
          <a:effectLst>
            <a:outerShdw blurRad="50800" dist="38100" dir="16200000" rotWithShape="0">
              <a:prstClr val="black">
                <a:alpha val="40000"/>
              </a:prstClr>
            </a:outerShdw>
          </a:effectLst>
        </p:spPr>
        <p:style>
          <a:lnRef idx="0">
            <a:schemeClr val="accent1"/>
          </a:lnRef>
          <a:fillRef idx="1">
            <a:schemeClr val="accent1"/>
          </a:fillRef>
          <a:effectRef idx="0">
            <a:schemeClr val="accent1"/>
          </a:effectRef>
          <a:fontRef idx="minor">
            <a:schemeClr val="lt1"/>
          </a:fontRef>
        </p:style>
        <p:txBody>
          <a:bodyPr lIns="91440" rtlCol="0" anchor="ctr"/>
          <a:lstStyle/>
          <a:p>
            <a:pPr defTabSz="1462864">
              <a:defRPr/>
            </a:pPr>
            <a:r>
              <a:rPr lang="en-US" sz="1600" b="1">
                <a:solidFill>
                  <a:schemeClr val="bg1"/>
                </a:solidFill>
                <a:latin typeface="Arial"/>
              </a:rPr>
              <a:t>Automotive network</a:t>
            </a:r>
          </a:p>
        </p:txBody>
      </p:sp>
      <p:sp>
        <p:nvSpPr>
          <p:cNvPr id="39" name="Rectangle 38">
            <a:extLst>
              <a:ext uri="{FF2B5EF4-FFF2-40B4-BE49-F238E27FC236}">
                <a16:creationId xmlns:a16="http://schemas.microsoft.com/office/drawing/2014/main" id="{41CFB2F1-971B-4905-AB53-353F902920D3}"/>
              </a:ext>
            </a:extLst>
          </p:cNvPr>
          <p:cNvSpPr/>
          <p:nvPr/>
        </p:nvSpPr>
        <p:spPr>
          <a:xfrm>
            <a:off x="9829801" y="2221490"/>
            <a:ext cx="4114798" cy="5050252"/>
          </a:xfrm>
          <a:prstGeom prst="rect">
            <a:avLst/>
          </a:prstGeom>
          <a:noFill/>
          <a:ln>
            <a:noFill/>
          </a:ln>
        </p:spPr>
        <p:style>
          <a:lnRef idx="0">
            <a:schemeClr val="accent1"/>
          </a:lnRef>
          <a:fillRef idx="1">
            <a:schemeClr val="accent1"/>
          </a:fillRef>
          <a:effectRef idx="0">
            <a:schemeClr val="accent1"/>
          </a:effectRef>
          <a:fontRef idx="minor">
            <a:schemeClr val="lt1"/>
          </a:fontRef>
        </p:style>
        <p:txBody>
          <a:bodyPr wrap="square" lIns="91440" rIns="91440" rtlCol="0" anchor="t">
            <a:noAutofit/>
          </a:bodyPr>
          <a:lstStyle/>
          <a:p>
            <a:pPr marL="762000" defTabSz="1462864">
              <a:lnSpc>
                <a:spcPct val="95000"/>
              </a:lnSpc>
              <a:tabLst>
                <a:tab pos="169863" algn="l"/>
              </a:tabLst>
              <a:defRPr/>
            </a:pPr>
            <a:r>
              <a:rPr lang="en-US" sz="1300" dirty="0">
                <a:solidFill>
                  <a:srgbClr val="000000"/>
                </a:solidFill>
                <a:latin typeface="Arial"/>
              </a:rPr>
              <a:t>DXC supports active EDI links</a:t>
            </a:r>
            <a:br>
              <a:rPr lang="en-US" sz="1300" dirty="0">
                <a:solidFill>
                  <a:srgbClr val="000000"/>
                </a:solidFill>
                <a:latin typeface="Arial"/>
              </a:rPr>
            </a:br>
            <a:r>
              <a:rPr lang="en-US" sz="1300" dirty="0">
                <a:solidFill>
                  <a:srgbClr val="000000"/>
                </a:solidFill>
                <a:latin typeface="Arial"/>
              </a:rPr>
              <a:t>to all major automotive OEMs</a:t>
            </a:r>
            <a:br>
              <a:rPr lang="en-US" sz="1300" dirty="0">
                <a:solidFill>
                  <a:srgbClr val="000000"/>
                </a:solidFill>
                <a:latin typeface="Arial"/>
              </a:rPr>
            </a:br>
            <a:r>
              <a:rPr lang="en-US" sz="1300" dirty="0">
                <a:solidFill>
                  <a:srgbClr val="000000"/>
                </a:solidFill>
                <a:latin typeface="Arial"/>
              </a:rPr>
              <a:t>and Tier-1 suppliers including:</a:t>
            </a:r>
            <a:br>
              <a:rPr lang="en-US" sz="1300" dirty="0">
                <a:solidFill>
                  <a:srgbClr val="000000"/>
                </a:solidFill>
                <a:latin typeface="Arial"/>
              </a:rPr>
            </a:br>
            <a:endParaRPr lang="en-US" sz="1300" dirty="0">
              <a:solidFill>
                <a:srgbClr val="000000"/>
              </a:solidFill>
              <a:latin typeface="Arial"/>
            </a:endParaRPr>
          </a:p>
          <a:p>
            <a:pPr defTabSz="1462864">
              <a:lnSpc>
                <a:spcPct val="95000"/>
              </a:lnSpc>
              <a:tabLst>
                <a:tab pos="171418" algn="l"/>
              </a:tabLst>
              <a:defRPr/>
            </a:pPr>
            <a:r>
              <a:rPr lang="en-US" sz="1300" b="1" dirty="0">
                <a:solidFill>
                  <a:srgbClr val="000000"/>
                </a:solidFill>
                <a:latin typeface="Arial"/>
              </a:rPr>
              <a:t>OEM</a:t>
            </a:r>
            <a:r>
              <a:rPr lang="en-US" sz="1300" dirty="0">
                <a:solidFill>
                  <a:srgbClr val="000000"/>
                </a:solidFill>
                <a:latin typeface="Arial"/>
              </a:rPr>
              <a:t>s: GM, Opel, Vauxhall, Holden, Ford, Chrysler, Peugeot, Citroen, Renault, Audi, Porsche, Seat, Skoda, Volvo, Jaguar Land Rover, Nissan, Toyota, VW, Ferrari, Fiat, Honda, Hyundai, Iveco, Isuzu, Man, MCC, Mitsubishi, Scania, DAF, KIA, Maserati, Caterpillar, CNH, Piaggio …. </a:t>
            </a:r>
            <a:br>
              <a:rPr lang="en-US" sz="1300" dirty="0">
                <a:solidFill>
                  <a:srgbClr val="000000"/>
                </a:solidFill>
                <a:latin typeface="Arial"/>
              </a:rPr>
            </a:br>
            <a:endParaRPr lang="en-US" sz="1300" dirty="0">
              <a:solidFill>
                <a:srgbClr val="000000"/>
              </a:solidFill>
              <a:latin typeface="Arial"/>
            </a:endParaRPr>
          </a:p>
          <a:p>
            <a:pPr defTabSz="1462864">
              <a:lnSpc>
                <a:spcPct val="95000"/>
              </a:lnSpc>
              <a:tabLst>
                <a:tab pos="171418" algn="l"/>
              </a:tabLst>
              <a:defRPr/>
            </a:pPr>
            <a:r>
              <a:rPr lang="en-US" sz="1300" b="1" dirty="0">
                <a:solidFill>
                  <a:srgbClr val="000000"/>
                </a:solidFill>
                <a:latin typeface="Arial"/>
              </a:rPr>
              <a:t>Tier 1 suppliers</a:t>
            </a:r>
            <a:r>
              <a:rPr lang="en-US" sz="1300" dirty="0">
                <a:solidFill>
                  <a:srgbClr val="000000"/>
                </a:solidFill>
                <a:latin typeface="Arial"/>
              </a:rPr>
              <a:t>: Delphi, Visteon, Lear, Bosch, Johnson Controls, Dana, Detroit Diesel, Eaton, Karmann, Textron, Denso, Magna, Magneti, Michelin, Motorola, NSK, PPG, Tenneco, Gates, ThyssenKrupp, Tyco, </a:t>
            </a:r>
            <a:r>
              <a:rPr lang="en-US" sz="1300" dirty="0" err="1">
                <a:solidFill>
                  <a:srgbClr val="000000"/>
                </a:solidFill>
                <a:latin typeface="Arial"/>
              </a:rPr>
              <a:t>Valeo</a:t>
            </a:r>
            <a:r>
              <a:rPr lang="en-US" sz="1300" dirty="0">
                <a:solidFill>
                  <a:srgbClr val="000000"/>
                </a:solidFill>
                <a:latin typeface="Arial"/>
              </a:rPr>
              <a:t>, Continental AG, ZF Friedrichshafen, ….</a:t>
            </a:r>
            <a:br>
              <a:rPr lang="en-US" sz="1300" dirty="0">
                <a:solidFill>
                  <a:srgbClr val="000000"/>
                </a:solidFill>
                <a:latin typeface="Arial"/>
              </a:rPr>
            </a:br>
            <a:r>
              <a:rPr lang="en-US" sz="1300" dirty="0">
                <a:solidFill>
                  <a:schemeClr val="accent1"/>
                </a:solidFill>
                <a:latin typeface="Arial"/>
              </a:rPr>
              <a:t>…. and thousands more</a:t>
            </a:r>
            <a:br>
              <a:rPr lang="en-US" sz="1300" dirty="0">
                <a:solidFill>
                  <a:schemeClr val="accent1"/>
                </a:solidFill>
                <a:latin typeface="Arial"/>
              </a:rPr>
            </a:br>
            <a:endParaRPr lang="en-US" sz="1300" dirty="0">
              <a:solidFill>
                <a:schemeClr val="accent1"/>
              </a:solidFill>
              <a:latin typeface="Arial"/>
            </a:endParaRPr>
          </a:p>
          <a:p>
            <a:pPr marR="0" lvl="0" algn="l" defTabSz="1259038" rtl="0" eaLnBrk="1" fontAlgn="base" latinLnBrk="0" hangingPunct="1">
              <a:lnSpc>
                <a:spcPct val="95000"/>
              </a:lnSpc>
              <a:spcBef>
                <a:spcPts val="0"/>
              </a:spcBef>
              <a:spcAft>
                <a:spcPts val="300"/>
              </a:spcAft>
              <a:buClr>
                <a:srgbClr val="000000"/>
              </a:buClr>
              <a:buSzTx/>
              <a:tabLst/>
              <a:defRPr/>
            </a:pPr>
            <a:r>
              <a:rPr lang="en-US" sz="1300" b="1" dirty="0">
                <a:solidFill>
                  <a:srgbClr val="000000"/>
                </a:solidFill>
                <a:latin typeface="Arial"/>
              </a:rPr>
              <a:t>DXC VAN</a:t>
            </a:r>
            <a:r>
              <a:rPr lang="en-US" sz="1300" dirty="0">
                <a:solidFill>
                  <a:schemeClr val="accent1"/>
                </a:solidFill>
                <a:latin typeface="Arial"/>
              </a:rPr>
              <a:t>: </a:t>
            </a:r>
            <a:r>
              <a:rPr kumimoji="0" lang="en-US" altLang="sv-SE" sz="1300" b="0" i="0" u="none" strike="noStrike" kern="1200" cap="none" spc="0" normalizeH="0" baseline="0" dirty="0">
                <a:ln>
                  <a:noFill/>
                </a:ln>
                <a:solidFill>
                  <a:schemeClr val="tx1"/>
                </a:solidFill>
                <a:effectLst/>
                <a:uLnTx/>
                <a:uFillTx/>
                <a:latin typeface="Arial"/>
                <a:ea typeface="+mn-ea"/>
                <a:cs typeface="+mn-cs"/>
              </a:rPr>
              <a:t>DXC-owned VAN services</a:t>
            </a:r>
          </a:p>
          <a:p>
            <a:pPr marL="179388" marR="0" lvl="0" indent="-179388" algn="l" defTabSz="1259038" rtl="0" eaLnBrk="1" fontAlgn="base" latinLnBrk="0" hangingPunct="1">
              <a:lnSpc>
                <a:spcPct val="95000"/>
              </a:lnSpc>
              <a:spcBef>
                <a:spcPts val="0"/>
              </a:spcBef>
              <a:spcAft>
                <a:spcPts val="300"/>
              </a:spcAft>
              <a:buClr>
                <a:srgbClr val="000000"/>
              </a:buClr>
              <a:buSzTx/>
              <a:buFontTx/>
              <a:buChar char="•"/>
              <a:tabLst/>
              <a:defRPr/>
            </a:pPr>
            <a:r>
              <a:rPr kumimoji="0" lang="en-US" altLang="sv-SE" sz="1300" b="0" i="0" u="none" strike="noStrike" kern="1200" cap="none" spc="0" normalizeH="0" baseline="0" dirty="0">
                <a:ln>
                  <a:noFill/>
                </a:ln>
                <a:solidFill>
                  <a:schemeClr val="tx1"/>
                </a:solidFill>
                <a:effectLst/>
                <a:uLnTx/>
                <a:uFillTx/>
                <a:latin typeface="Arial"/>
                <a:ea typeface="+mn-ea"/>
                <a:cs typeface="+mn-cs"/>
              </a:rPr>
              <a:t>65,000 trading partner end points, 23 Interconnects</a:t>
            </a:r>
          </a:p>
          <a:p>
            <a:pPr marL="179388" marR="0" lvl="0" indent="-179388" algn="l" defTabSz="1259038" rtl="0" eaLnBrk="1" fontAlgn="base" latinLnBrk="0" hangingPunct="1">
              <a:lnSpc>
                <a:spcPct val="95000"/>
              </a:lnSpc>
              <a:spcBef>
                <a:spcPts val="0"/>
              </a:spcBef>
              <a:spcAft>
                <a:spcPts val="300"/>
              </a:spcAft>
              <a:buClr>
                <a:srgbClr val="000000"/>
              </a:buClr>
              <a:buSzTx/>
              <a:buFontTx/>
              <a:buChar char="•"/>
              <a:tabLst/>
              <a:defRPr/>
            </a:pPr>
            <a:r>
              <a:rPr kumimoji="0" lang="en-US" altLang="sv-SE" sz="1300" b="0" i="0" u="none" strike="noStrike" kern="1200" cap="none" spc="0" normalizeH="0" baseline="0" dirty="0">
                <a:ln>
                  <a:noFill/>
                </a:ln>
                <a:solidFill>
                  <a:schemeClr val="tx1"/>
                </a:solidFill>
                <a:effectLst/>
                <a:uLnTx/>
                <a:uFillTx/>
                <a:latin typeface="Arial"/>
                <a:ea typeface="+mn-ea"/>
                <a:cs typeface="+mn-cs"/>
              </a:rPr>
              <a:t>Web-Interface for Tracking und Monitoring</a:t>
            </a:r>
          </a:p>
          <a:p>
            <a:pPr marL="179388" marR="0" lvl="0" indent="-179388" algn="l" defTabSz="1259038" rtl="0" eaLnBrk="1" fontAlgn="base" latinLnBrk="0" hangingPunct="1">
              <a:lnSpc>
                <a:spcPct val="95000"/>
              </a:lnSpc>
              <a:spcBef>
                <a:spcPts val="0"/>
              </a:spcBef>
              <a:spcAft>
                <a:spcPts val="300"/>
              </a:spcAft>
              <a:buClr>
                <a:srgbClr val="000000"/>
              </a:buClr>
              <a:buSzTx/>
              <a:buFontTx/>
              <a:buChar char="•"/>
              <a:tabLst/>
              <a:defRPr/>
            </a:pPr>
            <a:r>
              <a:rPr kumimoji="0" lang="en-US" altLang="sv-SE" sz="1300" b="0" i="0" u="none" strike="noStrike" kern="1200" cap="none" spc="0" normalizeH="0" baseline="0" dirty="0">
                <a:ln>
                  <a:noFill/>
                </a:ln>
                <a:solidFill>
                  <a:schemeClr val="tx1"/>
                </a:solidFill>
                <a:effectLst/>
                <a:uLnTx/>
                <a:uFillTx/>
                <a:latin typeface="Arial"/>
                <a:ea typeface="+mn-ea"/>
                <a:cs typeface="+mn-cs"/>
              </a:rPr>
              <a:t>All protocols supported</a:t>
            </a:r>
          </a:p>
          <a:p>
            <a:pPr marL="179388" marR="0" lvl="0" indent="-179388" algn="l" defTabSz="1259038" rtl="0" eaLnBrk="1" fontAlgn="base" latinLnBrk="0" hangingPunct="1">
              <a:lnSpc>
                <a:spcPct val="95000"/>
              </a:lnSpc>
              <a:spcBef>
                <a:spcPts val="0"/>
              </a:spcBef>
              <a:spcAft>
                <a:spcPts val="300"/>
              </a:spcAft>
              <a:buClr>
                <a:srgbClr val="000000"/>
              </a:buClr>
              <a:buSzTx/>
              <a:buFontTx/>
              <a:buChar char="•"/>
              <a:tabLst/>
              <a:defRPr/>
            </a:pPr>
            <a:r>
              <a:rPr lang="en-US" altLang="sv-SE" sz="1300" dirty="0">
                <a:solidFill>
                  <a:schemeClr val="tx1"/>
                </a:solidFill>
                <a:latin typeface="Arial"/>
              </a:rPr>
              <a:t>SEEBURGER uses the DXC VAN</a:t>
            </a:r>
            <a:endParaRPr lang="en-US" sz="1300" dirty="0">
              <a:solidFill>
                <a:schemeClr val="accent1"/>
              </a:solidFill>
              <a:latin typeface="Arial"/>
            </a:endParaRPr>
          </a:p>
        </p:txBody>
      </p:sp>
    </p:spTree>
    <p:extLst>
      <p:ext uri="{BB962C8B-B14F-4D97-AF65-F5344CB8AC3E}">
        <p14:creationId xmlns:p14="http://schemas.microsoft.com/office/powerpoint/2010/main" val="1605207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51597" y="1938985"/>
            <a:ext cx="4374038" cy="2660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Data Centers/Hosting Facilities</a:t>
            </a:r>
          </a:p>
        </p:txBody>
      </p:sp>
      <p:sp>
        <p:nvSpPr>
          <p:cNvPr id="4" name="Rectangle 7"/>
          <p:cNvSpPr>
            <a:spLocks noChangeArrowheads="1"/>
          </p:cNvSpPr>
          <p:nvPr/>
        </p:nvSpPr>
        <p:spPr bwMode="auto">
          <a:xfrm>
            <a:off x="753890" y="1794178"/>
            <a:ext cx="2666102" cy="591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7282" tIns="73642" rIns="147282" bIns="73642">
            <a:spAutoFit/>
          </a:bodyPr>
          <a:lstStyle>
            <a:lvl1pPr eaLnBrk="0" hangingPunct="0">
              <a:defRPr sz="2400">
                <a:solidFill>
                  <a:schemeClr val="tx2"/>
                </a:solidFill>
                <a:latin typeface="Verdana" panose="020B0604030504040204" pitchFamily="34" charset="0"/>
                <a:ea typeface="MS PGothic" panose="020B0600070205080204" pitchFamily="34" charset="-128"/>
              </a:defRPr>
            </a:lvl1pPr>
            <a:lvl2pPr marL="742950" indent="-285750"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a:lnSpc>
                <a:spcPct val="100000"/>
              </a:lnSpc>
            </a:pPr>
            <a:r>
              <a:rPr lang="en-US" sz="2879" b="1" dirty="0">
                <a:solidFill>
                  <a:srgbClr val="5F249F"/>
                </a:solidFill>
                <a:latin typeface="HP Simplified" panose="020B0604020204020204" pitchFamily="34" charset="0"/>
              </a:rPr>
              <a:t>Logical Security</a:t>
            </a:r>
          </a:p>
        </p:txBody>
      </p:sp>
      <p:sp>
        <p:nvSpPr>
          <p:cNvPr id="5" name="Rectangle 6"/>
          <p:cNvSpPr>
            <a:spLocks noChangeArrowheads="1"/>
          </p:cNvSpPr>
          <p:nvPr/>
        </p:nvSpPr>
        <p:spPr bwMode="auto">
          <a:xfrm>
            <a:off x="428755" y="2409507"/>
            <a:ext cx="3716016" cy="4090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7282" tIns="73642" rIns="147282" bIns="73642"/>
          <a:lstStyle>
            <a:lvl1pPr marL="173038" indent="-173038" eaLnBrk="0" hangingPunct="0">
              <a:defRPr sz="2400">
                <a:solidFill>
                  <a:schemeClr val="tx2"/>
                </a:solidFill>
                <a:latin typeface="Verdana" panose="020B0604030504040204" pitchFamily="34" charset="0"/>
                <a:ea typeface="MS PGothic" panose="020B0600070205080204" pitchFamily="34" charset="-128"/>
              </a:defRPr>
            </a:lvl1pPr>
            <a:lvl2pPr marL="742950" indent="-285750"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a:spcAft>
                <a:spcPct val="30000"/>
              </a:spcAft>
              <a:buClr>
                <a:schemeClr val="tx1"/>
              </a:buClr>
              <a:buSzPct val="90000"/>
              <a:buFontTx/>
              <a:buChar char="•"/>
            </a:pPr>
            <a:r>
              <a:rPr lang="en-US" sz="1920" dirty="0">
                <a:solidFill>
                  <a:schemeClr val="tx1"/>
                </a:solidFill>
                <a:latin typeface="HP Simplified" panose="020B0604020204020204" pitchFamily="34" charset="0"/>
              </a:rPr>
              <a:t>Root access restriction </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Server auditing/scanning</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National Computer Security Administration (NCSA) certified firewall security</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Firewall management</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Digital certificates</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Security socket layer (SSL)</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Hidden IP addresses</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Virtual private networks (VPNs)</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Vulnerability assessment scanning </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Real-time intrusion detection and response</a:t>
            </a:r>
          </a:p>
        </p:txBody>
      </p:sp>
      <p:sp>
        <p:nvSpPr>
          <p:cNvPr id="6" name="Rectangle 5"/>
          <p:cNvSpPr>
            <a:spLocks noChangeArrowheads="1"/>
          </p:cNvSpPr>
          <p:nvPr/>
        </p:nvSpPr>
        <p:spPr bwMode="auto">
          <a:xfrm>
            <a:off x="5334750" y="4655763"/>
            <a:ext cx="2846215" cy="591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7282" tIns="73642" rIns="147282" bIns="73642">
            <a:spAutoFit/>
          </a:bodyPr>
          <a:lstStyle>
            <a:lvl1pPr eaLnBrk="0" hangingPunct="0">
              <a:defRPr sz="2400">
                <a:solidFill>
                  <a:schemeClr val="tx2"/>
                </a:solidFill>
                <a:latin typeface="Verdana" panose="020B0604030504040204" pitchFamily="34" charset="0"/>
                <a:ea typeface="MS PGothic" panose="020B0600070205080204" pitchFamily="34" charset="-128"/>
              </a:defRPr>
            </a:lvl1pPr>
            <a:lvl2pPr marL="742950" indent="-285750"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a:lnSpc>
                <a:spcPct val="100000"/>
              </a:lnSpc>
            </a:pPr>
            <a:r>
              <a:rPr lang="en-US" sz="2879" b="1" dirty="0">
                <a:solidFill>
                  <a:srgbClr val="5F249F"/>
                </a:solidFill>
                <a:latin typeface="HP Simplified" panose="020B0604020204020204" pitchFamily="34" charset="0"/>
              </a:rPr>
              <a:t>Physical Security</a:t>
            </a:r>
          </a:p>
        </p:txBody>
      </p:sp>
      <p:sp>
        <p:nvSpPr>
          <p:cNvPr id="7" name="Rectangle 4"/>
          <p:cNvSpPr>
            <a:spLocks noChangeArrowheads="1"/>
          </p:cNvSpPr>
          <p:nvPr/>
        </p:nvSpPr>
        <p:spPr bwMode="auto">
          <a:xfrm>
            <a:off x="4229100" y="5143360"/>
            <a:ext cx="5314183" cy="2585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47282" tIns="73642" rIns="147282" bIns="73642"/>
          <a:lstStyle>
            <a:lvl1pPr marL="173038" indent="-173038" eaLnBrk="0" hangingPunct="0">
              <a:defRPr sz="2400">
                <a:solidFill>
                  <a:schemeClr val="tx2"/>
                </a:solidFill>
                <a:latin typeface="Verdana" panose="020B0604030504040204" pitchFamily="34" charset="0"/>
                <a:ea typeface="MS PGothic" panose="020B0600070205080204" pitchFamily="34" charset="-128"/>
              </a:defRPr>
            </a:lvl1pPr>
            <a:lvl2pPr marL="742950" indent="-285750"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a:spcAft>
                <a:spcPct val="30000"/>
              </a:spcAft>
              <a:buClr>
                <a:schemeClr val="tx1"/>
              </a:buClr>
              <a:buSzPct val="90000"/>
              <a:buFontTx/>
              <a:buChar char="•"/>
            </a:pPr>
            <a:r>
              <a:rPr lang="en-US" sz="1920" dirty="0">
                <a:solidFill>
                  <a:schemeClr val="tx1"/>
                </a:solidFill>
                <a:latin typeface="HP Simplified" panose="020B0604020204020204" pitchFamily="34" charset="0"/>
              </a:rPr>
              <a:t>Electronic and biometric controlled access </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Secure rooms</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Security personnel 24 hours a day, 7 days a week</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Fire and smoke detection and suppression</a:t>
            </a:r>
          </a:p>
          <a:p>
            <a:pPr>
              <a:spcAft>
                <a:spcPct val="30000"/>
              </a:spcAft>
              <a:buClr>
                <a:schemeClr val="tx1"/>
              </a:buClr>
              <a:buSzPct val="90000"/>
              <a:buFontTx/>
              <a:buChar char="•"/>
            </a:pPr>
            <a:r>
              <a:rPr lang="en-US" sz="1920" dirty="0">
                <a:solidFill>
                  <a:schemeClr val="tx1"/>
                </a:solidFill>
                <a:latin typeface="HP Simplified" panose="020B0604020204020204" pitchFamily="34" charset="0"/>
              </a:rPr>
              <a:t>Extensive disaster safeguards, preparations, and plans</a:t>
            </a:r>
          </a:p>
        </p:txBody>
      </p:sp>
      <p:sp>
        <p:nvSpPr>
          <p:cNvPr id="8" name="Rectangle 9"/>
          <p:cNvSpPr>
            <a:spLocks noChangeArrowheads="1"/>
          </p:cNvSpPr>
          <p:nvPr/>
        </p:nvSpPr>
        <p:spPr bwMode="auto">
          <a:xfrm>
            <a:off x="9759473" y="1794178"/>
            <a:ext cx="4470058" cy="103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47282" tIns="73642" rIns="147282" bIns="73642">
            <a:spAutoFit/>
          </a:bodyPr>
          <a:lstStyle>
            <a:lvl1pPr eaLnBrk="0" hangingPunct="0">
              <a:defRPr sz="2400">
                <a:solidFill>
                  <a:schemeClr val="tx2"/>
                </a:solidFill>
                <a:latin typeface="Verdana" panose="020B0604030504040204" pitchFamily="34" charset="0"/>
                <a:ea typeface="MS PGothic" panose="020B0600070205080204" pitchFamily="34" charset="-128"/>
              </a:defRPr>
            </a:lvl1pPr>
            <a:lvl2pPr marL="742950" indent="-285750"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algn="ctr">
              <a:lnSpc>
                <a:spcPct val="100000"/>
              </a:lnSpc>
            </a:pPr>
            <a:r>
              <a:rPr lang="en-US" sz="2879" b="1" dirty="0">
                <a:solidFill>
                  <a:srgbClr val="5F249F"/>
                </a:solidFill>
                <a:latin typeface="HP Simplified" panose="020B0604020204020204" pitchFamily="34" charset="0"/>
              </a:rPr>
              <a:t>Tulsa, OK and Plano, TX</a:t>
            </a:r>
          </a:p>
          <a:p>
            <a:pPr algn="ctr">
              <a:lnSpc>
                <a:spcPct val="100000"/>
              </a:lnSpc>
            </a:pPr>
            <a:r>
              <a:rPr lang="en-US" sz="2879" b="1" dirty="0">
                <a:solidFill>
                  <a:srgbClr val="5F249F"/>
                </a:solidFill>
                <a:latin typeface="HP Simplified" panose="020B0604020204020204" pitchFamily="34" charset="0"/>
              </a:rPr>
              <a:t>Data Center Specifications</a:t>
            </a:r>
          </a:p>
        </p:txBody>
      </p:sp>
      <p:sp>
        <p:nvSpPr>
          <p:cNvPr id="9" name="Rectangle 8"/>
          <p:cNvSpPr>
            <a:spLocks noChangeArrowheads="1"/>
          </p:cNvSpPr>
          <p:nvPr/>
        </p:nvSpPr>
        <p:spPr bwMode="auto">
          <a:xfrm>
            <a:off x="10050109" y="2875555"/>
            <a:ext cx="4110796" cy="443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marL="173038" indent="-173038" eaLnBrk="0" hangingPunct="0">
              <a:defRPr sz="2400">
                <a:solidFill>
                  <a:schemeClr val="tx2"/>
                </a:solidFill>
                <a:latin typeface="Verdana" panose="020B0604030504040204" pitchFamily="34" charset="0"/>
                <a:ea typeface="MS PGothic" panose="020B0600070205080204" pitchFamily="34" charset="-128"/>
              </a:defRPr>
            </a:lvl1pPr>
            <a:lvl2pPr marL="400050" indent="-112713" eaLnBrk="0" hangingPunct="0">
              <a:defRPr sz="2400">
                <a:solidFill>
                  <a:schemeClr val="tx2"/>
                </a:solidFill>
                <a:latin typeface="Verdana" panose="020B0604030504040204" pitchFamily="34" charset="0"/>
                <a:ea typeface="MS PGothic" panose="020B0600070205080204" pitchFamily="34" charset="-128"/>
              </a:defRPr>
            </a:lvl2pPr>
            <a:lvl3pPr marL="1143000" indent="-228600" eaLnBrk="0" hangingPunct="0">
              <a:defRPr sz="2400">
                <a:solidFill>
                  <a:schemeClr val="tx2"/>
                </a:solidFill>
                <a:latin typeface="Verdana" panose="020B0604030504040204" pitchFamily="34" charset="0"/>
                <a:ea typeface="MS PGothic" panose="020B0600070205080204" pitchFamily="34" charset="-128"/>
              </a:defRPr>
            </a:lvl3pPr>
            <a:lvl4pPr marL="1600200" indent="-228600" eaLnBrk="0" hangingPunct="0">
              <a:defRPr sz="2400">
                <a:solidFill>
                  <a:schemeClr val="tx2"/>
                </a:solidFill>
                <a:latin typeface="Verdana" panose="020B0604030504040204" pitchFamily="34" charset="0"/>
                <a:ea typeface="MS PGothic" panose="020B0600070205080204" pitchFamily="34" charset="-128"/>
              </a:defRPr>
            </a:lvl4pPr>
            <a:lvl5pPr marL="2057400" indent="-228600" eaLnBrk="0" hangingPunct="0">
              <a:defRPr sz="2400">
                <a:solidFill>
                  <a:schemeClr val="tx2"/>
                </a:solidFill>
                <a:latin typeface="Verdana" panose="020B0604030504040204" pitchFamily="34" charset="0"/>
                <a:ea typeface="MS PGothic" panose="020B0600070205080204" pitchFamily="34" charset="-128"/>
              </a:defRPr>
            </a:lvl5pPr>
            <a:lvl6pPr marL="25146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6pPr>
            <a:lvl7pPr marL="29718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7pPr>
            <a:lvl8pPr marL="34290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8pPr>
            <a:lvl9pPr marL="3886200" indent="-228600" eaLnBrk="0" fontAlgn="base" hangingPunct="0">
              <a:lnSpc>
                <a:spcPct val="95000"/>
              </a:lnSpc>
              <a:spcBef>
                <a:spcPct val="0"/>
              </a:spcBef>
              <a:spcAft>
                <a:spcPct val="0"/>
              </a:spcAft>
              <a:defRPr sz="2400">
                <a:solidFill>
                  <a:schemeClr val="tx2"/>
                </a:solidFill>
                <a:latin typeface="Verdana" panose="020B0604030504040204" pitchFamily="34" charset="0"/>
                <a:ea typeface="MS PGothic" panose="020B0600070205080204" pitchFamily="34" charset="-128"/>
              </a:defRPr>
            </a:lvl9pPr>
          </a:lstStyle>
          <a:p>
            <a:pPr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Structures built to withstand a Force 5 tornado</a:t>
            </a:r>
          </a:p>
          <a:p>
            <a:pPr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Dual electrical circuits and dual A/C</a:t>
            </a:r>
          </a:p>
          <a:p>
            <a:pPr eaLnBrk="1" hangingPunct="1">
              <a:lnSpc>
                <a:spcPct val="100000"/>
              </a:lnSpc>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Tulsa raised floor: 160,000 sq. ft.</a:t>
            </a:r>
          </a:p>
          <a:p>
            <a:pPr lvl="1"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Power source:</a:t>
            </a:r>
          </a:p>
          <a:p>
            <a:pPr marL="914400" lvl="2"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2 utility substations</a:t>
            </a:r>
          </a:p>
          <a:p>
            <a:pPr marL="914400" lvl="2"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design load capacity in excess of 20MW</a:t>
            </a:r>
          </a:p>
          <a:p>
            <a:pPr eaLnBrk="1" hangingPunct="1">
              <a:lnSpc>
                <a:spcPct val="100000"/>
              </a:lnSpc>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Plano raised floor: 243,861 sq. ft.</a:t>
            </a:r>
          </a:p>
          <a:p>
            <a:pPr lvl="1"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Power source:</a:t>
            </a:r>
          </a:p>
          <a:p>
            <a:pPr marL="914400" lvl="2"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3 utility substations</a:t>
            </a:r>
          </a:p>
          <a:p>
            <a:pPr marL="914400" lvl="2" eaLnBrk="1" hangingPunct="1">
              <a:spcAft>
                <a:spcPct val="30000"/>
              </a:spcAft>
              <a:buClr>
                <a:schemeClr val="tx1"/>
              </a:buClr>
              <a:buFont typeface="Times" panose="02020603050405020304" pitchFamily="18" charset="0"/>
              <a:buChar char="–"/>
            </a:pPr>
            <a:r>
              <a:rPr lang="en-US" sz="1920" dirty="0">
                <a:solidFill>
                  <a:schemeClr val="tx1"/>
                </a:solidFill>
                <a:latin typeface="HP Simplified" panose="020B0604020204020204" pitchFamily="34" charset="0"/>
              </a:rPr>
              <a:t>6-3.2mW generators</a:t>
            </a:r>
          </a:p>
        </p:txBody>
      </p:sp>
      <p:sp>
        <p:nvSpPr>
          <p:cNvPr id="3" name="Rectangle 2"/>
          <p:cNvSpPr/>
          <p:nvPr/>
        </p:nvSpPr>
        <p:spPr>
          <a:xfrm>
            <a:off x="627999" y="1089336"/>
            <a:ext cx="8915284" cy="570990"/>
          </a:xfrm>
          <a:prstGeom prst="rect">
            <a:avLst/>
          </a:prstGeom>
        </p:spPr>
        <p:txBody>
          <a:bodyPr wrap="square">
            <a:spAutoFit/>
          </a:bodyPr>
          <a:lstStyle/>
          <a:p>
            <a:pPr defTabSz="1097005">
              <a:lnSpc>
                <a:spcPct val="90000"/>
              </a:lnSpc>
            </a:pPr>
            <a:r>
              <a:rPr lang="en-US" sz="3456" dirty="0">
                <a:solidFill>
                  <a:srgbClr val="00968F"/>
                </a:solidFill>
                <a:latin typeface="HP Simplified"/>
              </a:rPr>
              <a:t>Your Privacy and Security is our #1 Concern</a:t>
            </a:r>
          </a:p>
        </p:txBody>
      </p:sp>
    </p:spTree>
    <p:extLst>
      <p:ext uri="{BB962C8B-B14F-4D97-AF65-F5344CB8AC3E}">
        <p14:creationId xmlns:p14="http://schemas.microsoft.com/office/powerpoint/2010/main" val="131653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1882140"/>
            <a:ext cx="12960625" cy="4427220"/>
          </a:xfrm>
          <a:prstGeom prst="rect">
            <a:avLst/>
          </a:prstGeom>
          <a:noFill/>
        </p:spPr>
        <p:txBody>
          <a:bodyPr wrap="square" lIns="0" tIns="0" rIns="0" bIns="0" rtlCol="0">
            <a:no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00968F"/>
                </a:solidFill>
                <a:effectLst/>
                <a:uLnTx/>
                <a:uFillTx/>
              </a:rPr>
              <a:t>File eXchange Service (FXS) is a high-speed managed file transfer service to securely exchange content.</a:t>
            </a:r>
          </a:p>
          <a:p>
            <a:pPr marL="0" marR="0" lvl="0" indent="0" defTabSz="914400" eaLnBrk="1" fontAlgn="auto" latinLnBrk="0" hangingPunct="1">
              <a:lnSpc>
                <a:spcPct val="9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endParaRP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Accessible via a web GUI</a:t>
            </a:r>
            <a:r>
              <a:rPr kumimoji="0" lang="en-US" sz="1800" b="0" i="0" u="none" strike="noStrike" kern="0" cap="none" spc="0" normalizeH="0" baseline="30000" noProof="0" dirty="0">
                <a:ln>
                  <a:noFill/>
                </a:ln>
                <a:solidFill>
                  <a:prstClr val="black"/>
                </a:solidFill>
                <a:effectLst/>
                <a:uLnTx/>
                <a:uFillTx/>
              </a:rPr>
              <a:t>1</a:t>
            </a:r>
            <a:r>
              <a:rPr kumimoji="0" lang="en-US" sz="1800" b="0" i="0" u="none" strike="noStrike" kern="0" cap="none" spc="0" normalizeH="0" baseline="0" noProof="0" dirty="0">
                <a:ln>
                  <a:noFill/>
                </a:ln>
                <a:solidFill>
                  <a:prstClr val="black"/>
                </a:solidFill>
                <a:effectLst/>
                <a:uLnTx/>
                <a:uFillTx/>
              </a:rPr>
              <a:t>, secure encrypted transfers over HTTPS.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Complies with industry standard security policies.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Any file, any size</a:t>
            </a:r>
            <a:r>
              <a:rPr kumimoji="0" lang="en-US" sz="1800" b="0" i="0" u="none" strike="noStrike" kern="0" cap="none" spc="0" normalizeH="0" baseline="30000" noProof="0" dirty="0">
                <a:ln>
                  <a:noFill/>
                </a:ln>
                <a:solidFill>
                  <a:prstClr val="black"/>
                </a:solidFill>
                <a:effectLst/>
                <a:uLnTx/>
                <a:uFillTx/>
              </a:rPr>
              <a:t>2</a:t>
            </a:r>
            <a:r>
              <a:rPr kumimoji="0" lang="en-US" sz="1800" b="0" i="0" u="none" strike="noStrike" kern="0" cap="none" spc="0" normalizeH="0" baseline="0" noProof="0" dirty="0">
                <a:ln>
                  <a:noFill/>
                </a:ln>
                <a:solidFill>
                  <a:prstClr val="black"/>
                </a:solidFill>
                <a:effectLst/>
                <a:uLnTx/>
                <a:uFillTx/>
              </a:rPr>
              <a:t>.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Uses multiple streams to transfer files up to 10 times faster</a:t>
            </a:r>
            <a:r>
              <a:rPr kumimoji="0" lang="en-US" sz="1800" b="0" i="0" u="none" strike="noStrike" kern="0" cap="none" spc="0" normalizeH="0" baseline="30000" noProof="0" dirty="0">
                <a:ln>
                  <a:noFill/>
                </a:ln>
                <a:solidFill>
                  <a:prstClr val="black"/>
                </a:solidFill>
                <a:effectLst/>
                <a:uLnTx/>
                <a:uFillTx/>
              </a:rPr>
              <a:t>3</a:t>
            </a:r>
            <a:r>
              <a:rPr kumimoji="0" lang="en-US" sz="1800" b="0" i="0" u="none" strike="noStrike" kern="0" cap="none" spc="0" normalizeH="0" baseline="0" noProof="0" dirty="0">
                <a:ln>
                  <a:noFill/>
                </a:ln>
                <a:solidFill>
                  <a:prstClr val="black"/>
                </a:solidFill>
                <a:effectLst/>
                <a:uLnTx/>
                <a:uFillTx/>
              </a:rPr>
              <a:t> than traditional transfer methods (for example FTP/SFTP).  Additionally, files can also be compressed in transit.</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Resume downloads from last position in the event of temporary network disconnections.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Allows files to be transferred in parallel.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Compartmentalizes the storage of files (only the owner can access their files).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Allows users to create shares, with specific permissions, to share files with other members of their team.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0" cap="none" spc="0" normalizeH="0" baseline="0" noProof="0" dirty="0">
                <a:ln>
                  <a:noFill/>
                </a:ln>
                <a:solidFill>
                  <a:prstClr val="black"/>
                </a:solidFill>
                <a:effectLst/>
                <a:uLnTx/>
                <a:uFillTx/>
              </a:rPr>
              <a:t>Create temporary transfer permits to exchange content. </a:t>
            </a:r>
          </a:p>
          <a:p>
            <a:pPr marL="742950" marR="0" lvl="1"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0" cap="none" spc="0" normalizeH="0" baseline="0" noProof="0" dirty="0">
              <a:ln>
                <a:noFill/>
              </a:ln>
              <a:solidFill>
                <a:prstClr val="black"/>
              </a:solidFill>
              <a:effectLst/>
              <a:uLnTx/>
              <a:uFillTx/>
            </a:endParaRPr>
          </a:p>
          <a:p>
            <a:pPr lvl="1" defTabSz="914400">
              <a:defRPr/>
            </a:pPr>
            <a:r>
              <a:rPr kumimoji="0" lang="en-US" sz="1200" b="0" i="0" u="none" strike="noStrike" kern="0" cap="none" spc="0" normalizeH="0" baseline="30000" noProof="0" dirty="0">
                <a:ln>
                  <a:noFill/>
                </a:ln>
                <a:solidFill>
                  <a:prstClr val="black"/>
                </a:solidFill>
                <a:effectLst/>
                <a:uLnTx/>
                <a:uFillTx/>
              </a:rPr>
              <a:t>1</a:t>
            </a:r>
            <a:r>
              <a:rPr kumimoji="0" lang="en-US" sz="1200" b="0" i="0" u="none" strike="noStrike" kern="0" cap="none" spc="0" normalizeH="0" baseline="0" noProof="0" dirty="0">
                <a:ln>
                  <a:noFill/>
                </a:ln>
                <a:solidFill>
                  <a:prstClr val="black"/>
                </a:solidFill>
                <a:effectLst/>
                <a:uLnTx/>
                <a:uFillTx/>
              </a:rPr>
              <a:t> A command line tool is also available to script transfers.</a:t>
            </a:r>
            <a:br>
              <a:rPr kumimoji="0" lang="en-US" sz="1200" b="0" i="0" u="none" strike="noStrike" kern="0" cap="none" spc="0" normalizeH="0" baseline="0" noProof="0" dirty="0">
                <a:ln>
                  <a:noFill/>
                </a:ln>
                <a:solidFill>
                  <a:prstClr val="black"/>
                </a:solidFill>
                <a:effectLst/>
                <a:uLnTx/>
                <a:uFillTx/>
              </a:rPr>
            </a:br>
            <a:r>
              <a:rPr kumimoji="0" lang="en-US" sz="1200" b="0" i="0" u="none" strike="noStrike" kern="0" cap="none" spc="0" normalizeH="0" baseline="30000" noProof="0" dirty="0">
                <a:ln>
                  <a:noFill/>
                </a:ln>
                <a:solidFill>
                  <a:prstClr val="black"/>
                </a:solidFill>
                <a:effectLst/>
                <a:uLnTx/>
                <a:uFillTx/>
              </a:rPr>
              <a:t>2</a:t>
            </a:r>
            <a:r>
              <a:rPr kumimoji="0" lang="en-US" sz="1200" b="0" i="0" u="none" strike="noStrike" kern="0" cap="none" spc="0" normalizeH="0" baseline="0" noProof="0" dirty="0">
                <a:ln>
                  <a:noFill/>
                </a:ln>
                <a:solidFill>
                  <a:prstClr val="black"/>
                </a:solidFill>
                <a:effectLst/>
                <a:uLnTx/>
                <a:uFillTx/>
              </a:rPr>
              <a:t> Subject to agreed storage quotas.</a:t>
            </a:r>
            <a:br>
              <a:rPr kumimoji="0" lang="en-US" sz="1200" b="0" i="0" u="none" strike="noStrike" kern="0" cap="none" spc="0" normalizeH="0" baseline="0" noProof="0" dirty="0">
                <a:ln>
                  <a:noFill/>
                </a:ln>
                <a:solidFill>
                  <a:prstClr val="black"/>
                </a:solidFill>
                <a:effectLst/>
                <a:uLnTx/>
                <a:uFillTx/>
              </a:rPr>
            </a:br>
            <a:r>
              <a:rPr kumimoji="0" lang="en-US" sz="1200" b="0" i="0" u="none" strike="noStrike" kern="0" cap="none" spc="0" normalizeH="0" baseline="30000" noProof="0" dirty="0">
                <a:ln>
                  <a:noFill/>
                </a:ln>
                <a:solidFill>
                  <a:prstClr val="black"/>
                </a:solidFill>
                <a:effectLst/>
                <a:uLnTx/>
                <a:uFillTx/>
              </a:rPr>
              <a:t>3</a:t>
            </a:r>
            <a:r>
              <a:rPr kumimoji="0" lang="en-US" sz="1200" b="0" i="0" u="none" strike="noStrike" kern="0" cap="none" spc="0" normalizeH="0" baseline="0" noProof="0" dirty="0">
                <a:ln>
                  <a:noFill/>
                </a:ln>
                <a:solidFill>
                  <a:prstClr val="black"/>
                </a:solidFill>
                <a:effectLst/>
                <a:uLnTx/>
                <a:uFillTx/>
              </a:rPr>
              <a:t> The speed of transfer is always dependent on local network performance (end to end).</a:t>
            </a:r>
            <a:br>
              <a:rPr kumimoji="0" lang="en-US" sz="1400" b="0" i="0" u="none" strike="noStrike" kern="0" cap="none" spc="0" normalizeH="0" baseline="0" noProof="0" dirty="0">
                <a:ln>
                  <a:noFill/>
                </a:ln>
                <a:solidFill>
                  <a:prstClr val="black"/>
                </a:solidFill>
                <a:effectLst/>
                <a:uLnTx/>
                <a:uFillTx/>
              </a:rPr>
            </a:br>
            <a:br>
              <a:rPr kumimoji="0" lang="en-US" sz="1400" b="0" i="0" u="none" strike="noStrike" kern="0" cap="none" spc="0" normalizeH="0" baseline="0" noProof="0" dirty="0">
                <a:ln>
                  <a:noFill/>
                </a:ln>
                <a:solidFill>
                  <a:prstClr val="black"/>
                </a:solidFill>
                <a:effectLst/>
                <a:uLnTx/>
                <a:uFillTx/>
              </a:rPr>
            </a:br>
            <a:endParaRPr kumimoji="0" lang="en-IE" sz="1400" b="0" i="0" u="none" strike="noStrike" kern="0" cap="none" spc="0" normalizeH="0" baseline="0" noProof="0" dirty="0">
              <a:ln>
                <a:noFill/>
              </a:ln>
              <a:solidFill>
                <a:prstClr val="black"/>
              </a:solidFill>
              <a:effectLst/>
              <a:uLnTx/>
              <a:uFillTx/>
            </a:endParaRPr>
          </a:p>
        </p:txBody>
      </p:sp>
      <p:sp>
        <p:nvSpPr>
          <p:cNvPr id="7" name="Title 2"/>
          <p:cNvSpPr txBox="1">
            <a:spLocks/>
          </p:cNvSpPr>
          <p:nvPr/>
        </p:nvSpPr>
        <p:spPr>
          <a:xfrm>
            <a:off x="457201" y="624840"/>
            <a:ext cx="10969943" cy="6096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none" spc="0" normalizeH="0" baseline="0" noProof="0" dirty="0">
                <a:ln>
                  <a:noFill/>
                </a:ln>
                <a:solidFill>
                  <a:srgbClr val="60249E"/>
                </a:solidFill>
                <a:effectLst/>
                <a:uLnTx/>
                <a:uFillTx/>
                <a:latin typeface="Arial" panose="020B0604020202020204"/>
                <a:ea typeface="+mj-ea"/>
                <a:cs typeface="+mj-cs"/>
              </a:rPr>
              <a:t>BES File Exchange </a:t>
            </a:r>
            <a:r>
              <a:rPr kumimoji="0" lang="en-US" sz="3600" b="1" i="0" u="none" strike="noStrike" kern="1200" cap="none" spc="0" normalizeH="0" baseline="0" noProof="0">
                <a:ln>
                  <a:noFill/>
                </a:ln>
                <a:solidFill>
                  <a:srgbClr val="60249E"/>
                </a:solidFill>
                <a:effectLst/>
                <a:uLnTx/>
                <a:uFillTx/>
                <a:latin typeface="Arial" panose="020B0604020202020204"/>
                <a:ea typeface="+mj-ea"/>
                <a:cs typeface="+mj-cs"/>
              </a:rPr>
              <a:t>Service (SEEBURGER FXS</a:t>
            </a:r>
            <a:r>
              <a:rPr kumimoji="0" lang="en-US" sz="3600" b="1" i="0" u="none" strike="noStrike" kern="1200" cap="none" spc="0" normalizeH="0" baseline="0" noProof="0" dirty="0">
                <a:ln>
                  <a:noFill/>
                </a:ln>
                <a:solidFill>
                  <a:srgbClr val="60249E"/>
                </a:solidFill>
                <a:effectLst/>
                <a:uLnTx/>
                <a:uFillTx/>
                <a:latin typeface="Arial" panose="020B0604020202020204"/>
                <a:ea typeface="+mj-ea"/>
                <a:cs typeface="+mj-cs"/>
              </a:rPr>
              <a:t>)</a:t>
            </a:r>
          </a:p>
        </p:txBody>
      </p:sp>
    </p:spTree>
    <p:extLst>
      <p:ext uri="{BB962C8B-B14F-4D97-AF65-F5344CB8AC3E}">
        <p14:creationId xmlns:p14="http://schemas.microsoft.com/office/powerpoint/2010/main" val="457325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y8BDDUCi6UW_FuEDlnF.gw"/>
</p:tagLst>
</file>

<file path=ppt/theme/theme1.xml><?xml version="1.0" encoding="utf-8"?>
<a:theme xmlns:a="http://schemas.openxmlformats.org/drawingml/2006/main" name="DXC">
  <a:themeElements>
    <a:clrScheme name="DXC New Brand Palette">
      <a:dk1>
        <a:srgbClr val="000000"/>
      </a:dk1>
      <a:lt1>
        <a:srgbClr val="FFFFFF"/>
      </a:lt1>
      <a:dk2>
        <a:srgbClr val="D9D9D6"/>
      </a:dk2>
      <a:lt2>
        <a:srgbClr val="FFCD00"/>
      </a:lt2>
      <a:accent1>
        <a:srgbClr val="5F249F"/>
      </a:accent1>
      <a:accent2>
        <a:srgbClr val="00968F"/>
      </a:accent2>
      <a:accent3>
        <a:srgbClr val="00A3E1"/>
      </a:accent3>
      <a:accent4>
        <a:srgbClr val="006975"/>
      </a:accent4>
      <a:accent5>
        <a:srgbClr val="6CC24A"/>
      </a:accent5>
      <a:accent6>
        <a:srgbClr val="ED9B33"/>
      </a:accent6>
      <a:hlink>
        <a:srgbClr val="000000"/>
      </a:hlink>
      <a:folHlink>
        <a:srgbClr val="666666"/>
      </a:folHlink>
    </a:clrScheme>
    <a:fontScheme name="DXC">
      <a:majorFont>
        <a:latin typeface="Arial"/>
        <a:ea typeface=""/>
        <a:cs typeface=""/>
      </a:majorFont>
      <a:minorFont>
        <a:latin typeface="Arial"/>
        <a:ea typeface=""/>
        <a:cs typeface=""/>
      </a:minorFont>
    </a:fontScheme>
    <a:fmtScheme name="DXC">
      <a:fillStyleLst>
        <a:solidFill>
          <a:schemeClr val="phClr"/>
        </a:solidFill>
        <a:solidFill>
          <a:schemeClr val="phClr"/>
        </a:solidFill>
        <a:solidFill>
          <a:schemeClr val="phClr"/>
        </a:solidFill>
      </a:fillStyleLst>
      <a:lnStyleLst>
        <a:ln w="6350" cap="sq" cmpd="sng" algn="ctr">
          <a:solidFill>
            <a:schemeClr val="phClr"/>
          </a:solidFill>
          <a:prstDash val="solid"/>
        </a:ln>
        <a:ln w="6350" cap="sq" cmpd="sng" algn="ctr">
          <a:solidFill>
            <a:schemeClr val="phClr"/>
          </a:solidFill>
          <a:prstDash val="solid"/>
        </a:ln>
        <a:ln w="6350" cap="sq"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style>
        <a:lnRef idx="0">
          <a:schemeClr val="accent1"/>
        </a:lnRef>
        <a:fillRef idx="1">
          <a:schemeClr val="accent1"/>
        </a:fillRef>
        <a:effectRef idx="0">
          <a:schemeClr val="accent1"/>
        </a:effectRef>
        <a:fontRef idx="minor">
          <a:schemeClr val="lt1"/>
        </a:fontRef>
      </a:style>
    </a:spDef>
    <a:lnDef>
      <a:spPr>
        <a:ln w="6350" cap="sq"/>
      </a:spPr>
      <a:bodyPr/>
      <a:lstStyle/>
      <a:style>
        <a:lnRef idx="1">
          <a:schemeClr val="accent1"/>
        </a:lnRef>
        <a:fillRef idx="0">
          <a:schemeClr val="accent1"/>
        </a:fillRef>
        <a:effectRef idx="0">
          <a:schemeClr val="accent1"/>
        </a:effectRef>
        <a:fontRef idx="minor">
          <a:schemeClr val="lt1"/>
        </a:fontRef>
      </a:style>
    </a:lnDef>
    <a:txDef>
      <a:spPr>
        <a:noFill/>
      </a:spPr>
      <a:bodyPr wrap="square" rtlCol="0">
        <a:spAutoFit/>
      </a:bodyPr>
      <a:lstStyle>
        <a:defPPr algn="l">
          <a:lnSpc>
            <a:spcPct val="90000"/>
          </a:lnSpc>
          <a:spcAft>
            <a:spcPts val="400"/>
          </a:spcAft>
          <a:defRPr sz="2000" dirty="0"/>
        </a:defPPr>
      </a:lstStyle>
    </a:txDef>
  </a:objectDefaults>
  <a:extraClrSchemeLst/>
  <a:custClrLst>
    <a:custClr name="DXC Bright Purple">
      <a:srgbClr val="5F249F"/>
    </a:custClr>
    <a:custClr name="White">
      <a:srgbClr val="FFFFFF"/>
    </a:custClr>
    <a:custClr name="DXC Light Gray">
      <a:srgbClr val="D9D9D6"/>
    </a:custClr>
    <a:custClr name="DXC Medium Gray">
      <a:srgbClr val="969696"/>
    </a:custClr>
    <a:custClr name="DXC Dark Gray">
      <a:srgbClr val="63666A"/>
    </a:custClr>
    <a:custClr name="Black">
      <a:srgbClr val="000000"/>
    </a:custClr>
    <a:custClr name="DXC Bright Teal">
      <a:srgbClr val="00968F"/>
    </a:custClr>
    <a:custClr name="DXC Blue">
      <a:srgbClr val="00A3E1"/>
    </a:custClr>
    <a:custClr name="DXC Dark Teal">
      <a:srgbClr val="006975"/>
    </a:custClr>
    <a:custClr name="DXC Green">
      <a:srgbClr val="6CC24A"/>
    </a:custClr>
    <a:custClr name="DXC Orange">
      <a:srgbClr val="ED9B33"/>
    </a:custClr>
    <a:custClr name="DXC Gold">
      <a:srgbClr val="FFCD00"/>
    </a:custClr>
    <a:custClr name="DXC Dark Purple">
      <a:srgbClr val="330072"/>
    </a:custClr>
    <a:custClr name="DXC Yellow">
      <a:srgbClr val="F9F048"/>
    </a:custClr>
  </a:custClrLst>
  <a:extLst>
    <a:ext uri="{05A4C25C-085E-4340-85A3-A5531E510DB2}">
      <thm15:themeFamily xmlns:thm15="http://schemas.microsoft.com/office/thememl/2012/main" name="Presentation14" id="{ADF4E08F-6A9F-4DEC-B3C4-A0DE901E4FB5}" vid="{C7099796-88DF-4C34-958B-7A6E40E7E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SP_6075a-21_Purple Tab Shape Template_051921</Template>
  <TotalTime>2036</TotalTime>
  <Words>4104</Words>
  <Application>Microsoft Office PowerPoint</Application>
  <PresentationFormat>Custom</PresentationFormat>
  <Paragraphs>598</Paragraphs>
  <Slides>24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Futura Bk</vt:lpstr>
      <vt:lpstr>HP Simplified</vt:lpstr>
      <vt:lpstr>Times</vt:lpstr>
      <vt:lpstr>Wingdings</vt:lpstr>
      <vt:lpstr>DXC</vt:lpstr>
      <vt:lpstr>Business Exchange Services (BES)</vt:lpstr>
      <vt:lpstr>DXC’s Proven Service – Business Exchange Services</vt:lpstr>
      <vt:lpstr>BES Serves Many Global Enterprises</vt:lpstr>
      <vt:lpstr>Trading Partner EDI Integration for Mission-critical Processes</vt:lpstr>
      <vt:lpstr>BES Solutions and Value Provided bes-sales-support@dxc.com</vt:lpstr>
      <vt:lpstr>Operational Models</vt:lpstr>
      <vt:lpstr>EDI Challenges Typical in the Industry</vt:lpstr>
      <vt:lpstr>The case for EDI Managed Service</vt:lpstr>
      <vt:lpstr>BES EDI Framework – A Multi-Enterprise Collaboration Service</vt:lpstr>
      <vt:lpstr>DXC Global Shared Platform (GSP) </vt:lpstr>
      <vt:lpstr>BES’ Translation Platform</vt:lpstr>
      <vt:lpstr>BES Managed File Transfer Network (MFT Network)</vt:lpstr>
      <vt:lpstr>MFT Network and Protocol Support</vt:lpstr>
      <vt:lpstr>DXC BES SEEBURGER COE</vt:lpstr>
      <vt:lpstr>Customer Case Study: Major Office Supplies CPG</vt:lpstr>
      <vt:lpstr>Thank you.</vt:lpstr>
      <vt:lpstr>PowerPoint Presentation</vt:lpstr>
      <vt:lpstr>How Clients make use of DXC BES: Use Case 1 - Consolidate trading partner communications with MFT Network</vt:lpstr>
      <vt:lpstr>How Clients make use of DXC BES: Use Case 2 – Migrate all EDI processing to EDI Managed Service</vt:lpstr>
      <vt:lpstr>Benefits</vt:lpstr>
      <vt:lpstr>Some DXC EDI references</vt:lpstr>
      <vt:lpstr>BES Automotive Industry Experience</vt:lpstr>
      <vt:lpstr>Data Centers/Hosting Facilities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is Arial Bold 54pt, up to three lines</dc:title>
  <dc:subject/>
  <dc:creator>Dilling, Judy</dc:creator>
  <cp:keywords/>
  <dc:description/>
  <cp:lastModifiedBy>Bassett, Michael</cp:lastModifiedBy>
  <cp:revision>9</cp:revision>
  <dcterms:created xsi:type="dcterms:W3CDTF">2021-06-09T12:09:18Z</dcterms:created>
  <dcterms:modified xsi:type="dcterms:W3CDTF">2023-08-09T16:00:29Z</dcterms:modified>
  <cp:category/>
</cp:coreProperties>
</file>