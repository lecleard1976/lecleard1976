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891" r:id="rId5"/>
    <p:sldMasterId id="2147484008" r:id="rId6"/>
  </p:sldMasterIdLst>
  <p:notesMasterIdLst>
    <p:notesMasterId r:id="rId8"/>
  </p:notesMasterIdLst>
  <p:handoutMasterIdLst>
    <p:handoutMasterId r:id="rId9"/>
  </p:handoutMasterIdLst>
  <p:sldIdLst>
    <p:sldId id="2134804452" r:id="rId7"/>
  </p:sldIdLst>
  <p:sldSz cx="14630400" cy="8229600"/>
  <p:notesSz cx="9601200" cy="7315200"/>
  <p:defaultTextStyle>
    <a:defPPr>
      <a:defRPr lang="en-US"/>
    </a:defPPr>
    <a:lvl1pPr marL="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usiness Exchange Services (BES)" id="{02122BD8-F88C-4FAE-BCAC-801CD83CCC71}">
          <p14:sldIdLst>
            <p14:sldId id="21348044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2" userDrawn="1">
          <p15:clr>
            <a:srgbClr val="A4A3A4"/>
          </p15:clr>
        </p15:guide>
        <p15:guide id="2" orient="horz" pos="2592" userDrawn="1">
          <p15:clr>
            <a:srgbClr val="A4A3A4"/>
          </p15:clr>
        </p15:guide>
        <p15:guide id="3" orient="horz" pos="4522" userDrawn="1">
          <p15:clr>
            <a:srgbClr val="A4A3A4"/>
          </p15:clr>
        </p15:guide>
        <p15:guide id="4" orient="horz" pos="4896" userDrawn="1">
          <p15:clr>
            <a:srgbClr val="A4A3A4"/>
          </p15:clr>
        </p15:guide>
        <p15:guide id="5" pos="7488" userDrawn="1">
          <p15:clr>
            <a:srgbClr val="A4A3A4"/>
          </p15:clr>
        </p15:guide>
        <p15:guide id="6" pos="432" userDrawn="1">
          <p15:clr>
            <a:srgbClr val="A4A3A4"/>
          </p15:clr>
        </p15:guide>
        <p15:guide id="7" pos="3024" userDrawn="1">
          <p15:clr>
            <a:srgbClr val="A4A3A4"/>
          </p15:clr>
        </p15:guide>
        <p15:guide id="8" pos="4472" userDrawn="1">
          <p15:clr>
            <a:srgbClr val="A4A3A4"/>
          </p15:clr>
        </p15:guide>
        <p15:guide id="9" pos="4464" userDrawn="1">
          <p15:clr>
            <a:srgbClr val="A4A3A4"/>
          </p15:clr>
        </p15:guide>
        <p15:guide id="10" pos="4631" userDrawn="1">
          <p15:clr>
            <a:srgbClr val="A4A3A4"/>
          </p15:clr>
        </p15:guide>
        <p15:guide id="11" pos="4752" userDrawn="1">
          <p15:clr>
            <a:srgbClr val="A4A3A4"/>
          </p15:clr>
        </p15:guide>
        <p15:guide id="12" pos="5904" userDrawn="1">
          <p15:clr>
            <a:srgbClr val="A4A3A4"/>
          </p15:clr>
        </p15:guide>
        <p15:guide id="13" pos="6192" userDrawn="1">
          <p15:clr>
            <a:srgbClr val="A4A3A4"/>
          </p15:clr>
        </p15:guide>
        <p15:guide id="14" pos="87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uthor" initials="A" lastIdx="14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5F249F"/>
    <a:srgbClr val="FFCD00"/>
    <a:srgbClr val="46178F"/>
    <a:srgbClr val="D9D9D6"/>
    <a:srgbClr val="6CC24A"/>
    <a:srgbClr val="EEC100"/>
    <a:srgbClr val="F7CF2B"/>
    <a:srgbClr val="D9D9D9"/>
    <a:srgbClr val="6F2C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12570-5F4D-4F05-AC9D-C1500516C0BA}" v="1" dt="2023-11-16T21:12:16.614"/>
  </p1510:revLst>
</p1510:revInfo>
</file>

<file path=ppt/tableStyles.xml><?xml version="1.0" encoding="utf-8"?>
<a:tblStyleLst xmlns:a="http://schemas.openxmlformats.org/drawingml/2006/main" def="{45BD5076-5073-49C7-9E08-65982F3C9860}">
  <a:tblStyle styleId="{45BD5076-5073-49C7-9E08-65982F3C9860}" styleName="DXC Table">
    <a:wholeTbl>
      <a:tcTxStyle>
        <a:fontRef idx="minor"/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000000"/>
              </a:solidFill>
            </a:ln>
          </a:top>
          <a:bottom>
            <a:ln w="6350">
              <a:solidFill>
                <a:srgbClr val="000000"/>
              </a:solidFill>
            </a:ln>
          </a:bottom>
          <a:insideH>
            <a:ln w="6350">
              <a:solidFill>
                <a:srgbClr val="000000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ajor"/>
        <a:srgbClr val="000000"/>
      </a:tcTxStyle>
      <a:tcStyle>
        <a:tcBdr/>
      </a:tcStyle>
    </a:lastCol>
    <a:firstCol>
      <a:tcTxStyle b="on">
        <a:fontRef idx="major"/>
        <a:srgbClr val="000000"/>
      </a:tcTxStyle>
      <a:tcStyle>
        <a:tcBdr/>
      </a:tcStyle>
    </a:firstCol>
    <a:lastRow>
      <a:tcTxStyle b="on">
        <a:fontRef idx="major"/>
        <a:srgbClr val="000000"/>
      </a:tcTxStyle>
      <a:tcStyle>
        <a:tcBdr>
          <a:top>
            <a:ln w="19050">
              <a:solidFill>
                <a:srgbClr val="000000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ajor"/>
        <a:srgbClr val="000000"/>
      </a:tcTxStyle>
      <a:tcStyle>
        <a:tcBdr>
          <a:top>
            <a:ln>
              <a:noFill/>
            </a:ln>
          </a:top>
          <a:bottom>
            <a:ln w="19050">
              <a:solidFill>
                <a:srgbClr val="000000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67" autoAdjust="0"/>
    <p:restoredTop sz="96357" autoAdjust="0"/>
  </p:normalViewPr>
  <p:slideViewPr>
    <p:cSldViewPr snapToGrid="0">
      <p:cViewPr varScale="1">
        <p:scale>
          <a:sx n="93" d="100"/>
          <a:sy n="93" d="100"/>
        </p:scale>
        <p:origin x="774" y="102"/>
      </p:cViewPr>
      <p:guideLst>
        <p:guide orient="horz" pos="392"/>
        <p:guide orient="horz" pos="2592"/>
        <p:guide orient="horz" pos="4522"/>
        <p:guide orient="horz" pos="4896"/>
        <p:guide pos="7488"/>
        <p:guide pos="432"/>
        <p:guide pos="3024"/>
        <p:guide pos="4472"/>
        <p:guide pos="4464"/>
        <p:guide pos="4631"/>
        <p:guide pos="4752"/>
        <p:guide pos="5904"/>
        <p:guide pos="6192"/>
        <p:guide pos="87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48"/>
    </p:cViewPr>
  </p:sorterViewPr>
  <p:notesViewPr>
    <p:cSldViewPr snapToGrid="0">
      <p:cViewPr>
        <p:scale>
          <a:sx n="1" d="2"/>
          <a:sy n="1" d="2"/>
        </p:scale>
        <p:origin x="2995" y="883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160520" cy="365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60" y="0"/>
            <a:ext cx="4160520" cy="365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EA277-358B-E94E-961E-33D0503F6849}" type="datetimeFigureOut">
              <a:rPr lang="en-US" smtClean="0">
                <a:latin typeface="Arial"/>
                <a:cs typeface="Arial"/>
              </a:rPr>
              <a:t>11/16/2023</a:t>
            </a:fld>
            <a:endParaRPr lang="en-US" dirty="0"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948171"/>
            <a:ext cx="416052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60" y="6948171"/>
            <a:ext cx="416052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C7428-30A9-FD43-A0D8-DB91B17088EC}" type="slidenum">
              <a:rPr lang="en-US" smtClean="0">
                <a:latin typeface="Arial"/>
                <a:cs typeface="Arial"/>
              </a:rPr>
              <a:t>‹#›</a:t>
            </a:fld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7649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160520" cy="365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60" y="0"/>
            <a:ext cx="4160520" cy="365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fld id="{73B26A0F-F4D6-9B4F-A87B-D8948CDE3BB4}" type="datetimeFigureOut">
              <a:rPr lang="en-US" smtClean="0"/>
              <a:pPr/>
              <a:t>11/16/2023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7688"/>
            <a:ext cx="4876800" cy="2744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33401" y="3474721"/>
            <a:ext cx="8534400" cy="329184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948171"/>
            <a:ext cx="416052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60" y="6948171"/>
            <a:ext cx="416052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fld id="{7DE2E8FF-3D0C-9D4D-B4D1-3089215958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1349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Arial"/>
      </a:defRPr>
    </a:lvl1pPr>
    <a:lvl2pPr marL="73152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2pPr>
    <a:lvl3pPr marL="146304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3pPr>
    <a:lvl4pPr marL="219456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4pPr>
    <a:lvl5pPr marL="292608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5pPr>
    <a:lvl6pPr marL="365760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399"/>
            <a:ext cx="13258800" cy="5121276"/>
          </a:xfrm>
        </p:spPr>
        <p:txBody>
          <a:bodyPr numCol="2" spcCol="457200">
            <a:normAutofit/>
          </a:bodyPr>
          <a:lstStyle>
            <a:lvl1pPr marL="457200" indent="-457200">
              <a:spcBef>
                <a:spcPts val="900"/>
              </a:spcBef>
              <a:buFont typeface="+mj-lt"/>
              <a:buAutoNum type="arabicPeriod"/>
              <a:tabLst>
                <a:tab pos="6337300" algn="r"/>
              </a:tabLst>
              <a:defRPr sz="2000"/>
            </a:lvl1pPr>
            <a:lvl2pPr marL="685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2pPr>
            <a:lvl3pPr marL="914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3pPr>
            <a:lvl4pPr marL="1143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4pPr>
            <a:lvl5pPr marL="13716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5pPr>
            <a:lvl6pPr marL="16002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6pPr>
            <a:lvl7pPr marL="1828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7pPr>
            <a:lvl8pPr marL="2057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8pPr>
            <a:lvl9pPr marL="2286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31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5695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200" indent="-228600">
              <a:buFont typeface="Arial" pitchFamily="34" charset="0"/>
              <a:buChar char="–"/>
              <a:defRPr/>
            </a:lvl4pPr>
            <a:lvl5pPr marL="685800" indent="-228600">
              <a:buFont typeface="Arial" pitchFamily="34" charset="0"/>
              <a:buChar char="–"/>
              <a:defRPr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0852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itchFamily="34" charset="0"/>
              <a:buChar char="•"/>
              <a:defRPr b="0"/>
            </a:lvl1pPr>
            <a:lvl2pPr marL="457200" indent="-228600">
              <a:spcBef>
                <a:spcPts val="600"/>
              </a:spcBef>
              <a:buFont typeface="Arial" pitchFamily="34" charset="0"/>
              <a:buChar char="–"/>
              <a:defRPr b="0"/>
            </a:lvl2pPr>
            <a:lvl3pPr marL="685800" indent="-228600">
              <a:spcBef>
                <a:spcPts val="600"/>
              </a:spcBef>
              <a:buFont typeface="Arial" pitchFamily="34" charset="0"/>
              <a:buChar char="–"/>
              <a:defRPr b="0"/>
            </a:lvl3pPr>
            <a:lvl4pPr marL="914400" indent="-228600">
              <a:spcBef>
                <a:spcPts val="600"/>
              </a:spcBef>
              <a:buFont typeface="Arial" pitchFamily="34" charset="0"/>
              <a:buChar char="–"/>
              <a:defRPr b="0"/>
            </a:lvl4pPr>
            <a:lvl5pPr marL="1143000" indent="-228600">
              <a:spcBef>
                <a:spcPts val="600"/>
              </a:spcBef>
              <a:buFont typeface="Arial" pitchFamily="34" charset="0"/>
              <a:buChar char="–"/>
              <a:defRPr b="0"/>
            </a:lvl5pPr>
            <a:lvl6pPr marL="1371600" indent="-22860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200" indent="-22860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800" indent="-22860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400" indent="-22860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853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6400800" cy="5121276"/>
          </a:xfrm>
          <a:noFill/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 marL="457200" indent="-228600">
              <a:buFont typeface="Arial" pitchFamily="34" charset="0"/>
              <a:buChar char="–"/>
              <a:defRPr sz="2000"/>
            </a:lvl4pPr>
            <a:lvl5pPr marL="685800" indent="-228600">
              <a:buFont typeface="Arial" pitchFamily="34" charset="0"/>
              <a:buChar char="–"/>
              <a:defRPr sz="2000"/>
            </a:lvl5pPr>
            <a:lvl6pPr marL="914400" indent="-228600">
              <a:buFont typeface="Arial" pitchFamily="34" charset="0"/>
              <a:buChar char="–"/>
              <a:defRPr sz="2000" baseline="0"/>
            </a:lvl6pPr>
            <a:lvl7pPr marL="1143000" indent="-228600">
              <a:buFont typeface="Arial" pitchFamily="34" charset="0"/>
              <a:buChar char="–"/>
              <a:defRPr sz="2000" baseline="0"/>
            </a:lvl7pPr>
            <a:lvl8pPr marL="1371600" indent="-228600">
              <a:buFont typeface="Arial" pitchFamily="34" charset="0"/>
              <a:buChar char="–"/>
              <a:defRPr sz="2000" baseline="0"/>
            </a:lvl8pPr>
            <a:lvl9pPr marL="1600200" indent="-228600">
              <a:buFont typeface="Arial" pitchFamily="34" charset="0"/>
              <a:buChar char="–"/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00" y="2057398"/>
            <a:ext cx="6400800" cy="51212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2435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9829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678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73152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639763"/>
            <a:ext cx="6400800" cy="1417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ct val="50000"/>
                </a:spcBef>
              </a:pPr>
              <a:t>November 16, 2023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11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2971800" y="7580439"/>
            <a:ext cx="41148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 dirty="0"/>
              <a:t>© 2023 DXC Technology Company. All rights reserved. Low Sensitivity. For DXC internal use only.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85800" y="2057398"/>
            <a:ext cx="6400800" cy="512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C091593C-4446-42A7-AA75-762280E3CD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0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85800" y="2057399"/>
            <a:ext cx="11201400" cy="5121275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defRPr sz="5400">
                <a:solidFill>
                  <a:schemeClr val="accent1"/>
                </a:solidFill>
              </a:defRPr>
            </a:lvl1pPr>
            <a:lvl2pPr marL="0" indent="0">
              <a:spcBef>
                <a:spcPts val="900"/>
              </a:spcBef>
              <a:buFontTx/>
              <a:buNone/>
              <a:defRPr/>
            </a:lvl2pPr>
            <a:lvl3pPr marL="0" indent="0">
              <a:spcBef>
                <a:spcPts val="900"/>
              </a:spcBef>
              <a:buFontTx/>
              <a:buNone/>
              <a:defRPr/>
            </a:lvl3pPr>
            <a:lvl4pPr marL="0" indent="0">
              <a:spcBef>
                <a:spcPts val="900"/>
              </a:spcBef>
              <a:buFontTx/>
              <a:buNone/>
              <a:defRPr/>
            </a:lvl4pPr>
            <a:lvl5pPr marL="0" indent="0">
              <a:spcBef>
                <a:spcPts val="900"/>
              </a:spcBef>
              <a:buFontTx/>
              <a:buNone/>
              <a:defRPr/>
            </a:lvl5pPr>
            <a:lvl6pPr marL="0" indent="0">
              <a:spcBef>
                <a:spcPts val="900"/>
              </a:spcBef>
              <a:buFontTx/>
              <a:buNone/>
              <a:defRPr baseline="0"/>
            </a:lvl6pPr>
            <a:lvl7pPr marL="0" indent="0">
              <a:spcBef>
                <a:spcPts val="900"/>
              </a:spcBef>
              <a:buFontTx/>
              <a:buNone/>
              <a:defRPr baseline="0"/>
            </a:lvl7pPr>
            <a:lvl8pPr marL="0" indent="0">
              <a:spcBef>
                <a:spcPts val="900"/>
              </a:spcBef>
              <a:buFontTx/>
              <a:buNone/>
              <a:defRPr baseline="0"/>
            </a:lvl8pPr>
            <a:lvl9pPr marL="0" indent="0">
              <a:spcBef>
                <a:spcPts val="900"/>
              </a:spcBef>
              <a:buFontTx/>
              <a:buNone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86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C3022F4-EDBC-447F-B1B1-AB6CCCF7DF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4625662" cy="8229600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November 16, 2023</a:t>
            </a:fld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</a:rPr>
              <a:t>© 2023 DXC Technology Company. All rights reserved. Low Sensitivity. For DXC internal use only.</a:t>
            </a:r>
          </a:p>
        </p:txBody>
      </p:sp>
      <p:sp>
        <p:nvSpPr>
          <p:cNvPr id="46" name="Text Box 115">
            <a:extLst>
              <a:ext uri="{FF2B5EF4-FFF2-40B4-BE49-F238E27FC236}">
                <a16:creationId xmlns:a16="http://schemas.microsoft.com/office/drawing/2014/main" id="{BAAC8F77-03DC-4B54-ABD4-487A7142E1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November 16, 2023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0C203C4F-2B7A-44AE-9CC5-974D0684C5F6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© 2023 DXC Technology Company. All rights reserved. Low Sensitivity. For DXC internal use only.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925DB904-DAE2-4F1E-A174-E29E8F7511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26144"/>
            <a:ext cx="10414000" cy="1631255"/>
          </a:xfrm>
        </p:spPr>
        <p:txBody>
          <a:bodyPr anchor="b" anchorCtr="0">
            <a:no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410169"/>
            <a:ext cx="104139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9722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46304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November 16, 2023</a:t>
            </a:fld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</a:rPr>
              <a:t>© 2023 DXC Technology Company. All rights reserved. Low Sensitivity. For DXC internal use only.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A2BEF977-E587-4D30-B5BF-3E5AC49DEA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79053"/>
            <a:ext cx="2286000" cy="25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7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399"/>
            <a:ext cx="13258800" cy="5121276"/>
          </a:xfrm>
        </p:spPr>
        <p:txBody>
          <a:bodyPr numCol="2" spcCol="457200">
            <a:normAutofit/>
          </a:bodyPr>
          <a:lstStyle>
            <a:lvl1pPr marL="457200" indent="-457200">
              <a:spcBef>
                <a:spcPts val="900"/>
              </a:spcBef>
              <a:buFont typeface="+mj-lt"/>
              <a:buAutoNum type="arabicPeriod"/>
              <a:tabLst>
                <a:tab pos="6337300" algn="r"/>
              </a:tabLst>
              <a:defRPr sz="2000"/>
            </a:lvl1pPr>
            <a:lvl2pPr marL="685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2pPr>
            <a:lvl3pPr marL="914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3pPr>
            <a:lvl4pPr marL="1143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4pPr>
            <a:lvl5pPr marL="13716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5pPr>
            <a:lvl6pPr marL="16002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6pPr>
            <a:lvl7pPr marL="1828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7pPr>
            <a:lvl8pPr marL="2057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8pPr>
            <a:lvl9pPr marL="2286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05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34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200" indent="-228600">
              <a:buFont typeface="Arial" pitchFamily="34" charset="0"/>
              <a:buChar char="–"/>
              <a:defRPr/>
            </a:lvl4pPr>
            <a:lvl5pPr marL="685800" indent="-228600">
              <a:buFont typeface="Arial" pitchFamily="34" charset="0"/>
              <a:buChar char="–"/>
              <a:defRPr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89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itchFamily="34" charset="0"/>
              <a:buChar char="•"/>
              <a:defRPr b="0"/>
            </a:lvl1pPr>
            <a:lvl2pPr marL="457200" indent="-228600">
              <a:spcBef>
                <a:spcPts val="600"/>
              </a:spcBef>
              <a:buFont typeface="Arial" pitchFamily="34" charset="0"/>
              <a:buChar char="–"/>
              <a:defRPr b="0"/>
            </a:lvl2pPr>
            <a:lvl3pPr marL="685800" indent="-228600">
              <a:spcBef>
                <a:spcPts val="600"/>
              </a:spcBef>
              <a:buFont typeface="Arial" pitchFamily="34" charset="0"/>
              <a:buChar char="–"/>
              <a:defRPr b="0"/>
            </a:lvl3pPr>
            <a:lvl4pPr marL="914400" indent="-228600">
              <a:spcBef>
                <a:spcPts val="600"/>
              </a:spcBef>
              <a:buFont typeface="Arial" pitchFamily="34" charset="0"/>
              <a:buChar char="–"/>
              <a:defRPr b="0"/>
            </a:lvl4pPr>
            <a:lvl5pPr marL="1143000" indent="-228600">
              <a:spcBef>
                <a:spcPts val="600"/>
              </a:spcBef>
              <a:buFont typeface="Arial" pitchFamily="34" charset="0"/>
              <a:buChar char="–"/>
              <a:defRPr b="0"/>
            </a:lvl5pPr>
            <a:lvl6pPr marL="1371600" indent="-22860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200" indent="-22860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800" indent="-22860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400" indent="-22860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15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6400800" cy="5121276"/>
          </a:xfrm>
          <a:noFill/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 marL="457200" indent="-228600">
              <a:buFont typeface="Arial" pitchFamily="34" charset="0"/>
              <a:buChar char="–"/>
              <a:defRPr sz="2000"/>
            </a:lvl4pPr>
            <a:lvl5pPr marL="685800" indent="-228600">
              <a:buFont typeface="Arial" pitchFamily="34" charset="0"/>
              <a:buChar char="–"/>
              <a:defRPr sz="2000"/>
            </a:lvl5pPr>
            <a:lvl6pPr marL="914400" indent="-228600">
              <a:buFont typeface="Arial" pitchFamily="34" charset="0"/>
              <a:buChar char="–"/>
              <a:defRPr sz="2000" baseline="0"/>
            </a:lvl6pPr>
            <a:lvl7pPr marL="1143000" indent="-228600">
              <a:buFont typeface="Arial" pitchFamily="34" charset="0"/>
              <a:buChar char="–"/>
              <a:defRPr sz="2000" baseline="0"/>
            </a:lvl7pPr>
            <a:lvl8pPr marL="1371600" indent="-228600">
              <a:buFont typeface="Arial" pitchFamily="34" charset="0"/>
              <a:buChar char="–"/>
              <a:defRPr sz="2000" baseline="0"/>
            </a:lvl8pPr>
            <a:lvl9pPr marL="1600200" indent="-228600">
              <a:buFont typeface="Arial" pitchFamily="34" charset="0"/>
              <a:buChar char="–"/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00" y="2057398"/>
            <a:ext cx="6400800" cy="51212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32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9829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563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73152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639763"/>
            <a:ext cx="6400800" cy="14176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ct val="50000"/>
                </a:spcBef>
              </a:pPr>
              <a:t>November 16, 2023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11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/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2971800" y="7580439"/>
            <a:ext cx="41148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 dirty="0"/>
              <a:t>© 2023 DXC Technology Company. All rights reserved. Low Sensitivity. For DXC internal use only.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85800" y="2057398"/>
            <a:ext cx="6400800" cy="512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C091593C-4446-42A7-AA75-762280E3CD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8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85800" y="2057399"/>
            <a:ext cx="11201400" cy="5121275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defRPr sz="5400">
                <a:solidFill>
                  <a:schemeClr val="accent1"/>
                </a:solidFill>
              </a:defRPr>
            </a:lvl1pPr>
            <a:lvl2pPr marL="0" indent="0">
              <a:spcBef>
                <a:spcPts val="900"/>
              </a:spcBef>
              <a:buFontTx/>
              <a:buNone/>
              <a:defRPr/>
            </a:lvl2pPr>
            <a:lvl3pPr marL="0" indent="0">
              <a:spcBef>
                <a:spcPts val="900"/>
              </a:spcBef>
              <a:buFontTx/>
              <a:buNone/>
              <a:defRPr/>
            </a:lvl3pPr>
            <a:lvl4pPr marL="0" indent="0">
              <a:spcBef>
                <a:spcPts val="900"/>
              </a:spcBef>
              <a:buFontTx/>
              <a:buNone/>
              <a:defRPr/>
            </a:lvl4pPr>
            <a:lvl5pPr marL="0" indent="0">
              <a:spcBef>
                <a:spcPts val="900"/>
              </a:spcBef>
              <a:buFontTx/>
              <a:buNone/>
              <a:defRPr/>
            </a:lvl5pPr>
            <a:lvl6pPr marL="0" indent="0">
              <a:spcBef>
                <a:spcPts val="900"/>
              </a:spcBef>
              <a:buFontTx/>
              <a:buNone/>
              <a:defRPr baseline="0"/>
            </a:lvl6pPr>
            <a:lvl7pPr marL="0" indent="0">
              <a:spcBef>
                <a:spcPts val="900"/>
              </a:spcBef>
              <a:buFontTx/>
              <a:buNone/>
              <a:defRPr baseline="0"/>
            </a:lvl7pPr>
            <a:lvl8pPr marL="0" indent="0">
              <a:spcBef>
                <a:spcPts val="900"/>
              </a:spcBef>
              <a:buFontTx/>
              <a:buNone/>
              <a:defRPr baseline="0"/>
            </a:lvl8pPr>
            <a:lvl9pPr marL="0" indent="0">
              <a:spcBef>
                <a:spcPts val="900"/>
              </a:spcBef>
              <a:buFontTx/>
              <a:buNone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41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C3022F4-EDBC-447F-B1B1-AB6CCCF7DF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69" y="0"/>
            <a:ext cx="14625662" cy="8229600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November 16, 2023</a:t>
            </a:fld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/>
              <a:t>‹#›</a:t>
            </a:fld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</a:rPr>
              <a:t>© 2023 DXC Technology Company. All rights reserved. Low Sensitivity. For DXC internal use only.</a:t>
            </a:r>
          </a:p>
        </p:txBody>
      </p:sp>
      <p:sp>
        <p:nvSpPr>
          <p:cNvPr id="46" name="Text Box 115">
            <a:extLst>
              <a:ext uri="{FF2B5EF4-FFF2-40B4-BE49-F238E27FC236}">
                <a16:creationId xmlns:a16="http://schemas.microsoft.com/office/drawing/2014/main" id="{BAAC8F77-03DC-4B54-ABD4-487A7142E1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November 16, 2023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0C203C4F-2B7A-44AE-9CC5-974D0684C5F6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© 2023 DXC Technology Company. All rights reserved. Low Sensitivity. For DXC internal use only.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925DB904-DAE2-4F1E-A174-E29E8F7511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26144"/>
            <a:ext cx="10414000" cy="1631255"/>
          </a:xfrm>
        </p:spPr>
        <p:txBody>
          <a:bodyPr anchor="b" anchorCtr="0">
            <a:no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410169"/>
            <a:ext cx="104139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08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46304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November 16, 2023</a:t>
            </a:fld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/>
              <a:t>‹#›</a:t>
            </a:fld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</a:rPr>
              <a:t>© 2023 DXC Technology Company. All rights reserved. Low Sensitivity. For DXC internal use only.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A2BEF977-E587-4D30-B5BF-3E5AC49DEA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79053"/>
            <a:ext cx="2286000" cy="25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35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hit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526695" y="380393"/>
            <a:ext cx="11555765" cy="321072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defRPr sz="6400" b="1" i="0" spc="-160">
                <a:solidFill>
                  <a:schemeClr val="tx1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</p:spTree>
    <p:extLst>
      <p:ext uri="{BB962C8B-B14F-4D97-AF65-F5344CB8AC3E}">
        <p14:creationId xmlns:p14="http://schemas.microsoft.com/office/powerpoint/2010/main" val="3880972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 bwMode="black">
          <a:xfrm>
            <a:off x="530352" y="290849"/>
            <a:ext cx="13655549" cy="614968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525781" y="1430276"/>
            <a:ext cx="6449059" cy="5901604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7"/>
          </p:nvPr>
        </p:nvSpPr>
        <p:spPr>
          <a:xfrm>
            <a:off x="7310121" y="1430276"/>
            <a:ext cx="6304280" cy="5896180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09779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526695" y="1202225"/>
            <a:ext cx="12987529" cy="44319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88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7315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0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526695" y="376103"/>
            <a:ext cx="12987529" cy="689419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526695" y="1901954"/>
            <a:ext cx="12991795" cy="5166360"/>
          </a:xfrm>
        </p:spPr>
        <p:txBody>
          <a:bodyPr wrap="square">
            <a:noAutofit/>
          </a:bodyPr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9185959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530354" y="903558"/>
            <a:ext cx="13655550" cy="44319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88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7315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0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530352" y="290845"/>
            <a:ext cx="13655549" cy="689419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925492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F4DB5FF6-5C1C-FD44-8E2E-465FA30ECF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329410"/>
            <a:ext cx="833718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9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image" Target="../media/image6.sv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685800" y="639763"/>
            <a:ext cx="13258800" cy="141763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85799" y="2057399"/>
            <a:ext cx="13258799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0" name="Text Box 115"/>
          <p:cNvSpPr txBox="1">
            <a:spLocks noChangeArrowheads="1"/>
          </p:cNvSpPr>
          <p:nvPr userDrawn="1"/>
        </p:nvSpPr>
        <p:spPr bwMode="auto">
          <a:xfrm>
            <a:off x="11893550" y="7763344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November 16, 2023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61" name="Text Box 115"/>
          <p:cNvSpPr txBox="1">
            <a:spLocks noChangeArrowheads="1"/>
          </p:cNvSpPr>
          <p:nvPr userDrawn="1"/>
        </p:nvSpPr>
        <p:spPr bwMode="auto">
          <a:xfrm>
            <a:off x="13533120" y="7763346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62" name="Footer Placeholder 4"/>
          <p:cNvSpPr txBox="1">
            <a:spLocks/>
          </p:cNvSpPr>
          <p:nvPr userDrawn="1"/>
        </p:nvSpPr>
        <p:spPr>
          <a:xfrm>
            <a:off x="4800600" y="7763346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© 2023 DXC Technology Company. All rights reserved. Low Sensitivity. For DXC internal use only.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B6FF065E-2B34-4360-B045-0F02C20A28B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800" y="7763344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3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5" r:id="rId9"/>
    <p:sldLayoutId id="2147483906" r:id="rId10"/>
  </p:sldLayoutIdLst>
  <p:hf sldNum="0" hdr="0" ftr="0" dt="0"/>
  <p:txStyles>
    <p:titleStyle>
      <a:lvl1pPr algn="l" defTabSz="1463040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463040" rtl="0" eaLnBrk="1" latinLnBrk="0" hangingPunct="1">
        <a:spcBef>
          <a:spcPts val="12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463040" rtl="0" eaLnBrk="1" latinLnBrk="0" hangingPunct="1">
        <a:spcBef>
          <a:spcPts val="12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228600" algn="l" defTabSz="1463040" rtl="0" eaLnBrk="1" latinLnBrk="0" hangingPunct="1">
        <a:spcBef>
          <a:spcPts val="1200"/>
        </a:spcBef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1430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00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>
          <p15:clr>
            <a:srgbClr val="F26B43"/>
          </p15:clr>
        </p15:guide>
        <p15:guide id="2" pos="4608">
          <p15:clr>
            <a:srgbClr val="F26B43"/>
          </p15:clr>
        </p15:guide>
        <p15:guide id="3" pos="432">
          <p15:clr>
            <a:srgbClr val="F26B43"/>
          </p15:clr>
        </p15:guide>
        <p15:guide id="4" pos="3024">
          <p15:clr>
            <a:srgbClr val="F26B43"/>
          </p15:clr>
        </p15:guide>
        <p15:guide id="5" pos="3312">
          <p15:clr>
            <a:srgbClr val="F26B43"/>
          </p15:clr>
        </p15:guide>
        <p15:guide id="6" pos="4464">
          <p15:clr>
            <a:srgbClr val="F26B43"/>
          </p15:clr>
        </p15:guide>
        <p15:guide id="7" pos="4752">
          <p15:clr>
            <a:srgbClr val="F26B43"/>
          </p15:clr>
        </p15:guide>
        <p15:guide id="8" pos="5904">
          <p15:clr>
            <a:srgbClr val="F26B43"/>
          </p15:clr>
        </p15:guide>
        <p15:guide id="9" pos="6192">
          <p15:clr>
            <a:srgbClr val="F26B43"/>
          </p15:clr>
        </p15:guide>
        <p15:guide id="10" pos="7488">
          <p15:clr>
            <a:srgbClr val="F26B43"/>
          </p15:clr>
        </p15:guide>
        <p15:guide id="11" pos="8784">
          <p15:clr>
            <a:srgbClr val="F26B43"/>
          </p15:clr>
        </p15:guide>
        <p15:guide id="12" orient="horz" pos="1296">
          <p15:clr>
            <a:srgbClr val="F26B43"/>
          </p15:clr>
        </p15:guide>
        <p15:guide id="13" orient="horz" pos="4522">
          <p15:clr>
            <a:srgbClr val="F26B43"/>
          </p15:clr>
        </p15:guide>
        <p15:guide id="14" orient="horz" pos="48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685800" y="639763"/>
            <a:ext cx="13258800" cy="141763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85799" y="2057399"/>
            <a:ext cx="13258799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November 16, 2023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61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62" name="Footer Placeholder 4"/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© 2023 DXC Technology Company. All rights reserved. Low Sensitivity. For DXC internal use only.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B6FF065E-2B34-4360-B045-0F02C20A28B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1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21" r:id="rId9"/>
    <p:sldLayoutId id="2147484022" r:id="rId10"/>
    <p:sldLayoutId id="2147484024" r:id="rId11"/>
    <p:sldLayoutId id="2147484025" r:id="rId12"/>
    <p:sldLayoutId id="2147484026" r:id="rId13"/>
    <p:sldLayoutId id="2147484027" r:id="rId14"/>
    <p:sldLayoutId id="214748402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463040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463040" rtl="0" eaLnBrk="1" latinLnBrk="0" hangingPunct="1">
        <a:spcBef>
          <a:spcPts val="12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463040" rtl="0" eaLnBrk="1" latinLnBrk="0" hangingPunct="1">
        <a:spcBef>
          <a:spcPts val="12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228600" algn="l" defTabSz="1463040" rtl="0" eaLnBrk="1" latinLnBrk="0" hangingPunct="1">
        <a:spcBef>
          <a:spcPts val="1200"/>
        </a:spcBef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1430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00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>
          <p15:clr>
            <a:srgbClr val="F26B43"/>
          </p15:clr>
        </p15:guide>
        <p15:guide id="2" pos="4608">
          <p15:clr>
            <a:srgbClr val="F26B43"/>
          </p15:clr>
        </p15:guide>
        <p15:guide id="3" pos="432">
          <p15:clr>
            <a:srgbClr val="F26B43"/>
          </p15:clr>
        </p15:guide>
        <p15:guide id="4" pos="3024">
          <p15:clr>
            <a:srgbClr val="F26B43"/>
          </p15:clr>
        </p15:guide>
        <p15:guide id="5" pos="3312">
          <p15:clr>
            <a:srgbClr val="F26B43"/>
          </p15:clr>
        </p15:guide>
        <p15:guide id="6" pos="4464">
          <p15:clr>
            <a:srgbClr val="F26B43"/>
          </p15:clr>
        </p15:guide>
        <p15:guide id="7" pos="4752">
          <p15:clr>
            <a:srgbClr val="F26B43"/>
          </p15:clr>
        </p15:guide>
        <p15:guide id="8" pos="5904">
          <p15:clr>
            <a:srgbClr val="F26B43"/>
          </p15:clr>
        </p15:guide>
        <p15:guide id="9" pos="6192">
          <p15:clr>
            <a:srgbClr val="F26B43"/>
          </p15:clr>
        </p15:guide>
        <p15:guide id="10" pos="7488">
          <p15:clr>
            <a:srgbClr val="F26B43"/>
          </p15:clr>
        </p15:guide>
        <p15:guide id="11" pos="8784">
          <p15:clr>
            <a:srgbClr val="F26B43"/>
          </p15:clr>
        </p15:guide>
        <p15:guide id="12" orient="horz" pos="1296">
          <p15:clr>
            <a:srgbClr val="F26B43"/>
          </p15:clr>
        </p15:guide>
        <p15:guide id="13" orient="horz" pos="4522">
          <p15:clr>
            <a:srgbClr val="F26B43"/>
          </p15:clr>
        </p15:guide>
        <p15:guide id="14" orient="horz" pos="48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bes-sales-support@dxc.com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533232"/>
            <a:ext cx="11963399" cy="7822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ts val="3935"/>
              </a:lnSpc>
            </a:pPr>
            <a:r>
              <a:rPr spc="-6" dirty="0">
                <a:solidFill>
                  <a:srgbClr val="5F249F"/>
                </a:solidFill>
              </a:rPr>
              <a:t>BES Solutions and </a:t>
            </a:r>
            <a:r>
              <a:rPr spc="-48" dirty="0">
                <a:solidFill>
                  <a:srgbClr val="5F249F"/>
                </a:solidFill>
              </a:rPr>
              <a:t>Value</a:t>
            </a:r>
            <a:r>
              <a:rPr spc="30" dirty="0">
                <a:solidFill>
                  <a:srgbClr val="5F249F"/>
                </a:solidFill>
              </a:rPr>
              <a:t> </a:t>
            </a:r>
            <a:r>
              <a:rPr spc="-6" dirty="0">
                <a:solidFill>
                  <a:srgbClr val="5F249F"/>
                </a:solidFill>
              </a:rPr>
              <a:t>Provided</a:t>
            </a:r>
          </a:p>
          <a:p>
            <a:pPr algn="ctr">
              <a:lnSpc>
                <a:spcPts val="2207"/>
              </a:lnSpc>
            </a:pPr>
            <a:r>
              <a:rPr sz="1920" u="heavy" spc="-6" dirty="0">
                <a:solidFill>
                  <a:srgbClr val="00968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bes-sales-support@</a:t>
            </a:r>
            <a:r>
              <a:rPr lang="en-US" sz="1920" u="heavy" spc="-6" dirty="0">
                <a:solidFill>
                  <a:srgbClr val="00968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dxc</a:t>
            </a:r>
            <a:r>
              <a:rPr sz="1920" u="heavy" spc="-6" dirty="0">
                <a:solidFill>
                  <a:srgbClr val="00968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.com</a:t>
            </a:r>
            <a:endParaRPr sz="1920" dirty="0">
              <a:solidFill>
                <a:srgbClr val="00968F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700854"/>
              </p:ext>
            </p:extLst>
          </p:nvPr>
        </p:nvGraphicFramePr>
        <p:xfrm>
          <a:off x="594337" y="1645921"/>
          <a:ext cx="13441722" cy="54210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39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8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5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1">
                <a:tc>
                  <a:txBody>
                    <a:bodyPr/>
                    <a:lstStyle/>
                    <a:p>
                      <a:pPr marL="6991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2200" b="1" dirty="0">
                          <a:solidFill>
                            <a:schemeClr val="bg1"/>
                          </a:solidFill>
                        </a:rPr>
                        <a:t>Solution</a:t>
                      </a:r>
                      <a:endParaRPr sz="2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8006" marB="0">
                    <a:solidFill>
                      <a:srgbClr val="5F249F"/>
                    </a:solidFill>
                  </a:tcPr>
                </a:tc>
                <a:tc>
                  <a:txBody>
                    <a:bodyPr/>
                    <a:lstStyle/>
                    <a:p>
                      <a:pPr marL="9055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200" b="1" spc="-5" dirty="0">
                          <a:solidFill>
                            <a:schemeClr val="bg1"/>
                          </a:solidFill>
                        </a:rPr>
                        <a:t> Description</a:t>
                      </a:r>
                      <a:endParaRPr sz="2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8006" marB="0">
                    <a:solidFill>
                      <a:srgbClr val="5F249F"/>
                    </a:solidFill>
                  </a:tcPr>
                </a:tc>
                <a:tc>
                  <a:txBody>
                    <a:bodyPr/>
                    <a:lstStyle/>
                    <a:p>
                      <a:pPr marL="7143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200" b="1" spc="-5" dirty="0">
                          <a:solidFill>
                            <a:schemeClr val="bg1"/>
                          </a:solidFill>
                        </a:rPr>
                        <a:t>   </a:t>
                      </a:r>
                      <a:r>
                        <a:rPr sz="2200" b="1" spc="-5" dirty="0">
                          <a:solidFill>
                            <a:schemeClr val="bg1"/>
                          </a:solidFill>
                        </a:rPr>
                        <a:t>Key </a:t>
                      </a:r>
                      <a:r>
                        <a:rPr sz="2200" b="1" spc="-25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sz="2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8006" marB="0">
                    <a:solidFill>
                      <a:srgbClr val="5F249F"/>
                    </a:solidFill>
                  </a:tcPr>
                </a:tc>
                <a:tc>
                  <a:txBody>
                    <a:bodyPr/>
                    <a:lstStyle/>
                    <a:p>
                      <a:pPr marL="8077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sz="2200" b="1" dirty="0">
                          <a:solidFill>
                            <a:schemeClr val="bg1"/>
                          </a:solidFill>
                        </a:rPr>
                        <a:t>Other</a:t>
                      </a:r>
                      <a:r>
                        <a:rPr sz="2200" b="1" spc="-8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2200" b="1" spc="-5" dirty="0">
                          <a:solidFill>
                            <a:schemeClr val="bg1"/>
                          </a:solidFill>
                        </a:rPr>
                        <a:t>Benefits</a:t>
                      </a:r>
                      <a:endParaRPr sz="2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8006" marB="0">
                    <a:solidFill>
                      <a:srgbClr val="5F24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400" b="1" u="none" spc="-5" dirty="0">
                          <a:solidFill>
                            <a:schemeClr val="tx1"/>
                          </a:solidFill>
                        </a:rPr>
                        <a:t>Managed </a:t>
                      </a:r>
                      <a:r>
                        <a:rPr sz="1400" b="1" u="none" dirty="0">
                          <a:solidFill>
                            <a:schemeClr val="tx1"/>
                          </a:solidFill>
                        </a:rPr>
                        <a:t>File </a:t>
                      </a:r>
                      <a:r>
                        <a:rPr sz="1400" b="1" u="none" spc="-10" dirty="0">
                          <a:solidFill>
                            <a:schemeClr val="tx1"/>
                          </a:solidFill>
                        </a:rPr>
                        <a:t>Transfer</a:t>
                      </a:r>
                      <a:r>
                        <a:rPr sz="1400" b="1" u="none" spc="-6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400" b="1" u="none" spc="-5" dirty="0">
                          <a:solidFill>
                            <a:schemeClr val="tx1"/>
                          </a:solidFill>
                        </a:rPr>
                        <a:t>(MFT)</a:t>
                      </a:r>
                      <a:endParaRPr sz="1400" u="none" dirty="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153924" marB="0" anchor="ctr"/>
                </a:tc>
                <a:tc>
                  <a:txBody>
                    <a:bodyPr/>
                    <a:lstStyle/>
                    <a:p>
                      <a:pPr marL="117475" marR="327660">
                        <a:lnSpc>
                          <a:spcPts val="1250"/>
                        </a:lnSpc>
                        <a:spcBef>
                          <a:spcPts val="555"/>
                        </a:spcBef>
                      </a:pPr>
                      <a:r>
                        <a:rPr sz="1300" spc="-5" dirty="0"/>
                        <a:t>Connect reliably </a:t>
                      </a:r>
                      <a:r>
                        <a:rPr sz="1300" dirty="0"/>
                        <a:t>and </a:t>
                      </a:r>
                      <a:r>
                        <a:rPr sz="1300" spc="-5" dirty="0"/>
                        <a:t>securely </a:t>
                      </a:r>
                      <a:r>
                        <a:rPr sz="1300" dirty="0"/>
                        <a:t>to </a:t>
                      </a:r>
                      <a:r>
                        <a:rPr sz="1300" spc="-5" dirty="0"/>
                        <a:t>VAN </a:t>
                      </a:r>
                      <a:r>
                        <a:rPr sz="1300" dirty="0"/>
                        <a:t>and  Internet </a:t>
                      </a:r>
                      <a:r>
                        <a:rPr sz="1300" spc="-5" dirty="0"/>
                        <a:t>trading</a:t>
                      </a:r>
                      <a:r>
                        <a:rPr sz="1300" spc="-120" dirty="0"/>
                        <a:t> </a:t>
                      </a:r>
                      <a:r>
                        <a:rPr sz="1300" dirty="0"/>
                        <a:t>partners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84582" marB="0" anchor="ctr"/>
                </a:tc>
                <a:tc>
                  <a:txBody>
                    <a:bodyPr/>
                    <a:lstStyle/>
                    <a:p>
                      <a:pPr marL="107314" marR="168275">
                        <a:lnSpc>
                          <a:spcPts val="1250"/>
                        </a:lnSpc>
                        <a:spcBef>
                          <a:spcPts val="555"/>
                        </a:spcBef>
                      </a:pPr>
                      <a:r>
                        <a:rPr sz="1300" spc="-5" dirty="0"/>
                        <a:t>Cost Reduction </a:t>
                      </a:r>
                      <a:r>
                        <a:rPr sz="1300" dirty="0"/>
                        <a:t>- 40-80+% reduction</a:t>
                      </a:r>
                      <a:r>
                        <a:rPr sz="1300" spc="-100" dirty="0"/>
                        <a:t> </a:t>
                      </a:r>
                      <a:r>
                        <a:rPr sz="1300" spc="-5" dirty="0"/>
                        <a:t>in  </a:t>
                      </a:r>
                      <a:r>
                        <a:rPr sz="1300" dirty="0"/>
                        <a:t>TCO of </a:t>
                      </a:r>
                      <a:r>
                        <a:rPr lang="en-US" sz="1300" dirty="0"/>
                        <a:t>EDI</a:t>
                      </a:r>
                      <a:r>
                        <a:rPr sz="1300" spc="-120" dirty="0"/>
                        <a:t> </a:t>
                      </a:r>
                      <a:r>
                        <a:rPr sz="1300" dirty="0"/>
                        <a:t>communications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84582" marB="0" anchor="ctr"/>
                </a:tc>
                <a:tc>
                  <a:txBody>
                    <a:bodyPr/>
                    <a:lstStyle/>
                    <a:p>
                      <a:pPr marL="92075" marR="121920">
                        <a:lnSpc>
                          <a:spcPts val="1250"/>
                        </a:lnSpc>
                        <a:spcBef>
                          <a:spcPts val="555"/>
                        </a:spcBef>
                      </a:pPr>
                      <a:r>
                        <a:rPr sz="1300" spc="-5" dirty="0"/>
                        <a:t>Reduced complexity; </a:t>
                      </a:r>
                      <a:r>
                        <a:rPr sz="1300" dirty="0"/>
                        <a:t>integrates </a:t>
                      </a:r>
                      <a:r>
                        <a:rPr sz="1300" spc="-5" dirty="0"/>
                        <a:t>seamlessly </a:t>
                      </a:r>
                      <a:r>
                        <a:rPr sz="1300" spc="-10" dirty="0"/>
                        <a:t>with  </a:t>
                      </a:r>
                      <a:r>
                        <a:rPr sz="1300" dirty="0"/>
                        <a:t>most</a:t>
                      </a:r>
                      <a:r>
                        <a:rPr sz="1300" spc="-125" dirty="0"/>
                        <a:t> </a:t>
                      </a:r>
                      <a:r>
                        <a:rPr sz="1300" dirty="0"/>
                        <a:t>protocols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84582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400" b="1" u="none" dirty="0">
                          <a:solidFill>
                            <a:schemeClr val="tx1"/>
                          </a:solidFill>
                        </a:rPr>
                        <a:t>File eXchange </a:t>
                      </a:r>
                      <a:r>
                        <a:rPr sz="1400" b="1" u="none" spc="-5" dirty="0">
                          <a:solidFill>
                            <a:schemeClr val="tx1"/>
                          </a:solidFill>
                        </a:rPr>
                        <a:t>Service</a:t>
                      </a:r>
                      <a:r>
                        <a:rPr sz="1400" b="1" u="none" spc="-9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400" b="1" u="none" spc="-5" dirty="0">
                          <a:solidFill>
                            <a:schemeClr val="tx1"/>
                          </a:solidFill>
                        </a:rPr>
                        <a:t>(FXS)</a:t>
                      </a:r>
                      <a:endParaRPr sz="1400" u="none" dirty="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150114" marB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300" dirty="0"/>
                        <a:t>Secure human-to-human file</a:t>
                      </a:r>
                      <a:r>
                        <a:rPr sz="1300" spc="-135" dirty="0"/>
                        <a:t> </a:t>
                      </a:r>
                      <a:r>
                        <a:rPr sz="1300" spc="-5" dirty="0"/>
                        <a:t>sharing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61544" marB="0"/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285"/>
                        </a:lnSpc>
                        <a:spcBef>
                          <a:spcPts val="430"/>
                        </a:spcBef>
                      </a:pPr>
                      <a:r>
                        <a:rPr sz="1300" spc="-5" dirty="0"/>
                        <a:t>Eliminate </a:t>
                      </a:r>
                      <a:r>
                        <a:rPr sz="1300" dirty="0"/>
                        <a:t>security breaches of</a:t>
                      </a:r>
                      <a:r>
                        <a:rPr sz="1300" spc="-105" dirty="0"/>
                        <a:t> </a:t>
                      </a:r>
                      <a:r>
                        <a:rPr sz="1300" dirty="0"/>
                        <a:t>ad-hoc</a:t>
                      </a:r>
                    </a:p>
                    <a:p>
                      <a:pPr marL="107314">
                        <a:lnSpc>
                          <a:spcPts val="1285"/>
                        </a:lnSpc>
                      </a:pPr>
                      <a:r>
                        <a:rPr sz="1300" dirty="0"/>
                        <a:t>file</a:t>
                      </a:r>
                      <a:r>
                        <a:rPr sz="1300" spc="-110" dirty="0"/>
                        <a:t> </a:t>
                      </a:r>
                      <a:r>
                        <a:rPr sz="1300" dirty="0"/>
                        <a:t>transfers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65532" marB="0" anchor="ctr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85"/>
                        </a:lnSpc>
                        <a:spcBef>
                          <a:spcPts val="430"/>
                        </a:spcBef>
                      </a:pPr>
                      <a:r>
                        <a:rPr sz="1300" dirty="0"/>
                        <a:t>Fast setup; high-speed ad hoc file transfers</a:t>
                      </a:r>
                      <a:r>
                        <a:rPr sz="1300" spc="-215" dirty="0"/>
                        <a:t> </a:t>
                      </a:r>
                      <a:r>
                        <a:rPr sz="1300" dirty="0"/>
                        <a:t>of</a:t>
                      </a:r>
                    </a:p>
                    <a:p>
                      <a:pPr marL="92075">
                        <a:lnSpc>
                          <a:spcPts val="1285"/>
                        </a:lnSpc>
                      </a:pPr>
                      <a:r>
                        <a:rPr sz="1300" dirty="0"/>
                        <a:t>large and confidential</a:t>
                      </a:r>
                      <a:r>
                        <a:rPr sz="1300" spc="-125" dirty="0"/>
                        <a:t> </a:t>
                      </a:r>
                      <a:r>
                        <a:rPr sz="1300" dirty="0"/>
                        <a:t>files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65532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84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lang="en-US" sz="1400" b="1" u="none" spc="-5" dirty="0">
                          <a:solidFill>
                            <a:schemeClr val="tx1"/>
                          </a:solidFill>
                        </a:rPr>
                        <a:t>EDI </a:t>
                      </a:r>
                      <a:r>
                        <a:rPr sz="1400" b="1" u="none" spc="-5" dirty="0">
                          <a:solidFill>
                            <a:schemeClr val="tx1"/>
                          </a:solidFill>
                        </a:rPr>
                        <a:t>Managed</a:t>
                      </a:r>
                      <a:r>
                        <a:rPr sz="1400" b="1" u="none" spc="-4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400" b="1" u="none" spc="-5" dirty="0">
                          <a:solidFill>
                            <a:schemeClr val="tx1"/>
                          </a:solidFill>
                        </a:rPr>
                        <a:t>Service</a:t>
                      </a:r>
                      <a:endParaRPr lang="en-US" sz="1400" b="1" u="none" spc="-5" dirty="0">
                        <a:solidFill>
                          <a:schemeClr val="tx1"/>
                        </a:solidFill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lang="en-US" sz="1400" b="0" u="none" spc="-5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(Fully leveraged &amp; Hybrid)</a:t>
                      </a:r>
                      <a:endParaRPr sz="1400" b="0" u="none" dirty="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6858" marB="0" anchor="ctr"/>
                </a:tc>
                <a:tc>
                  <a:txBody>
                    <a:bodyPr/>
                    <a:lstStyle/>
                    <a:p>
                      <a:pPr marL="117475" marR="165100">
                        <a:lnSpc>
                          <a:spcPct val="94900"/>
                        </a:lnSpc>
                        <a:spcBef>
                          <a:spcPts val="315"/>
                        </a:spcBef>
                      </a:pPr>
                      <a:r>
                        <a:rPr sz="1300" spc="-5" dirty="0"/>
                        <a:t>Migrate </a:t>
                      </a:r>
                      <a:r>
                        <a:rPr lang="en-US" sz="1300" spc="-5" dirty="0"/>
                        <a:t>EDI</a:t>
                      </a:r>
                      <a:r>
                        <a:rPr sz="1300" dirty="0"/>
                        <a:t> processing to </a:t>
                      </a:r>
                      <a:r>
                        <a:rPr lang="en-US" sz="1300" spc="-5" dirty="0"/>
                        <a:t>DXC</a:t>
                      </a:r>
                      <a:r>
                        <a:rPr sz="1300" spc="-5" dirty="0"/>
                        <a:t>; </a:t>
                      </a:r>
                      <a:r>
                        <a:rPr sz="1300" dirty="0"/>
                        <a:t>send and  </a:t>
                      </a:r>
                      <a:r>
                        <a:rPr sz="1300" spc="-5" dirty="0"/>
                        <a:t>receive ERP </a:t>
                      </a:r>
                      <a:r>
                        <a:rPr sz="1300" dirty="0"/>
                        <a:t>data </a:t>
                      </a:r>
                      <a:r>
                        <a:rPr sz="1300" spc="-5" dirty="0"/>
                        <a:t>over </a:t>
                      </a:r>
                      <a:r>
                        <a:rPr sz="1300" dirty="0"/>
                        <a:t>a </a:t>
                      </a:r>
                      <a:r>
                        <a:rPr sz="1300" spc="-5" dirty="0"/>
                        <a:t>single </a:t>
                      </a:r>
                      <a:r>
                        <a:rPr sz="1300" dirty="0"/>
                        <a:t>connection –  </a:t>
                      </a:r>
                      <a:r>
                        <a:rPr lang="en-US" sz="1300" spc="-5" dirty="0"/>
                        <a:t>DXC</a:t>
                      </a:r>
                      <a:r>
                        <a:rPr sz="1300" spc="-5" dirty="0"/>
                        <a:t> </a:t>
                      </a:r>
                      <a:r>
                        <a:rPr sz="1300" dirty="0"/>
                        <a:t>translates and connects the </a:t>
                      </a:r>
                      <a:r>
                        <a:rPr sz="1300" spc="-5" dirty="0"/>
                        <a:t>trading  </a:t>
                      </a:r>
                      <a:r>
                        <a:rPr sz="1300" dirty="0"/>
                        <a:t>partners and supports</a:t>
                      </a:r>
                      <a:r>
                        <a:rPr sz="1300" spc="-120" dirty="0"/>
                        <a:t> </a:t>
                      </a:r>
                      <a:r>
                        <a:rPr sz="1300" spc="-5" dirty="0"/>
                        <a:t>end-to-end</a:t>
                      </a:r>
                      <a:r>
                        <a:rPr lang="en-US" sz="1300" spc="-5" dirty="0"/>
                        <a:t> including e-Invoicing compliance. Leveraged as well and dedicated platforms available.</a:t>
                      </a:r>
                    </a:p>
                    <a:p>
                      <a:pPr marL="117475" marR="165100">
                        <a:lnSpc>
                          <a:spcPct val="94900"/>
                        </a:lnSpc>
                        <a:spcBef>
                          <a:spcPts val="315"/>
                        </a:spcBef>
                      </a:pP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48006" marB="0" anchor="ctr"/>
                </a:tc>
                <a:tc>
                  <a:txBody>
                    <a:bodyPr/>
                    <a:lstStyle/>
                    <a:p>
                      <a:pPr marL="107314" marR="303530">
                        <a:lnSpc>
                          <a:spcPts val="1250"/>
                        </a:lnSpc>
                      </a:pPr>
                      <a:r>
                        <a:rPr sz="1300" spc="-5" dirty="0"/>
                        <a:t>Cost </a:t>
                      </a:r>
                      <a:r>
                        <a:rPr sz="1300" dirty="0"/>
                        <a:t>reduction - </a:t>
                      </a:r>
                      <a:r>
                        <a:rPr sz="1300" spc="-5" dirty="0"/>
                        <a:t>20-40% </a:t>
                      </a:r>
                      <a:r>
                        <a:rPr sz="1300" dirty="0"/>
                        <a:t>reduction</a:t>
                      </a:r>
                      <a:r>
                        <a:rPr sz="1300" spc="-110" dirty="0"/>
                        <a:t> </a:t>
                      </a:r>
                      <a:r>
                        <a:rPr sz="1300" spc="-5" dirty="0"/>
                        <a:t>in  </a:t>
                      </a:r>
                      <a:r>
                        <a:rPr sz="1300" dirty="0"/>
                        <a:t>TCO of </a:t>
                      </a:r>
                      <a:r>
                        <a:rPr lang="en-US" sz="1300" dirty="0"/>
                        <a:t>EDI</a:t>
                      </a:r>
                      <a:r>
                        <a:rPr sz="1300" spc="-85" dirty="0"/>
                        <a:t> </a:t>
                      </a:r>
                      <a:r>
                        <a:rPr sz="1300" spc="-5" dirty="0"/>
                        <a:t>operations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7620" marB="0" anchor="ctr"/>
                </a:tc>
                <a:tc>
                  <a:txBody>
                    <a:bodyPr/>
                    <a:lstStyle/>
                    <a:p>
                      <a:pPr marL="92075" marR="299085">
                        <a:lnSpc>
                          <a:spcPts val="1250"/>
                        </a:lnSpc>
                      </a:pPr>
                      <a:r>
                        <a:rPr sz="1300" dirty="0"/>
                        <a:t>Op </a:t>
                      </a:r>
                      <a:r>
                        <a:rPr sz="1300" spc="-5" dirty="0"/>
                        <a:t>Ex vs. Cap Ex; modernization; </a:t>
                      </a:r>
                      <a:r>
                        <a:rPr sz="1300" dirty="0"/>
                        <a:t>standards,  </a:t>
                      </a:r>
                      <a:r>
                        <a:rPr sz="1300" spc="-5" dirty="0"/>
                        <a:t>DRP;</a:t>
                      </a:r>
                      <a:r>
                        <a:rPr sz="1300" spc="235" dirty="0"/>
                        <a:t> </a:t>
                      </a:r>
                      <a:r>
                        <a:rPr sz="1300" spc="-5" dirty="0"/>
                        <a:t>scalability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762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803">
                <a:tc>
                  <a:txBody>
                    <a:bodyPr/>
                    <a:lstStyle/>
                    <a:p>
                      <a:pPr marL="91440" algn="l" defTabSz="1463040" rtl="0" eaLnBrk="1" latinLnBrk="0" hangingPunct="1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lang="de-DE" sz="1400" b="1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/>
                        </a:rPr>
                        <a:t>Dedicated EDI Service </a:t>
                      </a:r>
                      <a:r>
                        <a:rPr lang="de-DE" sz="1400" b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/>
                        </a:rPr>
                        <a:t>(SEEBURGER)</a:t>
                      </a:r>
                      <a:endParaRPr sz="1400" b="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marL="0" marR="0" marT="7620" marB="0" anchor="ctr"/>
                </a:tc>
                <a:tc>
                  <a:txBody>
                    <a:bodyPr/>
                    <a:lstStyle/>
                    <a:p>
                      <a:pPr marL="117475" marR="138430" algn="l" defTabSz="1463040" rtl="0" eaLnBrk="1" latinLnBrk="0" hangingPunct="1">
                        <a:lnSpc>
                          <a:spcPts val="1250"/>
                        </a:lnSpc>
                        <a:spcBef>
                          <a:spcPts val="459"/>
                        </a:spcBef>
                      </a:pPr>
                      <a:r>
                        <a:rPr lang="de-DE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Dedicated and bespoke EDI or File-Transfer solutions based on SEEBURGER Software, on-premise or in the cloud</a:t>
                      </a:r>
                      <a:endParaRPr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48768" marB="0" anchor="ctr"/>
                </a:tc>
                <a:tc>
                  <a:txBody>
                    <a:bodyPr/>
                    <a:lstStyle/>
                    <a:p>
                      <a:pPr marL="117475" marR="138430" algn="l" defTabSz="14630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de-DE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 levels of flexibility and customization opportunities to met specific company and industry needs</a:t>
                      </a:r>
                    </a:p>
                    <a:p>
                      <a:pPr marL="117475" marR="138430" algn="l" defTabSz="14630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149352" marB="0" anchor="ctr"/>
                </a:tc>
                <a:tc>
                  <a:txBody>
                    <a:bodyPr/>
                    <a:lstStyle/>
                    <a:p>
                      <a:pPr marL="117475" marR="138430" algn="l" defTabSz="1463040" rtl="0" eaLnBrk="1" latinLnBrk="0" hangingPunct="1">
                        <a:lnSpc>
                          <a:spcPts val="1250"/>
                        </a:lnSpc>
                        <a:spcBef>
                          <a:spcPts val="459"/>
                        </a:spcBef>
                      </a:pPr>
                      <a:r>
                        <a:rPr lang="de-DE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Industry specific configuration frameworks. Tools for partner self-service, partner management and migration</a:t>
                      </a:r>
                      <a:endParaRPr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1524" marB="0" anchor="ctr"/>
                </a:tc>
                <a:extLst>
                  <a:ext uri="{0D108BD9-81ED-4DB2-BD59-A6C34878D82A}">
                    <a16:rowId xmlns:a16="http://schemas.microsoft.com/office/drawing/2014/main" val="741482674"/>
                  </a:ext>
                </a:extLst>
              </a:tr>
              <a:tr h="5036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lang="en-US" sz="1400" b="1" u="none" dirty="0">
                          <a:solidFill>
                            <a:schemeClr val="tx1"/>
                          </a:solidFill>
                        </a:rPr>
                        <a:t>Trading partner EDI enablement</a:t>
                      </a:r>
                      <a:endParaRPr sz="1400" b="1" u="none" dirty="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139446" marB="0" anchor="ctr"/>
                </a:tc>
                <a:tc>
                  <a:txBody>
                    <a:bodyPr/>
                    <a:lstStyle/>
                    <a:p>
                      <a:pPr marL="117475" marR="138430">
                        <a:lnSpc>
                          <a:spcPts val="1250"/>
                        </a:lnSpc>
                        <a:spcBef>
                          <a:spcPts val="459"/>
                        </a:spcBef>
                      </a:pPr>
                      <a:r>
                        <a:rPr lang="en-US" sz="1300" dirty="0"/>
                        <a:t>Web/mobile tools for smaller trading partners to use clients’ more automated EDI channels, also providing light integration via CSV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70103" marB="0" anchor="ctr"/>
                </a:tc>
                <a:tc>
                  <a:txBody>
                    <a:bodyPr/>
                    <a:lstStyle/>
                    <a:p>
                      <a:pPr marL="107314" marR="267335">
                        <a:lnSpc>
                          <a:spcPts val="1250"/>
                        </a:lnSpc>
                        <a:spcBef>
                          <a:spcPts val="459"/>
                        </a:spcBef>
                      </a:pPr>
                      <a:r>
                        <a:rPr lang="en-US" sz="1300" dirty="0"/>
                        <a:t>Cost reduction - automates “the long tail” that otherwise tends to generate out-sized error rates and support calls</a:t>
                      </a:r>
                    </a:p>
                    <a:p>
                      <a:pPr marL="107314" marR="267335">
                        <a:lnSpc>
                          <a:spcPts val="1250"/>
                        </a:lnSpc>
                        <a:spcBef>
                          <a:spcPts val="459"/>
                        </a:spcBef>
                      </a:pP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70103" marB="0" anchor="ctr"/>
                </a:tc>
                <a:tc>
                  <a:txBody>
                    <a:bodyPr/>
                    <a:lstStyle/>
                    <a:p>
                      <a:pPr marL="117475" marR="138430" algn="l" defTabSz="1463040" rtl="0" eaLnBrk="1" latinLnBrk="0" hangingPunct="1">
                        <a:lnSpc>
                          <a:spcPts val="1250"/>
                        </a:lnSpc>
                        <a:spcBef>
                          <a:spcPts val="459"/>
                        </a:spcBef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</a:rPr>
                        <a:t>Provides an efficient channel for on-going communications with hundreds or thousands of smaller trading partners, self-serve platform</a:t>
                      </a:r>
                      <a:endParaRPr lang="en-US" sz="1300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150114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54657">
                <a:tc>
                  <a:txBody>
                    <a:bodyPr/>
                    <a:lstStyle/>
                    <a:p>
                      <a:pPr marL="91440" algn="l" defTabSz="1463040" rtl="0" eaLnBrk="1" latinLnBrk="0" hangingPunct="1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lang="en-US" sz="1400" b="1" u="none" kern="1200" dirty="0">
                          <a:solidFill>
                            <a:schemeClr val="tx1"/>
                          </a:solidFill>
                        </a:rPr>
                        <a:t>Trading community onboarding and management</a:t>
                      </a:r>
                      <a:endParaRPr sz="1400" b="1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marL="0" marR="0" marT="7620" marB="0" anchor="ctr"/>
                </a:tc>
                <a:tc>
                  <a:txBody>
                    <a:bodyPr/>
                    <a:lstStyle/>
                    <a:p>
                      <a:pPr marL="117475" marR="138430" algn="l" defTabSz="1463040" rtl="0" eaLnBrk="1" latinLnBrk="0" hangingPunct="1">
                        <a:lnSpc>
                          <a:spcPts val="1250"/>
                        </a:lnSpc>
                        <a:spcBef>
                          <a:spcPts val="459"/>
                        </a:spcBef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Accelerated, managed campaigns to onboard hundreds/thousands of client trading partners via self-serve portals and support staff.</a:t>
                      </a:r>
                      <a:endParaRPr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48768" marB="0" anchor="ctr"/>
                </a:tc>
                <a:tc>
                  <a:txBody>
                    <a:bodyPr/>
                    <a:lstStyle/>
                    <a:p>
                      <a:pPr marL="117475" marR="138430" algn="l" defTabSz="1463040" rtl="0" eaLnBrk="1" latinLnBrk="0" hangingPunct="1">
                        <a:lnSpc>
                          <a:spcPts val="1250"/>
                        </a:lnSpc>
                        <a:spcBef>
                          <a:spcPts val="459"/>
                        </a:spcBef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Speed-to-value – realizing automation savings sooner</a:t>
                      </a:r>
                    </a:p>
                  </a:txBody>
                  <a:tcPr marL="0" marR="0" marT="149352" marB="0" anchor="ctr"/>
                </a:tc>
                <a:tc>
                  <a:txBody>
                    <a:bodyPr/>
                    <a:lstStyle/>
                    <a:p>
                      <a:pPr marL="117475" marR="138430" algn="l" defTabSz="1463040" rtl="0" eaLnBrk="1" latinLnBrk="0" hangingPunct="1">
                        <a:lnSpc>
                          <a:spcPts val="1250"/>
                        </a:lnSpc>
                        <a:spcBef>
                          <a:spcPts val="459"/>
                        </a:spcBef>
                      </a:pPr>
                      <a:endParaRPr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1524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883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4_DXC">
  <a:themeElements>
    <a:clrScheme name="DXC New Brand Palette">
      <a:dk1>
        <a:srgbClr val="000000"/>
      </a:dk1>
      <a:lt1>
        <a:srgbClr val="FFFFFF"/>
      </a:lt1>
      <a:dk2>
        <a:srgbClr val="D9D9D6"/>
      </a:dk2>
      <a:lt2>
        <a:srgbClr val="FFCD00"/>
      </a:lt2>
      <a:accent1>
        <a:srgbClr val="5F249F"/>
      </a:accent1>
      <a:accent2>
        <a:srgbClr val="00968F"/>
      </a:accent2>
      <a:accent3>
        <a:srgbClr val="00A3E1"/>
      </a:accent3>
      <a:accent4>
        <a:srgbClr val="006975"/>
      </a:accent4>
      <a:accent5>
        <a:srgbClr val="6CC24A"/>
      </a:accent5>
      <a:accent6>
        <a:srgbClr val="ED9B33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400"/>
          </a:spcAft>
          <a:defRPr sz="2000" dirty="0"/>
        </a:defPPr>
      </a:lstStyle>
    </a:txDef>
  </a:objectDefaults>
  <a:extraClrSchemeLst/>
  <a:custClrLst>
    <a:custClr name="DXC Bright Purple">
      <a:srgbClr val="5F249F"/>
    </a:custClr>
    <a:custClr name="White">
      <a:srgbClr val="FFFFFF"/>
    </a:custClr>
    <a:custClr name="DXC Light Gray">
      <a:srgbClr val="D9D9D6"/>
    </a:custClr>
    <a:custClr name="DXC Medium Gray">
      <a:srgbClr val="969696"/>
    </a:custClr>
    <a:custClr name="DXC Dark Gray">
      <a:srgbClr val="63666A"/>
    </a:custClr>
    <a:custClr name="Black">
      <a:srgbClr val="000000"/>
    </a:custClr>
    <a:custClr name="DXC Bright Teal">
      <a:srgbClr val="00968F"/>
    </a:custClr>
    <a:custClr name="DXC Blue">
      <a:srgbClr val="00A3E1"/>
    </a:custClr>
    <a:custClr name="DXC Dark Teal">
      <a:srgbClr val="006975"/>
    </a:custClr>
    <a:custClr name="DXC Green">
      <a:srgbClr val="6CC24A"/>
    </a:custClr>
    <a:custClr name="DXC Orange">
      <a:srgbClr val="ED9B33"/>
    </a:custClr>
    <a:custClr name="DXC Gold">
      <a:srgbClr val="FFCD00"/>
    </a:custClr>
    <a:custClr name="DXC Dark Purple">
      <a:srgbClr val="330072"/>
    </a:custClr>
    <a:custClr name="DXC Yellow">
      <a:srgbClr val="F9F048"/>
    </a:custClr>
  </a:custClrLst>
  <a:extLst>
    <a:ext uri="{05A4C25C-085E-4340-85A3-A5531E510DB2}">
      <thm15:themeFamily xmlns:thm15="http://schemas.microsoft.com/office/thememl/2012/main" name="Presentation14" id="{ADF4E08F-6A9F-4DEC-B3C4-A0DE901E4FB5}" vid="{C7099796-88DF-4C34-958B-7A6E40E7E53D}"/>
    </a:ext>
  </a:extLst>
</a:theme>
</file>

<file path=ppt/theme/theme2.xml><?xml version="1.0" encoding="utf-8"?>
<a:theme xmlns:a="http://schemas.openxmlformats.org/drawingml/2006/main" name="DXC">
  <a:themeElements>
    <a:clrScheme name="DXC New Brand Palette">
      <a:dk1>
        <a:srgbClr val="000000"/>
      </a:dk1>
      <a:lt1>
        <a:srgbClr val="FFFFFF"/>
      </a:lt1>
      <a:dk2>
        <a:srgbClr val="D9D9D6"/>
      </a:dk2>
      <a:lt2>
        <a:srgbClr val="FFCD00"/>
      </a:lt2>
      <a:accent1>
        <a:srgbClr val="5F249F"/>
      </a:accent1>
      <a:accent2>
        <a:srgbClr val="00968F"/>
      </a:accent2>
      <a:accent3>
        <a:srgbClr val="00A3E1"/>
      </a:accent3>
      <a:accent4>
        <a:srgbClr val="006975"/>
      </a:accent4>
      <a:accent5>
        <a:srgbClr val="6CC24A"/>
      </a:accent5>
      <a:accent6>
        <a:srgbClr val="ED9B33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400"/>
          </a:spcAft>
          <a:defRPr sz="2000" dirty="0"/>
        </a:defPPr>
      </a:lstStyle>
    </a:txDef>
  </a:objectDefaults>
  <a:extraClrSchemeLst/>
  <a:custClrLst>
    <a:custClr name="DXC Bright Purple">
      <a:srgbClr val="5F249F"/>
    </a:custClr>
    <a:custClr name="White">
      <a:srgbClr val="FFFFFF"/>
    </a:custClr>
    <a:custClr name="DXC Light Gray">
      <a:srgbClr val="D9D9D6"/>
    </a:custClr>
    <a:custClr name="DXC Medium Gray">
      <a:srgbClr val="969696"/>
    </a:custClr>
    <a:custClr name="DXC Dark Gray">
      <a:srgbClr val="63666A"/>
    </a:custClr>
    <a:custClr name="Black">
      <a:srgbClr val="000000"/>
    </a:custClr>
    <a:custClr name="DXC Bright Teal">
      <a:srgbClr val="00968F"/>
    </a:custClr>
    <a:custClr name="DXC Blue">
      <a:srgbClr val="00A3E1"/>
    </a:custClr>
    <a:custClr name="DXC Dark Teal">
      <a:srgbClr val="006975"/>
    </a:custClr>
    <a:custClr name="DXC Green">
      <a:srgbClr val="6CC24A"/>
    </a:custClr>
    <a:custClr name="DXC Orange">
      <a:srgbClr val="ED9B33"/>
    </a:custClr>
    <a:custClr name="DXC Gold">
      <a:srgbClr val="FFCD00"/>
    </a:custClr>
    <a:custClr name="DXC Dark Purple">
      <a:srgbClr val="330072"/>
    </a:custClr>
    <a:custClr name="DXC Yellow">
      <a:srgbClr val="F9F048"/>
    </a:custClr>
  </a:custClrLst>
  <a:extLst>
    <a:ext uri="{05A4C25C-085E-4340-85A3-A5531E510DB2}">
      <thm15:themeFamily xmlns:thm15="http://schemas.microsoft.com/office/thememl/2012/main" name="Presentation14" id="{ADF4E08F-6A9F-4DEC-B3C4-A0DE901E4FB5}" vid="{C7099796-88DF-4C34-958B-7A6E40E7E53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1f9eab7-ba9d-4f29-a83e-75762b88a500">
      <UserInfo>
        <DisplayName>Kay, Matt</DisplayName>
        <AccountId>38</AccountId>
        <AccountType/>
      </UserInfo>
    </SharedWithUsers>
  </documentManagement>
</p:properti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F1962684B2E542A0000E099B9407ED" ma:contentTypeVersion="13" ma:contentTypeDescription="Create a new document." ma:contentTypeScope="" ma:versionID="3084fb3826f63cd2b650e295a83910bb">
  <xsd:schema xmlns:xsd="http://www.w3.org/2001/XMLSchema" xmlns:xs="http://www.w3.org/2001/XMLSchema" xmlns:p="http://schemas.microsoft.com/office/2006/metadata/properties" xmlns:ns2="881f73e4-be63-403c-b888-0e0c071630de" xmlns:ns3="a1f9eab7-ba9d-4f29-a83e-75762b88a500" targetNamespace="http://schemas.microsoft.com/office/2006/metadata/properties" ma:root="true" ma:fieldsID="9ab1673af8f9ec5c5c71fd1fccb8deb7" ns2:_="" ns3:_="">
    <xsd:import namespace="881f73e4-be63-403c-b888-0e0c071630de"/>
    <xsd:import namespace="a1f9eab7-ba9d-4f29-a83e-75762b88a5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1f73e4-be63-403c-b888-0e0c071630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9eab7-ba9d-4f29-a83e-75762b88a50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542050-7B52-4CD7-8DE4-6E572B1607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B64F8C-47F7-498C-9B77-77A72DE3D86A}">
  <ds:schemaRefs>
    <ds:schemaRef ds:uri="http://schemas.microsoft.com/office/2006/documentManagement/types"/>
    <ds:schemaRef ds:uri="a1f9eab7-ba9d-4f29-a83e-75762b88a500"/>
    <ds:schemaRef ds:uri="http://purl.org/dc/terms/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881f73e4-be63-403c-b888-0e0c071630de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32B24C16-897C-4220-8020-64191E9E0AD2}">
  <ds:schemaRefs>
    <ds:schemaRef ds:uri="http://purl.org/dc/terms/"/>
    <ds:schemaRef ds:uri="a1f9eab7-ba9d-4f29-a83e-75762b88a500"/>
    <ds:schemaRef ds:uri="881f73e4-be63-403c-b888-0e0c071630d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93880061-45CB-42A7-9F79-95AA60496D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1f73e4-be63-403c-b888-0e0c071630de"/>
    <ds:schemaRef ds:uri="a1f9eab7-ba9d-4f29-a83e-75762b88a5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 DXC template_Final</Template>
  <TotalTime>0</TotalTime>
  <Words>304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HP Simplified</vt:lpstr>
      <vt:lpstr>4_DXC</vt:lpstr>
      <vt:lpstr>DXC</vt:lpstr>
      <vt:lpstr>BES Solutions and Value Provided bes-sales-support@dxc.com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 Apps Local</dc:title>
  <dc:subject/>
  <dc:creator/>
  <cp:keywords/>
  <dc:description/>
  <cp:lastModifiedBy/>
  <cp:revision>15</cp:revision>
  <cp:lastPrinted>1601-01-01T00:00:00Z</cp:lastPrinted>
  <dcterms:created xsi:type="dcterms:W3CDTF">2021-10-18T10:29:44Z</dcterms:created>
  <dcterms:modified xsi:type="dcterms:W3CDTF">2023-11-16T21:12:25Z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0x010100A4F1962684B2E542A0000E099B9407ED</vt:lpwstr>
  </property>
</Properties>
</file>