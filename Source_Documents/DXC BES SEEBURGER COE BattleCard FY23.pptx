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5"/>
    <p:sldMasterId id="2147483691" r:id="rId6"/>
    <p:sldMasterId id="2147483694" r:id="rId7"/>
  </p:sldMasterIdLst>
  <p:notesMasterIdLst>
    <p:notesMasterId r:id="rId9"/>
  </p:notesMasterIdLst>
  <p:handoutMasterIdLst>
    <p:handoutMasterId r:id="rId10"/>
  </p:handoutMasterIdLst>
  <p:sldIdLst>
    <p:sldId id="2147468666" r:id="rId8"/>
  </p:sldIdLst>
  <p:sldSz cx="14630400" cy="8229600"/>
  <p:notesSz cx="7772400" cy="14173200"/>
  <p:defaultTextStyle>
    <a:defPPr>
      <a:defRPr lang="en-US"/>
    </a:defPPr>
    <a:lvl1pPr marL="0" algn="l" defTabSz="1462967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1pPr>
    <a:lvl2pPr marL="731483" algn="l" defTabSz="1462967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2pPr>
    <a:lvl3pPr marL="1462967" algn="l" defTabSz="1462967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3pPr>
    <a:lvl4pPr marL="2194450" algn="l" defTabSz="1462967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4pPr>
    <a:lvl5pPr marL="2925934" algn="l" defTabSz="1462967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5pPr>
    <a:lvl6pPr marL="3657417" algn="l" defTabSz="1462967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6pPr>
    <a:lvl7pPr marL="4388901" algn="l" defTabSz="1462967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7pPr>
    <a:lvl8pPr marL="5120384" algn="l" defTabSz="1462967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8pPr>
    <a:lvl9pPr marL="5851867" algn="l" defTabSz="1462967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" userDrawn="1">
          <p15:clr>
            <a:srgbClr val="A4A3A4"/>
          </p15:clr>
        </p15:guide>
        <p15:guide id="2" orient="horz" pos="2592" userDrawn="1">
          <p15:clr>
            <a:srgbClr val="A4A3A4"/>
          </p15:clr>
        </p15:guide>
        <p15:guide id="3" orient="horz" pos="4512" userDrawn="1">
          <p15:clr>
            <a:srgbClr val="A4A3A4"/>
          </p15:clr>
        </p15:guide>
        <p15:guide id="4" orient="horz" pos="4896" userDrawn="1">
          <p15:clr>
            <a:srgbClr val="A4A3A4"/>
          </p15:clr>
        </p15:guide>
        <p15:guide id="5" pos="7488" userDrawn="1">
          <p15:clr>
            <a:srgbClr val="A4A3A4"/>
          </p15:clr>
        </p15:guide>
        <p15:guide id="6" pos="432" userDrawn="1">
          <p15:clr>
            <a:srgbClr val="A4A3A4"/>
          </p15:clr>
        </p15:guide>
        <p15:guide id="7" pos="3024" userDrawn="1">
          <p15:clr>
            <a:srgbClr val="A4A3A4"/>
          </p15:clr>
        </p15:guide>
        <p15:guide id="8" pos="3312" userDrawn="1">
          <p15:clr>
            <a:srgbClr val="A4A3A4"/>
          </p15:clr>
        </p15:guide>
        <p15:guide id="9" pos="4464" userDrawn="1">
          <p15:clr>
            <a:srgbClr val="A4A3A4"/>
          </p15:clr>
        </p15:guide>
        <p15:guide id="10" pos="4608" userDrawn="1">
          <p15:clr>
            <a:srgbClr val="A4A3A4"/>
          </p15:clr>
        </p15:guide>
        <p15:guide id="11" pos="4752" userDrawn="1">
          <p15:clr>
            <a:srgbClr val="A4A3A4"/>
          </p15:clr>
        </p15:guide>
        <p15:guide id="12" pos="5904" userDrawn="1">
          <p15:clr>
            <a:srgbClr val="A4A3A4"/>
          </p15:clr>
        </p15:guide>
        <p15:guide id="13" pos="6192" userDrawn="1">
          <p15:clr>
            <a:srgbClr val="A4A3A4"/>
          </p15:clr>
        </p15:guide>
        <p15:guide id="14" pos="87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464" userDrawn="1">
          <p15:clr>
            <a:srgbClr val="A4A3A4"/>
          </p15:clr>
        </p15:guide>
        <p15:guide id="2" pos="244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lly, Ellen" initials="KE" lastIdx="1" clrIdx="0">
    <p:extLst>
      <p:ext uri="{19B8F6BF-5375-455C-9EA6-DF929625EA0E}">
        <p15:presenceInfo xmlns:p15="http://schemas.microsoft.com/office/powerpoint/2012/main" userId="S::ekelly22@dxc.com::e934656da22d9eb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CD00"/>
    <a:srgbClr val="F9F048"/>
    <a:srgbClr val="330072"/>
    <a:srgbClr val="60249E"/>
    <a:srgbClr val="5F249F"/>
    <a:srgbClr val="969696"/>
    <a:srgbClr val="63666A"/>
    <a:srgbClr val="D9DF23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5BD5076-5073-49C7-9E08-65982F3C9860}">
  <a:tblStyle styleId="{45BD5076-5073-49C7-9E08-65982F3C9860}" styleName="DXC Table">
    <a:wholeTbl>
      <a:tcTxStyle>
        <a:fontRef idx="minor"/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000000"/>
              </a:solidFill>
            </a:ln>
          </a:top>
          <a:bottom>
            <a:ln w="6350">
              <a:solidFill>
                <a:srgbClr val="000000"/>
              </a:solidFill>
            </a:ln>
          </a:bottom>
          <a:insideH>
            <a:ln w="6350">
              <a:solidFill>
                <a:srgbClr val="000000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ajor"/>
        <a:srgbClr val="000000"/>
      </a:tcTxStyle>
      <a:tcStyle>
        <a:tcBdr/>
      </a:tcStyle>
    </a:lastCol>
    <a:firstCol>
      <a:tcTxStyle b="on">
        <a:fontRef idx="major"/>
        <a:srgbClr val="000000"/>
      </a:tcTxStyle>
      <a:tcStyle>
        <a:tcBdr/>
      </a:tcStyle>
    </a:firstCol>
    <a:lastRow>
      <a:tcTxStyle b="on">
        <a:fontRef idx="major"/>
        <a:srgbClr val="000000"/>
      </a:tcTxStyle>
      <a:tcStyle>
        <a:tcBdr>
          <a:top>
            <a:ln w="19050">
              <a:solidFill>
                <a:srgbClr val="000000"/>
              </a:solidFill>
            </a:ln>
          </a:top>
          <a:bottom>
            <a:ln>
              <a:noFill/>
            </a:ln>
          </a:bottom>
        </a:tcBdr>
        <a:fill>
          <a:noFill/>
        </a:fill>
      </a:tcStyle>
    </a:lastRow>
    <a:firstRow>
      <a:tcTxStyle b="on">
        <a:fontRef idx="major"/>
        <a:srgbClr val="000000"/>
      </a:tcTxStyle>
      <a:tcStyle>
        <a:tcBdr>
          <a:top>
            <a:ln>
              <a:noFill/>
            </a:ln>
          </a:top>
          <a:bottom>
            <a:ln w="19050">
              <a:solidFill>
                <a:srgbClr val="000000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727" autoAdjust="0"/>
  </p:normalViewPr>
  <p:slideViewPr>
    <p:cSldViewPr snapToGrid="0">
      <p:cViewPr varScale="1">
        <p:scale>
          <a:sx n="93" d="100"/>
          <a:sy n="93" d="100"/>
        </p:scale>
        <p:origin x="522" y="102"/>
      </p:cViewPr>
      <p:guideLst>
        <p:guide orient="horz" pos="408"/>
        <p:guide orient="horz" pos="2592"/>
        <p:guide orient="horz" pos="4512"/>
        <p:guide orient="horz" pos="4896"/>
        <p:guide pos="7488"/>
        <p:guide pos="432"/>
        <p:guide pos="3024"/>
        <p:guide pos="3312"/>
        <p:guide pos="4464"/>
        <p:guide pos="4608"/>
        <p:guide pos="4752"/>
        <p:guide pos="5904"/>
        <p:guide pos="6192"/>
        <p:guide pos="87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4464"/>
        <p:guide pos="244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/>
          <a:lstStyle>
            <a:lvl1pPr algn="l">
              <a:defRPr sz="1600"/>
            </a:lvl1pPr>
          </a:lstStyle>
          <a:p>
            <a:endParaRPr lang="en-US">
              <a:latin typeface="Arial"/>
              <a:cs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346208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 anchor="b"/>
          <a:lstStyle>
            <a:lvl1pPr algn="l">
              <a:defRPr sz="1600"/>
            </a:lvl1pPr>
          </a:lstStyle>
          <a:p>
            <a:endParaRPr lang="en-US">
              <a:latin typeface="Arial"/>
              <a:cs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402561" y="1346208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 anchor="b"/>
          <a:lstStyle>
            <a:lvl1pPr algn="r">
              <a:defRPr sz="1600"/>
            </a:lvl1pPr>
          </a:lstStyle>
          <a:p>
            <a:fld id="{70AC7428-30A9-FD43-A0D8-DB91B17088EC}" type="slidenum">
              <a:rPr lang="en-US" smtClean="0">
                <a:latin typeface="Arial"/>
                <a:cs typeface="Arial"/>
              </a:rPr>
              <a:t>‹#›</a:t>
            </a:fld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7649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/>
          <a:lstStyle>
            <a:lvl1pPr algn="l">
              <a:defRPr sz="1600"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561" y="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/>
          <a:lstStyle>
            <a:lvl1pPr algn="r">
              <a:defRPr sz="1600">
                <a:latin typeface="Arial"/>
                <a:cs typeface="Arial"/>
              </a:defRPr>
            </a:lvl1pPr>
          </a:lstStyle>
          <a:p>
            <a:fld id="{73B26A0F-F4D6-9B4F-A87B-D8948CDE3BB4}" type="datetimeFigureOut">
              <a:rPr lang="en-US" smtClean="0"/>
              <a:pPr/>
              <a:t>4/28/2023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838200" y="1063625"/>
            <a:ext cx="9448800" cy="53149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25401" tIns="62700" rIns="125401" bIns="6270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31800" y="6732270"/>
            <a:ext cx="6908800" cy="637794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46208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 anchor="b"/>
          <a:lstStyle>
            <a:lvl1pPr algn="l">
              <a:defRPr sz="1600"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561" y="1346208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 anchor="b"/>
          <a:lstStyle>
            <a:lvl1pPr algn="r">
              <a:defRPr sz="1600">
                <a:latin typeface="Arial"/>
                <a:cs typeface="Arial"/>
              </a:defRPr>
            </a:lvl1pPr>
          </a:lstStyle>
          <a:p>
            <a:fld id="{7DE2E8FF-3D0C-9D4D-B4D1-3089215958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349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31483" rtl="0" eaLnBrk="1" latinLnBrk="0" hangingPunct="1">
      <a:defRPr sz="1920" kern="1200">
        <a:solidFill>
          <a:schemeClr val="tx1"/>
        </a:solidFill>
        <a:latin typeface="Arial"/>
        <a:ea typeface="+mn-ea"/>
        <a:cs typeface="Arial"/>
      </a:defRPr>
    </a:lvl1pPr>
    <a:lvl2pPr marL="731483" algn="l" defTabSz="731483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2pPr>
    <a:lvl3pPr marL="1462967" algn="l" defTabSz="731483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3pPr>
    <a:lvl4pPr marL="2194450" algn="l" defTabSz="731483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4pPr>
    <a:lvl5pPr marL="2925934" algn="l" defTabSz="731483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5pPr>
    <a:lvl6pPr marL="3657417" algn="l" defTabSz="731483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6pPr>
    <a:lvl7pPr marL="4388901" algn="l" defTabSz="731483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7pPr>
    <a:lvl8pPr marL="5120384" algn="l" defTabSz="731483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8pPr>
    <a:lvl9pPr marL="5851867" algn="l" defTabSz="731483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E2E8FF-3D0C-9D4D-B4D1-3089215958A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875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795D4-97F4-46EC-B1AF-FFEC4E5E7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4B6A10-88D2-45DF-9220-8141FE0F0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63998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6B86D8E4-D42C-4BA4-8C3D-EE6E0354EA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77" y="0"/>
            <a:ext cx="14626846" cy="8229600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6" name="Graphic 45">
            <a:extLst>
              <a:ext uri="{FF2B5EF4-FFF2-40B4-BE49-F238E27FC236}">
                <a16:creationId xmlns:a16="http://schemas.microsoft.com/office/drawing/2014/main" id="{D07C659E-3F10-46E2-9676-61137FD9384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976" y="685802"/>
            <a:ext cx="1430092" cy="781050"/>
          </a:xfrm>
          <a:prstGeom prst="rect">
            <a:avLst/>
          </a:prstGeom>
        </p:spPr>
      </p:pic>
      <p:sp>
        <p:nvSpPr>
          <p:cNvPr id="47" name="Title 1">
            <a:extLst>
              <a:ext uri="{FF2B5EF4-FFF2-40B4-BE49-F238E27FC236}">
                <a16:creationId xmlns:a16="http://schemas.microsoft.com/office/drawing/2014/main" id="{0131F459-E553-4CE6-92F0-91E2F09BA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402" y="2781300"/>
            <a:ext cx="4858326" cy="2545080"/>
          </a:xfrm>
        </p:spPr>
        <p:txBody>
          <a:bodyPr anchor="ctr" anchorCtr="0"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8" name="Subtitle 2">
            <a:extLst>
              <a:ext uri="{FF2B5EF4-FFF2-40B4-BE49-F238E27FC236}">
                <a16:creationId xmlns:a16="http://schemas.microsoft.com/office/drawing/2014/main" id="{00FE735E-E3CF-4086-AF37-051864E157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402" y="5494020"/>
            <a:ext cx="4858326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 marL="7314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2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59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8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1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9" name="Footer Placeholder 4">
            <a:extLst>
              <a:ext uri="{FF2B5EF4-FFF2-40B4-BE49-F238E27FC236}">
                <a16:creationId xmlns:a16="http://schemas.microsoft.com/office/drawing/2014/main" id="{C589DB86-4B07-4158-9A0E-2A50E747053D}"/>
              </a:ext>
            </a:extLst>
          </p:cNvPr>
          <p:cNvSpPr txBox="1">
            <a:spLocks/>
          </p:cNvSpPr>
          <p:nvPr userDrawn="1"/>
        </p:nvSpPr>
        <p:spPr>
          <a:xfrm>
            <a:off x="685780" y="7688992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>
                <a:solidFill>
                  <a:schemeClr val="tx1"/>
                </a:solidFill>
              </a:rPr>
              <a:t>© 2021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28650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4213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6B86D8E4-D42C-4BA4-8C3D-EE6E0354EA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77" y="0"/>
            <a:ext cx="14626846" cy="8229600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6" name="Graphic 45">
            <a:extLst>
              <a:ext uri="{FF2B5EF4-FFF2-40B4-BE49-F238E27FC236}">
                <a16:creationId xmlns:a16="http://schemas.microsoft.com/office/drawing/2014/main" id="{D07C659E-3F10-46E2-9676-61137FD9384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977" y="685803"/>
            <a:ext cx="1430092" cy="781050"/>
          </a:xfrm>
          <a:prstGeom prst="rect">
            <a:avLst/>
          </a:prstGeom>
        </p:spPr>
      </p:pic>
      <p:sp>
        <p:nvSpPr>
          <p:cNvPr id="47" name="Title 1">
            <a:extLst>
              <a:ext uri="{FF2B5EF4-FFF2-40B4-BE49-F238E27FC236}">
                <a16:creationId xmlns:a16="http://schemas.microsoft.com/office/drawing/2014/main" id="{0131F459-E553-4CE6-92F0-91E2F09BA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402" y="2781300"/>
            <a:ext cx="4858326" cy="2545080"/>
          </a:xfrm>
        </p:spPr>
        <p:txBody>
          <a:bodyPr anchor="ctr" anchorCtr="0"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8" name="Subtitle 2">
            <a:extLst>
              <a:ext uri="{FF2B5EF4-FFF2-40B4-BE49-F238E27FC236}">
                <a16:creationId xmlns:a16="http://schemas.microsoft.com/office/drawing/2014/main" id="{00FE735E-E3CF-4086-AF37-051864E157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402" y="5494020"/>
            <a:ext cx="4858326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 marL="7314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29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3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58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3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8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16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9" name="Footer Placeholder 4">
            <a:extLst>
              <a:ext uri="{FF2B5EF4-FFF2-40B4-BE49-F238E27FC236}">
                <a16:creationId xmlns:a16="http://schemas.microsoft.com/office/drawing/2014/main" id="{C589DB86-4B07-4158-9A0E-2A50E747053D}"/>
              </a:ext>
            </a:extLst>
          </p:cNvPr>
          <p:cNvSpPr txBox="1">
            <a:spLocks/>
          </p:cNvSpPr>
          <p:nvPr userDrawn="1"/>
        </p:nvSpPr>
        <p:spPr>
          <a:xfrm>
            <a:off x="685780" y="7688992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>
                <a:solidFill>
                  <a:schemeClr val="tx1"/>
                </a:solidFill>
              </a:rPr>
              <a:t>© 2021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61850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93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899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755648" rtl="0" eaLnBrk="1" latinLnBrk="0" hangingPunct="1">
        <a:lnSpc>
          <a:spcPct val="85000"/>
        </a:lnSpc>
        <a:spcBef>
          <a:spcPct val="0"/>
        </a:spcBef>
        <a:buNone/>
        <a:defRPr sz="432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755648" rtl="0" eaLnBrk="1" latinLnBrk="0" hangingPunct="1">
        <a:spcBef>
          <a:spcPts val="1440"/>
        </a:spcBef>
        <a:buFontTx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755648" rtl="0" eaLnBrk="1" latinLnBrk="0" hangingPunct="1">
        <a:spcBef>
          <a:spcPts val="144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-274320" algn="l" defTabSz="1755648" rtl="0" eaLnBrk="1" latinLnBrk="0" hangingPunct="1">
        <a:spcBef>
          <a:spcPts val="1440"/>
        </a:spcBef>
        <a:buFont typeface="Arial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274320" algn="l" defTabSz="1755648" rtl="0" eaLnBrk="1" latinLnBrk="0" hangingPunct="1">
        <a:spcBef>
          <a:spcPts val="720"/>
        </a:spcBef>
        <a:buFont typeface="Arial" pitchFamily="34" charset="0"/>
        <a:buChar char="–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274320" algn="l" defTabSz="1755648" rtl="0" eaLnBrk="1" latinLnBrk="0" hangingPunct="1">
        <a:spcBef>
          <a:spcPts val="720"/>
        </a:spcBef>
        <a:buFont typeface="Arial" pitchFamily="34" charset="0"/>
        <a:buChar char="–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274320" algn="l" defTabSz="1755648" rtl="0" eaLnBrk="1" latinLnBrk="0" hangingPunct="1">
        <a:spcBef>
          <a:spcPts val="72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indent="-274320" algn="l" defTabSz="1755648" rtl="0" eaLnBrk="1" latinLnBrk="0" hangingPunct="1">
        <a:spcBef>
          <a:spcPts val="720"/>
        </a:spcBef>
        <a:buFont typeface="Arial" pitchFamily="34" charset="0"/>
        <a:buChar char="–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" indent="-274320" algn="l" defTabSz="1755648" rtl="0" eaLnBrk="1" latinLnBrk="0" hangingPunct="1">
        <a:spcBef>
          <a:spcPts val="720"/>
        </a:spcBef>
        <a:buFont typeface="Arial" pitchFamily="34" charset="0"/>
        <a:buChar char="–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274320" algn="l" defTabSz="1755648" rtl="0" eaLnBrk="1" latinLnBrk="0" hangingPunct="1">
        <a:spcBef>
          <a:spcPts val="720"/>
        </a:spcBef>
        <a:buFont typeface="Arial" pitchFamily="34" charset="0"/>
        <a:buChar char="–"/>
        <a:tabLst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55648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877824" algn="l" defTabSz="1755648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755648" algn="l" defTabSz="1755648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2633472" algn="l" defTabSz="1755648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3511296" algn="l" defTabSz="1755648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4389120" algn="l" defTabSz="1755648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5266944" algn="l" defTabSz="1755648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6144768" algn="l" defTabSz="1755648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7022592" algn="l" defTabSz="1755648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" userDrawn="1">
          <p15:clr>
            <a:srgbClr val="F26B43"/>
          </p15:clr>
        </p15:guide>
        <p15:guide id="2" pos="4608" userDrawn="1">
          <p15:clr>
            <a:srgbClr val="F26B43"/>
          </p15:clr>
        </p15:guide>
        <p15:guide id="3" pos="432" userDrawn="1">
          <p15:clr>
            <a:srgbClr val="F26B43"/>
          </p15:clr>
        </p15:guide>
        <p15:guide id="4" pos="3024" userDrawn="1">
          <p15:clr>
            <a:srgbClr val="F26B43"/>
          </p15:clr>
        </p15:guide>
        <p15:guide id="5" pos="3312" userDrawn="1">
          <p15:clr>
            <a:srgbClr val="F26B43"/>
          </p15:clr>
        </p15:guide>
        <p15:guide id="6" pos="4464" userDrawn="1">
          <p15:clr>
            <a:srgbClr val="F26B43"/>
          </p15:clr>
        </p15:guide>
        <p15:guide id="7" pos="4752" userDrawn="1">
          <p15:clr>
            <a:srgbClr val="F26B43"/>
          </p15:clr>
        </p15:guide>
        <p15:guide id="8" pos="5904" userDrawn="1">
          <p15:clr>
            <a:srgbClr val="F26B43"/>
          </p15:clr>
        </p15:guide>
        <p15:guide id="9" pos="6192" userDrawn="1">
          <p15:clr>
            <a:srgbClr val="F26B43"/>
          </p15:clr>
        </p15:guide>
        <p15:guide id="10" pos="7488" userDrawn="1">
          <p15:clr>
            <a:srgbClr val="F26B43"/>
          </p15:clr>
        </p15:guide>
        <p15:guide id="11" pos="8784" userDrawn="1">
          <p15:clr>
            <a:srgbClr val="F26B43"/>
          </p15:clr>
        </p15:guide>
        <p15:guide id="12" orient="horz" pos="1296" userDrawn="1">
          <p15:clr>
            <a:srgbClr val="F26B43"/>
          </p15:clr>
        </p15:guide>
        <p15:guide id="13" orient="horz" pos="4522" userDrawn="1">
          <p15:clr>
            <a:srgbClr val="F26B43"/>
          </p15:clr>
        </p15:guide>
        <p15:guide id="14" orient="horz" pos="489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685800" y="639764"/>
            <a:ext cx="13258800" cy="141763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685801" y="2057401"/>
            <a:ext cx="13258799" cy="51212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0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05">
              <a:spcBef>
                <a:spcPts val="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05">
                <a:spcBef>
                  <a:spcPts val="0"/>
                </a:spcBef>
              </a:pPr>
              <a:t>April 28, 2023</a:t>
            </a:fld>
            <a:endParaRPr lang="en-US" sz="1100" b="0">
              <a:solidFill>
                <a:schemeClr val="tx1"/>
              </a:solidFill>
            </a:endParaRPr>
          </a:p>
        </p:txBody>
      </p:sp>
      <p:sp>
        <p:nvSpPr>
          <p:cNvPr id="61" name="Text Box 115"/>
          <p:cNvSpPr txBox="1">
            <a:spLocks noChangeArrowheads="1"/>
          </p:cNvSpPr>
          <p:nvPr userDrawn="1"/>
        </p:nvSpPr>
        <p:spPr bwMode="auto">
          <a:xfrm>
            <a:off x="13533120" y="7580440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05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05">
                <a:spcBef>
                  <a:spcPts val="0"/>
                </a:spcBef>
              </a:pPr>
              <a:t>‹#›</a:t>
            </a:fld>
            <a:endParaRPr lang="en-US" sz="1100" b="1">
              <a:solidFill>
                <a:schemeClr val="tx1"/>
              </a:solidFill>
            </a:endParaRPr>
          </a:p>
        </p:txBody>
      </p:sp>
      <p:sp>
        <p:nvSpPr>
          <p:cNvPr id="62" name="Footer Placeholder 4"/>
          <p:cNvSpPr txBox="1">
            <a:spLocks/>
          </p:cNvSpPr>
          <p:nvPr userDrawn="1"/>
        </p:nvSpPr>
        <p:spPr>
          <a:xfrm>
            <a:off x="4800600" y="7580440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© 2021 DXC Technology Company. All rights reserved.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B6FF065E-2B34-4360-B045-0F02C20A28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14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462981" rtl="0" eaLnBrk="1" latinLnBrk="0" hangingPunct="1">
        <a:lnSpc>
          <a:spcPct val="85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462981" rtl="0" eaLnBrk="1" latinLnBrk="0" hangingPunct="1">
        <a:spcBef>
          <a:spcPts val="1200"/>
        </a:spcBef>
        <a:buFontTx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462981" rtl="0" eaLnBrk="1" latinLnBrk="0" hangingPunct="1">
        <a:spcBef>
          <a:spcPts val="12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90" indent="-228590" algn="l" defTabSz="1462981" rtl="0" eaLnBrk="1" latinLnBrk="0" hangingPunct="1">
        <a:spcBef>
          <a:spcPts val="1200"/>
        </a:spcBef>
        <a:buFont typeface="Arial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82" indent="-228590" algn="l" defTabSz="1462981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72" indent="-228590" algn="l" defTabSz="1462981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914364" indent="-228590" algn="l" defTabSz="1462981" rtl="0" eaLnBrk="1" latinLnBrk="0" hangingPunct="1">
        <a:spcBef>
          <a:spcPts val="6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142954" indent="-228590" algn="l" defTabSz="1462981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545" indent="-228590" algn="l" defTabSz="1462981" rtl="0" eaLnBrk="1" latinLnBrk="0" hangingPunct="1">
        <a:spcBef>
          <a:spcPts val="6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00136" indent="-228590" algn="l" defTabSz="1462981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31491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462981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2194472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925962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657454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4388945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5120435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5851926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">
          <p15:clr>
            <a:srgbClr val="F26B43"/>
          </p15:clr>
        </p15:guide>
        <p15:guide id="2" pos="4608">
          <p15:clr>
            <a:srgbClr val="F26B43"/>
          </p15:clr>
        </p15:guide>
        <p15:guide id="3" pos="432">
          <p15:clr>
            <a:srgbClr val="F26B43"/>
          </p15:clr>
        </p15:guide>
        <p15:guide id="4" pos="3024">
          <p15:clr>
            <a:srgbClr val="F26B43"/>
          </p15:clr>
        </p15:guide>
        <p15:guide id="5" pos="3312">
          <p15:clr>
            <a:srgbClr val="F26B43"/>
          </p15:clr>
        </p15:guide>
        <p15:guide id="6" pos="4464">
          <p15:clr>
            <a:srgbClr val="F26B43"/>
          </p15:clr>
        </p15:guide>
        <p15:guide id="7" pos="4752">
          <p15:clr>
            <a:srgbClr val="F26B43"/>
          </p15:clr>
        </p15:guide>
        <p15:guide id="8" pos="5904">
          <p15:clr>
            <a:srgbClr val="F26B43"/>
          </p15:clr>
        </p15:guide>
        <p15:guide id="9" pos="6192">
          <p15:clr>
            <a:srgbClr val="F26B43"/>
          </p15:clr>
        </p15:guide>
        <p15:guide id="10" pos="7488">
          <p15:clr>
            <a:srgbClr val="F26B43"/>
          </p15:clr>
        </p15:guide>
        <p15:guide id="11" pos="8784">
          <p15:clr>
            <a:srgbClr val="F26B43"/>
          </p15:clr>
        </p15:guide>
        <p15:guide id="12" orient="horz" pos="1296">
          <p15:clr>
            <a:srgbClr val="F26B43"/>
          </p15:clr>
        </p15:guide>
        <p15:guide id="13" orient="horz" pos="4522">
          <p15:clr>
            <a:srgbClr val="F26B43"/>
          </p15:clr>
        </p15:guide>
        <p15:guide id="14" orient="horz" pos="489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685800" y="639765"/>
            <a:ext cx="13258800" cy="141763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685802" y="2057402"/>
            <a:ext cx="13258799" cy="51212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0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672">
              <a:spcBef>
                <a:spcPts val="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672">
                <a:spcBef>
                  <a:spcPts val="0"/>
                </a:spcBef>
              </a:pPr>
              <a:t>April 28, 2023</a:t>
            </a:fld>
            <a:endParaRPr lang="en-US" sz="1100" b="0">
              <a:solidFill>
                <a:schemeClr val="tx1"/>
              </a:solidFill>
            </a:endParaRPr>
          </a:p>
        </p:txBody>
      </p:sp>
      <p:sp>
        <p:nvSpPr>
          <p:cNvPr id="61" name="Text Box 115"/>
          <p:cNvSpPr txBox="1">
            <a:spLocks noChangeArrowheads="1"/>
          </p:cNvSpPr>
          <p:nvPr userDrawn="1"/>
        </p:nvSpPr>
        <p:spPr bwMode="auto">
          <a:xfrm>
            <a:off x="13533120" y="7580440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672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672">
                <a:spcBef>
                  <a:spcPts val="0"/>
                </a:spcBef>
              </a:pPr>
              <a:t>‹#›</a:t>
            </a:fld>
            <a:endParaRPr lang="en-US" sz="1100" b="1">
              <a:solidFill>
                <a:schemeClr val="tx1"/>
              </a:solidFill>
            </a:endParaRPr>
          </a:p>
        </p:txBody>
      </p:sp>
      <p:sp>
        <p:nvSpPr>
          <p:cNvPr id="62" name="Footer Placeholder 4"/>
          <p:cNvSpPr txBox="1">
            <a:spLocks/>
          </p:cNvSpPr>
          <p:nvPr userDrawn="1"/>
        </p:nvSpPr>
        <p:spPr>
          <a:xfrm>
            <a:off x="4800600" y="7580440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© 2021 DXC Technology Company. All rights reserved.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B6FF065E-2B34-4360-B045-0F02C20A28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774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462922" rtl="0" eaLnBrk="1" latinLnBrk="0" hangingPunct="1">
        <a:lnSpc>
          <a:spcPct val="85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462922" rtl="0" eaLnBrk="1" latinLnBrk="0" hangingPunct="1">
        <a:spcBef>
          <a:spcPts val="1200"/>
        </a:spcBef>
        <a:buFontTx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462922" rtl="0" eaLnBrk="1" latinLnBrk="0" hangingPunct="1">
        <a:spcBef>
          <a:spcPts val="12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1" indent="-228581" algn="l" defTabSz="1462922" rtl="0" eaLnBrk="1" latinLnBrk="0" hangingPunct="1">
        <a:spcBef>
          <a:spcPts val="1200"/>
        </a:spcBef>
        <a:buFont typeface="Arial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64" indent="-228581" algn="l" defTabSz="1462922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45" indent="-228581" algn="l" defTabSz="1462922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914328" indent="-228581" algn="l" defTabSz="1462922" rtl="0" eaLnBrk="1" latinLnBrk="0" hangingPunct="1">
        <a:spcBef>
          <a:spcPts val="6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142909" indent="-228581" algn="l" defTabSz="1462922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490" indent="-228581" algn="l" defTabSz="1462922" rtl="0" eaLnBrk="1" latinLnBrk="0" hangingPunct="1">
        <a:spcBef>
          <a:spcPts val="6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00072" indent="-228581" algn="l" defTabSz="1462922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29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31461" algn="l" defTabSz="14629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462922" algn="l" defTabSz="14629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2194385" algn="l" defTabSz="14629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925845" algn="l" defTabSz="14629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657307" algn="l" defTabSz="14629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4388770" algn="l" defTabSz="14629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5120230" algn="l" defTabSz="14629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5851692" algn="l" defTabSz="14629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">
          <p15:clr>
            <a:srgbClr val="F26B43"/>
          </p15:clr>
        </p15:guide>
        <p15:guide id="2" pos="4608">
          <p15:clr>
            <a:srgbClr val="F26B43"/>
          </p15:clr>
        </p15:guide>
        <p15:guide id="3" pos="432">
          <p15:clr>
            <a:srgbClr val="F26B43"/>
          </p15:clr>
        </p15:guide>
        <p15:guide id="4" pos="3024">
          <p15:clr>
            <a:srgbClr val="F26B43"/>
          </p15:clr>
        </p15:guide>
        <p15:guide id="5" pos="3312">
          <p15:clr>
            <a:srgbClr val="F26B43"/>
          </p15:clr>
        </p15:guide>
        <p15:guide id="6" pos="4464">
          <p15:clr>
            <a:srgbClr val="F26B43"/>
          </p15:clr>
        </p15:guide>
        <p15:guide id="7" pos="4752">
          <p15:clr>
            <a:srgbClr val="F26B43"/>
          </p15:clr>
        </p15:guide>
        <p15:guide id="8" pos="5904">
          <p15:clr>
            <a:srgbClr val="F26B43"/>
          </p15:clr>
        </p15:guide>
        <p15:guide id="9" pos="6192">
          <p15:clr>
            <a:srgbClr val="F26B43"/>
          </p15:clr>
        </p15:guide>
        <p15:guide id="10" pos="7488">
          <p15:clr>
            <a:srgbClr val="F26B43"/>
          </p15:clr>
        </p15:guide>
        <p15:guide id="11" pos="8784">
          <p15:clr>
            <a:srgbClr val="F26B43"/>
          </p15:clr>
        </p15:guide>
        <p15:guide id="12" orient="horz" pos="1296">
          <p15:clr>
            <a:srgbClr val="F26B43"/>
          </p15:clr>
        </p15:guide>
        <p15:guide id="13" orient="horz" pos="4522">
          <p15:clr>
            <a:srgbClr val="F26B43"/>
          </p15:clr>
        </p15:guide>
        <p15:guide id="14" orient="horz" pos="48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hyperlink" Target="https://github.dxc.com/pages/Global-BES/BES/seeburger" TargetMode="External"/><Relationship Id="rId4" Type="http://schemas.openxmlformats.org/officeDocument/2006/relationships/hyperlink" Target="mailto:kai.haberzettl@dxc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E63B61B3-527C-D240-9C5F-3085D51790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000" t="-18519" b="1"/>
          <a:stretch/>
        </p:blipFill>
        <p:spPr>
          <a:xfrm flipH="1" flipV="1">
            <a:off x="10728739" y="-1"/>
            <a:ext cx="3901660" cy="418569"/>
          </a:xfrm>
          <a:prstGeom prst="rect">
            <a:avLst/>
          </a:prstGeom>
        </p:spPr>
      </p:pic>
      <p:sp>
        <p:nvSpPr>
          <p:cNvPr id="35" name="Title 2">
            <a:extLst>
              <a:ext uri="{FF2B5EF4-FFF2-40B4-BE49-F238E27FC236}">
                <a16:creationId xmlns:a16="http://schemas.microsoft.com/office/drawing/2014/main" id="{C0C49755-0ACD-6F4A-B821-A5ED194D4497}"/>
              </a:ext>
            </a:extLst>
          </p:cNvPr>
          <p:cNvSpPr txBox="1">
            <a:spLocks/>
          </p:cNvSpPr>
          <p:nvPr/>
        </p:nvSpPr>
        <p:spPr>
          <a:xfrm>
            <a:off x="685800" y="1227662"/>
            <a:ext cx="13258800" cy="418576"/>
          </a:xfrm>
        </p:spPr>
        <p:txBody>
          <a:bodyPr lIns="0" tIns="45720" rIns="91440" bIns="45720" anchor="b">
            <a:spAutoFit/>
          </a:bodyPr>
          <a:lstStyle>
            <a:lvl1pPr algn="ctr" defTabSz="1755648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i="1" dirty="0">
                <a:solidFill>
                  <a:schemeClr val="tx1"/>
                </a:solidFill>
              </a:rPr>
              <a:t>App Services / App </a:t>
            </a:r>
            <a:r>
              <a:rPr lang="en-US" sz="2800" i="1">
                <a:solidFill>
                  <a:schemeClr val="tx1"/>
                </a:solidFill>
              </a:rPr>
              <a:t>Modernization /</a:t>
            </a:r>
          </a:p>
          <a:p>
            <a:pPr algn="l"/>
            <a:r>
              <a:rPr lang="en-US" sz="2800" i="1">
                <a:solidFill>
                  <a:schemeClr val="tx1"/>
                </a:solidFill>
              </a:rPr>
              <a:t>Enterprise </a:t>
            </a:r>
            <a:r>
              <a:rPr lang="en-US" sz="2800" i="1" dirty="0">
                <a:solidFill>
                  <a:schemeClr val="tx1"/>
                </a:solidFill>
              </a:rPr>
              <a:t>Integration Services </a:t>
            </a:r>
            <a:r>
              <a:rPr lang="en-US" sz="2800" i="1">
                <a:solidFill>
                  <a:schemeClr val="tx1"/>
                </a:solidFill>
              </a:rPr>
              <a:t>/ BES / SEEBURGER COE </a:t>
            </a:r>
            <a:endParaRPr lang="en-US" sz="2800" i="1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6EF286-A98F-F145-9F01-D35827C4E0E4}"/>
              </a:ext>
            </a:extLst>
          </p:cNvPr>
          <p:cNvSpPr txBox="1"/>
          <p:nvPr/>
        </p:nvSpPr>
        <p:spPr>
          <a:xfrm>
            <a:off x="11112042" y="41911"/>
            <a:ext cx="351835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Battlecard</a:t>
            </a:r>
            <a:r>
              <a:rPr lang="en-US" sz="1200">
                <a:solidFill>
                  <a:schemeClr val="bg1"/>
                </a:solidFill>
              </a:rPr>
              <a:t>: BES SEEBURGER COE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7" name="object 11">
            <a:extLst>
              <a:ext uri="{FF2B5EF4-FFF2-40B4-BE49-F238E27FC236}">
                <a16:creationId xmlns:a16="http://schemas.microsoft.com/office/drawing/2014/main" id="{B1D1CD22-598A-B344-8ECC-9EA7D719D9DD}"/>
              </a:ext>
            </a:extLst>
          </p:cNvPr>
          <p:cNvSpPr/>
          <p:nvPr/>
        </p:nvSpPr>
        <p:spPr>
          <a:xfrm>
            <a:off x="685800" y="1826721"/>
            <a:ext cx="13258800" cy="0"/>
          </a:xfrm>
          <a:custGeom>
            <a:avLst/>
            <a:gdLst/>
            <a:ahLst/>
            <a:cxnLst/>
            <a:rect l="l" t="t" r="r" b="b"/>
            <a:pathLst>
              <a:path w="11595735">
                <a:moveTo>
                  <a:pt x="0" y="0"/>
                </a:moveTo>
                <a:lnTo>
                  <a:pt x="11595227" y="0"/>
                </a:lnTo>
              </a:path>
            </a:pathLst>
          </a:custGeom>
          <a:ln w="762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defTabSz="1097280"/>
            <a:endParaRPr sz="216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38" name="Table 9">
            <a:extLst>
              <a:ext uri="{FF2B5EF4-FFF2-40B4-BE49-F238E27FC236}">
                <a16:creationId xmlns:a16="http://schemas.microsoft.com/office/drawing/2014/main" id="{505C47B5-5D56-6B4C-8A87-881F2C8B8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115785"/>
              </p:ext>
            </p:extLst>
          </p:nvPr>
        </p:nvGraphicFramePr>
        <p:xfrm>
          <a:off x="704088" y="1949603"/>
          <a:ext cx="13258800" cy="1469287"/>
        </p:xfrm>
        <a:graphic>
          <a:graphicData uri="http://schemas.openxmlformats.org/drawingml/2006/table">
            <a:tbl>
              <a:tblPr firstRow="1" bandRow="1">
                <a:tableStyleId>{45BD5076-5073-49C7-9E08-65982F3C9860}</a:tableStyleId>
              </a:tblPr>
              <a:tblGrid>
                <a:gridCol w="3425785">
                  <a:extLst>
                    <a:ext uri="{9D8B030D-6E8A-4147-A177-3AD203B41FA5}">
                      <a16:colId xmlns:a16="http://schemas.microsoft.com/office/drawing/2014/main" val="4168766073"/>
                    </a:ext>
                  </a:extLst>
                </a:gridCol>
                <a:gridCol w="5154804">
                  <a:extLst>
                    <a:ext uri="{9D8B030D-6E8A-4147-A177-3AD203B41FA5}">
                      <a16:colId xmlns:a16="http://schemas.microsoft.com/office/drawing/2014/main" val="683891398"/>
                    </a:ext>
                  </a:extLst>
                </a:gridCol>
                <a:gridCol w="4678211">
                  <a:extLst>
                    <a:ext uri="{9D8B030D-6E8A-4147-A177-3AD203B41FA5}">
                      <a16:colId xmlns:a16="http://schemas.microsoft.com/office/drawing/2014/main" val="1918881804"/>
                    </a:ext>
                  </a:extLst>
                </a:gridCol>
              </a:tblGrid>
              <a:tr h="1469287">
                <a:tc>
                  <a:txBody>
                    <a:bodyPr/>
                    <a:lstStyle/>
                    <a:p>
                      <a:pPr marL="0" algn="l" defTabSz="1463040" rtl="0" eaLnBrk="1" fontAlgn="t" latinLnBrk="0" hangingPunct="1"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US" sz="1400" b="1" kern="1200" dirty="0">
                          <a:solidFill>
                            <a:schemeClr val="accent1"/>
                          </a:solidFill>
                          <a:latin typeface="+mj-lt"/>
                          <a:ea typeface="+mj-ea"/>
                          <a:cs typeface="+mj-cs"/>
                        </a:rPr>
                        <a:t>Scope/Overview</a:t>
                      </a:r>
                    </a:p>
                    <a:p>
                      <a:pPr marL="120650" marR="0" lvl="0" indent="-1206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BES SEEBURGER COE offers comprehensive B2B Integration solutions and services based on SEEBURGER Products. As one of the Market leaders in EDI/B2B Software solutions, SEEBURGER has partnered with DXC for more than 15 years, delivering integration solutions through the SEEBURGER COE to clients worldwide as well as to DXC itself.</a:t>
                      </a:r>
                    </a:p>
                  </a:txBody>
                  <a:tcPr marL="0" marB="9144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463040" rtl="0" eaLnBrk="1" fontAlgn="t" latinLnBrk="0" hangingPunct="1"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US" sz="1400" b="1" kern="1200" dirty="0">
                          <a:solidFill>
                            <a:schemeClr val="accent1"/>
                          </a:solidFill>
                          <a:latin typeface="+mj-lt"/>
                          <a:ea typeface="+mj-ea"/>
                          <a:cs typeface="+mj-cs"/>
                        </a:rPr>
                        <a:t>Value Proposition</a:t>
                      </a:r>
                    </a:p>
                    <a:p>
                      <a:pPr marL="120650" marR="0" lvl="0" indent="-1206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SEEBURGER offer state-of-the art B2B and EDI solutions, </a:t>
                      </a: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widely adopted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as a replacement for outdated EDI environments, burdened by legacy complexity.</a:t>
                      </a:r>
                    </a:p>
                    <a:p>
                      <a:pPr marL="120650" marR="0" lvl="0" indent="-1206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BES SEEBURGER COE can guide these modernization journeys</a:t>
                      </a: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, adding experience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and scale </a:t>
                      </a: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to deliver highly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stable</a:t>
                      </a: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, high-performaning</a:t>
                      </a:r>
                      <a:r>
                        <a:rPr lang="en-US" sz="1000" b="0" strike="sngStrike" kern="1200" baseline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 </a:t>
                      </a: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application,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successful transitions and efficient services with long-term quality.</a:t>
                      </a:r>
                    </a:p>
                  </a:txBody>
                  <a:tcPr marL="182880" marB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463040" rtl="0" eaLnBrk="1" fontAlgn="t" latinLnBrk="0" hangingPunct="1"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US" sz="1400" b="1" kern="1200" dirty="0">
                          <a:solidFill>
                            <a:schemeClr val="accent1"/>
                          </a:solidFill>
                          <a:latin typeface="+mj-lt"/>
                          <a:ea typeface="+mj-ea"/>
                          <a:cs typeface="+mj-cs"/>
                        </a:rPr>
                        <a:t>Differentiators</a:t>
                      </a:r>
                    </a:p>
                    <a:p>
                      <a:pPr marL="120650" marR="0" lvl="0" indent="-1206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Deep industry partnership with SEEBURGER over 15+ years of being a user and seller of their solutions</a:t>
                      </a:r>
                    </a:p>
                    <a:p>
                      <a:pPr marL="120650" marR="0" lvl="0" indent="-1206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j-cs"/>
                        </a:rPr>
                        <a:t>Industry leading level of expertise and experience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+mn-lt"/>
                        <a:ea typeface="+mj-ea"/>
                        <a:cs typeface="+mj-cs"/>
                      </a:endParaRPr>
                    </a:p>
                  </a:txBody>
                  <a:tcPr marL="182880" marB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115146"/>
                  </a:ext>
                </a:extLst>
              </a:tr>
            </a:tbl>
          </a:graphicData>
        </a:graphic>
      </p:graphicFrame>
      <p:sp>
        <p:nvSpPr>
          <p:cNvPr id="39" name="object 11">
            <a:extLst>
              <a:ext uri="{FF2B5EF4-FFF2-40B4-BE49-F238E27FC236}">
                <a16:creationId xmlns:a16="http://schemas.microsoft.com/office/drawing/2014/main" id="{5EEE8D9B-8741-2A48-8FAF-DE582BB87D8B}"/>
              </a:ext>
            </a:extLst>
          </p:cNvPr>
          <p:cNvSpPr/>
          <p:nvPr/>
        </p:nvSpPr>
        <p:spPr>
          <a:xfrm>
            <a:off x="685800" y="3824123"/>
            <a:ext cx="13258800" cy="0"/>
          </a:xfrm>
          <a:custGeom>
            <a:avLst/>
            <a:gdLst/>
            <a:ahLst/>
            <a:cxnLst/>
            <a:rect l="l" t="t" r="r" b="b"/>
            <a:pathLst>
              <a:path w="11595735">
                <a:moveTo>
                  <a:pt x="0" y="0"/>
                </a:moveTo>
                <a:lnTo>
                  <a:pt x="11595227" y="0"/>
                </a:lnTo>
              </a:path>
            </a:pathLst>
          </a:custGeom>
          <a:ln w="12700">
            <a:solidFill>
              <a:schemeClr val="tx2"/>
            </a:solidFill>
          </a:ln>
        </p:spPr>
        <p:txBody>
          <a:bodyPr wrap="square" lIns="0" tIns="0" rIns="0" bIns="0" rtlCol="0"/>
          <a:lstStyle/>
          <a:p>
            <a:pPr defTabSz="1097280"/>
            <a:endParaRPr sz="216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0" name="object 11">
            <a:extLst>
              <a:ext uri="{FF2B5EF4-FFF2-40B4-BE49-F238E27FC236}">
                <a16:creationId xmlns:a16="http://schemas.microsoft.com/office/drawing/2014/main" id="{F2B82014-A9C7-2C4A-92B9-D23C8BAB699D}"/>
              </a:ext>
            </a:extLst>
          </p:cNvPr>
          <p:cNvSpPr/>
          <p:nvPr/>
        </p:nvSpPr>
        <p:spPr>
          <a:xfrm>
            <a:off x="685800" y="6340182"/>
            <a:ext cx="13258800" cy="0"/>
          </a:xfrm>
          <a:custGeom>
            <a:avLst/>
            <a:gdLst/>
            <a:ahLst/>
            <a:cxnLst/>
            <a:rect l="l" t="t" r="r" b="b"/>
            <a:pathLst>
              <a:path w="11595735">
                <a:moveTo>
                  <a:pt x="0" y="0"/>
                </a:moveTo>
                <a:lnTo>
                  <a:pt x="11595227" y="0"/>
                </a:lnTo>
              </a:path>
            </a:pathLst>
          </a:custGeom>
          <a:ln w="12700">
            <a:solidFill>
              <a:schemeClr val="tx2"/>
            </a:solidFill>
          </a:ln>
        </p:spPr>
        <p:txBody>
          <a:bodyPr wrap="square" lIns="0" tIns="0" rIns="0" bIns="0" rtlCol="0"/>
          <a:lstStyle/>
          <a:p>
            <a:pPr defTabSz="1097280"/>
            <a:endParaRPr sz="216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41" name="Table 9">
            <a:extLst>
              <a:ext uri="{FF2B5EF4-FFF2-40B4-BE49-F238E27FC236}">
                <a16:creationId xmlns:a16="http://schemas.microsoft.com/office/drawing/2014/main" id="{4632901A-3FB2-434C-BE72-A114105D3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997155"/>
              </p:ext>
            </p:extLst>
          </p:nvPr>
        </p:nvGraphicFramePr>
        <p:xfrm>
          <a:off x="727656" y="3886819"/>
          <a:ext cx="13235232" cy="2440411"/>
        </p:xfrm>
        <a:graphic>
          <a:graphicData uri="http://schemas.openxmlformats.org/drawingml/2006/table">
            <a:tbl>
              <a:tblPr firstRow="1" bandRow="1">
                <a:tableStyleId>{45BD5076-5073-49C7-9E08-65982F3C9860}</a:tableStyleId>
              </a:tblPr>
              <a:tblGrid>
                <a:gridCol w="3405689">
                  <a:extLst>
                    <a:ext uri="{9D8B030D-6E8A-4147-A177-3AD203B41FA5}">
                      <a16:colId xmlns:a16="http://schemas.microsoft.com/office/drawing/2014/main" val="4168766073"/>
                    </a:ext>
                  </a:extLst>
                </a:gridCol>
                <a:gridCol w="5141284">
                  <a:extLst>
                    <a:ext uri="{9D8B030D-6E8A-4147-A177-3AD203B41FA5}">
                      <a16:colId xmlns:a16="http://schemas.microsoft.com/office/drawing/2014/main" val="683891398"/>
                    </a:ext>
                  </a:extLst>
                </a:gridCol>
                <a:gridCol w="4688259">
                  <a:extLst>
                    <a:ext uri="{9D8B030D-6E8A-4147-A177-3AD203B41FA5}">
                      <a16:colId xmlns:a16="http://schemas.microsoft.com/office/drawing/2014/main" val="1918881804"/>
                    </a:ext>
                  </a:extLst>
                </a:gridCol>
              </a:tblGrid>
              <a:tr h="2440411">
                <a:tc>
                  <a:txBody>
                    <a:bodyPr/>
                    <a:lstStyle/>
                    <a:p>
                      <a:pPr marL="0" algn="l" defTabSz="1463040" rtl="0" eaLnBrk="1" fontAlgn="t" latinLnBrk="0" hangingPunct="1"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US" sz="1400" b="1" kern="1200" dirty="0">
                          <a:solidFill>
                            <a:schemeClr val="accent1"/>
                          </a:solidFill>
                          <a:latin typeface="+mj-lt"/>
                          <a:ea typeface="+mj-ea"/>
                          <a:cs typeface="+mj-cs"/>
                        </a:rPr>
                        <a:t>Positioning</a:t>
                      </a:r>
                    </a:p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The case for BES SEEBURGER COE:</a:t>
                      </a:r>
                    </a:p>
                    <a:p>
                      <a:pPr marL="122238" marR="0" lvl="0" indent="-122238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20+ years EDI/B2B experience, 15+ years SEEBURGER experience on average</a:t>
                      </a:r>
                    </a:p>
                    <a:p>
                      <a:pPr marL="122238" marR="0" lvl="0" indent="-122238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Global presence, cross-industry</a:t>
                      </a:r>
                    </a:p>
                    <a:p>
                      <a:pPr marL="122238" marR="0" lvl="0" indent="-122238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We use and run the solutions we sell also inside DXC</a:t>
                      </a:r>
                    </a:p>
                    <a:p>
                      <a:pPr marL="122238" marR="0" lvl="0" indent="-122238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15+ years partnership with SEEBURGER; formalized global partnership agreement</a:t>
                      </a:r>
                    </a:p>
                    <a:p>
                      <a:pPr marL="122238" marR="0" lvl="0" indent="-122238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Scale and cost-efficiency through off-shoring where appropriate</a:t>
                      </a:r>
                    </a:p>
                    <a:p>
                      <a:pPr marL="122238" marR="0" lvl="0" indent="-122238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On-premise, public cloud</a:t>
                      </a:r>
                      <a:r>
                        <a:rPr lang="en-US" sz="1000" b="1" kern="1200" dirty="0">
                          <a:solidFill>
                            <a:srgbClr val="0000FF"/>
                          </a:solidFill>
                          <a:latin typeface="+mn-lt"/>
                          <a:ea typeface="+mj-ea"/>
                          <a:cs typeface="+mj-cs"/>
                        </a:rPr>
                        <a:t>, </a:t>
                      </a: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hybrid solutions 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+mn-lt"/>
                        <a:ea typeface="+mj-ea"/>
                        <a:cs typeface="+mj-cs"/>
                      </a:endParaRPr>
                    </a:p>
                    <a:p>
                      <a:pPr marL="122238" marR="0" lvl="0" indent="-122238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From fully supported to self-supported as required</a:t>
                      </a:r>
                    </a:p>
                  </a:txBody>
                  <a:tcPr marL="0" marB="9144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463040" rtl="0" eaLnBrk="1" fontAlgn="t" latinLnBrk="0" hangingPunct="1"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US" sz="1400" b="1" kern="1200" dirty="0">
                          <a:solidFill>
                            <a:schemeClr val="accent1"/>
                          </a:solidFill>
                          <a:latin typeface="+mj-lt"/>
                          <a:ea typeface="+mj-ea"/>
                          <a:cs typeface="+mj-cs"/>
                        </a:rPr>
                        <a:t>Handling Objections</a:t>
                      </a:r>
                    </a:p>
                    <a:p>
                      <a:pPr marL="177800" marR="0" lvl="0" indent="-17780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000000"/>
                          </a:solidFill>
                          <a:latin typeface="+mn-lt"/>
                          <a:ea typeface="+mj-ea"/>
                          <a:cs typeface="+mj-cs"/>
                        </a:rPr>
                        <a:t>Q. How can BES SEEBURGER COE help migrating all trading partners?</a:t>
                      </a:r>
                    </a:p>
                    <a:p>
                      <a:pPr marL="177800" marR="0" lvl="0" indent="-17780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000000"/>
                          </a:solidFill>
                          <a:latin typeface="+mn-lt"/>
                          <a:ea typeface="+mj-ea"/>
                          <a:cs typeface="+mj-cs"/>
                        </a:rPr>
                        <a:t>A. With DXC’s ability to scale global, cost-efficient staff and SEEBURGER’s migration tools, we can handle large migrations efficiently</a:t>
                      </a:r>
                    </a:p>
                    <a:p>
                      <a:pPr marL="177800" marR="0" lvl="0" indent="-17780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rgbClr val="000000"/>
                        </a:solidFill>
                        <a:latin typeface="+mn-lt"/>
                        <a:ea typeface="+mj-ea"/>
                        <a:cs typeface="+mj-cs"/>
                      </a:endParaRPr>
                    </a:p>
                    <a:p>
                      <a:pPr marL="177800" marR="0" lvl="0" indent="-17780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0000"/>
                          </a:solidFill>
                          <a:latin typeface="+mn-lt"/>
                          <a:ea typeface="+mj-ea"/>
                          <a:cs typeface="+mj-cs"/>
                        </a:rPr>
                        <a:t>Q. </a:t>
                      </a:r>
                      <a:r>
                        <a:rPr lang="en-US" sz="10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j-cs"/>
                        </a:rPr>
                        <a:t>How do your costs compare to your competitors?</a:t>
                      </a:r>
                    </a:p>
                    <a:p>
                      <a:pPr marL="177800" marR="0" lvl="0" indent="-17780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j-cs"/>
                        </a:rPr>
                        <a:t>A. We provide industry leading expertise on SEEBURGER solutions, but we also complement this with near- or offshore staff at scale to provide a healthy balance between high quality and cost-efficiency.</a:t>
                      </a:r>
                      <a:endParaRPr lang="en-US" sz="1000" b="0" kern="1200" dirty="0">
                        <a:solidFill>
                          <a:srgbClr val="000000"/>
                        </a:solidFill>
                        <a:latin typeface="+mn-lt"/>
                        <a:ea typeface="+mj-ea"/>
                        <a:cs typeface="+mj-cs"/>
                      </a:endParaRPr>
                    </a:p>
                  </a:txBody>
                  <a:tcPr marL="182880" marB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463040" rtl="0" eaLnBrk="1" fontAlgn="t" latinLnBrk="0" hangingPunct="1"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US" sz="1400" b="1" kern="1200" dirty="0">
                          <a:solidFill>
                            <a:schemeClr val="accent1"/>
                          </a:solidFill>
                          <a:latin typeface="+mj-lt"/>
                          <a:ea typeface="+mj-ea"/>
                          <a:cs typeface="+mj-cs"/>
                        </a:rPr>
                        <a:t>Why DXC?</a:t>
                      </a:r>
                    </a:p>
                    <a:p>
                      <a:pPr marL="122238" marR="0" lvl="0" indent="-122238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We are not tied to specific software; we always use best-of-breed.</a:t>
                      </a:r>
                    </a:p>
                    <a:p>
                      <a:pPr marL="122238" marR="0" lvl="0" indent="-122238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We have the latest refreshed technology, updated software, and superlative service delivery.</a:t>
                      </a:r>
                    </a:p>
                    <a:p>
                      <a:pPr marL="122238" marR="0" lvl="0" indent="-122238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Our pricing is not complex.</a:t>
                      </a:r>
                    </a:p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.</a:t>
                      </a:r>
                      <a:r>
                        <a:rPr lang="en-US" sz="1000" b="1" kern="1200" dirty="0">
                          <a:solidFill>
                            <a:schemeClr val="accent1"/>
                          </a:solidFill>
                          <a:latin typeface="+mn-lt"/>
                          <a:ea typeface="+mj-ea"/>
                          <a:cs typeface="+mj-cs"/>
                        </a:rPr>
                        <a:t>Next Steps</a:t>
                      </a:r>
                    </a:p>
                    <a:p>
                      <a:pPr marL="122238" marR="0" lvl="0" indent="-122238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Contact us at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  <a:hlinkClick r:id="rId4"/>
                        </a:rPr>
                        <a:t>kai.haberzettl@dxc.</a:t>
                      </a: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  <a:hlinkClick r:id="rId4"/>
                        </a:rPr>
                        <a:t>com</a:t>
                      </a: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 </a:t>
                      </a:r>
                    </a:p>
                    <a:p>
                      <a:pPr marL="122238" marR="0" lvl="0" indent="-122238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Read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more at: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  <a:hlinkClick r:id="rId5"/>
                        </a:rPr>
                        <a:t>https://github.dxc.com/pages/Global-BES/BES/seeburger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+mn-lt"/>
                        <a:ea typeface="+mj-ea"/>
                        <a:cs typeface="+mj-cs"/>
                      </a:endParaRPr>
                    </a:p>
                    <a:p>
                      <a:pPr marL="122238" marR="0" lvl="0" indent="-122238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000" b="0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182880" marB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115146"/>
                  </a:ext>
                </a:extLst>
              </a:tr>
            </a:tbl>
          </a:graphicData>
        </a:graphic>
      </p:graphicFrame>
      <p:graphicFrame>
        <p:nvGraphicFramePr>
          <p:cNvPr id="42" name="Table 9">
            <a:extLst>
              <a:ext uri="{FF2B5EF4-FFF2-40B4-BE49-F238E27FC236}">
                <a16:creationId xmlns:a16="http://schemas.microsoft.com/office/drawing/2014/main" id="{F0780978-FF92-0143-9917-FA9DDE842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824165"/>
              </p:ext>
            </p:extLst>
          </p:nvPr>
        </p:nvGraphicFramePr>
        <p:xfrm>
          <a:off x="727656" y="6402879"/>
          <a:ext cx="13219456" cy="1552496"/>
        </p:xfrm>
        <a:graphic>
          <a:graphicData uri="http://schemas.openxmlformats.org/drawingml/2006/table">
            <a:tbl>
              <a:tblPr firstRow="1" bandRow="1">
                <a:tableStyleId>{45BD5076-5073-49C7-9E08-65982F3C9860}</a:tableStyleId>
              </a:tblPr>
              <a:tblGrid>
                <a:gridCol w="3536472">
                  <a:extLst>
                    <a:ext uri="{9D8B030D-6E8A-4147-A177-3AD203B41FA5}">
                      <a16:colId xmlns:a16="http://schemas.microsoft.com/office/drawing/2014/main" val="4168766073"/>
                    </a:ext>
                  </a:extLst>
                </a:gridCol>
                <a:gridCol w="5030597">
                  <a:extLst>
                    <a:ext uri="{9D8B030D-6E8A-4147-A177-3AD203B41FA5}">
                      <a16:colId xmlns:a16="http://schemas.microsoft.com/office/drawing/2014/main" val="2782002933"/>
                    </a:ext>
                  </a:extLst>
                </a:gridCol>
                <a:gridCol w="4652387">
                  <a:extLst>
                    <a:ext uri="{9D8B030D-6E8A-4147-A177-3AD203B41FA5}">
                      <a16:colId xmlns:a16="http://schemas.microsoft.com/office/drawing/2014/main" val="360992754"/>
                    </a:ext>
                  </a:extLst>
                </a:gridCol>
              </a:tblGrid>
              <a:tr h="1552496">
                <a:tc>
                  <a:txBody>
                    <a:bodyPr/>
                    <a:lstStyle/>
                    <a:p>
                      <a:pPr marL="0" algn="l" defTabSz="1463040" rtl="0" eaLnBrk="1" fontAlgn="t" latinLnBrk="0" hangingPunct="1"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US" sz="1400" b="1" kern="1200" dirty="0">
                          <a:solidFill>
                            <a:schemeClr val="accent1"/>
                          </a:solidFill>
                          <a:latin typeface="+mj-lt"/>
                          <a:ea typeface="+mj-ea"/>
                          <a:cs typeface="+mj-cs"/>
                        </a:rPr>
                        <a:t>Conversation Starters</a:t>
                      </a:r>
                    </a:p>
                    <a:p>
                      <a:pPr marL="122238" marR="0" lvl="0" indent="-122238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Cost reduction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—Reduce cost by implementing stable, high-performing integration solutions, with self-service capabilities for partners and business users. </a:t>
                      </a: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Support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with cost-efficient offshoring and nearshoring components</a:t>
                      </a:r>
                    </a:p>
                    <a:p>
                      <a:pPr marL="122238" marR="0" lvl="0" indent="-122238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Scalability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—Support growth, change, and technology refresh without disruption, worldwide.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j-cs"/>
                        </a:rPr>
                        <a:t>	</a:t>
                      </a:r>
                    </a:p>
                  </a:txBody>
                  <a:tcPr marL="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2238" marR="0" lvl="0" indent="-122238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Accuracy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—Reduce process and transaction failures and eliminate mistakes in dealing with different system interfaces.</a:t>
                      </a:r>
                    </a:p>
                    <a:p>
                      <a:pPr marL="122238" marR="0" lvl="0" indent="-122238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Business risk</a:t>
                      </a: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—Decreased risk through redundancy with HA and DR solutions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+mn-lt"/>
                        <a:ea typeface="+mj-ea"/>
                        <a:cs typeface="+mj-cs"/>
                      </a:endParaRPr>
                    </a:p>
                    <a:p>
                      <a:pPr marL="122238" marR="0" lvl="0" indent="-122238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Partner relationships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—Increase partner satisfaction with fewer errors and better information resulting in more sales and process improvements.</a:t>
                      </a:r>
                    </a:p>
                    <a:p>
                      <a:pPr marL="122238" marR="0" lvl="0" indent="-122238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Compliance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—Increase data and process compliance through automated exceptions handling.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18288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2238" marR="0" lvl="0" indent="-122238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What improvements could be made if you could 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focus on your core business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j-cs"/>
                        </a:rPr>
                        <a:t>-- without being burdened with outdated IT infrastructure, fragmented B2B applications, time-consuming error research, and trading partner support and onboarding? </a:t>
                      </a:r>
                    </a:p>
                  </a:txBody>
                  <a:tcPr marL="18288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115146"/>
                  </a:ext>
                </a:extLst>
              </a:tr>
            </a:tbl>
          </a:graphicData>
        </a:graphic>
      </p:graphicFrame>
      <p:pic>
        <p:nvPicPr>
          <p:cNvPr id="43" name="Picture 42" descr="Icon&#10;&#10;Description automatically generated">
            <a:extLst>
              <a:ext uri="{FF2B5EF4-FFF2-40B4-BE49-F238E27FC236}">
                <a16:creationId xmlns:a16="http://schemas.microsoft.com/office/drawing/2014/main" id="{9A00E4FA-5D84-EE4F-981E-00594D0CBD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29410"/>
            <a:ext cx="833718" cy="457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A30426-E840-4718-BF90-A8DB03F9379C}"/>
              </a:ext>
            </a:extLst>
          </p:cNvPr>
          <p:cNvSpPr txBox="1"/>
          <p:nvPr/>
        </p:nvSpPr>
        <p:spPr>
          <a:xfrm>
            <a:off x="3587191" y="455214"/>
            <a:ext cx="7469025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lang="en-US" sz="2800" dirty="0">
                <a:solidFill>
                  <a:srgbClr val="FF0000"/>
                </a:solidFill>
              </a:rPr>
              <a:t>INTERNAL ONLY – for Upsell and Cross-sell </a:t>
            </a:r>
            <a:endParaRPr lang="en-GB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065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XC">
  <a:themeElements>
    <a:clrScheme name="DXC New Brand Palette">
      <a:dk1>
        <a:srgbClr val="000000"/>
      </a:dk1>
      <a:lt1>
        <a:srgbClr val="FFFFFF"/>
      </a:lt1>
      <a:dk2>
        <a:srgbClr val="D9D9D6"/>
      </a:dk2>
      <a:lt2>
        <a:srgbClr val="FFCD00"/>
      </a:lt2>
      <a:accent1>
        <a:srgbClr val="5F249F"/>
      </a:accent1>
      <a:accent2>
        <a:srgbClr val="00968F"/>
      </a:accent2>
      <a:accent3>
        <a:srgbClr val="00A3E1"/>
      </a:accent3>
      <a:accent4>
        <a:srgbClr val="006975"/>
      </a:accent4>
      <a:accent5>
        <a:srgbClr val="6CC24A"/>
      </a:accent5>
      <a:accent6>
        <a:srgbClr val="ED9B33"/>
      </a:accent6>
      <a:hlink>
        <a:srgbClr val="000000"/>
      </a:hlink>
      <a:folHlink>
        <a:srgbClr val="666666"/>
      </a:folHlink>
    </a:clrScheme>
    <a:fontScheme name="DX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X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/>
      <a:style>
        <a:lnRef idx="0">
          <a:schemeClr val="accent1"/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400"/>
          </a:spcAft>
          <a:defRPr sz="2000" dirty="0"/>
        </a:defPPr>
      </a:lstStyle>
    </a:txDef>
  </a:objectDefaults>
  <a:extraClrSchemeLst/>
  <a:custClrLst>
    <a:custClr name="DXC Bright Purple">
      <a:srgbClr val="5F249F"/>
    </a:custClr>
    <a:custClr name="White">
      <a:srgbClr val="FFFFFF"/>
    </a:custClr>
    <a:custClr name="DXC Light Gray">
      <a:srgbClr val="D9D9D6"/>
    </a:custClr>
    <a:custClr name="DXC Medium Gray">
      <a:srgbClr val="969696"/>
    </a:custClr>
    <a:custClr name="DXC Dark Gray">
      <a:srgbClr val="63666A"/>
    </a:custClr>
    <a:custClr name="Black">
      <a:srgbClr val="000000"/>
    </a:custClr>
    <a:custClr name="DXC Bright Teal">
      <a:srgbClr val="00968F"/>
    </a:custClr>
    <a:custClr name="DXC Blue">
      <a:srgbClr val="00A3E1"/>
    </a:custClr>
    <a:custClr name="DXC Dark Teal">
      <a:srgbClr val="006975"/>
    </a:custClr>
    <a:custClr name="DXC Green">
      <a:srgbClr val="6CC24A"/>
    </a:custClr>
    <a:custClr name="DXC Orange">
      <a:srgbClr val="ED9B33"/>
    </a:custClr>
    <a:custClr name="DXC Gold">
      <a:srgbClr val="FFCD00"/>
    </a:custClr>
    <a:custClr name="DXC Dark Purple">
      <a:srgbClr val="330072"/>
    </a:custClr>
    <a:custClr name="DXC Yellow">
      <a:srgbClr val="F9F048"/>
    </a:custClr>
  </a:custClrLst>
  <a:extLst>
    <a:ext uri="{05A4C25C-085E-4340-85A3-A5531E510DB2}">
      <thm15:themeFamily xmlns:thm15="http://schemas.microsoft.com/office/thememl/2012/main" name="Correct Color coded May 03  -  Read-Only" id="{DA8B86AF-211F-4F48-B85E-03F7C837D0FC}" vid="{D1CC9BCB-A956-4C8B-8247-0F4B7797C5F8}"/>
    </a:ext>
  </a:extLst>
</a:theme>
</file>

<file path=ppt/theme/theme2.xml><?xml version="1.0" encoding="utf-8"?>
<a:theme xmlns:a="http://schemas.openxmlformats.org/drawingml/2006/main" name="6_DXC">
  <a:themeElements>
    <a:clrScheme name="DXC New Brand Palette">
      <a:dk1>
        <a:srgbClr val="000000"/>
      </a:dk1>
      <a:lt1>
        <a:srgbClr val="FFFFFF"/>
      </a:lt1>
      <a:dk2>
        <a:srgbClr val="D9D9D6"/>
      </a:dk2>
      <a:lt2>
        <a:srgbClr val="FFCD00"/>
      </a:lt2>
      <a:accent1>
        <a:srgbClr val="5F249F"/>
      </a:accent1>
      <a:accent2>
        <a:srgbClr val="00968F"/>
      </a:accent2>
      <a:accent3>
        <a:srgbClr val="00A3E1"/>
      </a:accent3>
      <a:accent4>
        <a:srgbClr val="006975"/>
      </a:accent4>
      <a:accent5>
        <a:srgbClr val="6CC24A"/>
      </a:accent5>
      <a:accent6>
        <a:srgbClr val="ED9B33"/>
      </a:accent6>
      <a:hlink>
        <a:srgbClr val="000000"/>
      </a:hlink>
      <a:folHlink>
        <a:srgbClr val="666666"/>
      </a:folHlink>
    </a:clrScheme>
    <a:fontScheme name="DX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X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/>
      <a:style>
        <a:lnRef idx="0">
          <a:schemeClr val="accent1"/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400"/>
          </a:spcAft>
          <a:defRPr sz="2000" dirty="0"/>
        </a:defPPr>
      </a:lstStyle>
    </a:txDef>
  </a:objectDefaults>
  <a:extraClrSchemeLst/>
  <a:custClrLst>
    <a:custClr name="DXC Bright Purple">
      <a:srgbClr val="5F249F"/>
    </a:custClr>
    <a:custClr name="White">
      <a:srgbClr val="FFFFFF"/>
    </a:custClr>
    <a:custClr name="DXC Light Gray">
      <a:srgbClr val="D9D9D6"/>
    </a:custClr>
    <a:custClr name="DXC Medium Gray">
      <a:srgbClr val="969696"/>
    </a:custClr>
    <a:custClr name="DXC Dark Gray">
      <a:srgbClr val="63666A"/>
    </a:custClr>
    <a:custClr name="Black">
      <a:srgbClr val="000000"/>
    </a:custClr>
    <a:custClr name="DXC Bright Teal">
      <a:srgbClr val="00968F"/>
    </a:custClr>
    <a:custClr name="DXC Blue">
      <a:srgbClr val="00A3E1"/>
    </a:custClr>
    <a:custClr name="DXC Dark Teal">
      <a:srgbClr val="006975"/>
    </a:custClr>
    <a:custClr name="DXC Green">
      <a:srgbClr val="6CC24A"/>
    </a:custClr>
    <a:custClr name="DXC Orange">
      <a:srgbClr val="ED9B33"/>
    </a:custClr>
    <a:custClr name="DXC Gold">
      <a:srgbClr val="FFCD00"/>
    </a:custClr>
    <a:custClr name="DXC Dark Purple">
      <a:srgbClr val="330072"/>
    </a:custClr>
    <a:custClr name="DXC Yellow">
      <a:srgbClr val="F9F048"/>
    </a:custClr>
  </a:custClrLst>
  <a:extLst>
    <a:ext uri="{05A4C25C-085E-4340-85A3-A5531E510DB2}">
      <thm15:themeFamily xmlns:thm15="http://schemas.microsoft.com/office/thememl/2012/main" name="Presentation6" id="{35C630C9-49BB-4E7C-A243-2C4F4AECC035}" vid="{970FDFF9-AA6E-4019-935A-1BD74BA3BC6B}"/>
    </a:ext>
  </a:extLst>
</a:theme>
</file>

<file path=ppt/theme/theme3.xml><?xml version="1.0" encoding="utf-8"?>
<a:theme xmlns:a="http://schemas.openxmlformats.org/drawingml/2006/main" name="4_DXC">
  <a:themeElements>
    <a:clrScheme name="DXC New Brand Palette">
      <a:dk1>
        <a:srgbClr val="000000"/>
      </a:dk1>
      <a:lt1>
        <a:srgbClr val="FFFFFF"/>
      </a:lt1>
      <a:dk2>
        <a:srgbClr val="D9D9D6"/>
      </a:dk2>
      <a:lt2>
        <a:srgbClr val="FFCD00"/>
      </a:lt2>
      <a:accent1>
        <a:srgbClr val="5F249F"/>
      </a:accent1>
      <a:accent2>
        <a:srgbClr val="00968F"/>
      </a:accent2>
      <a:accent3>
        <a:srgbClr val="00A3E1"/>
      </a:accent3>
      <a:accent4>
        <a:srgbClr val="006975"/>
      </a:accent4>
      <a:accent5>
        <a:srgbClr val="6CC24A"/>
      </a:accent5>
      <a:accent6>
        <a:srgbClr val="ED9B33"/>
      </a:accent6>
      <a:hlink>
        <a:srgbClr val="000000"/>
      </a:hlink>
      <a:folHlink>
        <a:srgbClr val="666666"/>
      </a:folHlink>
    </a:clrScheme>
    <a:fontScheme name="DX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X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/>
      <a:style>
        <a:lnRef idx="0">
          <a:schemeClr val="accent1"/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400"/>
          </a:spcAft>
          <a:defRPr sz="2000" dirty="0"/>
        </a:defPPr>
      </a:lstStyle>
    </a:txDef>
  </a:objectDefaults>
  <a:extraClrSchemeLst/>
  <a:custClrLst>
    <a:custClr name="DXC Bright Purple">
      <a:srgbClr val="5F249F"/>
    </a:custClr>
    <a:custClr name="White">
      <a:srgbClr val="FFFFFF"/>
    </a:custClr>
    <a:custClr name="DXC Light Gray">
      <a:srgbClr val="D9D9D6"/>
    </a:custClr>
    <a:custClr name="DXC Medium Gray">
      <a:srgbClr val="969696"/>
    </a:custClr>
    <a:custClr name="DXC Dark Gray">
      <a:srgbClr val="63666A"/>
    </a:custClr>
    <a:custClr name="Black">
      <a:srgbClr val="000000"/>
    </a:custClr>
    <a:custClr name="DXC Bright Teal">
      <a:srgbClr val="00968F"/>
    </a:custClr>
    <a:custClr name="DXC Blue">
      <a:srgbClr val="00A3E1"/>
    </a:custClr>
    <a:custClr name="DXC Dark Teal">
      <a:srgbClr val="006975"/>
    </a:custClr>
    <a:custClr name="DXC Green">
      <a:srgbClr val="6CC24A"/>
    </a:custClr>
    <a:custClr name="DXC Orange">
      <a:srgbClr val="ED9B33"/>
    </a:custClr>
    <a:custClr name="DXC Gold">
      <a:srgbClr val="FFCD00"/>
    </a:custClr>
    <a:custClr name="DXC Dark Purple">
      <a:srgbClr val="330072"/>
    </a:custClr>
    <a:custClr name="DXC Yellow">
      <a:srgbClr val="F9F048"/>
    </a:custClr>
  </a:custClrLst>
  <a:extLst>
    <a:ext uri="{05A4C25C-085E-4340-85A3-A5531E510DB2}">
      <thm15:themeFamily xmlns:thm15="http://schemas.microsoft.com/office/thememl/2012/main" name="Presentation6" id="{35C630C9-49BB-4E7C-A243-2C4F4AECC035}" vid="{970FDFF9-AA6E-4019-935A-1BD74BA3BC6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18f211cb-e08d-4e65-a875-32590ca7bbf7" ContentTypeId="0x01010014A374DEA043E640B2891CD3FD4BCAD709" PreviousValue="true"/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SC_x0020_Classification xmlns="168e0357-5b39-4600-91c2-bfff6e896513">Low Sensitivity</CSC_x0020_Classification>
    <g3a641af50c1442cbb2b27e16f97a606 xmlns="168e0357-5b39-4600-91c2-bfff6e896513">
      <Terms xmlns="http://schemas.microsoft.com/office/infopath/2007/PartnerControls"/>
    </g3a641af50c1442cbb2b27e16f97a606>
    <_dlc_DocId xmlns="168e0357-5b39-4600-91c2-bfff6e896513" xsi:nil="true"/>
    <_dlc_DocIdPersistId xmlns="168e0357-5b39-4600-91c2-bfff6e896513" xsi:nil="true"/>
    <_dlc_DocIdUrl xmlns="168e0357-5b39-4600-91c2-bfff6e896513">
      <Url xsi:nil="true"/>
      <Description xsi:nil="true"/>
    </_dlc_DocIdUrl>
    <TaxCatchAll xmlns="168e0357-5b39-4600-91c2-bfff6e896513" xsi:nil="true"/>
    <i197e11bdb404a658e317b56bc78a103 xmlns="168e0357-5b39-4600-91c2-bfff6e896513">
      <Terms xmlns="http://schemas.microsoft.com/office/infopath/2007/PartnerControls"/>
    </i197e11bdb404a658e317b56bc78a103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Internal Information Systems" ma:contentTypeID="0x01010014A374DEA043E640B2891CD3FD4BCAD70900DF8D2DC934290745BBE1E3F124631E9E" ma:contentTypeVersion="10" ma:contentTypeDescription="" ma:contentTypeScope="" ma:versionID="05b13ba2157e4455a864d11991662c82">
  <xsd:schema xmlns:xsd="http://www.w3.org/2001/XMLSchema" xmlns:xs="http://www.w3.org/2001/XMLSchema" xmlns:p="http://schemas.microsoft.com/office/2006/metadata/properties" xmlns:ns2="168e0357-5b39-4600-91c2-bfff6e896513" targetNamespace="http://schemas.microsoft.com/office/2006/metadata/properties" ma:root="true" ma:fieldsID="00590c0fdf7a2232a3496ddbfbf9f0a2" ns2:_="">
    <xsd:import namespace="168e0357-5b39-4600-91c2-bfff6e896513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CSC_x0020_Classification"/>
                <xsd:element ref="ns2:i197e11bdb404a658e317b56bc78a103" minOccurs="0"/>
                <xsd:element ref="ns2:g3a641af50c1442cbb2b27e16f97a606" minOccurs="0"/>
                <xsd:element ref="ns2:TaxCatchAll" minOccurs="0"/>
                <xsd:element ref="ns2:TaxCatchAllLabe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8e0357-5b39-4600-91c2-bfff6e896513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fals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false">
      <xsd:simpleType>
        <xsd:restriction base="dms:Boolean"/>
      </xsd:simpleType>
    </xsd:element>
    <xsd:element name="CSC_x0020_Classification" ma:index="12" ma:displayName="DXC Information Classification" ma:default="Low Sensitivity" ma:description="Select the appropriate level of sensitivity for the documents." ma:format="Dropdown" ma:internalName="CSC_x0020_Classification">
      <xsd:simpleType>
        <xsd:restriction base="dms:Choice">
          <xsd:enumeration value="Low Sensitivity"/>
          <xsd:enumeration value="Medium Sensitivity"/>
          <xsd:enumeration value="High Sensitivity"/>
          <xsd:enumeration value="No Sensitivity"/>
        </xsd:restriction>
      </xsd:simpleType>
    </xsd:element>
    <xsd:element name="i197e11bdb404a658e317b56bc78a103" ma:index="13" nillable="true" ma:taxonomy="true" ma:internalName="i197e11bdb404a658e317b56bc78a103" ma:taxonomyFieldName="Global_x0020_Keywords" ma:displayName="Global Keywords" ma:default="" ma:fieldId="{2197e11b-db40-4a65-8e31-7b56bc78a103}" ma:taxonomyMulti="true" ma:sspId="18f211cb-e08d-4e65-a875-32590ca7bbf7" ma:termSetId="ac03c3be-0c78-4049-8d37-5824bb8dd3e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g3a641af50c1442cbb2b27e16f97a606" ma:index="15" nillable="true" ma:taxonomy="true" ma:internalName="g3a641af50c1442cbb2b27e16f97a606" ma:taxonomyFieldName="Information_x0020_Systems_x0020_DocType" ma:displayName="Internal Information Systems DocType" ma:readOnly="false" ma:default="" ma:fieldId="{03a641af-50c1-442c-bb2b-27e16f97a606}" ma:sspId="18f211cb-e08d-4e65-a875-32590ca7bbf7" ma:termSetId="bb9152df-29c1-4915-9ef3-1baf65f61995" ma:anchorId="323cd7fc-feb6-4582-a870-460c50f2e570" ma:open="false" ma:isKeyword="false">
      <xsd:complexType>
        <xsd:sequence>
          <xsd:element ref="pc:Terms" minOccurs="0" maxOccurs="1"/>
        </xsd:sequence>
      </xsd:complexType>
    </xsd:element>
    <xsd:element name="TaxCatchAll" ma:index="16" nillable="true" ma:displayName="Taxonomy Catch All Column" ma:hidden="true" ma:list="{acf15802-6c2d-43eb-87ed-065a993ed537}" ma:internalName="TaxCatchAll" ma:showField="CatchAllData" ma:web="5004fa11-d326-4078-beb0-e906c81529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7" nillable="true" ma:displayName="Taxonomy Catch All Column1" ma:hidden="true" ma:list="{acf15802-6c2d-43eb-87ed-065a993ed537}" ma:internalName="TaxCatchAllLabel" ma:readOnly="true" ma:showField="CatchAllDataLabel" ma:web="5004fa11-d326-4078-beb0-e906c81529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4D9842-6707-4848-9535-CC201056E867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556CF956-2727-4F88-B59F-D31FC5DEE5D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B64F8C-47F7-498C-9B77-77A72DE3D86A}">
  <ds:schemaRefs>
    <ds:schemaRef ds:uri="http://schemas.microsoft.com/office/infopath/2007/PartnerControls"/>
    <ds:schemaRef ds:uri="http://purl.org/dc/elements/1.1/"/>
    <ds:schemaRef ds:uri="168e0357-5b39-4600-91c2-bfff6e896513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4.xml><?xml version="1.0" encoding="utf-8"?>
<ds:datastoreItem xmlns:ds="http://schemas.openxmlformats.org/officeDocument/2006/customXml" ds:itemID="{101A5AD5-F399-43A1-9359-4C2AFA1158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8e0357-5b39-4600-91c2-bfff6e8965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New Brand Sales Guide v3</Template>
  <TotalTime>1075</TotalTime>
  <Words>534</Words>
  <Application>Microsoft Office PowerPoint</Application>
  <PresentationFormat>Custom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DXC</vt:lpstr>
      <vt:lpstr>6_DXC</vt:lpstr>
      <vt:lpstr>4_DXC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BES SEEBURGER COE</dc:subject>
  <dc:creator>BES</dc:creator>
  <cp:keywords/>
  <dc:description/>
  <cp:lastModifiedBy>Haberzettl, Kai</cp:lastModifiedBy>
  <cp:revision>41</cp:revision>
  <cp:lastPrinted>2021-04-15T15:14:38Z</cp:lastPrinted>
  <dcterms:created xsi:type="dcterms:W3CDTF">2021-05-04T19:50:59Z</dcterms:created>
  <dcterms:modified xsi:type="dcterms:W3CDTF">2023-04-28T05:08:24Z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0x01010014A374DEA043E640B2891CD3FD4BCAD70900DF8D2DC934290745BBE1E3F124631E9E</vt:lpwstr>
  </property>
  <property fmtid="{D5CDD505-2E9C-101B-9397-08002B2CF9AE}" pid="3" name="Special Project DocType">
    <vt:lpwstr/>
  </property>
  <property fmtid="{D5CDD505-2E9C-101B-9397-08002B2CF9AE}" pid="4" name="Global Keywords">
    <vt:lpwstr/>
  </property>
  <property fmtid="{D5CDD505-2E9C-101B-9397-08002B2CF9AE}" pid="5" name="Information Systems DocType">
    <vt:lpwstr/>
  </property>
</Properties>
</file>